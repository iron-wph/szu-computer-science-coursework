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818" r:id="rId2"/>
    <p:sldId id="842" r:id="rId3"/>
    <p:sldId id="794" r:id="rId4"/>
    <p:sldId id="767" r:id="rId5"/>
    <p:sldId id="766" r:id="rId6"/>
    <p:sldId id="768" r:id="rId7"/>
    <p:sldId id="769" r:id="rId8"/>
    <p:sldId id="771" r:id="rId9"/>
    <p:sldId id="772" r:id="rId10"/>
    <p:sldId id="773" r:id="rId11"/>
    <p:sldId id="774" r:id="rId12"/>
    <p:sldId id="775" r:id="rId13"/>
    <p:sldId id="776" r:id="rId14"/>
    <p:sldId id="777" r:id="rId15"/>
    <p:sldId id="778" r:id="rId16"/>
    <p:sldId id="779" r:id="rId17"/>
    <p:sldId id="780" r:id="rId18"/>
    <p:sldId id="781" r:id="rId19"/>
    <p:sldId id="782" r:id="rId20"/>
    <p:sldId id="847" r:id="rId21"/>
    <p:sldId id="783" r:id="rId22"/>
    <p:sldId id="784" r:id="rId23"/>
    <p:sldId id="785" r:id="rId24"/>
    <p:sldId id="845" r:id="rId25"/>
    <p:sldId id="786" r:id="rId26"/>
    <p:sldId id="788" r:id="rId27"/>
    <p:sldId id="789" r:id="rId28"/>
    <p:sldId id="790" r:id="rId29"/>
    <p:sldId id="791" r:id="rId30"/>
    <p:sldId id="792" r:id="rId31"/>
    <p:sldId id="846" r:id="rId32"/>
    <p:sldId id="793" r:id="rId33"/>
    <p:sldId id="844" r:id="rId34"/>
    <p:sldId id="795" r:id="rId35"/>
    <p:sldId id="796" r:id="rId36"/>
    <p:sldId id="797" r:id="rId37"/>
    <p:sldId id="798" r:id="rId38"/>
    <p:sldId id="799" r:id="rId39"/>
    <p:sldId id="800" r:id="rId40"/>
    <p:sldId id="801" r:id="rId41"/>
    <p:sldId id="819" r:id="rId42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4" pos="982" userDrawn="1">
          <p15:clr>
            <a:srgbClr val="A4A3A4"/>
          </p15:clr>
        </p15:guide>
        <p15:guide id="5" pos="438" userDrawn="1">
          <p15:clr>
            <a:srgbClr val="A4A3A4"/>
          </p15:clr>
        </p15:guide>
        <p15:guide id="6" pos="7015" userDrawn="1">
          <p15:clr>
            <a:srgbClr val="A4A3A4"/>
          </p15:clr>
        </p15:guide>
        <p15:guide id="7" orient="horz" pos="2160">
          <p15:clr>
            <a:srgbClr val="A4A3A4"/>
          </p15:clr>
        </p15:guide>
        <p15:guide id="8" pos="66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CFD1"/>
    <a:srgbClr val="C01920"/>
    <a:srgbClr val="F0E5B7"/>
    <a:srgbClr val="BEDFC4"/>
    <a:srgbClr val="BAA1B9"/>
    <a:srgbClr val="BD6368"/>
    <a:srgbClr val="DDFAED"/>
    <a:srgbClr val="CF0D9E"/>
    <a:srgbClr val="9CF7FF"/>
    <a:srgbClr val="0909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17" autoAdjust="0"/>
    <p:restoredTop sz="95285" autoAdjust="0"/>
  </p:normalViewPr>
  <p:slideViewPr>
    <p:cSldViewPr>
      <p:cViewPr varScale="1">
        <p:scale>
          <a:sx n="79" d="100"/>
          <a:sy n="79" d="100"/>
        </p:scale>
        <p:origin x="931" y="53"/>
      </p:cViewPr>
      <p:guideLst>
        <p:guide pos="3840"/>
        <p:guide pos="982"/>
        <p:guide pos="438"/>
        <p:guide pos="7015"/>
        <p:guide orient="horz" pos="2160"/>
        <p:guide pos="66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539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2539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539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539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539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76E37FF-4EAF-470E-BD31-3D917444AAA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6E37FF-4EAF-470E-BD31-3D917444AAAA}" type="slidenum">
              <a:rPr lang="en-US" altLang="zh-CN" smtClean="0"/>
              <a:pPr/>
              <a:t>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731230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73D8839-C5AB-4018-B67A-8BAE0943C859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74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4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2F55492-E8C8-44E7-96B1-9781C97FF1BF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959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59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C29F726-26D0-48EB-81BA-28A89B89A3A0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1049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49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655E6-0AAD-4BBE-870D-82AD39C80F70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1051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51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902704-531B-45BF-BD96-3F5313060046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1055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55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762F2-DB06-4FCD-A130-F3FD2F633840}" type="slidenum">
              <a:rPr lang="en-US" altLang="zh-CN" smtClean="0"/>
              <a:pPr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11216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E2DE68-B716-45A5-8BAF-25CA090557BD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1058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58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C2BFB3-3326-4206-A58D-FF61C054AEB8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1060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60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EC2F856-21E2-4B09-8F6A-5088CC2DFE72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1062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62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90BE285-8B5A-436F-B4BE-A588ACF783D5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1064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64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 dirty="0"/>
              <a:t>1946</a:t>
            </a:r>
            <a:r>
              <a:rPr lang="zh-CN" altLang="en-US" dirty="0"/>
              <a:t>年，第一台电子计算机问世，应用领域迅速扩大，软硬件飞速发展，程序设计语言相继问世。</a:t>
            </a:r>
          </a:p>
          <a:p>
            <a:r>
              <a:rPr lang="zh-CN" altLang="en-US" dirty="0"/>
              <a:t>程序设计语言</a:t>
            </a:r>
            <a:r>
              <a:rPr lang="en-US" altLang="zh-CN" dirty="0"/>
              <a:t>:</a:t>
            </a:r>
            <a:r>
              <a:rPr lang="zh-CN" altLang="en-US" dirty="0"/>
              <a:t>将自然语言形式化为有格式的语言</a:t>
            </a:r>
          </a:p>
          <a:p>
            <a:r>
              <a:rPr lang="en-US" altLang="zh-CN" dirty="0"/>
              <a:t>1</a:t>
            </a:r>
            <a:r>
              <a:rPr lang="zh-CN" altLang="en-US" dirty="0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 dirty="0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 dirty="0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 dirty="0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 dirty="0"/>
              <a:t>将在</a:t>
            </a:r>
            <a:r>
              <a:rPr lang="en-US" altLang="zh-CN" dirty="0"/>
              <a:t>《</a:t>
            </a:r>
            <a:r>
              <a:rPr lang="zh-CN" altLang="en-US" dirty="0"/>
              <a:t>计算机组成</a:t>
            </a:r>
            <a:r>
              <a:rPr lang="en-US" altLang="zh-CN" dirty="0"/>
              <a:t>》</a:t>
            </a:r>
            <a:r>
              <a:rPr lang="zh-CN" altLang="en-US" dirty="0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 dirty="0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 dirty="0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 dirty="0"/>
              <a:t>指令是不可分割的最小功能单元</a:t>
            </a:r>
          </a:p>
          <a:p>
            <a:r>
              <a:rPr lang="zh-CN" altLang="en-US" dirty="0"/>
              <a:t>定义：一种</a:t>
            </a:r>
            <a:r>
              <a:rPr lang="en-US" altLang="zh-CN" dirty="0"/>
              <a:t>CPU</a:t>
            </a:r>
            <a:r>
              <a:rPr lang="zh-CN" altLang="en-US" dirty="0"/>
              <a:t>的指令系统，由该</a:t>
            </a:r>
            <a:r>
              <a:rPr lang="en-US" altLang="zh-CN" dirty="0"/>
              <a:t>CPU</a:t>
            </a:r>
            <a:r>
              <a:rPr lang="zh-CN" altLang="en-US" dirty="0"/>
              <a:t>可识别的</a:t>
            </a:r>
            <a:r>
              <a:rPr lang="en-US" altLang="zh-CN" dirty="0"/>
              <a:t>0</a:t>
            </a:r>
            <a:r>
              <a:rPr lang="zh-CN" altLang="en-US" dirty="0"/>
              <a:t>、</a:t>
            </a:r>
            <a:r>
              <a:rPr lang="en-US" altLang="zh-CN" dirty="0"/>
              <a:t>1</a:t>
            </a:r>
            <a:r>
              <a:rPr lang="zh-CN" altLang="en-US" dirty="0"/>
              <a:t>序列构成的指令码组成。</a:t>
            </a:r>
          </a:p>
          <a:p>
            <a:r>
              <a:rPr lang="zh-CN" altLang="en-US" dirty="0"/>
              <a:t>特点：</a:t>
            </a:r>
          </a:p>
          <a:p>
            <a:r>
              <a:rPr lang="zh-CN" altLang="en-US" dirty="0"/>
              <a:t>执行效率高</a:t>
            </a:r>
          </a:p>
          <a:p>
            <a:r>
              <a:rPr lang="zh-CN" altLang="en-US" dirty="0"/>
              <a:t>不直观，不易查错，生产效率低。</a:t>
            </a:r>
          </a:p>
          <a:p>
            <a:r>
              <a:rPr lang="en-US" altLang="zh-CN" dirty="0"/>
              <a:t>2</a:t>
            </a:r>
            <a:r>
              <a:rPr lang="zh-CN" altLang="en-US" dirty="0"/>
              <a:t>。汇编语言</a:t>
            </a:r>
          </a:p>
          <a:p>
            <a:r>
              <a:rPr lang="zh-CN" altLang="en-US" dirty="0"/>
              <a:t>定义：用助记符号描述的指令系统</a:t>
            </a:r>
          </a:p>
          <a:p>
            <a:r>
              <a:rPr lang="zh-CN" altLang="en-US" dirty="0"/>
              <a:t>特点：</a:t>
            </a:r>
          </a:p>
          <a:p>
            <a:r>
              <a:rPr lang="zh-CN" altLang="en-US" dirty="0"/>
              <a:t>生产效率高，质量好，执行效率较高；</a:t>
            </a:r>
          </a:p>
          <a:p>
            <a:r>
              <a:rPr lang="zh-CN" altLang="en-US" dirty="0"/>
              <a:t>要经汇编程序汇编成目标程序（机器语言）才能执行，依赖硬件。</a:t>
            </a:r>
          </a:p>
          <a:p>
            <a:r>
              <a:rPr lang="zh-CN" altLang="en-US" dirty="0"/>
              <a:t>（面向机器的语言</a:t>
            </a:r>
            <a:r>
              <a:rPr lang="en-US" altLang="zh-CN" dirty="0"/>
              <a:t>----</a:t>
            </a:r>
            <a:r>
              <a:rPr lang="zh-CN" altLang="en-US" dirty="0"/>
              <a:t>依</a:t>
            </a:r>
            <a:r>
              <a:rPr lang="en-US" altLang="zh-CN" dirty="0"/>
              <a:t>CPU</a:t>
            </a:r>
            <a:r>
              <a:rPr lang="zh-CN" altLang="en-US" dirty="0"/>
              <a:t>不同而异）</a:t>
            </a:r>
          </a:p>
          <a:p>
            <a:r>
              <a:rPr lang="en-US" altLang="zh-CN" dirty="0"/>
              <a:t>3</a:t>
            </a:r>
            <a:r>
              <a:rPr lang="zh-CN" altLang="en-US" dirty="0"/>
              <a:t>。高级语言</a:t>
            </a:r>
          </a:p>
          <a:p>
            <a:r>
              <a:rPr lang="zh-CN" altLang="en-US" dirty="0"/>
              <a:t>特点：</a:t>
            </a:r>
          </a:p>
          <a:p>
            <a:r>
              <a:rPr lang="zh-CN" altLang="en-US" dirty="0"/>
              <a:t>编程效率高，不必考虑硬件；</a:t>
            </a:r>
          </a:p>
          <a:p>
            <a:r>
              <a:rPr lang="zh-CN" altLang="en-US" dirty="0"/>
              <a:t>执行效率低，要经编译、连接后才能执行。</a:t>
            </a:r>
          </a:p>
          <a:p>
            <a:r>
              <a:rPr lang="zh-CN" altLang="en-US" dirty="0"/>
              <a:t>面向过程的程序设计语言</a:t>
            </a:r>
          </a:p>
          <a:p>
            <a:r>
              <a:rPr lang="zh-CN" altLang="en-US" dirty="0"/>
              <a:t>认为解题过程是数据被加工的过程</a:t>
            </a:r>
          </a:p>
          <a:p>
            <a:r>
              <a:rPr lang="zh-CN" altLang="en-US" dirty="0"/>
              <a:t>程序</a:t>
            </a:r>
            <a:r>
              <a:rPr lang="en-US" altLang="zh-CN" dirty="0"/>
              <a:t>=</a:t>
            </a:r>
            <a:r>
              <a:rPr lang="zh-CN" altLang="en-US" dirty="0"/>
              <a:t>数据结构</a:t>
            </a:r>
            <a:r>
              <a:rPr lang="en-US" altLang="zh-CN" dirty="0"/>
              <a:t>+</a:t>
            </a:r>
            <a:r>
              <a:rPr lang="zh-CN" altLang="en-US" dirty="0"/>
              <a:t>算法</a:t>
            </a:r>
          </a:p>
          <a:p>
            <a:r>
              <a:rPr lang="en-US" altLang="zh-CN" dirty="0"/>
              <a:t>C</a:t>
            </a:r>
            <a:r>
              <a:rPr lang="zh-CN" altLang="en-US" dirty="0"/>
              <a:t>语言是面向过程的高级语言</a:t>
            </a:r>
          </a:p>
          <a:p>
            <a:r>
              <a:rPr lang="zh-CN" altLang="en-US" dirty="0"/>
              <a:t>           面向对象的程序设计语言</a:t>
            </a:r>
          </a:p>
          <a:p>
            <a:r>
              <a:rPr lang="zh-CN" altLang="en-US" dirty="0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 dirty="0"/>
              <a:t>特点：比面向过程的语言更清晰、易懂，适宜编更大规模程序，是程序设计的主流</a:t>
            </a:r>
          </a:p>
          <a:p>
            <a:endParaRPr lang="zh-CN" altLang="en-US" dirty="0"/>
          </a:p>
          <a:p>
            <a:r>
              <a:rPr lang="zh-CN" altLang="en-US" dirty="0"/>
              <a:t>程序设计语言基本成分：</a:t>
            </a:r>
          </a:p>
          <a:p>
            <a:r>
              <a:rPr lang="zh-CN" altLang="en-US" dirty="0"/>
              <a:t>。数据成分</a:t>
            </a:r>
          </a:p>
          <a:p>
            <a:r>
              <a:rPr lang="zh-CN" altLang="en-US" dirty="0"/>
              <a:t>。运算成分</a:t>
            </a:r>
          </a:p>
          <a:p>
            <a:r>
              <a:rPr lang="zh-CN" altLang="en-US" dirty="0"/>
              <a:t>。控制成分</a:t>
            </a:r>
          </a:p>
          <a:p>
            <a:r>
              <a:rPr lang="zh-CN" altLang="en-US" dirty="0"/>
              <a:t>。传输成分	</a:t>
            </a:r>
          </a:p>
          <a:p>
            <a:endParaRPr lang="zh-CN" altLang="en-US" dirty="0"/>
          </a:p>
          <a:p>
            <a:r>
              <a:rPr lang="zh-CN" altLang="en-US" dirty="0"/>
              <a:t>程序设计语言定义：用于书写计算机程序的语言。通常指实现高级语言。</a:t>
            </a:r>
          </a:p>
          <a:p>
            <a:r>
              <a:rPr lang="zh-CN" altLang="en-US" dirty="0"/>
              <a:t>语言的基础是一组记号与一组规则。</a:t>
            </a:r>
          </a:p>
          <a:p>
            <a:r>
              <a:rPr lang="zh-CN" altLang="en-US" dirty="0"/>
              <a:t>程序设计语言包括：</a:t>
            </a:r>
          </a:p>
          <a:p>
            <a:r>
              <a:rPr lang="zh-CN" altLang="en-US" dirty="0"/>
              <a:t>语法：记号的组合规则</a:t>
            </a:r>
          </a:p>
          <a:p>
            <a:r>
              <a:rPr lang="zh-CN" altLang="en-US" dirty="0"/>
              <a:t>语义：记号的特定意义</a:t>
            </a:r>
          </a:p>
          <a:p>
            <a:r>
              <a:rPr lang="zh-CN" altLang="en-US" dirty="0"/>
              <a:t>语用：程序与使用者的关系</a:t>
            </a:r>
          </a:p>
          <a:p>
            <a:endParaRPr lang="zh-CN" altLang="en-US" dirty="0"/>
          </a:p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E0F2096-01A7-4DDC-8823-B006DFC99D2A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1067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67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48FA05-75B8-4916-AB46-A5B300CF68A4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1069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69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07EFAC-C3C6-443D-B8F6-8A25A88098A8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1071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71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70121F1-D41A-4219-B1A8-63893A5E0674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1073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73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7A21D7-6811-484F-88A1-3DE14D863A2A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1075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75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7A21D7-6811-484F-88A1-3DE14D863A2A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1075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75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27378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137B85E-41CB-456B-867E-867557AD84DA}" type="slidenum">
              <a:rPr lang="en-US" altLang="zh-CN"/>
              <a:pPr/>
              <a:t>21</a:t>
            </a:fld>
            <a:endParaRPr lang="en-US" altLang="zh-CN"/>
          </a:p>
        </p:txBody>
      </p:sp>
      <p:sp>
        <p:nvSpPr>
          <p:cNvPr id="1077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77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31731EE-95A2-4A8A-853C-7FC6884EF83D}" type="slidenum">
              <a:rPr lang="en-US" altLang="zh-CN"/>
              <a:pPr/>
              <a:t>22</a:t>
            </a:fld>
            <a:endParaRPr lang="en-US" altLang="zh-CN"/>
          </a:p>
        </p:txBody>
      </p:sp>
      <p:sp>
        <p:nvSpPr>
          <p:cNvPr id="1079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79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415DF2-7270-48FC-BAB9-0A8C1C1F37FD}" type="slidenum">
              <a:rPr lang="en-US" altLang="zh-CN"/>
              <a:pPr/>
              <a:t>23</a:t>
            </a:fld>
            <a:endParaRPr lang="en-US" altLang="zh-CN"/>
          </a:p>
        </p:txBody>
      </p:sp>
      <p:sp>
        <p:nvSpPr>
          <p:cNvPr id="1081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81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361D8A4-4A42-470D-9169-54C4254B1DD2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1083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83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46569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361D8A4-4A42-470D-9169-54C4254B1DD2}" type="slidenum">
              <a:rPr lang="en-US" altLang="zh-CN"/>
              <a:pPr/>
              <a:t>25</a:t>
            </a:fld>
            <a:endParaRPr lang="en-US" altLang="zh-CN"/>
          </a:p>
        </p:txBody>
      </p:sp>
      <p:sp>
        <p:nvSpPr>
          <p:cNvPr id="1083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83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582431-E3C1-4A43-ACD6-AEBA5AA12EE2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1087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87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6BAC287-2680-4949-B678-AB2CF4CF96FE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1089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89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462628-9A4C-4C45-A704-CDC3BED09992}" type="slidenum">
              <a:rPr lang="en-US" altLang="zh-CN"/>
              <a:pPr/>
              <a:t>28</a:t>
            </a:fld>
            <a:endParaRPr lang="en-US" altLang="zh-CN"/>
          </a:p>
        </p:txBody>
      </p:sp>
      <p:sp>
        <p:nvSpPr>
          <p:cNvPr id="1091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91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0EB4B8-61CF-425A-9949-84E5D63012C6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1093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93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EE0FB0-3197-4B69-9EB2-DCB54B014C40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1095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95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EE0FB0-3197-4B69-9EB2-DCB54B014C40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1095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95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881931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2D6067-7093-478D-909E-D6C79091850E}" type="slidenum">
              <a:rPr lang="en-US" altLang="zh-CN"/>
              <a:pPr/>
              <a:t>32</a:t>
            </a:fld>
            <a:endParaRPr lang="en-US" altLang="zh-CN"/>
          </a:p>
        </p:txBody>
      </p:sp>
      <p:sp>
        <p:nvSpPr>
          <p:cNvPr id="1097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97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7EF52C4-3541-4F00-B229-14050545D8D0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1099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99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20831A4-BAB5-4B05-9309-F91C1CE56FF4}" type="slidenum">
              <a:rPr lang="en-US" altLang="zh-CN"/>
              <a:pPr/>
              <a:t>34</a:t>
            </a:fld>
            <a:endParaRPr lang="en-US" altLang="zh-CN"/>
          </a:p>
        </p:txBody>
      </p:sp>
      <p:sp>
        <p:nvSpPr>
          <p:cNvPr id="1101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01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7A34DFB-0B51-4718-BC51-1F6C9852FEBE}" type="slidenum">
              <a:rPr lang="en-US" altLang="zh-CN"/>
              <a:pPr/>
              <a:t>35</a:t>
            </a:fld>
            <a:endParaRPr lang="en-US" altLang="zh-CN"/>
          </a:p>
        </p:txBody>
      </p:sp>
      <p:sp>
        <p:nvSpPr>
          <p:cNvPr id="1103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03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3B4476-033F-44E9-B308-D09EDABB58DB}" type="slidenum">
              <a:rPr lang="en-US" altLang="zh-CN"/>
              <a:pPr/>
              <a:t>36</a:t>
            </a:fld>
            <a:endParaRPr lang="en-US" altLang="zh-CN"/>
          </a:p>
        </p:txBody>
      </p:sp>
      <p:sp>
        <p:nvSpPr>
          <p:cNvPr id="1105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05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BCF155-2BA6-40A8-8326-D6CC4874BF36}" type="slidenum">
              <a:rPr lang="en-US" altLang="zh-CN"/>
              <a:pPr/>
              <a:t>37</a:t>
            </a:fld>
            <a:endParaRPr lang="en-US" altLang="zh-CN"/>
          </a:p>
        </p:txBody>
      </p:sp>
      <p:sp>
        <p:nvSpPr>
          <p:cNvPr id="1107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07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6A39707-B630-46DA-B4D9-286DD97161B9}" type="slidenum">
              <a:rPr lang="en-US" altLang="zh-CN"/>
              <a:pPr/>
              <a:t>38</a:t>
            </a:fld>
            <a:endParaRPr lang="en-US" altLang="zh-CN"/>
          </a:p>
        </p:txBody>
      </p:sp>
      <p:sp>
        <p:nvSpPr>
          <p:cNvPr id="1110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10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EE7F39-98A8-4187-B1FE-749B5B814AA6}" type="slidenum">
              <a:rPr lang="en-US" altLang="zh-CN"/>
              <a:pPr/>
              <a:t>39</a:t>
            </a:fld>
            <a:endParaRPr lang="en-US" altLang="zh-CN"/>
          </a:p>
        </p:txBody>
      </p:sp>
      <p:sp>
        <p:nvSpPr>
          <p:cNvPr id="1112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12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B1A84B1-BE09-43ED-94BA-F33A84814D00}" type="slidenum">
              <a:rPr lang="en-US" altLang="zh-CN"/>
              <a:pPr/>
              <a:t>40</a:t>
            </a:fld>
            <a:endParaRPr lang="en-US" altLang="zh-CN"/>
          </a:p>
        </p:txBody>
      </p:sp>
      <p:sp>
        <p:nvSpPr>
          <p:cNvPr id="1114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114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r>
              <a:rPr lang="en-US" altLang="zh-CN"/>
              <a:t>1946</a:t>
            </a:r>
            <a:r>
              <a:rPr lang="zh-CN" altLang="en-US"/>
              <a:t>年，第一台电子计算机问世，应用领域迅速扩大，软硬件飞速发展，程序设计语言相继问世。</a:t>
            </a:r>
          </a:p>
          <a:p>
            <a:r>
              <a:rPr lang="zh-CN" altLang="en-US"/>
              <a:t>程序设计语言</a:t>
            </a:r>
            <a:r>
              <a:rPr lang="en-US" altLang="zh-CN"/>
              <a:t>:</a:t>
            </a:r>
            <a:r>
              <a:rPr lang="zh-CN" altLang="en-US"/>
              <a:t>将自然语言形式化为有格式的语言</a:t>
            </a:r>
          </a:p>
          <a:p>
            <a:r>
              <a:rPr lang="en-US" altLang="zh-CN"/>
              <a:t>1</a:t>
            </a:r>
            <a:r>
              <a:rPr lang="zh-CN" altLang="en-US"/>
              <a:t>。机器语言：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计算机能够认识的语言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计算机的基础是数字电路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机器语言就是数字电路里的电信号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将在</a:t>
            </a:r>
            <a:r>
              <a:rPr lang="en-US" altLang="zh-CN"/>
              <a:t>《</a:t>
            </a:r>
            <a:r>
              <a:rPr lang="zh-CN" altLang="en-US"/>
              <a:t>计算机组成</a:t>
            </a:r>
            <a:r>
              <a:rPr lang="en-US" altLang="zh-CN"/>
              <a:t>》</a:t>
            </a:r>
            <a:r>
              <a:rPr lang="zh-CN" altLang="en-US"/>
              <a:t>课程中学习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都是二进制文件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一条机器语言成为一条指令</a:t>
            </a:r>
          </a:p>
          <a:p>
            <a:pPr lvl="2">
              <a:buClr>
                <a:schemeClr val="tx2"/>
              </a:buClr>
              <a:buFontTx/>
              <a:buChar char="•"/>
            </a:pPr>
            <a:r>
              <a:rPr lang="zh-CN" altLang="en-US"/>
              <a:t>指令是不可分割的最小功能单元</a:t>
            </a:r>
          </a:p>
          <a:p>
            <a:r>
              <a:rPr lang="zh-CN" altLang="en-US"/>
              <a:t>定义：一种</a:t>
            </a:r>
            <a:r>
              <a:rPr lang="en-US" altLang="zh-CN"/>
              <a:t>CPU</a:t>
            </a:r>
            <a:r>
              <a:rPr lang="zh-CN" altLang="en-US"/>
              <a:t>的指令系统，由该</a:t>
            </a:r>
            <a:r>
              <a:rPr lang="en-US" altLang="zh-CN"/>
              <a:t>CPU</a:t>
            </a:r>
            <a:r>
              <a:rPr lang="zh-CN" altLang="en-US"/>
              <a:t>可识别的</a:t>
            </a:r>
            <a:r>
              <a:rPr lang="en-US" altLang="zh-CN"/>
              <a:t>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序列构成的指令码组成。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执行效率高</a:t>
            </a:r>
          </a:p>
          <a:p>
            <a:r>
              <a:rPr lang="zh-CN" altLang="en-US"/>
              <a:t>不直观，不易查错，生产效率低。</a:t>
            </a:r>
          </a:p>
          <a:p>
            <a:r>
              <a:rPr lang="en-US" altLang="zh-CN"/>
              <a:t>2</a:t>
            </a:r>
            <a:r>
              <a:rPr lang="zh-CN" altLang="en-US"/>
              <a:t>。汇编语言</a:t>
            </a:r>
          </a:p>
          <a:p>
            <a:r>
              <a:rPr lang="zh-CN" altLang="en-US"/>
              <a:t>定义：用助记符号描述的指令系统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生产效率高，质量好，执行效率较高；</a:t>
            </a:r>
          </a:p>
          <a:p>
            <a:r>
              <a:rPr lang="zh-CN" altLang="en-US"/>
              <a:t>要经汇编程序汇编成目标程序（机器语言）才能执行，依赖硬件。</a:t>
            </a:r>
          </a:p>
          <a:p>
            <a:r>
              <a:rPr lang="zh-CN" altLang="en-US"/>
              <a:t>（面向机器的语言</a:t>
            </a:r>
            <a:r>
              <a:rPr lang="en-US" altLang="zh-CN"/>
              <a:t>----</a:t>
            </a:r>
            <a:r>
              <a:rPr lang="zh-CN" altLang="en-US"/>
              <a:t>依</a:t>
            </a:r>
            <a:r>
              <a:rPr lang="en-US" altLang="zh-CN"/>
              <a:t>CPU</a:t>
            </a:r>
            <a:r>
              <a:rPr lang="zh-CN" altLang="en-US"/>
              <a:t>不同而异）</a:t>
            </a:r>
          </a:p>
          <a:p>
            <a:r>
              <a:rPr lang="en-US" altLang="zh-CN"/>
              <a:t>3</a:t>
            </a:r>
            <a:r>
              <a:rPr lang="zh-CN" altLang="en-US"/>
              <a:t>。高级语言</a:t>
            </a:r>
          </a:p>
          <a:p>
            <a:r>
              <a:rPr lang="zh-CN" altLang="en-US"/>
              <a:t>特点：</a:t>
            </a:r>
          </a:p>
          <a:p>
            <a:r>
              <a:rPr lang="zh-CN" altLang="en-US"/>
              <a:t>编程效率高，不必考虑硬件；</a:t>
            </a:r>
          </a:p>
          <a:p>
            <a:r>
              <a:rPr lang="zh-CN" altLang="en-US"/>
              <a:t>执行效率低，要经编译、连接后才能执行。</a:t>
            </a:r>
          </a:p>
          <a:p>
            <a:r>
              <a:rPr lang="zh-CN" altLang="en-US"/>
              <a:t>面向过程的程序设计语言</a:t>
            </a:r>
          </a:p>
          <a:p>
            <a:r>
              <a:rPr lang="zh-CN" altLang="en-US"/>
              <a:t>认为解题过程是数据被加工的过程</a:t>
            </a:r>
          </a:p>
          <a:p>
            <a:r>
              <a:rPr lang="zh-CN" altLang="en-US"/>
              <a:t>程序</a:t>
            </a:r>
            <a:r>
              <a:rPr lang="en-US" altLang="zh-CN"/>
              <a:t>=</a:t>
            </a:r>
            <a:r>
              <a:rPr lang="zh-CN" altLang="en-US"/>
              <a:t>数据结构</a:t>
            </a:r>
            <a:r>
              <a:rPr lang="en-US" altLang="zh-CN"/>
              <a:t>+</a:t>
            </a:r>
            <a:r>
              <a:rPr lang="zh-CN" altLang="en-US"/>
              <a:t>算法</a:t>
            </a:r>
          </a:p>
          <a:p>
            <a:r>
              <a:rPr lang="en-US" altLang="zh-CN"/>
              <a:t>C</a:t>
            </a:r>
            <a:r>
              <a:rPr lang="zh-CN" altLang="en-US"/>
              <a:t>语言是面向过程的高级语言</a:t>
            </a:r>
          </a:p>
          <a:p>
            <a:r>
              <a:rPr lang="zh-CN" altLang="en-US"/>
              <a:t>           面向对象的程序设计语言</a:t>
            </a:r>
          </a:p>
          <a:p>
            <a:r>
              <a:rPr lang="zh-CN" altLang="en-US"/>
              <a:t>一种结构模拟方法。认为：现实世界由对象组成，对象是数据和方法的封装体；客观世界可以分类，每个对象是类的一个实例。</a:t>
            </a:r>
          </a:p>
          <a:p>
            <a:r>
              <a:rPr lang="zh-CN" altLang="en-US"/>
              <a:t>特点：比面向过程的语言更清晰、易懂，适宜编更大规模程序，是程序设计的主流</a:t>
            </a:r>
          </a:p>
          <a:p>
            <a:endParaRPr lang="zh-CN" altLang="en-US"/>
          </a:p>
          <a:p>
            <a:r>
              <a:rPr lang="zh-CN" altLang="en-US"/>
              <a:t>程序设计语言基本成分：</a:t>
            </a:r>
          </a:p>
          <a:p>
            <a:r>
              <a:rPr lang="zh-CN" altLang="en-US"/>
              <a:t>。数据成分</a:t>
            </a:r>
          </a:p>
          <a:p>
            <a:r>
              <a:rPr lang="zh-CN" altLang="en-US"/>
              <a:t>。运算成分</a:t>
            </a:r>
          </a:p>
          <a:p>
            <a:r>
              <a:rPr lang="zh-CN" altLang="en-US"/>
              <a:t>。控制成分</a:t>
            </a:r>
          </a:p>
          <a:p>
            <a:r>
              <a:rPr lang="zh-CN" altLang="en-US"/>
              <a:t>。传输成分	</a:t>
            </a:r>
          </a:p>
          <a:p>
            <a:endParaRPr lang="zh-CN" altLang="en-US"/>
          </a:p>
          <a:p>
            <a:r>
              <a:rPr lang="zh-CN" altLang="en-US"/>
              <a:t>程序设计语言定义：用于书写计算机程序的语言。通常指实现高级语言。</a:t>
            </a:r>
          </a:p>
          <a:p>
            <a:r>
              <a:rPr lang="zh-CN" altLang="en-US"/>
              <a:t>语言的基础是一组记号与一组规则。</a:t>
            </a:r>
          </a:p>
          <a:p>
            <a:r>
              <a:rPr lang="zh-CN" altLang="en-US"/>
              <a:t>程序设计语言包括：</a:t>
            </a:r>
          </a:p>
          <a:p>
            <a:r>
              <a:rPr lang="zh-CN" altLang="en-US"/>
              <a:t>语法：记号的组合规则</a:t>
            </a:r>
          </a:p>
          <a:p>
            <a:r>
              <a:rPr lang="zh-CN" altLang="en-US"/>
              <a:t>语义：记号的特定意义</a:t>
            </a:r>
          </a:p>
          <a:p>
            <a:r>
              <a:rPr lang="zh-CN" altLang="en-US"/>
              <a:t>语用：程序与使用者的关系</a:t>
            </a:r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6E37FF-4EAF-470E-BD31-3D917444AAAA}" type="slidenum">
              <a:rPr lang="en-US" altLang="zh-CN" smtClean="0"/>
              <a:pPr/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6997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C1EF2924-3E1E-4CB4-8EF2-15D5D1C0B5A9}"/>
              </a:ext>
            </a:extLst>
          </p:cNvPr>
          <p:cNvSpPr/>
          <p:nvPr userDrawn="1"/>
        </p:nvSpPr>
        <p:spPr>
          <a:xfrm>
            <a:off x="1136072" y="295564"/>
            <a:ext cx="11055928" cy="550402"/>
          </a:xfrm>
          <a:prstGeom prst="rect">
            <a:avLst/>
          </a:prstGeom>
          <a:gradFill>
            <a:gsLst>
              <a:gs pos="100000">
                <a:srgbClr val="D7000F"/>
              </a:gs>
              <a:gs pos="0">
                <a:srgbClr val="D7000F"/>
              </a:gs>
            </a:gsLst>
            <a:lin ang="24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4B418866-4D2D-43B4-A4C7-A19B50828F83}"/>
              </a:ext>
            </a:extLst>
          </p:cNvPr>
          <p:cNvGrpSpPr/>
          <p:nvPr userDrawn="1"/>
        </p:nvGrpSpPr>
        <p:grpSpPr>
          <a:xfrm>
            <a:off x="0" y="-18269"/>
            <a:ext cx="1136073" cy="864235"/>
            <a:chOff x="0" y="-18269"/>
            <a:chExt cx="1136073" cy="86423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57A01DE-1CE0-473F-BFBC-953845BD515E}"/>
                </a:ext>
              </a:extLst>
            </p:cNvPr>
            <p:cNvSpPr/>
            <p:nvPr/>
          </p:nvSpPr>
          <p:spPr>
            <a:xfrm>
              <a:off x="0" y="551919"/>
              <a:ext cx="1136072" cy="294047"/>
            </a:xfrm>
            <a:prstGeom prst="rect">
              <a:avLst/>
            </a:prstGeom>
            <a:solidFill>
              <a:srgbClr val="D7000F">
                <a:alpha val="48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6E742AE-2026-40D4-B7D4-325185E7DA57}"/>
                </a:ext>
              </a:extLst>
            </p:cNvPr>
            <p:cNvSpPr/>
            <p:nvPr/>
          </p:nvSpPr>
          <p:spPr>
            <a:xfrm>
              <a:off x="323274" y="300434"/>
              <a:ext cx="364736" cy="545532"/>
            </a:xfrm>
            <a:prstGeom prst="rect">
              <a:avLst/>
            </a:prstGeom>
            <a:solidFill>
              <a:srgbClr val="D7000F">
                <a:alpha val="48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645C1E27-5297-46D4-8389-5A37CA1DD237}"/>
                </a:ext>
              </a:extLst>
            </p:cNvPr>
            <p:cNvSpPr/>
            <p:nvPr/>
          </p:nvSpPr>
          <p:spPr>
            <a:xfrm>
              <a:off x="688011" y="-18269"/>
              <a:ext cx="448062" cy="570187"/>
            </a:xfrm>
            <a:prstGeom prst="rect">
              <a:avLst/>
            </a:prstGeom>
            <a:solidFill>
              <a:srgbClr val="D7000F">
                <a:alpha val="48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E82ED21-678D-45D4-8A9D-D1F391FA6F5F}"/>
                </a:ext>
              </a:extLst>
            </p:cNvPr>
            <p:cNvSpPr/>
            <p:nvPr/>
          </p:nvSpPr>
          <p:spPr>
            <a:xfrm>
              <a:off x="688010" y="295565"/>
              <a:ext cx="448062" cy="256354"/>
            </a:xfrm>
            <a:prstGeom prst="rect">
              <a:avLst/>
            </a:prstGeom>
            <a:solidFill>
              <a:srgbClr val="D7000F">
                <a:alpha val="48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1B67A05-980D-4B85-BFA9-BB6839BE7D54}"/>
                </a:ext>
              </a:extLst>
            </p:cNvPr>
            <p:cNvSpPr/>
            <p:nvPr/>
          </p:nvSpPr>
          <p:spPr>
            <a:xfrm>
              <a:off x="688010" y="551918"/>
              <a:ext cx="448061" cy="294047"/>
            </a:xfrm>
            <a:prstGeom prst="rect">
              <a:avLst/>
            </a:prstGeom>
            <a:solidFill>
              <a:srgbClr val="D7000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A07852E5-18ED-4342-8617-434AF51E6693}"/>
              </a:ext>
            </a:extLst>
          </p:cNvPr>
          <p:cNvSpPr/>
          <p:nvPr userDrawn="1"/>
        </p:nvSpPr>
        <p:spPr>
          <a:xfrm>
            <a:off x="-14483" y="6631260"/>
            <a:ext cx="9112302" cy="70030"/>
          </a:xfrm>
          <a:prstGeom prst="rect">
            <a:avLst/>
          </a:prstGeom>
          <a:gradFill>
            <a:gsLst>
              <a:gs pos="100000">
                <a:srgbClr val="D7000F">
                  <a:alpha val="20000"/>
                </a:srgbClr>
              </a:gs>
              <a:gs pos="64000">
                <a:srgbClr val="D7000F">
                  <a:alpha val="50000"/>
                </a:srgbClr>
              </a:gs>
              <a:gs pos="31000">
                <a:srgbClr val="D7000F">
                  <a:alpha val="60000"/>
                </a:srgbClr>
              </a:gs>
              <a:gs pos="0">
                <a:srgbClr val="D7000F"/>
              </a:gs>
            </a:gsLst>
            <a:lin ang="24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pic>
        <p:nvPicPr>
          <p:cNvPr id="16" name="图片 15" descr="文本&#10;&#10;描述已自动生成">
            <a:extLst>
              <a:ext uri="{FF2B5EF4-FFF2-40B4-BE49-F238E27FC236}">
                <a16:creationId xmlns:a16="http://schemas.microsoft.com/office/drawing/2014/main" id="{FE70EF5C-ACA0-4A13-89C1-BD7D5AB87B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352" y="6144751"/>
            <a:ext cx="2641353" cy="973017"/>
          </a:xfrm>
          <a:prstGeom prst="rect">
            <a:avLst/>
          </a:prstGeom>
        </p:spPr>
      </p:pic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115888"/>
            <a:ext cx="103632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C4CA0FDB-3C96-4F80-8C31-ADBD4276175E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284EC08-A8D8-44C4-8645-6C1DB1686F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032792" y="3021330"/>
            <a:ext cx="371475" cy="3429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03B68388-6482-47AA-B23D-54697538AC93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rgbClr val="C0192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1234118"/>
      </p:ext>
    </p:extLst>
  </p:cSld>
  <p:clrMapOvr>
    <a:masterClrMapping/>
  </p:clrMapOvr>
  <p:transition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54A6AB-2253-454B-9B69-DDC28CECC3C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312431"/>
      </p:ext>
    </p:extLst>
  </p:cSld>
  <p:clrMapOvr>
    <a:masterClrMapping/>
  </p:clrMapOvr>
  <p:transition>
    <p:zo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5BC307-0E07-482C-BB08-A2C38A4179A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380906"/>
      </p:ext>
    </p:extLst>
  </p:cSld>
  <p:clrMapOvr>
    <a:masterClrMapping/>
  </p:clrMapOvr>
  <p:transition>
    <p:zo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914400" y="115888"/>
            <a:ext cx="10363200" cy="59801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C552FE6F-13F5-41E6-9FA3-5A273B7D4E8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4803536"/>
      </p:ext>
    </p:extLst>
  </p:cSld>
  <p:clrMapOvr>
    <a:masterClrMapping/>
  </p:clrMapOvr>
  <p:transition>
    <p:zo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341438"/>
            <a:ext cx="5080000" cy="4754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41438"/>
            <a:ext cx="5080000" cy="4754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A18940-D624-4B3D-B96C-0EC2FB38CDB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2258927"/>
      </p:ext>
    </p:extLst>
  </p:cSld>
  <p:clrMapOvr>
    <a:masterClrMapping/>
  </p:clrMapOvr>
  <p:transition>
    <p:zo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115888"/>
            <a:ext cx="103632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1341438"/>
            <a:ext cx="5080000" cy="47545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341438"/>
            <a:ext cx="5080000" cy="47545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F70F8F8D-D16E-4599-93A1-3AB601F3F5B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7771544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B56CF960-5613-4363-9E14-14A8BF1EBB1E}"/>
              </a:ext>
            </a:extLst>
          </p:cNvPr>
          <p:cNvSpPr/>
          <p:nvPr userDrawn="1"/>
        </p:nvSpPr>
        <p:spPr>
          <a:xfrm>
            <a:off x="1136072" y="295564"/>
            <a:ext cx="11055928" cy="550402"/>
          </a:xfrm>
          <a:prstGeom prst="rect">
            <a:avLst/>
          </a:prstGeom>
          <a:gradFill>
            <a:gsLst>
              <a:gs pos="100000">
                <a:srgbClr val="D7000F"/>
              </a:gs>
              <a:gs pos="0">
                <a:srgbClr val="D7000F"/>
              </a:gs>
            </a:gsLst>
            <a:lin ang="24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7B1461C2-7D0D-4E3C-8B47-25DCF9B20DC6}"/>
              </a:ext>
            </a:extLst>
          </p:cNvPr>
          <p:cNvGrpSpPr/>
          <p:nvPr userDrawn="1"/>
        </p:nvGrpSpPr>
        <p:grpSpPr>
          <a:xfrm>
            <a:off x="0" y="-18269"/>
            <a:ext cx="1136073" cy="864235"/>
            <a:chOff x="0" y="-18269"/>
            <a:chExt cx="1136073" cy="864235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968FD0F2-33A1-43B7-94AC-D1A0FC81FA0B}"/>
                </a:ext>
              </a:extLst>
            </p:cNvPr>
            <p:cNvSpPr/>
            <p:nvPr/>
          </p:nvSpPr>
          <p:spPr>
            <a:xfrm>
              <a:off x="0" y="551919"/>
              <a:ext cx="1136072" cy="294047"/>
            </a:xfrm>
            <a:prstGeom prst="rect">
              <a:avLst/>
            </a:prstGeom>
            <a:solidFill>
              <a:srgbClr val="D7000F">
                <a:alpha val="48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63006E15-5CC6-4E2B-974F-5505320A49A0}"/>
                </a:ext>
              </a:extLst>
            </p:cNvPr>
            <p:cNvSpPr/>
            <p:nvPr/>
          </p:nvSpPr>
          <p:spPr>
            <a:xfrm>
              <a:off x="323274" y="300434"/>
              <a:ext cx="364736" cy="545532"/>
            </a:xfrm>
            <a:prstGeom prst="rect">
              <a:avLst/>
            </a:prstGeom>
            <a:solidFill>
              <a:srgbClr val="D7000F">
                <a:alpha val="48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E4DFBFD1-EA9E-4E6B-BEDE-0C3408961645}"/>
                </a:ext>
              </a:extLst>
            </p:cNvPr>
            <p:cNvSpPr/>
            <p:nvPr/>
          </p:nvSpPr>
          <p:spPr>
            <a:xfrm>
              <a:off x="688011" y="-18269"/>
              <a:ext cx="448062" cy="570187"/>
            </a:xfrm>
            <a:prstGeom prst="rect">
              <a:avLst/>
            </a:prstGeom>
            <a:solidFill>
              <a:srgbClr val="D7000F">
                <a:alpha val="48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0F4E1A74-684B-41DA-B988-56C6439CBC73}"/>
                </a:ext>
              </a:extLst>
            </p:cNvPr>
            <p:cNvSpPr/>
            <p:nvPr/>
          </p:nvSpPr>
          <p:spPr>
            <a:xfrm>
              <a:off x="688010" y="295565"/>
              <a:ext cx="448062" cy="256354"/>
            </a:xfrm>
            <a:prstGeom prst="rect">
              <a:avLst/>
            </a:prstGeom>
            <a:solidFill>
              <a:srgbClr val="D7000F">
                <a:alpha val="48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17248F34-2C9B-45E0-A8F0-6337A327BFF4}"/>
                </a:ext>
              </a:extLst>
            </p:cNvPr>
            <p:cNvSpPr/>
            <p:nvPr/>
          </p:nvSpPr>
          <p:spPr>
            <a:xfrm>
              <a:off x="688010" y="551918"/>
              <a:ext cx="448061" cy="294047"/>
            </a:xfrm>
            <a:prstGeom prst="rect">
              <a:avLst/>
            </a:prstGeom>
            <a:solidFill>
              <a:srgbClr val="D7000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968F4294-188D-4257-9B6F-6E7514261A97}"/>
              </a:ext>
            </a:extLst>
          </p:cNvPr>
          <p:cNvSpPr/>
          <p:nvPr userDrawn="1"/>
        </p:nvSpPr>
        <p:spPr>
          <a:xfrm>
            <a:off x="-14483" y="6631260"/>
            <a:ext cx="9112302" cy="70030"/>
          </a:xfrm>
          <a:prstGeom prst="rect">
            <a:avLst/>
          </a:prstGeom>
          <a:gradFill>
            <a:gsLst>
              <a:gs pos="100000">
                <a:srgbClr val="D7000F">
                  <a:alpha val="20000"/>
                </a:srgbClr>
              </a:gs>
              <a:gs pos="64000">
                <a:srgbClr val="D7000F">
                  <a:alpha val="50000"/>
                </a:srgbClr>
              </a:gs>
              <a:gs pos="31000">
                <a:srgbClr val="D7000F">
                  <a:alpha val="60000"/>
                </a:srgbClr>
              </a:gs>
              <a:gs pos="0">
                <a:srgbClr val="D7000F"/>
              </a:gs>
            </a:gsLst>
            <a:lin ang="24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pic>
        <p:nvPicPr>
          <p:cNvPr id="29" name="图片 28" descr="文本&#10;&#10;描述已自动生成">
            <a:extLst>
              <a:ext uri="{FF2B5EF4-FFF2-40B4-BE49-F238E27FC236}">
                <a16:creationId xmlns:a16="http://schemas.microsoft.com/office/drawing/2014/main" id="{BC7FD4F5-F6C5-40DA-A03E-06C55AE51873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352" y="6144751"/>
            <a:ext cx="2641353" cy="97301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>
    <p:zoom/>
  </p:transition>
  <p:txStyles>
    <p:titleStyle>
      <a:lvl1pPr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effectLst>
            <a:outerShdw blurRad="38100" dist="38100" dir="2700000" algn="tl">
              <a:srgbClr val="FFFFFF"/>
            </a:outerShdw>
          </a:effectLst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 b="1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audio" Target="../media/audio2.wav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4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2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4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4.wav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audio" Target="../media/audio4.wav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2.wav"/><Relationship Id="rId4" Type="http://schemas.openxmlformats.org/officeDocument/2006/relationships/audio" Target="../media/audio4.wav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3.wav"/><Relationship Id="rId4" Type="http://schemas.openxmlformats.org/officeDocument/2006/relationships/audio" Target="../media/audio2.wav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audio" Target="../media/audio2.wav"/><Relationship Id="rId4" Type="http://schemas.openxmlformats.org/officeDocument/2006/relationships/audio" Target="../media/audio4.wav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4.wav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4.wav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3.wav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4.wav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4.wav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2.wav"/><Relationship Id="rId4" Type="http://schemas.openxmlformats.org/officeDocument/2006/relationships/audio" Target="../media/audio5.wav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3.wav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4.wav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3.wav"/><Relationship Id="rId4" Type="http://schemas.openxmlformats.org/officeDocument/2006/relationships/audio" Target="../media/audio4.wav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3.wav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4.wav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4.wav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4.wav"/><Relationship Id="rId4" Type="http://schemas.openxmlformats.org/officeDocument/2006/relationships/audio" Target="../media/audio5.wav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3.wav"/><Relationship Id="rId4" Type="http://schemas.openxmlformats.org/officeDocument/2006/relationships/audio" Target="../media/audio2.wav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4.wav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4.wav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3.wav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3.wav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audio" Target="../media/audio6.wav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audio" Target="../media/audio2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19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6990" name="组合 466989">
            <a:extLst>
              <a:ext uri="{FF2B5EF4-FFF2-40B4-BE49-F238E27FC236}">
                <a16:creationId xmlns:a16="http://schemas.microsoft.com/office/drawing/2014/main" id="{90DA2393-20F0-4F22-A673-37EFCBE3CBB7}"/>
              </a:ext>
            </a:extLst>
          </p:cNvPr>
          <p:cNvGrpSpPr/>
          <p:nvPr/>
        </p:nvGrpSpPr>
        <p:grpSpPr>
          <a:xfrm>
            <a:off x="2734933" y="1239143"/>
            <a:ext cx="5668582" cy="6031728"/>
            <a:chOff x="1319586" y="1051455"/>
            <a:chExt cx="5668582" cy="5256585"/>
          </a:xfrm>
          <a:noFill/>
        </p:grpSpPr>
        <p:grpSp>
          <p:nvGrpSpPr>
            <p:cNvPr id="466988" name="组合 466987">
              <a:extLst>
                <a:ext uri="{FF2B5EF4-FFF2-40B4-BE49-F238E27FC236}">
                  <a16:creationId xmlns:a16="http://schemas.microsoft.com/office/drawing/2014/main" id="{47849CA3-A394-49F2-AD5A-D3DDF8E5D932}"/>
                </a:ext>
              </a:extLst>
            </p:cNvPr>
            <p:cNvGrpSpPr/>
            <p:nvPr/>
          </p:nvGrpSpPr>
          <p:grpSpPr>
            <a:xfrm>
              <a:off x="1319586" y="1232940"/>
              <a:ext cx="4837921" cy="4232797"/>
              <a:chOff x="4426431" y="860338"/>
              <a:chExt cx="4837921" cy="4232797"/>
            </a:xfrm>
            <a:grpFill/>
          </p:grpSpPr>
          <p:sp>
            <p:nvSpPr>
              <p:cNvPr id="56" name="矩形: 圆顶角 55">
                <a:extLst>
                  <a:ext uri="{FF2B5EF4-FFF2-40B4-BE49-F238E27FC236}">
                    <a16:creationId xmlns:a16="http://schemas.microsoft.com/office/drawing/2014/main" id="{34E73DA9-BC8D-436A-A664-0989F146C2E5}"/>
                  </a:ext>
                </a:extLst>
              </p:cNvPr>
              <p:cNvSpPr/>
              <p:nvPr/>
            </p:nvSpPr>
            <p:spPr bwMode="auto">
              <a:xfrm rot="16200000">
                <a:off x="6101055" y="1929838"/>
                <a:ext cx="2867104" cy="3459490"/>
              </a:xfrm>
              <a:custGeom>
                <a:avLst/>
                <a:gdLst>
                  <a:gd name="connsiteX0" fmla="*/ 477860 w 2867104"/>
                  <a:gd name="connsiteY0" fmla="*/ 0 h 3459490"/>
                  <a:gd name="connsiteX1" fmla="*/ 2389244 w 2867104"/>
                  <a:gd name="connsiteY1" fmla="*/ 0 h 3459490"/>
                  <a:gd name="connsiteX2" fmla="*/ 2867104 w 2867104"/>
                  <a:gd name="connsiteY2" fmla="*/ 477860 h 3459490"/>
                  <a:gd name="connsiteX3" fmla="*/ 2867104 w 2867104"/>
                  <a:gd name="connsiteY3" fmla="*/ 3459490 h 3459490"/>
                  <a:gd name="connsiteX4" fmla="*/ 2867104 w 2867104"/>
                  <a:gd name="connsiteY4" fmla="*/ 3459490 h 3459490"/>
                  <a:gd name="connsiteX5" fmla="*/ 0 w 2867104"/>
                  <a:gd name="connsiteY5" fmla="*/ 3459490 h 3459490"/>
                  <a:gd name="connsiteX6" fmla="*/ 0 w 2867104"/>
                  <a:gd name="connsiteY6" fmla="*/ 3459490 h 3459490"/>
                  <a:gd name="connsiteX7" fmla="*/ 0 w 2867104"/>
                  <a:gd name="connsiteY7" fmla="*/ 477860 h 3459490"/>
                  <a:gd name="connsiteX8" fmla="*/ 477860 w 2867104"/>
                  <a:gd name="connsiteY8" fmla="*/ 0 h 3459490"/>
                  <a:gd name="connsiteX0" fmla="*/ 6578915 w 8968159"/>
                  <a:gd name="connsiteY0" fmla="*/ 1929838 h 5389328"/>
                  <a:gd name="connsiteX1" fmla="*/ 0 w 8968159"/>
                  <a:gd name="connsiteY1" fmla="*/ 0 h 5389328"/>
                  <a:gd name="connsiteX2" fmla="*/ 8490299 w 8968159"/>
                  <a:gd name="connsiteY2" fmla="*/ 1929838 h 5389328"/>
                  <a:gd name="connsiteX3" fmla="*/ 8968159 w 8968159"/>
                  <a:gd name="connsiteY3" fmla="*/ 2407698 h 5389328"/>
                  <a:gd name="connsiteX4" fmla="*/ 8968159 w 8968159"/>
                  <a:gd name="connsiteY4" fmla="*/ 5389328 h 5389328"/>
                  <a:gd name="connsiteX5" fmla="*/ 8968159 w 8968159"/>
                  <a:gd name="connsiteY5" fmla="*/ 5389328 h 5389328"/>
                  <a:gd name="connsiteX6" fmla="*/ 6101055 w 8968159"/>
                  <a:gd name="connsiteY6" fmla="*/ 5389328 h 5389328"/>
                  <a:gd name="connsiteX7" fmla="*/ 6101055 w 8968159"/>
                  <a:gd name="connsiteY7" fmla="*/ 5389328 h 5389328"/>
                  <a:gd name="connsiteX8" fmla="*/ 6101055 w 8968159"/>
                  <a:gd name="connsiteY8" fmla="*/ 2407698 h 5389328"/>
                  <a:gd name="connsiteX9" fmla="*/ 6578915 w 8968159"/>
                  <a:gd name="connsiteY9" fmla="*/ 1929838 h 5389328"/>
                  <a:gd name="connsiteX0" fmla="*/ 477860 w 2867104"/>
                  <a:gd name="connsiteY0" fmla="*/ 0 h 3459490"/>
                  <a:gd name="connsiteX1" fmla="*/ 2389244 w 2867104"/>
                  <a:gd name="connsiteY1" fmla="*/ 0 h 3459490"/>
                  <a:gd name="connsiteX2" fmla="*/ 2867104 w 2867104"/>
                  <a:gd name="connsiteY2" fmla="*/ 477860 h 3459490"/>
                  <a:gd name="connsiteX3" fmla="*/ 2867104 w 2867104"/>
                  <a:gd name="connsiteY3" fmla="*/ 3459490 h 3459490"/>
                  <a:gd name="connsiteX4" fmla="*/ 2867104 w 2867104"/>
                  <a:gd name="connsiteY4" fmla="*/ 3459490 h 3459490"/>
                  <a:gd name="connsiteX5" fmla="*/ 0 w 2867104"/>
                  <a:gd name="connsiteY5" fmla="*/ 3459490 h 3459490"/>
                  <a:gd name="connsiteX6" fmla="*/ 0 w 2867104"/>
                  <a:gd name="connsiteY6" fmla="*/ 3459490 h 3459490"/>
                  <a:gd name="connsiteX7" fmla="*/ 0 w 2867104"/>
                  <a:gd name="connsiteY7" fmla="*/ 477860 h 3459490"/>
                  <a:gd name="connsiteX8" fmla="*/ 477860 w 2867104"/>
                  <a:gd name="connsiteY8" fmla="*/ 0 h 34594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67104" h="3459490">
                    <a:moveTo>
                      <a:pt x="477860" y="0"/>
                    </a:moveTo>
                    <a:lnTo>
                      <a:pt x="2389244" y="0"/>
                    </a:lnTo>
                    <a:cubicBezTo>
                      <a:pt x="2653159" y="0"/>
                      <a:pt x="2867104" y="213945"/>
                      <a:pt x="2867104" y="477860"/>
                    </a:cubicBezTo>
                    <a:lnTo>
                      <a:pt x="2867104" y="3459490"/>
                    </a:lnTo>
                    <a:lnTo>
                      <a:pt x="2867104" y="3459490"/>
                    </a:lnTo>
                    <a:lnTo>
                      <a:pt x="0" y="3459490"/>
                    </a:lnTo>
                    <a:lnTo>
                      <a:pt x="0" y="3459490"/>
                    </a:lnTo>
                    <a:lnTo>
                      <a:pt x="0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466958" name="任意多边形: 形状 466957">
                <a:extLst>
                  <a:ext uri="{FF2B5EF4-FFF2-40B4-BE49-F238E27FC236}">
                    <a16:creationId xmlns:a16="http://schemas.microsoft.com/office/drawing/2014/main" id="{62D9AFFB-BF60-4B90-91C5-D6F2AB5FA62F}"/>
                  </a:ext>
                </a:extLst>
              </p:cNvPr>
              <p:cNvSpPr/>
              <p:nvPr/>
            </p:nvSpPr>
            <p:spPr bwMode="auto">
              <a:xfrm>
                <a:off x="5760395" y="2181976"/>
                <a:ext cx="3459491" cy="2867104"/>
              </a:xfrm>
              <a:custGeom>
                <a:avLst/>
                <a:gdLst>
                  <a:gd name="connsiteX0" fmla="*/ 0 w 3459491"/>
                  <a:gd name="connsiteY0" fmla="*/ 2389244 h 2867104"/>
                  <a:gd name="connsiteX1" fmla="*/ 13 w 3459491"/>
                  <a:gd name="connsiteY1" fmla="*/ 477860 h 2867104"/>
                  <a:gd name="connsiteX2" fmla="*/ 477860 w 3459491"/>
                  <a:gd name="connsiteY2" fmla="*/ 0 h 2867104"/>
                  <a:gd name="connsiteX3" fmla="*/ 3459491 w 3459491"/>
                  <a:gd name="connsiteY3" fmla="*/ 0 h 2867104"/>
                  <a:gd name="connsiteX4" fmla="*/ 3459491 w 3459491"/>
                  <a:gd name="connsiteY4" fmla="*/ 0 h 2867104"/>
                  <a:gd name="connsiteX5" fmla="*/ 3459491 w 3459491"/>
                  <a:gd name="connsiteY5" fmla="*/ 2867104 h 2867104"/>
                  <a:gd name="connsiteX6" fmla="*/ 3459491 w 3459491"/>
                  <a:gd name="connsiteY6" fmla="*/ 2867104 h 2867104"/>
                  <a:gd name="connsiteX7" fmla="*/ 477860 w 3459491"/>
                  <a:gd name="connsiteY7" fmla="*/ 2867104 h 2867104"/>
                  <a:gd name="connsiteX8" fmla="*/ 0 w 3459491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1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6" y="0"/>
                      <a:pt x="477860" y="0"/>
                    </a:cubicBezTo>
                    <a:lnTo>
                      <a:pt x="3459491" y="0"/>
                    </a:lnTo>
                    <a:lnTo>
                      <a:pt x="3459491" y="0"/>
                    </a:lnTo>
                    <a:lnTo>
                      <a:pt x="3459491" y="2867104"/>
                    </a:lnTo>
                    <a:lnTo>
                      <a:pt x="3459491" y="2867104"/>
                    </a:lnTo>
                    <a:lnTo>
                      <a:pt x="477860" y="2867104"/>
                    </a:lnTo>
                    <a:cubicBezTo>
                      <a:pt x="213946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59" name="任意多边形: 形状 466958">
                <a:extLst>
                  <a:ext uri="{FF2B5EF4-FFF2-40B4-BE49-F238E27FC236}">
                    <a16:creationId xmlns:a16="http://schemas.microsoft.com/office/drawing/2014/main" id="{494EA9CB-8869-4422-B197-F5480FE45B0A}"/>
                  </a:ext>
                </a:extLst>
              </p:cNvPr>
              <p:cNvSpPr/>
              <p:nvPr/>
            </p:nvSpPr>
            <p:spPr bwMode="auto">
              <a:xfrm>
                <a:off x="5715931" y="2137922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60" name="任意多边形: 形状 466959">
                <a:extLst>
                  <a:ext uri="{FF2B5EF4-FFF2-40B4-BE49-F238E27FC236}">
                    <a16:creationId xmlns:a16="http://schemas.microsoft.com/office/drawing/2014/main" id="{B042FD86-A0B7-4149-8398-29E8B2039CA8}"/>
                  </a:ext>
                </a:extLst>
              </p:cNvPr>
              <p:cNvSpPr/>
              <p:nvPr/>
            </p:nvSpPr>
            <p:spPr bwMode="auto">
              <a:xfrm>
                <a:off x="5671464" y="2093867"/>
                <a:ext cx="3459491" cy="2867104"/>
              </a:xfrm>
              <a:custGeom>
                <a:avLst/>
                <a:gdLst>
                  <a:gd name="connsiteX0" fmla="*/ 0 w 3459491"/>
                  <a:gd name="connsiteY0" fmla="*/ 2389244 h 2867104"/>
                  <a:gd name="connsiteX1" fmla="*/ 13 w 3459491"/>
                  <a:gd name="connsiteY1" fmla="*/ 477860 h 2867104"/>
                  <a:gd name="connsiteX2" fmla="*/ 477860 w 3459491"/>
                  <a:gd name="connsiteY2" fmla="*/ 0 h 2867104"/>
                  <a:gd name="connsiteX3" fmla="*/ 3459491 w 3459491"/>
                  <a:gd name="connsiteY3" fmla="*/ 0 h 2867104"/>
                  <a:gd name="connsiteX4" fmla="*/ 3459491 w 3459491"/>
                  <a:gd name="connsiteY4" fmla="*/ 0 h 2867104"/>
                  <a:gd name="connsiteX5" fmla="*/ 3459491 w 3459491"/>
                  <a:gd name="connsiteY5" fmla="*/ 2867104 h 2867104"/>
                  <a:gd name="connsiteX6" fmla="*/ 3459491 w 3459491"/>
                  <a:gd name="connsiteY6" fmla="*/ 2867104 h 2867104"/>
                  <a:gd name="connsiteX7" fmla="*/ 477860 w 3459491"/>
                  <a:gd name="connsiteY7" fmla="*/ 2867104 h 2867104"/>
                  <a:gd name="connsiteX8" fmla="*/ 0 w 3459491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1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6" y="0"/>
                      <a:pt x="477860" y="0"/>
                    </a:cubicBezTo>
                    <a:lnTo>
                      <a:pt x="3459491" y="0"/>
                    </a:lnTo>
                    <a:lnTo>
                      <a:pt x="3459491" y="0"/>
                    </a:lnTo>
                    <a:lnTo>
                      <a:pt x="3459491" y="2867104"/>
                    </a:lnTo>
                    <a:lnTo>
                      <a:pt x="3459491" y="2867104"/>
                    </a:lnTo>
                    <a:lnTo>
                      <a:pt x="477860" y="2867104"/>
                    </a:lnTo>
                    <a:cubicBezTo>
                      <a:pt x="213946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61" name="任意多边形: 形状 466960">
                <a:extLst>
                  <a:ext uri="{FF2B5EF4-FFF2-40B4-BE49-F238E27FC236}">
                    <a16:creationId xmlns:a16="http://schemas.microsoft.com/office/drawing/2014/main" id="{33E40499-0A00-469C-B532-5C731717B7DC}"/>
                  </a:ext>
                </a:extLst>
              </p:cNvPr>
              <p:cNvSpPr/>
              <p:nvPr/>
            </p:nvSpPr>
            <p:spPr bwMode="auto">
              <a:xfrm>
                <a:off x="5627000" y="2049811"/>
                <a:ext cx="3459490" cy="2867105"/>
              </a:xfrm>
              <a:custGeom>
                <a:avLst/>
                <a:gdLst>
                  <a:gd name="connsiteX0" fmla="*/ 0 w 3459490"/>
                  <a:gd name="connsiteY0" fmla="*/ 2389245 h 2867105"/>
                  <a:gd name="connsiteX1" fmla="*/ 13 w 3459490"/>
                  <a:gd name="connsiteY1" fmla="*/ 477860 h 2867105"/>
                  <a:gd name="connsiteX2" fmla="*/ 477860 w 3459490"/>
                  <a:gd name="connsiteY2" fmla="*/ 0 h 2867105"/>
                  <a:gd name="connsiteX3" fmla="*/ 3459490 w 3459490"/>
                  <a:gd name="connsiteY3" fmla="*/ 0 h 2867105"/>
                  <a:gd name="connsiteX4" fmla="*/ 3459490 w 3459490"/>
                  <a:gd name="connsiteY4" fmla="*/ 0 h 2867105"/>
                  <a:gd name="connsiteX5" fmla="*/ 3459490 w 3459490"/>
                  <a:gd name="connsiteY5" fmla="*/ 2867105 h 2867105"/>
                  <a:gd name="connsiteX6" fmla="*/ 3459490 w 3459490"/>
                  <a:gd name="connsiteY6" fmla="*/ 2867105 h 2867105"/>
                  <a:gd name="connsiteX7" fmla="*/ 477860 w 3459490"/>
                  <a:gd name="connsiteY7" fmla="*/ 2867105 h 2867105"/>
                  <a:gd name="connsiteX8" fmla="*/ 0 w 3459490"/>
                  <a:gd name="connsiteY8" fmla="*/ 2389245 h 2867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5">
                    <a:moveTo>
                      <a:pt x="0" y="2389245"/>
                    </a:moveTo>
                    <a:lnTo>
                      <a:pt x="13" y="477860"/>
                    </a:lnTo>
                    <a:cubicBezTo>
                      <a:pt x="0" y="213946"/>
                      <a:pt x="213945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5"/>
                    </a:lnTo>
                    <a:lnTo>
                      <a:pt x="3459490" y="2867105"/>
                    </a:lnTo>
                    <a:lnTo>
                      <a:pt x="477860" y="2867105"/>
                    </a:lnTo>
                    <a:cubicBezTo>
                      <a:pt x="213945" y="2867105"/>
                      <a:pt x="0" y="2653160"/>
                      <a:pt x="0" y="2389245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62" name="任意多边形: 形状 466961">
                <a:extLst>
                  <a:ext uri="{FF2B5EF4-FFF2-40B4-BE49-F238E27FC236}">
                    <a16:creationId xmlns:a16="http://schemas.microsoft.com/office/drawing/2014/main" id="{D083F042-0879-45F3-A207-BF0D2EC1AD9C}"/>
                  </a:ext>
                </a:extLst>
              </p:cNvPr>
              <p:cNvSpPr/>
              <p:nvPr/>
            </p:nvSpPr>
            <p:spPr bwMode="auto">
              <a:xfrm>
                <a:off x="5582533" y="2005758"/>
                <a:ext cx="3459491" cy="2867104"/>
              </a:xfrm>
              <a:custGeom>
                <a:avLst/>
                <a:gdLst>
                  <a:gd name="connsiteX0" fmla="*/ 0 w 3459491"/>
                  <a:gd name="connsiteY0" fmla="*/ 2389244 h 2867104"/>
                  <a:gd name="connsiteX1" fmla="*/ 13 w 3459491"/>
                  <a:gd name="connsiteY1" fmla="*/ 477860 h 2867104"/>
                  <a:gd name="connsiteX2" fmla="*/ 477860 w 3459491"/>
                  <a:gd name="connsiteY2" fmla="*/ 0 h 2867104"/>
                  <a:gd name="connsiteX3" fmla="*/ 3459491 w 3459491"/>
                  <a:gd name="connsiteY3" fmla="*/ 0 h 2867104"/>
                  <a:gd name="connsiteX4" fmla="*/ 3459491 w 3459491"/>
                  <a:gd name="connsiteY4" fmla="*/ 0 h 2867104"/>
                  <a:gd name="connsiteX5" fmla="*/ 3459491 w 3459491"/>
                  <a:gd name="connsiteY5" fmla="*/ 2867104 h 2867104"/>
                  <a:gd name="connsiteX6" fmla="*/ 3459491 w 3459491"/>
                  <a:gd name="connsiteY6" fmla="*/ 2867104 h 2867104"/>
                  <a:gd name="connsiteX7" fmla="*/ 477860 w 3459491"/>
                  <a:gd name="connsiteY7" fmla="*/ 2867104 h 2867104"/>
                  <a:gd name="connsiteX8" fmla="*/ 0 w 3459491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1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6" y="0"/>
                      <a:pt x="477860" y="0"/>
                    </a:cubicBezTo>
                    <a:lnTo>
                      <a:pt x="3459491" y="0"/>
                    </a:lnTo>
                    <a:lnTo>
                      <a:pt x="3459491" y="0"/>
                    </a:lnTo>
                    <a:lnTo>
                      <a:pt x="3459491" y="2867104"/>
                    </a:lnTo>
                    <a:lnTo>
                      <a:pt x="3459491" y="2867104"/>
                    </a:lnTo>
                    <a:lnTo>
                      <a:pt x="477860" y="2867104"/>
                    </a:lnTo>
                    <a:cubicBezTo>
                      <a:pt x="213946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63" name="任意多边形: 形状 466962">
                <a:extLst>
                  <a:ext uri="{FF2B5EF4-FFF2-40B4-BE49-F238E27FC236}">
                    <a16:creationId xmlns:a16="http://schemas.microsoft.com/office/drawing/2014/main" id="{CA88892A-146D-4C2E-B891-97B3AF4A4C42}"/>
                  </a:ext>
                </a:extLst>
              </p:cNvPr>
              <p:cNvSpPr/>
              <p:nvPr/>
            </p:nvSpPr>
            <p:spPr bwMode="auto">
              <a:xfrm>
                <a:off x="5538069" y="1961703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60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64" name="任意多边形: 形状 466963">
                <a:extLst>
                  <a:ext uri="{FF2B5EF4-FFF2-40B4-BE49-F238E27FC236}">
                    <a16:creationId xmlns:a16="http://schemas.microsoft.com/office/drawing/2014/main" id="{FB28D25E-670E-47ED-8799-2BB2C1A45443}"/>
                  </a:ext>
                </a:extLst>
              </p:cNvPr>
              <p:cNvSpPr/>
              <p:nvPr/>
            </p:nvSpPr>
            <p:spPr bwMode="auto">
              <a:xfrm>
                <a:off x="5493602" y="1917649"/>
                <a:ext cx="3459491" cy="2867104"/>
              </a:xfrm>
              <a:custGeom>
                <a:avLst/>
                <a:gdLst>
                  <a:gd name="connsiteX0" fmla="*/ 0 w 3459491"/>
                  <a:gd name="connsiteY0" fmla="*/ 2389244 h 2867104"/>
                  <a:gd name="connsiteX1" fmla="*/ 13 w 3459491"/>
                  <a:gd name="connsiteY1" fmla="*/ 477860 h 2867104"/>
                  <a:gd name="connsiteX2" fmla="*/ 477860 w 3459491"/>
                  <a:gd name="connsiteY2" fmla="*/ 0 h 2867104"/>
                  <a:gd name="connsiteX3" fmla="*/ 3459491 w 3459491"/>
                  <a:gd name="connsiteY3" fmla="*/ 0 h 2867104"/>
                  <a:gd name="connsiteX4" fmla="*/ 3459491 w 3459491"/>
                  <a:gd name="connsiteY4" fmla="*/ 0 h 2867104"/>
                  <a:gd name="connsiteX5" fmla="*/ 3459491 w 3459491"/>
                  <a:gd name="connsiteY5" fmla="*/ 2867104 h 2867104"/>
                  <a:gd name="connsiteX6" fmla="*/ 3459491 w 3459491"/>
                  <a:gd name="connsiteY6" fmla="*/ 2867104 h 2867104"/>
                  <a:gd name="connsiteX7" fmla="*/ 477860 w 3459491"/>
                  <a:gd name="connsiteY7" fmla="*/ 2867104 h 2867104"/>
                  <a:gd name="connsiteX8" fmla="*/ 0 w 3459491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1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6" y="0"/>
                      <a:pt x="477860" y="0"/>
                    </a:cubicBezTo>
                    <a:lnTo>
                      <a:pt x="3459491" y="0"/>
                    </a:lnTo>
                    <a:lnTo>
                      <a:pt x="3459491" y="0"/>
                    </a:lnTo>
                    <a:lnTo>
                      <a:pt x="3459491" y="2867104"/>
                    </a:lnTo>
                    <a:lnTo>
                      <a:pt x="3459491" y="2867104"/>
                    </a:lnTo>
                    <a:lnTo>
                      <a:pt x="477860" y="2867104"/>
                    </a:lnTo>
                    <a:cubicBezTo>
                      <a:pt x="213946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65" name="任意多边形: 形状 466964">
                <a:extLst>
                  <a:ext uri="{FF2B5EF4-FFF2-40B4-BE49-F238E27FC236}">
                    <a16:creationId xmlns:a16="http://schemas.microsoft.com/office/drawing/2014/main" id="{1FD4C06D-70F0-4FF2-BEAD-6E88DD6FDC13}"/>
                  </a:ext>
                </a:extLst>
              </p:cNvPr>
              <p:cNvSpPr/>
              <p:nvPr/>
            </p:nvSpPr>
            <p:spPr bwMode="auto">
              <a:xfrm>
                <a:off x="5449138" y="1873594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66" name="任意多边形: 形状 466965">
                <a:extLst>
                  <a:ext uri="{FF2B5EF4-FFF2-40B4-BE49-F238E27FC236}">
                    <a16:creationId xmlns:a16="http://schemas.microsoft.com/office/drawing/2014/main" id="{9EE30DBB-6592-4438-82EB-D778B287E33D}"/>
                  </a:ext>
                </a:extLst>
              </p:cNvPr>
              <p:cNvSpPr/>
              <p:nvPr/>
            </p:nvSpPr>
            <p:spPr bwMode="auto">
              <a:xfrm>
                <a:off x="5404671" y="1829539"/>
                <a:ext cx="3459491" cy="2867104"/>
              </a:xfrm>
              <a:custGeom>
                <a:avLst/>
                <a:gdLst>
                  <a:gd name="connsiteX0" fmla="*/ 0 w 3459491"/>
                  <a:gd name="connsiteY0" fmla="*/ 2389245 h 2867104"/>
                  <a:gd name="connsiteX1" fmla="*/ 13 w 3459491"/>
                  <a:gd name="connsiteY1" fmla="*/ 477860 h 2867104"/>
                  <a:gd name="connsiteX2" fmla="*/ 477860 w 3459491"/>
                  <a:gd name="connsiteY2" fmla="*/ 0 h 2867104"/>
                  <a:gd name="connsiteX3" fmla="*/ 3459491 w 3459491"/>
                  <a:gd name="connsiteY3" fmla="*/ 0 h 2867104"/>
                  <a:gd name="connsiteX4" fmla="*/ 3459491 w 3459491"/>
                  <a:gd name="connsiteY4" fmla="*/ 0 h 2867104"/>
                  <a:gd name="connsiteX5" fmla="*/ 3459491 w 3459491"/>
                  <a:gd name="connsiteY5" fmla="*/ 2867104 h 2867104"/>
                  <a:gd name="connsiteX6" fmla="*/ 3459491 w 3459491"/>
                  <a:gd name="connsiteY6" fmla="*/ 2867104 h 2867104"/>
                  <a:gd name="connsiteX7" fmla="*/ 477860 w 3459491"/>
                  <a:gd name="connsiteY7" fmla="*/ 2867104 h 2867104"/>
                  <a:gd name="connsiteX8" fmla="*/ 0 w 3459491"/>
                  <a:gd name="connsiteY8" fmla="*/ 2389245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1" h="2867104">
                    <a:moveTo>
                      <a:pt x="0" y="2389245"/>
                    </a:moveTo>
                    <a:lnTo>
                      <a:pt x="13" y="477860"/>
                    </a:lnTo>
                    <a:cubicBezTo>
                      <a:pt x="0" y="213946"/>
                      <a:pt x="213946" y="0"/>
                      <a:pt x="477860" y="0"/>
                    </a:cubicBezTo>
                    <a:lnTo>
                      <a:pt x="3459491" y="0"/>
                    </a:lnTo>
                    <a:lnTo>
                      <a:pt x="3459491" y="0"/>
                    </a:lnTo>
                    <a:lnTo>
                      <a:pt x="3459491" y="2867104"/>
                    </a:lnTo>
                    <a:lnTo>
                      <a:pt x="3459491" y="2867104"/>
                    </a:lnTo>
                    <a:lnTo>
                      <a:pt x="477860" y="2867104"/>
                    </a:lnTo>
                    <a:cubicBezTo>
                      <a:pt x="213946" y="2867104"/>
                      <a:pt x="0" y="2653159"/>
                      <a:pt x="0" y="2389245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67" name="任意多边形: 形状 466966">
                <a:extLst>
                  <a:ext uri="{FF2B5EF4-FFF2-40B4-BE49-F238E27FC236}">
                    <a16:creationId xmlns:a16="http://schemas.microsoft.com/office/drawing/2014/main" id="{0EA352E2-0DF8-42FC-9D07-EB8EE1456A5A}"/>
                  </a:ext>
                </a:extLst>
              </p:cNvPr>
              <p:cNvSpPr/>
              <p:nvPr/>
            </p:nvSpPr>
            <p:spPr bwMode="auto">
              <a:xfrm>
                <a:off x="5360207" y="1785485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68" name="任意多边形: 形状 466967">
                <a:extLst>
                  <a:ext uri="{FF2B5EF4-FFF2-40B4-BE49-F238E27FC236}">
                    <a16:creationId xmlns:a16="http://schemas.microsoft.com/office/drawing/2014/main" id="{54588078-9E32-4766-A8B8-140045943AA9}"/>
                  </a:ext>
                </a:extLst>
              </p:cNvPr>
              <p:cNvSpPr/>
              <p:nvPr/>
            </p:nvSpPr>
            <p:spPr bwMode="auto">
              <a:xfrm>
                <a:off x="5315740" y="1741430"/>
                <a:ext cx="3459491" cy="2867104"/>
              </a:xfrm>
              <a:custGeom>
                <a:avLst/>
                <a:gdLst>
                  <a:gd name="connsiteX0" fmla="*/ 0 w 3459491"/>
                  <a:gd name="connsiteY0" fmla="*/ 2389244 h 2867104"/>
                  <a:gd name="connsiteX1" fmla="*/ 13 w 3459491"/>
                  <a:gd name="connsiteY1" fmla="*/ 477860 h 2867104"/>
                  <a:gd name="connsiteX2" fmla="*/ 477860 w 3459491"/>
                  <a:gd name="connsiteY2" fmla="*/ 0 h 2867104"/>
                  <a:gd name="connsiteX3" fmla="*/ 3459491 w 3459491"/>
                  <a:gd name="connsiteY3" fmla="*/ 0 h 2867104"/>
                  <a:gd name="connsiteX4" fmla="*/ 3459491 w 3459491"/>
                  <a:gd name="connsiteY4" fmla="*/ 0 h 2867104"/>
                  <a:gd name="connsiteX5" fmla="*/ 3459491 w 3459491"/>
                  <a:gd name="connsiteY5" fmla="*/ 2867104 h 2867104"/>
                  <a:gd name="connsiteX6" fmla="*/ 3459491 w 3459491"/>
                  <a:gd name="connsiteY6" fmla="*/ 2867104 h 2867104"/>
                  <a:gd name="connsiteX7" fmla="*/ 477860 w 3459491"/>
                  <a:gd name="connsiteY7" fmla="*/ 2867104 h 2867104"/>
                  <a:gd name="connsiteX8" fmla="*/ 0 w 3459491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1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6" y="0"/>
                      <a:pt x="477860" y="0"/>
                    </a:cubicBezTo>
                    <a:lnTo>
                      <a:pt x="3459491" y="0"/>
                    </a:lnTo>
                    <a:lnTo>
                      <a:pt x="3459491" y="0"/>
                    </a:lnTo>
                    <a:lnTo>
                      <a:pt x="3459491" y="2867104"/>
                    </a:lnTo>
                    <a:lnTo>
                      <a:pt x="3459491" y="2867104"/>
                    </a:lnTo>
                    <a:lnTo>
                      <a:pt x="477860" y="2867104"/>
                    </a:lnTo>
                    <a:cubicBezTo>
                      <a:pt x="213946" y="2867104"/>
                      <a:pt x="0" y="2653160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69" name="任意多边形: 形状 466968">
                <a:extLst>
                  <a:ext uri="{FF2B5EF4-FFF2-40B4-BE49-F238E27FC236}">
                    <a16:creationId xmlns:a16="http://schemas.microsoft.com/office/drawing/2014/main" id="{FA514FA6-74F9-48BB-980B-7B8312E21653}"/>
                  </a:ext>
                </a:extLst>
              </p:cNvPr>
              <p:cNvSpPr/>
              <p:nvPr/>
            </p:nvSpPr>
            <p:spPr bwMode="auto">
              <a:xfrm>
                <a:off x="5271276" y="1697376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70" name="任意多边形: 形状 466969">
                <a:extLst>
                  <a:ext uri="{FF2B5EF4-FFF2-40B4-BE49-F238E27FC236}">
                    <a16:creationId xmlns:a16="http://schemas.microsoft.com/office/drawing/2014/main" id="{88F1D9B7-AF83-4DDD-A889-D50E3162BDDC}"/>
                  </a:ext>
                </a:extLst>
              </p:cNvPr>
              <p:cNvSpPr/>
              <p:nvPr/>
            </p:nvSpPr>
            <p:spPr bwMode="auto">
              <a:xfrm>
                <a:off x="5226809" y="1653321"/>
                <a:ext cx="3459491" cy="2867104"/>
              </a:xfrm>
              <a:custGeom>
                <a:avLst/>
                <a:gdLst>
                  <a:gd name="connsiteX0" fmla="*/ 0 w 3459491"/>
                  <a:gd name="connsiteY0" fmla="*/ 2389244 h 2867104"/>
                  <a:gd name="connsiteX1" fmla="*/ 13 w 3459491"/>
                  <a:gd name="connsiteY1" fmla="*/ 477860 h 2867104"/>
                  <a:gd name="connsiteX2" fmla="*/ 477860 w 3459491"/>
                  <a:gd name="connsiteY2" fmla="*/ 0 h 2867104"/>
                  <a:gd name="connsiteX3" fmla="*/ 3459491 w 3459491"/>
                  <a:gd name="connsiteY3" fmla="*/ 0 h 2867104"/>
                  <a:gd name="connsiteX4" fmla="*/ 3459491 w 3459491"/>
                  <a:gd name="connsiteY4" fmla="*/ 0 h 2867104"/>
                  <a:gd name="connsiteX5" fmla="*/ 3459491 w 3459491"/>
                  <a:gd name="connsiteY5" fmla="*/ 2867104 h 2867104"/>
                  <a:gd name="connsiteX6" fmla="*/ 3459491 w 3459491"/>
                  <a:gd name="connsiteY6" fmla="*/ 2867104 h 2867104"/>
                  <a:gd name="connsiteX7" fmla="*/ 477860 w 3459491"/>
                  <a:gd name="connsiteY7" fmla="*/ 2867104 h 2867104"/>
                  <a:gd name="connsiteX8" fmla="*/ 0 w 3459491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1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1" y="0"/>
                    </a:lnTo>
                    <a:lnTo>
                      <a:pt x="3459491" y="0"/>
                    </a:lnTo>
                    <a:lnTo>
                      <a:pt x="3459491" y="2867104"/>
                    </a:lnTo>
                    <a:lnTo>
                      <a:pt x="3459491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71" name="任意多边形: 形状 466970">
                <a:extLst>
                  <a:ext uri="{FF2B5EF4-FFF2-40B4-BE49-F238E27FC236}">
                    <a16:creationId xmlns:a16="http://schemas.microsoft.com/office/drawing/2014/main" id="{DF343671-04EE-41F9-A774-7D9F2E1E3811}"/>
                  </a:ext>
                </a:extLst>
              </p:cNvPr>
              <p:cNvSpPr/>
              <p:nvPr/>
            </p:nvSpPr>
            <p:spPr bwMode="auto">
              <a:xfrm>
                <a:off x="5182345" y="1609266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5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5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5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59"/>
                      <a:pt x="0" y="2389245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72" name="任意多边形: 形状 466971">
                <a:extLst>
                  <a:ext uri="{FF2B5EF4-FFF2-40B4-BE49-F238E27FC236}">
                    <a16:creationId xmlns:a16="http://schemas.microsoft.com/office/drawing/2014/main" id="{41D25F15-C331-4651-A2D6-E86049B272DB}"/>
                  </a:ext>
                </a:extLst>
              </p:cNvPr>
              <p:cNvSpPr/>
              <p:nvPr/>
            </p:nvSpPr>
            <p:spPr bwMode="auto">
              <a:xfrm>
                <a:off x="5137878" y="1565212"/>
                <a:ext cx="3459491" cy="2867104"/>
              </a:xfrm>
              <a:custGeom>
                <a:avLst/>
                <a:gdLst>
                  <a:gd name="connsiteX0" fmla="*/ 0 w 3459491"/>
                  <a:gd name="connsiteY0" fmla="*/ 2389244 h 2867104"/>
                  <a:gd name="connsiteX1" fmla="*/ 13 w 3459491"/>
                  <a:gd name="connsiteY1" fmla="*/ 477860 h 2867104"/>
                  <a:gd name="connsiteX2" fmla="*/ 477860 w 3459491"/>
                  <a:gd name="connsiteY2" fmla="*/ 0 h 2867104"/>
                  <a:gd name="connsiteX3" fmla="*/ 3459491 w 3459491"/>
                  <a:gd name="connsiteY3" fmla="*/ 0 h 2867104"/>
                  <a:gd name="connsiteX4" fmla="*/ 3459491 w 3459491"/>
                  <a:gd name="connsiteY4" fmla="*/ 0 h 2867104"/>
                  <a:gd name="connsiteX5" fmla="*/ 3459491 w 3459491"/>
                  <a:gd name="connsiteY5" fmla="*/ 2867104 h 2867104"/>
                  <a:gd name="connsiteX6" fmla="*/ 3459491 w 3459491"/>
                  <a:gd name="connsiteY6" fmla="*/ 2867104 h 2867104"/>
                  <a:gd name="connsiteX7" fmla="*/ 477860 w 3459491"/>
                  <a:gd name="connsiteY7" fmla="*/ 2867104 h 2867104"/>
                  <a:gd name="connsiteX8" fmla="*/ 0 w 3459491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1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1" y="0"/>
                    </a:lnTo>
                    <a:lnTo>
                      <a:pt x="3459491" y="0"/>
                    </a:lnTo>
                    <a:lnTo>
                      <a:pt x="3459491" y="2867104"/>
                    </a:lnTo>
                    <a:lnTo>
                      <a:pt x="3459491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73" name="任意多边形: 形状 466972">
                <a:extLst>
                  <a:ext uri="{FF2B5EF4-FFF2-40B4-BE49-F238E27FC236}">
                    <a16:creationId xmlns:a16="http://schemas.microsoft.com/office/drawing/2014/main" id="{CD9EBE19-3D53-4D07-9B5F-0CF948C1BCB1}"/>
                  </a:ext>
                </a:extLst>
              </p:cNvPr>
              <p:cNvSpPr/>
              <p:nvPr/>
            </p:nvSpPr>
            <p:spPr bwMode="auto">
              <a:xfrm>
                <a:off x="5093414" y="1521157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60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74" name="任意多边形: 形状 466973">
                <a:extLst>
                  <a:ext uri="{FF2B5EF4-FFF2-40B4-BE49-F238E27FC236}">
                    <a16:creationId xmlns:a16="http://schemas.microsoft.com/office/drawing/2014/main" id="{B7DF68E3-54CC-455F-A067-6F4658E8A900}"/>
                  </a:ext>
                </a:extLst>
              </p:cNvPr>
              <p:cNvSpPr/>
              <p:nvPr/>
            </p:nvSpPr>
            <p:spPr bwMode="auto">
              <a:xfrm>
                <a:off x="5048948" y="1477103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75" name="任意多边形: 形状 466974">
                <a:extLst>
                  <a:ext uri="{FF2B5EF4-FFF2-40B4-BE49-F238E27FC236}">
                    <a16:creationId xmlns:a16="http://schemas.microsoft.com/office/drawing/2014/main" id="{54BB5C2B-8F60-4B1F-A5D7-444F44D5EB80}"/>
                  </a:ext>
                </a:extLst>
              </p:cNvPr>
              <p:cNvSpPr/>
              <p:nvPr/>
            </p:nvSpPr>
            <p:spPr bwMode="auto">
              <a:xfrm>
                <a:off x="5004483" y="1433048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59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59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59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59" y="2867104"/>
                    </a:lnTo>
                    <a:cubicBezTo>
                      <a:pt x="213945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76" name="任意多边形: 形状 466975">
                <a:extLst>
                  <a:ext uri="{FF2B5EF4-FFF2-40B4-BE49-F238E27FC236}">
                    <a16:creationId xmlns:a16="http://schemas.microsoft.com/office/drawing/2014/main" id="{217B73B5-1C97-4293-8FB1-7F526507A90A}"/>
                  </a:ext>
                </a:extLst>
              </p:cNvPr>
              <p:cNvSpPr/>
              <p:nvPr/>
            </p:nvSpPr>
            <p:spPr bwMode="auto">
              <a:xfrm>
                <a:off x="4960017" y="1388993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77" name="任意多边形: 形状 466976">
                <a:extLst>
                  <a:ext uri="{FF2B5EF4-FFF2-40B4-BE49-F238E27FC236}">
                    <a16:creationId xmlns:a16="http://schemas.microsoft.com/office/drawing/2014/main" id="{C984FC97-6EC5-4A31-BB5E-5DC882D064D5}"/>
                  </a:ext>
                </a:extLst>
              </p:cNvPr>
              <p:cNvSpPr/>
              <p:nvPr/>
            </p:nvSpPr>
            <p:spPr bwMode="auto">
              <a:xfrm>
                <a:off x="4915552" y="1344939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59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59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59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59" y="2867104"/>
                    </a:lnTo>
                    <a:cubicBezTo>
                      <a:pt x="213945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78" name="任意多边形: 形状 466977">
                <a:extLst>
                  <a:ext uri="{FF2B5EF4-FFF2-40B4-BE49-F238E27FC236}">
                    <a16:creationId xmlns:a16="http://schemas.microsoft.com/office/drawing/2014/main" id="{9D5B62FE-4C38-49BA-96B9-F2F2C6C5195B}"/>
                  </a:ext>
                </a:extLst>
              </p:cNvPr>
              <p:cNvSpPr/>
              <p:nvPr/>
            </p:nvSpPr>
            <p:spPr bwMode="auto">
              <a:xfrm>
                <a:off x="4871086" y="1300884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79" name="任意多边形: 形状 466978">
                <a:extLst>
                  <a:ext uri="{FF2B5EF4-FFF2-40B4-BE49-F238E27FC236}">
                    <a16:creationId xmlns:a16="http://schemas.microsoft.com/office/drawing/2014/main" id="{43FB0229-74A2-4B10-A1C8-9D916F26FC12}"/>
                  </a:ext>
                </a:extLst>
              </p:cNvPr>
              <p:cNvSpPr/>
              <p:nvPr/>
            </p:nvSpPr>
            <p:spPr bwMode="auto">
              <a:xfrm>
                <a:off x="4826621" y="1256828"/>
                <a:ext cx="3459490" cy="2867105"/>
              </a:xfrm>
              <a:custGeom>
                <a:avLst/>
                <a:gdLst>
                  <a:gd name="connsiteX0" fmla="*/ 0 w 3459490"/>
                  <a:gd name="connsiteY0" fmla="*/ 2389245 h 2867105"/>
                  <a:gd name="connsiteX1" fmla="*/ 13 w 3459490"/>
                  <a:gd name="connsiteY1" fmla="*/ 477860 h 2867105"/>
                  <a:gd name="connsiteX2" fmla="*/ 477859 w 3459490"/>
                  <a:gd name="connsiteY2" fmla="*/ 0 h 2867105"/>
                  <a:gd name="connsiteX3" fmla="*/ 3459490 w 3459490"/>
                  <a:gd name="connsiteY3" fmla="*/ 0 h 2867105"/>
                  <a:gd name="connsiteX4" fmla="*/ 3459490 w 3459490"/>
                  <a:gd name="connsiteY4" fmla="*/ 0 h 2867105"/>
                  <a:gd name="connsiteX5" fmla="*/ 3459490 w 3459490"/>
                  <a:gd name="connsiteY5" fmla="*/ 2867105 h 2867105"/>
                  <a:gd name="connsiteX6" fmla="*/ 3459490 w 3459490"/>
                  <a:gd name="connsiteY6" fmla="*/ 2867105 h 2867105"/>
                  <a:gd name="connsiteX7" fmla="*/ 477859 w 3459490"/>
                  <a:gd name="connsiteY7" fmla="*/ 2867105 h 2867105"/>
                  <a:gd name="connsiteX8" fmla="*/ 0 w 3459490"/>
                  <a:gd name="connsiteY8" fmla="*/ 2389245 h 2867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5">
                    <a:moveTo>
                      <a:pt x="0" y="2389245"/>
                    </a:moveTo>
                    <a:lnTo>
                      <a:pt x="13" y="477860"/>
                    </a:lnTo>
                    <a:cubicBezTo>
                      <a:pt x="0" y="213946"/>
                      <a:pt x="213945" y="0"/>
                      <a:pt x="477859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5"/>
                    </a:lnTo>
                    <a:lnTo>
                      <a:pt x="3459490" y="2867105"/>
                    </a:lnTo>
                    <a:lnTo>
                      <a:pt x="477859" y="2867105"/>
                    </a:lnTo>
                    <a:cubicBezTo>
                      <a:pt x="213945" y="2867105"/>
                      <a:pt x="0" y="2653160"/>
                      <a:pt x="0" y="2389245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80" name="任意多边形: 形状 466979">
                <a:extLst>
                  <a:ext uri="{FF2B5EF4-FFF2-40B4-BE49-F238E27FC236}">
                    <a16:creationId xmlns:a16="http://schemas.microsoft.com/office/drawing/2014/main" id="{74B8460D-B7FE-49A3-8239-29C31B3A2EEA}"/>
                  </a:ext>
                </a:extLst>
              </p:cNvPr>
              <p:cNvSpPr/>
              <p:nvPr/>
            </p:nvSpPr>
            <p:spPr bwMode="auto">
              <a:xfrm>
                <a:off x="4782155" y="1212775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81" name="任意多边形: 形状 466980">
                <a:extLst>
                  <a:ext uri="{FF2B5EF4-FFF2-40B4-BE49-F238E27FC236}">
                    <a16:creationId xmlns:a16="http://schemas.microsoft.com/office/drawing/2014/main" id="{D9A89519-E16F-43C0-B72E-D6C34AD80221}"/>
                  </a:ext>
                </a:extLst>
              </p:cNvPr>
              <p:cNvSpPr/>
              <p:nvPr/>
            </p:nvSpPr>
            <p:spPr bwMode="auto">
              <a:xfrm>
                <a:off x="4737689" y="1168720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6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6" y="2867104"/>
                      <a:pt x="0" y="2653160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82" name="任意多边形: 形状 466981">
                <a:extLst>
                  <a:ext uri="{FF2B5EF4-FFF2-40B4-BE49-F238E27FC236}">
                    <a16:creationId xmlns:a16="http://schemas.microsoft.com/office/drawing/2014/main" id="{18A2A0EB-78C6-45EA-93B2-7A2AC5915417}"/>
                  </a:ext>
                </a:extLst>
              </p:cNvPr>
              <p:cNvSpPr/>
              <p:nvPr/>
            </p:nvSpPr>
            <p:spPr bwMode="auto">
              <a:xfrm>
                <a:off x="4693224" y="1124666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83" name="任意多边形: 形状 466982">
                <a:extLst>
                  <a:ext uri="{FF2B5EF4-FFF2-40B4-BE49-F238E27FC236}">
                    <a16:creationId xmlns:a16="http://schemas.microsoft.com/office/drawing/2014/main" id="{06E5EC0C-4EE8-4A28-9FCA-6356264408B1}"/>
                  </a:ext>
                </a:extLst>
              </p:cNvPr>
              <p:cNvSpPr/>
              <p:nvPr/>
            </p:nvSpPr>
            <p:spPr bwMode="auto">
              <a:xfrm>
                <a:off x="4648758" y="1080611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6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6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84" name="任意多边形: 形状 466983">
                <a:extLst>
                  <a:ext uri="{FF2B5EF4-FFF2-40B4-BE49-F238E27FC236}">
                    <a16:creationId xmlns:a16="http://schemas.microsoft.com/office/drawing/2014/main" id="{AB0FA968-42CB-494C-91E6-B313DCDF189D}"/>
                  </a:ext>
                </a:extLst>
              </p:cNvPr>
              <p:cNvSpPr/>
              <p:nvPr/>
            </p:nvSpPr>
            <p:spPr bwMode="auto">
              <a:xfrm>
                <a:off x="4604293" y="1036556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5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5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5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59"/>
                      <a:pt x="0" y="2389245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85" name="任意多边形: 形状 466984">
                <a:extLst>
                  <a:ext uri="{FF2B5EF4-FFF2-40B4-BE49-F238E27FC236}">
                    <a16:creationId xmlns:a16="http://schemas.microsoft.com/office/drawing/2014/main" id="{10BBF3E6-C74F-4CBB-B883-1E7A1C20184B}"/>
                  </a:ext>
                </a:extLst>
              </p:cNvPr>
              <p:cNvSpPr/>
              <p:nvPr/>
            </p:nvSpPr>
            <p:spPr bwMode="auto">
              <a:xfrm>
                <a:off x="4559827" y="992502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6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6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86" name="任意多边形: 形状 466985">
                <a:extLst>
                  <a:ext uri="{FF2B5EF4-FFF2-40B4-BE49-F238E27FC236}">
                    <a16:creationId xmlns:a16="http://schemas.microsoft.com/office/drawing/2014/main" id="{E8951B63-EE6B-43B4-B8F3-9211148B64D9}"/>
                  </a:ext>
                </a:extLst>
              </p:cNvPr>
              <p:cNvSpPr/>
              <p:nvPr/>
            </p:nvSpPr>
            <p:spPr bwMode="auto">
              <a:xfrm>
                <a:off x="4515362" y="948447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5" y="2867104"/>
                      <a:pt x="0" y="2653160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66987" name="任意多边形: 形状 466986">
                <a:extLst>
                  <a:ext uri="{FF2B5EF4-FFF2-40B4-BE49-F238E27FC236}">
                    <a16:creationId xmlns:a16="http://schemas.microsoft.com/office/drawing/2014/main" id="{BA473FBB-4A3A-4D61-966F-B1BD2B2157EB}"/>
                  </a:ext>
                </a:extLst>
              </p:cNvPr>
              <p:cNvSpPr/>
              <p:nvPr/>
            </p:nvSpPr>
            <p:spPr bwMode="auto">
              <a:xfrm>
                <a:off x="4470896" y="904393"/>
                <a:ext cx="3459490" cy="2867104"/>
              </a:xfrm>
              <a:custGeom>
                <a:avLst/>
                <a:gdLst>
                  <a:gd name="connsiteX0" fmla="*/ 0 w 3459490"/>
                  <a:gd name="connsiteY0" fmla="*/ 2389244 h 2867104"/>
                  <a:gd name="connsiteX1" fmla="*/ 13 w 3459490"/>
                  <a:gd name="connsiteY1" fmla="*/ 477860 h 2867104"/>
                  <a:gd name="connsiteX2" fmla="*/ 477860 w 3459490"/>
                  <a:gd name="connsiteY2" fmla="*/ 0 h 2867104"/>
                  <a:gd name="connsiteX3" fmla="*/ 3459490 w 3459490"/>
                  <a:gd name="connsiteY3" fmla="*/ 0 h 2867104"/>
                  <a:gd name="connsiteX4" fmla="*/ 3459490 w 3459490"/>
                  <a:gd name="connsiteY4" fmla="*/ 0 h 2867104"/>
                  <a:gd name="connsiteX5" fmla="*/ 3459490 w 3459490"/>
                  <a:gd name="connsiteY5" fmla="*/ 2867104 h 2867104"/>
                  <a:gd name="connsiteX6" fmla="*/ 3459490 w 3459490"/>
                  <a:gd name="connsiteY6" fmla="*/ 2867104 h 2867104"/>
                  <a:gd name="connsiteX7" fmla="*/ 477860 w 3459490"/>
                  <a:gd name="connsiteY7" fmla="*/ 2867104 h 2867104"/>
                  <a:gd name="connsiteX8" fmla="*/ 0 w 3459490"/>
                  <a:gd name="connsiteY8" fmla="*/ 2389244 h 28671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9490" h="2867104">
                    <a:moveTo>
                      <a:pt x="0" y="2389244"/>
                    </a:moveTo>
                    <a:lnTo>
                      <a:pt x="13" y="477860"/>
                    </a:lnTo>
                    <a:cubicBezTo>
                      <a:pt x="0" y="213945"/>
                      <a:pt x="213946" y="0"/>
                      <a:pt x="477860" y="0"/>
                    </a:cubicBezTo>
                    <a:lnTo>
                      <a:pt x="3459490" y="0"/>
                    </a:lnTo>
                    <a:lnTo>
                      <a:pt x="3459490" y="0"/>
                    </a:lnTo>
                    <a:lnTo>
                      <a:pt x="3459490" y="2867104"/>
                    </a:lnTo>
                    <a:lnTo>
                      <a:pt x="3459490" y="2867104"/>
                    </a:lnTo>
                    <a:lnTo>
                      <a:pt x="477860" y="2867104"/>
                    </a:lnTo>
                    <a:cubicBezTo>
                      <a:pt x="213946" y="2867104"/>
                      <a:pt x="0" y="2653159"/>
                      <a:pt x="0" y="2389244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1" name="矩形: 圆顶角 20">
                <a:extLst>
                  <a:ext uri="{FF2B5EF4-FFF2-40B4-BE49-F238E27FC236}">
                    <a16:creationId xmlns:a16="http://schemas.microsoft.com/office/drawing/2014/main" id="{12987477-6EDB-49EE-B6FF-2369D8E2EDAC}"/>
                  </a:ext>
                </a:extLst>
              </p:cNvPr>
              <p:cNvSpPr/>
              <p:nvPr/>
            </p:nvSpPr>
            <p:spPr bwMode="auto">
              <a:xfrm rot="16200000">
                <a:off x="4722624" y="564145"/>
                <a:ext cx="2867104" cy="3459490"/>
              </a:xfrm>
              <a:custGeom>
                <a:avLst/>
                <a:gdLst>
                  <a:gd name="connsiteX0" fmla="*/ 477860 w 2867104"/>
                  <a:gd name="connsiteY0" fmla="*/ 0 h 3459490"/>
                  <a:gd name="connsiteX1" fmla="*/ 2389244 w 2867104"/>
                  <a:gd name="connsiteY1" fmla="*/ 0 h 3459490"/>
                  <a:gd name="connsiteX2" fmla="*/ 2867104 w 2867104"/>
                  <a:gd name="connsiteY2" fmla="*/ 477860 h 3459490"/>
                  <a:gd name="connsiteX3" fmla="*/ 2867104 w 2867104"/>
                  <a:gd name="connsiteY3" fmla="*/ 3459490 h 3459490"/>
                  <a:gd name="connsiteX4" fmla="*/ 2867104 w 2867104"/>
                  <a:gd name="connsiteY4" fmla="*/ 3459490 h 3459490"/>
                  <a:gd name="connsiteX5" fmla="*/ 0 w 2867104"/>
                  <a:gd name="connsiteY5" fmla="*/ 3459490 h 3459490"/>
                  <a:gd name="connsiteX6" fmla="*/ 0 w 2867104"/>
                  <a:gd name="connsiteY6" fmla="*/ 3459490 h 3459490"/>
                  <a:gd name="connsiteX7" fmla="*/ 0 w 2867104"/>
                  <a:gd name="connsiteY7" fmla="*/ 477860 h 3459490"/>
                  <a:gd name="connsiteX8" fmla="*/ 477860 w 2867104"/>
                  <a:gd name="connsiteY8" fmla="*/ 0 h 3459490"/>
                  <a:gd name="connsiteX0" fmla="*/ 5200483 w 7589727"/>
                  <a:gd name="connsiteY0" fmla="*/ 564145 h 4023635"/>
                  <a:gd name="connsiteX1" fmla="*/ 0 w 7589727"/>
                  <a:gd name="connsiteY1" fmla="*/ 0 h 4023635"/>
                  <a:gd name="connsiteX2" fmla="*/ 7111867 w 7589727"/>
                  <a:gd name="connsiteY2" fmla="*/ 564145 h 4023635"/>
                  <a:gd name="connsiteX3" fmla="*/ 7589727 w 7589727"/>
                  <a:gd name="connsiteY3" fmla="*/ 1042005 h 4023635"/>
                  <a:gd name="connsiteX4" fmla="*/ 7589727 w 7589727"/>
                  <a:gd name="connsiteY4" fmla="*/ 4023635 h 4023635"/>
                  <a:gd name="connsiteX5" fmla="*/ 7589727 w 7589727"/>
                  <a:gd name="connsiteY5" fmla="*/ 4023635 h 4023635"/>
                  <a:gd name="connsiteX6" fmla="*/ 4722623 w 7589727"/>
                  <a:gd name="connsiteY6" fmla="*/ 4023635 h 4023635"/>
                  <a:gd name="connsiteX7" fmla="*/ 4722623 w 7589727"/>
                  <a:gd name="connsiteY7" fmla="*/ 4023635 h 4023635"/>
                  <a:gd name="connsiteX8" fmla="*/ 4722623 w 7589727"/>
                  <a:gd name="connsiteY8" fmla="*/ 1042005 h 4023635"/>
                  <a:gd name="connsiteX9" fmla="*/ 5200483 w 7589727"/>
                  <a:gd name="connsiteY9" fmla="*/ 564145 h 4023635"/>
                  <a:gd name="connsiteX0" fmla="*/ 477860 w 2867104"/>
                  <a:gd name="connsiteY0" fmla="*/ 0 h 3459490"/>
                  <a:gd name="connsiteX1" fmla="*/ 2389244 w 2867104"/>
                  <a:gd name="connsiteY1" fmla="*/ 0 h 3459490"/>
                  <a:gd name="connsiteX2" fmla="*/ 2867104 w 2867104"/>
                  <a:gd name="connsiteY2" fmla="*/ 477860 h 3459490"/>
                  <a:gd name="connsiteX3" fmla="*/ 2867104 w 2867104"/>
                  <a:gd name="connsiteY3" fmla="*/ 3459490 h 3459490"/>
                  <a:gd name="connsiteX4" fmla="*/ 2867104 w 2867104"/>
                  <a:gd name="connsiteY4" fmla="*/ 3459490 h 3459490"/>
                  <a:gd name="connsiteX5" fmla="*/ 0 w 2867104"/>
                  <a:gd name="connsiteY5" fmla="*/ 3459490 h 3459490"/>
                  <a:gd name="connsiteX6" fmla="*/ 0 w 2867104"/>
                  <a:gd name="connsiteY6" fmla="*/ 3459490 h 3459490"/>
                  <a:gd name="connsiteX7" fmla="*/ 0 w 2867104"/>
                  <a:gd name="connsiteY7" fmla="*/ 477860 h 3459490"/>
                  <a:gd name="connsiteX8" fmla="*/ 477860 w 2867104"/>
                  <a:gd name="connsiteY8" fmla="*/ 0 h 34594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67104" h="3459490">
                    <a:moveTo>
                      <a:pt x="477860" y="0"/>
                    </a:moveTo>
                    <a:lnTo>
                      <a:pt x="2389244" y="0"/>
                    </a:lnTo>
                    <a:cubicBezTo>
                      <a:pt x="2653159" y="0"/>
                      <a:pt x="2867104" y="213945"/>
                      <a:pt x="2867104" y="477860"/>
                    </a:cubicBezTo>
                    <a:lnTo>
                      <a:pt x="2867104" y="3459490"/>
                    </a:lnTo>
                    <a:lnTo>
                      <a:pt x="2867104" y="3459490"/>
                    </a:lnTo>
                    <a:lnTo>
                      <a:pt x="0" y="3459490"/>
                    </a:lnTo>
                    <a:lnTo>
                      <a:pt x="0" y="3459490"/>
                    </a:lnTo>
                    <a:lnTo>
                      <a:pt x="0" y="477860"/>
                    </a:lnTo>
                    <a:cubicBezTo>
                      <a:pt x="0" y="213945"/>
                      <a:pt x="213945" y="0"/>
                      <a:pt x="477860" y="0"/>
                    </a:cubicBezTo>
                    <a:close/>
                  </a:path>
                </a:pathLst>
              </a:custGeom>
              <a:grpFill/>
              <a:ln w="9525" cap="flat" cmpd="sng" algn="ctr">
                <a:solidFill>
                  <a:schemeClr val="bg1">
                    <a:alpha val="3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466989" name="平行四边形 466988">
              <a:extLst>
                <a:ext uri="{FF2B5EF4-FFF2-40B4-BE49-F238E27FC236}">
                  <a16:creationId xmlns:a16="http://schemas.microsoft.com/office/drawing/2014/main" id="{F9B55C15-0562-4D84-BA64-F86954A0BEF2}"/>
                </a:ext>
              </a:extLst>
            </p:cNvPr>
            <p:cNvSpPr/>
            <p:nvPr/>
          </p:nvSpPr>
          <p:spPr bwMode="auto">
            <a:xfrm rot="5400000">
              <a:off x="3245809" y="2565681"/>
              <a:ext cx="5256585" cy="2228133"/>
            </a:xfrm>
            <a:prstGeom prst="parallelogram">
              <a:avLst>
                <a:gd name="adj" fmla="val 96622"/>
              </a:avLst>
            </a:prstGeom>
            <a:solidFill>
              <a:srgbClr val="C0192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466949" name="Rectangle 5"/>
          <p:cNvSpPr>
            <a:spLocks noChangeArrowheads="1"/>
          </p:cNvSpPr>
          <p:nvPr/>
        </p:nvSpPr>
        <p:spPr bwMode="auto">
          <a:xfrm>
            <a:off x="3938093" y="3004278"/>
            <a:ext cx="5758307" cy="92333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程序设计教程</a:t>
            </a:r>
            <a:r>
              <a:rPr lang="zh-CN" altLang="en-US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（第</a:t>
            </a:r>
            <a:r>
              <a:rPr lang="en-US" altLang="zh-CN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3</a:t>
            </a:r>
            <a:r>
              <a:rPr lang="zh-CN" altLang="en-US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版）</a:t>
            </a:r>
          </a:p>
        </p:txBody>
      </p:sp>
      <p:sp>
        <p:nvSpPr>
          <p:cNvPr id="24" name="Rectangle 5">
            <a:extLst>
              <a:ext uri="{FF2B5EF4-FFF2-40B4-BE49-F238E27FC236}">
                <a16:creationId xmlns:a16="http://schemas.microsoft.com/office/drawing/2014/main" id="{B5E1C75A-58F7-488D-A75F-78F2A3EA6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8322" y="1412776"/>
            <a:ext cx="2989921" cy="144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>
            <a:spAutoFit/>
          </a:bodyPr>
          <a:lstStyle/>
          <a:p>
            <a:pPr algn="ctr"/>
            <a:r>
              <a:rPr lang="en-US" altLang="zh-CN" sz="88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C</a:t>
            </a:r>
            <a:r>
              <a:rPr lang="zh-CN" altLang="en-US" sz="80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语言</a:t>
            </a:r>
          </a:p>
        </p:txBody>
      </p:sp>
      <p:pic>
        <p:nvPicPr>
          <p:cNvPr id="15" name="图片 14" descr="图片包含 游戏机&#10;&#10;描述已自动生成">
            <a:extLst>
              <a:ext uri="{FF2B5EF4-FFF2-40B4-BE49-F238E27FC236}">
                <a16:creationId xmlns:a16="http://schemas.microsoft.com/office/drawing/2014/main" id="{88B313E9-A6E8-4A29-8FCB-633A40EB26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0049" y="2708920"/>
            <a:ext cx="1415626" cy="4200157"/>
          </a:xfrm>
          <a:prstGeom prst="rect">
            <a:avLst/>
          </a:prstGeom>
        </p:spPr>
      </p:pic>
      <p:sp>
        <p:nvSpPr>
          <p:cNvPr id="18" name="Rectangle 5">
            <a:extLst>
              <a:ext uri="{FF2B5EF4-FFF2-40B4-BE49-F238E27FC236}">
                <a16:creationId xmlns:a16="http://schemas.microsoft.com/office/drawing/2014/main" id="{2F7A13F8-9190-4D44-8ACC-DC3AF3AE4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917" y="4072560"/>
            <a:ext cx="7105483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square" anchor="ctr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第</a:t>
            </a:r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12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章  文  件</a:t>
            </a: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1E13812E-B2A6-4F2D-AC3F-19B02AAE7E42}"/>
              </a:ext>
            </a:extLst>
          </p:cNvPr>
          <p:cNvSpPr txBox="1"/>
          <p:nvPr/>
        </p:nvSpPr>
        <p:spPr>
          <a:xfrm>
            <a:off x="4748092" y="5157192"/>
            <a:ext cx="26503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24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制作人：王敬华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E65F837-AE8E-4CDF-9162-627DDF4D37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104" y="5942946"/>
            <a:ext cx="919896" cy="91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55630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669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669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669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6949" grpId="0"/>
      <p:bldP spid="24" grpId="0"/>
      <p:bldP spid="1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4">
            <a:extLst>
              <a:ext uri="{FF2B5EF4-FFF2-40B4-BE49-F238E27FC236}">
                <a16:creationId xmlns:a16="http://schemas.microsoft.com/office/drawing/2014/main" id="{431E8D51-2D51-4734-B47F-E25B6044C8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第</a:t>
            </a:r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12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章：文 件 </a:t>
            </a: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63B9BD25-9F2D-42FF-92E6-3A6C98A67190}"/>
              </a:ext>
            </a:extLst>
          </p:cNvPr>
          <p:cNvGrpSpPr/>
          <p:nvPr/>
        </p:nvGrpSpPr>
        <p:grpSpPr>
          <a:xfrm>
            <a:off x="695325" y="967906"/>
            <a:ext cx="3267000" cy="630931"/>
            <a:chOff x="695400" y="1059424"/>
            <a:chExt cx="3267000" cy="630931"/>
          </a:xfrm>
        </p:grpSpPr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16120A4E-EE83-4002-854E-7E1B181F04FC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44" name="菱形 43">
                <a:extLst>
                  <a:ext uri="{FF2B5EF4-FFF2-40B4-BE49-F238E27FC236}">
                    <a16:creationId xmlns:a16="http://schemas.microsoft.com/office/drawing/2014/main" id="{E2DD6C37-0DBB-4E03-95B2-596C09F65ED8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45" name="菱形 44">
                <a:extLst>
                  <a:ext uri="{FF2B5EF4-FFF2-40B4-BE49-F238E27FC236}">
                    <a16:creationId xmlns:a16="http://schemas.microsoft.com/office/drawing/2014/main" id="{96143A9F-4949-4AC4-970C-F654EEB8B6B6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43" name="Text Box 5">
              <a:extLst>
                <a:ext uri="{FF2B5EF4-FFF2-40B4-BE49-F238E27FC236}">
                  <a16:creationId xmlns:a16="http://schemas.microsoft.com/office/drawing/2014/main" id="{AEBEB744-7C0F-4E5D-8AEF-3DD53D5B4B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2459675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学习的意义</a:t>
              </a:r>
            </a:p>
          </p:txBody>
        </p:sp>
      </p:grpSp>
      <p:sp>
        <p:nvSpPr>
          <p:cNvPr id="47" name="Text Box 84">
            <a:extLst>
              <a:ext uri="{FF2B5EF4-FFF2-40B4-BE49-F238E27FC236}">
                <a16:creationId xmlns:a16="http://schemas.microsoft.com/office/drawing/2014/main" id="{40F5AA55-36C4-45B4-9FD5-1DEBC99251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3915" y="1773610"/>
            <a:ext cx="553998" cy="2232025"/>
          </a:xfrm>
          <a:prstGeom prst="rect">
            <a:avLst/>
          </a:prstGeom>
          <a:solidFill>
            <a:srgbClr val="BEDFC4"/>
          </a:solidFill>
          <a:ln w="9525">
            <a:noFill/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BEDFC4"/>
            </a:extrusionClr>
          </a:sp3d>
        </p:spPr>
        <p:txBody>
          <a:bodyPr vert="eaVert">
            <a:spAutoFit/>
            <a:flatTx/>
          </a:bodyPr>
          <a:lstStyle/>
          <a:p>
            <a:pPr algn="ctr">
              <a:spcBef>
                <a:spcPct val="50000"/>
              </a:spcBef>
            </a:pPr>
            <a:r>
              <a:rPr lang="en-US" altLang="zh-CN" b="1" dirty="0">
                <a:solidFill>
                  <a:schemeClr val="bg1"/>
                </a:solidFill>
                <a:latin typeface="+mn-lt"/>
                <a:ea typeface="楷体" pitchFamily="49" charset="-122"/>
              </a:rPr>
              <a:t>C</a:t>
            </a:r>
            <a:r>
              <a:rPr lang="zh-CN" altLang="en-US" b="1" dirty="0">
                <a:solidFill>
                  <a:schemeClr val="bg1"/>
                </a:solidFill>
                <a:latin typeface="+mn-lt"/>
                <a:ea typeface="楷体" pitchFamily="49" charset="-122"/>
              </a:rPr>
              <a:t>语言执行程序</a:t>
            </a:r>
          </a:p>
        </p:txBody>
      </p:sp>
      <p:sp>
        <p:nvSpPr>
          <p:cNvPr id="48" name="AutoShape 85">
            <a:extLst>
              <a:ext uri="{FF2B5EF4-FFF2-40B4-BE49-F238E27FC236}">
                <a16:creationId xmlns:a16="http://schemas.microsoft.com/office/drawing/2014/main" id="{0C1BE035-F986-4933-9896-2542B8E53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4913" y="2708648"/>
            <a:ext cx="1519039" cy="288925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1">
            <a:gsLst>
              <a:gs pos="0">
                <a:srgbClr val="BEDFC4"/>
              </a:gs>
              <a:gs pos="100000">
                <a:srgbClr val="00FFFF">
                  <a:gamma/>
                  <a:shade val="46275"/>
                  <a:invGamma/>
                </a:srgbClr>
              </a:gs>
            </a:gsLst>
            <a:lin ang="1080000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9" name="Group 93">
            <a:extLst>
              <a:ext uri="{FF2B5EF4-FFF2-40B4-BE49-F238E27FC236}">
                <a16:creationId xmlns:a16="http://schemas.microsoft.com/office/drawing/2014/main" id="{C113BCEE-E0FD-4AA0-9263-6D48A65A2AC3}"/>
              </a:ext>
            </a:extLst>
          </p:cNvPr>
          <p:cNvGrpSpPr>
            <a:grpSpLocks/>
          </p:cNvGrpSpPr>
          <p:nvPr/>
        </p:nvGrpSpPr>
        <p:grpSpPr bwMode="auto">
          <a:xfrm>
            <a:off x="1674761" y="2006972"/>
            <a:ext cx="2351088" cy="2070100"/>
            <a:chOff x="158" y="1491"/>
            <a:chExt cx="1481" cy="1304"/>
          </a:xfrm>
        </p:grpSpPr>
        <p:pic>
          <p:nvPicPr>
            <p:cNvPr id="50" name="Picture 89" descr="keyboad">
              <a:extLst>
                <a:ext uri="{FF2B5EF4-FFF2-40B4-BE49-F238E27FC236}">
                  <a16:creationId xmlns:a16="http://schemas.microsoft.com/office/drawing/2014/main" id="{AF4151D5-6E4C-4EB8-A5AE-DD3B107FC9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158" y="1491"/>
              <a:ext cx="1481" cy="1061"/>
            </a:xfrm>
            <a:prstGeom prst="rect">
              <a:avLst/>
            </a:prstGeom>
            <a:noFill/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</p:pic>
        <p:sp>
          <p:nvSpPr>
            <p:cNvPr id="51" name="Text Box 90">
              <a:extLst>
                <a:ext uri="{FF2B5EF4-FFF2-40B4-BE49-F238E27FC236}">
                  <a16:creationId xmlns:a16="http://schemas.microsoft.com/office/drawing/2014/main" id="{92255BC6-A713-442A-A352-EF1682D008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" y="2507"/>
              <a:ext cx="95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dirty="0">
                  <a:solidFill>
                    <a:srgbClr val="C00000"/>
                  </a:solidFill>
                  <a:ea typeface="隶书" pitchFamily="49" charset="-122"/>
                </a:rPr>
                <a:t>输入数据</a:t>
              </a:r>
            </a:p>
          </p:txBody>
        </p:sp>
      </p:grpSp>
      <p:sp>
        <p:nvSpPr>
          <p:cNvPr id="52" name="AutoShape 92">
            <a:extLst>
              <a:ext uri="{FF2B5EF4-FFF2-40B4-BE49-F238E27FC236}">
                <a16:creationId xmlns:a16="http://schemas.microsoft.com/office/drawing/2014/main" id="{5D09B604-FADF-45F5-BD65-867FBE61CE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6528" y="2713410"/>
            <a:ext cx="1511994" cy="288925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1">
            <a:gsLst>
              <a:gs pos="0">
                <a:srgbClr val="BEDFC4"/>
              </a:gs>
              <a:gs pos="100000">
                <a:srgbClr val="00FFFF">
                  <a:gamma/>
                  <a:shade val="46275"/>
                  <a:invGamma/>
                </a:srgbClr>
              </a:gs>
            </a:gsLst>
            <a:lin ang="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3" name="Group 96">
            <a:extLst>
              <a:ext uri="{FF2B5EF4-FFF2-40B4-BE49-F238E27FC236}">
                <a16:creationId xmlns:a16="http://schemas.microsoft.com/office/drawing/2014/main" id="{E2BF4531-5916-446A-8F5F-2313EB552D61}"/>
              </a:ext>
            </a:extLst>
          </p:cNvPr>
          <p:cNvGrpSpPr>
            <a:grpSpLocks/>
          </p:cNvGrpSpPr>
          <p:nvPr/>
        </p:nvGrpSpPr>
        <p:grpSpPr bwMode="auto">
          <a:xfrm>
            <a:off x="8371780" y="1773609"/>
            <a:ext cx="2044700" cy="2184400"/>
            <a:chOff x="3923" y="1088"/>
            <a:chExt cx="1288" cy="1376"/>
          </a:xfrm>
        </p:grpSpPr>
        <p:grpSp>
          <p:nvGrpSpPr>
            <p:cNvPr id="54" name="Group 94">
              <a:extLst>
                <a:ext uri="{FF2B5EF4-FFF2-40B4-BE49-F238E27FC236}">
                  <a16:creationId xmlns:a16="http://schemas.microsoft.com/office/drawing/2014/main" id="{1717F255-0B0B-455F-8754-5E994C694D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23" y="1088"/>
              <a:ext cx="1270" cy="1376"/>
              <a:chOff x="3923" y="1344"/>
              <a:chExt cx="1270" cy="1376"/>
            </a:xfrm>
          </p:grpSpPr>
          <p:pic>
            <p:nvPicPr>
              <p:cNvPr id="56" name="Picture 88" descr="display">
                <a:extLst>
                  <a:ext uri="{FF2B5EF4-FFF2-40B4-BE49-F238E27FC236}">
                    <a16:creationId xmlns:a16="http://schemas.microsoft.com/office/drawing/2014/main" id="{BB92F822-05C8-4AD5-A585-1DA5C3AF499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3923" y="1344"/>
                <a:ext cx="1270" cy="1146"/>
              </a:xfrm>
              <a:prstGeom prst="rect">
                <a:avLst/>
              </a:prstGeom>
              <a:noFill/>
              <a:effectLst>
                <a:outerShdw blurRad="50800" dist="106680" dir="2700000" algn="tl" rotWithShape="0">
                  <a:prstClr val="black">
                    <a:alpha val="43000"/>
                  </a:prstClr>
                </a:outerShdw>
              </a:effectLst>
            </p:spPr>
          </p:pic>
          <p:sp>
            <p:nvSpPr>
              <p:cNvPr id="57" name="Text Box 91">
                <a:extLst>
                  <a:ext uri="{FF2B5EF4-FFF2-40B4-BE49-F238E27FC236}">
                    <a16:creationId xmlns:a16="http://schemas.microsoft.com/office/drawing/2014/main" id="{38CD866F-823A-49D2-8203-2D2FAD350A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42" y="2432"/>
                <a:ext cx="95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b="1" dirty="0">
                    <a:solidFill>
                      <a:srgbClr val="C00000"/>
                    </a:solidFill>
                    <a:ea typeface="隶书" pitchFamily="49" charset="-122"/>
                  </a:rPr>
                  <a:t>输出数据</a:t>
                </a:r>
              </a:p>
            </p:txBody>
          </p:sp>
        </p:grpSp>
        <p:sp>
          <p:nvSpPr>
            <p:cNvPr id="55" name="Text Box 95">
              <a:extLst>
                <a:ext uri="{FF2B5EF4-FFF2-40B4-BE49-F238E27FC236}">
                  <a16:creationId xmlns:a16="http://schemas.microsoft.com/office/drawing/2014/main" id="{85DC1124-5EDB-4485-86E7-6F76A40E09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9" y="1237"/>
              <a:ext cx="95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solidFill>
                    <a:srgbClr val="C00000"/>
                  </a:solidFill>
                </a:rPr>
                <a:t>100 200 300</a:t>
              </a:r>
            </a:p>
          </p:txBody>
        </p:sp>
      </p:grpSp>
      <p:sp>
        <p:nvSpPr>
          <p:cNvPr id="58" name="AutoShape 97">
            <a:extLst>
              <a:ext uri="{FF2B5EF4-FFF2-40B4-BE49-F238E27FC236}">
                <a16:creationId xmlns:a16="http://schemas.microsoft.com/office/drawing/2014/main" id="{06A132AF-1790-4198-9E78-0E004990C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118" y="595685"/>
            <a:ext cx="3097213" cy="792163"/>
          </a:xfrm>
          <a:prstGeom prst="wedgeRoundRectCallout">
            <a:avLst>
              <a:gd name="adj1" fmla="val 49537"/>
              <a:gd name="adj2" fmla="val 118338"/>
              <a:gd name="adj3" fmla="val 16667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r>
              <a:rPr lang="zh-CN" altLang="en-US" sz="20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存在问题：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运行完毕，</a:t>
            </a:r>
          </a:p>
          <a:p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                    结果消失！</a:t>
            </a:r>
          </a:p>
        </p:txBody>
      </p:sp>
      <p:sp>
        <p:nvSpPr>
          <p:cNvPr id="59" name="AutoShape 98">
            <a:extLst>
              <a:ext uri="{FF2B5EF4-FFF2-40B4-BE49-F238E27FC236}">
                <a16:creationId xmlns:a16="http://schemas.microsoft.com/office/drawing/2014/main" id="{C03376C0-165E-4D18-A1DE-6592960A1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6154" y="4292501"/>
            <a:ext cx="3816350" cy="1728787"/>
          </a:xfrm>
          <a:prstGeom prst="cloudCallout">
            <a:avLst>
              <a:gd name="adj1" fmla="val -61416"/>
              <a:gd name="adj2" fmla="val -119478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002060"/>
            </a:solidFill>
            <a:round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/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隶书" pitchFamily="49" charset="-122"/>
                <a:ea typeface="隶书" pitchFamily="49" charset="-122"/>
              </a:rPr>
              <a:t>运行结果能否长期保存呢？</a:t>
            </a:r>
          </a:p>
        </p:txBody>
      </p:sp>
      <p:sp>
        <p:nvSpPr>
          <p:cNvPr id="60" name="Text Box 99">
            <a:extLst>
              <a:ext uri="{FF2B5EF4-FFF2-40B4-BE49-F238E27FC236}">
                <a16:creationId xmlns:a16="http://schemas.microsoft.com/office/drawing/2014/main" id="{D1F19E7A-D0F2-4BE1-B421-E8A73287D8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7736" y="5276056"/>
            <a:ext cx="19446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2060"/>
                </a:solidFill>
                <a:ea typeface="隶书" pitchFamily="49" charset="-122"/>
              </a:rPr>
              <a:t>使用文件！</a:t>
            </a:r>
          </a:p>
        </p:txBody>
      </p:sp>
      <p:sp>
        <p:nvSpPr>
          <p:cNvPr id="61" name="Text Box 100">
            <a:extLst>
              <a:ext uri="{FF2B5EF4-FFF2-40B4-BE49-F238E27FC236}">
                <a16:creationId xmlns:a16="http://schemas.microsoft.com/office/drawing/2014/main" id="{05E0C4AB-3811-42CB-85A4-F98F19F97F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9942" y="4403725"/>
            <a:ext cx="4104010" cy="850900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28575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2060"/>
                </a:solidFill>
                <a:ea typeface="隶书" pitchFamily="49" charset="-122"/>
              </a:rPr>
              <a:t>文件无处不在，切不可视而不见，视而不理！</a:t>
            </a:r>
          </a:p>
        </p:txBody>
      </p:sp>
      <p:sp>
        <p:nvSpPr>
          <p:cNvPr id="62" name="Text Box 101">
            <a:extLst>
              <a:ext uri="{FF2B5EF4-FFF2-40B4-BE49-F238E27FC236}">
                <a16:creationId xmlns:a16="http://schemas.microsoft.com/office/drawing/2014/main" id="{E3A2A77C-C992-4944-8FAF-8037A530E0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9496" y="5897563"/>
            <a:ext cx="5532437" cy="707886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rgbClr val="CC0000"/>
                </a:solidFill>
                <a:latin typeface="+mn-lt"/>
                <a:ea typeface="楷体" pitchFamily="49" charset="-122"/>
              </a:rPr>
              <a:t>如：</a:t>
            </a:r>
            <a:r>
              <a:rPr lang="en-US" altLang="zh-CN" sz="2000" b="1" dirty="0">
                <a:solidFill>
                  <a:srgbClr val="CC0000"/>
                </a:solidFill>
                <a:latin typeface="+mn-lt"/>
                <a:ea typeface="楷体" pitchFamily="49" charset="-122"/>
              </a:rPr>
              <a:t>C</a:t>
            </a:r>
            <a:r>
              <a:rPr lang="zh-CN" altLang="en-US" sz="2000" b="1" dirty="0">
                <a:solidFill>
                  <a:srgbClr val="CC0000"/>
                </a:solidFill>
                <a:latin typeface="+mn-lt"/>
                <a:ea typeface="楷体" pitchFamily="49" charset="-122"/>
              </a:rPr>
              <a:t>语言源程序文件（</a:t>
            </a:r>
            <a:r>
              <a:rPr lang="en-US" altLang="zh-CN" sz="2000" b="1" dirty="0">
                <a:solidFill>
                  <a:srgbClr val="CC0000"/>
                </a:solidFill>
                <a:latin typeface="+mn-lt"/>
                <a:ea typeface="楷体" pitchFamily="49" charset="-122"/>
              </a:rPr>
              <a:t>.c</a:t>
            </a:r>
            <a:r>
              <a:rPr lang="zh-CN" altLang="en-US" sz="2000" b="1" dirty="0">
                <a:solidFill>
                  <a:srgbClr val="CC0000"/>
                </a:solidFill>
                <a:latin typeface="+mn-lt"/>
                <a:ea typeface="楷体" pitchFamily="49" charset="-122"/>
              </a:rPr>
              <a:t>或</a:t>
            </a:r>
            <a:r>
              <a:rPr lang="en-US" altLang="zh-CN" sz="2000" b="1" dirty="0">
                <a:solidFill>
                  <a:srgbClr val="CC0000"/>
                </a:solidFill>
                <a:latin typeface="+mn-lt"/>
                <a:ea typeface="楷体" pitchFamily="49" charset="-122"/>
              </a:rPr>
              <a:t>.</a:t>
            </a:r>
            <a:r>
              <a:rPr lang="en-US" altLang="zh-CN" sz="2000" b="1" dirty="0" err="1">
                <a:solidFill>
                  <a:srgbClr val="CC0000"/>
                </a:solidFill>
                <a:latin typeface="+mn-lt"/>
                <a:ea typeface="楷体" pitchFamily="49" charset="-122"/>
              </a:rPr>
              <a:t>cpp</a:t>
            </a:r>
            <a:r>
              <a:rPr lang="zh-CN" altLang="en-US" sz="2000" b="1" dirty="0">
                <a:solidFill>
                  <a:srgbClr val="CC0000"/>
                </a:solidFill>
                <a:latin typeface="+mn-lt"/>
                <a:ea typeface="楷体" pitchFamily="49" charset="-122"/>
              </a:rPr>
              <a:t>）、执行文件（</a:t>
            </a:r>
            <a:r>
              <a:rPr lang="en-US" altLang="zh-CN" sz="2000" b="1" dirty="0">
                <a:solidFill>
                  <a:srgbClr val="CC0000"/>
                </a:solidFill>
                <a:latin typeface="+mn-lt"/>
                <a:ea typeface="楷体" pitchFamily="49" charset="-122"/>
              </a:rPr>
              <a:t>.exe</a:t>
            </a:r>
            <a:r>
              <a:rPr lang="zh-CN" altLang="en-US" sz="2000" b="1" dirty="0">
                <a:solidFill>
                  <a:srgbClr val="CC0000"/>
                </a:solidFill>
                <a:latin typeface="+mn-lt"/>
                <a:ea typeface="楷体" pitchFamily="49" charset="-122"/>
              </a:rPr>
              <a:t>）、图片文件（</a:t>
            </a:r>
            <a:r>
              <a:rPr lang="en-US" altLang="zh-CN" sz="2000" b="1" dirty="0">
                <a:solidFill>
                  <a:srgbClr val="CC0000"/>
                </a:solidFill>
                <a:latin typeface="+mn-lt"/>
                <a:ea typeface="楷体" pitchFamily="49" charset="-122"/>
              </a:rPr>
              <a:t>.jpg</a:t>
            </a:r>
            <a:r>
              <a:rPr lang="zh-CN" altLang="en-US" sz="2000" b="1" dirty="0">
                <a:solidFill>
                  <a:srgbClr val="CC0000"/>
                </a:solidFill>
                <a:latin typeface="+mn-lt"/>
                <a:ea typeface="楷体" pitchFamily="49" charset="-122"/>
              </a:rPr>
              <a:t>）</a:t>
            </a:r>
            <a:r>
              <a:rPr lang="en-US" altLang="zh-CN" sz="2000" b="1" dirty="0">
                <a:solidFill>
                  <a:srgbClr val="CC0000"/>
                </a:solidFill>
                <a:latin typeface="+mn-lt"/>
                <a:ea typeface="楷体" pitchFamily="49" charset="-122"/>
              </a:rPr>
              <a:t>……</a:t>
            </a:r>
            <a:r>
              <a:rPr lang="en-US" altLang="zh-CN" sz="2000" b="1" dirty="0">
                <a:latin typeface="+mn-lt"/>
                <a:ea typeface="楷体" pitchFamily="49" charset="-122"/>
              </a:rPr>
              <a:t>       </a:t>
            </a:r>
          </a:p>
        </p:txBody>
      </p:sp>
    </p:spTree>
  </p:cSld>
  <p:clrMapOvr>
    <a:masterClrMapping/>
  </p:clrMapOvr>
  <p:transition>
    <p:random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8" grpId="0" animBg="1"/>
      <p:bldP spid="52" grpId="0" animBg="1"/>
      <p:bldP spid="58" grpId="0" animBg="1"/>
      <p:bldP spid="59" grpId="0" animBg="1"/>
      <p:bldP spid="60" grpId="0"/>
      <p:bldP spid="61" grpId="0" animBg="1"/>
      <p:bldP spid="6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117B0D8E-99A6-4182-945A-E285D63780EA}"/>
              </a:ext>
            </a:extLst>
          </p:cNvPr>
          <p:cNvGrpSpPr/>
          <p:nvPr/>
        </p:nvGrpSpPr>
        <p:grpSpPr>
          <a:xfrm>
            <a:off x="911225" y="980728"/>
            <a:ext cx="3267000" cy="630931"/>
            <a:chOff x="695400" y="1059424"/>
            <a:chExt cx="3267000" cy="630931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AD92270B-0536-403C-A45B-4110ADD31142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10" name="菱形 9">
                <a:extLst>
                  <a:ext uri="{FF2B5EF4-FFF2-40B4-BE49-F238E27FC236}">
                    <a16:creationId xmlns:a16="http://schemas.microsoft.com/office/drawing/2014/main" id="{2D6DF7AE-61A0-4885-9E7F-BA1C202C603E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1" name="菱形 10">
                <a:extLst>
                  <a:ext uri="{FF2B5EF4-FFF2-40B4-BE49-F238E27FC236}">
                    <a16:creationId xmlns:a16="http://schemas.microsoft.com/office/drawing/2014/main" id="{6BA79E81-FD58-4684-8F36-24519104C644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9" name="Text Box 5">
              <a:extLst>
                <a:ext uri="{FF2B5EF4-FFF2-40B4-BE49-F238E27FC236}">
                  <a16:creationId xmlns:a16="http://schemas.microsoft.com/office/drawing/2014/main" id="{1CF1A9A6-A756-49C2-8C87-C31C4D50ED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2459675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学习目标</a:t>
              </a:r>
            </a:p>
          </p:txBody>
        </p:sp>
      </p:grpSp>
      <p:sp>
        <p:nvSpPr>
          <p:cNvPr id="19" name="Rectangle 4">
            <a:extLst>
              <a:ext uri="{FF2B5EF4-FFF2-40B4-BE49-F238E27FC236}">
                <a16:creationId xmlns:a16="http://schemas.microsoft.com/office/drawing/2014/main" id="{1A8BBFEA-C8D9-4227-9CFB-97980403C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第</a:t>
            </a:r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11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章：复杂数据类型</a:t>
            </a:r>
          </a:p>
        </p:txBody>
      </p:sp>
      <p:sp>
        <p:nvSpPr>
          <p:cNvPr id="12" name="Rectangle 44">
            <a:extLst>
              <a:ext uri="{FF2B5EF4-FFF2-40B4-BE49-F238E27FC236}">
                <a16:creationId xmlns:a16="http://schemas.microsoft.com/office/drawing/2014/main" id="{559FFE20-A553-44CC-ACFC-9C58D4CD2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2182" y="2112150"/>
            <a:ext cx="4513662" cy="3473450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3500000" scaled="1"/>
            <a:tileRect/>
          </a:gradFill>
          <a:ln w="28575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180975">
              <a:buClr>
                <a:srgbClr val="C00000"/>
              </a:buClr>
              <a:buFont typeface="Wingdings" pitchFamily="2" charset="2"/>
              <a:buChar char="ü"/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文件的基本概念</a:t>
            </a:r>
          </a:p>
          <a:p>
            <a:pPr marL="180975">
              <a:buClr>
                <a:srgbClr val="C00000"/>
              </a:buClr>
              <a:buFont typeface="Wingdings" pitchFamily="2" charset="2"/>
              <a:buChar char="ü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文件的类别</a:t>
            </a:r>
          </a:p>
          <a:p>
            <a:pPr marL="180975">
              <a:buClr>
                <a:srgbClr val="C00000"/>
              </a:buClr>
              <a:buFont typeface="Wingdings" pitchFamily="2" charset="2"/>
              <a:buChar char="ü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文件操作概述</a:t>
            </a:r>
          </a:p>
          <a:p>
            <a:pPr marL="180975">
              <a:buClr>
                <a:srgbClr val="C00000"/>
              </a:buClr>
              <a:buFont typeface="Wingdings" pitchFamily="2" charset="2"/>
              <a:buChar char="ü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文件指针</a:t>
            </a:r>
          </a:p>
          <a:p>
            <a:pPr marL="180975">
              <a:buClr>
                <a:srgbClr val="C00000"/>
              </a:buClr>
              <a:buFont typeface="Wingdings" pitchFamily="2" charset="2"/>
              <a:buChar char="ü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文件的打开、读写和关闭</a:t>
            </a:r>
          </a:p>
          <a:p>
            <a:pPr marL="444500" lvl="1">
              <a:buClr>
                <a:srgbClr val="C00000"/>
              </a:buClr>
              <a:buFont typeface="Wingdings" pitchFamily="2" charset="2"/>
              <a:buChar char="l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文件的打开与关闭</a:t>
            </a:r>
          </a:p>
          <a:p>
            <a:pPr marL="444500" lvl="1">
              <a:buClr>
                <a:srgbClr val="C00000"/>
              </a:buClr>
              <a:buFont typeface="Wingdings" pitchFamily="2" charset="2"/>
              <a:buChar char="l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文件的读写</a:t>
            </a:r>
          </a:p>
          <a:p>
            <a:pPr marL="444500" lvl="1">
              <a:buClr>
                <a:srgbClr val="C00000"/>
              </a:buClr>
              <a:buFont typeface="Wingdings" pitchFamily="2" charset="2"/>
              <a:buChar char="l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文件读写函数选用原则</a:t>
            </a:r>
          </a:p>
          <a:p>
            <a:pPr marL="180975">
              <a:buClr>
                <a:srgbClr val="C00000"/>
              </a:buClr>
              <a:buFont typeface="Wingdings" pitchFamily="2" charset="2"/>
              <a:buChar char="ü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文件的定位读写</a:t>
            </a:r>
          </a:p>
          <a:p>
            <a:pPr marL="180975">
              <a:buClr>
                <a:srgbClr val="C00000"/>
              </a:buClr>
              <a:buFont typeface="Wingdings" pitchFamily="2" charset="2"/>
              <a:buChar char="ü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文件应用综合举例</a:t>
            </a:r>
          </a:p>
          <a:p>
            <a:pPr marL="180975">
              <a:buClr>
                <a:srgbClr val="C00000"/>
              </a:buClr>
              <a:buFont typeface="Wingdings" pitchFamily="2" charset="2"/>
              <a:buChar char="ü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本章小结</a:t>
            </a:r>
          </a:p>
        </p:txBody>
      </p:sp>
      <p:sp>
        <p:nvSpPr>
          <p:cNvPr id="13" name="Rectangle 46">
            <a:extLst>
              <a:ext uri="{FF2B5EF4-FFF2-40B4-BE49-F238E27FC236}">
                <a16:creationId xmlns:a16="http://schemas.microsoft.com/office/drawing/2014/main" id="{068DF277-A901-48DA-B944-07F9CB73B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5688" y="2136242"/>
            <a:ext cx="4513662" cy="3380990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3500000" scaled="1"/>
            <a:tileRect/>
          </a:gradFill>
          <a:ln w="28575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pPr marL="457200" indent="-276225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ü"/>
            </a:pP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理解文件的概念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;</a:t>
            </a:r>
            <a:endParaRPr lang="zh-CN" altLang="en-US" sz="2000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 marL="457200" indent="-276225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ü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正确把握文本文件与二进制文件的区别；</a:t>
            </a:r>
          </a:p>
          <a:p>
            <a:pPr marL="457200" indent="-276225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ü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掌握文件的打开、读写、定位以及关闭的方法；</a:t>
            </a:r>
          </a:p>
          <a:p>
            <a:pPr marL="457200" indent="-276225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ü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掌握文件系统中有关文件操作的系统函数使用方法；</a:t>
            </a:r>
          </a:p>
          <a:p>
            <a:pPr marL="457200" indent="-276225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ü"/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能设计对文件进行简单处理的实用程序。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B31BE00E-BD71-4447-8052-D7A47AEF74AC}"/>
              </a:ext>
            </a:extLst>
          </p:cNvPr>
          <p:cNvGrpSpPr/>
          <p:nvPr/>
        </p:nvGrpSpPr>
        <p:grpSpPr>
          <a:xfrm>
            <a:off x="6213376" y="1013959"/>
            <a:ext cx="3267000" cy="630931"/>
            <a:chOff x="695400" y="1059424"/>
            <a:chExt cx="3267000" cy="630931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789B4343-95FF-470C-B8EE-922412B7E9C8}"/>
                </a:ext>
              </a:extLst>
            </p:cNvPr>
            <p:cNvGrpSpPr/>
            <p:nvPr/>
          </p:nvGrpSpPr>
          <p:grpSpPr>
            <a:xfrm>
              <a:off x="695400" y="1059424"/>
              <a:ext cx="833819" cy="557612"/>
              <a:chOff x="695400" y="1059424"/>
              <a:chExt cx="833819" cy="557612"/>
            </a:xfrm>
          </p:grpSpPr>
          <p:sp>
            <p:nvSpPr>
              <p:cNvPr id="17" name="菱形 16">
                <a:extLst>
                  <a:ext uri="{FF2B5EF4-FFF2-40B4-BE49-F238E27FC236}">
                    <a16:creationId xmlns:a16="http://schemas.microsoft.com/office/drawing/2014/main" id="{47E90320-5E0F-4181-B600-1D545631F837}"/>
                  </a:ext>
                </a:extLst>
              </p:cNvPr>
              <p:cNvSpPr/>
              <p:nvPr/>
            </p:nvSpPr>
            <p:spPr bwMode="auto">
              <a:xfrm>
                <a:off x="695400" y="1059424"/>
                <a:ext cx="557612" cy="557612"/>
              </a:xfrm>
              <a:prstGeom prst="diamond">
                <a:avLst/>
              </a:prstGeom>
              <a:solidFill>
                <a:srgbClr val="D7000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8" name="菱形 17">
                <a:extLst>
                  <a:ext uri="{FF2B5EF4-FFF2-40B4-BE49-F238E27FC236}">
                    <a16:creationId xmlns:a16="http://schemas.microsoft.com/office/drawing/2014/main" id="{9CB5AAF4-0A3D-438A-A3AD-372B90B0E305}"/>
                  </a:ext>
                </a:extLst>
              </p:cNvPr>
              <p:cNvSpPr/>
              <p:nvPr/>
            </p:nvSpPr>
            <p:spPr bwMode="auto">
              <a:xfrm>
                <a:off x="1006681" y="1094498"/>
                <a:ext cx="522538" cy="522538"/>
              </a:xfrm>
              <a:prstGeom prst="diamond">
                <a:avLst/>
              </a:prstGeom>
              <a:solidFill>
                <a:srgbClr val="CFCFD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zh-CN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16" name="Text Box 5">
              <a:extLst>
                <a:ext uri="{FF2B5EF4-FFF2-40B4-BE49-F238E27FC236}">
                  <a16:creationId xmlns:a16="http://schemas.microsoft.com/office/drawing/2014/main" id="{28DCC31A-F0EE-4029-942C-FAA20AD635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2725" y="1167135"/>
              <a:ext cx="2459675" cy="523220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  <a:buClr>
                  <a:srgbClr val="D7000F"/>
                </a:buClr>
                <a:tabLst>
                  <a:tab pos="177800" algn="l"/>
                </a:tabLst>
              </a:pPr>
              <a:r>
                <a:rPr kumimoji="0" lang="zh-CN" altLang="en-US" sz="2800" b="1" dirty="0">
                  <a:solidFill>
                    <a:srgbClr val="D7000F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学习内容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566" name="Rectangle 14"/>
          <p:cNvSpPr>
            <a:spLocks noChangeArrowheads="1"/>
          </p:cNvSpPr>
          <p:nvPr/>
        </p:nvSpPr>
        <p:spPr bwMode="auto">
          <a:xfrm>
            <a:off x="1224485" y="1182722"/>
            <a:ext cx="9912075" cy="4982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>
              <a:lnSpc>
                <a:spcPts val="32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文件：</a:t>
            </a:r>
            <a:r>
              <a:rPr lang="zh-CN" altLang="en-US" b="1" dirty="0">
                <a:ea typeface="楷体" pitchFamily="49" charset="-122"/>
              </a:rPr>
              <a:t>存储在外部介质上数据的集合</a:t>
            </a:r>
            <a:r>
              <a:rPr lang="en-US" altLang="zh-CN" b="1" dirty="0">
                <a:ea typeface="楷体" pitchFamily="49" charset="-122"/>
              </a:rPr>
              <a:t>,</a:t>
            </a:r>
            <a:r>
              <a:rPr lang="zh-CN" altLang="en-US" b="1" dirty="0">
                <a:ea typeface="楷体" pitchFamily="49" charset="-122"/>
              </a:rPr>
              <a:t>是操作系统数据管理的单位。</a:t>
            </a:r>
            <a:endParaRPr lang="en-US" altLang="zh-CN" b="1" dirty="0">
              <a:ea typeface="楷体" pitchFamily="49" charset="-122"/>
            </a:endParaRPr>
          </a:p>
          <a:p>
            <a:pPr marL="342900" indent="-342900">
              <a:lnSpc>
                <a:spcPts val="3200"/>
              </a:lnSpc>
              <a:buFont typeface="Wingdings" panose="05000000000000000000" pitchFamily="2" charset="2"/>
              <a:buChar char="Ø"/>
            </a:pPr>
            <a:endParaRPr lang="en-US" altLang="zh-CN" b="1" dirty="0">
              <a:solidFill>
                <a:srgbClr val="D60093"/>
              </a:solidFill>
              <a:latin typeface="隶书" pitchFamily="49" charset="-122"/>
              <a:ea typeface="隶书" pitchFamily="49" charset="-122"/>
            </a:endParaRPr>
          </a:p>
          <a:p>
            <a:pPr marL="342900" indent="-342900">
              <a:lnSpc>
                <a:spcPts val="32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文件命名规则：</a:t>
            </a:r>
            <a:endParaRPr lang="en-US" altLang="zh-CN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ts val="3200"/>
              </a:lnSpc>
            </a:pPr>
            <a:r>
              <a:rPr lang="zh-CN" altLang="en-US" b="1" dirty="0">
                <a:latin typeface="+mn-lt"/>
                <a:ea typeface="楷体" pitchFamily="49" charset="-122"/>
              </a:rPr>
              <a:t>为标识一个文件，每个文件都必须有一个文件名，其一般结构为：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pPr lvl="1">
              <a:lnSpc>
                <a:spcPts val="3200"/>
              </a:lnSpc>
            </a:pPr>
            <a:r>
              <a:rPr lang="zh-CN" altLang="en-US" b="1" dirty="0">
                <a:solidFill>
                  <a:srgbClr val="FF0000"/>
                </a:solidFill>
                <a:latin typeface="+mn-lt"/>
                <a:ea typeface="楷体" pitchFamily="49" charset="-122"/>
              </a:rPr>
              <a:t>                            </a:t>
            </a:r>
            <a:r>
              <a:rPr lang="zh-CN" altLang="en-US" b="1" u="sng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主文件名</a:t>
            </a:r>
            <a:r>
              <a:rPr lang="en-US" altLang="zh-CN" b="1" u="sng" dirty="0">
                <a:solidFill>
                  <a:srgbClr val="C00000"/>
                </a:solidFill>
                <a:latin typeface="+mn-lt"/>
                <a:ea typeface="楷体" pitchFamily="49" charset="-122"/>
              </a:rPr>
              <a:t>[.</a:t>
            </a:r>
            <a:r>
              <a:rPr lang="zh-CN" altLang="en-US" b="1" u="sng" dirty="0">
                <a:solidFill>
                  <a:srgbClr val="C00000"/>
                </a:solidFill>
                <a:latin typeface="+mn-lt"/>
                <a:ea typeface="楷体" pitchFamily="49" charset="-122"/>
              </a:rPr>
              <a:t>扩展名</a:t>
            </a:r>
            <a:r>
              <a:rPr lang="en-US" altLang="zh-CN" b="1" u="sng" dirty="0">
                <a:solidFill>
                  <a:srgbClr val="C00000"/>
                </a:solidFill>
                <a:latin typeface="+mn-lt"/>
                <a:ea typeface="楷体" pitchFamily="49" charset="-122"/>
              </a:rPr>
              <a:t>]</a:t>
            </a:r>
          </a:p>
          <a:p>
            <a:pPr lvl="1">
              <a:lnSpc>
                <a:spcPts val="3200"/>
              </a:lnSpc>
            </a:pPr>
            <a:r>
              <a:rPr lang="zh-CN" altLang="en-US" b="1" dirty="0">
                <a:latin typeface="+mn-lt"/>
                <a:ea typeface="楷体" pitchFamily="49" charset="-122"/>
              </a:rPr>
              <a:t>文件命名规则：遵循操作系统的约定。例如，一个</a:t>
            </a:r>
            <a:r>
              <a:rPr lang="en-US" altLang="zh-CN" b="1" dirty="0">
                <a:latin typeface="+mn-lt"/>
                <a:ea typeface="楷体" pitchFamily="49" charset="-122"/>
              </a:rPr>
              <a:t>C</a:t>
            </a:r>
            <a:r>
              <a:rPr lang="zh-CN" altLang="en-US" b="1" dirty="0">
                <a:latin typeface="+mn-lt"/>
                <a:ea typeface="楷体" pitchFamily="49" charset="-122"/>
              </a:rPr>
              <a:t>语言源程序名为：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prg.c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pPr lvl="1">
              <a:lnSpc>
                <a:spcPts val="3200"/>
              </a:lnSpc>
            </a:pPr>
            <a:r>
              <a:rPr lang="en-US" altLang="zh-CN" b="1" dirty="0">
                <a:latin typeface="+mn-lt"/>
                <a:ea typeface="楷体" pitchFamily="49" charset="-122"/>
              </a:rPr>
              <a:t> </a:t>
            </a:r>
          </a:p>
          <a:p>
            <a:pPr marL="342900" indent="-342900">
              <a:lnSpc>
                <a:spcPts val="32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使用数据文件的目的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</a:p>
          <a:p>
            <a:pPr marL="800100" lvl="1" indent="-342900">
              <a:lnSpc>
                <a:spcPts val="3200"/>
              </a:lnSpc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ea typeface="楷体" pitchFamily="49" charset="-122"/>
              </a:rPr>
              <a:t>数据文件的改动不引起程序的改动</a:t>
            </a:r>
            <a:r>
              <a:rPr lang="en-US" altLang="zh-CN" b="1" dirty="0">
                <a:ea typeface="楷体" pitchFamily="49" charset="-122"/>
              </a:rPr>
              <a:t>——</a:t>
            </a:r>
            <a:r>
              <a:rPr lang="zh-CN" altLang="en-US" b="1" dirty="0">
                <a:solidFill>
                  <a:srgbClr val="C00000"/>
                </a:solidFill>
                <a:ea typeface="楷体" pitchFamily="49" charset="-122"/>
              </a:rPr>
              <a:t>程序与数据分离</a:t>
            </a:r>
            <a:endParaRPr lang="en-US" altLang="zh-CN" b="1" dirty="0">
              <a:solidFill>
                <a:srgbClr val="C00000"/>
              </a:solidFill>
              <a:ea typeface="楷体" pitchFamily="49" charset="-122"/>
            </a:endParaRPr>
          </a:p>
          <a:p>
            <a:pPr marL="800100" lvl="1" indent="-342900">
              <a:lnSpc>
                <a:spcPts val="3200"/>
              </a:lnSpc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ea typeface="楷体" pitchFamily="49" charset="-122"/>
              </a:rPr>
              <a:t>不同程序可以访问同一数据文件中的数据</a:t>
            </a:r>
            <a:r>
              <a:rPr lang="en-US" altLang="zh-CN" b="1" dirty="0">
                <a:ea typeface="楷体" pitchFamily="49" charset="-122"/>
              </a:rPr>
              <a:t>——</a:t>
            </a:r>
            <a:r>
              <a:rPr lang="zh-CN" altLang="en-US" b="1" dirty="0">
                <a:solidFill>
                  <a:srgbClr val="C00000"/>
                </a:solidFill>
                <a:ea typeface="楷体" pitchFamily="49" charset="-122"/>
              </a:rPr>
              <a:t>数据共享</a:t>
            </a:r>
            <a:endParaRPr lang="en-US" altLang="zh-CN" b="1" dirty="0">
              <a:solidFill>
                <a:srgbClr val="C00000"/>
              </a:solidFill>
              <a:ea typeface="楷体" pitchFamily="49" charset="-122"/>
            </a:endParaRPr>
          </a:p>
          <a:p>
            <a:pPr marL="800100" lvl="1" indent="-342900">
              <a:lnSpc>
                <a:spcPts val="3200"/>
              </a:lnSpc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ea typeface="楷体" pitchFamily="49" charset="-122"/>
              </a:rPr>
              <a:t>能</a:t>
            </a:r>
            <a:r>
              <a:rPr lang="zh-CN" altLang="en-US" b="1" dirty="0">
                <a:solidFill>
                  <a:srgbClr val="C00000"/>
                </a:solidFill>
                <a:ea typeface="楷体" pitchFamily="49" charset="-122"/>
              </a:rPr>
              <a:t>长期保存</a:t>
            </a:r>
            <a:r>
              <a:rPr lang="zh-CN" altLang="en-US" b="1" dirty="0">
                <a:ea typeface="楷体" pitchFamily="49" charset="-122"/>
              </a:rPr>
              <a:t>程序运行的中间数据或结果数据</a:t>
            </a:r>
            <a:endParaRPr lang="en-US" altLang="zh-CN" b="1" dirty="0">
              <a:latin typeface="+mn-lt"/>
              <a:ea typeface="楷体" pitchFamily="49" charset="-122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96CEAD4-89DA-48A9-8E19-17B84808E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12.1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文件的基本概念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7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7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475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475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475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475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475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475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475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475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475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475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475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475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475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475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475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475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5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475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475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523" name="Rectangle 59"/>
          <p:cNvSpPr>
            <a:spLocks noChangeArrowheads="1"/>
          </p:cNvSpPr>
          <p:nvPr/>
        </p:nvSpPr>
        <p:spPr bwMode="auto">
          <a:xfrm>
            <a:off x="1198835" y="836712"/>
            <a:ext cx="8137525" cy="594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按文件的逻辑结构：</a:t>
            </a:r>
          </a:p>
          <a:p>
            <a:pPr marL="742950" lvl="1" indent="-285750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+mn-lt"/>
                <a:ea typeface="楷体" pitchFamily="49" charset="-122"/>
              </a:rPr>
              <a:t>记录文件：由具有一定结构的记录组成（定长和不定长）</a:t>
            </a:r>
          </a:p>
          <a:p>
            <a:pPr marL="742950" lvl="1" indent="-285750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+mn-lt"/>
                <a:ea typeface="楷体" pitchFamily="49" charset="-122"/>
              </a:rPr>
              <a:t>流式文件：由一个个字符（字节）数据顺序组成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按存储介质：</a:t>
            </a:r>
          </a:p>
          <a:p>
            <a:pPr marL="742950" lvl="1" indent="-285750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+mn-lt"/>
                <a:ea typeface="楷体" pitchFamily="49" charset="-122"/>
              </a:rPr>
              <a:t>普通文件：存储介质文件（磁盘、磁带等）</a:t>
            </a:r>
          </a:p>
          <a:p>
            <a:pPr marL="742950" lvl="1" indent="-285750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+mn-lt"/>
                <a:ea typeface="楷体" pitchFamily="49" charset="-122"/>
              </a:rPr>
              <a:t>设备文件：非存储介质（键盘、显示器、打印机等）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按文件的内容</a:t>
            </a:r>
          </a:p>
          <a:p>
            <a:pPr marL="742950" lvl="1" indent="-285750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+mn-lt"/>
                <a:ea typeface="楷体" pitchFamily="49" charset="-122"/>
              </a:rPr>
              <a:t>程序文件。程序文件又可分为源文件、目标文件和可执行文件。</a:t>
            </a:r>
          </a:p>
          <a:p>
            <a:pPr marL="742950" lvl="1" indent="-285750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+mn-lt"/>
                <a:ea typeface="楷体" pitchFamily="49" charset="-122"/>
              </a:rPr>
              <a:t>数据文件。如各种图像文件、声音文件等。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根据文件的组织形式</a:t>
            </a:r>
          </a:p>
          <a:p>
            <a:pPr marL="742950" lvl="1" indent="-285750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+mn-lt"/>
                <a:ea typeface="楷体" pitchFamily="49" charset="-122"/>
              </a:rPr>
              <a:t>顺序存取文件；</a:t>
            </a:r>
          </a:p>
          <a:p>
            <a:pPr marL="742950" lvl="1" indent="-285750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l"/>
            </a:pPr>
            <a:r>
              <a:rPr lang="zh-CN" altLang="en-US" sz="2000" b="1" dirty="0">
                <a:latin typeface="+mn-lt"/>
                <a:ea typeface="楷体" pitchFamily="49" charset="-122"/>
              </a:rPr>
              <a:t>随机存取文件。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按数据的组织形式：</a:t>
            </a:r>
          </a:p>
          <a:p>
            <a:pPr marL="742950" lvl="1" indent="-285750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l"/>
            </a:pPr>
            <a:r>
              <a:rPr lang="zh-CN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文本文件： </a:t>
            </a:r>
            <a:r>
              <a:rPr lang="en-US" altLang="zh-CN" sz="2000" b="1" dirty="0">
                <a:latin typeface="+mn-lt"/>
                <a:ea typeface="楷体" pitchFamily="49" charset="-122"/>
              </a:rPr>
              <a:t>ASCII</a:t>
            </a:r>
            <a:r>
              <a:rPr lang="zh-CN" altLang="zh-CN" sz="2000" b="1" dirty="0">
                <a:latin typeface="+mn-lt"/>
                <a:ea typeface="楷体" pitchFamily="49" charset="-122"/>
              </a:rPr>
              <a:t>文件，每个字节存放一个字符的</a:t>
            </a:r>
            <a:r>
              <a:rPr lang="en-US" altLang="zh-CN" sz="2000" b="1" dirty="0">
                <a:latin typeface="+mn-lt"/>
                <a:ea typeface="楷体" pitchFamily="49" charset="-122"/>
              </a:rPr>
              <a:t>ASCII</a:t>
            </a:r>
            <a:r>
              <a:rPr lang="zh-CN" altLang="zh-CN" sz="2000" b="1" dirty="0">
                <a:latin typeface="+mn-lt"/>
                <a:ea typeface="楷体" pitchFamily="49" charset="-122"/>
              </a:rPr>
              <a:t>码</a:t>
            </a:r>
          </a:p>
          <a:p>
            <a:pPr marL="742950" lvl="1" indent="-285750">
              <a:spcBef>
                <a:spcPct val="20000"/>
              </a:spcBef>
              <a:buClr>
                <a:srgbClr val="C00000"/>
              </a:buClr>
              <a:buFont typeface="Wingdings" pitchFamily="2" charset="2"/>
              <a:buChar char="l"/>
            </a:pPr>
            <a:r>
              <a:rPr lang="zh-CN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二进制文件：</a:t>
            </a:r>
            <a:r>
              <a:rPr lang="zh-CN" altLang="zh-CN" sz="2000" b="1" dirty="0">
                <a:latin typeface="+mn-lt"/>
                <a:ea typeface="楷体" pitchFamily="49" charset="-122"/>
              </a:rPr>
              <a:t>数据按其在内存中的存储形式原样存放</a:t>
            </a:r>
            <a:endParaRPr lang="zh-CN" altLang="en-US" sz="2000" b="1" dirty="0">
              <a:latin typeface="+mn-lt"/>
              <a:ea typeface="楷体" pitchFamily="49" charset="-122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78007A5-B4B5-4EDB-B6E8-E13B3F8918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12.2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文件的类别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58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58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58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58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58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58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58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58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58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58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58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58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58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58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58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58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585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585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9585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585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585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9585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9585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9585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9585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9585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9585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9585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52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95852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95852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8523" grpId="0" build="p" bldLvl="4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8617" name="Group 41"/>
          <p:cNvGrpSpPr>
            <a:grpSpLocks/>
          </p:cNvGrpSpPr>
          <p:nvPr/>
        </p:nvGrpSpPr>
        <p:grpSpPr bwMode="auto">
          <a:xfrm>
            <a:off x="4509714" y="780107"/>
            <a:ext cx="5545138" cy="1928813"/>
            <a:chOff x="2026" y="284"/>
            <a:chExt cx="3493" cy="1215"/>
          </a:xfrm>
        </p:grpSpPr>
        <p:sp>
          <p:nvSpPr>
            <p:cNvPr id="1048596" name="AutoShape 20"/>
            <p:cNvSpPr>
              <a:spLocks noChangeArrowheads="1"/>
            </p:cNvSpPr>
            <p:nvPr/>
          </p:nvSpPr>
          <p:spPr bwMode="auto">
            <a:xfrm>
              <a:off x="2026" y="592"/>
              <a:ext cx="3493" cy="907"/>
            </a:xfrm>
            <a:prstGeom prst="foldedCorner">
              <a:avLst>
                <a:gd name="adj" fmla="val 12500"/>
              </a:avLst>
            </a:prstGeom>
            <a:gradFill rotWithShape="1">
              <a:gsLst>
                <a:gs pos="0">
                  <a:srgbClr val="BEDFC4"/>
                </a:gs>
                <a:gs pos="100000">
                  <a:schemeClr val="bg1"/>
                </a:gs>
              </a:gsLst>
              <a:lin ang="5400000" scaled="1"/>
            </a:gradFill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 wrap="none"/>
            <a:lstStyle/>
            <a:p>
              <a:r>
                <a:rPr lang="en-US" altLang="zh-CN" sz="2000" b="1" dirty="0"/>
                <a:t>00110011 00110010 00110111 00110110 00110111</a:t>
              </a:r>
            </a:p>
          </p:txBody>
        </p:sp>
        <p:sp>
          <p:nvSpPr>
            <p:cNvPr id="1048615" name="Text Box 39"/>
            <p:cNvSpPr txBox="1">
              <a:spLocks noChangeArrowheads="1"/>
            </p:cNvSpPr>
            <p:nvPr/>
          </p:nvSpPr>
          <p:spPr bwMode="auto">
            <a:xfrm>
              <a:off x="3252" y="284"/>
              <a:ext cx="104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u="sng" dirty="0">
                  <a:solidFill>
                    <a:srgbClr val="C00000"/>
                  </a:solidFill>
                  <a:ea typeface="隶书" pitchFamily="49" charset="-122"/>
                </a:rPr>
                <a:t>文本文件</a:t>
              </a:r>
            </a:p>
          </p:txBody>
        </p:sp>
      </p:grpSp>
      <p:graphicFrame>
        <p:nvGraphicFramePr>
          <p:cNvPr id="1048628" name="Group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577772"/>
              </p:ext>
            </p:extLst>
          </p:nvPr>
        </p:nvGraphicFramePr>
        <p:xfrm>
          <a:off x="1516904" y="2865438"/>
          <a:ext cx="1684337" cy="91440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684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6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1111 1111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Times New Roman" pitchFamily="18" charset="0"/>
                          <a:ea typeface="宋体" pitchFamily="2" charset="-122"/>
                        </a:rPr>
                        <a:t>111 1111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597" name="Text Box 21"/>
          <p:cNvSpPr txBox="1">
            <a:spLocks noChangeArrowheads="1"/>
          </p:cNvSpPr>
          <p:nvPr/>
        </p:nvSpPr>
        <p:spPr bwMode="auto">
          <a:xfrm>
            <a:off x="915821" y="2380818"/>
            <a:ext cx="251588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7030A0"/>
                </a:solidFill>
                <a:ea typeface="楷体_GB2312" pitchFamily="49" charset="-122"/>
              </a:rPr>
              <a:t>short int </a:t>
            </a:r>
            <a:r>
              <a:rPr lang="zh-CN" altLang="en-US" sz="2000" b="1" dirty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</a:t>
            </a:r>
            <a:r>
              <a:rPr lang="en-US" altLang="zh-CN" sz="2000" b="1" dirty="0">
                <a:solidFill>
                  <a:srgbClr val="7030A0"/>
                </a:solidFill>
                <a:ea typeface="楷体_GB2312" pitchFamily="49" charset="-122"/>
              </a:rPr>
              <a:t>32767</a:t>
            </a:r>
          </a:p>
        </p:txBody>
      </p:sp>
      <p:grpSp>
        <p:nvGrpSpPr>
          <p:cNvPr id="1048602" name="Group 26"/>
          <p:cNvGrpSpPr>
            <a:grpSpLocks/>
          </p:cNvGrpSpPr>
          <p:nvPr/>
        </p:nvGrpSpPr>
        <p:grpSpPr bwMode="auto">
          <a:xfrm>
            <a:off x="4639890" y="1629419"/>
            <a:ext cx="936625" cy="569912"/>
            <a:chOff x="2000" y="1017"/>
            <a:chExt cx="590" cy="359"/>
          </a:xfrm>
        </p:grpSpPr>
        <p:sp>
          <p:nvSpPr>
            <p:cNvPr id="1048600" name="AutoShape 24"/>
            <p:cNvSpPr>
              <a:spLocks/>
            </p:cNvSpPr>
            <p:nvPr/>
          </p:nvSpPr>
          <p:spPr bwMode="auto">
            <a:xfrm rot="-5400000">
              <a:off x="2227" y="790"/>
              <a:ext cx="136" cy="590"/>
            </a:xfrm>
            <a:prstGeom prst="leftBrace">
              <a:avLst>
                <a:gd name="adj1" fmla="val 36152"/>
                <a:gd name="adj2" fmla="val 50000"/>
              </a:avLst>
            </a:prstGeom>
            <a:noFill/>
            <a:ln w="25400">
              <a:solidFill>
                <a:srgbClr val="00206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srgbClr val="7030A0"/>
                </a:solidFill>
              </a:endParaRPr>
            </a:p>
          </p:txBody>
        </p:sp>
        <p:sp>
          <p:nvSpPr>
            <p:cNvPr id="1048601" name="Text Box 25"/>
            <p:cNvSpPr txBox="1">
              <a:spLocks noChangeArrowheads="1"/>
            </p:cNvSpPr>
            <p:nvPr/>
          </p:nvSpPr>
          <p:spPr bwMode="auto">
            <a:xfrm>
              <a:off x="2154" y="1126"/>
              <a:ext cx="31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>
                  <a:solidFill>
                    <a:srgbClr val="7030A0"/>
                  </a:solidFill>
                </a:rPr>
                <a:t>'3'</a:t>
              </a:r>
              <a:r>
                <a:rPr lang="en-US" altLang="zh-CN" sz="2000">
                  <a:solidFill>
                    <a:srgbClr val="7030A0"/>
                  </a:solidFill>
                </a:rPr>
                <a:t> </a:t>
              </a:r>
            </a:p>
          </p:txBody>
        </p:sp>
      </p:grpSp>
      <p:grpSp>
        <p:nvGrpSpPr>
          <p:cNvPr id="1048603" name="Group 27"/>
          <p:cNvGrpSpPr>
            <a:grpSpLocks/>
          </p:cNvGrpSpPr>
          <p:nvPr/>
        </p:nvGrpSpPr>
        <p:grpSpPr bwMode="auto">
          <a:xfrm>
            <a:off x="5713040" y="1616719"/>
            <a:ext cx="936625" cy="569912"/>
            <a:chOff x="2000" y="1017"/>
            <a:chExt cx="590" cy="359"/>
          </a:xfrm>
        </p:grpSpPr>
        <p:sp>
          <p:nvSpPr>
            <p:cNvPr id="1048604" name="AutoShape 28"/>
            <p:cNvSpPr>
              <a:spLocks/>
            </p:cNvSpPr>
            <p:nvPr/>
          </p:nvSpPr>
          <p:spPr bwMode="auto">
            <a:xfrm rot="-5400000">
              <a:off x="2227" y="790"/>
              <a:ext cx="136" cy="590"/>
            </a:xfrm>
            <a:prstGeom prst="leftBrace">
              <a:avLst>
                <a:gd name="adj1" fmla="val 36152"/>
                <a:gd name="adj2" fmla="val 50000"/>
              </a:avLst>
            </a:prstGeom>
            <a:noFill/>
            <a:ln w="25400">
              <a:solidFill>
                <a:srgbClr val="00206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dirty="0">
                <a:solidFill>
                  <a:srgbClr val="7030A0"/>
                </a:solidFill>
              </a:endParaRPr>
            </a:p>
          </p:txBody>
        </p:sp>
        <p:sp>
          <p:nvSpPr>
            <p:cNvPr id="1048605" name="Text Box 29"/>
            <p:cNvSpPr txBox="1">
              <a:spLocks noChangeArrowheads="1"/>
            </p:cNvSpPr>
            <p:nvPr/>
          </p:nvSpPr>
          <p:spPr bwMode="auto">
            <a:xfrm>
              <a:off x="2154" y="1126"/>
              <a:ext cx="31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>
                  <a:solidFill>
                    <a:srgbClr val="7030A0"/>
                  </a:solidFill>
                </a:rPr>
                <a:t>'2'</a:t>
              </a:r>
              <a:r>
                <a:rPr lang="en-US" altLang="zh-CN" sz="2000">
                  <a:solidFill>
                    <a:srgbClr val="7030A0"/>
                  </a:solidFill>
                </a:rPr>
                <a:t> </a:t>
              </a:r>
            </a:p>
          </p:txBody>
        </p:sp>
      </p:grpSp>
      <p:grpSp>
        <p:nvGrpSpPr>
          <p:cNvPr id="1048606" name="Group 30"/>
          <p:cNvGrpSpPr>
            <a:grpSpLocks/>
          </p:cNvGrpSpPr>
          <p:nvPr/>
        </p:nvGrpSpPr>
        <p:grpSpPr bwMode="auto">
          <a:xfrm>
            <a:off x="6800478" y="1632594"/>
            <a:ext cx="936625" cy="569912"/>
            <a:chOff x="2000" y="1017"/>
            <a:chExt cx="590" cy="359"/>
          </a:xfrm>
        </p:grpSpPr>
        <p:sp>
          <p:nvSpPr>
            <p:cNvPr id="1048607" name="AutoShape 31"/>
            <p:cNvSpPr>
              <a:spLocks/>
            </p:cNvSpPr>
            <p:nvPr/>
          </p:nvSpPr>
          <p:spPr bwMode="auto">
            <a:xfrm rot="-5400000">
              <a:off x="2227" y="790"/>
              <a:ext cx="136" cy="590"/>
            </a:xfrm>
            <a:prstGeom prst="leftBrace">
              <a:avLst>
                <a:gd name="adj1" fmla="val 36152"/>
                <a:gd name="adj2" fmla="val 50000"/>
              </a:avLst>
            </a:prstGeom>
            <a:noFill/>
            <a:ln w="25400">
              <a:solidFill>
                <a:srgbClr val="00206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srgbClr val="7030A0"/>
                </a:solidFill>
              </a:endParaRPr>
            </a:p>
          </p:txBody>
        </p:sp>
        <p:sp>
          <p:nvSpPr>
            <p:cNvPr id="1048608" name="Text Box 32"/>
            <p:cNvSpPr txBox="1">
              <a:spLocks noChangeArrowheads="1"/>
            </p:cNvSpPr>
            <p:nvPr/>
          </p:nvSpPr>
          <p:spPr bwMode="auto">
            <a:xfrm>
              <a:off x="2154" y="1126"/>
              <a:ext cx="31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>
                  <a:solidFill>
                    <a:srgbClr val="7030A0"/>
                  </a:solidFill>
                </a:rPr>
                <a:t>'7'</a:t>
              </a:r>
              <a:r>
                <a:rPr lang="en-US" altLang="zh-CN" sz="2000">
                  <a:solidFill>
                    <a:srgbClr val="7030A0"/>
                  </a:solidFill>
                </a:rPr>
                <a:t> </a:t>
              </a:r>
            </a:p>
          </p:txBody>
        </p:sp>
      </p:grpSp>
      <p:grpSp>
        <p:nvGrpSpPr>
          <p:cNvPr id="1048609" name="Group 33"/>
          <p:cNvGrpSpPr>
            <a:grpSpLocks/>
          </p:cNvGrpSpPr>
          <p:nvPr/>
        </p:nvGrpSpPr>
        <p:grpSpPr bwMode="auto">
          <a:xfrm>
            <a:off x="7801436" y="1619894"/>
            <a:ext cx="936625" cy="569912"/>
            <a:chOff x="2000" y="1017"/>
            <a:chExt cx="590" cy="359"/>
          </a:xfrm>
        </p:grpSpPr>
        <p:sp>
          <p:nvSpPr>
            <p:cNvPr id="1048610" name="AutoShape 34"/>
            <p:cNvSpPr>
              <a:spLocks/>
            </p:cNvSpPr>
            <p:nvPr/>
          </p:nvSpPr>
          <p:spPr bwMode="auto">
            <a:xfrm rot="-5400000">
              <a:off x="2227" y="790"/>
              <a:ext cx="136" cy="590"/>
            </a:xfrm>
            <a:prstGeom prst="leftBrace">
              <a:avLst>
                <a:gd name="adj1" fmla="val 36152"/>
                <a:gd name="adj2" fmla="val 50000"/>
              </a:avLst>
            </a:prstGeom>
            <a:noFill/>
            <a:ln w="25400">
              <a:solidFill>
                <a:srgbClr val="00206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dirty="0">
                <a:solidFill>
                  <a:srgbClr val="7030A0"/>
                </a:solidFill>
              </a:endParaRPr>
            </a:p>
          </p:txBody>
        </p:sp>
        <p:sp>
          <p:nvSpPr>
            <p:cNvPr id="1048611" name="Text Box 35"/>
            <p:cNvSpPr txBox="1">
              <a:spLocks noChangeArrowheads="1"/>
            </p:cNvSpPr>
            <p:nvPr/>
          </p:nvSpPr>
          <p:spPr bwMode="auto">
            <a:xfrm>
              <a:off x="2154" y="1126"/>
              <a:ext cx="31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>
                  <a:solidFill>
                    <a:srgbClr val="7030A0"/>
                  </a:solidFill>
                </a:rPr>
                <a:t>'6'</a:t>
              </a:r>
              <a:r>
                <a:rPr lang="en-US" altLang="zh-CN" sz="2000">
                  <a:solidFill>
                    <a:srgbClr val="7030A0"/>
                  </a:solidFill>
                </a:rPr>
                <a:t> </a:t>
              </a:r>
            </a:p>
          </p:txBody>
        </p:sp>
      </p:grpSp>
      <p:grpSp>
        <p:nvGrpSpPr>
          <p:cNvPr id="1048612" name="Group 36"/>
          <p:cNvGrpSpPr>
            <a:grpSpLocks/>
          </p:cNvGrpSpPr>
          <p:nvPr/>
        </p:nvGrpSpPr>
        <p:grpSpPr bwMode="auto">
          <a:xfrm>
            <a:off x="8852777" y="1629419"/>
            <a:ext cx="936625" cy="569912"/>
            <a:chOff x="2000" y="1017"/>
            <a:chExt cx="590" cy="359"/>
          </a:xfrm>
        </p:grpSpPr>
        <p:sp>
          <p:nvSpPr>
            <p:cNvPr id="1048613" name="AutoShape 37"/>
            <p:cNvSpPr>
              <a:spLocks/>
            </p:cNvSpPr>
            <p:nvPr/>
          </p:nvSpPr>
          <p:spPr bwMode="auto">
            <a:xfrm rot="-5400000">
              <a:off x="2227" y="790"/>
              <a:ext cx="136" cy="590"/>
            </a:xfrm>
            <a:prstGeom prst="leftBrace">
              <a:avLst>
                <a:gd name="adj1" fmla="val 36152"/>
                <a:gd name="adj2" fmla="val 50000"/>
              </a:avLst>
            </a:prstGeom>
            <a:noFill/>
            <a:ln w="25400">
              <a:solidFill>
                <a:srgbClr val="00206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srgbClr val="7030A0"/>
                </a:solidFill>
              </a:endParaRPr>
            </a:p>
          </p:txBody>
        </p:sp>
        <p:sp>
          <p:nvSpPr>
            <p:cNvPr id="1048614" name="Text Box 38"/>
            <p:cNvSpPr txBox="1">
              <a:spLocks noChangeArrowheads="1"/>
            </p:cNvSpPr>
            <p:nvPr/>
          </p:nvSpPr>
          <p:spPr bwMode="auto">
            <a:xfrm>
              <a:off x="2154" y="1126"/>
              <a:ext cx="31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>
                  <a:solidFill>
                    <a:srgbClr val="7030A0"/>
                  </a:solidFill>
                </a:rPr>
                <a:t>'7'</a:t>
              </a:r>
              <a:r>
                <a:rPr lang="en-US" altLang="zh-CN" sz="2000">
                  <a:solidFill>
                    <a:srgbClr val="7030A0"/>
                  </a:solidFill>
                </a:rPr>
                <a:t> </a:t>
              </a:r>
            </a:p>
          </p:txBody>
        </p:sp>
      </p:grpSp>
      <p:sp>
        <p:nvSpPr>
          <p:cNvPr id="1048616" name="Rectangle 40"/>
          <p:cNvSpPr>
            <a:spLocks noChangeArrowheads="1"/>
          </p:cNvSpPr>
          <p:nvPr/>
        </p:nvSpPr>
        <p:spPr bwMode="auto">
          <a:xfrm>
            <a:off x="5144715" y="2248545"/>
            <a:ext cx="40814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000" b="1" dirty="0">
                <a:solidFill>
                  <a:srgbClr val="7030A0"/>
                </a:solidFill>
                <a:latin typeface="+mn-lt"/>
                <a:ea typeface="隶书" pitchFamily="49" charset="-122"/>
              </a:rPr>
              <a:t>32767</a:t>
            </a:r>
            <a:r>
              <a:rPr lang="zh-CN" altLang="en-US" sz="2000" b="1" dirty="0">
                <a:solidFill>
                  <a:srgbClr val="7030A0"/>
                </a:solidFill>
                <a:latin typeface="+mn-lt"/>
                <a:ea typeface="隶书" pitchFamily="49" charset="-122"/>
              </a:rPr>
              <a:t>的各字符的</a:t>
            </a:r>
            <a:r>
              <a:rPr lang="en-US" altLang="zh-CN" sz="2000" b="1" dirty="0">
                <a:solidFill>
                  <a:srgbClr val="7030A0"/>
                </a:solidFill>
                <a:latin typeface="+mn-lt"/>
                <a:ea typeface="隶书" pitchFamily="49" charset="-122"/>
              </a:rPr>
              <a:t>ASCII</a:t>
            </a:r>
            <a:r>
              <a:rPr lang="zh-CN" altLang="en-US" sz="2000" b="1" dirty="0">
                <a:solidFill>
                  <a:srgbClr val="7030A0"/>
                </a:solidFill>
                <a:latin typeface="+mn-lt"/>
                <a:ea typeface="隶书" pitchFamily="49" charset="-122"/>
              </a:rPr>
              <a:t>码存放形式</a:t>
            </a:r>
          </a:p>
        </p:txBody>
      </p:sp>
      <p:grpSp>
        <p:nvGrpSpPr>
          <p:cNvPr id="1048625" name="Group 49"/>
          <p:cNvGrpSpPr>
            <a:grpSpLocks/>
          </p:cNvGrpSpPr>
          <p:nvPr/>
        </p:nvGrpSpPr>
        <p:grpSpPr bwMode="auto">
          <a:xfrm>
            <a:off x="4511303" y="3513138"/>
            <a:ext cx="5545137" cy="1928812"/>
            <a:chOff x="1973" y="2024"/>
            <a:chExt cx="3493" cy="1215"/>
          </a:xfrm>
        </p:grpSpPr>
        <p:sp>
          <p:nvSpPr>
            <p:cNvPr id="1048619" name="AutoShape 43"/>
            <p:cNvSpPr>
              <a:spLocks noChangeArrowheads="1"/>
            </p:cNvSpPr>
            <p:nvPr/>
          </p:nvSpPr>
          <p:spPr bwMode="auto">
            <a:xfrm>
              <a:off x="1973" y="2332"/>
              <a:ext cx="3493" cy="907"/>
            </a:xfrm>
            <a:prstGeom prst="foldedCorner">
              <a:avLst>
                <a:gd name="adj" fmla="val 12500"/>
              </a:avLst>
            </a:prstGeom>
            <a:gradFill rotWithShape="1">
              <a:gsLst>
                <a:gs pos="0">
                  <a:srgbClr val="BAA1B9"/>
                </a:gs>
                <a:gs pos="100000">
                  <a:schemeClr val="bg1"/>
                </a:gs>
              </a:gsLst>
              <a:lin ang="5400000" scaled="1"/>
            </a:gradFill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 wrap="none"/>
            <a:lstStyle/>
            <a:p>
              <a:r>
                <a:rPr lang="en-US" altLang="zh-CN" sz="2000" b="1" dirty="0"/>
                <a:t>0111111111111111</a:t>
              </a:r>
            </a:p>
          </p:txBody>
        </p:sp>
        <p:sp>
          <p:nvSpPr>
            <p:cNvPr id="1048620" name="Text Box 44"/>
            <p:cNvSpPr txBox="1">
              <a:spLocks noChangeArrowheads="1"/>
            </p:cNvSpPr>
            <p:nvPr/>
          </p:nvSpPr>
          <p:spPr bwMode="auto">
            <a:xfrm>
              <a:off x="3199" y="2024"/>
              <a:ext cx="140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 u="sng">
                  <a:solidFill>
                    <a:srgbClr val="C00000"/>
                  </a:solidFill>
                  <a:ea typeface="隶书" pitchFamily="49" charset="-122"/>
                </a:rPr>
                <a:t>二进制文件</a:t>
              </a:r>
            </a:p>
          </p:txBody>
        </p:sp>
      </p:grpSp>
      <p:grpSp>
        <p:nvGrpSpPr>
          <p:cNvPr id="1048624" name="Group 48"/>
          <p:cNvGrpSpPr>
            <a:grpSpLocks/>
          </p:cNvGrpSpPr>
          <p:nvPr/>
        </p:nvGrpSpPr>
        <p:grpSpPr bwMode="auto">
          <a:xfrm>
            <a:off x="4641478" y="4365630"/>
            <a:ext cx="3097213" cy="611188"/>
            <a:chOff x="2055" y="2561"/>
            <a:chExt cx="1951" cy="385"/>
          </a:xfrm>
        </p:grpSpPr>
        <p:sp>
          <p:nvSpPr>
            <p:cNvPr id="1048622" name="AutoShape 46"/>
            <p:cNvSpPr>
              <a:spLocks/>
            </p:cNvSpPr>
            <p:nvPr/>
          </p:nvSpPr>
          <p:spPr bwMode="auto">
            <a:xfrm rot="16200000">
              <a:off x="2536" y="2080"/>
              <a:ext cx="136" cy="1097"/>
            </a:xfrm>
            <a:prstGeom prst="leftBrace">
              <a:avLst>
                <a:gd name="adj1" fmla="val 79688"/>
                <a:gd name="adj2" fmla="val 50000"/>
              </a:avLst>
            </a:prstGeom>
            <a:noFill/>
            <a:ln w="25400">
              <a:solidFill>
                <a:srgbClr val="00206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srgbClr val="7030A0"/>
                </a:solidFill>
              </a:endParaRPr>
            </a:p>
          </p:txBody>
        </p:sp>
        <p:sp>
          <p:nvSpPr>
            <p:cNvPr id="1048623" name="Text Box 47"/>
            <p:cNvSpPr txBox="1">
              <a:spLocks noChangeArrowheads="1"/>
            </p:cNvSpPr>
            <p:nvPr/>
          </p:nvSpPr>
          <p:spPr bwMode="auto">
            <a:xfrm>
              <a:off x="2119" y="2696"/>
              <a:ext cx="188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7030A0"/>
                  </a:solidFill>
                  <a:latin typeface="+mn-lt"/>
                  <a:ea typeface="隶书" pitchFamily="49" charset="-122"/>
                </a:rPr>
                <a:t>32767</a:t>
              </a:r>
              <a:r>
                <a:rPr lang="zh-CN" altLang="en-US" sz="2000" b="1" dirty="0">
                  <a:solidFill>
                    <a:srgbClr val="7030A0"/>
                  </a:solidFill>
                  <a:latin typeface="+mn-lt"/>
                  <a:ea typeface="隶书" pitchFamily="49" charset="-122"/>
                </a:rPr>
                <a:t>的二进制存放形式</a:t>
              </a:r>
            </a:p>
          </p:txBody>
        </p:sp>
      </p:grpSp>
      <p:sp>
        <p:nvSpPr>
          <p:cNvPr id="1048626" name="AutoShape 50"/>
          <p:cNvSpPr>
            <a:spLocks noChangeArrowheads="1"/>
          </p:cNvSpPr>
          <p:nvPr/>
        </p:nvSpPr>
        <p:spPr bwMode="auto">
          <a:xfrm rot="19342042">
            <a:off x="3146950" y="2646755"/>
            <a:ext cx="1386093" cy="312941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1">
            <a:gsLst>
              <a:gs pos="0">
                <a:srgbClr val="BEDFC4"/>
              </a:gs>
              <a:gs pos="100000">
                <a:srgbClr val="DDFAED"/>
              </a:gs>
            </a:gsLst>
            <a:lin ang="1080000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8627" name="AutoShape 51"/>
          <p:cNvSpPr>
            <a:spLocks noChangeArrowheads="1"/>
          </p:cNvSpPr>
          <p:nvPr/>
        </p:nvSpPr>
        <p:spPr bwMode="auto">
          <a:xfrm rot="-19578435">
            <a:off x="3196875" y="3580476"/>
            <a:ext cx="1306277" cy="327901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1">
            <a:gsLst>
              <a:gs pos="0">
                <a:srgbClr val="BAA1B9"/>
              </a:gs>
              <a:gs pos="100000">
                <a:srgbClr val="BD6368"/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8630" name="AutoShape 54"/>
          <p:cNvSpPr>
            <a:spLocks noChangeArrowheads="1"/>
          </p:cNvSpPr>
          <p:nvPr/>
        </p:nvSpPr>
        <p:spPr bwMode="auto">
          <a:xfrm>
            <a:off x="1329580" y="4365625"/>
            <a:ext cx="1871662" cy="503238"/>
          </a:xfrm>
          <a:prstGeom prst="wedgeRoundRectCallout">
            <a:avLst>
              <a:gd name="adj1" fmla="val 1907"/>
              <a:gd name="adj2" fmla="val -192273"/>
              <a:gd name="adj3" fmla="val 16667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zh-CN" altLang="en-US" sz="2000" b="1">
                <a:solidFill>
                  <a:schemeClr val="accent1">
                    <a:lumMod val="50000"/>
                  </a:schemeClr>
                </a:solidFill>
                <a:latin typeface="+mn-lt"/>
                <a:ea typeface="楷体" pitchFamily="49" charset="-122"/>
              </a:rPr>
              <a:t>内存存放形式</a:t>
            </a:r>
          </a:p>
        </p:txBody>
      </p:sp>
      <p:sp>
        <p:nvSpPr>
          <p:cNvPr id="1048632" name="AutoShape 56"/>
          <p:cNvSpPr>
            <a:spLocks noChangeArrowheads="1"/>
          </p:cNvSpPr>
          <p:nvPr/>
        </p:nvSpPr>
        <p:spPr bwMode="auto">
          <a:xfrm>
            <a:off x="9466232" y="3039891"/>
            <a:ext cx="2318400" cy="965173"/>
          </a:xfrm>
          <a:prstGeom prst="wedgeRectCallout">
            <a:avLst>
              <a:gd name="adj1" fmla="val -60136"/>
              <a:gd name="adj2" fmla="val -127739"/>
            </a:avLst>
          </a:prstGeom>
          <a:gradFill rotWithShape="1">
            <a:gsLst>
              <a:gs pos="0">
                <a:srgbClr val="BEDFC4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r>
              <a:rPr lang="zh-CN" altLang="en-US" sz="2000" b="1" u="sng" dirty="0">
                <a:solidFill>
                  <a:srgbClr val="C00000"/>
                </a:solidFill>
                <a:latin typeface="+mn-lt"/>
                <a:ea typeface="楷体" pitchFamily="49" charset="-122"/>
              </a:rPr>
              <a:t>文本文件特点</a:t>
            </a:r>
            <a:r>
              <a:rPr lang="en-US" altLang="zh-CN" sz="2000" b="1" u="sng" dirty="0">
                <a:solidFill>
                  <a:srgbClr val="C00000"/>
                </a:solidFill>
                <a:latin typeface="+mn-lt"/>
                <a:ea typeface="楷体" pitchFamily="49" charset="-122"/>
              </a:rPr>
              <a:t>:</a:t>
            </a:r>
          </a:p>
          <a:p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存储量大、速度慢、便于对字符操作</a:t>
            </a:r>
          </a:p>
        </p:txBody>
      </p:sp>
      <p:sp>
        <p:nvSpPr>
          <p:cNvPr id="1048633" name="AutoShape 57"/>
          <p:cNvSpPr>
            <a:spLocks noChangeArrowheads="1"/>
          </p:cNvSpPr>
          <p:nvPr/>
        </p:nvSpPr>
        <p:spPr bwMode="auto">
          <a:xfrm>
            <a:off x="9048328" y="5672678"/>
            <a:ext cx="2318867" cy="1007317"/>
          </a:xfrm>
          <a:prstGeom prst="wedgeRectCallout">
            <a:avLst>
              <a:gd name="adj1" fmla="val -52204"/>
              <a:gd name="adj2" fmla="val -127153"/>
            </a:avLst>
          </a:prstGeom>
          <a:gradFill rotWithShape="1">
            <a:gsLst>
              <a:gs pos="0">
                <a:srgbClr val="BAA1B9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r>
              <a:rPr lang="zh-CN" altLang="en-US" sz="2000" b="1" u="sng" dirty="0">
                <a:solidFill>
                  <a:srgbClr val="C00000"/>
                </a:solidFill>
                <a:latin typeface="+mn-lt"/>
                <a:ea typeface="楷体" pitchFamily="49" charset="-122"/>
              </a:rPr>
              <a:t>二进制文件特点</a:t>
            </a:r>
            <a:r>
              <a:rPr lang="en-US" altLang="zh-CN" sz="2000" b="1" u="sng" dirty="0">
                <a:solidFill>
                  <a:srgbClr val="C00000"/>
                </a:solidFill>
                <a:latin typeface="+mn-lt"/>
                <a:ea typeface="楷体" pitchFamily="49" charset="-122"/>
              </a:rPr>
              <a:t>:</a:t>
            </a:r>
          </a:p>
          <a:p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存储量小、速度快、便于存放中间结果</a:t>
            </a:r>
          </a:p>
        </p:txBody>
      </p:sp>
      <p:sp>
        <p:nvSpPr>
          <p:cNvPr id="37" name="Rectangle 4">
            <a:extLst>
              <a:ext uri="{FF2B5EF4-FFF2-40B4-BE49-F238E27FC236}">
                <a16:creationId xmlns:a16="http://schemas.microsoft.com/office/drawing/2014/main" id="{9DF13DD4-2AF2-4E32-861A-40E0BE153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12.2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文件的类别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10486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10486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10486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" dur="500"/>
                                        <p:tgtEl>
                                          <p:spTgt spid="10486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500"/>
                                        <p:tgtEl>
                                          <p:spTgt spid="10486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10486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0486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10486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10486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10486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500"/>
                                        <p:tgtEl>
                                          <p:spTgt spid="10486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500"/>
                                        <p:tgtEl>
                                          <p:spTgt spid="10486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0" dur="500"/>
                                        <p:tgtEl>
                                          <p:spTgt spid="10486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16" grpId="0"/>
      <p:bldP spid="1048626" grpId="0" animBg="1"/>
      <p:bldP spid="1048627" grpId="0" animBg="1"/>
      <p:bldP spid="1048632" grpId="0" animBg="1"/>
      <p:bldP spid="104863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633" name="Rectangle 9"/>
          <p:cNvSpPr>
            <a:spLocks noChangeArrowheads="1"/>
          </p:cNvSpPr>
          <p:nvPr/>
        </p:nvSpPr>
        <p:spPr bwMode="auto">
          <a:xfrm>
            <a:off x="1127448" y="850900"/>
            <a:ext cx="28797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读文件与写文件 </a:t>
            </a:r>
          </a:p>
        </p:txBody>
      </p:sp>
      <p:sp>
        <p:nvSpPr>
          <p:cNvPr id="1050634" name="Rectangle 10"/>
          <p:cNvSpPr>
            <a:spLocks noChangeArrowheads="1"/>
          </p:cNvSpPr>
          <p:nvPr/>
        </p:nvSpPr>
        <p:spPr bwMode="auto">
          <a:xfrm>
            <a:off x="1513209" y="1445875"/>
            <a:ext cx="8382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Clr>
                <a:srgbClr val="C00000"/>
              </a:buClr>
              <a:buFont typeface="Wingdings" pitchFamily="2" charset="2"/>
              <a:buChar char="l"/>
            </a:pPr>
            <a:r>
              <a:rPr lang="en-US" altLang="zh-CN" b="1" dirty="0"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latin typeface="+mn-lt"/>
                <a:ea typeface="楷体" pitchFamily="49" charset="-122"/>
              </a:rPr>
              <a:t>读文件：将磁盘文件中的数据传送到计算机内存的操作。</a:t>
            </a:r>
          </a:p>
          <a:p>
            <a:pPr>
              <a:buClr>
                <a:srgbClr val="C00000"/>
              </a:buClr>
              <a:buFont typeface="Wingdings" pitchFamily="2" charset="2"/>
              <a:buChar char="l"/>
            </a:pPr>
            <a:r>
              <a:rPr lang="zh-CN" altLang="en-US" b="1" dirty="0">
                <a:latin typeface="+mn-lt"/>
                <a:ea typeface="楷体" pitchFamily="49" charset="-122"/>
              </a:rPr>
              <a:t> 写文件：从计算机内存向磁盘文件中传送数据的操作。 </a:t>
            </a:r>
          </a:p>
        </p:txBody>
      </p:sp>
      <p:sp>
        <p:nvSpPr>
          <p:cNvPr id="1050635" name="Rectangle 11"/>
          <p:cNvSpPr>
            <a:spLocks noChangeArrowheads="1"/>
          </p:cNvSpPr>
          <p:nvPr/>
        </p:nvSpPr>
        <p:spPr bwMode="auto">
          <a:xfrm>
            <a:off x="1154434" y="2431058"/>
            <a:ext cx="50244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构成文件的基本单元与流式文件 </a:t>
            </a:r>
          </a:p>
        </p:txBody>
      </p:sp>
      <p:sp>
        <p:nvSpPr>
          <p:cNvPr id="1050636" name="Rectangle 12"/>
          <p:cNvSpPr>
            <a:spLocks noChangeArrowheads="1"/>
          </p:cNvSpPr>
          <p:nvPr/>
        </p:nvSpPr>
        <p:spPr bwMode="auto">
          <a:xfrm>
            <a:off x="1470347" y="3046308"/>
            <a:ext cx="9665966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indent="266700"/>
            <a:r>
              <a:rPr lang="en-US" altLang="zh-CN" b="1" dirty="0">
                <a:latin typeface="+mn-lt"/>
                <a:ea typeface="楷体" pitchFamily="49" charset="-122"/>
              </a:rPr>
              <a:t>     </a:t>
            </a:r>
            <a:r>
              <a:rPr lang="zh-CN" altLang="en-US" b="1" dirty="0">
                <a:latin typeface="+mn-lt"/>
                <a:ea typeface="楷体" pitchFamily="49" charset="-122"/>
              </a:rPr>
              <a:t>Ｃ语言将文件看作是由一个一个的字符（</a:t>
            </a:r>
            <a:r>
              <a:rPr lang="en-US" altLang="zh-CN" b="1" dirty="0">
                <a:latin typeface="+mn-lt"/>
                <a:ea typeface="楷体" pitchFamily="49" charset="-122"/>
              </a:rPr>
              <a:t>ASCII</a:t>
            </a:r>
            <a:r>
              <a:rPr lang="zh-CN" altLang="en-US" b="1" dirty="0">
                <a:latin typeface="+mn-lt"/>
                <a:ea typeface="楷体" pitchFamily="49" charset="-122"/>
              </a:rPr>
              <a:t>码文件）或字节（二进制文件）组成的。文件中不存在其它更复杂的数据类型和结构，对文件数据的解释完全看程序本身。我们把按这种方式处理的文件称为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流式文件</a:t>
            </a:r>
            <a:r>
              <a:rPr lang="zh-CN" altLang="en-US" b="1" dirty="0">
                <a:latin typeface="+mn-lt"/>
                <a:ea typeface="楷体" pitchFamily="49" charset="-122"/>
              </a:rPr>
              <a:t>。而在其它高级语言中，组成文件的基本单位是记录，对文件操作的基本单位也是记录。</a:t>
            </a:r>
            <a:r>
              <a:rPr lang="en-US" altLang="zh-CN" b="1" dirty="0">
                <a:latin typeface="+mn-lt"/>
                <a:ea typeface="楷体" pitchFamily="49" charset="-122"/>
              </a:rPr>
              <a:t>C</a:t>
            </a:r>
            <a:r>
              <a:rPr lang="zh-CN" altLang="en-US" b="1" dirty="0">
                <a:latin typeface="+mn-lt"/>
                <a:ea typeface="楷体" pitchFamily="49" charset="-122"/>
              </a:rPr>
              <a:t>语言程序也可以按照操作系统的方式操作文件，本章只介绍流式文件的操作方法。</a:t>
            </a:r>
          </a:p>
          <a:p>
            <a:pPr indent="266700"/>
            <a:r>
              <a:rPr lang="zh-CN" altLang="en-US" b="1" dirty="0">
                <a:latin typeface="+mn-lt"/>
                <a:ea typeface="楷体" pitchFamily="49" charset="-122"/>
              </a:rPr>
              <a:t>     </a:t>
            </a:r>
            <a:r>
              <a:rPr lang="en-US" altLang="zh-CN" b="1" dirty="0">
                <a:solidFill>
                  <a:srgbClr val="CC0000"/>
                </a:solidFill>
                <a:latin typeface="+mn-lt"/>
                <a:ea typeface="楷体" pitchFamily="49" charset="-122"/>
              </a:rPr>
              <a:t>C</a:t>
            </a:r>
            <a:r>
              <a:rPr lang="zh-CN" altLang="en-US" b="1" dirty="0">
                <a:solidFill>
                  <a:srgbClr val="CC0000"/>
                </a:solidFill>
                <a:latin typeface="+mn-lt"/>
                <a:ea typeface="楷体" pitchFamily="49" charset="-122"/>
              </a:rPr>
              <a:t>语言本身没提供输入输出的功能，必须调用标准库函数进行文件读写。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CB21072D-C2EF-4421-8AC4-65721EB7F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12.3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文件操作概述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506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506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50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50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506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506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506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506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1050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6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2000"/>
                                        <p:tgtEl>
                                          <p:spTgt spid="10506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0633" grpId="0"/>
      <p:bldP spid="105063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69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197769" y="1011709"/>
            <a:ext cx="2593975" cy="473075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zh-CN" altLang="zh-CN" sz="2400" dirty="0">
                <a:solidFill>
                  <a:srgbClr val="C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文件处理方法</a:t>
            </a:r>
          </a:p>
        </p:txBody>
      </p:sp>
      <p:grpSp>
        <p:nvGrpSpPr>
          <p:cNvPr id="1053736" name="Group 40"/>
          <p:cNvGrpSpPr>
            <a:grpSpLocks/>
          </p:cNvGrpSpPr>
          <p:nvPr/>
        </p:nvGrpSpPr>
        <p:grpSpPr bwMode="auto">
          <a:xfrm>
            <a:off x="5813920" y="901824"/>
            <a:ext cx="5754688" cy="2743200"/>
            <a:chOff x="1701" y="1616"/>
            <a:chExt cx="3625" cy="1728"/>
          </a:xfrm>
        </p:grpSpPr>
        <p:grpSp>
          <p:nvGrpSpPr>
            <p:cNvPr id="1053700" name="Group 4"/>
            <p:cNvGrpSpPr>
              <a:grpSpLocks/>
            </p:cNvGrpSpPr>
            <p:nvPr/>
          </p:nvGrpSpPr>
          <p:grpSpPr bwMode="auto">
            <a:xfrm>
              <a:off x="1701" y="1616"/>
              <a:ext cx="3625" cy="1728"/>
              <a:chOff x="1728" y="1344"/>
              <a:chExt cx="3625" cy="1728"/>
            </a:xfrm>
          </p:grpSpPr>
          <p:sp>
            <p:nvSpPr>
              <p:cNvPr id="1053701" name="Rectangle 5"/>
              <p:cNvSpPr>
                <a:spLocks noChangeArrowheads="1"/>
              </p:cNvSpPr>
              <p:nvPr/>
            </p:nvSpPr>
            <p:spPr bwMode="auto">
              <a:xfrm>
                <a:off x="1728" y="1344"/>
                <a:ext cx="2400" cy="1728"/>
              </a:xfrm>
              <a:prstGeom prst="rect">
                <a:avLst/>
              </a:prstGeom>
              <a:gradFill rotWithShape="1">
                <a:gsLst>
                  <a:gs pos="0">
                    <a:srgbClr val="CFCFD1"/>
                  </a:gs>
                  <a:gs pos="100000">
                    <a:schemeClr val="bg1"/>
                  </a:gs>
                </a:gsLst>
                <a:lin ang="5400000" scaled="1"/>
              </a:gradFill>
              <a:ln w="28575">
                <a:solidFill>
                  <a:srgbClr val="C01920"/>
                </a:solidFill>
                <a:miter lim="800000"/>
                <a:headEnd/>
                <a:tailEnd/>
              </a:ln>
              <a:effectLst>
                <a:outerShdw blurRad="50800" dist="106680" dir="2700000" algn="tl" rotWithShape="0">
                  <a:prstClr val="black">
                    <a:alpha val="43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14300" prst="hardEdge"/>
              </a:sp3d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3702" name="Rectangle 6"/>
              <p:cNvSpPr>
                <a:spLocks noChangeArrowheads="1"/>
              </p:cNvSpPr>
              <p:nvPr/>
            </p:nvSpPr>
            <p:spPr bwMode="auto">
              <a:xfrm>
                <a:off x="1968" y="2160"/>
                <a:ext cx="672" cy="768"/>
              </a:xfrm>
              <a:prstGeom prst="rect">
                <a:avLst/>
              </a:prstGeom>
              <a:gradFill rotWithShape="1">
                <a:gsLst>
                  <a:gs pos="0">
                    <a:srgbClr val="BEDFC4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3703" name="Line 7"/>
              <p:cNvSpPr>
                <a:spLocks noChangeShapeType="1"/>
              </p:cNvSpPr>
              <p:nvPr/>
            </p:nvSpPr>
            <p:spPr bwMode="auto">
              <a:xfrm>
                <a:off x="2304" y="216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3704" name="Line 8"/>
              <p:cNvSpPr>
                <a:spLocks noChangeShapeType="1"/>
              </p:cNvSpPr>
              <p:nvPr/>
            </p:nvSpPr>
            <p:spPr bwMode="auto">
              <a:xfrm>
                <a:off x="2304" y="2400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3705" name="Rectangle 9"/>
              <p:cNvSpPr>
                <a:spLocks noChangeArrowheads="1"/>
              </p:cNvSpPr>
              <p:nvPr/>
            </p:nvSpPr>
            <p:spPr bwMode="auto">
              <a:xfrm>
                <a:off x="2976" y="1632"/>
                <a:ext cx="1008" cy="336"/>
              </a:xfrm>
              <a:prstGeom prst="rect">
                <a:avLst/>
              </a:prstGeom>
              <a:gradFill rotWithShape="1">
                <a:gsLst>
                  <a:gs pos="0">
                    <a:srgbClr val="F0E5B7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3706" name="Rectangle 10"/>
              <p:cNvSpPr>
                <a:spLocks noChangeArrowheads="1"/>
              </p:cNvSpPr>
              <p:nvPr/>
            </p:nvSpPr>
            <p:spPr bwMode="auto">
              <a:xfrm>
                <a:off x="2976" y="2400"/>
                <a:ext cx="1008" cy="336"/>
              </a:xfrm>
              <a:prstGeom prst="rect">
                <a:avLst/>
              </a:prstGeom>
              <a:gradFill rotWithShape="1">
                <a:gsLst>
                  <a:gs pos="0">
                    <a:srgbClr val="BAA1B9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3707" name="Oval 11"/>
              <p:cNvSpPr>
                <a:spLocks noChangeArrowheads="1"/>
              </p:cNvSpPr>
              <p:nvPr/>
            </p:nvSpPr>
            <p:spPr bwMode="auto">
              <a:xfrm>
                <a:off x="4593" y="1968"/>
                <a:ext cx="721" cy="672"/>
              </a:xfrm>
              <a:prstGeom prst="ellipse">
                <a:avLst/>
              </a:prstGeom>
              <a:gradFill rotWithShape="1">
                <a:gsLst>
                  <a:gs pos="0">
                    <a:srgbClr val="CFCFD1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50800" dist="106680" dir="2700000" algn="tl" rotWithShape="0">
                  <a:prstClr val="black">
                    <a:alpha val="43000"/>
                  </a:prstClr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3708" name="Text Box 12"/>
              <p:cNvSpPr txBox="1">
                <a:spLocks noChangeArrowheads="1"/>
              </p:cNvSpPr>
              <p:nvPr/>
            </p:nvSpPr>
            <p:spPr bwMode="auto">
              <a:xfrm>
                <a:off x="4593" y="1680"/>
                <a:ext cx="76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ea typeface="隶书" pitchFamily="49" charset="-122"/>
                  </a:rPr>
                  <a:t>磁盘文件</a:t>
                </a:r>
              </a:p>
            </p:txBody>
          </p:sp>
          <p:sp>
            <p:nvSpPr>
              <p:cNvPr id="1053709" name="Text Box 13"/>
              <p:cNvSpPr txBox="1">
                <a:spLocks noChangeArrowheads="1"/>
              </p:cNvSpPr>
              <p:nvPr/>
            </p:nvSpPr>
            <p:spPr bwMode="auto">
              <a:xfrm>
                <a:off x="2832" y="2736"/>
                <a:ext cx="124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>
                    <a:ea typeface="隶书" pitchFamily="49" charset="-122"/>
                  </a:rPr>
                  <a:t>输出文件缓冲区</a:t>
                </a:r>
              </a:p>
            </p:txBody>
          </p:sp>
          <p:sp>
            <p:nvSpPr>
              <p:cNvPr id="1053710" name="Text Box 14"/>
              <p:cNvSpPr txBox="1">
                <a:spLocks noChangeArrowheads="1"/>
              </p:cNvSpPr>
              <p:nvPr/>
            </p:nvSpPr>
            <p:spPr bwMode="auto">
              <a:xfrm>
                <a:off x="2832" y="1392"/>
                <a:ext cx="124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>
                    <a:ea typeface="隶书" pitchFamily="49" charset="-122"/>
                  </a:rPr>
                  <a:t>输入文件缓冲区</a:t>
                </a:r>
              </a:p>
            </p:txBody>
          </p:sp>
          <p:sp>
            <p:nvSpPr>
              <p:cNvPr id="1053711" name="Text Box 15"/>
              <p:cNvSpPr txBox="1">
                <a:spLocks noChangeArrowheads="1"/>
              </p:cNvSpPr>
              <p:nvPr/>
            </p:nvSpPr>
            <p:spPr bwMode="auto">
              <a:xfrm>
                <a:off x="1824" y="1920"/>
                <a:ext cx="921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>
                    <a:ea typeface="隶书" pitchFamily="49" charset="-122"/>
                  </a:rPr>
                  <a:t>程序数据区</a:t>
                </a:r>
              </a:p>
            </p:txBody>
          </p:sp>
          <p:sp>
            <p:nvSpPr>
              <p:cNvPr id="1053712" name="Text Box 16"/>
              <p:cNvSpPr txBox="1">
                <a:spLocks noChangeArrowheads="1"/>
              </p:cNvSpPr>
              <p:nvPr/>
            </p:nvSpPr>
            <p:spPr bwMode="auto">
              <a:xfrm>
                <a:off x="2400" y="2160"/>
                <a:ext cx="187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000"/>
                  <a:t>a</a:t>
                </a:r>
              </a:p>
            </p:txBody>
          </p:sp>
          <p:sp>
            <p:nvSpPr>
              <p:cNvPr id="1053713" name="Line 17"/>
              <p:cNvSpPr>
                <a:spLocks noChangeShapeType="1"/>
              </p:cNvSpPr>
              <p:nvPr/>
            </p:nvSpPr>
            <p:spPr bwMode="auto">
              <a:xfrm flipH="1">
                <a:off x="2640" y="1824"/>
                <a:ext cx="336" cy="336"/>
              </a:xfrm>
              <a:prstGeom prst="line">
                <a:avLst/>
              </a:prstGeom>
              <a:noFill/>
              <a:ln w="28575">
                <a:solidFill>
                  <a:srgbClr val="C00000"/>
                </a:solidFill>
                <a:round/>
                <a:headEnd/>
                <a:tailEnd type="stealth" w="lg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3714" name="Line 18"/>
              <p:cNvSpPr>
                <a:spLocks noChangeShapeType="1"/>
              </p:cNvSpPr>
              <p:nvPr/>
            </p:nvSpPr>
            <p:spPr bwMode="auto">
              <a:xfrm>
                <a:off x="2640" y="2256"/>
                <a:ext cx="336" cy="288"/>
              </a:xfrm>
              <a:prstGeom prst="line">
                <a:avLst/>
              </a:prstGeom>
              <a:noFill/>
              <a:ln w="28575">
                <a:solidFill>
                  <a:srgbClr val="002060"/>
                </a:solidFill>
                <a:round/>
                <a:headEnd/>
                <a:tailEnd type="stealth" w="lg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3715" name="Line 19"/>
              <p:cNvSpPr>
                <a:spLocks noChangeShapeType="1"/>
              </p:cNvSpPr>
              <p:nvPr/>
            </p:nvSpPr>
            <p:spPr bwMode="auto">
              <a:xfrm flipH="1" flipV="1">
                <a:off x="3984" y="1776"/>
                <a:ext cx="708" cy="298"/>
              </a:xfrm>
              <a:prstGeom prst="line">
                <a:avLst/>
              </a:prstGeom>
              <a:noFill/>
              <a:ln w="28575">
                <a:solidFill>
                  <a:srgbClr val="C00000"/>
                </a:solidFill>
                <a:round/>
                <a:headEnd/>
                <a:tailEnd type="stealth" w="lg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3716" name="Line 20"/>
              <p:cNvSpPr>
                <a:spLocks noChangeShapeType="1"/>
              </p:cNvSpPr>
              <p:nvPr/>
            </p:nvSpPr>
            <p:spPr bwMode="auto">
              <a:xfrm flipV="1">
                <a:off x="3984" y="2451"/>
                <a:ext cx="632" cy="141"/>
              </a:xfrm>
              <a:prstGeom prst="line">
                <a:avLst/>
              </a:prstGeom>
              <a:noFill/>
              <a:ln w="28575">
                <a:solidFill>
                  <a:srgbClr val="002060"/>
                </a:solidFill>
                <a:round/>
                <a:headEnd/>
                <a:tailEnd type="stealth" w="lg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pic>
          <p:nvPicPr>
            <p:cNvPr id="1053735" name="Picture 39" descr="saVE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719" y="2387"/>
              <a:ext cx="380" cy="358"/>
            </a:xfrm>
            <a:prstGeom prst="rect">
              <a:avLst/>
            </a:prstGeom>
            <a:noFill/>
          </p:spPr>
        </p:pic>
      </p:grpSp>
      <p:grpSp>
        <p:nvGrpSpPr>
          <p:cNvPr id="1053737" name="Group 41"/>
          <p:cNvGrpSpPr>
            <a:grpSpLocks/>
          </p:cNvGrpSpPr>
          <p:nvPr/>
        </p:nvGrpSpPr>
        <p:grpSpPr bwMode="auto">
          <a:xfrm>
            <a:off x="5842258" y="3690193"/>
            <a:ext cx="4340225" cy="3051175"/>
            <a:chOff x="2072" y="1637"/>
            <a:chExt cx="2734" cy="1922"/>
          </a:xfrm>
        </p:grpSpPr>
        <p:sp>
          <p:nvSpPr>
            <p:cNvPr id="1053738" name="Rectangle 42"/>
            <p:cNvSpPr>
              <a:spLocks noChangeArrowheads="1"/>
            </p:cNvSpPr>
            <p:nvPr/>
          </p:nvSpPr>
          <p:spPr bwMode="auto">
            <a:xfrm>
              <a:off x="2072" y="1927"/>
              <a:ext cx="1444" cy="1632"/>
            </a:xfrm>
            <a:prstGeom prst="rect">
              <a:avLst/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rgbClr val="C00000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053739" name="Oval 43"/>
            <p:cNvSpPr>
              <a:spLocks noChangeArrowheads="1"/>
            </p:cNvSpPr>
            <p:nvPr/>
          </p:nvSpPr>
          <p:spPr bwMode="auto">
            <a:xfrm>
              <a:off x="4078" y="2539"/>
              <a:ext cx="728" cy="636"/>
            </a:xfrm>
            <a:prstGeom prst="ellipse">
              <a:avLst/>
            </a:prstGeom>
            <a:gradFill rotWithShape="1">
              <a:gsLst>
                <a:gs pos="0">
                  <a:srgbClr val="BAA1B9"/>
                </a:gs>
                <a:gs pos="100000">
                  <a:schemeClr val="bg1"/>
                </a:gs>
              </a:gsLst>
              <a:lin ang="5400000" scaled="1"/>
            </a:gra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3740" name="Rectangle 44"/>
            <p:cNvSpPr>
              <a:spLocks noChangeArrowheads="1"/>
            </p:cNvSpPr>
            <p:nvPr/>
          </p:nvSpPr>
          <p:spPr bwMode="auto">
            <a:xfrm>
              <a:off x="2216" y="3175"/>
              <a:ext cx="1101" cy="240"/>
            </a:xfrm>
            <a:prstGeom prst="rect">
              <a:avLst/>
            </a:prstGeom>
            <a:gradFill rotWithShape="1">
              <a:gsLst>
                <a:gs pos="0">
                  <a:srgbClr val="F0E5B7"/>
                </a:gs>
                <a:gs pos="100000">
                  <a:schemeClr val="bg1"/>
                </a:gs>
              </a:gsLst>
              <a:lin ang="5400000" scaled="1"/>
            </a:gradFill>
            <a:ln w="28575" cap="rnd">
              <a:solidFill>
                <a:srgbClr val="008000"/>
              </a:solidFill>
              <a:prstDash val="sysDot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3741" name="Text Box 45"/>
            <p:cNvSpPr txBox="1">
              <a:spLocks noChangeArrowheads="1"/>
            </p:cNvSpPr>
            <p:nvPr/>
          </p:nvSpPr>
          <p:spPr bwMode="auto">
            <a:xfrm>
              <a:off x="2505" y="3154"/>
              <a:ext cx="59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ea typeface="隶书" pitchFamily="49" charset="-122"/>
                </a:rPr>
                <a:t>缓冲区</a:t>
              </a:r>
            </a:p>
          </p:txBody>
        </p:sp>
        <p:sp>
          <p:nvSpPr>
            <p:cNvPr id="1053742" name="Text Box 46"/>
            <p:cNvSpPr txBox="1">
              <a:spLocks noChangeArrowheads="1"/>
            </p:cNvSpPr>
            <p:nvPr/>
          </p:nvSpPr>
          <p:spPr bwMode="auto">
            <a:xfrm>
              <a:off x="2478" y="2071"/>
              <a:ext cx="59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ea typeface="隶书" pitchFamily="49" charset="-122"/>
                </a:rPr>
                <a:t>指令区</a:t>
              </a:r>
            </a:p>
          </p:txBody>
        </p:sp>
        <p:sp>
          <p:nvSpPr>
            <p:cNvPr id="1053743" name="Text Box 47"/>
            <p:cNvSpPr txBox="1">
              <a:spLocks noChangeArrowheads="1"/>
            </p:cNvSpPr>
            <p:nvPr/>
          </p:nvSpPr>
          <p:spPr bwMode="auto">
            <a:xfrm>
              <a:off x="2446" y="1637"/>
              <a:ext cx="43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C00000"/>
                  </a:solidFill>
                  <a:ea typeface="隶书" pitchFamily="49" charset="-122"/>
                </a:rPr>
                <a:t>程序</a:t>
              </a:r>
            </a:p>
          </p:txBody>
        </p:sp>
        <p:sp>
          <p:nvSpPr>
            <p:cNvPr id="1053744" name="Text Box 48"/>
            <p:cNvSpPr txBox="1">
              <a:spLocks noChangeArrowheads="1"/>
            </p:cNvSpPr>
            <p:nvPr/>
          </p:nvSpPr>
          <p:spPr bwMode="auto">
            <a:xfrm>
              <a:off x="2323" y="2501"/>
              <a:ext cx="92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ea typeface="隶书" pitchFamily="49" charset="-122"/>
                </a:rPr>
                <a:t>用户数据区</a:t>
              </a:r>
            </a:p>
          </p:txBody>
        </p:sp>
        <p:sp>
          <p:nvSpPr>
            <p:cNvPr id="1053745" name="AutoShape 49"/>
            <p:cNvSpPr>
              <a:spLocks noChangeArrowheads="1"/>
            </p:cNvSpPr>
            <p:nvPr/>
          </p:nvSpPr>
          <p:spPr bwMode="auto">
            <a:xfrm rot="20437335">
              <a:off x="3132" y="3089"/>
              <a:ext cx="976" cy="123"/>
            </a:xfrm>
            <a:prstGeom prst="leftRightArrow">
              <a:avLst>
                <a:gd name="adj1" fmla="val 50000"/>
                <a:gd name="adj2" fmla="val 245361"/>
              </a:avLst>
            </a:prstGeom>
            <a:gradFill rotWithShape="1">
              <a:gsLst>
                <a:gs pos="0">
                  <a:srgbClr val="BEDFC4"/>
                </a:gs>
                <a:gs pos="100000">
                  <a:srgbClr val="00FF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1053747" name="Picture 51" descr="saVE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290" y="2729"/>
              <a:ext cx="317" cy="255"/>
            </a:xfrm>
            <a:prstGeom prst="rect">
              <a:avLst/>
            </a:prstGeom>
            <a:noFill/>
          </p:spPr>
        </p:pic>
      </p:grpSp>
      <p:sp>
        <p:nvSpPr>
          <p:cNvPr id="37" name="Rectangle 2">
            <a:extLst>
              <a:ext uri="{FF2B5EF4-FFF2-40B4-BE49-F238E27FC236}">
                <a16:creationId xmlns:a16="http://schemas.microsoft.com/office/drawing/2014/main" id="{2366D368-A867-45C0-94D0-27C09F89F5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5709" y="4451206"/>
            <a:ext cx="3798163" cy="1576085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</a:defRPr>
            </a:lvl9pPr>
          </a:lstStyle>
          <a:p>
            <a:pPr marL="342900" lvl="1" indent="-342900">
              <a:spcBef>
                <a:spcPts val="0"/>
              </a:spcBef>
              <a:buClr>
                <a:srgbClr val="002060"/>
              </a:buClr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002060"/>
                </a:solidFill>
                <a:effectLst/>
                <a:ea typeface="楷体" pitchFamily="49" charset="-122"/>
              </a:rPr>
              <a:t>非缓冲文件系统：</a:t>
            </a:r>
            <a:r>
              <a:rPr lang="zh-CN" altLang="en-US" sz="2400" kern="0" dirty="0">
                <a:effectLst/>
                <a:ea typeface="楷体" pitchFamily="49" charset="-122"/>
              </a:rPr>
              <a:t>低级文件系统，由用户在程序中为每个文件设定缓冲区</a:t>
            </a:r>
          </a:p>
        </p:txBody>
      </p:sp>
      <p:sp>
        <p:nvSpPr>
          <p:cNvPr id="38" name="Rectangle 2">
            <a:extLst>
              <a:ext uri="{FF2B5EF4-FFF2-40B4-BE49-F238E27FC236}">
                <a16:creationId xmlns:a16="http://schemas.microsoft.com/office/drawing/2014/main" id="{D33B248F-67C8-4A4E-A4AD-274A100DA4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8052" y="1914991"/>
            <a:ext cx="3787850" cy="1576085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 b="1">
                <a:solidFill>
                  <a:schemeClr val="tx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+mn-ea"/>
              </a:defRPr>
            </a:lvl9pPr>
          </a:lstStyle>
          <a:p>
            <a:pPr marL="342900" lvl="1" indent="-342900">
              <a:spcBef>
                <a:spcPts val="0"/>
              </a:spcBef>
              <a:buClr>
                <a:srgbClr val="002060"/>
              </a:buClr>
              <a:buFont typeface="Wingdings" panose="05000000000000000000" pitchFamily="2" charset="2"/>
              <a:buChar char="u"/>
            </a:pPr>
            <a:r>
              <a:rPr lang="zh-CN" altLang="en-US" sz="2400" kern="0" dirty="0">
                <a:solidFill>
                  <a:srgbClr val="002060"/>
                </a:solidFill>
                <a:effectLst/>
                <a:ea typeface="楷体" pitchFamily="49" charset="-122"/>
              </a:rPr>
              <a:t>缓冲文件系统：</a:t>
            </a:r>
            <a:r>
              <a:rPr lang="zh-CN" altLang="en-US" sz="2400" kern="0" dirty="0">
                <a:solidFill>
                  <a:srgbClr val="C00000"/>
                </a:solidFill>
                <a:effectLst/>
                <a:ea typeface="楷体" pitchFamily="49" charset="-122"/>
              </a:rPr>
              <a:t>高级</a:t>
            </a:r>
            <a:r>
              <a:rPr lang="zh-CN" altLang="en-US" sz="2400" kern="0" dirty="0">
                <a:effectLst/>
                <a:ea typeface="楷体" pitchFamily="49" charset="-122"/>
              </a:rPr>
              <a:t>文件系统，系统自动为正在使用的文件开辟内存缓冲区</a:t>
            </a:r>
          </a:p>
        </p:txBody>
      </p:sp>
      <p:sp>
        <p:nvSpPr>
          <p:cNvPr id="39" name="Rectangle 4">
            <a:extLst>
              <a:ext uri="{FF2B5EF4-FFF2-40B4-BE49-F238E27FC236}">
                <a16:creationId xmlns:a16="http://schemas.microsoft.com/office/drawing/2014/main" id="{AE995917-0077-4B46-B180-FAB9D907FC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12.3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文件操作概述</a:t>
            </a:r>
          </a:p>
        </p:txBody>
      </p:sp>
    </p:spTree>
  </p:cSld>
  <p:clrMapOvr>
    <a:masterClrMapping/>
  </p:clrMapOvr>
  <p:transition>
    <p:random/>
    <p:sndAc>
      <p:stSnd>
        <p:snd r:embed="rId2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53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53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0537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10537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3698" grpId="0" build="p" bldLvl="5" autoUpdateAnimBg="0"/>
      <p:bldP spid="37" grpId="0"/>
      <p:bldP spid="3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0" name="Rectangle 10"/>
          <p:cNvSpPr>
            <a:spLocks noChangeArrowheads="1"/>
          </p:cNvSpPr>
          <p:nvPr/>
        </p:nvSpPr>
        <p:spPr bwMode="auto">
          <a:xfrm>
            <a:off x="1188876" y="1052736"/>
            <a:ext cx="10318798" cy="1838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lvl="1" indent="-342900">
              <a:lnSpc>
                <a:spcPts val="32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文件结构体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FILE</a:t>
            </a:r>
          </a:p>
          <a:p>
            <a:pPr marL="0" lvl="1"/>
            <a:endParaRPr lang="en-US" altLang="zh-CN" sz="900" b="1" dirty="0">
              <a:solidFill>
                <a:srgbClr val="D60093"/>
              </a:solidFill>
              <a:ea typeface="隶书" pitchFamily="49" charset="-122"/>
            </a:endParaRPr>
          </a:p>
          <a:p>
            <a:pPr marL="800100" lvl="2" indent="-342900">
              <a:lnSpc>
                <a:spcPts val="3200"/>
              </a:lnSpc>
              <a:buFont typeface="Wingdings" panose="05000000000000000000" pitchFamily="2" charset="2"/>
              <a:buChar char="l"/>
            </a:pPr>
            <a:r>
              <a:rPr kumimoji="0" lang="zh-CN" altLang="en-US" b="1" dirty="0">
                <a:latin typeface="+mn-lt"/>
                <a:ea typeface="楷体" pitchFamily="49" charset="-122"/>
              </a:rPr>
              <a:t>缓</a:t>
            </a:r>
            <a:r>
              <a:rPr lang="zh-CN" altLang="en-US" b="1" dirty="0">
                <a:latin typeface="+mn-lt"/>
                <a:ea typeface="楷体" pitchFamily="49" charset="-122"/>
              </a:rPr>
              <a:t>冲文件系统为每个正使用的文件在内存开辟文件信息区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pPr marL="800100" lvl="2" indent="-342900">
              <a:lnSpc>
                <a:spcPts val="32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+mn-lt"/>
                <a:ea typeface="楷体" pitchFamily="49" charset="-122"/>
              </a:rPr>
              <a:t>文件信息用系统定义的名为</a:t>
            </a:r>
            <a:r>
              <a:rPr lang="en-US" altLang="zh-CN" b="1" dirty="0">
                <a:latin typeface="+mn-lt"/>
                <a:ea typeface="楷体" pitchFamily="49" charset="-122"/>
              </a:rPr>
              <a:t>FILE</a:t>
            </a:r>
            <a:r>
              <a:rPr lang="zh-CN" altLang="zh-CN" b="1" dirty="0">
                <a:latin typeface="+mn-lt"/>
                <a:ea typeface="楷体" pitchFamily="49" charset="-122"/>
              </a:rPr>
              <a:t>的结构体描述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pPr marL="800100" lvl="2" indent="-342900">
              <a:lnSpc>
                <a:spcPts val="3200"/>
              </a:lnSpc>
              <a:buFont typeface="Wingdings" panose="05000000000000000000" pitchFamily="2" charset="2"/>
              <a:buChar char="l"/>
            </a:pPr>
            <a:r>
              <a:rPr lang="en-US" altLang="zh-CN" b="1" dirty="0">
                <a:latin typeface="+mn-lt"/>
                <a:ea typeface="楷体" pitchFamily="49" charset="-122"/>
              </a:rPr>
              <a:t>FILE</a:t>
            </a:r>
            <a:r>
              <a:rPr lang="zh-CN" altLang="zh-CN" b="1" dirty="0">
                <a:latin typeface="+mn-lt"/>
                <a:ea typeface="楷体" pitchFamily="49" charset="-122"/>
              </a:rPr>
              <a:t>定义在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stdio.h</a:t>
            </a:r>
            <a:r>
              <a:rPr lang="zh-CN" altLang="zh-CN" b="1" dirty="0">
                <a:latin typeface="+mn-lt"/>
                <a:ea typeface="楷体" pitchFamily="49" charset="-122"/>
              </a:rPr>
              <a:t>中（</a:t>
            </a:r>
            <a:r>
              <a:rPr lang="en-US" altLang="zh-CN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Visual C++ 2010</a:t>
            </a:r>
            <a:r>
              <a:rPr lang="zh-CN" altLang="zh-CN" b="1" dirty="0">
                <a:latin typeface="+mn-lt"/>
                <a:ea typeface="楷体" pitchFamily="49" charset="-122"/>
              </a:rPr>
              <a:t>）</a:t>
            </a:r>
            <a:endParaRPr lang="zh-CN" altLang="en-US" b="1" dirty="0">
              <a:latin typeface="+mn-lt"/>
              <a:ea typeface="楷体" pitchFamily="49" charset="-122"/>
            </a:endParaRPr>
          </a:p>
        </p:txBody>
      </p:sp>
      <p:sp>
        <p:nvSpPr>
          <p:cNvPr id="1054732" name="Rectangle 12" descr="信纸"/>
          <p:cNvSpPr>
            <a:spLocks noChangeArrowheads="1"/>
          </p:cNvSpPr>
          <p:nvPr/>
        </p:nvSpPr>
        <p:spPr bwMode="auto">
          <a:xfrm>
            <a:off x="1847528" y="3085752"/>
            <a:ext cx="8712968" cy="3477875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en-US" altLang="zh-CN" sz="2000" b="1" dirty="0" err="1"/>
              <a:t>typedef</a:t>
            </a:r>
            <a:r>
              <a:rPr lang="en-US" altLang="zh-CN" sz="2000" b="1" dirty="0"/>
              <a:t>   </a:t>
            </a:r>
            <a:r>
              <a:rPr lang="en-US" altLang="zh-CN" sz="2000" b="1" dirty="0" err="1"/>
              <a:t>struct</a:t>
            </a:r>
            <a:r>
              <a:rPr lang="en-US" altLang="zh-CN" sz="2000" b="1" dirty="0"/>
              <a:t> _</a:t>
            </a:r>
            <a:r>
              <a:rPr lang="en-US" altLang="zh-CN" sz="2000" b="1" dirty="0" err="1"/>
              <a:t>iobuf</a:t>
            </a:r>
            <a:endParaRPr lang="zh-CN" altLang="zh-CN" sz="2000" b="1" dirty="0"/>
          </a:p>
          <a:p>
            <a:r>
              <a:rPr lang="en-US" altLang="zh-CN" sz="2000" b="1" dirty="0"/>
              <a:t>{</a:t>
            </a:r>
            <a:endParaRPr lang="zh-CN" altLang="zh-CN" sz="2000" b="1" dirty="0"/>
          </a:p>
          <a:p>
            <a:r>
              <a:rPr lang="en-US" altLang="zh-CN" sz="2000" b="1" dirty="0"/>
              <a:t>    char  *_</a:t>
            </a:r>
            <a:r>
              <a:rPr lang="en-US" altLang="zh-CN" sz="2000" b="1" dirty="0" err="1"/>
              <a:t>ptr</a:t>
            </a:r>
            <a:r>
              <a:rPr lang="en-US" altLang="zh-CN" sz="2000" b="1" dirty="0"/>
              <a:t>;</a:t>
            </a:r>
            <a:endParaRPr lang="zh-CN" altLang="zh-CN" sz="2000" b="1" dirty="0"/>
          </a:p>
          <a:p>
            <a:r>
              <a:rPr lang="en-US" altLang="zh-CN" sz="2000" b="1" dirty="0"/>
              <a:t>   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  _</a:t>
            </a:r>
            <a:r>
              <a:rPr lang="en-US" altLang="zh-CN" sz="2000" b="1" dirty="0" err="1"/>
              <a:t>cnt</a:t>
            </a:r>
            <a:r>
              <a:rPr lang="en-US" altLang="zh-CN" sz="2000" b="1" dirty="0"/>
              <a:t>;</a:t>
            </a:r>
            <a:endParaRPr lang="zh-CN" altLang="zh-CN" sz="2000" b="1" dirty="0"/>
          </a:p>
          <a:p>
            <a:r>
              <a:rPr lang="en-US" altLang="zh-CN" sz="2000" b="1" dirty="0"/>
              <a:t>    char  *_base;</a:t>
            </a:r>
            <a:endParaRPr lang="zh-CN" altLang="zh-CN" sz="2000" b="1" dirty="0"/>
          </a:p>
          <a:p>
            <a:r>
              <a:rPr lang="en-US" altLang="zh-CN" sz="2000" b="1" dirty="0"/>
              <a:t>   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  _flag;</a:t>
            </a:r>
            <a:endParaRPr lang="zh-CN" altLang="zh-CN" sz="2000" b="1" dirty="0"/>
          </a:p>
          <a:p>
            <a:r>
              <a:rPr lang="en-US" altLang="zh-CN" sz="2000" b="1" dirty="0"/>
              <a:t>   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  _file;</a:t>
            </a:r>
            <a:endParaRPr lang="zh-CN" altLang="zh-CN" sz="2000" b="1" dirty="0"/>
          </a:p>
          <a:p>
            <a:r>
              <a:rPr lang="en-US" altLang="zh-CN" sz="2000" b="1" dirty="0"/>
              <a:t>   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  _</a:t>
            </a:r>
            <a:r>
              <a:rPr lang="en-US" altLang="zh-CN" sz="2000" b="1" dirty="0" err="1"/>
              <a:t>charbuf</a:t>
            </a:r>
            <a:r>
              <a:rPr lang="en-US" altLang="zh-CN" sz="2000" b="1" dirty="0"/>
              <a:t>;</a:t>
            </a:r>
            <a:endParaRPr lang="zh-CN" altLang="zh-CN" sz="2000" b="1" dirty="0"/>
          </a:p>
          <a:p>
            <a:r>
              <a:rPr lang="en-US" altLang="zh-CN" sz="2000" b="1" dirty="0"/>
              <a:t>   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  _</a:t>
            </a:r>
            <a:r>
              <a:rPr lang="en-US" altLang="zh-CN" sz="2000" b="1" dirty="0" err="1"/>
              <a:t>bufsiz</a:t>
            </a:r>
            <a:r>
              <a:rPr lang="en-US" altLang="zh-CN" sz="2000" b="1" dirty="0"/>
              <a:t>;</a:t>
            </a:r>
            <a:endParaRPr lang="zh-CN" altLang="zh-CN" sz="2000" b="1" dirty="0"/>
          </a:p>
          <a:p>
            <a:r>
              <a:rPr lang="en-US" altLang="zh-CN" sz="2000" b="1" dirty="0"/>
              <a:t>    char  *_</a:t>
            </a:r>
            <a:r>
              <a:rPr lang="en-US" altLang="zh-CN" sz="2000" b="1" dirty="0" err="1"/>
              <a:t>tmpfname</a:t>
            </a:r>
            <a:r>
              <a:rPr lang="en-US" altLang="zh-CN" sz="2000" b="1" dirty="0"/>
              <a:t>;</a:t>
            </a:r>
            <a:endParaRPr lang="zh-CN" altLang="zh-CN" sz="2000" b="1" dirty="0"/>
          </a:p>
          <a:p>
            <a:r>
              <a:rPr lang="en-US" altLang="zh-CN" sz="2000" b="1" dirty="0"/>
              <a:t>} </a:t>
            </a:r>
            <a:r>
              <a:rPr lang="en-US" altLang="zh-CN" sz="2000" b="1" dirty="0">
                <a:solidFill>
                  <a:srgbClr val="C00000"/>
                </a:solidFill>
              </a:rPr>
              <a:t>FILE</a:t>
            </a:r>
            <a:r>
              <a:rPr lang="en-US" altLang="zh-CN" sz="2000" b="1" dirty="0"/>
              <a:t>;</a:t>
            </a:r>
            <a:endParaRPr lang="zh-CN" altLang="zh-CN" sz="2000" b="1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78D8AA42-9A11-4814-BD26-410B5C665D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12.4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文件指针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547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547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547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547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547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547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547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547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10547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3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770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199457" y="938261"/>
            <a:ext cx="9936856" cy="3148012"/>
          </a:xfrm>
        </p:spPr>
        <p:txBody>
          <a:bodyPr/>
          <a:lstStyle/>
          <a:p>
            <a:pPr>
              <a:lnSpc>
                <a:spcPts val="3200"/>
              </a:lnSpc>
              <a:buFont typeface="Wingdings" pitchFamily="2" charset="2"/>
              <a:buChar char="Ø"/>
            </a:pPr>
            <a:r>
              <a:rPr lang="zh-CN" altLang="en-US" sz="2400" dirty="0">
                <a:solidFill>
                  <a:srgbClr val="C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文件类型指针</a:t>
            </a:r>
          </a:p>
          <a:p>
            <a:pPr lvl="1">
              <a:lnSpc>
                <a:spcPts val="3200"/>
              </a:lnSpc>
              <a:buClr>
                <a:srgbClr val="C00000"/>
              </a:buClr>
              <a:buFont typeface="Wingdings" pitchFamily="2" charset="2"/>
              <a:buChar char="l"/>
            </a:pPr>
            <a:r>
              <a:rPr lang="zh-CN" altLang="en-US" sz="2400" dirty="0">
                <a:effectLst/>
                <a:ea typeface="楷体" pitchFamily="49" charset="-122"/>
              </a:rPr>
              <a:t>指针变量说明： </a:t>
            </a:r>
            <a:r>
              <a:rPr lang="en-US" altLang="zh-CN" sz="2400" dirty="0">
                <a:solidFill>
                  <a:srgbClr val="C00000"/>
                </a:solidFill>
                <a:effectLst/>
                <a:ea typeface="楷体" pitchFamily="49" charset="-122"/>
              </a:rPr>
              <a:t>FILE   *</a:t>
            </a:r>
            <a:r>
              <a:rPr lang="en-US" altLang="zh-CN" sz="2400" dirty="0" err="1">
                <a:solidFill>
                  <a:srgbClr val="C00000"/>
                </a:solidFill>
                <a:effectLst/>
                <a:ea typeface="楷体" pitchFamily="49" charset="-122"/>
              </a:rPr>
              <a:t>fp</a:t>
            </a:r>
            <a:r>
              <a:rPr lang="en-US" altLang="zh-CN" sz="2400" dirty="0">
                <a:solidFill>
                  <a:srgbClr val="C00000"/>
                </a:solidFill>
                <a:effectLst/>
                <a:ea typeface="楷体" pitchFamily="49" charset="-122"/>
              </a:rPr>
              <a:t>;</a:t>
            </a:r>
          </a:p>
          <a:p>
            <a:pPr lvl="1">
              <a:lnSpc>
                <a:spcPts val="3200"/>
              </a:lnSpc>
              <a:buClr>
                <a:srgbClr val="C00000"/>
              </a:buClr>
              <a:buFont typeface="Wingdings" pitchFamily="2" charset="2"/>
              <a:buChar char="l"/>
            </a:pPr>
            <a:r>
              <a:rPr lang="zh-CN" altLang="zh-CN" sz="2400" dirty="0">
                <a:effectLst/>
                <a:ea typeface="楷体" pitchFamily="49" charset="-122"/>
              </a:rPr>
              <a:t>用法：</a:t>
            </a:r>
            <a:endParaRPr lang="en-US" altLang="zh-CN" sz="2400" dirty="0">
              <a:effectLst/>
              <a:ea typeface="楷体" pitchFamily="49" charset="-122"/>
            </a:endParaRPr>
          </a:p>
          <a:p>
            <a:pPr lvl="2">
              <a:lnSpc>
                <a:spcPts val="3200"/>
              </a:lnSpc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rgbClr val="002060"/>
                </a:solidFill>
                <a:effectLst/>
                <a:ea typeface="楷体" pitchFamily="49" charset="-122"/>
              </a:rPr>
              <a:t>文件打开</a:t>
            </a:r>
            <a:r>
              <a:rPr lang="zh-CN" altLang="en-US" dirty="0">
                <a:effectLst/>
                <a:ea typeface="楷体" pitchFamily="49" charset="-122"/>
              </a:rPr>
              <a:t>时，系统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effectLst/>
                <a:ea typeface="楷体" pitchFamily="49" charset="-122"/>
              </a:rPr>
              <a:t>自动</a:t>
            </a:r>
            <a:r>
              <a:rPr lang="zh-CN" altLang="en-US" dirty="0">
                <a:effectLst/>
                <a:ea typeface="楷体" pitchFamily="49" charset="-122"/>
              </a:rPr>
              <a:t>建立文件结构体，并把指向它的指针返回来，程序通过这个指针获得</a:t>
            </a:r>
            <a:r>
              <a:rPr lang="zh-CN" altLang="zh-CN" dirty="0">
                <a:effectLst/>
                <a:ea typeface="楷体" pitchFamily="49" charset="-122"/>
              </a:rPr>
              <a:t>文件信息,</a:t>
            </a:r>
            <a:r>
              <a:rPr lang="zh-CN" altLang="en-US" dirty="0">
                <a:effectLst/>
                <a:ea typeface="楷体" pitchFamily="49" charset="-122"/>
              </a:rPr>
              <a:t>访问文件</a:t>
            </a:r>
            <a:endParaRPr lang="en-US" altLang="zh-CN" dirty="0">
              <a:effectLst/>
              <a:ea typeface="楷体" pitchFamily="49" charset="-122"/>
            </a:endParaRPr>
          </a:p>
          <a:p>
            <a:pPr lvl="2">
              <a:lnSpc>
                <a:spcPts val="3200"/>
              </a:lnSpc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zh-CN" altLang="en-US" dirty="0">
                <a:solidFill>
                  <a:srgbClr val="002060"/>
                </a:solidFill>
                <a:effectLst/>
                <a:ea typeface="楷体" pitchFamily="49" charset="-122"/>
              </a:rPr>
              <a:t>文件关闭</a:t>
            </a:r>
            <a:r>
              <a:rPr lang="zh-CN" altLang="en-US" dirty="0">
                <a:effectLst/>
                <a:ea typeface="楷体" pitchFamily="49" charset="-122"/>
              </a:rPr>
              <a:t>后，它的文件结构体被释放</a:t>
            </a:r>
          </a:p>
        </p:txBody>
      </p:sp>
      <p:grpSp>
        <p:nvGrpSpPr>
          <p:cNvPr id="1056793" name="Group 25"/>
          <p:cNvGrpSpPr>
            <a:grpSpLocks/>
          </p:cNvGrpSpPr>
          <p:nvPr/>
        </p:nvGrpSpPr>
        <p:grpSpPr bwMode="auto">
          <a:xfrm>
            <a:off x="1703512" y="4005064"/>
            <a:ext cx="8785234" cy="2219325"/>
            <a:chOff x="1292" y="2083"/>
            <a:chExt cx="5534" cy="1398"/>
          </a:xfrm>
        </p:grpSpPr>
        <p:sp>
          <p:nvSpPr>
            <p:cNvPr id="1056777" name="AutoShape 9"/>
            <p:cNvSpPr>
              <a:spLocks noChangeArrowheads="1"/>
            </p:cNvSpPr>
            <p:nvPr/>
          </p:nvSpPr>
          <p:spPr bwMode="auto">
            <a:xfrm rot="16200000">
              <a:off x="5487" y="2229"/>
              <a:ext cx="150" cy="904"/>
            </a:xfrm>
            <a:prstGeom prst="upDownArrow">
              <a:avLst>
                <a:gd name="adj1" fmla="val 50000"/>
                <a:gd name="adj2" fmla="val 60221"/>
              </a:avLst>
            </a:prstGeom>
            <a:gradFill rotWithShape="1">
              <a:gsLst>
                <a:gs pos="0">
                  <a:srgbClr val="F0E5B7"/>
                </a:gs>
                <a:gs pos="100000">
                  <a:srgbClr val="FFCC99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grpSp>
          <p:nvGrpSpPr>
            <p:cNvPr id="1056790" name="Group 22"/>
            <p:cNvGrpSpPr>
              <a:grpSpLocks/>
            </p:cNvGrpSpPr>
            <p:nvPr/>
          </p:nvGrpSpPr>
          <p:grpSpPr bwMode="auto">
            <a:xfrm>
              <a:off x="2538" y="2271"/>
              <a:ext cx="1294" cy="575"/>
              <a:chOff x="2538" y="2271"/>
              <a:chExt cx="1294" cy="575"/>
            </a:xfrm>
          </p:grpSpPr>
          <p:sp>
            <p:nvSpPr>
              <p:cNvPr id="1056775" name="AutoShape 7"/>
              <p:cNvSpPr>
                <a:spLocks noChangeArrowheads="1"/>
              </p:cNvSpPr>
              <p:nvPr/>
            </p:nvSpPr>
            <p:spPr bwMode="auto">
              <a:xfrm>
                <a:off x="2544" y="2497"/>
                <a:ext cx="1288" cy="109"/>
              </a:xfrm>
              <a:prstGeom prst="rightArrow">
                <a:avLst>
                  <a:gd name="adj1" fmla="val 50000"/>
                  <a:gd name="adj2" fmla="val 231193"/>
                </a:avLst>
              </a:prstGeom>
              <a:gradFill rotWithShape="1">
                <a:gsLst>
                  <a:gs pos="0">
                    <a:srgbClr val="BEDFC4"/>
                  </a:gs>
                  <a:gs pos="100000">
                    <a:srgbClr val="00FFFF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106680" dir="2700000" algn="tl" rotWithShape="0">
                  <a:prstClr val="black">
                    <a:alpha val="43000"/>
                  </a:prstClr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6778" name="Text Box 10"/>
              <p:cNvSpPr txBox="1">
                <a:spLocks noChangeArrowheads="1"/>
              </p:cNvSpPr>
              <p:nvPr/>
            </p:nvSpPr>
            <p:spPr bwMode="auto">
              <a:xfrm>
                <a:off x="2805" y="2271"/>
                <a:ext cx="599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ea typeface="隶书" pitchFamily="49" charset="-122"/>
                  </a:rPr>
                  <a:t>文件名</a:t>
                </a:r>
              </a:p>
            </p:txBody>
          </p:sp>
          <p:sp>
            <p:nvSpPr>
              <p:cNvPr id="1056779" name="Text Box 11"/>
              <p:cNvSpPr txBox="1">
                <a:spLocks noChangeArrowheads="1"/>
              </p:cNvSpPr>
              <p:nvPr/>
            </p:nvSpPr>
            <p:spPr bwMode="auto">
              <a:xfrm>
                <a:off x="2538" y="2594"/>
                <a:ext cx="1206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000" b="1" dirty="0">
                    <a:ea typeface="隶书" pitchFamily="49" charset="-122"/>
                  </a:rPr>
                  <a:t>文件使用方式</a:t>
                </a:r>
              </a:p>
            </p:txBody>
          </p:sp>
        </p:grpSp>
        <p:grpSp>
          <p:nvGrpSpPr>
            <p:cNvPr id="1056791" name="Group 23"/>
            <p:cNvGrpSpPr>
              <a:grpSpLocks/>
            </p:cNvGrpSpPr>
            <p:nvPr/>
          </p:nvGrpSpPr>
          <p:grpSpPr bwMode="auto">
            <a:xfrm>
              <a:off x="2546" y="3028"/>
              <a:ext cx="1288" cy="343"/>
              <a:chOff x="2546" y="3028"/>
              <a:chExt cx="1288" cy="343"/>
            </a:xfrm>
          </p:grpSpPr>
          <p:sp>
            <p:nvSpPr>
              <p:cNvPr id="1056776" name="AutoShape 8"/>
              <p:cNvSpPr>
                <a:spLocks noChangeArrowheads="1"/>
              </p:cNvSpPr>
              <p:nvPr/>
            </p:nvSpPr>
            <p:spPr bwMode="auto">
              <a:xfrm>
                <a:off x="2546" y="3028"/>
                <a:ext cx="1288" cy="109"/>
              </a:xfrm>
              <a:prstGeom prst="leftArrow">
                <a:avLst>
                  <a:gd name="adj1" fmla="val 50000"/>
                  <a:gd name="adj2" fmla="val 231193"/>
                </a:avLst>
              </a:prstGeom>
              <a:gradFill rotWithShape="1">
                <a:gsLst>
                  <a:gs pos="0">
                    <a:srgbClr val="BAA1B9"/>
                  </a:gs>
                  <a:gs pos="100000">
                    <a:srgbClr val="FF99CC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106680" dir="2700000" algn="tl" rotWithShape="0">
                  <a:prstClr val="black">
                    <a:alpha val="43000"/>
                  </a:prstClr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6780" name="Text Box 12"/>
              <p:cNvSpPr txBox="1">
                <a:spLocks noChangeArrowheads="1"/>
              </p:cNvSpPr>
              <p:nvPr/>
            </p:nvSpPr>
            <p:spPr bwMode="auto">
              <a:xfrm>
                <a:off x="2705" y="3121"/>
                <a:ext cx="1082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ea typeface="隶书" pitchFamily="49" charset="-122"/>
                  </a:rPr>
                  <a:t>文件类型指针</a:t>
                </a:r>
              </a:p>
            </p:txBody>
          </p:sp>
        </p:grpSp>
        <p:grpSp>
          <p:nvGrpSpPr>
            <p:cNvPr id="1056792" name="Group 24"/>
            <p:cNvGrpSpPr>
              <a:grpSpLocks/>
            </p:cNvGrpSpPr>
            <p:nvPr/>
          </p:nvGrpSpPr>
          <p:grpSpPr bwMode="auto">
            <a:xfrm>
              <a:off x="3951" y="2095"/>
              <a:ext cx="1106" cy="1386"/>
              <a:chOff x="3951" y="2095"/>
              <a:chExt cx="1106" cy="1386"/>
            </a:xfrm>
          </p:grpSpPr>
          <p:sp>
            <p:nvSpPr>
              <p:cNvPr id="1056773" name="Rectangle 5"/>
              <p:cNvSpPr>
                <a:spLocks noChangeArrowheads="1"/>
              </p:cNvSpPr>
              <p:nvPr/>
            </p:nvSpPr>
            <p:spPr bwMode="auto">
              <a:xfrm>
                <a:off x="3951" y="2095"/>
                <a:ext cx="1106" cy="1386"/>
              </a:xfrm>
              <a:prstGeom prst="rect">
                <a:avLst/>
              </a:prstGeom>
              <a:gradFill rotWithShape="1">
                <a:gsLst>
                  <a:gs pos="0">
                    <a:srgbClr val="BAA1B9"/>
                  </a:gs>
                  <a:gs pos="100000">
                    <a:schemeClr val="bg1"/>
                  </a:gs>
                </a:gsLst>
                <a:lin ang="5400000" scaled="1"/>
              </a:gra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106680" dir="2700000" algn="tl" rotWithShape="0">
                  <a:prstClr val="black">
                    <a:alpha val="43000"/>
                  </a:prstClr>
                </a:outerShdw>
              </a:effectLst>
            </p:spPr>
            <p:txBody>
              <a:bodyPr wrap="none" anchor="ctr"/>
              <a:lstStyle/>
              <a:p>
                <a:endParaRPr lang="zh-CN" altLang="en-US">
                  <a:solidFill>
                    <a:srgbClr val="002060"/>
                  </a:solidFill>
                </a:endParaRPr>
              </a:p>
            </p:txBody>
          </p:sp>
          <p:sp>
            <p:nvSpPr>
              <p:cNvPr id="1056782" name="Text Box 14"/>
              <p:cNvSpPr txBox="1">
                <a:spLocks noChangeArrowheads="1"/>
              </p:cNvSpPr>
              <p:nvPr/>
            </p:nvSpPr>
            <p:spPr bwMode="auto">
              <a:xfrm>
                <a:off x="4096" y="2641"/>
                <a:ext cx="76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solidFill>
                      <a:srgbClr val="002060"/>
                    </a:solidFill>
                    <a:latin typeface="+mn-lt"/>
                    <a:ea typeface="楷体" pitchFamily="49" charset="-122"/>
                  </a:rPr>
                  <a:t>操作系统</a:t>
                </a:r>
              </a:p>
            </p:txBody>
          </p:sp>
        </p:grpSp>
        <p:sp>
          <p:nvSpPr>
            <p:cNvPr id="1056787" name="AutoShape 19"/>
            <p:cNvSpPr>
              <a:spLocks noChangeArrowheads="1"/>
            </p:cNvSpPr>
            <p:nvPr/>
          </p:nvSpPr>
          <p:spPr bwMode="auto">
            <a:xfrm>
              <a:off x="1292" y="2083"/>
              <a:ext cx="1107" cy="1386"/>
            </a:xfrm>
            <a:prstGeom prst="foldedCorner">
              <a:avLst>
                <a:gd name="adj" fmla="val 12500"/>
              </a:avLst>
            </a:prstGeom>
            <a:gradFill rotWithShape="1">
              <a:gsLst>
                <a:gs pos="0">
                  <a:srgbClr val="BEDFC4"/>
                </a:gs>
                <a:gs pos="100000">
                  <a:schemeClr val="bg1"/>
                </a:gs>
              </a:gsLst>
              <a:lin ang="5400000" scaled="1"/>
            </a:gra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/>
          </p:spPr>
          <p:txBody>
            <a:bodyPr wrap="none" anchor="ctr"/>
            <a:lstStyle/>
            <a:p>
              <a:pPr algn="ctr"/>
              <a:r>
                <a:rPr lang="en-US" altLang="zh-CN" sz="2000" b="1" dirty="0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C</a:t>
              </a:r>
              <a:r>
                <a:rPr lang="zh-CN" altLang="zh-CN" sz="2000" b="1" dirty="0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程序</a:t>
              </a:r>
              <a:endParaRPr lang="zh-CN" altLang="en-US" sz="2000" b="1" dirty="0">
                <a:solidFill>
                  <a:srgbClr val="C00000"/>
                </a:solidFill>
                <a:latin typeface="+mn-lt"/>
                <a:ea typeface="楷体" pitchFamily="49" charset="-122"/>
              </a:endParaRPr>
            </a:p>
          </p:txBody>
        </p:sp>
        <p:grpSp>
          <p:nvGrpSpPr>
            <p:cNvPr id="1056789" name="Group 21"/>
            <p:cNvGrpSpPr>
              <a:grpSpLocks/>
            </p:cNvGrpSpPr>
            <p:nvPr/>
          </p:nvGrpSpPr>
          <p:grpSpPr bwMode="auto">
            <a:xfrm>
              <a:off x="5356" y="2406"/>
              <a:ext cx="1470" cy="598"/>
              <a:chOff x="5356" y="2325"/>
              <a:chExt cx="1470" cy="598"/>
            </a:xfrm>
          </p:grpSpPr>
          <p:sp>
            <p:nvSpPr>
              <p:cNvPr id="1056774" name="Oval 6"/>
              <p:cNvSpPr>
                <a:spLocks noChangeArrowheads="1"/>
              </p:cNvSpPr>
              <p:nvPr/>
            </p:nvSpPr>
            <p:spPr bwMode="auto">
              <a:xfrm>
                <a:off x="6058" y="2341"/>
                <a:ext cx="768" cy="582"/>
              </a:xfrm>
              <a:prstGeom prst="ellipse">
                <a:avLst/>
              </a:prstGeom>
              <a:gradFill rotWithShape="1">
                <a:gsLst>
                  <a:gs pos="0">
                    <a:srgbClr val="F0E5B7"/>
                  </a:gs>
                  <a:gs pos="100000">
                    <a:schemeClr val="bg1"/>
                  </a:gs>
                </a:gsLst>
                <a:lin ang="5400000" scaled="1"/>
              </a:gradFill>
              <a:ln w="190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50800" dist="106680" dir="2700000" algn="tl" rotWithShape="0">
                  <a:prstClr val="black">
                    <a:alpha val="43000"/>
                  </a:prstClr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6783" name="Text Box 15"/>
              <p:cNvSpPr txBox="1">
                <a:spLocks noChangeArrowheads="1"/>
              </p:cNvSpPr>
              <p:nvPr/>
            </p:nvSpPr>
            <p:spPr bwMode="auto">
              <a:xfrm>
                <a:off x="5356" y="2325"/>
                <a:ext cx="438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latin typeface="+mn-lt"/>
                    <a:ea typeface="楷体" pitchFamily="49" charset="-122"/>
                  </a:rPr>
                  <a:t>磁盘</a:t>
                </a:r>
              </a:p>
            </p:txBody>
          </p:sp>
          <p:pic>
            <p:nvPicPr>
              <p:cNvPr id="1056788" name="Picture 20" descr="savE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6312" y="2493"/>
                <a:ext cx="272" cy="255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23" name="Rectangle 4">
            <a:extLst>
              <a:ext uri="{FF2B5EF4-FFF2-40B4-BE49-F238E27FC236}">
                <a16:creationId xmlns:a16="http://schemas.microsoft.com/office/drawing/2014/main" id="{07CA6B98-6156-4E89-8B22-313890881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12.4 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文件指针</a:t>
            </a:r>
          </a:p>
        </p:txBody>
      </p:sp>
    </p:spTree>
  </p:cSld>
  <p:clrMapOvr>
    <a:masterClrMapping/>
  </p:clrMapOvr>
  <p:transition>
    <p:random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56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56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56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56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56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56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56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56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56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56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0567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6770" grpId="0" build="p" bldLvl="5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800" name="Rectangle 8"/>
          <p:cNvSpPr>
            <a:spLocks noChangeArrowheads="1"/>
          </p:cNvSpPr>
          <p:nvPr/>
        </p:nvSpPr>
        <p:spPr bwMode="auto">
          <a:xfrm>
            <a:off x="623392" y="3553852"/>
            <a:ext cx="379302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、文件的打开与关闭 </a:t>
            </a:r>
          </a:p>
        </p:txBody>
      </p:sp>
      <p:sp>
        <p:nvSpPr>
          <p:cNvPr id="1057801" name="Rectangle 9"/>
          <p:cNvSpPr>
            <a:spLocks noChangeArrowheads="1"/>
          </p:cNvSpPr>
          <p:nvPr/>
        </p:nvSpPr>
        <p:spPr bwMode="auto">
          <a:xfrm>
            <a:off x="1199456" y="4077072"/>
            <a:ext cx="264143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buFont typeface="Wingdings" pitchFamily="2" charset="2"/>
              <a:buChar char="Ø"/>
              <a:tabLst>
                <a:tab pos="496888" algn="l"/>
              </a:tabLst>
            </a:pPr>
            <a:r>
              <a:rPr lang="en-US" altLang="zh-CN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打开文件</a:t>
            </a:r>
            <a:r>
              <a:rPr lang="en-US" altLang="zh-CN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fopen</a:t>
            </a:r>
            <a:endParaRPr lang="en-US" altLang="zh-CN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057802" name="Text Box 10"/>
          <p:cNvSpPr txBox="1">
            <a:spLocks noChangeArrowheads="1"/>
          </p:cNvSpPr>
          <p:nvPr/>
        </p:nvSpPr>
        <p:spPr bwMode="auto">
          <a:xfrm>
            <a:off x="2074059" y="5085135"/>
            <a:ext cx="6867971" cy="431800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r>
              <a:rPr lang="en-US" altLang="zh-CN" sz="2000" b="1" dirty="0"/>
              <a:t>   FILE  *</a:t>
            </a:r>
            <a:r>
              <a:rPr lang="en-US" altLang="zh-CN" sz="2000" b="1" dirty="0" err="1"/>
              <a:t>fopen</a:t>
            </a:r>
            <a:r>
              <a:rPr lang="en-US" altLang="zh-CN" sz="2000" b="1" dirty="0"/>
              <a:t> (char *filename,  char *mode);</a:t>
            </a:r>
          </a:p>
        </p:txBody>
      </p:sp>
      <p:sp>
        <p:nvSpPr>
          <p:cNvPr id="1057803" name="Rectangle 11"/>
          <p:cNvSpPr>
            <a:spLocks noChangeArrowheads="1"/>
          </p:cNvSpPr>
          <p:nvPr/>
        </p:nvSpPr>
        <p:spPr bwMode="auto">
          <a:xfrm>
            <a:off x="695400" y="965730"/>
            <a:ext cx="799306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C00000"/>
              </a:buClr>
              <a:buFont typeface="Wingdings" pitchFamily="2" charset="2"/>
              <a:buChar char="Ø"/>
            </a:pPr>
            <a:r>
              <a:rPr lang="en-US" altLang="zh-CN" b="1" dirty="0">
                <a:latin typeface="+mn-lt"/>
                <a:ea typeface="楷体" panose="02010609060101010101" pitchFamily="49" charset="-122"/>
              </a:rPr>
              <a:t> C</a:t>
            </a:r>
            <a:r>
              <a:rPr lang="zh-CN" altLang="en-US" b="1" dirty="0">
                <a:latin typeface="+mn-lt"/>
                <a:ea typeface="楷体" panose="02010609060101010101" pitchFamily="49" charset="-122"/>
              </a:rPr>
              <a:t>文件操作用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库函数</a:t>
            </a:r>
            <a:r>
              <a:rPr lang="zh-CN" altLang="en-US" b="1" dirty="0">
                <a:latin typeface="+mn-lt"/>
                <a:ea typeface="楷体" panose="02010609060101010101" pitchFamily="49" charset="-122"/>
              </a:rPr>
              <a:t>实现，包含在</a:t>
            </a:r>
            <a:r>
              <a:rPr lang="en-US" altLang="zh-CN" b="1" dirty="0" err="1">
                <a:latin typeface="+mn-lt"/>
                <a:ea typeface="楷体" panose="02010609060101010101" pitchFamily="49" charset="-122"/>
              </a:rPr>
              <a:t>stdio.h</a:t>
            </a:r>
            <a:endParaRPr lang="en-US" altLang="zh-CN" b="1" dirty="0">
              <a:latin typeface="+mn-lt"/>
              <a:ea typeface="楷体" panose="02010609060101010101" pitchFamily="49" charset="-122"/>
            </a:endParaRPr>
          </a:p>
          <a:p>
            <a:pPr>
              <a:buClr>
                <a:srgbClr val="C00000"/>
              </a:buClr>
              <a:buFont typeface="Wingdings" pitchFamily="2" charset="2"/>
              <a:buChar char="Ø"/>
            </a:pPr>
            <a:r>
              <a:rPr lang="en-US" altLang="zh-CN" b="1" dirty="0">
                <a:latin typeface="+mn-lt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latin typeface="+mn-lt"/>
                <a:ea typeface="楷体" panose="02010609060101010101" pitchFamily="49" charset="-122"/>
              </a:rPr>
              <a:t>文件使用方式</a:t>
            </a:r>
            <a:r>
              <a:rPr lang="en-US" altLang="zh-CN" b="1" dirty="0">
                <a:latin typeface="+mn-lt"/>
                <a:ea typeface="楷体" panose="02010609060101010101" pitchFamily="49" charset="-122"/>
              </a:rPr>
              <a:t>: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楷体" panose="02010609060101010101" pitchFamily="49" charset="-122"/>
              </a:rPr>
              <a:t>打开文件</a:t>
            </a:r>
            <a:r>
              <a:rPr lang="en-US" altLang="zh-CN" b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--&gt;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anose="02010609060101010101" pitchFamily="49" charset="-122"/>
              </a:rPr>
              <a:t>文件读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楷体" panose="02010609060101010101" pitchFamily="49" charset="-122"/>
              </a:rPr>
              <a:t>/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anose="02010609060101010101" pitchFamily="49" charset="-122"/>
              </a:rPr>
              <a:t>写</a:t>
            </a:r>
            <a:r>
              <a:rPr lang="en-US" altLang="zh-CN" b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--&gt;</a:t>
            </a:r>
            <a:r>
              <a:rPr lang="zh-CN" altLang="en-US" b="1" dirty="0">
                <a:solidFill>
                  <a:schemeClr val="accent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关闭文件</a:t>
            </a:r>
          </a:p>
          <a:p>
            <a:pPr>
              <a:buClr>
                <a:srgbClr val="C00000"/>
              </a:buClr>
              <a:buFont typeface="Wingdings" pitchFamily="2" charset="2"/>
              <a:buChar char="Ø"/>
            </a:pPr>
            <a:r>
              <a:rPr lang="zh-CN" altLang="en-US" b="1" dirty="0">
                <a:latin typeface="+mn-lt"/>
                <a:ea typeface="楷体" panose="02010609060101010101" pitchFamily="49" charset="-122"/>
              </a:rPr>
              <a:t> </a:t>
            </a:r>
            <a:r>
              <a:rPr lang="zh-CN" altLang="zh-CN" b="1" dirty="0">
                <a:latin typeface="+mn-lt"/>
                <a:ea typeface="楷体" panose="02010609060101010101" pitchFamily="49" charset="-122"/>
              </a:rPr>
              <a:t>系统</a:t>
            </a:r>
            <a:r>
              <a:rPr lang="zh-CN" altLang="zh-CN" b="1" dirty="0">
                <a:solidFill>
                  <a:schemeClr val="accent1">
                    <a:lumMod val="50000"/>
                  </a:schemeClr>
                </a:solidFill>
                <a:latin typeface="+mn-lt"/>
                <a:ea typeface="楷体" panose="02010609060101010101" pitchFamily="49" charset="-122"/>
              </a:rPr>
              <a:t>自动</a:t>
            </a:r>
            <a:r>
              <a:rPr lang="zh-CN" altLang="zh-CN" b="1" dirty="0">
                <a:latin typeface="+mn-lt"/>
                <a:ea typeface="楷体" panose="02010609060101010101" pitchFamily="49" charset="-122"/>
              </a:rPr>
              <a:t>打开和关闭三个</a:t>
            </a:r>
            <a:r>
              <a:rPr lang="zh-CN" altLang="zh-CN" b="1" dirty="0">
                <a:solidFill>
                  <a:srgbClr val="FF9900"/>
                </a:solidFill>
                <a:latin typeface="+mn-lt"/>
                <a:ea typeface="楷体" panose="02010609060101010101" pitchFamily="49" charset="-122"/>
              </a:rPr>
              <a:t>标准文件</a:t>
            </a:r>
            <a:r>
              <a:rPr lang="zh-CN" altLang="zh-CN" b="1" dirty="0">
                <a:latin typeface="+mn-lt"/>
                <a:ea typeface="楷体" panose="02010609060101010101" pitchFamily="49" charset="-122"/>
              </a:rPr>
              <a:t>：</a:t>
            </a:r>
            <a:endParaRPr lang="zh-CN" altLang="en-US" b="1" dirty="0">
              <a:solidFill>
                <a:srgbClr val="D60093"/>
              </a:solidFill>
              <a:latin typeface="+mn-lt"/>
              <a:ea typeface="楷体" panose="02010609060101010101" pitchFamily="49" charset="-122"/>
            </a:endParaRPr>
          </a:p>
        </p:txBody>
      </p:sp>
      <p:sp>
        <p:nvSpPr>
          <p:cNvPr id="1057804" name="Rectangle 12"/>
          <p:cNvSpPr>
            <a:spLocks noChangeArrowheads="1"/>
          </p:cNvSpPr>
          <p:nvPr/>
        </p:nvSpPr>
        <p:spPr bwMode="auto">
          <a:xfrm>
            <a:off x="1006913" y="2226092"/>
            <a:ext cx="7920880" cy="1200329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Clr>
                <a:srgbClr val="C00000"/>
              </a:buClr>
              <a:buFont typeface="Wingdings" pitchFamily="2" charset="2"/>
              <a:buChar char="l"/>
            </a:pPr>
            <a:r>
              <a:rPr lang="en-US" altLang="zh-CN" b="1" dirty="0">
                <a:ea typeface="楷体" pitchFamily="49" charset="-122"/>
              </a:rPr>
              <a:t> </a:t>
            </a:r>
            <a:r>
              <a:rPr lang="zh-CN" altLang="zh-CN" b="1" dirty="0">
                <a:ea typeface="楷体" pitchFamily="49" charset="-122"/>
              </a:rPr>
              <a:t>标准输入------键盘                </a:t>
            </a:r>
            <a:r>
              <a:rPr lang="en-US" altLang="zh-CN" b="1" dirty="0" err="1">
                <a:solidFill>
                  <a:srgbClr val="C00000"/>
                </a:solidFill>
                <a:ea typeface="楷体" pitchFamily="49" charset="-122"/>
              </a:rPr>
              <a:t>stdin</a:t>
            </a:r>
            <a:endParaRPr lang="en-US" altLang="zh-CN" b="1" dirty="0">
              <a:solidFill>
                <a:srgbClr val="C00000"/>
              </a:solidFill>
              <a:ea typeface="楷体" pitchFamily="49" charset="-122"/>
            </a:endParaRPr>
          </a:p>
          <a:p>
            <a:pPr>
              <a:buClr>
                <a:srgbClr val="C00000"/>
              </a:buClr>
              <a:buFont typeface="Wingdings" pitchFamily="2" charset="2"/>
              <a:buChar char="l"/>
            </a:pPr>
            <a:r>
              <a:rPr lang="en-US" altLang="zh-CN" b="1" dirty="0">
                <a:ea typeface="楷体" pitchFamily="49" charset="-122"/>
              </a:rPr>
              <a:t> </a:t>
            </a:r>
            <a:r>
              <a:rPr lang="zh-CN" altLang="zh-CN" b="1" dirty="0">
                <a:ea typeface="楷体" pitchFamily="49" charset="-122"/>
              </a:rPr>
              <a:t>标准输出------显示器            </a:t>
            </a:r>
            <a:r>
              <a:rPr lang="en-US" altLang="zh-CN" b="1" dirty="0" err="1">
                <a:solidFill>
                  <a:srgbClr val="C00000"/>
                </a:solidFill>
                <a:ea typeface="楷体" pitchFamily="49" charset="-122"/>
              </a:rPr>
              <a:t>stdout</a:t>
            </a:r>
            <a:endParaRPr lang="en-US" altLang="zh-CN" b="1" dirty="0">
              <a:solidFill>
                <a:srgbClr val="C00000"/>
              </a:solidFill>
              <a:ea typeface="楷体" pitchFamily="49" charset="-122"/>
            </a:endParaRPr>
          </a:p>
          <a:p>
            <a:pPr>
              <a:buClr>
                <a:srgbClr val="C00000"/>
              </a:buClr>
              <a:buFont typeface="Wingdings" pitchFamily="2" charset="2"/>
              <a:buChar char="l"/>
            </a:pPr>
            <a:r>
              <a:rPr lang="en-US" altLang="zh-CN" b="1" dirty="0">
                <a:ea typeface="楷体" pitchFamily="49" charset="-122"/>
              </a:rPr>
              <a:t> </a:t>
            </a:r>
            <a:r>
              <a:rPr lang="zh-CN" altLang="zh-CN" b="1" dirty="0">
                <a:ea typeface="楷体" pitchFamily="49" charset="-122"/>
              </a:rPr>
              <a:t>标准出错输出-----显示器     </a:t>
            </a:r>
            <a:r>
              <a:rPr lang="en-US" altLang="zh-CN" b="1" dirty="0" err="1">
                <a:solidFill>
                  <a:srgbClr val="C00000"/>
                </a:solidFill>
                <a:ea typeface="楷体" pitchFamily="49" charset="-122"/>
              </a:rPr>
              <a:t>stderr</a:t>
            </a:r>
            <a:endParaRPr lang="en-US" altLang="zh-CN" b="1" dirty="0">
              <a:solidFill>
                <a:srgbClr val="C00000"/>
              </a:solidFill>
              <a:ea typeface="楷体" pitchFamily="49" charset="-122"/>
            </a:endParaRPr>
          </a:p>
        </p:txBody>
      </p:sp>
      <p:sp>
        <p:nvSpPr>
          <p:cNvPr id="1057805" name="Rectangle 13"/>
          <p:cNvSpPr>
            <a:spLocks noChangeArrowheads="1"/>
          </p:cNvSpPr>
          <p:nvPr/>
        </p:nvSpPr>
        <p:spPr bwMode="auto">
          <a:xfrm>
            <a:off x="1516212" y="4524747"/>
            <a:ext cx="21605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C00000"/>
              </a:buClr>
              <a:buFont typeface="Wingdings" pitchFamily="2" charset="2"/>
              <a:buChar char="l"/>
            </a:pPr>
            <a:r>
              <a:rPr lang="en-US" altLang="zh-CN" b="1" dirty="0">
                <a:latin typeface="+mn-lt"/>
                <a:ea typeface="楷体" pitchFamily="49" charset="-122"/>
              </a:rPr>
              <a:t> </a:t>
            </a:r>
            <a:r>
              <a:rPr lang="zh-CN" altLang="zh-CN" b="1" dirty="0">
                <a:latin typeface="+mn-lt"/>
                <a:ea typeface="楷体" pitchFamily="49" charset="-122"/>
              </a:rPr>
              <a:t>函数原形：         </a:t>
            </a:r>
            <a:endParaRPr lang="zh-CN" altLang="en-US" b="1" dirty="0">
              <a:solidFill>
                <a:srgbClr val="D60093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057806" name="AutoShape 14"/>
          <p:cNvSpPr>
            <a:spLocks noChangeArrowheads="1"/>
          </p:cNvSpPr>
          <p:nvPr/>
        </p:nvSpPr>
        <p:spPr bwMode="auto">
          <a:xfrm>
            <a:off x="3973478" y="4235823"/>
            <a:ext cx="1989138" cy="415925"/>
          </a:xfrm>
          <a:prstGeom prst="wedgeRectCallout">
            <a:avLst>
              <a:gd name="adj1" fmla="val 1954"/>
              <a:gd name="adj2" fmla="val 177861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zh-CN" sz="2000" b="1">
                <a:solidFill>
                  <a:srgbClr val="C01920"/>
                </a:solidFill>
                <a:latin typeface="+mn-lt"/>
                <a:ea typeface="楷体" pitchFamily="49" charset="-122"/>
              </a:rPr>
              <a:t>要打开的文件名</a:t>
            </a:r>
            <a:endParaRPr lang="zh-CN" altLang="en-US" sz="2000" b="1">
              <a:solidFill>
                <a:srgbClr val="C0192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057807" name="AutoShape 15"/>
          <p:cNvSpPr>
            <a:spLocks noChangeArrowheads="1"/>
          </p:cNvSpPr>
          <p:nvPr/>
        </p:nvSpPr>
        <p:spPr bwMode="auto">
          <a:xfrm>
            <a:off x="6389306" y="4235823"/>
            <a:ext cx="1733550" cy="415925"/>
          </a:xfrm>
          <a:prstGeom prst="wedgeRectCallout">
            <a:avLst>
              <a:gd name="adj1" fmla="val -34523"/>
              <a:gd name="adj2" fmla="val 191602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zh-CN" sz="2000" b="1">
                <a:solidFill>
                  <a:srgbClr val="C01920"/>
                </a:solidFill>
                <a:latin typeface="+mn-lt"/>
                <a:ea typeface="楷体" pitchFamily="49" charset="-122"/>
              </a:rPr>
              <a:t>打开文件方式</a:t>
            </a:r>
            <a:endParaRPr lang="zh-CN" altLang="en-US" sz="2000" b="1">
              <a:solidFill>
                <a:srgbClr val="C0192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057808" name="Rectangle 16"/>
          <p:cNvSpPr>
            <a:spLocks noChangeArrowheads="1"/>
          </p:cNvSpPr>
          <p:nvPr/>
        </p:nvSpPr>
        <p:spPr bwMode="auto">
          <a:xfrm>
            <a:off x="1519068" y="5578848"/>
            <a:ext cx="962092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>
                <a:srgbClr val="C00000"/>
              </a:buClr>
              <a:buFont typeface="Wingdings" pitchFamily="2" charset="2"/>
              <a:buChar char="l"/>
            </a:pPr>
            <a:r>
              <a:rPr lang="en-US" altLang="zh-CN" b="1" dirty="0"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latin typeface="+mn-lt"/>
                <a:ea typeface="楷体" pitchFamily="49" charset="-122"/>
              </a:rPr>
              <a:t>功能：按指定方式打开文件</a:t>
            </a:r>
          </a:p>
          <a:p>
            <a:pPr marL="180975" indent="-180975">
              <a:buClr>
                <a:srgbClr val="C00000"/>
              </a:buClr>
              <a:buFont typeface="Wingdings" pitchFamily="2" charset="2"/>
              <a:buChar char="l"/>
            </a:pPr>
            <a:r>
              <a:rPr lang="zh-CN" altLang="en-US" b="1" dirty="0">
                <a:latin typeface="+mn-lt"/>
                <a:ea typeface="楷体" pitchFamily="49" charset="-122"/>
              </a:rPr>
              <a:t> 返值：正常打开，为指向文件结构体的指针；打开 失败，为</a:t>
            </a:r>
            <a:r>
              <a:rPr lang="en-US" altLang="zh-CN" b="1" dirty="0">
                <a:latin typeface="+mn-lt"/>
                <a:ea typeface="楷体" pitchFamily="49" charset="-122"/>
              </a:rPr>
              <a:t>NULL</a:t>
            </a:r>
            <a:r>
              <a:rPr lang="zh-CN" altLang="en-US" b="1" dirty="0">
                <a:latin typeface="+mn-lt"/>
                <a:ea typeface="楷体" pitchFamily="49" charset="-122"/>
              </a:rPr>
              <a:t>。</a:t>
            </a:r>
            <a:endParaRPr lang="en-US" altLang="zh-CN" b="1" dirty="0">
              <a:latin typeface="+mn-lt"/>
              <a:ea typeface="楷体" pitchFamily="49" charset="-122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B3657E78-D3BC-44CB-AC6E-7E6BB45DE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12.5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文件的打开、读写和关闭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57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57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57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57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57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57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10578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57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57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578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578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0578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10578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8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10578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8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6" dur="500"/>
                                        <p:tgtEl>
                                          <p:spTgt spid="10578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1" dur="500"/>
                                        <p:tgtEl>
                                          <p:spTgt spid="10578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57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6" dur="500"/>
                                        <p:tgtEl>
                                          <p:spTgt spid="10578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57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7800" grpId="0"/>
      <p:bldP spid="1057801" grpId="0"/>
      <p:bldP spid="1057802" grpId="0" animBg="1"/>
      <p:bldP spid="1057804" grpId="0" animBg="1"/>
      <p:bldP spid="1057805" grpId="0"/>
      <p:bldP spid="1057806" grpId="0" animBg="1" autoUpdateAnimBg="0"/>
      <p:bldP spid="1057807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4">
            <a:extLst>
              <a:ext uri="{FF2B5EF4-FFF2-40B4-BE49-F238E27FC236}">
                <a16:creationId xmlns:a16="http://schemas.microsoft.com/office/drawing/2014/main" id="{59A92FAE-CCCF-4B30-AEEA-5C21DBA34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12.5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文件的打开、读写和关闭 </a:t>
            </a:r>
          </a:p>
        </p:txBody>
      </p:sp>
      <p:sp>
        <p:nvSpPr>
          <p:cNvPr id="1059855" name="Rectangle 15"/>
          <p:cNvSpPr>
            <a:spLocks noChangeArrowheads="1"/>
          </p:cNvSpPr>
          <p:nvPr/>
        </p:nvSpPr>
        <p:spPr bwMode="auto">
          <a:xfrm>
            <a:off x="890416" y="942782"/>
            <a:ext cx="6285704" cy="3466911"/>
          </a:xfrm>
          <a:prstGeom prst="rect">
            <a:avLst/>
          </a:prstGeom>
          <a:noFill/>
          <a:ln>
            <a:noFill/>
            <a:headEnd/>
            <a:tailEnd/>
          </a:ln>
          <a:effectLst/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>
              <a:lnSpc>
                <a:spcPts val="2600"/>
              </a:lnSpc>
              <a:tabLst>
                <a:tab pos="266700" algn="l"/>
              </a:tabLst>
            </a:pPr>
            <a:r>
              <a:rPr lang="zh-CN" altLang="en-US" b="1" u="sng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打开文件方式</a:t>
            </a:r>
            <a:r>
              <a:rPr lang="en-US" altLang="zh-CN" b="1" u="sng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mode</a:t>
            </a:r>
            <a:r>
              <a:rPr lang="zh-CN" altLang="en-US" b="1" u="sng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由两类字符构成：</a:t>
            </a:r>
            <a:endParaRPr lang="en-US" altLang="zh-CN" b="1" u="sng" dirty="0">
              <a:solidFill>
                <a:srgbClr val="C0192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tabLst>
                <a:tab pos="266700" algn="l"/>
              </a:tabLst>
            </a:pPr>
            <a:endParaRPr lang="en-US" altLang="zh-CN" sz="1400" b="1" u="sng" dirty="0">
              <a:solidFill>
                <a:srgbClr val="C0192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lnSpc>
                <a:spcPts val="2600"/>
              </a:lnSpc>
              <a:buFont typeface="Wingdings" panose="05000000000000000000" pitchFamily="2" charset="2"/>
              <a:buChar char="l"/>
              <a:tabLst>
                <a:tab pos="266700" algn="l"/>
              </a:tabLst>
            </a:pPr>
            <a:r>
              <a:rPr lang="zh-CN" altLang="en-US" sz="2000" b="1" dirty="0">
                <a:solidFill>
                  <a:srgbClr val="C01920"/>
                </a:solidFill>
                <a:ea typeface="楷体" pitchFamily="49" charset="-122"/>
              </a:rPr>
              <a:t>一类字符表示打开文件的类型</a:t>
            </a:r>
            <a:endParaRPr lang="en-US" altLang="zh-CN" sz="2000" b="1" dirty="0">
              <a:solidFill>
                <a:srgbClr val="C01920"/>
              </a:solidFill>
              <a:ea typeface="楷体" pitchFamily="49" charset="-122"/>
            </a:endParaRPr>
          </a:p>
          <a:p>
            <a:pPr marL="800100" lvl="1" indent="-342900">
              <a:lnSpc>
                <a:spcPts val="2600"/>
              </a:lnSpc>
              <a:buFont typeface="Wingdings" panose="05000000000000000000" pitchFamily="2" charset="2"/>
              <a:buChar char="Ø"/>
              <a:tabLst>
                <a:tab pos="266700" algn="l"/>
              </a:tabLst>
            </a:pPr>
            <a:r>
              <a:rPr lang="en-US" altLang="zh-CN" sz="2000" b="1" dirty="0">
                <a:solidFill>
                  <a:srgbClr val="002060"/>
                </a:solidFill>
                <a:ea typeface="楷体" pitchFamily="49" charset="-122"/>
              </a:rPr>
              <a:t>t</a:t>
            </a:r>
            <a:r>
              <a:rPr lang="en-US" altLang="zh-CN" sz="2000" b="1" dirty="0">
                <a:ea typeface="楷体" pitchFamily="49" charset="-122"/>
              </a:rPr>
              <a:t>-----</a:t>
            </a:r>
            <a:r>
              <a:rPr lang="zh-CN" altLang="en-US" sz="2000" b="1" dirty="0">
                <a:ea typeface="楷体" pitchFamily="49" charset="-122"/>
              </a:rPr>
              <a:t>表示文本文件（</a:t>
            </a:r>
            <a:r>
              <a:rPr lang="en-US" altLang="zh-CN" sz="2000" b="1" dirty="0">
                <a:solidFill>
                  <a:srgbClr val="002060"/>
                </a:solidFill>
                <a:ea typeface="楷体" pitchFamily="49" charset="-122"/>
              </a:rPr>
              <a:t>t</a:t>
            </a:r>
            <a:r>
              <a:rPr lang="en-US" altLang="zh-CN" sz="2000" b="1" dirty="0">
                <a:ea typeface="楷体" pitchFamily="49" charset="-122"/>
              </a:rPr>
              <a:t>ext</a:t>
            </a:r>
            <a:r>
              <a:rPr lang="zh-CN" altLang="en-US" sz="2000" b="1" dirty="0">
                <a:ea typeface="楷体" pitchFamily="49" charset="-122"/>
              </a:rPr>
              <a:t>，默认方式）</a:t>
            </a:r>
            <a:endParaRPr lang="en-US" altLang="zh-CN" sz="2000" b="1" dirty="0">
              <a:ea typeface="楷体" pitchFamily="49" charset="-122"/>
            </a:endParaRPr>
          </a:p>
          <a:p>
            <a:pPr marL="800100" lvl="1" indent="-342900">
              <a:lnSpc>
                <a:spcPts val="2600"/>
              </a:lnSpc>
              <a:buFont typeface="Wingdings" panose="05000000000000000000" pitchFamily="2" charset="2"/>
              <a:buChar char="Ø"/>
              <a:tabLst>
                <a:tab pos="266700" algn="l"/>
              </a:tabLst>
            </a:pPr>
            <a:r>
              <a:rPr lang="en-US" altLang="zh-CN" sz="2000" b="1" dirty="0">
                <a:solidFill>
                  <a:srgbClr val="002060"/>
                </a:solidFill>
                <a:ea typeface="楷体" pitchFamily="49" charset="-122"/>
              </a:rPr>
              <a:t>b</a:t>
            </a:r>
            <a:r>
              <a:rPr lang="en-US" altLang="zh-CN" sz="2000" b="1" dirty="0">
                <a:ea typeface="楷体" pitchFamily="49" charset="-122"/>
              </a:rPr>
              <a:t>----</a:t>
            </a:r>
            <a:r>
              <a:rPr lang="zh-CN" altLang="en-US" sz="2000" b="1" dirty="0">
                <a:ea typeface="楷体" pitchFamily="49" charset="-122"/>
              </a:rPr>
              <a:t>表示二进制文件（</a:t>
            </a:r>
            <a:r>
              <a:rPr lang="en-US" altLang="zh-CN" sz="2000" b="1" dirty="0">
                <a:solidFill>
                  <a:srgbClr val="002060"/>
                </a:solidFill>
                <a:ea typeface="楷体" pitchFamily="49" charset="-122"/>
              </a:rPr>
              <a:t>b</a:t>
            </a:r>
            <a:r>
              <a:rPr lang="en-US" altLang="zh-CN" sz="2000" b="1" dirty="0">
                <a:ea typeface="楷体" pitchFamily="49" charset="-122"/>
              </a:rPr>
              <a:t>inary</a:t>
            </a:r>
            <a:r>
              <a:rPr lang="zh-CN" altLang="en-US" sz="2000" b="1" dirty="0">
                <a:ea typeface="楷体" pitchFamily="49" charset="-122"/>
              </a:rPr>
              <a:t>）</a:t>
            </a:r>
            <a:endParaRPr lang="en-US" altLang="zh-CN" sz="2000" b="1" dirty="0">
              <a:ea typeface="楷体" pitchFamily="49" charset="-122"/>
            </a:endParaRPr>
          </a:p>
          <a:p>
            <a:pPr marL="800100" lvl="1" indent="-342900">
              <a:buFont typeface="Wingdings" panose="05000000000000000000" pitchFamily="2" charset="2"/>
              <a:buChar char="Ø"/>
              <a:tabLst>
                <a:tab pos="266700" algn="l"/>
              </a:tabLst>
            </a:pPr>
            <a:endParaRPr lang="en-US" altLang="zh-CN" sz="1000" b="1" dirty="0">
              <a:ea typeface="楷体" pitchFamily="49" charset="-122"/>
            </a:endParaRPr>
          </a:p>
          <a:p>
            <a:pPr marL="342900" indent="-342900">
              <a:lnSpc>
                <a:spcPts val="2600"/>
              </a:lnSpc>
              <a:buFont typeface="Wingdings" panose="05000000000000000000" pitchFamily="2" charset="2"/>
              <a:buChar char="l"/>
              <a:tabLst>
                <a:tab pos="266700" algn="l"/>
              </a:tabLst>
            </a:pPr>
            <a:r>
              <a:rPr lang="zh-CN" altLang="en-US" sz="2000" b="1" dirty="0">
                <a:solidFill>
                  <a:srgbClr val="C01920"/>
                </a:solidFill>
                <a:ea typeface="楷体" pitchFamily="49" charset="-122"/>
              </a:rPr>
              <a:t>另一类字符是操作类型</a:t>
            </a:r>
            <a:endParaRPr lang="en-US" altLang="zh-CN" sz="2000" b="1" dirty="0">
              <a:solidFill>
                <a:srgbClr val="C01920"/>
              </a:solidFill>
              <a:ea typeface="楷体" pitchFamily="49" charset="-122"/>
            </a:endParaRPr>
          </a:p>
          <a:p>
            <a:pPr marL="800100" lvl="1" indent="-342900">
              <a:lnSpc>
                <a:spcPts val="2600"/>
              </a:lnSpc>
              <a:buFont typeface="Wingdings" panose="05000000000000000000" pitchFamily="2" charset="2"/>
              <a:buChar char="Ø"/>
              <a:tabLst>
                <a:tab pos="266700" algn="l"/>
              </a:tabLst>
            </a:pPr>
            <a:r>
              <a:rPr lang="en-US" altLang="zh-CN" sz="2000" b="1" dirty="0">
                <a:solidFill>
                  <a:srgbClr val="C01920"/>
                </a:solidFill>
                <a:ea typeface="楷体" pitchFamily="49" charset="-122"/>
              </a:rPr>
              <a:t>r</a:t>
            </a:r>
            <a:r>
              <a:rPr lang="en-US" altLang="zh-CN" sz="2000" b="1" dirty="0">
                <a:ea typeface="楷体" pitchFamily="49" charset="-122"/>
              </a:rPr>
              <a:t>----</a:t>
            </a:r>
            <a:r>
              <a:rPr lang="zh-CN" altLang="en-US" sz="2000" b="1" dirty="0">
                <a:ea typeface="楷体" pitchFamily="49" charset="-122"/>
              </a:rPr>
              <a:t>表示从文件中读取数据（</a:t>
            </a:r>
            <a:r>
              <a:rPr lang="en-US" altLang="zh-CN" sz="2000" b="1" dirty="0">
                <a:solidFill>
                  <a:srgbClr val="C01920"/>
                </a:solidFill>
                <a:ea typeface="楷体" pitchFamily="49" charset="-122"/>
              </a:rPr>
              <a:t>r</a:t>
            </a:r>
            <a:r>
              <a:rPr lang="en-US" altLang="zh-CN" sz="2000" b="1" dirty="0">
                <a:ea typeface="楷体" pitchFamily="49" charset="-122"/>
              </a:rPr>
              <a:t>ead</a:t>
            </a:r>
            <a:r>
              <a:rPr lang="zh-CN" altLang="en-US" sz="2000" b="1" dirty="0">
                <a:ea typeface="楷体" pitchFamily="49" charset="-122"/>
              </a:rPr>
              <a:t>）</a:t>
            </a:r>
            <a:endParaRPr lang="en-US" altLang="zh-CN" sz="2000" b="1" dirty="0">
              <a:ea typeface="楷体" pitchFamily="49" charset="-122"/>
            </a:endParaRPr>
          </a:p>
          <a:p>
            <a:pPr marL="800100" lvl="1" indent="-342900">
              <a:lnSpc>
                <a:spcPts val="2600"/>
              </a:lnSpc>
              <a:buFont typeface="Wingdings" panose="05000000000000000000" pitchFamily="2" charset="2"/>
              <a:buChar char="Ø"/>
              <a:tabLst>
                <a:tab pos="266700" algn="l"/>
              </a:tabLst>
            </a:pPr>
            <a:r>
              <a:rPr lang="en-US" altLang="zh-CN" sz="2000" b="1" dirty="0">
                <a:solidFill>
                  <a:srgbClr val="C01920"/>
                </a:solidFill>
                <a:ea typeface="楷体" pitchFamily="49" charset="-122"/>
              </a:rPr>
              <a:t>w</a:t>
            </a:r>
            <a:r>
              <a:rPr lang="en-US" altLang="zh-CN" sz="2000" b="1" dirty="0">
                <a:ea typeface="楷体" pitchFamily="49" charset="-122"/>
              </a:rPr>
              <a:t>---</a:t>
            </a:r>
            <a:r>
              <a:rPr lang="zh-CN" altLang="en-US" sz="2000" b="1" dirty="0">
                <a:ea typeface="楷体" pitchFamily="49" charset="-122"/>
              </a:rPr>
              <a:t>表示向文件写入数据（</a:t>
            </a:r>
            <a:r>
              <a:rPr lang="en-US" altLang="zh-CN" sz="2000" b="1" dirty="0">
                <a:solidFill>
                  <a:srgbClr val="C01920"/>
                </a:solidFill>
                <a:ea typeface="楷体" pitchFamily="49" charset="-122"/>
              </a:rPr>
              <a:t>w</a:t>
            </a:r>
            <a:r>
              <a:rPr lang="en-US" altLang="zh-CN" sz="2000" b="1" dirty="0">
                <a:ea typeface="楷体" pitchFamily="49" charset="-122"/>
              </a:rPr>
              <a:t>rite</a:t>
            </a:r>
            <a:r>
              <a:rPr lang="zh-CN" altLang="en-US" sz="2000" b="1" dirty="0">
                <a:ea typeface="楷体" pitchFamily="49" charset="-122"/>
              </a:rPr>
              <a:t>）</a:t>
            </a:r>
            <a:endParaRPr lang="en-US" altLang="zh-CN" sz="2000" b="1" dirty="0">
              <a:ea typeface="楷体" pitchFamily="49" charset="-122"/>
            </a:endParaRPr>
          </a:p>
          <a:p>
            <a:pPr marL="800100" lvl="1" indent="-342900">
              <a:lnSpc>
                <a:spcPts val="2600"/>
              </a:lnSpc>
              <a:buFont typeface="Wingdings" panose="05000000000000000000" pitchFamily="2" charset="2"/>
              <a:buChar char="Ø"/>
              <a:tabLst>
                <a:tab pos="266700" algn="l"/>
              </a:tabLst>
            </a:pPr>
            <a:r>
              <a:rPr lang="en-US" altLang="zh-CN" sz="2000" b="1" dirty="0">
                <a:solidFill>
                  <a:srgbClr val="C01920"/>
                </a:solidFill>
                <a:ea typeface="楷体" pitchFamily="49" charset="-122"/>
              </a:rPr>
              <a:t>a</a:t>
            </a:r>
            <a:r>
              <a:rPr lang="en-US" altLang="zh-CN" sz="2000" b="1" dirty="0">
                <a:ea typeface="楷体" pitchFamily="49" charset="-122"/>
              </a:rPr>
              <a:t>----</a:t>
            </a:r>
            <a:r>
              <a:rPr lang="zh-CN" altLang="en-US" sz="2000" b="1" dirty="0">
                <a:ea typeface="楷体" pitchFamily="49" charset="-122"/>
              </a:rPr>
              <a:t>表示在文件尾追加数据（</a:t>
            </a:r>
            <a:r>
              <a:rPr lang="en-US" altLang="zh-CN" sz="2000" b="1" dirty="0">
                <a:solidFill>
                  <a:srgbClr val="C01920"/>
                </a:solidFill>
                <a:ea typeface="楷体" pitchFamily="49" charset="-122"/>
              </a:rPr>
              <a:t>a</a:t>
            </a:r>
            <a:r>
              <a:rPr lang="en-US" altLang="zh-CN" sz="2000" b="1" dirty="0">
                <a:ea typeface="楷体" pitchFamily="49" charset="-122"/>
              </a:rPr>
              <a:t>ppend</a:t>
            </a:r>
            <a:r>
              <a:rPr lang="zh-CN" altLang="en-US" sz="2000" b="1" dirty="0">
                <a:ea typeface="楷体" pitchFamily="49" charset="-122"/>
              </a:rPr>
              <a:t>）</a:t>
            </a:r>
            <a:endParaRPr lang="en-US" altLang="zh-CN" sz="2000" b="1" dirty="0">
              <a:ea typeface="楷体" pitchFamily="49" charset="-122"/>
            </a:endParaRPr>
          </a:p>
          <a:p>
            <a:pPr marL="800100" lvl="1" indent="-342900">
              <a:lnSpc>
                <a:spcPts val="2600"/>
              </a:lnSpc>
              <a:buFont typeface="Wingdings" panose="05000000000000000000" pitchFamily="2" charset="2"/>
              <a:buChar char="Ø"/>
              <a:tabLst>
                <a:tab pos="266700" algn="l"/>
              </a:tabLst>
            </a:pPr>
            <a:r>
              <a:rPr lang="en-US" altLang="zh-CN" sz="2000" b="1" dirty="0">
                <a:solidFill>
                  <a:srgbClr val="C01920"/>
                </a:solidFill>
                <a:ea typeface="楷体" pitchFamily="49" charset="-122"/>
              </a:rPr>
              <a:t>+</a:t>
            </a:r>
            <a:r>
              <a:rPr lang="en-US" altLang="zh-CN" sz="2000" b="1" dirty="0">
                <a:ea typeface="楷体" pitchFamily="49" charset="-122"/>
              </a:rPr>
              <a:t>----</a:t>
            </a:r>
            <a:r>
              <a:rPr lang="zh-CN" altLang="en-US" sz="2000" b="1" dirty="0">
                <a:ea typeface="楷体" pitchFamily="49" charset="-122"/>
              </a:rPr>
              <a:t>表示文件可读可写 </a:t>
            </a:r>
          </a:p>
        </p:txBody>
      </p:sp>
      <p:graphicFrame>
        <p:nvGraphicFramePr>
          <p:cNvPr id="1060014" name="Group 1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4965433"/>
              </p:ext>
            </p:extLst>
          </p:nvPr>
        </p:nvGraphicFramePr>
        <p:xfrm>
          <a:off x="3827856" y="922096"/>
          <a:ext cx="8208962" cy="589128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620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8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打开文件的方式字符</a:t>
                      </a:r>
                    </a:p>
                  </a:txBody>
                  <a:tcPr marL="90000" marR="90000" marT="46800" marB="46800" anchor="ctr" anchorCtr="1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含   义</a:t>
                      </a: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r</a:t>
                      </a:r>
                    </a:p>
                  </a:txBody>
                  <a:tcPr marL="90000" marR="90000" marT="46800" marB="46800" anchor="ctr" anchorCtr="1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打开一个已存在的文件，准备从文件中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读取数据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。不能向文件写数据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w</a:t>
                      </a:r>
                    </a:p>
                  </a:txBody>
                  <a:tcPr marL="90000" marR="90000" marT="46800" marB="46800" anchor="ctr" anchorCtr="1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创建一个新文件，准备向文件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写入数据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。不能从文件中读取数据。如果文件已经存在，这个文件将被覆盖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90000" marR="90000" marT="46800" marB="46800" anchor="ctr" anchorCtr="1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打开一个已存在的文件，准备在文件尾部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追加数据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。不能从文件中读取数据。如果文件不存在，则创建这个文件准备写入数据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r+</a:t>
                      </a:r>
                    </a:p>
                  </a:txBody>
                  <a:tcPr marL="90000" marR="90000" marT="46800" marB="46800" anchor="ctr" anchorCtr="1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打开一个已存在的文件，准备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读写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。既可以读取数据，也可以写入数据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w+</a:t>
                      </a:r>
                    </a:p>
                  </a:txBody>
                  <a:tcPr marL="90000" marR="90000" marT="46800" marB="46800" anchor="ctr" anchorCtr="1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创建一个新文件，准备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读写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。如果文件已经存在，则覆盖原文件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a+</a:t>
                      </a:r>
                    </a:p>
                  </a:txBody>
                  <a:tcPr marL="90000" marR="90000" marT="46800" marB="46800" anchor="ctr" anchorCtr="1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等价于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a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，但可从文件中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读取数据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t</a:t>
                      </a:r>
                    </a:p>
                  </a:txBody>
                  <a:tcPr marL="90000" marR="90000" marT="46800" marB="46800" anchor="ctr" anchorCtr="1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打开一个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文本文件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90000" marR="90000" marT="46800" marB="46800" anchor="ctr" anchorCtr="1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打开一个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楷体" pitchFamily="49" charset="-122"/>
                          <a:cs typeface="Times New Roman" pitchFamily="18" charset="0"/>
                        </a:rPr>
                        <a:t>二进制文件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60018" name="Rectangle 178" descr="信纸"/>
          <p:cNvSpPr>
            <a:spLocks noChangeArrowheads="1"/>
          </p:cNvSpPr>
          <p:nvPr/>
        </p:nvSpPr>
        <p:spPr bwMode="auto">
          <a:xfrm>
            <a:off x="738561" y="3523730"/>
            <a:ext cx="6040670" cy="3051175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1920"/>
                </a:solidFill>
                <a:ea typeface="隶书" pitchFamily="49" charset="-122"/>
              </a:rPr>
              <a:t>例：</a:t>
            </a:r>
          </a:p>
          <a:p>
            <a:r>
              <a:rPr lang="en-US" altLang="zh-CN" b="1" dirty="0"/>
              <a:t>FILE  *</a:t>
            </a:r>
            <a:r>
              <a:rPr lang="en-US" altLang="zh-CN" b="1" dirty="0" err="1"/>
              <a:t>fp</a:t>
            </a:r>
            <a:r>
              <a:rPr lang="en-US" altLang="zh-CN" b="1" dirty="0"/>
              <a:t>;</a:t>
            </a:r>
          </a:p>
          <a:p>
            <a:r>
              <a:rPr lang="en-US" altLang="zh-CN" b="1" dirty="0" err="1">
                <a:solidFill>
                  <a:srgbClr val="CC0000"/>
                </a:solidFill>
              </a:rPr>
              <a:t>fp</a:t>
            </a:r>
            <a:r>
              <a:rPr lang="en-US" altLang="zh-CN" b="1" dirty="0">
                <a:solidFill>
                  <a:srgbClr val="CC0000"/>
                </a:solidFill>
              </a:rPr>
              <a:t> = </a:t>
            </a:r>
            <a:r>
              <a:rPr lang="en-US" altLang="zh-CN" b="1" dirty="0" err="1">
                <a:solidFill>
                  <a:srgbClr val="CC0000"/>
                </a:solidFill>
              </a:rPr>
              <a:t>fopen</a:t>
            </a:r>
            <a:r>
              <a:rPr lang="en-US" altLang="zh-CN" b="1" dirty="0">
                <a:solidFill>
                  <a:srgbClr val="CC0000"/>
                </a:solidFill>
              </a:rPr>
              <a:t> ("wang.txt", "r");</a:t>
            </a:r>
          </a:p>
          <a:p>
            <a:r>
              <a:rPr lang="en-US" altLang="zh-CN" b="1" dirty="0"/>
              <a:t>if (</a:t>
            </a:r>
            <a:r>
              <a:rPr lang="en-US" altLang="zh-CN" b="1" dirty="0" err="1"/>
              <a:t>fp</a:t>
            </a:r>
            <a:r>
              <a:rPr lang="en-US" altLang="zh-CN" b="1" dirty="0"/>
              <a:t> = = NULL)</a:t>
            </a:r>
          </a:p>
          <a:p>
            <a:r>
              <a:rPr lang="en-US" altLang="zh-CN" b="1" dirty="0"/>
              <a:t>{</a:t>
            </a:r>
          </a:p>
          <a:p>
            <a:r>
              <a:rPr lang="en-US" altLang="zh-CN" b="1" dirty="0"/>
              <a:t>  </a:t>
            </a:r>
            <a:r>
              <a:rPr lang="en-US" altLang="zh-CN" b="1" dirty="0" err="1"/>
              <a:t>printf</a:t>
            </a:r>
            <a:r>
              <a:rPr lang="en-US" altLang="zh-CN" b="1" dirty="0"/>
              <a:t> ("the file </a:t>
            </a:r>
            <a:r>
              <a:rPr lang="zh-CN" altLang="en-US" b="1" dirty="0"/>
              <a:t>：</a:t>
            </a:r>
            <a:r>
              <a:rPr lang="en-US" altLang="zh-CN" b="1" dirty="0"/>
              <a:t>wang.txt not found! ");</a:t>
            </a:r>
          </a:p>
          <a:p>
            <a:r>
              <a:rPr lang="en-US" altLang="zh-CN" b="1" dirty="0"/>
              <a:t>  exit (-1);</a:t>
            </a:r>
          </a:p>
          <a:p>
            <a:r>
              <a:rPr lang="en-US" altLang="zh-CN" b="1" dirty="0"/>
              <a:t>}</a:t>
            </a:r>
          </a:p>
        </p:txBody>
      </p:sp>
      <p:sp>
        <p:nvSpPr>
          <p:cNvPr id="9" name="AutoShape 14">
            <a:extLst>
              <a:ext uri="{FF2B5EF4-FFF2-40B4-BE49-F238E27FC236}">
                <a16:creationId xmlns:a16="http://schemas.microsoft.com/office/drawing/2014/main" id="{7A34E5F9-9362-49D0-9588-2DB21F84E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800" y="2949894"/>
            <a:ext cx="2304256" cy="648512"/>
          </a:xfrm>
          <a:prstGeom prst="wedgeRectCallout">
            <a:avLst>
              <a:gd name="adj1" fmla="val -45062"/>
              <a:gd name="adj2" fmla="val 165338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lIns="90000" tIns="46800" rIns="90000" bIns="46800" anchor="ctr">
            <a:spAutoFit/>
          </a:bodyPr>
          <a:lstStyle/>
          <a:p>
            <a:r>
              <a:rPr lang="zh-CN" altLang="en-US" sz="1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以读的方式打开文本文件</a:t>
            </a:r>
            <a:r>
              <a:rPr lang="en-US" altLang="zh-CN" sz="18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wang.txt</a:t>
            </a:r>
            <a:endParaRPr lang="zh-CN" altLang="en-US" sz="1800" b="1" dirty="0">
              <a:solidFill>
                <a:srgbClr val="C0192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060017" name="Rectangle 177"/>
          <p:cNvSpPr>
            <a:spLocks noChangeArrowheads="1"/>
          </p:cNvSpPr>
          <p:nvPr/>
        </p:nvSpPr>
        <p:spPr bwMode="auto">
          <a:xfrm>
            <a:off x="1055688" y="2639978"/>
            <a:ext cx="9865096" cy="3539430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pPr>
              <a:tabLst>
                <a:tab pos="266700" algn="l"/>
              </a:tabLst>
            </a:pPr>
            <a:r>
              <a:rPr lang="zh-CN" altLang="en-US" b="1" dirty="0">
                <a:solidFill>
                  <a:srgbClr val="C00000"/>
                </a:solidFill>
                <a:ea typeface="隶书" pitchFamily="49" charset="-122"/>
              </a:rPr>
              <a:t>注意：</a:t>
            </a:r>
          </a:p>
          <a:p>
            <a:pPr marL="342900" lvl="0" indent="-342900">
              <a:buFont typeface="Wingdings" panose="05000000000000000000" pitchFamily="2" charset="2"/>
              <a:buChar char="u"/>
            </a:pPr>
            <a:r>
              <a:rPr lang="zh-CN" altLang="zh-CN" sz="2000" b="1" dirty="0">
                <a:ln w="1905"/>
                <a:ea typeface="隶书" pitchFamily="49" charset="-122"/>
              </a:rPr>
              <a:t>对文件操作的库函数，函数原型均在</a:t>
            </a:r>
            <a:r>
              <a:rPr lang="zh-CN" altLang="zh-CN" sz="2000" b="1" dirty="0">
                <a:ln w="1905"/>
                <a:solidFill>
                  <a:srgbClr val="C00000"/>
                </a:solidFill>
                <a:ea typeface="隶书" pitchFamily="49" charset="-122"/>
              </a:rPr>
              <a:t>头文件</a:t>
            </a:r>
            <a:r>
              <a:rPr lang="en-US" altLang="zh-CN" sz="2000" b="1" dirty="0" err="1">
                <a:ln w="1905"/>
                <a:solidFill>
                  <a:srgbClr val="C00000"/>
                </a:solidFill>
                <a:ea typeface="隶书" pitchFamily="49" charset="-122"/>
              </a:rPr>
              <a:t>stdio.h</a:t>
            </a:r>
            <a:r>
              <a:rPr lang="zh-CN" altLang="zh-CN" sz="2000" b="1" dirty="0">
                <a:ln w="1905"/>
                <a:ea typeface="隶书" pitchFamily="49" charset="-122"/>
              </a:rPr>
              <a:t>中。</a:t>
            </a:r>
            <a:endParaRPr lang="en-US" altLang="zh-CN" sz="2000" b="1" dirty="0">
              <a:ln w="1905"/>
              <a:ea typeface="隶书" pitchFamily="49" charset="-122"/>
            </a:endParaRPr>
          </a:p>
          <a:p>
            <a:pPr marL="342900" lvl="0" indent="-342900">
              <a:buClr>
                <a:schemeClr val="tx1"/>
              </a:buClr>
              <a:buFont typeface="Wingdings" panose="05000000000000000000" pitchFamily="2" charset="2"/>
              <a:buChar char="u"/>
            </a:pPr>
            <a:r>
              <a:rPr lang="zh-CN" altLang="zh-CN" sz="2000" b="1" dirty="0">
                <a:ln w="1905"/>
                <a:solidFill>
                  <a:srgbClr val="C00000"/>
                </a:solidFill>
                <a:ea typeface="隶书" pitchFamily="49" charset="-122"/>
              </a:rPr>
              <a:t>打开文件方式字符串</a:t>
            </a:r>
            <a:r>
              <a:rPr lang="en-US" altLang="zh-CN" sz="2000" b="1" dirty="0">
                <a:ln w="1905"/>
                <a:solidFill>
                  <a:srgbClr val="C00000"/>
                </a:solidFill>
                <a:ea typeface="隶书" pitchFamily="49" charset="-122"/>
              </a:rPr>
              <a:t>mode</a:t>
            </a:r>
            <a:r>
              <a:rPr lang="zh-CN" altLang="zh-CN" sz="2000" b="1" dirty="0">
                <a:ln w="1905"/>
                <a:solidFill>
                  <a:srgbClr val="C00000"/>
                </a:solidFill>
                <a:ea typeface="隶书" pitchFamily="49" charset="-122"/>
              </a:rPr>
              <a:t>其字符先后次序是：操作类型符在前，打开文件类型符在后。</a:t>
            </a:r>
            <a:r>
              <a:rPr lang="zh-CN" altLang="zh-CN" sz="2000" b="1" dirty="0">
                <a:ln w="1905"/>
                <a:ea typeface="隶书" pitchFamily="49" charset="-122"/>
              </a:rPr>
              <a:t>如，</a:t>
            </a:r>
            <a:r>
              <a:rPr lang="en-US" altLang="zh-CN" sz="2000" b="1" dirty="0">
                <a:ln w="1905"/>
                <a:ea typeface="隶书" pitchFamily="49" charset="-122"/>
              </a:rPr>
              <a:t>"</a:t>
            </a:r>
            <a:r>
              <a:rPr lang="en-US" altLang="zh-CN" sz="2000" b="1" dirty="0" err="1">
                <a:ln w="1905"/>
                <a:ea typeface="隶书" pitchFamily="49" charset="-122"/>
              </a:rPr>
              <a:t>rb</a:t>
            </a:r>
            <a:r>
              <a:rPr lang="en-US" altLang="zh-CN" sz="2000" b="1" dirty="0">
                <a:ln w="1905"/>
                <a:ea typeface="隶书" pitchFamily="49" charset="-122"/>
              </a:rPr>
              <a:t>"</a:t>
            </a:r>
            <a:r>
              <a:rPr lang="zh-CN" altLang="zh-CN" sz="2000" b="1" dirty="0">
                <a:ln w="1905"/>
                <a:ea typeface="隶书" pitchFamily="49" charset="-122"/>
              </a:rPr>
              <a:t>、</a:t>
            </a:r>
            <a:r>
              <a:rPr lang="en-US" altLang="zh-CN" sz="2000" b="1" dirty="0">
                <a:ln w="1905"/>
                <a:ea typeface="隶书" pitchFamily="49" charset="-122"/>
              </a:rPr>
              <a:t>"wt"</a:t>
            </a:r>
            <a:r>
              <a:rPr lang="zh-CN" altLang="zh-CN" sz="2000" b="1" dirty="0">
                <a:ln w="1905"/>
                <a:ea typeface="隶书" pitchFamily="49" charset="-122"/>
              </a:rPr>
              <a:t>，不可写成</a:t>
            </a:r>
            <a:r>
              <a:rPr lang="en-US" altLang="zh-CN" sz="2000" b="1" dirty="0">
                <a:ln w="1905"/>
                <a:ea typeface="隶书" pitchFamily="49" charset="-122"/>
              </a:rPr>
              <a:t>"</a:t>
            </a:r>
            <a:r>
              <a:rPr lang="en-US" altLang="zh-CN" sz="2000" b="1" dirty="0" err="1">
                <a:ln w="1905"/>
                <a:ea typeface="隶书" pitchFamily="49" charset="-122"/>
              </a:rPr>
              <a:t>br</a:t>
            </a:r>
            <a:r>
              <a:rPr lang="en-US" altLang="zh-CN" sz="2000" b="1" dirty="0">
                <a:ln w="1905"/>
                <a:ea typeface="隶书" pitchFamily="49" charset="-122"/>
              </a:rPr>
              <a:t>"</a:t>
            </a:r>
            <a:r>
              <a:rPr lang="zh-CN" altLang="zh-CN" sz="2000" b="1" dirty="0">
                <a:ln w="1905"/>
                <a:ea typeface="隶书" pitchFamily="49" charset="-122"/>
              </a:rPr>
              <a:t>、</a:t>
            </a:r>
            <a:r>
              <a:rPr lang="en-US" altLang="zh-CN" sz="2000" b="1" dirty="0">
                <a:ln w="1905"/>
                <a:ea typeface="隶书" pitchFamily="49" charset="-122"/>
              </a:rPr>
              <a:t>"</a:t>
            </a:r>
            <a:r>
              <a:rPr lang="en-US" altLang="zh-CN" sz="2000" b="1" dirty="0" err="1">
                <a:ln w="1905"/>
                <a:ea typeface="隶书" pitchFamily="49" charset="-122"/>
              </a:rPr>
              <a:t>tw</a:t>
            </a:r>
            <a:r>
              <a:rPr lang="en-US" altLang="zh-CN" sz="2000" b="1" dirty="0">
                <a:ln w="1905"/>
                <a:ea typeface="隶书" pitchFamily="49" charset="-122"/>
              </a:rPr>
              <a:t>"</a:t>
            </a:r>
            <a:r>
              <a:rPr lang="zh-CN" altLang="zh-CN" sz="2000" b="1" dirty="0">
                <a:ln w="1905"/>
                <a:ea typeface="隶书" pitchFamily="49" charset="-122"/>
              </a:rPr>
              <a:t>。而对于</a:t>
            </a:r>
            <a:r>
              <a:rPr lang="en-US" altLang="zh-CN" sz="2000" b="1" dirty="0">
                <a:ln w="1905"/>
                <a:ea typeface="隶书" pitchFamily="49" charset="-122"/>
              </a:rPr>
              <a:t>“+”</a:t>
            </a:r>
            <a:r>
              <a:rPr lang="zh-CN" altLang="zh-CN" sz="2000" b="1" dirty="0">
                <a:ln w="1905"/>
                <a:ea typeface="隶书" pitchFamily="49" charset="-122"/>
              </a:rPr>
              <a:t>来说，可以放在操作类型符的右边，也可放在字符串的最后，但不可放在操作类型符的左边。如，</a:t>
            </a:r>
            <a:r>
              <a:rPr lang="en-US" altLang="zh-CN" sz="2000" b="1" dirty="0">
                <a:ln w="1905"/>
                <a:ea typeface="隶书" pitchFamily="49" charset="-122"/>
              </a:rPr>
              <a:t>"</a:t>
            </a:r>
            <a:r>
              <a:rPr lang="en-US" altLang="zh-CN" sz="2000" b="1" dirty="0" err="1">
                <a:ln w="1905"/>
                <a:ea typeface="隶书" pitchFamily="49" charset="-122"/>
              </a:rPr>
              <a:t>w+b</a:t>
            </a:r>
            <a:r>
              <a:rPr lang="en-US" altLang="zh-CN" sz="2000" b="1" dirty="0">
                <a:ln w="1905"/>
                <a:ea typeface="隶书" pitchFamily="49" charset="-122"/>
              </a:rPr>
              <a:t>"</a:t>
            </a:r>
            <a:r>
              <a:rPr lang="zh-CN" altLang="zh-CN" sz="2000" b="1" dirty="0">
                <a:ln w="1905"/>
                <a:ea typeface="隶书" pitchFamily="49" charset="-122"/>
              </a:rPr>
              <a:t>或</a:t>
            </a:r>
            <a:r>
              <a:rPr lang="en-US" altLang="zh-CN" sz="2000" b="1" dirty="0">
                <a:ln w="1905"/>
                <a:ea typeface="隶书" pitchFamily="49" charset="-122"/>
              </a:rPr>
              <a:t>"</a:t>
            </a:r>
            <a:r>
              <a:rPr lang="en-US" altLang="zh-CN" sz="2000" b="1" dirty="0" err="1">
                <a:ln w="1905"/>
                <a:ea typeface="隶书" pitchFamily="49" charset="-122"/>
              </a:rPr>
              <a:t>wb</a:t>
            </a:r>
            <a:r>
              <a:rPr lang="en-US" altLang="zh-CN" sz="2000" b="1" dirty="0">
                <a:ln w="1905"/>
                <a:ea typeface="隶书" pitchFamily="49" charset="-122"/>
              </a:rPr>
              <a:t>+"</a:t>
            </a:r>
            <a:r>
              <a:rPr lang="zh-CN" altLang="zh-CN" sz="2000" b="1" dirty="0">
                <a:ln w="1905"/>
                <a:ea typeface="隶书" pitchFamily="49" charset="-122"/>
              </a:rPr>
              <a:t>都是正确的，而</a:t>
            </a:r>
            <a:r>
              <a:rPr lang="en-US" altLang="zh-CN" sz="2000" b="1" dirty="0">
                <a:ln w="1905"/>
                <a:ea typeface="隶书" pitchFamily="49" charset="-122"/>
              </a:rPr>
              <a:t>"+</a:t>
            </a:r>
            <a:r>
              <a:rPr lang="en-US" altLang="zh-CN" sz="2000" b="1" dirty="0" err="1">
                <a:ln w="1905"/>
                <a:ea typeface="隶书" pitchFamily="49" charset="-122"/>
              </a:rPr>
              <a:t>wb</a:t>
            </a:r>
            <a:r>
              <a:rPr lang="en-US" altLang="zh-CN" sz="2000" b="1" dirty="0">
                <a:ln w="1905"/>
                <a:ea typeface="隶书" pitchFamily="49" charset="-122"/>
              </a:rPr>
              <a:t>"</a:t>
            </a:r>
            <a:r>
              <a:rPr lang="zh-CN" altLang="zh-CN" sz="2000" b="1" dirty="0">
                <a:ln w="1905"/>
                <a:ea typeface="隶书" pitchFamily="49" charset="-122"/>
              </a:rPr>
              <a:t>则是错误的。</a:t>
            </a:r>
            <a:endParaRPr lang="en-US" altLang="zh-CN" sz="2000" b="1" dirty="0">
              <a:ln w="1905"/>
              <a:ea typeface="隶书" pitchFamily="49" charset="-122"/>
            </a:endParaRPr>
          </a:p>
          <a:p>
            <a:pPr marL="342900" lvl="0" indent="-342900">
              <a:buFont typeface="Wingdings" panose="05000000000000000000" pitchFamily="2" charset="2"/>
              <a:buChar char="u"/>
            </a:pPr>
            <a:r>
              <a:rPr lang="zh-CN" altLang="zh-CN" sz="2000" b="1" dirty="0">
                <a:ln w="1905"/>
                <a:ea typeface="隶书" pitchFamily="49" charset="-122"/>
              </a:rPr>
              <a:t>在程序开始运行时，系统自动打开三个标准文件，并分别定义了文件指针：</a:t>
            </a:r>
            <a:endParaRPr lang="en-US" altLang="zh-CN" sz="2000" b="1" dirty="0">
              <a:ln w="1905"/>
              <a:ea typeface="隶书" pitchFamily="49" charset="-122"/>
            </a:endParaRPr>
          </a:p>
          <a:p>
            <a:pPr marL="800100" lvl="1" indent="-342900">
              <a:buFont typeface="Wingdings" panose="05000000000000000000" pitchFamily="2" charset="2"/>
              <a:buChar char="l"/>
            </a:pPr>
            <a:r>
              <a:rPr lang="zh-CN" altLang="zh-CN" sz="2000" b="1" dirty="0">
                <a:ln w="1905"/>
                <a:solidFill>
                  <a:srgbClr val="C00000"/>
                </a:solidFill>
                <a:ea typeface="隶书" pitchFamily="49" charset="-122"/>
              </a:rPr>
              <a:t>标准输入文件</a:t>
            </a:r>
            <a:r>
              <a:rPr lang="en-US" altLang="zh-CN" sz="2000" b="1" dirty="0">
                <a:ln w="1905"/>
                <a:solidFill>
                  <a:srgbClr val="C00000"/>
                </a:solidFill>
                <a:ea typeface="隶书" pitchFamily="49" charset="-122"/>
              </a:rPr>
              <a:t>——stdin</a:t>
            </a:r>
            <a:r>
              <a:rPr lang="zh-CN" altLang="zh-CN" sz="2000" b="1" dirty="0">
                <a:ln w="1905"/>
                <a:solidFill>
                  <a:srgbClr val="C00000"/>
                </a:solidFill>
                <a:ea typeface="隶书" pitchFamily="49" charset="-122"/>
              </a:rPr>
              <a:t>：</a:t>
            </a:r>
            <a:r>
              <a:rPr lang="zh-CN" altLang="zh-CN" sz="2000" b="1" dirty="0">
                <a:ln w="1905"/>
                <a:ea typeface="隶书" pitchFamily="49" charset="-122"/>
              </a:rPr>
              <a:t>指向终端输入（一般为键盘）。如果程序中指定要从</a:t>
            </a:r>
            <a:r>
              <a:rPr lang="en-US" altLang="zh-CN" sz="2000" b="1" dirty="0">
                <a:ln w="1905"/>
                <a:ea typeface="隶书" pitchFamily="49" charset="-122"/>
              </a:rPr>
              <a:t>stdin</a:t>
            </a:r>
            <a:r>
              <a:rPr lang="zh-CN" altLang="zh-CN" sz="2000" b="1" dirty="0">
                <a:ln w="1905"/>
                <a:ea typeface="隶书" pitchFamily="49" charset="-122"/>
              </a:rPr>
              <a:t>所指的文件输入数据，就是从终端键盘上输入数据。</a:t>
            </a:r>
            <a:endParaRPr lang="en-US" altLang="zh-CN" sz="2000" b="1" dirty="0">
              <a:ln w="1905"/>
              <a:ea typeface="隶书" pitchFamily="49" charset="-122"/>
            </a:endParaRPr>
          </a:p>
          <a:p>
            <a:pPr marL="800100" lvl="1" indent="-342900">
              <a:buFont typeface="Wingdings" panose="05000000000000000000" pitchFamily="2" charset="2"/>
              <a:buChar char="l"/>
            </a:pPr>
            <a:r>
              <a:rPr lang="zh-CN" altLang="zh-CN" sz="2000" b="1" dirty="0">
                <a:ln w="1905"/>
                <a:solidFill>
                  <a:srgbClr val="C00000"/>
                </a:solidFill>
                <a:ea typeface="隶书" pitchFamily="49" charset="-122"/>
              </a:rPr>
              <a:t>标准输出文件</a:t>
            </a:r>
            <a:r>
              <a:rPr lang="en-US" altLang="zh-CN" sz="2000" b="1" dirty="0">
                <a:ln w="1905"/>
                <a:solidFill>
                  <a:srgbClr val="C00000"/>
                </a:solidFill>
                <a:ea typeface="隶书" pitchFamily="49" charset="-122"/>
              </a:rPr>
              <a:t>——</a:t>
            </a:r>
            <a:r>
              <a:rPr lang="en-US" altLang="zh-CN" sz="2000" b="1" dirty="0" err="1">
                <a:ln w="1905"/>
                <a:solidFill>
                  <a:srgbClr val="C00000"/>
                </a:solidFill>
                <a:ea typeface="隶书" pitchFamily="49" charset="-122"/>
              </a:rPr>
              <a:t>stdout</a:t>
            </a:r>
            <a:r>
              <a:rPr lang="zh-CN" altLang="zh-CN" sz="2000" b="1" dirty="0">
                <a:ln w="1905"/>
                <a:solidFill>
                  <a:srgbClr val="C00000"/>
                </a:solidFill>
                <a:ea typeface="隶书" pitchFamily="49" charset="-122"/>
              </a:rPr>
              <a:t>：</a:t>
            </a:r>
            <a:r>
              <a:rPr lang="zh-CN" altLang="zh-CN" sz="2000" b="1" dirty="0">
                <a:ln w="1905"/>
                <a:ea typeface="隶书" pitchFamily="49" charset="-122"/>
              </a:rPr>
              <a:t>指向终端输出（一般为显示器）。</a:t>
            </a:r>
            <a:endParaRPr lang="en-US" altLang="zh-CN" sz="2000" b="1" dirty="0">
              <a:ln w="1905"/>
              <a:ea typeface="隶书" pitchFamily="49" charset="-122"/>
            </a:endParaRPr>
          </a:p>
          <a:p>
            <a:pPr marL="800100" lvl="1" indent="-342900">
              <a:buFont typeface="Wingdings" panose="05000000000000000000" pitchFamily="2" charset="2"/>
              <a:buChar char="l"/>
            </a:pPr>
            <a:r>
              <a:rPr lang="zh-CN" altLang="zh-CN" sz="2000" b="1" dirty="0">
                <a:ln w="1905"/>
                <a:solidFill>
                  <a:srgbClr val="C00000"/>
                </a:solidFill>
                <a:ea typeface="隶书" pitchFamily="49" charset="-122"/>
              </a:rPr>
              <a:t>标准错误文件</a:t>
            </a:r>
            <a:r>
              <a:rPr lang="en-US" altLang="zh-CN" sz="2000" b="1" dirty="0">
                <a:ln w="1905"/>
                <a:solidFill>
                  <a:srgbClr val="C00000"/>
                </a:solidFill>
                <a:ea typeface="隶书" pitchFamily="49" charset="-122"/>
              </a:rPr>
              <a:t>——stderr</a:t>
            </a:r>
            <a:r>
              <a:rPr lang="zh-CN" altLang="zh-CN" sz="2000" b="1" dirty="0">
                <a:ln w="1905"/>
                <a:solidFill>
                  <a:srgbClr val="C00000"/>
                </a:solidFill>
                <a:ea typeface="隶书" pitchFamily="49" charset="-122"/>
              </a:rPr>
              <a:t>：</a:t>
            </a:r>
            <a:r>
              <a:rPr lang="zh-CN" altLang="zh-CN" sz="2000" b="1" dirty="0">
                <a:ln w="1905"/>
                <a:ea typeface="隶书" pitchFamily="49" charset="-122"/>
              </a:rPr>
              <a:t>指向终端标准错误输出（一般为显示器）。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598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600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0600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0600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9855" grpId="0"/>
      <p:bldP spid="1060018" grpId="0" animBg="1"/>
      <p:bldP spid="9" grpId="0" animBg="1" autoUpdateAnimBg="0"/>
      <p:bldP spid="10600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895" name="Rectangle 7"/>
          <p:cNvSpPr>
            <a:spLocks noChangeArrowheads="1"/>
          </p:cNvSpPr>
          <p:nvPr/>
        </p:nvSpPr>
        <p:spPr bwMode="auto">
          <a:xfrm>
            <a:off x="1199456" y="1315616"/>
            <a:ext cx="2749549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buFont typeface="Wingdings" pitchFamily="2" charset="2"/>
              <a:buChar char="Ø"/>
              <a:tabLst>
                <a:tab pos="496888" algn="l"/>
              </a:tabLst>
            </a:pPr>
            <a:r>
              <a:rPr lang="en-US" altLang="zh-CN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关闭文件</a:t>
            </a:r>
            <a:r>
              <a:rPr lang="en-US" altLang="zh-CN" b="1" dirty="0" err="1">
                <a:solidFill>
                  <a:srgbClr val="C00000"/>
                </a:solidFill>
                <a:latin typeface="+mn-lt"/>
                <a:ea typeface="楷体" pitchFamily="49" charset="-122"/>
              </a:rPr>
              <a:t>fclose</a:t>
            </a:r>
            <a:endParaRPr lang="en-US" altLang="zh-CN" b="1" dirty="0">
              <a:solidFill>
                <a:srgbClr val="C00000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061896" name="Text Box 8"/>
          <p:cNvSpPr txBox="1">
            <a:spLocks noChangeArrowheads="1"/>
          </p:cNvSpPr>
          <p:nvPr/>
        </p:nvSpPr>
        <p:spPr bwMode="auto">
          <a:xfrm>
            <a:off x="1599904" y="2189336"/>
            <a:ext cx="7808464" cy="431800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r>
              <a:rPr lang="en-US" altLang="zh-CN" sz="2000" b="1" dirty="0"/>
              <a:t>               int  *</a:t>
            </a:r>
            <a:r>
              <a:rPr lang="en-US" altLang="zh-CN" sz="2000" b="1" dirty="0" err="1"/>
              <a:t>fclose</a:t>
            </a:r>
            <a:r>
              <a:rPr lang="en-US" altLang="zh-CN" sz="2000" b="1" dirty="0"/>
              <a:t> (FILE  *</a:t>
            </a:r>
            <a:r>
              <a:rPr lang="en-US" altLang="zh-CN" sz="2000" b="1" dirty="0" err="1"/>
              <a:t>filepointer</a:t>
            </a:r>
            <a:r>
              <a:rPr lang="en-US" altLang="zh-CN" sz="2000" b="1" dirty="0"/>
              <a:t>);</a:t>
            </a:r>
          </a:p>
        </p:txBody>
      </p:sp>
      <p:sp>
        <p:nvSpPr>
          <p:cNvPr id="1061899" name="Rectangle 11"/>
          <p:cNvSpPr>
            <a:spLocks noChangeArrowheads="1"/>
          </p:cNvSpPr>
          <p:nvPr/>
        </p:nvSpPr>
        <p:spPr bwMode="auto">
          <a:xfrm>
            <a:off x="1064917" y="1686098"/>
            <a:ext cx="21605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C00000"/>
              </a:buClr>
              <a:buFont typeface="Wingdings" pitchFamily="2" charset="2"/>
              <a:buChar char="l"/>
            </a:pPr>
            <a:r>
              <a:rPr lang="en-US" altLang="zh-CN" b="1" dirty="0">
                <a:latin typeface="+mn-lt"/>
                <a:ea typeface="楷体" pitchFamily="49" charset="-122"/>
              </a:rPr>
              <a:t> </a:t>
            </a:r>
            <a:r>
              <a:rPr lang="zh-CN" altLang="zh-CN" b="1" dirty="0">
                <a:latin typeface="+mn-lt"/>
                <a:ea typeface="楷体" pitchFamily="49" charset="-122"/>
              </a:rPr>
              <a:t>函数原形：         </a:t>
            </a:r>
            <a:endParaRPr lang="zh-CN" altLang="en-US" b="1" dirty="0">
              <a:solidFill>
                <a:srgbClr val="D60093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061901" name="AutoShape 13"/>
          <p:cNvSpPr>
            <a:spLocks noChangeArrowheads="1"/>
          </p:cNvSpPr>
          <p:nvPr/>
        </p:nvSpPr>
        <p:spPr bwMode="auto">
          <a:xfrm>
            <a:off x="5067003" y="1311449"/>
            <a:ext cx="3816350" cy="415925"/>
          </a:xfrm>
          <a:prstGeom prst="wedgeRectCallout">
            <a:avLst>
              <a:gd name="adj1" fmla="val -42972"/>
              <a:gd name="adj2" fmla="val 191630"/>
            </a:avLst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1905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lIns="90000" tIns="46800" rIns="90000" bIns="46800" anchor="ctr">
            <a:spAutoFit/>
          </a:bodyPr>
          <a:lstStyle/>
          <a:p>
            <a:r>
              <a:rPr lang="zh-CN" altLang="en-US" sz="2000" b="1">
                <a:solidFill>
                  <a:srgbClr val="C00000"/>
                </a:solidFill>
                <a:latin typeface="+mn-lt"/>
                <a:ea typeface="楷体" pitchFamily="49" charset="-122"/>
              </a:rPr>
              <a:t>文件打开时返回的文件类型指针</a:t>
            </a:r>
          </a:p>
        </p:txBody>
      </p:sp>
      <p:sp>
        <p:nvSpPr>
          <p:cNvPr id="1061902" name="Rectangle 14"/>
          <p:cNvSpPr>
            <a:spLocks noChangeArrowheads="1"/>
          </p:cNvSpPr>
          <p:nvPr/>
        </p:nvSpPr>
        <p:spPr bwMode="auto">
          <a:xfrm>
            <a:off x="1067772" y="2740198"/>
            <a:ext cx="10489405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>
                <a:srgbClr val="C00000"/>
              </a:buClr>
              <a:buFont typeface="Wingdings" pitchFamily="2" charset="2"/>
              <a:buChar char="l"/>
            </a:pPr>
            <a:r>
              <a:rPr lang="en-US" altLang="zh-CN" b="1" dirty="0"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latin typeface="+mn-lt"/>
                <a:ea typeface="楷体" pitchFamily="49" charset="-122"/>
              </a:rPr>
              <a:t>功能：关闭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filepointer</a:t>
            </a:r>
            <a:r>
              <a:rPr lang="zh-CN" altLang="zh-CN" b="1" dirty="0">
                <a:latin typeface="+mn-lt"/>
                <a:ea typeface="楷体" pitchFamily="49" charset="-122"/>
              </a:rPr>
              <a:t>指向的文件</a:t>
            </a:r>
            <a:endParaRPr lang="zh-CN" altLang="en-US" b="1" dirty="0">
              <a:latin typeface="+mn-lt"/>
              <a:ea typeface="楷体" pitchFamily="49" charset="-122"/>
            </a:endParaRPr>
          </a:p>
          <a:p>
            <a:pPr>
              <a:buClr>
                <a:srgbClr val="C00000"/>
              </a:buClr>
              <a:buFont typeface="Wingdings" pitchFamily="2" charset="2"/>
              <a:buChar char="l"/>
            </a:pPr>
            <a:r>
              <a:rPr lang="zh-CN" altLang="en-US" b="1" dirty="0">
                <a:latin typeface="+mn-lt"/>
                <a:ea typeface="楷体" pitchFamily="49" charset="-122"/>
              </a:rPr>
              <a:t> 返值：</a:t>
            </a:r>
            <a:r>
              <a:rPr lang="zh-CN" altLang="zh-CN" b="1" dirty="0">
                <a:latin typeface="+mn-lt"/>
                <a:ea typeface="楷体" pitchFamily="49" charset="-122"/>
              </a:rPr>
              <a:t>正常关闭为0;出错时,非0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pPr>
              <a:buClr>
                <a:srgbClr val="C00000"/>
              </a:buClr>
              <a:buFont typeface="Wingdings" pitchFamily="2" charset="2"/>
              <a:buChar char="l"/>
            </a:pPr>
            <a:r>
              <a:rPr lang="en-US" altLang="zh-CN" b="1" dirty="0"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latin typeface="+mn-lt"/>
                <a:ea typeface="楷体" pitchFamily="49" charset="-122"/>
              </a:rPr>
              <a:t>作用</a:t>
            </a:r>
            <a:r>
              <a:rPr lang="en-US" altLang="zh-CN" b="1" dirty="0">
                <a:latin typeface="+mn-lt"/>
                <a:ea typeface="楷体" pitchFamily="49" charset="-122"/>
              </a:rPr>
              <a:t>:   </a:t>
            </a:r>
            <a:r>
              <a:rPr lang="zh-CN" altLang="en-US" b="1" dirty="0">
                <a:latin typeface="+mn-lt"/>
                <a:ea typeface="楷体" pitchFamily="49" charset="-122"/>
              </a:rPr>
              <a:t>使文件指针变量与文件“脱钩”，释放文件结构体和文件指针</a:t>
            </a:r>
          </a:p>
        </p:txBody>
      </p:sp>
      <p:grpSp>
        <p:nvGrpSpPr>
          <p:cNvPr id="1061903" name="Group 15"/>
          <p:cNvGrpSpPr>
            <a:grpSpLocks/>
          </p:cNvGrpSpPr>
          <p:nvPr/>
        </p:nvGrpSpPr>
        <p:grpSpPr bwMode="auto">
          <a:xfrm>
            <a:off x="1775520" y="3957079"/>
            <a:ext cx="8047038" cy="2743200"/>
            <a:chOff x="512" y="1616"/>
            <a:chExt cx="5069" cy="1728"/>
          </a:xfrm>
        </p:grpSpPr>
        <p:grpSp>
          <p:nvGrpSpPr>
            <p:cNvPr id="1061904" name="Group 16"/>
            <p:cNvGrpSpPr>
              <a:grpSpLocks/>
            </p:cNvGrpSpPr>
            <p:nvPr/>
          </p:nvGrpSpPr>
          <p:grpSpPr bwMode="auto">
            <a:xfrm>
              <a:off x="1701" y="1616"/>
              <a:ext cx="3880" cy="1728"/>
              <a:chOff x="1728" y="1344"/>
              <a:chExt cx="3880" cy="1728"/>
            </a:xfrm>
          </p:grpSpPr>
          <p:sp>
            <p:nvSpPr>
              <p:cNvPr id="1061905" name="Rectangle 17"/>
              <p:cNvSpPr>
                <a:spLocks noChangeArrowheads="1"/>
              </p:cNvSpPr>
              <p:nvPr/>
            </p:nvSpPr>
            <p:spPr bwMode="auto">
              <a:xfrm>
                <a:off x="1728" y="1344"/>
                <a:ext cx="2400" cy="1728"/>
              </a:xfrm>
              <a:prstGeom prst="rect">
                <a:avLst/>
              </a:prstGeom>
              <a:gradFill rotWithShape="1">
                <a:gsLst>
                  <a:gs pos="0">
                    <a:srgbClr val="CFCFD1"/>
                  </a:gs>
                  <a:gs pos="100000">
                    <a:schemeClr val="bg1"/>
                  </a:gs>
                </a:gsLst>
                <a:lin ang="5400000" scaled="1"/>
              </a:gradFill>
              <a:ln w="28575">
                <a:solidFill>
                  <a:srgbClr val="C00000"/>
                </a:solidFill>
                <a:miter lim="800000"/>
                <a:headEnd/>
                <a:tailEnd/>
              </a:ln>
              <a:effectLst>
                <a:outerShdw blurRad="50800" dist="106680" dir="2700000" algn="tl" rotWithShape="0">
                  <a:prstClr val="black">
                    <a:alpha val="43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14300" prst="hardEdge"/>
              </a:sp3d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61906" name="Rectangle 18"/>
              <p:cNvSpPr>
                <a:spLocks noChangeArrowheads="1"/>
              </p:cNvSpPr>
              <p:nvPr/>
            </p:nvSpPr>
            <p:spPr bwMode="auto">
              <a:xfrm>
                <a:off x="1968" y="2160"/>
                <a:ext cx="672" cy="768"/>
              </a:xfrm>
              <a:prstGeom prst="rect">
                <a:avLst/>
              </a:prstGeom>
              <a:gradFill rotWithShape="1">
                <a:gsLst>
                  <a:gs pos="0">
                    <a:srgbClr val="BEDFC4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61907" name="Line 19"/>
              <p:cNvSpPr>
                <a:spLocks noChangeShapeType="1"/>
              </p:cNvSpPr>
              <p:nvPr/>
            </p:nvSpPr>
            <p:spPr bwMode="auto">
              <a:xfrm>
                <a:off x="2304" y="216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61908" name="Line 20"/>
              <p:cNvSpPr>
                <a:spLocks noChangeShapeType="1"/>
              </p:cNvSpPr>
              <p:nvPr/>
            </p:nvSpPr>
            <p:spPr bwMode="auto">
              <a:xfrm>
                <a:off x="2304" y="2400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61909" name="Rectangle 21"/>
              <p:cNvSpPr>
                <a:spLocks noChangeArrowheads="1"/>
              </p:cNvSpPr>
              <p:nvPr/>
            </p:nvSpPr>
            <p:spPr bwMode="auto">
              <a:xfrm>
                <a:off x="2976" y="1632"/>
                <a:ext cx="1008" cy="336"/>
              </a:xfrm>
              <a:prstGeom prst="rect">
                <a:avLst/>
              </a:prstGeom>
              <a:gradFill rotWithShape="1">
                <a:gsLst>
                  <a:gs pos="0">
                    <a:srgbClr val="F0E5B7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61910" name="Rectangle 22"/>
              <p:cNvSpPr>
                <a:spLocks noChangeArrowheads="1"/>
              </p:cNvSpPr>
              <p:nvPr/>
            </p:nvSpPr>
            <p:spPr bwMode="auto">
              <a:xfrm>
                <a:off x="2976" y="2400"/>
                <a:ext cx="1008" cy="336"/>
              </a:xfrm>
              <a:prstGeom prst="rect">
                <a:avLst/>
              </a:prstGeom>
              <a:gradFill rotWithShape="1">
                <a:gsLst>
                  <a:gs pos="0">
                    <a:srgbClr val="BAA1B9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61911" name="Oval 23"/>
              <p:cNvSpPr>
                <a:spLocks noChangeArrowheads="1"/>
              </p:cNvSpPr>
              <p:nvPr/>
            </p:nvSpPr>
            <p:spPr bwMode="auto">
              <a:xfrm>
                <a:off x="4848" y="1968"/>
                <a:ext cx="720" cy="672"/>
              </a:xfrm>
              <a:prstGeom prst="ellipse">
                <a:avLst/>
              </a:prstGeom>
              <a:gradFill rotWithShape="1">
                <a:gsLst>
                  <a:gs pos="0">
                    <a:srgbClr val="CCFFFF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50800" dist="106680" dir="2700000" algn="tl" rotWithShape="0">
                  <a:prstClr val="black">
                    <a:alpha val="43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14300" prst="hardEdge"/>
              </a:sp3d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61912" name="Text Box 24"/>
              <p:cNvSpPr txBox="1">
                <a:spLocks noChangeArrowheads="1"/>
              </p:cNvSpPr>
              <p:nvPr/>
            </p:nvSpPr>
            <p:spPr bwMode="auto">
              <a:xfrm>
                <a:off x="4848" y="1759"/>
                <a:ext cx="76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 dirty="0">
                    <a:ea typeface="隶书" pitchFamily="49" charset="-122"/>
                  </a:rPr>
                  <a:t>磁盘文件</a:t>
                </a:r>
              </a:p>
            </p:txBody>
          </p:sp>
          <p:sp>
            <p:nvSpPr>
              <p:cNvPr id="1061913" name="Text Box 25"/>
              <p:cNvSpPr txBox="1">
                <a:spLocks noChangeArrowheads="1"/>
              </p:cNvSpPr>
              <p:nvPr/>
            </p:nvSpPr>
            <p:spPr bwMode="auto">
              <a:xfrm>
                <a:off x="2832" y="2736"/>
                <a:ext cx="124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>
                    <a:ea typeface="隶书" pitchFamily="49" charset="-122"/>
                  </a:rPr>
                  <a:t>输出文件缓冲区</a:t>
                </a:r>
              </a:p>
            </p:txBody>
          </p:sp>
          <p:sp>
            <p:nvSpPr>
              <p:cNvPr id="1061914" name="Text Box 26"/>
              <p:cNvSpPr txBox="1">
                <a:spLocks noChangeArrowheads="1"/>
              </p:cNvSpPr>
              <p:nvPr/>
            </p:nvSpPr>
            <p:spPr bwMode="auto">
              <a:xfrm>
                <a:off x="2832" y="1392"/>
                <a:ext cx="1243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>
                    <a:ea typeface="隶书" pitchFamily="49" charset="-122"/>
                  </a:rPr>
                  <a:t>输入文件缓冲区</a:t>
                </a:r>
              </a:p>
            </p:txBody>
          </p:sp>
          <p:sp>
            <p:nvSpPr>
              <p:cNvPr id="1061915" name="Text Box 27"/>
              <p:cNvSpPr txBox="1">
                <a:spLocks noChangeArrowheads="1"/>
              </p:cNvSpPr>
              <p:nvPr/>
            </p:nvSpPr>
            <p:spPr bwMode="auto">
              <a:xfrm>
                <a:off x="1824" y="1920"/>
                <a:ext cx="921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zh-CN" altLang="en-US" sz="2000" b="1">
                    <a:ea typeface="隶书" pitchFamily="49" charset="-122"/>
                  </a:rPr>
                  <a:t>程序数据区</a:t>
                </a:r>
              </a:p>
            </p:txBody>
          </p:sp>
          <p:sp>
            <p:nvSpPr>
              <p:cNvPr id="1061916" name="Text Box 28"/>
              <p:cNvSpPr txBox="1">
                <a:spLocks noChangeArrowheads="1"/>
              </p:cNvSpPr>
              <p:nvPr/>
            </p:nvSpPr>
            <p:spPr bwMode="auto">
              <a:xfrm>
                <a:off x="2400" y="2160"/>
                <a:ext cx="187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CN" sz="2000"/>
                  <a:t>a</a:t>
                </a:r>
              </a:p>
            </p:txBody>
          </p:sp>
          <p:sp>
            <p:nvSpPr>
              <p:cNvPr id="1061917" name="Line 29"/>
              <p:cNvSpPr>
                <a:spLocks noChangeShapeType="1"/>
              </p:cNvSpPr>
              <p:nvPr/>
            </p:nvSpPr>
            <p:spPr bwMode="auto">
              <a:xfrm flipH="1">
                <a:off x="2640" y="1824"/>
                <a:ext cx="336" cy="336"/>
              </a:xfrm>
              <a:prstGeom prst="line">
                <a:avLst/>
              </a:prstGeom>
              <a:noFill/>
              <a:ln w="28575">
                <a:solidFill>
                  <a:srgbClr val="C00000"/>
                </a:solidFill>
                <a:round/>
                <a:headEnd/>
                <a:tailEnd type="stealth" w="lg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61918" name="Line 30"/>
              <p:cNvSpPr>
                <a:spLocks noChangeShapeType="1"/>
              </p:cNvSpPr>
              <p:nvPr/>
            </p:nvSpPr>
            <p:spPr bwMode="auto">
              <a:xfrm>
                <a:off x="2640" y="2256"/>
                <a:ext cx="336" cy="288"/>
              </a:xfrm>
              <a:prstGeom prst="line">
                <a:avLst/>
              </a:prstGeom>
              <a:noFill/>
              <a:ln w="28575">
                <a:solidFill>
                  <a:srgbClr val="002060"/>
                </a:solidFill>
                <a:round/>
                <a:headEnd/>
                <a:tailEnd type="stealth" w="lg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61919" name="Line 31"/>
              <p:cNvSpPr>
                <a:spLocks noChangeShapeType="1"/>
              </p:cNvSpPr>
              <p:nvPr/>
            </p:nvSpPr>
            <p:spPr bwMode="auto">
              <a:xfrm flipH="1" flipV="1">
                <a:off x="3984" y="1776"/>
                <a:ext cx="912" cy="384"/>
              </a:xfrm>
              <a:prstGeom prst="line">
                <a:avLst/>
              </a:prstGeom>
              <a:noFill/>
              <a:ln w="28575">
                <a:solidFill>
                  <a:srgbClr val="C00000"/>
                </a:solidFill>
                <a:round/>
                <a:headEnd/>
                <a:tailEnd type="stealth" w="lg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61920" name="Line 32"/>
              <p:cNvSpPr>
                <a:spLocks noChangeShapeType="1"/>
              </p:cNvSpPr>
              <p:nvPr/>
            </p:nvSpPr>
            <p:spPr bwMode="auto">
              <a:xfrm flipV="1">
                <a:off x="3984" y="2400"/>
                <a:ext cx="864" cy="192"/>
              </a:xfrm>
              <a:prstGeom prst="line">
                <a:avLst/>
              </a:prstGeom>
              <a:noFill/>
              <a:ln w="28575">
                <a:solidFill>
                  <a:srgbClr val="002060"/>
                </a:solidFill>
                <a:round/>
                <a:headEnd/>
                <a:tailEnd type="stealth" w="lg" len="lg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061921" name="Text Box 33"/>
            <p:cNvSpPr txBox="1">
              <a:spLocks noChangeArrowheads="1"/>
            </p:cNvSpPr>
            <p:nvPr/>
          </p:nvSpPr>
          <p:spPr bwMode="auto">
            <a:xfrm>
              <a:off x="512" y="2169"/>
              <a:ext cx="124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缓冲文件系统：</a:t>
              </a:r>
            </a:p>
          </p:txBody>
        </p:sp>
        <p:pic>
          <p:nvPicPr>
            <p:cNvPr id="1061922" name="Picture 34" descr="saVE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4985" y="2387"/>
              <a:ext cx="380" cy="357"/>
            </a:xfrm>
            <a:prstGeom prst="rect">
              <a:avLst/>
            </a:prstGeom>
            <a:noFill/>
          </p:spPr>
        </p:pic>
      </p:grpSp>
      <p:grpSp>
        <p:nvGrpSpPr>
          <p:cNvPr id="1061925" name="Group 37"/>
          <p:cNvGrpSpPr>
            <a:grpSpLocks/>
          </p:cNvGrpSpPr>
          <p:nvPr/>
        </p:nvGrpSpPr>
        <p:grpSpPr bwMode="auto">
          <a:xfrm>
            <a:off x="7579421" y="5843030"/>
            <a:ext cx="1196975" cy="573087"/>
            <a:chOff x="3996" y="3303"/>
            <a:chExt cx="754" cy="361"/>
          </a:xfrm>
        </p:grpSpPr>
        <p:sp>
          <p:nvSpPr>
            <p:cNvPr id="1061923" name="AutoShape 35"/>
            <p:cNvSpPr>
              <a:spLocks noChangeArrowheads="1"/>
            </p:cNvSpPr>
            <p:nvPr/>
          </p:nvSpPr>
          <p:spPr bwMode="auto">
            <a:xfrm rot="-992770">
              <a:off x="3996" y="3303"/>
              <a:ext cx="635" cy="181"/>
            </a:xfrm>
            <a:prstGeom prst="notchedRightArrow">
              <a:avLst>
                <a:gd name="adj1" fmla="val 50000"/>
                <a:gd name="adj2" fmla="val 87707"/>
              </a:avLst>
            </a:prstGeom>
            <a:gradFill rotWithShape="1">
              <a:gsLst>
                <a:gs pos="0">
                  <a:srgbClr val="FF0000">
                    <a:lumMod val="99000"/>
                  </a:srgbClr>
                </a:gs>
                <a:gs pos="100000">
                  <a:srgbClr val="FF000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61924" name="Text Box 36"/>
            <p:cNvSpPr txBox="1">
              <a:spLocks noChangeArrowheads="1"/>
            </p:cNvSpPr>
            <p:nvPr/>
          </p:nvSpPr>
          <p:spPr bwMode="auto">
            <a:xfrm rot="-1128496">
              <a:off x="4024" y="3376"/>
              <a:ext cx="72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 err="1">
                  <a:solidFill>
                    <a:srgbClr val="C00000"/>
                  </a:solidFill>
                </a:rPr>
                <a:t>fclose</a:t>
              </a:r>
              <a:endParaRPr lang="en-US" altLang="zh-CN" b="1" dirty="0">
                <a:solidFill>
                  <a:srgbClr val="C00000"/>
                </a:solidFill>
              </a:endParaRPr>
            </a:p>
          </p:txBody>
        </p:sp>
      </p:grpSp>
      <p:sp>
        <p:nvSpPr>
          <p:cNvPr id="1061926" name="AutoShape 38"/>
          <p:cNvSpPr>
            <a:spLocks noChangeArrowheads="1"/>
          </p:cNvSpPr>
          <p:nvPr/>
        </p:nvSpPr>
        <p:spPr bwMode="auto">
          <a:xfrm>
            <a:off x="8295636" y="4014436"/>
            <a:ext cx="3278759" cy="402291"/>
          </a:xfrm>
          <a:prstGeom prst="wedgeRectCallout">
            <a:avLst>
              <a:gd name="adj1" fmla="val -64227"/>
              <a:gd name="adj2" fmla="val 126483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 wrap="none" lIns="90000" tIns="46800" rIns="90000" bIns="46800" anchor="ctr">
            <a:spAutoFit/>
          </a:bodyPr>
          <a:lstStyle/>
          <a:p>
            <a:pPr algn="ctr"/>
            <a:r>
              <a:rPr lang="zh-CN" altLang="zh-CN" sz="2000" b="1" dirty="0">
                <a:latin typeface="隶书" pitchFamily="49" charset="-122"/>
                <a:ea typeface="隶书" pitchFamily="49" charset="-122"/>
              </a:rPr>
              <a:t>不关闭文件可能会</a:t>
            </a:r>
            <a:r>
              <a:rPr lang="zh-CN" altLang="zh-CN" sz="2000" b="1" dirty="0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丢失数据</a:t>
            </a:r>
            <a:endParaRPr lang="zh-CN" altLang="en-US" sz="2000" b="1" dirty="0">
              <a:solidFill>
                <a:srgbClr val="FF0000"/>
              </a:solidFill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061928" name="Rectangle 40" descr="信纸"/>
          <p:cNvSpPr>
            <a:spLocks noChangeArrowheads="1"/>
          </p:cNvSpPr>
          <p:nvPr/>
        </p:nvSpPr>
        <p:spPr bwMode="auto">
          <a:xfrm>
            <a:off x="1955990" y="7982302"/>
            <a:ext cx="8712968" cy="3416300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en-US" altLang="zh-CN" b="1" dirty="0">
                <a:ea typeface="楷体_GB2312" pitchFamily="49" charset="-122"/>
              </a:rPr>
              <a:t>FILE  *</a:t>
            </a:r>
            <a:r>
              <a:rPr lang="en-US" altLang="zh-CN" b="1" dirty="0" err="1">
                <a:ea typeface="楷体_GB2312" pitchFamily="49" charset="-122"/>
              </a:rPr>
              <a:t>fp</a:t>
            </a:r>
            <a:r>
              <a:rPr lang="en-US" altLang="zh-CN" b="1" dirty="0">
                <a:ea typeface="楷体_GB2312" pitchFamily="49" charset="-122"/>
              </a:rPr>
              <a:t>;</a:t>
            </a:r>
          </a:p>
          <a:p>
            <a:r>
              <a:rPr lang="en-US" altLang="zh-CN" b="1" dirty="0" err="1">
                <a:ea typeface="楷体_GB2312" pitchFamily="49" charset="-122"/>
              </a:rPr>
              <a:t>fp</a:t>
            </a:r>
            <a:r>
              <a:rPr lang="en-US" altLang="zh-CN" b="1" dirty="0">
                <a:ea typeface="楷体_GB2312" pitchFamily="49" charset="-122"/>
              </a:rPr>
              <a:t> = </a:t>
            </a:r>
            <a:r>
              <a:rPr lang="en-US" altLang="zh-CN" b="1" dirty="0" err="1">
                <a:ea typeface="楷体_GB2312" pitchFamily="49" charset="-122"/>
              </a:rPr>
              <a:t>fopen</a:t>
            </a:r>
            <a:r>
              <a:rPr lang="en-US" altLang="zh-CN" b="1" dirty="0">
                <a:ea typeface="楷体_GB2312" pitchFamily="49" charset="-122"/>
              </a:rPr>
              <a:t> ("wang.txt", "r+");</a:t>
            </a:r>
          </a:p>
          <a:p>
            <a:r>
              <a:rPr lang="en-US" altLang="zh-CN" b="1" dirty="0">
                <a:ea typeface="楷体_GB2312" pitchFamily="49" charset="-122"/>
              </a:rPr>
              <a:t>if (</a:t>
            </a:r>
            <a:r>
              <a:rPr lang="en-US" altLang="zh-CN" b="1" dirty="0" err="1">
                <a:ea typeface="楷体_GB2312" pitchFamily="49" charset="-122"/>
              </a:rPr>
              <a:t>fp</a:t>
            </a:r>
            <a:r>
              <a:rPr lang="en-US" altLang="zh-CN" b="1" dirty="0">
                <a:ea typeface="楷体_GB2312" pitchFamily="49" charset="-122"/>
              </a:rPr>
              <a:t> == NULL)</a:t>
            </a:r>
          </a:p>
          <a:p>
            <a:r>
              <a:rPr lang="en-US" altLang="zh-CN" b="1" dirty="0">
                <a:ea typeface="楷体_GB2312" pitchFamily="49" charset="-122"/>
              </a:rPr>
              <a:t>{</a:t>
            </a:r>
          </a:p>
          <a:p>
            <a:r>
              <a:rPr lang="en-US" altLang="zh-CN" b="1" dirty="0">
                <a:ea typeface="楷体_GB2312" pitchFamily="49" charset="-122"/>
              </a:rPr>
              <a:t>  </a:t>
            </a:r>
            <a:r>
              <a:rPr lang="en-US" altLang="zh-CN" b="1" dirty="0" err="1">
                <a:ea typeface="楷体_GB2312" pitchFamily="49" charset="-122"/>
              </a:rPr>
              <a:t>printf</a:t>
            </a:r>
            <a:r>
              <a:rPr lang="en-US" altLang="zh-CN" b="1" dirty="0">
                <a:ea typeface="楷体_GB2312" pitchFamily="49" charset="-122"/>
              </a:rPr>
              <a:t> ("the file </a:t>
            </a:r>
            <a:r>
              <a:rPr lang="zh-CN" altLang="en-US" b="1" dirty="0">
                <a:ea typeface="楷体_GB2312" pitchFamily="49" charset="-122"/>
              </a:rPr>
              <a:t>：</a:t>
            </a:r>
            <a:r>
              <a:rPr lang="en-US" altLang="zh-CN" b="1" dirty="0">
                <a:ea typeface="楷体_GB2312" pitchFamily="49" charset="-122"/>
              </a:rPr>
              <a:t>wang.txt not found! ");</a:t>
            </a:r>
          </a:p>
          <a:p>
            <a:r>
              <a:rPr lang="en-US" altLang="zh-CN" b="1" dirty="0">
                <a:ea typeface="楷体_GB2312" pitchFamily="49" charset="-122"/>
              </a:rPr>
              <a:t>  exit (-1);</a:t>
            </a:r>
          </a:p>
          <a:p>
            <a:r>
              <a:rPr lang="en-US" altLang="zh-CN" b="1" dirty="0">
                <a:ea typeface="楷体_GB2312" pitchFamily="49" charset="-122"/>
              </a:rPr>
              <a:t>}</a:t>
            </a:r>
          </a:p>
          <a:p>
            <a:r>
              <a:rPr lang="en-US" altLang="zh-CN" b="1" dirty="0">
                <a:ea typeface="楷体_GB2312" pitchFamily="49" charset="-122"/>
              </a:rPr>
              <a:t>… …             </a:t>
            </a:r>
            <a:r>
              <a:rPr lang="en-US" altLang="zh-CN" sz="2000" b="1" dirty="0">
                <a:solidFill>
                  <a:schemeClr val="accent2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latin typeface="+mn-lt"/>
                <a:ea typeface="楷体" pitchFamily="49" charset="-122"/>
              </a:rPr>
              <a:t>读取和加工数据</a:t>
            </a:r>
          </a:p>
          <a:p>
            <a:r>
              <a:rPr lang="en-US" altLang="zh-CN" b="1" dirty="0" err="1">
                <a:solidFill>
                  <a:srgbClr val="FF3300"/>
                </a:solidFill>
                <a:ea typeface="楷体_GB2312" pitchFamily="49" charset="-122"/>
              </a:rPr>
              <a:t>fclose</a:t>
            </a:r>
            <a:r>
              <a:rPr lang="en-US" altLang="zh-CN" b="1" dirty="0">
                <a:solidFill>
                  <a:srgbClr val="FF3300"/>
                </a:solidFill>
                <a:ea typeface="楷体_GB2312" pitchFamily="49" charset="-122"/>
              </a:rPr>
              <a:t> (</a:t>
            </a:r>
            <a:r>
              <a:rPr lang="en-US" altLang="zh-CN" b="1" dirty="0" err="1">
                <a:solidFill>
                  <a:srgbClr val="FF3300"/>
                </a:solidFill>
                <a:ea typeface="楷体_GB2312" pitchFamily="49" charset="-122"/>
              </a:rPr>
              <a:t>fp</a:t>
            </a:r>
            <a:r>
              <a:rPr lang="en-US" altLang="zh-CN" b="1" dirty="0">
                <a:solidFill>
                  <a:srgbClr val="FF3300"/>
                </a:solidFill>
                <a:ea typeface="楷体_GB2312" pitchFamily="49" charset="-122"/>
              </a:rPr>
              <a:t>);</a:t>
            </a:r>
            <a:r>
              <a:rPr lang="en-US" altLang="zh-CN" b="1" dirty="0">
                <a:ea typeface="楷体_GB2312" pitchFamily="49" charset="-122"/>
              </a:rPr>
              <a:t>    </a:t>
            </a:r>
            <a:r>
              <a:rPr lang="en-US" altLang="zh-CN" sz="2000" b="1" dirty="0">
                <a:solidFill>
                  <a:schemeClr val="accent2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latin typeface="+mn-lt"/>
                <a:ea typeface="楷体" pitchFamily="49" charset="-122"/>
              </a:rPr>
              <a:t>关闭该文件</a:t>
            </a:r>
          </a:p>
        </p:txBody>
      </p:sp>
      <p:sp>
        <p:nvSpPr>
          <p:cNvPr id="35" name="Rectangle 4">
            <a:extLst>
              <a:ext uri="{FF2B5EF4-FFF2-40B4-BE49-F238E27FC236}">
                <a16:creationId xmlns:a16="http://schemas.microsoft.com/office/drawing/2014/main" id="{1B6C4A19-A63A-42C0-9532-57F40DB40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12.5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文件的打开、读写和关闭 </a:t>
            </a:r>
          </a:p>
        </p:txBody>
      </p:sp>
      <p:sp>
        <p:nvSpPr>
          <p:cNvPr id="36" name="Rectangle 8">
            <a:extLst>
              <a:ext uri="{FF2B5EF4-FFF2-40B4-BE49-F238E27FC236}">
                <a16:creationId xmlns:a16="http://schemas.microsoft.com/office/drawing/2014/main" id="{44E3EC04-6D6E-4247-9DC0-D83F61BD2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34" y="846280"/>
            <a:ext cx="379302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、文件的打开与关闭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1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1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0618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0618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10619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6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9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0619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9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0619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9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0619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0619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7" dur="500"/>
                                        <p:tgtEl>
                                          <p:spTgt spid="10619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10619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10619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1895" grpId="0"/>
      <p:bldP spid="1061896" grpId="0" animBg="1"/>
      <p:bldP spid="1061899" grpId="0"/>
      <p:bldP spid="1061901" grpId="0" animBg="1" autoUpdateAnimBg="0"/>
      <p:bldP spid="1061926" grpId="0" animBg="1" autoUpdateAnimBg="0"/>
      <p:bldP spid="10619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971" name="Rectangle 35"/>
          <p:cNvSpPr>
            <a:spLocks noChangeArrowheads="1"/>
          </p:cNvSpPr>
          <p:nvPr/>
        </p:nvSpPr>
        <p:spPr bwMode="auto">
          <a:xfrm>
            <a:off x="617241" y="885126"/>
            <a:ext cx="271099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、文件的读写 </a:t>
            </a:r>
          </a:p>
        </p:txBody>
      </p:sp>
      <p:sp>
        <p:nvSpPr>
          <p:cNvPr id="1063972" name="Rectangle 36"/>
          <p:cNvSpPr>
            <a:spLocks noChangeArrowheads="1"/>
          </p:cNvSpPr>
          <p:nvPr/>
        </p:nvSpPr>
        <p:spPr bwMode="auto">
          <a:xfrm>
            <a:off x="1106313" y="1475047"/>
            <a:ext cx="10256169" cy="2110001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>
              <a:lnSpc>
                <a:spcPts val="3200"/>
              </a:lnSpc>
              <a:tabLst>
                <a:tab pos="457200" algn="l"/>
              </a:tabLst>
            </a:pPr>
            <a:r>
              <a:rPr lang="zh-CN" altLang="en-US" b="1" dirty="0">
                <a:ea typeface="楷体" pitchFamily="49" charset="-122"/>
              </a:rPr>
              <a:t>在</a:t>
            </a:r>
            <a:r>
              <a:rPr lang="zh-CN" altLang="en-US" b="1" dirty="0">
                <a:ea typeface="楷体" pitchFamily="49" charset="-122"/>
                <a:cs typeface="Times New Roman" panose="02020603050405020304" pitchFamily="18" charset="0"/>
              </a:rPr>
              <a:t>Ｃ</a:t>
            </a:r>
            <a:r>
              <a:rPr lang="zh-CN" altLang="en-US" b="1" dirty="0">
                <a:ea typeface="楷体" pitchFamily="49" charset="-122"/>
              </a:rPr>
              <a:t>语言中提供了多种文件读写的函数，这些函数主要包括：</a:t>
            </a:r>
            <a:endParaRPr lang="en-US" altLang="zh-CN" b="1" dirty="0">
              <a:ea typeface="楷体" pitchFamily="49" charset="-122"/>
            </a:endParaRPr>
          </a:p>
          <a:p>
            <a:pPr marL="342900" indent="-342900">
              <a:lnSpc>
                <a:spcPts val="3200"/>
              </a:lnSpc>
              <a:buClr>
                <a:srgbClr val="C00000"/>
              </a:buClr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CN" altLang="en-US" b="1" dirty="0">
                <a:ea typeface="楷体" pitchFamily="49" charset="-122"/>
              </a:rPr>
              <a:t>字符读写函数：    </a:t>
            </a:r>
            <a:r>
              <a:rPr lang="en-US" altLang="zh-CN" b="1" dirty="0" err="1">
                <a:ea typeface="楷体" pitchFamily="49" charset="-122"/>
              </a:rPr>
              <a:t>fgetc</a:t>
            </a:r>
            <a:r>
              <a:rPr lang="en-US" altLang="zh-CN" b="1" dirty="0">
                <a:ea typeface="楷体" pitchFamily="49" charset="-122"/>
              </a:rPr>
              <a:t> </a:t>
            </a:r>
            <a:r>
              <a:rPr lang="zh-CN" altLang="en-US" b="1" dirty="0">
                <a:ea typeface="楷体" pitchFamily="49" charset="-122"/>
              </a:rPr>
              <a:t>和 </a:t>
            </a:r>
            <a:r>
              <a:rPr lang="en-US" altLang="zh-CN" b="1" dirty="0" err="1">
                <a:ea typeface="楷体" pitchFamily="49" charset="-122"/>
              </a:rPr>
              <a:t>fputc</a:t>
            </a:r>
            <a:endParaRPr lang="en-US" altLang="zh-CN" b="1" dirty="0">
              <a:ea typeface="楷体" pitchFamily="49" charset="-122"/>
            </a:endParaRPr>
          </a:p>
          <a:p>
            <a:pPr marL="342900" indent="-342900">
              <a:lnSpc>
                <a:spcPts val="3200"/>
              </a:lnSpc>
              <a:buClr>
                <a:srgbClr val="C00000"/>
              </a:buClr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CN" altLang="en-US" b="1" dirty="0">
                <a:ea typeface="楷体" pitchFamily="49" charset="-122"/>
              </a:rPr>
              <a:t>字符串读写函数：</a:t>
            </a:r>
            <a:r>
              <a:rPr lang="en-US" altLang="zh-CN" b="1" dirty="0" err="1">
                <a:ea typeface="楷体" pitchFamily="49" charset="-122"/>
              </a:rPr>
              <a:t>fgets</a:t>
            </a:r>
            <a:r>
              <a:rPr lang="en-US" altLang="zh-CN" b="1" dirty="0">
                <a:ea typeface="楷体" pitchFamily="49" charset="-122"/>
              </a:rPr>
              <a:t> </a:t>
            </a:r>
            <a:r>
              <a:rPr lang="zh-CN" altLang="en-US" b="1" dirty="0">
                <a:ea typeface="楷体" pitchFamily="49" charset="-122"/>
              </a:rPr>
              <a:t>和 </a:t>
            </a:r>
            <a:r>
              <a:rPr lang="en-US" altLang="zh-CN" b="1" dirty="0" err="1">
                <a:ea typeface="楷体" pitchFamily="49" charset="-122"/>
              </a:rPr>
              <a:t>fputs</a:t>
            </a:r>
            <a:endParaRPr lang="en-US" altLang="zh-CN" b="1" dirty="0">
              <a:ea typeface="楷体" pitchFamily="49" charset="-122"/>
            </a:endParaRPr>
          </a:p>
          <a:p>
            <a:pPr marL="342900" indent="-342900">
              <a:lnSpc>
                <a:spcPts val="3200"/>
              </a:lnSpc>
              <a:buClr>
                <a:srgbClr val="C00000"/>
              </a:buClr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CN" altLang="en-US" b="1" dirty="0">
                <a:ea typeface="楷体" pitchFamily="49" charset="-122"/>
              </a:rPr>
              <a:t>数据块读写函数：</a:t>
            </a:r>
            <a:r>
              <a:rPr lang="en-US" altLang="zh-CN" b="1" dirty="0" err="1">
                <a:ea typeface="楷体" pitchFamily="49" charset="-122"/>
              </a:rPr>
              <a:t>fread</a:t>
            </a:r>
            <a:r>
              <a:rPr lang="en-US" altLang="zh-CN" b="1" dirty="0">
                <a:ea typeface="楷体" pitchFamily="49" charset="-122"/>
              </a:rPr>
              <a:t> </a:t>
            </a:r>
            <a:r>
              <a:rPr lang="zh-CN" altLang="en-US" b="1" dirty="0">
                <a:ea typeface="楷体" pitchFamily="49" charset="-122"/>
              </a:rPr>
              <a:t>和 </a:t>
            </a:r>
            <a:r>
              <a:rPr lang="en-US" altLang="zh-CN" b="1" dirty="0" err="1">
                <a:ea typeface="楷体" pitchFamily="49" charset="-122"/>
              </a:rPr>
              <a:t>fwrite</a:t>
            </a:r>
            <a:endParaRPr lang="en-US" altLang="zh-CN" b="1" dirty="0">
              <a:ea typeface="楷体" pitchFamily="49" charset="-122"/>
            </a:endParaRPr>
          </a:p>
          <a:p>
            <a:pPr marL="342900" indent="-342900">
              <a:lnSpc>
                <a:spcPts val="3200"/>
              </a:lnSpc>
              <a:buClr>
                <a:srgbClr val="C00000"/>
              </a:buClr>
              <a:buFont typeface="Wingdings" panose="05000000000000000000" pitchFamily="2" charset="2"/>
              <a:buChar char="l"/>
              <a:tabLst>
                <a:tab pos="457200" algn="l"/>
              </a:tabLst>
            </a:pPr>
            <a:r>
              <a:rPr lang="zh-CN" altLang="en-US" b="1" dirty="0">
                <a:ea typeface="楷体" pitchFamily="49" charset="-122"/>
              </a:rPr>
              <a:t>格式化读写函数：</a:t>
            </a:r>
            <a:r>
              <a:rPr lang="en-US" altLang="zh-CN" b="1" dirty="0" err="1">
                <a:ea typeface="楷体" pitchFamily="49" charset="-122"/>
              </a:rPr>
              <a:t>fscanf</a:t>
            </a:r>
            <a:r>
              <a:rPr lang="en-US" altLang="zh-CN" b="1" dirty="0">
                <a:ea typeface="楷体" pitchFamily="49" charset="-122"/>
              </a:rPr>
              <a:t> </a:t>
            </a:r>
            <a:r>
              <a:rPr lang="zh-CN" altLang="en-US" b="1" dirty="0">
                <a:ea typeface="楷体" pitchFamily="49" charset="-122"/>
              </a:rPr>
              <a:t>和 </a:t>
            </a:r>
            <a:r>
              <a:rPr lang="en-US" altLang="zh-CN" b="1" dirty="0" err="1">
                <a:ea typeface="楷体" pitchFamily="49" charset="-122"/>
              </a:rPr>
              <a:t>fprinf</a:t>
            </a:r>
            <a:endParaRPr lang="en-US" altLang="zh-CN" b="1" dirty="0">
              <a:ea typeface="楷体" pitchFamily="49" charset="-122"/>
            </a:endParaRPr>
          </a:p>
        </p:txBody>
      </p:sp>
      <p:sp>
        <p:nvSpPr>
          <p:cNvPr id="1063973" name="Rectangle 37"/>
          <p:cNvSpPr>
            <a:spLocks noChangeArrowheads="1"/>
          </p:cNvSpPr>
          <p:nvPr/>
        </p:nvSpPr>
        <p:spPr bwMode="auto">
          <a:xfrm>
            <a:off x="728861" y="3651749"/>
            <a:ext cx="5147563" cy="461665"/>
          </a:xfrm>
          <a:prstGeom prst="rect">
            <a:avLst/>
          </a:prstGeom>
          <a:noFill/>
          <a:ln>
            <a:noFill/>
            <a:headEnd/>
            <a:tailEnd/>
          </a:ln>
          <a:effectLst/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pPr>
              <a:tabLst>
                <a:tab pos="457200" algn="l"/>
              </a:tabLst>
            </a:pP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(1) 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字符读写函数：</a:t>
            </a:r>
            <a:r>
              <a:rPr lang="en-US" altLang="zh-CN" b="1" dirty="0" err="1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fgetc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 </a:t>
            </a:r>
            <a:r>
              <a:rPr lang="en-US" altLang="zh-CN" b="1" dirty="0" err="1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fputc</a:t>
            </a:r>
            <a:endParaRPr lang="en-US" altLang="zh-CN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63974" name="Rectangle 38"/>
          <p:cNvSpPr>
            <a:spLocks noChangeArrowheads="1"/>
          </p:cNvSpPr>
          <p:nvPr/>
        </p:nvSpPr>
        <p:spPr bwMode="auto">
          <a:xfrm>
            <a:off x="1026592" y="4124243"/>
            <a:ext cx="1397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 typeface="Wingdings" pitchFamily="2" charset="2"/>
              <a:buChar char="Ø"/>
              <a:tabLst>
                <a:tab pos="496888" algn="l"/>
              </a:tabLst>
            </a:pPr>
            <a:r>
              <a:rPr lang="en-US" altLang="zh-CN" b="1" dirty="0">
                <a:solidFill>
                  <a:srgbClr val="C00000"/>
                </a:solidFill>
                <a:ea typeface="楷体_GB2312" pitchFamily="49" charset="-122"/>
              </a:rPr>
              <a:t> </a:t>
            </a:r>
            <a:r>
              <a:rPr lang="en-US" altLang="zh-CN" b="1" dirty="0" err="1">
                <a:solidFill>
                  <a:srgbClr val="C00000"/>
                </a:solidFill>
                <a:ea typeface="楷体_GB2312" pitchFamily="49" charset="-122"/>
              </a:rPr>
              <a:t>fgetc</a:t>
            </a:r>
            <a:endParaRPr lang="en-US" altLang="zh-CN" b="1" dirty="0">
              <a:solidFill>
                <a:srgbClr val="C00000"/>
              </a:solidFill>
              <a:ea typeface="楷体_GB2312" pitchFamily="49" charset="-122"/>
            </a:endParaRPr>
          </a:p>
        </p:txBody>
      </p:sp>
      <p:sp>
        <p:nvSpPr>
          <p:cNvPr id="1063975" name="Rectangle 39"/>
          <p:cNvSpPr>
            <a:spLocks noChangeArrowheads="1"/>
          </p:cNvSpPr>
          <p:nvPr/>
        </p:nvSpPr>
        <p:spPr bwMode="auto">
          <a:xfrm>
            <a:off x="1306486" y="4563028"/>
            <a:ext cx="21605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C00000"/>
              </a:buClr>
              <a:buFont typeface="Wingdings" pitchFamily="2" charset="2"/>
              <a:buChar char="l"/>
            </a:pPr>
            <a:r>
              <a:rPr lang="en-US" altLang="zh-CN" b="1" dirty="0">
                <a:latin typeface="+mn-lt"/>
                <a:ea typeface="楷体" pitchFamily="49" charset="-122"/>
              </a:rPr>
              <a:t> </a:t>
            </a:r>
            <a:r>
              <a:rPr lang="zh-CN" altLang="zh-CN" b="1" dirty="0">
                <a:latin typeface="+mn-lt"/>
                <a:ea typeface="楷体" pitchFamily="49" charset="-122"/>
              </a:rPr>
              <a:t>函数原形：         </a:t>
            </a:r>
            <a:endParaRPr lang="zh-CN" altLang="en-US" b="1" dirty="0">
              <a:latin typeface="+mn-lt"/>
              <a:ea typeface="楷体" pitchFamily="49" charset="-122"/>
            </a:endParaRPr>
          </a:p>
        </p:txBody>
      </p:sp>
      <p:sp>
        <p:nvSpPr>
          <p:cNvPr id="1063976" name="Text Box 40"/>
          <p:cNvSpPr txBox="1">
            <a:spLocks noChangeArrowheads="1"/>
          </p:cNvSpPr>
          <p:nvPr/>
        </p:nvSpPr>
        <p:spPr bwMode="auto">
          <a:xfrm>
            <a:off x="3359696" y="4575728"/>
            <a:ext cx="6912768" cy="431800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en-US" altLang="zh-CN" sz="2000" b="1" dirty="0"/>
              <a:t>int  </a:t>
            </a:r>
            <a:r>
              <a:rPr lang="en-US" altLang="zh-CN" sz="2000" b="1" dirty="0" err="1"/>
              <a:t>fgetc</a:t>
            </a:r>
            <a:r>
              <a:rPr lang="en-US" altLang="zh-CN" sz="2000" b="1" dirty="0"/>
              <a:t> (FILE *</a:t>
            </a:r>
            <a:r>
              <a:rPr lang="en-US" altLang="zh-CN" sz="2000" b="1" dirty="0" err="1"/>
              <a:t>filepointer</a:t>
            </a:r>
            <a:r>
              <a:rPr lang="en-US" altLang="zh-CN" sz="2000" b="1" dirty="0"/>
              <a:t>);</a:t>
            </a:r>
          </a:p>
        </p:txBody>
      </p:sp>
      <p:sp>
        <p:nvSpPr>
          <p:cNvPr id="1063977" name="Rectangle 41"/>
          <p:cNvSpPr>
            <a:spLocks noChangeArrowheads="1"/>
          </p:cNvSpPr>
          <p:nvPr/>
        </p:nvSpPr>
        <p:spPr bwMode="auto">
          <a:xfrm>
            <a:off x="1312439" y="5236080"/>
            <a:ext cx="10256169" cy="1289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lnSpc>
                <a:spcPts val="3200"/>
              </a:lnSpc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+mn-lt"/>
                <a:ea typeface="楷体" pitchFamily="49" charset="-122"/>
              </a:rPr>
              <a:t>功能：从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filepointer</a:t>
            </a:r>
            <a:r>
              <a:rPr lang="zh-CN" altLang="en-US" b="1" dirty="0">
                <a:latin typeface="+mn-lt"/>
                <a:ea typeface="楷体" pitchFamily="49" charset="-122"/>
              </a:rPr>
              <a:t>指向的文件中，读入一个字节（字符），同时将读写位置指针向前移动</a:t>
            </a:r>
            <a:r>
              <a:rPr lang="en-US" altLang="zh-CN" b="1" dirty="0"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latin typeface="+mn-lt"/>
                <a:ea typeface="楷体" pitchFamily="49" charset="-122"/>
              </a:rPr>
              <a:t>个字节（即指向下一个字符）。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pPr marL="342900" indent="-342900">
              <a:lnSpc>
                <a:spcPts val="3200"/>
              </a:lnSpc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+mn-lt"/>
                <a:ea typeface="楷体" pitchFamily="49" charset="-122"/>
              </a:rPr>
              <a:t>返值：</a:t>
            </a:r>
            <a:r>
              <a:rPr lang="zh-CN" altLang="zh-CN" b="1" dirty="0">
                <a:latin typeface="+mn-lt"/>
                <a:ea typeface="楷体" pitchFamily="49" charset="-122"/>
              </a:rPr>
              <a:t>正常，返回读到的代码值</a:t>
            </a:r>
            <a:r>
              <a:rPr lang="zh-CN" altLang="en-US" b="1" dirty="0">
                <a:latin typeface="+mn-lt"/>
                <a:ea typeface="楷体" pitchFamily="49" charset="-122"/>
              </a:rPr>
              <a:t>；</a:t>
            </a:r>
            <a:r>
              <a:rPr lang="zh-CN" altLang="zh-CN" b="1" dirty="0">
                <a:latin typeface="+mn-lt"/>
                <a:ea typeface="楷体" pitchFamily="49" charset="-122"/>
              </a:rPr>
              <a:t>读到文件尾或出错，为</a:t>
            </a:r>
            <a:r>
              <a:rPr lang="en-US" altLang="zh-CN" b="1" dirty="0">
                <a:latin typeface="+mn-lt"/>
                <a:ea typeface="楷体" pitchFamily="49" charset="-122"/>
              </a:rPr>
              <a:t>EOF</a:t>
            </a:r>
            <a:r>
              <a:rPr lang="zh-CN" altLang="en-US" b="1" dirty="0">
                <a:latin typeface="+mn-lt"/>
                <a:ea typeface="楷体" pitchFamily="49" charset="-122"/>
              </a:rPr>
              <a:t>。</a:t>
            </a:r>
            <a:endParaRPr lang="en-US" altLang="zh-CN" b="1" dirty="0">
              <a:latin typeface="+mn-lt"/>
              <a:ea typeface="楷体" pitchFamily="49" charset="-122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D7520AAB-2481-4A5F-A520-F676941E9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12.5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文件的打开、读写和关闭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639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63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63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639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639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10639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10639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9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10639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9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10639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3972" grpId="0" animBg="1"/>
      <p:bldP spid="1063973" grpId="0"/>
      <p:bldP spid="1063974" grpId="0"/>
      <p:bldP spid="1063975" grpId="0"/>
      <p:bldP spid="106397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992" name="Rectangle 8"/>
          <p:cNvSpPr>
            <a:spLocks noChangeArrowheads="1"/>
          </p:cNvSpPr>
          <p:nvPr/>
        </p:nvSpPr>
        <p:spPr bwMode="auto">
          <a:xfrm>
            <a:off x="1217951" y="2050557"/>
            <a:ext cx="1397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 typeface="Wingdings" pitchFamily="2" charset="2"/>
              <a:buChar char="Ø"/>
              <a:tabLst>
                <a:tab pos="496888" algn="l"/>
              </a:tabLst>
            </a:pPr>
            <a:r>
              <a:rPr lang="en-US" altLang="zh-CN" b="1" dirty="0">
                <a:solidFill>
                  <a:srgbClr val="C00000"/>
                </a:solidFill>
                <a:ea typeface="楷体_GB2312" pitchFamily="49" charset="-122"/>
              </a:rPr>
              <a:t> </a:t>
            </a:r>
            <a:r>
              <a:rPr lang="en-US" altLang="zh-CN" b="1" dirty="0" err="1">
                <a:solidFill>
                  <a:srgbClr val="C00000"/>
                </a:solidFill>
                <a:ea typeface="楷体_GB2312" pitchFamily="49" charset="-122"/>
              </a:rPr>
              <a:t>fputc</a:t>
            </a:r>
            <a:endParaRPr lang="en-US" altLang="zh-CN" b="1" dirty="0">
              <a:solidFill>
                <a:srgbClr val="C00000"/>
              </a:solidFill>
              <a:ea typeface="楷体_GB2312" pitchFamily="49" charset="-122"/>
            </a:endParaRPr>
          </a:p>
        </p:txBody>
      </p:sp>
      <p:sp>
        <p:nvSpPr>
          <p:cNvPr id="1065993" name="Rectangle 9"/>
          <p:cNvSpPr>
            <a:spLocks noChangeArrowheads="1"/>
          </p:cNvSpPr>
          <p:nvPr/>
        </p:nvSpPr>
        <p:spPr bwMode="auto">
          <a:xfrm>
            <a:off x="1548151" y="2683768"/>
            <a:ext cx="21605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C00000"/>
              </a:buClr>
              <a:buFont typeface="Wingdings" pitchFamily="2" charset="2"/>
              <a:buChar char="l"/>
            </a:pPr>
            <a:r>
              <a:rPr lang="en-US" altLang="zh-CN" b="1" dirty="0">
                <a:latin typeface="+mn-lt"/>
                <a:ea typeface="楷体" pitchFamily="49" charset="-122"/>
              </a:rPr>
              <a:t> </a:t>
            </a:r>
            <a:r>
              <a:rPr lang="zh-CN" altLang="zh-CN" b="1" dirty="0">
                <a:latin typeface="+mn-lt"/>
                <a:ea typeface="楷体" pitchFamily="49" charset="-122"/>
              </a:rPr>
              <a:t>函数原形：         </a:t>
            </a:r>
            <a:endParaRPr lang="zh-CN" altLang="en-US" b="1" dirty="0">
              <a:solidFill>
                <a:srgbClr val="D60093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065994" name="Text Box 10"/>
          <p:cNvSpPr txBox="1">
            <a:spLocks noChangeArrowheads="1"/>
          </p:cNvSpPr>
          <p:nvPr/>
        </p:nvSpPr>
        <p:spPr bwMode="auto">
          <a:xfrm>
            <a:off x="3575868" y="2667893"/>
            <a:ext cx="6552580" cy="431800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en-US" altLang="zh-CN" sz="2000" b="1" dirty="0"/>
              <a:t>int  </a:t>
            </a:r>
            <a:r>
              <a:rPr lang="en-US" altLang="zh-CN" sz="2000" b="1" dirty="0" err="1"/>
              <a:t>fputc</a:t>
            </a:r>
            <a:r>
              <a:rPr lang="en-US" altLang="zh-CN" sz="2000" b="1" dirty="0"/>
              <a:t> (int c, FILE *</a:t>
            </a:r>
            <a:r>
              <a:rPr lang="en-US" altLang="zh-CN" sz="2000" b="1" dirty="0" err="1"/>
              <a:t>filepointer</a:t>
            </a:r>
            <a:r>
              <a:rPr lang="en-US" altLang="zh-CN" sz="2000" b="1" dirty="0"/>
              <a:t>);</a:t>
            </a:r>
          </a:p>
        </p:txBody>
      </p:sp>
      <p:sp>
        <p:nvSpPr>
          <p:cNvPr id="1065995" name="Rectangle 11"/>
          <p:cNvSpPr>
            <a:spLocks noChangeArrowheads="1"/>
          </p:cNvSpPr>
          <p:nvPr/>
        </p:nvSpPr>
        <p:spPr bwMode="auto">
          <a:xfrm>
            <a:off x="1547135" y="3601397"/>
            <a:ext cx="9589178" cy="1699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lnSpc>
                <a:spcPts val="3200"/>
              </a:lnSpc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+mn-lt"/>
                <a:ea typeface="楷体" pitchFamily="49" charset="-122"/>
              </a:rPr>
              <a:t>功能：将字符数据</a:t>
            </a:r>
            <a:r>
              <a:rPr lang="en-US" altLang="zh-CN" b="1" dirty="0">
                <a:latin typeface="+mn-lt"/>
                <a:ea typeface="楷体" pitchFamily="49" charset="-122"/>
              </a:rPr>
              <a:t>c</a:t>
            </a:r>
            <a:r>
              <a:rPr lang="zh-CN" altLang="en-US" b="1" dirty="0">
                <a:latin typeface="+mn-lt"/>
                <a:ea typeface="楷体" pitchFamily="49" charset="-122"/>
              </a:rPr>
              <a:t>输出到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filepointer</a:t>
            </a:r>
            <a:r>
              <a:rPr lang="zh-CN" altLang="en-US" b="1" dirty="0">
                <a:latin typeface="+mn-lt"/>
                <a:ea typeface="楷体" pitchFamily="49" charset="-122"/>
              </a:rPr>
              <a:t>所指向的文件中去，同时将读写位置指针向前移动</a:t>
            </a:r>
            <a:r>
              <a:rPr lang="en-US" altLang="zh-CN" b="1" dirty="0">
                <a:latin typeface="+mn-lt"/>
                <a:ea typeface="楷体" pitchFamily="49" charset="-122"/>
              </a:rPr>
              <a:t>1</a:t>
            </a:r>
            <a:r>
              <a:rPr lang="zh-CN" altLang="en-US" b="1" dirty="0">
                <a:latin typeface="+mn-lt"/>
                <a:ea typeface="楷体" pitchFamily="49" charset="-122"/>
              </a:rPr>
              <a:t>个字节（即指向下一个写入位置）。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  <a:endParaRPr lang="en-US" altLang="zh-CN" dirty="0">
              <a:latin typeface="+mn-lt"/>
              <a:ea typeface="楷体" pitchFamily="49" charset="-122"/>
            </a:endParaRPr>
          </a:p>
          <a:p>
            <a:pPr marL="342900" indent="-342900">
              <a:lnSpc>
                <a:spcPts val="3200"/>
              </a:lnSpc>
              <a:buClr>
                <a:srgbClr val="C00000"/>
              </a:buClr>
              <a:buFont typeface="Wingdings" panose="05000000000000000000" pitchFamily="2" charset="2"/>
              <a:buChar char="l"/>
            </a:pPr>
            <a:endParaRPr lang="en-US" altLang="zh-CN" b="1" dirty="0">
              <a:latin typeface="+mn-lt"/>
              <a:ea typeface="楷体" pitchFamily="49" charset="-122"/>
            </a:endParaRPr>
          </a:p>
          <a:p>
            <a:pPr marL="342900" indent="-342900">
              <a:lnSpc>
                <a:spcPts val="3200"/>
              </a:lnSpc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+mn-lt"/>
                <a:ea typeface="楷体" pitchFamily="49" charset="-122"/>
              </a:rPr>
              <a:t>返值：</a:t>
            </a:r>
            <a:r>
              <a:rPr lang="zh-CN" altLang="zh-CN" b="1" dirty="0">
                <a:latin typeface="+mn-lt"/>
                <a:ea typeface="楷体" pitchFamily="49" charset="-122"/>
              </a:rPr>
              <a:t>正常，返回</a:t>
            </a:r>
            <a:r>
              <a:rPr lang="en-US" altLang="zh-CN" b="1" dirty="0">
                <a:latin typeface="+mn-lt"/>
                <a:ea typeface="楷体" pitchFamily="49" charset="-122"/>
              </a:rPr>
              <a:t>c</a:t>
            </a:r>
            <a:r>
              <a:rPr lang="zh-CN" altLang="en-US" b="1" dirty="0">
                <a:latin typeface="+mn-lt"/>
                <a:ea typeface="楷体" pitchFamily="49" charset="-122"/>
              </a:rPr>
              <a:t>；</a:t>
            </a:r>
            <a:r>
              <a:rPr lang="zh-CN" altLang="zh-CN" b="1" dirty="0">
                <a:latin typeface="+mn-lt"/>
                <a:ea typeface="楷体" pitchFamily="49" charset="-122"/>
              </a:rPr>
              <a:t>出错，为</a:t>
            </a:r>
            <a:r>
              <a:rPr lang="en-US" altLang="zh-CN" b="1" dirty="0">
                <a:latin typeface="+mn-lt"/>
                <a:ea typeface="楷体" pitchFamily="49" charset="-122"/>
              </a:rPr>
              <a:t>EOF</a:t>
            </a:r>
            <a:r>
              <a:rPr lang="zh-CN" altLang="en-US" b="1" dirty="0">
                <a:latin typeface="+mn-lt"/>
                <a:ea typeface="楷体" pitchFamily="49" charset="-122"/>
              </a:rPr>
              <a:t>。</a:t>
            </a:r>
            <a:endParaRPr lang="en-US" altLang="zh-CN" b="1" dirty="0">
              <a:latin typeface="+mn-lt"/>
              <a:ea typeface="楷体" pitchFamily="49" charset="-122"/>
            </a:endParaRPr>
          </a:p>
        </p:txBody>
      </p:sp>
      <p:sp>
        <p:nvSpPr>
          <p:cNvPr id="9" name="Rectangle 35">
            <a:extLst>
              <a:ext uri="{FF2B5EF4-FFF2-40B4-BE49-F238E27FC236}">
                <a16:creationId xmlns:a16="http://schemas.microsoft.com/office/drawing/2014/main" id="{94F83C53-5DF4-4324-9AE9-768361C28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41" y="885126"/>
            <a:ext cx="271099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、文件的读写 </a:t>
            </a:r>
          </a:p>
        </p:txBody>
      </p:sp>
      <p:sp>
        <p:nvSpPr>
          <p:cNvPr id="10" name="Rectangle 37">
            <a:extLst>
              <a:ext uri="{FF2B5EF4-FFF2-40B4-BE49-F238E27FC236}">
                <a16:creationId xmlns:a16="http://schemas.microsoft.com/office/drawing/2014/main" id="{130BCC5D-4EB9-4EC5-A098-AF2CDB1ED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458" y="1441402"/>
            <a:ext cx="5147563" cy="461665"/>
          </a:xfrm>
          <a:prstGeom prst="rect">
            <a:avLst/>
          </a:prstGeom>
          <a:noFill/>
          <a:ln>
            <a:noFill/>
            <a:headEnd/>
            <a:tailEnd/>
          </a:ln>
          <a:effectLst/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pPr>
              <a:tabLst>
                <a:tab pos="457200" algn="l"/>
              </a:tabLst>
            </a:pP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(1) 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字符读写函数：</a:t>
            </a:r>
            <a:r>
              <a:rPr lang="en-US" altLang="zh-CN" b="1" dirty="0" err="1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fgetc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 </a:t>
            </a:r>
            <a:r>
              <a:rPr lang="en-US" altLang="zh-CN" b="1" dirty="0" err="1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fputc</a:t>
            </a:r>
            <a:endParaRPr lang="en-US" altLang="zh-CN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068CD7F3-CC78-4C76-B862-AC6360C7D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12.5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文件的打开、读写和关闭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659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659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0659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0659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1065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1065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992" grpId="0"/>
      <p:bldP spid="1065993" grpId="0"/>
      <p:bldP spid="1065994" grpId="0" animBg="1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041" name="Rectangle 9"/>
          <p:cNvSpPr>
            <a:spLocks noChangeArrowheads="1"/>
          </p:cNvSpPr>
          <p:nvPr/>
        </p:nvSpPr>
        <p:spPr bwMode="auto">
          <a:xfrm>
            <a:off x="563466" y="788511"/>
            <a:ext cx="10572848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【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1】 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将键盘上输入的一个字符串（以‘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@’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作为结束字符），以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ASCII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码形式存储到一个磁盘文件中，然后从该磁盘文件中读出其字符串并显示出来。</a:t>
            </a:r>
          </a:p>
        </p:txBody>
      </p:sp>
      <p:sp>
        <p:nvSpPr>
          <p:cNvPr id="1068042" name="Rectangle 10" descr="信纸"/>
          <p:cNvSpPr>
            <a:spLocks noChangeArrowheads="1"/>
          </p:cNvSpPr>
          <p:nvPr/>
        </p:nvSpPr>
        <p:spPr bwMode="auto">
          <a:xfrm>
            <a:off x="720177" y="1277942"/>
            <a:ext cx="6552530" cy="532453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pPr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a typeface="楷体_GB2312" pitchFamily="49" charset="-122"/>
              </a:rPr>
              <a:t>stdio.h</a:t>
            </a:r>
            <a:r>
              <a:rPr lang="en-US" altLang="zh-CN" sz="2000" b="1" dirty="0">
                <a:ea typeface="楷体_GB2312" pitchFamily="49" charset="-122"/>
              </a:rPr>
              <a:t>&gt;</a:t>
            </a:r>
          </a:p>
          <a:p>
            <a:pPr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a typeface="楷体_GB2312" pitchFamily="49" charset="-122"/>
              </a:rPr>
              <a:t>stdlib.h</a:t>
            </a:r>
            <a:r>
              <a:rPr lang="en-US" altLang="zh-CN" sz="2000" b="1" dirty="0">
                <a:ea typeface="楷体_GB2312" pitchFamily="49" charset="-122"/>
              </a:rPr>
              <a:t>&gt;</a:t>
            </a:r>
          </a:p>
          <a:p>
            <a:pPr>
              <a:tabLst>
                <a:tab pos="914400" algn="l"/>
              </a:tabLst>
            </a:pPr>
            <a:r>
              <a:rPr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 main (</a:t>
            </a:r>
            <a:r>
              <a:rPr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 </a:t>
            </a:r>
            <a:r>
              <a:rPr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argc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, char *</a:t>
            </a:r>
            <a:r>
              <a:rPr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argv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[ ])</a:t>
            </a:r>
          </a:p>
          <a:p>
            <a:pPr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{ </a:t>
            </a:r>
          </a:p>
          <a:p>
            <a:pPr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FILE *fp1,*fp2;</a:t>
            </a:r>
          </a:p>
          <a:p>
            <a:pPr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char </a:t>
            </a:r>
            <a:r>
              <a:rPr lang="en-US" altLang="zh-CN" sz="2000" b="1" dirty="0" err="1">
                <a:ea typeface="楷体_GB2312" pitchFamily="49" charset="-122"/>
              </a:rPr>
              <a:t>ch</a:t>
            </a:r>
            <a:r>
              <a:rPr lang="en-US" altLang="zh-CN" sz="2000" b="1" dirty="0">
                <a:ea typeface="楷体_GB2312" pitchFamily="49" charset="-122"/>
              </a:rPr>
              <a:t>;</a:t>
            </a:r>
          </a:p>
          <a:p>
            <a:pPr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if (</a:t>
            </a:r>
            <a:r>
              <a:rPr lang="en-US" altLang="zh-CN" sz="2000" b="1" dirty="0" err="1">
                <a:ea typeface="楷体_GB2312" pitchFamily="49" charset="-122"/>
              </a:rPr>
              <a:t>argc</a:t>
            </a:r>
            <a:r>
              <a:rPr lang="en-US" altLang="zh-CN" sz="2000" b="1" dirty="0">
                <a:ea typeface="楷体_GB2312" pitchFamily="49" charset="-122"/>
              </a:rPr>
              <a:t> != 2)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参数个数不对</a:t>
            </a:r>
          </a:p>
          <a:p>
            <a:pPr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>
                <a:ea typeface="楷体_GB2312" pitchFamily="49" charset="-122"/>
              </a:rPr>
              <a:t>{  </a:t>
            </a:r>
          </a:p>
          <a:p>
            <a:pPr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("the number of arguments not correct\n\n");</a:t>
            </a:r>
          </a:p>
          <a:p>
            <a:pPr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("Usage: 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可执行文件名  </a:t>
            </a:r>
            <a:r>
              <a:rPr lang="en-US" altLang="zh-CN" sz="2000" b="1" dirty="0">
                <a:ea typeface="楷体_GB2312" pitchFamily="49" charset="-122"/>
              </a:rPr>
              <a:t>filename \n");</a:t>
            </a:r>
          </a:p>
          <a:p>
            <a:pPr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exit (0);</a:t>
            </a:r>
          </a:p>
          <a:p>
            <a:pPr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}</a:t>
            </a:r>
          </a:p>
          <a:p>
            <a:pPr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if ((fp1 = </a:t>
            </a:r>
            <a:r>
              <a:rPr lang="en-US" altLang="zh-CN" sz="2000" b="1" dirty="0" err="1">
                <a:ea typeface="楷体_GB2312" pitchFamily="49" charset="-122"/>
              </a:rPr>
              <a:t>fopen</a:t>
            </a:r>
            <a:r>
              <a:rPr lang="en-US" altLang="zh-CN" sz="2000" b="1" dirty="0">
                <a:ea typeface="楷体_GB2312" pitchFamily="49" charset="-122"/>
              </a:rPr>
              <a:t>(</a:t>
            </a:r>
            <a:r>
              <a:rPr lang="en-US" altLang="zh-CN" sz="2000" b="1" dirty="0" err="1">
                <a:ea typeface="楷体_GB2312" pitchFamily="49" charset="-122"/>
              </a:rPr>
              <a:t>argv</a:t>
            </a:r>
            <a:r>
              <a:rPr lang="en-US" altLang="zh-CN" sz="2000" b="1" dirty="0">
                <a:ea typeface="楷体_GB2312" pitchFamily="49" charset="-122"/>
              </a:rPr>
              <a:t>[1],"wt")) == NULL)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打开文件失败</a:t>
            </a:r>
          </a:p>
          <a:p>
            <a:pPr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>
                <a:ea typeface="楷体_GB2312" pitchFamily="49" charset="-122"/>
              </a:rPr>
              <a:t>{  </a:t>
            </a:r>
          </a:p>
          <a:p>
            <a:pPr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("can not open this file\n");</a:t>
            </a:r>
          </a:p>
          <a:p>
            <a:pPr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exit (0);</a:t>
            </a:r>
          </a:p>
          <a:p>
            <a:pPr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}  </a:t>
            </a:r>
          </a:p>
        </p:txBody>
      </p:sp>
      <p:sp>
        <p:nvSpPr>
          <p:cNvPr id="1068043" name="Rectangle 11" descr="信纸"/>
          <p:cNvSpPr>
            <a:spLocks noChangeArrowheads="1"/>
          </p:cNvSpPr>
          <p:nvPr/>
        </p:nvSpPr>
        <p:spPr bwMode="auto">
          <a:xfrm>
            <a:off x="6599659" y="1386260"/>
            <a:ext cx="5256981" cy="3785652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accent2"/>
                </a:solidFill>
                <a:latin typeface="+mn-lt"/>
                <a:ea typeface="楷体" pitchFamily="49" charset="-122"/>
              </a:rPr>
              <a:t>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输入字符，并存储到指定文件中</a:t>
            </a:r>
          </a:p>
          <a:p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>
                <a:ea typeface="楷体_GB2312" pitchFamily="49" charset="-122"/>
              </a:rPr>
              <a:t>for ( ; (</a:t>
            </a:r>
            <a:r>
              <a:rPr lang="en-US" altLang="zh-CN" sz="2000" b="1" dirty="0" err="1">
                <a:ea typeface="楷体_GB2312" pitchFamily="49" charset="-122"/>
              </a:rPr>
              <a:t>ch</a:t>
            </a:r>
            <a:r>
              <a:rPr lang="en-US" altLang="zh-CN" sz="2000" b="1" dirty="0">
                <a:ea typeface="楷体_GB2312" pitchFamily="49" charset="-122"/>
              </a:rPr>
              <a:t> = </a:t>
            </a:r>
            <a:r>
              <a:rPr lang="en-US" altLang="zh-CN" sz="2000" b="1" dirty="0" err="1">
                <a:ea typeface="楷体_GB2312" pitchFamily="49" charset="-122"/>
              </a:rPr>
              <a:t>getchar</a:t>
            </a:r>
            <a:r>
              <a:rPr lang="en-US" altLang="zh-CN" sz="2000" b="1" dirty="0">
                <a:ea typeface="楷体_GB2312" pitchFamily="49" charset="-122"/>
              </a:rPr>
              <a:t>( )) != '@' ; )</a:t>
            </a:r>
          </a:p>
          <a:p>
            <a:r>
              <a:rPr lang="en-US" altLang="zh-CN" sz="2000" b="1" dirty="0">
                <a:solidFill>
                  <a:srgbClr val="C00000"/>
                </a:solidFill>
                <a:ea typeface="楷体_GB2312" pitchFamily="49" charset="-122"/>
              </a:rPr>
              <a:t>       </a:t>
            </a:r>
            <a:r>
              <a:rPr lang="en-US" altLang="zh-CN" sz="2000" b="1" dirty="0" err="1">
                <a:solidFill>
                  <a:srgbClr val="C00000"/>
                </a:solidFill>
                <a:ea typeface="楷体_GB2312" pitchFamily="49" charset="-122"/>
              </a:rPr>
              <a:t>fputc</a:t>
            </a:r>
            <a:r>
              <a:rPr lang="en-US" altLang="zh-CN" sz="2000" b="1" dirty="0">
                <a:solidFill>
                  <a:srgbClr val="C00000"/>
                </a:solidFill>
                <a:ea typeface="楷体_GB2312" pitchFamily="49" charset="-122"/>
              </a:rPr>
              <a:t> (</a:t>
            </a:r>
            <a:r>
              <a:rPr lang="en-US" altLang="zh-CN" sz="2000" b="1" dirty="0" err="1">
                <a:solidFill>
                  <a:srgbClr val="C00000"/>
                </a:solidFill>
                <a:ea typeface="楷体_GB2312" pitchFamily="49" charset="-122"/>
              </a:rPr>
              <a:t>ch</a:t>
            </a:r>
            <a:r>
              <a:rPr lang="en-US" altLang="zh-CN" sz="2000" b="1" dirty="0">
                <a:solidFill>
                  <a:srgbClr val="C00000"/>
                </a:solidFill>
                <a:ea typeface="楷体_GB2312" pitchFamily="49" charset="-122"/>
              </a:rPr>
              <a:t>, fp1);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输入字符并存储到文件中</a:t>
            </a:r>
          </a:p>
          <a:p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fclose</a:t>
            </a:r>
            <a:r>
              <a:rPr lang="en-US" altLang="zh-CN" sz="2000" b="1" dirty="0">
                <a:ea typeface="楷体_GB2312" pitchFamily="49" charset="-122"/>
              </a:rPr>
              <a:t> (fp1); 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关闭文件</a:t>
            </a:r>
            <a:endParaRPr lang="en-US" altLang="zh-CN" sz="1800" b="1" dirty="0">
              <a:solidFill>
                <a:srgbClr val="002060"/>
              </a:solidFill>
              <a:latin typeface="+mn-lt"/>
              <a:ea typeface="楷体" pitchFamily="49" charset="-122"/>
            </a:endParaRPr>
          </a:p>
          <a:p>
            <a:r>
              <a:rPr lang="en-US" altLang="zh-CN" sz="2000" b="1" dirty="0">
                <a:solidFill>
                  <a:schemeClr val="accent2"/>
                </a:solidFill>
                <a:latin typeface="+mn-lt"/>
                <a:ea typeface="楷体" pitchFamily="49" charset="-122"/>
              </a:rPr>
              <a:t>  </a:t>
            </a:r>
          </a:p>
          <a:p>
            <a:r>
              <a:rPr lang="en-US" altLang="zh-CN" sz="2000" b="1" dirty="0">
                <a:solidFill>
                  <a:schemeClr val="accent2"/>
                </a:solidFill>
                <a:latin typeface="+mn-lt"/>
                <a:ea typeface="楷体" pitchFamily="49" charset="-122"/>
              </a:rPr>
              <a:t>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顺序输出文件的内容</a:t>
            </a:r>
          </a:p>
          <a:p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>
                <a:ea typeface="楷体_GB2312" pitchFamily="49" charset="-122"/>
              </a:rPr>
              <a:t>fp2 = </a:t>
            </a:r>
            <a:r>
              <a:rPr lang="en-US" altLang="zh-CN" sz="2000" b="1" dirty="0" err="1">
                <a:ea typeface="楷体_GB2312" pitchFamily="49" charset="-122"/>
              </a:rPr>
              <a:t>fopen</a:t>
            </a:r>
            <a:r>
              <a:rPr lang="en-US" altLang="zh-CN" sz="2000" b="1" dirty="0">
                <a:ea typeface="楷体_GB2312" pitchFamily="49" charset="-122"/>
              </a:rPr>
              <a:t> (</a:t>
            </a:r>
            <a:r>
              <a:rPr lang="en-US" altLang="zh-CN" sz="2000" b="1" dirty="0" err="1">
                <a:ea typeface="楷体_GB2312" pitchFamily="49" charset="-122"/>
              </a:rPr>
              <a:t>argv</a:t>
            </a:r>
            <a:r>
              <a:rPr lang="en-US" altLang="zh-CN" sz="2000" b="1" dirty="0">
                <a:ea typeface="楷体_GB2312" pitchFamily="49" charset="-122"/>
              </a:rPr>
              <a:t>[1], "</a:t>
            </a:r>
            <a:r>
              <a:rPr lang="en-US" altLang="zh-CN" sz="2000" b="1" dirty="0" err="1">
                <a:ea typeface="楷体_GB2312" pitchFamily="49" charset="-122"/>
              </a:rPr>
              <a:t>rt</a:t>
            </a:r>
            <a:r>
              <a:rPr lang="en-US" altLang="zh-CN" sz="2000" b="1" dirty="0">
                <a:ea typeface="楷体_GB2312" pitchFamily="49" charset="-122"/>
              </a:rPr>
              <a:t>");   </a:t>
            </a:r>
          </a:p>
          <a:p>
            <a:r>
              <a:rPr lang="en-US" altLang="zh-CN" sz="2000" b="1" dirty="0">
                <a:ea typeface="楷体_GB2312" pitchFamily="49" charset="-122"/>
              </a:rPr>
              <a:t>  for (; (</a:t>
            </a:r>
            <a:r>
              <a:rPr lang="en-US" altLang="zh-CN" sz="2000" b="1" dirty="0" err="1">
                <a:solidFill>
                  <a:srgbClr val="C00000"/>
                </a:solidFill>
                <a:ea typeface="楷体_GB2312" pitchFamily="49" charset="-122"/>
              </a:rPr>
              <a:t>ch</a:t>
            </a:r>
            <a:r>
              <a:rPr lang="en-US" altLang="zh-CN" sz="2000" b="1" dirty="0">
                <a:solidFill>
                  <a:srgbClr val="C00000"/>
                </a:solidFill>
                <a:ea typeface="楷体_GB2312" pitchFamily="49" charset="-122"/>
              </a:rPr>
              <a:t> = </a:t>
            </a:r>
            <a:r>
              <a:rPr lang="en-US" altLang="zh-CN" sz="2000" b="1" dirty="0" err="1">
                <a:solidFill>
                  <a:srgbClr val="C00000"/>
                </a:solidFill>
                <a:ea typeface="楷体_GB2312" pitchFamily="49" charset="-122"/>
              </a:rPr>
              <a:t>fgetc</a:t>
            </a:r>
            <a:r>
              <a:rPr lang="en-US" altLang="zh-CN" sz="2000" b="1" dirty="0">
                <a:solidFill>
                  <a:srgbClr val="C00000"/>
                </a:solidFill>
                <a:ea typeface="楷体_GB2312" pitchFamily="49" charset="-122"/>
              </a:rPr>
              <a:t>(fp2)) </a:t>
            </a:r>
            <a:r>
              <a:rPr lang="en-US" altLang="zh-CN" sz="2000" b="1" dirty="0">
                <a:ea typeface="楷体_GB2312" pitchFamily="49" charset="-122"/>
              </a:rPr>
              <a:t>!= EOF; ) </a:t>
            </a:r>
          </a:p>
          <a:p>
            <a:r>
              <a:rPr lang="en-US" altLang="zh-CN" sz="2000" b="1" dirty="0">
                <a:ea typeface="楷体_GB2312" pitchFamily="49" charset="-122"/>
              </a:rPr>
              <a:t>      </a:t>
            </a:r>
            <a:r>
              <a:rPr lang="en-US" altLang="zh-CN" sz="2000" b="1" dirty="0" err="1">
                <a:ea typeface="楷体_GB2312" pitchFamily="49" charset="-122"/>
              </a:rPr>
              <a:t>putchar</a:t>
            </a:r>
            <a:r>
              <a:rPr lang="en-US" altLang="zh-CN" sz="2000" b="1" dirty="0">
                <a:ea typeface="楷体_GB2312" pitchFamily="49" charset="-122"/>
              </a:rPr>
              <a:t> (</a:t>
            </a:r>
            <a:r>
              <a:rPr lang="en-US" altLang="zh-CN" sz="2000" b="1" dirty="0" err="1">
                <a:ea typeface="楷体_GB2312" pitchFamily="49" charset="-122"/>
              </a:rPr>
              <a:t>ch</a:t>
            </a:r>
            <a:r>
              <a:rPr lang="en-US" altLang="zh-CN" sz="2000" b="1" dirty="0">
                <a:ea typeface="楷体_GB2312" pitchFamily="49" charset="-122"/>
              </a:rPr>
              <a:t>);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顺序读入并显示</a:t>
            </a:r>
          </a:p>
          <a:p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fclose</a:t>
            </a:r>
            <a:r>
              <a:rPr lang="en-US" altLang="zh-CN" sz="2000" b="1" dirty="0">
                <a:ea typeface="楷体_GB2312" pitchFamily="49" charset="-122"/>
              </a:rPr>
              <a:t> (fp2);     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关闭打开的文件</a:t>
            </a:r>
          </a:p>
          <a:p>
            <a:r>
              <a:rPr lang="en-US" altLang="zh-CN" sz="2000" b="1" dirty="0">
                <a:ea typeface="楷体_GB2312" pitchFamily="49" charset="-122"/>
              </a:rPr>
              <a:t>  return 0</a:t>
            </a:r>
          </a:p>
          <a:p>
            <a:r>
              <a:rPr lang="en-US" altLang="zh-CN" sz="2000" b="1" dirty="0">
                <a:ea typeface="楷体_GB2312" pitchFamily="49" charset="-122"/>
              </a:rPr>
              <a:t>}</a:t>
            </a:r>
          </a:p>
        </p:txBody>
      </p:sp>
      <p:sp>
        <p:nvSpPr>
          <p:cNvPr id="1068045" name="Rectangle 13"/>
          <p:cNvSpPr>
            <a:spLocks noChangeArrowheads="1"/>
          </p:cNvSpPr>
          <p:nvPr/>
        </p:nvSpPr>
        <p:spPr bwMode="auto">
          <a:xfrm>
            <a:off x="6384057" y="5287384"/>
            <a:ext cx="5472583" cy="1349375"/>
          </a:xfrm>
          <a:prstGeom prst="rect">
            <a:avLst/>
          </a:prstGeom>
          <a:solidFill>
            <a:srgbClr val="FFFFFF"/>
          </a:soli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隶书" pitchFamily="49" charset="-122"/>
                <a:ea typeface="隶书" pitchFamily="49" charset="-122"/>
              </a:rPr>
              <a:t>运行结果（</a:t>
            </a:r>
            <a:r>
              <a:rPr lang="zh-CN" altLang="en-US" sz="2000" b="1" dirty="0">
                <a:latin typeface="隶书" pitchFamily="49" charset="-122"/>
                <a:ea typeface="隶书" pitchFamily="49" charset="-122"/>
              </a:rPr>
              <a:t>假设在</a:t>
            </a:r>
            <a:r>
              <a:rPr lang="en-US" altLang="zh-CN" sz="2000" b="1" dirty="0">
                <a:latin typeface="隶书" pitchFamily="49" charset="-122"/>
                <a:ea typeface="隶书" pitchFamily="49" charset="-122"/>
              </a:rPr>
              <a:t>DOS</a:t>
            </a:r>
            <a:r>
              <a:rPr lang="zh-CN" altLang="en-US" sz="2000" b="1" dirty="0">
                <a:latin typeface="隶书" pitchFamily="49" charset="-122"/>
                <a:ea typeface="隶书" pitchFamily="49" charset="-122"/>
              </a:rPr>
              <a:t>下输入的命令行如下）：</a:t>
            </a:r>
          </a:p>
          <a:p>
            <a:r>
              <a:rPr lang="en-US" altLang="zh-CN" sz="2000" b="1" dirty="0">
                <a:ea typeface="楷体_GB2312" pitchFamily="49" charset="-122"/>
              </a:rPr>
              <a:t>example1   wang.txt</a:t>
            </a:r>
            <a:r>
              <a:rPr lang="en-US" altLang="zh-CN" sz="2000" b="1" dirty="0">
                <a:latin typeface="+mn-ea"/>
                <a:ea typeface="+mn-ea"/>
              </a:rPr>
              <a:t>↙</a:t>
            </a:r>
          </a:p>
          <a:p>
            <a:r>
              <a:rPr lang="en-US" altLang="zh-CN" sz="2000" b="1" dirty="0">
                <a:ea typeface="楷体_GB2312" pitchFamily="49" charset="-122"/>
              </a:rPr>
              <a:t>How are you?@</a:t>
            </a:r>
            <a:r>
              <a:rPr lang="en-US" altLang="zh-CN" sz="2000" b="1" dirty="0">
                <a:latin typeface="+mn-ea"/>
                <a:ea typeface="+mn-ea"/>
              </a:rPr>
              <a:t>↙</a:t>
            </a:r>
          </a:p>
          <a:p>
            <a:r>
              <a:rPr lang="en-US" altLang="zh-CN" sz="2000" b="1" dirty="0">
                <a:solidFill>
                  <a:srgbClr val="002060"/>
                </a:solidFill>
                <a:ea typeface="楷体_GB2312" pitchFamily="49" charset="-122"/>
              </a:rPr>
              <a:t>How are you?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159EEB1-1D8B-4F27-94D8-314921CE2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12.5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文件的打开、读写和关闭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680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680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0680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8042" grpId="0" animBg="1"/>
      <p:bldP spid="1068043" grpId="0" animBg="1"/>
      <p:bldP spid="106804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>
            <a:extLst>
              <a:ext uri="{FF2B5EF4-FFF2-40B4-BE49-F238E27FC236}">
                <a16:creationId xmlns:a16="http://schemas.microsoft.com/office/drawing/2014/main" id="{1196AE61-F8E1-4C99-A222-6473192A6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12.5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文件的打开、读写和关闭 </a:t>
            </a:r>
          </a:p>
        </p:txBody>
      </p:sp>
      <p:sp>
        <p:nvSpPr>
          <p:cNvPr id="1070085" name="Rectangle 5"/>
          <p:cNvSpPr>
            <a:spLocks noChangeArrowheads="1"/>
          </p:cNvSpPr>
          <p:nvPr/>
        </p:nvSpPr>
        <p:spPr bwMode="auto">
          <a:xfrm>
            <a:off x="839416" y="950756"/>
            <a:ext cx="84248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2】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利用字符读写函数实现文件拷贝。</a:t>
            </a: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1070086" name="Rectangle 6" descr="信纸"/>
          <p:cNvSpPr>
            <a:spLocks noChangeArrowheads="1"/>
          </p:cNvSpPr>
          <p:nvPr/>
        </p:nvSpPr>
        <p:spPr bwMode="auto">
          <a:xfrm>
            <a:off x="562445" y="665333"/>
            <a:ext cx="6765185" cy="5940088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none" anchor="ctr">
            <a:spAutoFit/>
          </a:bodyPr>
          <a:lstStyle/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a typeface="楷体_GB2312" pitchFamily="49" charset="-122"/>
              </a:rPr>
              <a:t>stdio.h</a:t>
            </a:r>
            <a:r>
              <a:rPr lang="en-US" altLang="zh-CN" sz="2000" b="1" dirty="0">
                <a:ea typeface="楷体_GB2312" pitchFamily="49" charset="-122"/>
              </a:rPr>
              <a:t>&gt;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a typeface="楷体_GB2312" pitchFamily="49" charset="-122"/>
              </a:rPr>
              <a:t>stdlib.h</a:t>
            </a:r>
            <a:r>
              <a:rPr lang="en-US" altLang="zh-CN" sz="2000" b="1" dirty="0">
                <a:ea typeface="楷体_GB2312" pitchFamily="49" charset="-122"/>
              </a:rPr>
              <a:t>&gt;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 main (</a:t>
            </a:r>
            <a:r>
              <a:rPr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 </a:t>
            </a:r>
            <a:r>
              <a:rPr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argc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, char *</a:t>
            </a:r>
            <a:r>
              <a:rPr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argv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[ ])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{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ea typeface="楷体_GB2312" pitchFamily="49" charset="-122"/>
              </a:rPr>
              <a:t>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//input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：源文件指针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, output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：目标文件指针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>
                <a:ea typeface="楷体_GB2312" pitchFamily="49" charset="-122"/>
              </a:rPr>
              <a:t>FILE *input, *output;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if (</a:t>
            </a:r>
            <a:r>
              <a:rPr lang="en-US" altLang="zh-CN" sz="2000" b="1" dirty="0" err="1">
                <a:ea typeface="楷体_GB2312" pitchFamily="49" charset="-122"/>
              </a:rPr>
              <a:t>argc</a:t>
            </a:r>
            <a:r>
              <a:rPr lang="en-US" altLang="zh-CN" sz="2000" b="1" dirty="0">
                <a:ea typeface="楷体_GB2312" pitchFamily="49" charset="-122"/>
              </a:rPr>
              <a:t> != 3)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参数个数不对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>
                <a:ea typeface="楷体_GB2312" pitchFamily="49" charset="-122"/>
              </a:rPr>
              <a:t>{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("the number of arguments not correct\n");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("\n Usage:  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可执行文件名  </a:t>
            </a:r>
            <a:r>
              <a:rPr lang="en-US" altLang="zh-CN" sz="2000" b="1" dirty="0">
                <a:ea typeface="楷体_GB2312" pitchFamily="49" charset="-122"/>
              </a:rPr>
              <a:t>source-file  </a:t>
            </a:r>
            <a:r>
              <a:rPr lang="en-US" altLang="zh-CN" sz="2000" b="1" dirty="0" err="1">
                <a:ea typeface="楷体_GB2312" pitchFamily="49" charset="-122"/>
              </a:rPr>
              <a:t>dest</a:t>
            </a:r>
            <a:r>
              <a:rPr lang="en-US" altLang="zh-CN" sz="2000" b="1" dirty="0">
                <a:ea typeface="楷体_GB2312" pitchFamily="49" charset="-122"/>
              </a:rPr>
              <a:t>-file");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exit (0);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}</a:t>
            </a:r>
          </a:p>
          <a:p>
            <a:pPr marL="457200" indent="-457200">
              <a:tabLst>
                <a:tab pos="914400" algn="l"/>
              </a:tabLst>
            </a:pPr>
            <a:endParaRPr lang="en-US" altLang="zh-CN" sz="2000" b="1" dirty="0">
              <a:ea typeface="楷体_GB2312" pitchFamily="49" charset="-122"/>
            </a:endParaRP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ea typeface="楷体_GB2312" pitchFamily="49" charset="-122"/>
              </a:rPr>
              <a:t>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打开源文件失败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>
                <a:ea typeface="楷体_GB2312" pitchFamily="49" charset="-122"/>
              </a:rPr>
              <a:t>if ((input = </a:t>
            </a:r>
            <a:r>
              <a:rPr lang="en-US" altLang="zh-CN" sz="2000" b="1" dirty="0" err="1">
                <a:ea typeface="楷体_GB2312" pitchFamily="49" charset="-122"/>
              </a:rPr>
              <a:t>fopen</a:t>
            </a:r>
            <a:r>
              <a:rPr lang="en-US" altLang="zh-CN" sz="2000" b="1" dirty="0">
                <a:ea typeface="楷体_GB2312" pitchFamily="49" charset="-122"/>
              </a:rPr>
              <a:t>(</a:t>
            </a:r>
            <a:r>
              <a:rPr lang="en-US" altLang="zh-CN" sz="2000" b="1" dirty="0" err="1">
                <a:ea typeface="楷体_GB2312" pitchFamily="49" charset="-122"/>
              </a:rPr>
              <a:t>argv</a:t>
            </a:r>
            <a:r>
              <a:rPr lang="en-US" altLang="zh-CN" sz="2000" b="1" dirty="0">
                <a:ea typeface="楷体_GB2312" pitchFamily="49" charset="-122"/>
              </a:rPr>
              <a:t>[1], "r")) == NULL)</a:t>
            </a:r>
            <a:endParaRPr lang="en-US" altLang="zh-CN" sz="2000" b="1" dirty="0">
              <a:solidFill>
                <a:schemeClr val="accent2"/>
              </a:solidFill>
              <a:ea typeface="楷体_GB2312" pitchFamily="49" charset="-122"/>
            </a:endParaRP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{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("can not open source file\n");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exit (0);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}  </a:t>
            </a:r>
          </a:p>
        </p:txBody>
      </p:sp>
      <p:sp>
        <p:nvSpPr>
          <p:cNvPr id="1070089" name="Rectangle 9" descr="信纸"/>
          <p:cNvSpPr>
            <a:spLocks noChangeArrowheads="1"/>
          </p:cNvSpPr>
          <p:nvPr/>
        </p:nvSpPr>
        <p:spPr bwMode="auto">
          <a:xfrm>
            <a:off x="6815375" y="120810"/>
            <a:ext cx="5147563" cy="4431983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none" anchor="ctr">
            <a:spAutoFit/>
          </a:bodyPr>
          <a:lstStyle/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创建目标文件失败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dirty="0"/>
              <a:t>  </a:t>
            </a:r>
            <a:r>
              <a:rPr lang="en-US" altLang="zh-CN" sz="2000" b="1" dirty="0">
                <a:ea typeface="楷体_GB2312" pitchFamily="49" charset="-122"/>
              </a:rPr>
              <a:t>if ((output = </a:t>
            </a:r>
            <a:r>
              <a:rPr lang="en-US" altLang="zh-CN" sz="2000" b="1" dirty="0" err="1">
                <a:ea typeface="楷体_GB2312" pitchFamily="49" charset="-122"/>
              </a:rPr>
              <a:t>fopen</a:t>
            </a:r>
            <a:r>
              <a:rPr lang="en-US" altLang="zh-CN" sz="2000" b="1" dirty="0">
                <a:ea typeface="楷体_GB2312" pitchFamily="49" charset="-122"/>
              </a:rPr>
              <a:t>(</a:t>
            </a:r>
            <a:r>
              <a:rPr lang="en-US" altLang="zh-CN" sz="2000" b="1" dirty="0" err="1">
                <a:ea typeface="楷体_GB2312" pitchFamily="49" charset="-122"/>
              </a:rPr>
              <a:t>argv</a:t>
            </a:r>
            <a:r>
              <a:rPr lang="en-US" altLang="zh-CN" sz="2000" b="1" dirty="0">
                <a:ea typeface="楷体_GB2312" pitchFamily="49" charset="-122"/>
              </a:rPr>
              <a:t>[2],"w")) == NULL)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{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("can not create destination file\n");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exit (0);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}</a:t>
            </a:r>
          </a:p>
          <a:p>
            <a:pPr marL="457200" indent="-457200">
              <a:tabLst>
                <a:tab pos="914400" algn="l"/>
              </a:tabLst>
            </a:pPr>
            <a:endParaRPr lang="en-US" altLang="zh-CN" sz="2000" b="1" dirty="0">
              <a:ea typeface="楷体_GB2312" pitchFamily="49" charset="-122"/>
            </a:endParaRPr>
          </a:p>
          <a:p>
            <a:pPr marL="457200" indent="-457200">
              <a:tabLst>
                <a:tab pos="914400" algn="l"/>
              </a:tabLst>
            </a:pPr>
            <a:r>
              <a:rPr lang="en-US" altLang="zh-CN" sz="1800" b="1" dirty="0">
                <a:solidFill>
                  <a:schemeClr val="accent2"/>
                </a:solidFill>
                <a:latin typeface="+mn-lt"/>
                <a:ea typeface="楷体" pitchFamily="49" charset="-122"/>
              </a:rPr>
              <a:t>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复制源文件到目标文件中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>
                <a:ea typeface="楷体_GB2312" pitchFamily="49" charset="-122"/>
              </a:rPr>
              <a:t>for ( ; ( </a:t>
            </a:r>
            <a:r>
              <a:rPr lang="en-US" altLang="zh-CN" sz="2000" b="1" dirty="0">
                <a:solidFill>
                  <a:srgbClr val="C00000"/>
                </a:solidFill>
                <a:ea typeface="楷体_GB2312" pitchFamily="49" charset="-122"/>
              </a:rPr>
              <a:t>!</a:t>
            </a:r>
            <a:r>
              <a:rPr lang="en-US" altLang="zh-CN" sz="2000" b="1" dirty="0" err="1">
                <a:solidFill>
                  <a:srgbClr val="C00000"/>
                </a:solidFill>
                <a:ea typeface="楷体_GB2312" pitchFamily="49" charset="-122"/>
              </a:rPr>
              <a:t>feof</a:t>
            </a:r>
            <a:r>
              <a:rPr lang="en-US" altLang="zh-CN" sz="2000" b="1" dirty="0">
                <a:solidFill>
                  <a:srgbClr val="C00000"/>
                </a:solidFill>
                <a:ea typeface="楷体_GB2312" pitchFamily="49" charset="-122"/>
              </a:rPr>
              <a:t>(input) </a:t>
            </a:r>
            <a:r>
              <a:rPr lang="en-US" altLang="zh-CN" sz="2000" b="1" dirty="0">
                <a:ea typeface="楷体_GB2312" pitchFamily="49" charset="-122"/>
              </a:rPr>
              <a:t>) ; )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  </a:t>
            </a:r>
            <a:r>
              <a:rPr lang="en-US" altLang="zh-CN" sz="2000" b="1" dirty="0" err="1">
                <a:ea typeface="楷体_GB2312" pitchFamily="49" charset="-122"/>
              </a:rPr>
              <a:t>fputc</a:t>
            </a:r>
            <a:r>
              <a:rPr lang="en-US" altLang="zh-CN" sz="2000" b="1" dirty="0">
                <a:ea typeface="楷体_GB2312" pitchFamily="49" charset="-122"/>
              </a:rPr>
              <a:t> (</a:t>
            </a:r>
            <a:r>
              <a:rPr lang="en-US" altLang="zh-CN" sz="2000" b="1" dirty="0" err="1">
                <a:ea typeface="楷体_GB2312" pitchFamily="49" charset="-122"/>
              </a:rPr>
              <a:t>fgetc</a:t>
            </a:r>
            <a:r>
              <a:rPr lang="en-US" altLang="zh-CN" sz="2000" b="1" dirty="0">
                <a:ea typeface="楷体_GB2312" pitchFamily="49" charset="-122"/>
              </a:rPr>
              <a:t>(input), output);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fclose</a:t>
            </a:r>
            <a:r>
              <a:rPr lang="en-US" altLang="zh-CN" sz="2000" b="1" dirty="0">
                <a:ea typeface="楷体_GB2312" pitchFamily="49" charset="-122"/>
              </a:rPr>
              <a:t> (input);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关闭源文件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fclose</a:t>
            </a:r>
            <a:r>
              <a:rPr lang="en-US" altLang="zh-CN" sz="2000" b="1" dirty="0">
                <a:ea typeface="楷体_GB2312" pitchFamily="49" charset="-122"/>
              </a:rPr>
              <a:t> (output);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关闭目标文件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return 0;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}</a:t>
            </a:r>
          </a:p>
        </p:txBody>
      </p:sp>
      <p:grpSp>
        <p:nvGrpSpPr>
          <p:cNvPr id="1070097" name="Group 17"/>
          <p:cNvGrpSpPr>
            <a:grpSpLocks/>
          </p:cNvGrpSpPr>
          <p:nvPr/>
        </p:nvGrpSpPr>
        <p:grpSpPr bwMode="auto">
          <a:xfrm>
            <a:off x="4079776" y="2924944"/>
            <a:ext cx="7885112" cy="3602037"/>
            <a:chOff x="521" y="1933"/>
            <a:chExt cx="4967" cy="2269"/>
          </a:xfrm>
        </p:grpSpPr>
        <p:grpSp>
          <p:nvGrpSpPr>
            <p:cNvPr id="1070090" name="Group 10"/>
            <p:cNvGrpSpPr>
              <a:grpSpLocks/>
            </p:cNvGrpSpPr>
            <p:nvPr/>
          </p:nvGrpSpPr>
          <p:grpSpPr bwMode="auto">
            <a:xfrm>
              <a:off x="521" y="2659"/>
              <a:ext cx="4967" cy="1543"/>
              <a:chOff x="793" y="2205"/>
              <a:chExt cx="4967" cy="1543"/>
            </a:xfrm>
          </p:grpSpPr>
          <p:sp>
            <p:nvSpPr>
              <p:cNvPr id="1070091" name="Rectangle 11"/>
              <p:cNvSpPr>
                <a:spLocks noChangeArrowheads="1"/>
              </p:cNvSpPr>
              <p:nvPr/>
            </p:nvSpPr>
            <p:spPr bwMode="auto">
              <a:xfrm>
                <a:off x="793" y="2205"/>
                <a:ext cx="4967" cy="1543"/>
              </a:xfrm>
              <a:prstGeom prst="rect">
                <a:avLst/>
              </a:prstGeom>
              <a:gradFill rotWithShape="1">
                <a:gsLst>
                  <a:gs pos="0">
                    <a:srgbClr val="CFCFD1"/>
                  </a:gs>
                  <a:gs pos="100000">
                    <a:schemeClr val="bg1"/>
                  </a:gs>
                </a:gsLst>
                <a:lin ang="5400000" scaled="1"/>
              </a:gradFill>
              <a:ln w="38100">
                <a:solidFill>
                  <a:srgbClr val="C01920"/>
                </a:solidFill>
                <a:miter lim="800000"/>
                <a:headEnd/>
                <a:tailEnd/>
              </a:ln>
              <a:effectLst>
                <a:outerShdw blurRad="50800" dist="106680" dir="2700000" algn="tl" rotWithShape="0">
                  <a:prstClr val="black">
                    <a:alpha val="43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14300" prst="hardEdge"/>
              </a:sp3d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70092" name="Rectangle 12"/>
              <p:cNvSpPr>
                <a:spLocks noChangeArrowheads="1"/>
              </p:cNvSpPr>
              <p:nvPr/>
            </p:nvSpPr>
            <p:spPr bwMode="auto">
              <a:xfrm>
                <a:off x="903" y="2226"/>
                <a:ext cx="88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>
                  <a:buFont typeface="Wingdings" pitchFamily="2" charset="2"/>
                  <a:buChar char="Ø"/>
                  <a:tabLst>
                    <a:tab pos="496888" algn="l"/>
                  </a:tabLst>
                </a:pPr>
                <a:r>
                  <a:rPr lang="en-US" altLang="zh-CN" b="1" dirty="0">
                    <a:solidFill>
                      <a:srgbClr val="C00000"/>
                    </a:solidFill>
                    <a:ea typeface="楷体_GB2312" pitchFamily="49" charset="-122"/>
                  </a:rPr>
                  <a:t> </a:t>
                </a:r>
                <a:r>
                  <a:rPr lang="en-US" altLang="zh-CN" b="1" dirty="0" err="1">
                    <a:solidFill>
                      <a:srgbClr val="C00000"/>
                    </a:solidFill>
                    <a:ea typeface="楷体_GB2312" pitchFamily="49" charset="-122"/>
                  </a:rPr>
                  <a:t>feof</a:t>
                </a:r>
                <a:endParaRPr lang="en-US" altLang="zh-CN" b="1" dirty="0">
                  <a:solidFill>
                    <a:srgbClr val="C00000"/>
                  </a:solidFill>
                  <a:ea typeface="楷体_GB2312" pitchFamily="49" charset="-122"/>
                </a:endParaRPr>
              </a:p>
            </p:txBody>
          </p:sp>
          <p:sp>
            <p:nvSpPr>
              <p:cNvPr id="1070093" name="Rectangle 13"/>
              <p:cNvSpPr>
                <a:spLocks noChangeArrowheads="1"/>
              </p:cNvSpPr>
              <p:nvPr/>
            </p:nvSpPr>
            <p:spPr bwMode="auto">
              <a:xfrm>
                <a:off x="1111" y="2524"/>
                <a:ext cx="1361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buClr>
                    <a:srgbClr val="C00000"/>
                  </a:buClr>
                  <a:buFont typeface="Wingdings" pitchFamily="2" charset="2"/>
                  <a:buChar char="l"/>
                </a:pPr>
                <a:r>
                  <a:rPr lang="en-US" altLang="zh-CN" b="1" dirty="0">
                    <a:latin typeface="隶书" pitchFamily="49" charset="-122"/>
                    <a:ea typeface="隶书" pitchFamily="49" charset="-122"/>
                  </a:rPr>
                  <a:t> </a:t>
                </a:r>
                <a:r>
                  <a:rPr lang="zh-CN" altLang="zh-CN" b="1" dirty="0">
                    <a:latin typeface="隶书" pitchFamily="49" charset="-122"/>
                    <a:ea typeface="隶书" pitchFamily="49" charset="-122"/>
                  </a:rPr>
                  <a:t>函数原形：         </a:t>
                </a:r>
                <a:endParaRPr lang="zh-CN" altLang="en-US" b="1" dirty="0">
                  <a:solidFill>
                    <a:srgbClr val="D60093"/>
                  </a:solidFill>
                  <a:latin typeface="隶书" pitchFamily="49" charset="-122"/>
                  <a:ea typeface="隶书" pitchFamily="49" charset="-122"/>
                </a:endParaRPr>
              </a:p>
            </p:txBody>
          </p:sp>
          <p:sp>
            <p:nvSpPr>
              <p:cNvPr id="1070094" name="Text Box 14"/>
              <p:cNvSpPr txBox="1">
                <a:spLocks noChangeArrowheads="1"/>
              </p:cNvSpPr>
              <p:nvPr/>
            </p:nvSpPr>
            <p:spPr bwMode="auto">
              <a:xfrm>
                <a:off x="1383" y="2841"/>
                <a:ext cx="3175" cy="272"/>
              </a:xfrm>
              <a:prstGeom prst="rect">
                <a:avLst/>
              </a:prstGeom>
              <a:gradFill rotWithShape="1">
                <a:gsLst>
                  <a:gs pos="0">
                    <a:srgbClr val="CFCFD1"/>
                  </a:gs>
                  <a:gs pos="100000">
                    <a:schemeClr val="bg1">
                      <a:lumMod val="95000"/>
                    </a:schemeClr>
                  </a:gs>
                </a:gsLst>
                <a:lin ang="5400000" scaled="1"/>
              </a:gradFill>
              <a:ln w="38100">
                <a:solidFill>
                  <a:srgbClr val="C01920"/>
                </a:solidFill>
                <a:miter lim="800000"/>
                <a:headEnd/>
                <a:tailEnd/>
              </a:ln>
              <a:effectLst>
                <a:outerShdw blurRad="50800" dist="106680" dir="2700000" algn="tl" rotWithShape="0">
                  <a:prstClr val="black">
                    <a:alpha val="43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14300" prst="hardEdge"/>
              </a:sp3d>
            </p:spPr>
            <p:txBody>
              <a:bodyPr/>
              <a:lstStyle/>
              <a:p>
                <a:pPr algn="ctr"/>
                <a:r>
                  <a:rPr lang="en-US" altLang="zh-CN" sz="2000" b="1"/>
                  <a:t>int  feof ( FILE *filepointer );</a:t>
                </a:r>
              </a:p>
            </p:txBody>
          </p:sp>
          <p:sp>
            <p:nvSpPr>
              <p:cNvPr id="1070095" name="Rectangle 15"/>
              <p:cNvSpPr>
                <a:spLocks noChangeArrowheads="1"/>
              </p:cNvSpPr>
              <p:nvPr/>
            </p:nvSpPr>
            <p:spPr bwMode="auto">
              <a:xfrm>
                <a:off x="1123" y="3204"/>
                <a:ext cx="4637" cy="5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buClr>
                    <a:srgbClr val="C00000"/>
                  </a:buClr>
                  <a:buFont typeface="Wingdings" pitchFamily="2" charset="2"/>
                  <a:buChar char="l"/>
                </a:pPr>
                <a:r>
                  <a:rPr lang="en-US" altLang="zh-CN" b="1">
                    <a:latin typeface="隶书" pitchFamily="49" charset="-122"/>
                    <a:ea typeface="隶书" pitchFamily="49" charset="-122"/>
                  </a:rPr>
                  <a:t> </a:t>
                </a:r>
                <a:r>
                  <a:rPr lang="zh-CN" altLang="en-US" b="1">
                    <a:latin typeface="隶书" pitchFamily="49" charset="-122"/>
                    <a:ea typeface="隶书" pitchFamily="49" charset="-122"/>
                  </a:rPr>
                  <a:t>功能：判断文件是否结束</a:t>
                </a:r>
              </a:p>
              <a:p>
                <a:pPr>
                  <a:buClr>
                    <a:srgbClr val="C00000"/>
                  </a:buClr>
                  <a:buFont typeface="Wingdings" pitchFamily="2" charset="2"/>
                  <a:buChar char="l"/>
                </a:pPr>
                <a:r>
                  <a:rPr lang="zh-CN" altLang="en-US" b="1">
                    <a:latin typeface="隶书" pitchFamily="49" charset="-122"/>
                    <a:ea typeface="隶书" pitchFamily="49" charset="-122"/>
                  </a:rPr>
                  <a:t> 返值：</a:t>
                </a:r>
                <a:r>
                  <a:rPr lang="zh-CN" altLang="zh-CN" b="1">
                    <a:latin typeface="隶书" pitchFamily="49" charset="-122"/>
                    <a:ea typeface="隶书" pitchFamily="49" charset="-122"/>
                  </a:rPr>
                  <a:t>文件结束，返回真（非0）；未结束，返回0</a:t>
                </a:r>
                <a:endParaRPr lang="en-US" altLang="zh-CN" b="1">
                  <a:latin typeface="隶书" pitchFamily="49" charset="-122"/>
                  <a:ea typeface="隶书" pitchFamily="49" charset="-122"/>
                </a:endParaRPr>
              </a:p>
            </p:txBody>
          </p:sp>
        </p:grpSp>
        <p:sp>
          <p:nvSpPr>
            <p:cNvPr id="1070096" name="Line 16"/>
            <p:cNvSpPr>
              <a:spLocks noChangeShapeType="1"/>
            </p:cNvSpPr>
            <p:nvPr/>
          </p:nvSpPr>
          <p:spPr bwMode="auto">
            <a:xfrm flipH="1">
              <a:off x="1973" y="1933"/>
              <a:ext cx="1270" cy="726"/>
            </a:xfrm>
            <a:prstGeom prst="line">
              <a:avLst/>
            </a:prstGeom>
            <a:noFill/>
            <a:ln w="38100">
              <a:solidFill>
                <a:srgbClr val="C0192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700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700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10700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0086" grpId="0" animBg="1"/>
      <p:bldP spid="107008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144" name="Rectangle 16"/>
          <p:cNvSpPr>
            <a:spLocks noChangeArrowheads="1"/>
          </p:cNvSpPr>
          <p:nvPr/>
        </p:nvSpPr>
        <p:spPr bwMode="auto">
          <a:xfrm>
            <a:off x="818854" y="983307"/>
            <a:ext cx="29432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b="1" u="sng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文件读写位置指针</a:t>
            </a:r>
            <a:r>
              <a:rPr lang="en-US" altLang="zh-CN" b="1" u="sng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en-US" altLang="zh-CN" b="1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1072145" name="Rectangle 17"/>
          <p:cNvSpPr>
            <a:spLocks noChangeArrowheads="1"/>
          </p:cNvSpPr>
          <p:nvPr/>
        </p:nvSpPr>
        <p:spPr bwMode="auto">
          <a:xfrm>
            <a:off x="1126381" y="1580747"/>
            <a:ext cx="10082091" cy="1200329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r>
              <a:rPr lang="en-US" altLang="zh-CN" dirty="0">
                <a:ea typeface="楷体" pitchFamily="49" charset="-122"/>
              </a:rPr>
              <a:t>        </a:t>
            </a:r>
            <a:r>
              <a:rPr lang="zh-CN" altLang="en-US" b="1" dirty="0">
                <a:ea typeface="楷体" pitchFamily="49" charset="-122"/>
              </a:rPr>
              <a:t>在文件内部有一个位置指针。</a:t>
            </a:r>
            <a:r>
              <a:rPr lang="zh-CN" altLang="en-US" b="1" dirty="0">
                <a:solidFill>
                  <a:srgbClr val="002060"/>
                </a:solidFill>
                <a:ea typeface="楷体" pitchFamily="49" charset="-122"/>
              </a:rPr>
              <a:t>用来指向文件的当前读写字节</a:t>
            </a:r>
            <a:r>
              <a:rPr lang="zh-CN" altLang="en-US" b="1" dirty="0">
                <a:ea typeface="楷体" pitchFamily="49" charset="-122"/>
              </a:rPr>
              <a:t>。在文件打开时，该指针总是指向文件的第一个字节。使用</a:t>
            </a:r>
            <a:r>
              <a:rPr lang="en-US" altLang="zh-CN" b="1" dirty="0" err="1">
                <a:ea typeface="楷体" pitchFamily="49" charset="-122"/>
              </a:rPr>
              <a:t>fgetc</a:t>
            </a:r>
            <a:r>
              <a:rPr lang="en-US" altLang="zh-CN" b="1" dirty="0">
                <a:ea typeface="楷体" pitchFamily="49" charset="-122"/>
              </a:rPr>
              <a:t> </a:t>
            </a:r>
            <a:r>
              <a:rPr lang="zh-CN" altLang="en-US" b="1" dirty="0">
                <a:ea typeface="楷体" pitchFamily="49" charset="-122"/>
              </a:rPr>
              <a:t>函数后， 该位置指针将向后移动一个字节。 因此可连续多次使用</a:t>
            </a:r>
            <a:r>
              <a:rPr lang="en-US" altLang="zh-CN" b="1" dirty="0" err="1">
                <a:ea typeface="楷体" pitchFamily="49" charset="-122"/>
              </a:rPr>
              <a:t>fgetc</a:t>
            </a:r>
            <a:r>
              <a:rPr lang="zh-CN" altLang="en-US" b="1" dirty="0">
                <a:ea typeface="楷体" pitchFamily="49" charset="-122"/>
              </a:rPr>
              <a:t>函数，读取多个字符。</a:t>
            </a:r>
            <a:r>
              <a:rPr lang="zh-CN" altLang="en-US" dirty="0">
                <a:ea typeface="楷体" pitchFamily="49" charset="-122"/>
              </a:rPr>
              <a:t> </a:t>
            </a:r>
          </a:p>
        </p:txBody>
      </p:sp>
      <p:sp>
        <p:nvSpPr>
          <p:cNvPr id="1072146" name="Rectangle 18"/>
          <p:cNvSpPr>
            <a:spLocks noChangeArrowheads="1"/>
          </p:cNvSpPr>
          <p:nvPr/>
        </p:nvSpPr>
        <p:spPr bwMode="auto">
          <a:xfrm>
            <a:off x="802978" y="2924944"/>
            <a:ext cx="55451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zh-CN" altLang="en-US" b="1" u="sng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文件读写位置指针与文件指针的区别：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1072147" name="Rectangle 19"/>
          <p:cNvSpPr>
            <a:spLocks noChangeArrowheads="1"/>
          </p:cNvSpPr>
          <p:nvPr/>
        </p:nvSpPr>
        <p:spPr bwMode="auto">
          <a:xfrm>
            <a:off x="1127968" y="3534107"/>
            <a:ext cx="10080600" cy="1569660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ea typeface="楷体" pitchFamily="49" charset="-122"/>
              </a:rPr>
              <a:t>        </a:t>
            </a:r>
            <a:r>
              <a:rPr lang="zh-CN" altLang="en-US" b="1" dirty="0">
                <a:solidFill>
                  <a:srgbClr val="002060"/>
                </a:solidFill>
                <a:ea typeface="楷体" pitchFamily="49" charset="-122"/>
              </a:rPr>
              <a:t>文件指针</a:t>
            </a:r>
            <a:r>
              <a:rPr lang="zh-CN" altLang="en-US" b="1" dirty="0">
                <a:ea typeface="楷体" pitchFamily="49" charset="-122"/>
              </a:rPr>
              <a:t>是指向整个文件的，须在程序中定义说明，只要不重新赋值，文件指针的值是不变的。</a:t>
            </a:r>
          </a:p>
          <a:p>
            <a:r>
              <a:rPr lang="zh-CN" altLang="en-US" b="1" dirty="0">
                <a:solidFill>
                  <a:srgbClr val="002060"/>
                </a:solidFill>
                <a:ea typeface="楷体" pitchFamily="49" charset="-122"/>
              </a:rPr>
              <a:t>        文件内部的位置指针</a:t>
            </a:r>
            <a:r>
              <a:rPr lang="zh-CN" altLang="en-US" b="1" dirty="0">
                <a:ea typeface="楷体" pitchFamily="49" charset="-122"/>
              </a:rPr>
              <a:t>用以指示文件内部的当前读写位置，每读写一次，该指针均向后移动，它不需在程序中定义说明，而是由系统自动设置的。 </a:t>
            </a:r>
          </a:p>
        </p:txBody>
      </p:sp>
      <p:sp>
        <p:nvSpPr>
          <p:cNvPr id="1072148" name="AutoShape 20"/>
          <p:cNvSpPr>
            <a:spLocks noChangeArrowheads="1"/>
          </p:cNvSpPr>
          <p:nvPr/>
        </p:nvSpPr>
        <p:spPr bwMode="auto">
          <a:xfrm>
            <a:off x="3769942" y="5244503"/>
            <a:ext cx="5854450" cy="1366838"/>
          </a:xfrm>
          <a:prstGeom prst="foldedCorner">
            <a:avLst>
              <a:gd name="adj" fmla="val 12500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chemeClr val="tx1"/>
            </a:solidFill>
            <a:round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</p:spPr>
        <p:txBody>
          <a:bodyPr wrap="none"/>
          <a:lstStyle/>
          <a:p>
            <a:r>
              <a:rPr lang="en-US" altLang="zh-CN" dirty="0"/>
              <a:t>   □ □ □ □ □ □ □ □ □ □ □ □ □ □</a:t>
            </a:r>
          </a:p>
        </p:txBody>
      </p:sp>
      <p:grpSp>
        <p:nvGrpSpPr>
          <p:cNvPr id="1072151" name="Group 23"/>
          <p:cNvGrpSpPr>
            <a:grpSpLocks/>
          </p:cNvGrpSpPr>
          <p:nvPr/>
        </p:nvGrpSpPr>
        <p:grpSpPr bwMode="auto">
          <a:xfrm>
            <a:off x="1910980" y="5157192"/>
            <a:ext cx="1830387" cy="396875"/>
            <a:chOff x="711" y="3194"/>
            <a:chExt cx="1153" cy="250"/>
          </a:xfrm>
        </p:grpSpPr>
        <p:sp>
          <p:nvSpPr>
            <p:cNvPr id="1072149" name="Line 21"/>
            <p:cNvSpPr>
              <a:spLocks noChangeShapeType="1"/>
            </p:cNvSpPr>
            <p:nvPr/>
          </p:nvSpPr>
          <p:spPr bwMode="auto">
            <a:xfrm>
              <a:off x="1456" y="3339"/>
              <a:ext cx="408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2150" name="Text Box 22"/>
            <p:cNvSpPr txBox="1">
              <a:spLocks noChangeArrowheads="1"/>
            </p:cNvSpPr>
            <p:nvPr/>
          </p:nvSpPr>
          <p:spPr bwMode="auto">
            <a:xfrm>
              <a:off x="711" y="3194"/>
              <a:ext cx="77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C00000"/>
                  </a:solidFill>
                  <a:ea typeface="隶书" pitchFamily="49" charset="-122"/>
                </a:rPr>
                <a:t>文件指针</a:t>
              </a:r>
            </a:p>
          </p:txBody>
        </p:sp>
      </p:grpSp>
      <p:grpSp>
        <p:nvGrpSpPr>
          <p:cNvPr id="1072156" name="Group 28"/>
          <p:cNvGrpSpPr>
            <a:grpSpLocks/>
          </p:cNvGrpSpPr>
          <p:nvPr/>
        </p:nvGrpSpPr>
        <p:grpSpPr bwMode="auto">
          <a:xfrm>
            <a:off x="3719736" y="5631853"/>
            <a:ext cx="1223963" cy="788988"/>
            <a:chOff x="2010" y="3493"/>
            <a:chExt cx="771" cy="497"/>
          </a:xfrm>
        </p:grpSpPr>
        <p:sp>
          <p:nvSpPr>
            <p:cNvPr id="1072154" name="Line 26"/>
            <p:cNvSpPr>
              <a:spLocks noChangeShapeType="1"/>
            </p:cNvSpPr>
            <p:nvPr/>
          </p:nvSpPr>
          <p:spPr bwMode="auto">
            <a:xfrm flipV="1">
              <a:off x="2327" y="3493"/>
              <a:ext cx="0" cy="318"/>
            </a:xfrm>
            <a:prstGeom prst="line">
              <a:avLst/>
            </a:prstGeom>
            <a:noFill/>
            <a:ln w="28575">
              <a:solidFill>
                <a:srgbClr val="002060"/>
              </a:solidFill>
              <a:prstDash val="sysDot"/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2155" name="Text Box 27"/>
            <p:cNvSpPr txBox="1">
              <a:spLocks noChangeArrowheads="1"/>
            </p:cNvSpPr>
            <p:nvPr/>
          </p:nvSpPr>
          <p:spPr bwMode="auto">
            <a:xfrm>
              <a:off x="2010" y="3740"/>
              <a:ext cx="77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002060"/>
                  </a:solidFill>
                  <a:ea typeface="隶书" pitchFamily="49" charset="-122"/>
                </a:rPr>
                <a:t>位置指针</a:t>
              </a:r>
            </a:p>
          </p:txBody>
        </p:sp>
      </p:grpSp>
      <p:sp>
        <p:nvSpPr>
          <p:cNvPr id="16" name="Rectangle 4">
            <a:extLst>
              <a:ext uri="{FF2B5EF4-FFF2-40B4-BE49-F238E27FC236}">
                <a16:creationId xmlns:a16="http://schemas.microsoft.com/office/drawing/2014/main" id="{318A9DB0-9033-43DD-BA83-6BA553B4D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12.5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文件的打开、读写和关闭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721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721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0721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0721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0721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07215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7" dur="500"/>
                                        <p:tgtEl>
                                          <p:spTgt spid="10721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2144" grpId="0"/>
      <p:bldP spid="1072145" grpId="0"/>
      <p:bldP spid="1072146" grpId="0"/>
      <p:bldP spid="1072147" grpId="0"/>
      <p:bldP spid="107214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183" name="Rectangle 7"/>
          <p:cNvSpPr>
            <a:spLocks noChangeArrowheads="1"/>
          </p:cNvSpPr>
          <p:nvPr/>
        </p:nvSpPr>
        <p:spPr bwMode="auto">
          <a:xfrm>
            <a:off x="767408" y="1383159"/>
            <a:ext cx="5456943" cy="461665"/>
          </a:xfrm>
          <a:prstGeom prst="rect">
            <a:avLst/>
          </a:prstGeom>
          <a:noFill/>
          <a:ln>
            <a:noFill/>
            <a:headEnd/>
            <a:tailEnd/>
          </a:ln>
          <a:effectLst/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pPr marL="457200" indent="-457200">
              <a:tabLst>
                <a:tab pos="457200" algn="l"/>
              </a:tabLst>
            </a:pP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(2) </a:t>
            </a:r>
            <a:r>
              <a:rPr lang="zh-CN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字符串读写函数：</a:t>
            </a:r>
            <a:r>
              <a:rPr lang="en-US" altLang="zh-CN" b="1" dirty="0" err="1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fgets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 </a:t>
            </a:r>
            <a:r>
              <a:rPr lang="en-US" altLang="zh-CN" b="1" dirty="0" err="1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fputs</a:t>
            </a:r>
            <a:endParaRPr lang="en-US" altLang="zh-CN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74184" name="Rectangle 8"/>
          <p:cNvSpPr>
            <a:spLocks noChangeArrowheads="1"/>
          </p:cNvSpPr>
          <p:nvPr/>
        </p:nvSpPr>
        <p:spPr bwMode="auto">
          <a:xfrm>
            <a:off x="1200483" y="2107704"/>
            <a:ext cx="127304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buFont typeface="Wingdings" pitchFamily="2" charset="2"/>
              <a:buChar char="Ø"/>
              <a:tabLst>
                <a:tab pos="496888" algn="l"/>
              </a:tabLst>
            </a:pPr>
            <a:r>
              <a:rPr lang="en-US" altLang="zh-CN" b="1" dirty="0">
                <a:solidFill>
                  <a:srgbClr val="C00000"/>
                </a:solidFill>
                <a:ea typeface="楷体_GB2312" pitchFamily="49" charset="-122"/>
              </a:rPr>
              <a:t> </a:t>
            </a:r>
            <a:r>
              <a:rPr lang="en-US" altLang="zh-CN" b="1" dirty="0" err="1">
                <a:solidFill>
                  <a:srgbClr val="C00000"/>
                </a:solidFill>
                <a:ea typeface="楷体_GB2312" pitchFamily="49" charset="-122"/>
              </a:rPr>
              <a:t>fgets</a:t>
            </a:r>
            <a:endParaRPr lang="en-US" altLang="zh-CN" b="1" dirty="0">
              <a:solidFill>
                <a:srgbClr val="C00000"/>
              </a:solidFill>
              <a:ea typeface="楷体_GB2312" pitchFamily="49" charset="-122"/>
            </a:endParaRPr>
          </a:p>
        </p:txBody>
      </p:sp>
      <p:sp>
        <p:nvSpPr>
          <p:cNvPr id="1074185" name="Rectangle 9"/>
          <p:cNvSpPr>
            <a:spLocks noChangeArrowheads="1"/>
          </p:cNvSpPr>
          <p:nvPr/>
        </p:nvSpPr>
        <p:spPr bwMode="auto">
          <a:xfrm>
            <a:off x="1530683" y="2912554"/>
            <a:ext cx="196887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>
                <a:srgbClr val="C00000"/>
              </a:buClr>
              <a:buFont typeface="Wingdings" pitchFamily="2" charset="2"/>
              <a:buChar char="l"/>
            </a:pPr>
            <a:r>
              <a:rPr lang="en-US" altLang="zh-CN" b="1" dirty="0">
                <a:latin typeface="+mn-lt"/>
                <a:ea typeface="楷体" pitchFamily="49" charset="-122"/>
              </a:rPr>
              <a:t> </a:t>
            </a:r>
            <a:r>
              <a:rPr lang="zh-CN" altLang="zh-CN" b="1" dirty="0">
                <a:latin typeface="+mn-lt"/>
                <a:ea typeface="楷体" pitchFamily="49" charset="-122"/>
              </a:rPr>
              <a:t>函数原形：         </a:t>
            </a:r>
            <a:endParaRPr lang="zh-CN" altLang="en-US" b="1" dirty="0">
              <a:solidFill>
                <a:srgbClr val="D60093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074186" name="Text Box 10"/>
          <p:cNvSpPr txBox="1">
            <a:spLocks noChangeArrowheads="1"/>
          </p:cNvSpPr>
          <p:nvPr/>
        </p:nvSpPr>
        <p:spPr bwMode="auto">
          <a:xfrm>
            <a:off x="2282412" y="3580703"/>
            <a:ext cx="7748657" cy="431800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en-US" altLang="zh-CN" sz="2000" b="1"/>
              <a:t>char  *fgets (char *s, int n, FILE *filepointer);</a:t>
            </a:r>
          </a:p>
        </p:txBody>
      </p:sp>
      <p:sp>
        <p:nvSpPr>
          <p:cNvPr id="1074187" name="Rectangle 11"/>
          <p:cNvSpPr>
            <a:spLocks noChangeArrowheads="1"/>
          </p:cNvSpPr>
          <p:nvPr/>
        </p:nvSpPr>
        <p:spPr bwMode="auto">
          <a:xfrm>
            <a:off x="1519929" y="4437356"/>
            <a:ext cx="9379111" cy="1699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buClr>
                <a:srgbClr val="C00000"/>
              </a:buClr>
              <a:buFont typeface="Wingdings" pitchFamily="2" charset="2"/>
              <a:buChar char="l"/>
            </a:pPr>
            <a:r>
              <a:rPr lang="en-US" altLang="zh-CN" b="1" dirty="0"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latin typeface="+mn-lt"/>
                <a:ea typeface="楷体" pitchFamily="49" charset="-122"/>
              </a:rPr>
              <a:t>功能：从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filepointer</a:t>
            </a:r>
            <a:r>
              <a:rPr lang="zh-CN" altLang="en-US" b="1" dirty="0">
                <a:latin typeface="+mn-lt"/>
                <a:ea typeface="楷体" pitchFamily="49" charset="-122"/>
              </a:rPr>
              <a:t>所指向的文件读取一字符串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pPr>
              <a:lnSpc>
                <a:spcPts val="3200"/>
              </a:lnSpc>
              <a:buClr>
                <a:srgbClr val="C00000"/>
              </a:buClr>
              <a:buFont typeface="Wingdings" pitchFamily="2" charset="2"/>
              <a:buChar char="l"/>
            </a:pPr>
            <a:endParaRPr lang="zh-CN" altLang="en-US" b="1" dirty="0">
              <a:latin typeface="+mn-lt"/>
              <a:ea typeface="楷体" pitchFamily="49" charset="-122"/>
            </a:endParaRPr>
          </a:p>
          <a:p>
            <a:pPr>
              <a:lnSpc>
                <a:spcPts val="3200"/>
              </a:lnSpc>
              <a:buClr>
                <a:srgbClr val="C00000"/>
              </a:buClr>
              <a:buFont typeface="Wingdings" pitchFamily="2" charset="2"/>
              <a:buChar char="l"/>
            </a:pPr>
            <a:r>
              <a:rPr lang="zh-CN" altLang="en-US" b="1" dirty="0">
                <a:latin typeface="+mn-lt"/>
                <a:ea typeface="楷体" pitchFamily="49" charset="-122"/>
              </a:rPr>
              <a:t> 返值：正常，返回读取的字符串的指针；出错或文件尾，则返回</a:t>
            </a:r>
            <a:r>
              <a:rPr lang="en-US" altLang="zh-CN" b="1" dirty="0">
                <a:latin typeface="+mn-lt"/>
                <a:ea typeface="楷体" pitchFamily="49" charset="-122"/>
              </a:rPr>
              <a:t>NULL</a:t>
            </a:r>
            <a:r>
              <a:rPr lang="zh-CN" altLang="en-US" b="1" dirty="0">
                <a:latin typeface="+mn-lt"/>
                <a:ea typeface="楷体" pitchFamily="49" charset="-122"/>
              </a:rPr>
              <a:t>。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074188" name="AutoShape 12"/>
          <p:cNvSpPr>
            <a:spLocks noChangeArrowheads="1"/>
          </p:cNvSpPr>
          <p:nvPr/>
        </p:nvSpPr>
        <p:spPr bwMode="auto">
          <a:xfrm>
            <a:off x="5015880" y="2173517"/>
            <a:ext cx="5779444" cy="925511"/>
          </a:xfrm>
          <a:prstGeom prst="wedgeRectCallout">
            <a:avLst>
              <a:gd name="adj1" fmla="val 2045"/>
              <a:gd name="adj2" fmla="val 105525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28575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none" lIns="90000" tIns="46800" rIns="90000" bIns="46800" anchor="ctr">
            <a:spAutoFit/>
          </a:bodyPr>
          <a:lstStyle/>
          <a:p>
            <a:r>
              <a:rPr lang="zh-CN" altLang="zh-CN" sz="1800" b="1" dirty="0">
                <a:ea typeface="隶书" pitchFamily="49" charset="-122"/>
              </a:rPr>
              <a:t>从</a:t>
            </a:r>
            <a:r>
              <a:rPr lang="en-US" altLang="zh-CN" sz="1800" b="1" dirty="0" err="1">
                <a:ea typeface="隶书" pitchFamily="49" charset="-122"/>
              </a:rPr>
              <a:t>filepointer</a:t>
            </a:r>
            <a:r>
              <a:rPr lang="zh-CN" altLang="zh-CN" sz="1800" b="1" dirty="0">
                <a:ea typeface="隶书" pitchFamily="49" charset="-122"/>
              </a:rPr>
              <a:t>所指文件读</a:t>
            </a:r>
            <a:r>
              <a:rPr lang="en-US" altLang="zh-CN" sz="1800" b="1" dirty="0">
                <a:solidFill>
                  <a:srgbClr val="CC0000"/>
                </a:solidFill>
                <a:ea typeface="隶书" pitchFamily="49" charset="-122"/>
              </a:rPr>
              <a:t>n-1</a:t>
            </a:r>
            <a:r>
              <a:rPr lang="zh-CN" altLang="zh-CN" sz="1800" b="1" dirty="0">
                <a:ea typeface="隶书" pitchFamily="49" charset="-122"/>
              </a:rPr>
              <a:t>个字符送入</a:t>
            </a:r>
            <a:r>
              <a:rPr lang="en-US" altLang="zh-CN" sz="1800" b="1" dirty="0">
                <a:ea typeface="隶书" pitchFamily="49" charset="-122"/>
              </a:rPr>
              <a:t>s</a:t>
            </a:r>
            <a:r>
              <a:rPr lang="zh-CN" altLang="zh-CN" sz="1800" b="1" dirty="0">
                <a:ea typeface="隶书" pitchFamily="49" charset="-122"/>
              </a:rPr>
              <a:t>指向的内存区,</a:t>
            </a:r>
          </a:p>
          <a:p>
            <a:r>
              <a:rPr lang="zh-CN" altLang="zh-CN" sz="1800" b="1" dirty="0">
                <a:ea typeface="隶书" pitchFamily="49" charset="-122"/>
              </a:rPr>
              <a:t>并在最后加一个</a:t>
            </a:r>
            <a:r>
              <a:rPr lang="en-US" altLang="zh-CN" sz="1800" b="1" dirty="0">
                <a:solidFill>
                  <a:srgbClr val="CC0000"/>
                </a:solidFill>
                <a:ea typeface="隶书" pitchFamily="49" charset="-122"/>
              </a:rPr>
              <a:t>'</a:t>
            </a:r>
            <a:r>
              <a:rPr lang="zh-CN" altLang="zh-CN" sz="1800" b="1" dirty="0">
                <a:solidFill>
                  <a:srgbClr val="CC0000"/>
                </a:solidFill>
                <a:ea typeface="隶书" pitchFamily="49" charset="-122"/>
              </a:rPr>
              <a:t>\0</a:t>
            </a:r>
            <a:r>
              <a:rPr lang="en-US" altLang="zh-CN" sz="1800" b="1" dirty="0">
                <a:solidFill>
                  <a:srgbClr val="CC0000"/>
                </a:solidFill>
                <a:ea typeface="隶书" pitchFamily="49" charset="-122"/>
              </a:rPr>
              <a:t>'</a:t>
            </a:r>
            <a:endParaRPr lang="zh-CN" altLang="zh-CN" sz="1800" b="1" dirty="0">
              <a:solidFill>
                <a:srgbClr val="CC0000"/>
              </a:solidFill>
              <a:ea typeface="隶书" pitchFamily="49" charset="-122"/>
            </a:endParaRPr>
          </a:p>
          <a:p>
            <a:r>
              <a:rPr lang="zh-CN" altLang="zh-CN" sz="1800" b="1" dirty="0">
                <a:solidFill>
                  <a:srgbClr val="CC0000"/>
                </a:solidFill>
                <a:ea typeface="隶书" pitchFamily="49" charset="-122"/>
              </a:rPr>
              <a:t>(若读入</a:t>
            </a:r>
            <a:r>
              <a:rPr lang="en-US" altLang="zh-CN" sz="1800" b="1" dirty="0">
                <a:solidFill>
                  <a:srgbClr val="CC0000"/>
                </a:solidFill>
                <a:ea typeface="隶书" pitchFamily="49" charset="-122"/>
              </a:rPr>
              <a:t>n-1</a:t>
            </a:r>
            <a:r>
              <a:rPr lang="zh-CN" altLang="zh-CN" sz="1800" b="1" dirty="0">
                <a:solidFill>
                  <a:srgbClr val="CC0000"/>
                </a:solidFill>
                <a:ea typeface="隶书" pitchFamily="49" charset="-122"/>
              </a:rPr>
              <a:t>个字符前遇换行符或文件尾（</a:t>
            </a:r>
            <a:r>
              <a:rPr lang="en-US" altLang="zh-CN" sz="1800" b="1" dirty="0">
                <a:solidFill>
                  <a:srgbClr val="CC0000"/>
                </a:solidFill>
                <a:ea typeface="隶书" pitchFamily="49" charset="-122"/>
              </a:rPr>
              <a:t>EOF</a:t>
            </a:r>
            <a:r>
              <a:rPr lang="zh-CN" altLang="en-US" sz="1800" b="1" dirty="0">
                <a:solidFill>
                  <a:srgbClr val="CC0000"/>
                </a:solidFill>
                <a:ea typeface="隶书" pitchFamily="49" charset="-122"/>
              </a:rPr>
              <a:t>）</a:t>
            </a:r>
            <a:r>
              <a:rPr lang="zh-CN" altLang="zh-CN" sz="1800" b="1" dirty="0">
                <a:solidFill>
                  <a:srgbClr val="CC0000"/>
                </a:solidFill>
                <a:ea typeface="隶书" pitchFamily="49" charset="-122"/>
              </a:rPr>
              <a:t>即结束)</a:t>
            </a:r>
            <a:endParaRPr lang="en-US" altLang="zh-CN" sz="1800" b="1" dirty="0">
              <a:solidFill>
                <a:srgbClr val="CC0000"/>
              </a:solidFill>
              <a:ea typeface="隶书" pitchFamily="49" charset="-122"/>
            </a:endParaRP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5797C8F6-0656-4AAE-A137-84E169DDC2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12.5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文件的打开、读写和关闭 </a:t>
            </a:r>
          </a:p>
        </p:txBody>
      </p:sp>
      <p:sp>
        <p:nvSpPr>
          <p:cNvPr id="17" name="Rectangle 35">
            <a:extLst>
              <a:ext uri="{FF2B5EF4-FFF2-40B4-BE49-F238E27FC236}">
                <a16:creationId xmlns:a16="http://schemas.microsoft.com/office/drawing/2014/main" id="{AB32B7C5-6320-423C-90D3-2D7F6553D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41" y="817548"/>
            <a:ext cx="271099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、文件的读写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74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74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74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74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0741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0741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1074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1074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10741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4183" grpId="0"/>
      <p:bldP spid="1074184" grpId="0"/>
      <p:bldP spid="1074185" grpId="0"/>
      <p:bldP spid="1074186" grpId="0" animBg="1"/>
      <p:bldP spid="1074188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183" name="Rectangle 7"/>
          <p:cNvSpPr>
            <a:spLocks noChangeArrowheads="1"/>
          </p:cNvSpPr>
          <p:nvPr/>
        </p:nvSpPr>
        <p:spPr bwMode="auto">
          <a:xfrm>
            <a:off x="767408" y="1383159"/>
            <a:ext cx="5456943" cy="461665"/>
          </a:xfrm>
          <a:prstGeom prst="rect">
            <a:avLst/>
          </a:prstGeom>
          <a:noFill/>
          <a:ln>
            <a:noFill/>
            <a:headEnd/>
            <a:tailEnd/>
          </a:ln>
          <a:effectLst/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pPr marL="457200" indent="-457200">
              <a:tabLst>
                <a:tab pos="457200" algn="l"/>
              </a:tabLst>
            </a:pP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(2) </a:t>
            </a:r>
            <a:r>
              <a:rPr lang="zh-CN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字符串读写函数：</a:t>
            </a:r>
            <a:r>
              <a:rPr lang="en-US" altLang="zh-CN" b="1" dirty="0" err="1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fgets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 </a:t>
            </a:r>
            <a:r>
              <a:rPr lang="en-US" altLang="zh-CN" b="1" dirty="0" err="1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fputs</a:t>
            </a:r>
            <a:endParaRPr lang="en-US" altLang="zh-CN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74189" name="Rectangle 13"/>
          <p:cNvSpPr>
            <a:spLocks noChangeArrowheads="1"/>
          </p:cNvSpPr>
          <p:nvPr/>
        </p:nvSpPr>
        <p:spPr bwMode="auto">
          <a:xfrm>
            <a:off x="1229851" y="2090663"/>
            <a:ext cx="127304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buFont typeface="Wingdings" pitchFamily="2" charset="2"/>
              <a:buChar char="Ø"/>
              <a:tabLst>
                <a:tab pos="496888" algn="l"/>
              </a:tabLst>
            </a:pPr>
            <a:r>
              <a:rPr lang="en-US" altLang="zh-CN" b="1" dirty="0">
                <a:solidFill>
                  <a:srgbClr val="C00000"/>
                </a:solidFill>
                <a:ea typeface="楷体_GB2312" pitchFamily="49" charset="-122"/>
              </a:rPr>
              <a:t> </a:t>
            </a:r>
            <a:r>
              <a:rPr lang="en-US" altLang="zh-CN" b="1" dirty="0" err="1">
                <a:solidFill>
                  <a:srgbClr val="C00000"/>
                </a:solidFill>
                <a:ea typeface="楷体_GB2312" pitchFamily="49" charset="-122"/>
              </a:rPr>
              <a:t>fputs</a:t>
            </a:r>
            <a:endParaRPr lang="en-US" altLang="zh-CN" b="1" dirty="0">
              <a:solidFill>
                <a:srgbClr val="C00000"/>
              </a:solidFill>
              <a:ea typeface="楷体_GB2312" pitchFamily="49" charset="-122"/>
            </a:endParaRPr>
          </a:p>
        </p:txBody>
      </p:sp>
      <p:sp>
        <p:nvSpPr>
          <p:cNvPr id="1074190" name="Rectangle 14"/>
          <p:cNvSpPr>
            <a:spLocks noChangeArrowheads="1"/>
          </p:cNvSpPr>
          <p:nvPr/>
        </p:nvSpPr>
        <p:spPr bwMode="auto">
          <a:xfrm>
            <a:off x="1518457" y="2708920"/>
            <a:ext cx="196887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>
                <a:srgbClr val="C00000"/>
              </a:buClr>
              <a:buFont typeface="Wingdings" pitchFamily="2" charset="2"/>
              <a:buChar char="l"/>
            </a:pPr>
            <a:r>
              <a:rPr lang="en-US" altLang="zh-CN" b="1" dirty="0">
                <a:latin typeface="+mn-lt"/>
                <a:ea typeface="楷体" pitchFamily="49" charset="-122"/>
              </a:rPr>
              <a:t> </a:t>
            </a:r>
            <a:r>
              <a:rPr lang="zh-CN" altLang="zh-CN" b="1" dirty="0">
                <a:latin typeface="+mn-lt"/>
                <a:ea typeface="楷体" pitchFamily="49" charset="-122"/>
              </a:rPr>
              <a:t>函数原形：         </a:t>
            </a:r>
            <a:endParaRPr lang="zh-CN" altLang="en-US" b="1" dirty="0">
              <a:solidFill>
                <a:srgbClr val="D60093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074191" name="Text Box 15"/>
          <p:cNvSpPr txBox="1">
            <a:spLocks noChangeArrowheads="1"/>
          </p:cNvSpPr>
          <p:nvPr/>
        </p:nvSpPr>
        <p:spPr bwMode="auto">
          <a:xfrm>
            <a:off x="2271681" y="3356904"/>
            <a:ext cx="7763561" cy="431800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en-US" altLang="zh-CN" sz="2000" b="1"/>
              <a:t>int  fputs (char *s, FILE *filepointer);</a:t>
            </a:r>
          </a:p>
        </p:txBody>
      </p:sp>
      <p:sp>
        <p:nvSpPr>
          <p:cNvPr id="1074192" name="Rectangle 16"/>
          <p:cNvSpPr>
            <a:spLocks noChangeArrowheads="1"/>
          </p:cNvSpPr>
          <p:nvPr/>
        </p:nvSpPr>
        <p:spPr bwMode="auto">
          <a:xfrm>
            <a:off x="1523393" y="4341654"/>
            <a:ext cx="9532117" cy="1699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lnSpc>
                <a:spcPts val="3200"/>
              </a:lnSpc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+mn-lt"/>
                <a:ea typeface="楷体" pitchFamily="49" charset="-122"/>
              </a:rPr>
              <a:t>功能：将存放在</a:t>
            </a:r>
            <a:r>
              <a:rPr lang="en-US" altLang="zh-CN" b="1" dirty="0">
                <a:latin typeface="+mn-lt"/>
                <a:ea typeface="楷体" pitchFamily="49" charset="-122"/>
              </a:rPr>
              <a:t>s</a:t>
            </a:r>
            <a:r>
              <a:rPr lang="zh-CN" altLang="en-US" b="1" dirty="0">
                <a:latin typeface="+mn-lt"/>
                <a:ea typeface="楷体" pitchFamily="49" charset="-122"/>
              </a:rPr>
              <a:t>中的字符串写到文件指针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filepointer</a:t>
            </a:r>
            <a:r>
              <a:rPr lang="zh-CN" altLang="en-US" b="1" dirty="0">
                <a:latin typeface="+mn-lt"/>
                <a:ea typeface="楷体" pitchFamily="49" charset="-122"/>
              </a:rPr>
              <a:t>所指向的文件中去，同时将读写位置指针向前移动字符串长度个字节。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pPr marL="342900" indent="-342900">
              <a:lnSpc>
                <a:spcPts val="3200"/>
              </a:lnSpc>
              <a:buClr>
                <a:srgbClr val="C00000"/>
              </a:buClr>
              <a:buFont typeface="Wingdings" panose="05000000000000000000" pitchFamily="2" charset="2"/>
              <a:buChar char="l"/>
            </a:pPr>
            <a:endParaRPr lang="en-US" altLang="zh-CN" b="1" dirty="0">
              <a:latin typeface="+mn-lt"/>
              <a:ea typeface="楷体" pitchFamily="49" charset="-122"/>
            </a:endParaRPr>
          </a:p>
          <a:p>
            <a:pPr marL="342900" indent="-342900">
              <a:lnSpc>
                <a:spcPts val="3200"/>
              </a:lnSpc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+mn-lt"/>
                <a:ea typeface="楷体" pitchFamily="49" charset="-122"/>
              </a:rPr>
              <a:t>返值：</a:t>
            </a:r>
            <a:r>
              <a:rPr lang="zh-CN" altLang="zh-CN" b="1" dirty="0">
                <a:latin typeface="+mn-lt"/>
                <a:ea typeface="楷体" pitchFamily="49" charset="-122"/>
              </a:rPr>
              <a:t>正常时返回写入的最后一个字符；出错为</a:t>
            </a:r>
            <a:r>
              <a:rPr lang="en-US" altLang="zh-CN" b="1" dirty="0">
                <a:latin typeface="+mn-lt"/>
                <a:ea typeface="楷体" pitchFamily="49" charset="-122"/>
              </a:rPr>
              <a:t>EOF</a:t>
            </a:r>
            <a:r>
              <a:rPr lang="zh-CN" altLang="en-US" b="1" dirty="0">
                <a:latin typeface="+mn-lt"/>
                <a:ea typeface="楷体" pitchFamily="49" charset="-122"/>
              </a:rPr>
              <a:t>。</a:t>
            </a:r>
          </a:p>
        </p:txBody>
      </p:sp>
      <p:sp>
        <p:nvSpPr>
          <p:cNvPr id="1074193" name="AutoShape 17"/>
          <p:cNvSpPr>
            <a:spLocks noChangeArrowheads="1"/>
          </p:cNvSpPr>
          <p:nvPr/>
        </p:nvSpPr>
        <p:spPr bwMode="auto">
          <a:xfrm>
            <a:off x="5087888" y="2063952"/>
            <a:ext cx="5749210" cy="925511"/>
          </a:xfrm>
          <a:prstGeom prst="wedgeRectCallout">
            <a:avLst>
              <a:gd name="adj1" fmla="val 3223"/>
              <a:gd name="adj2" fmla="val 117724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28575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lIns="90000" tIns="46800" rIns="90000" bIns="46800" anchor="ctr">
            <a:spAutoFit/>
          </a:bodyPr>
          <a:lstStyle/>
          <a:p>
            <a:r>
              <a:rPr lang="zh-CN" altLang="en-US" sz="1800" b="1" dirty="0">
                <a:ea typeface="隶书" pitchFamily="49" charset="-122"/>
              </a:rPr>
              <a:t>不会将字符串结尾符</a:t>
            </a:r>
            <a:r>
              <a:rPr lang="en-US" altLang="zh-CN" sz="1800" b="1" dirty="0">
                <a:solidFill>
                  <a:srgbClr val="CC0000"/>
                </a:solidFill>
                <a:ea typeface="隶书" pitchFamily="49" charset="-122"/>
              </a:rPr>
              <a:t>'\0'</a:t>
            </a:r>
            <a:r>
              <a:rPr lang="zh-CN" altLang="en-US" sz="1800" b="1" dirty="0">
                <a:ea typeface="隶书" pitchFamily="49" charset="-122"/>
              </a:rPr>
              <a:t>写入文件，也不会自动向文件写入</a:t>
            </a:r>
            <a:r>
              <a:rPr lang="zh-CN" altLang="en-US" sz="1800" b="1" dirty="0">
                <a:solidFill>
                  <a:srgbClr val="CC0000"/>
                </a:solidFill>
                <a:ea typeface="隶书" pitchFamily="49" charset="-122"/>
              </a:rPr>
              <a:t>换行符</a:t>
            </a:r>
            <a:r>
              <a:rPr lang="zh-CN" altLang="en-US" sz="1800" b="1" dirty="0">
                <a:ea typeface="隶书" pitchFamily="49" charset="-122"/>
              </a:rPr>
              <a:t>，如果需要写入一行文本，</a:t>
            </a:r>
            <a:r>
              <a:rPr lang="en-US" altLang="zh-CN" sz="1800" b="1" dirty="0">
                <a:ea typeface="隶书" pitchFamily="49" charset="-122"/>
              </a:rPr>
              <a:t>s</a:t>
            </a:r>
            <a:r>
              <a:rPr lang="zh-CN" altLang="en-US" sz="1800" b="1" dirty="0">
                <a:ea typeface="隶书" pitchFamily="49" charset="-122"/>
              </a:rPr>
              <a:t>字符串中必须包含</a:t>
            </a:r>
            <a:r>
              <a:rPr lang="en-US" altLang="zh-CN" sz="1800" b="1" dirty="0">
                <a:ea typeface="隶书" pitchFamily="49" charset="-122"/>
              </a:rPr>
              <a:t>'\n'</a:t>
            </a:r>
            <a:r>
              <a:rPr lang="zh-CN" altLang="en-US" sz="1800" b="1" dirty="0">
                <a:ea typeface="隶书" pitchFamily="49" charset="-122"/>
              </a:rPr>
              <a:t>。</a:t>
            </a:r>
            <a:r>
              <a:rPr lang="zh-CN" altLang="en-US" sz="1800" dirty="0"/>
              <a:t> </a:t>
            </a: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5797C8F6-0656-4AAE-A137-84E169DDC2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12.5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文件的打开、读写和关闭 </a:t>
            </a:r>
          </a:p>
        </p:txBody>
      </p:sp>
      <p:sp>
        <p:nvSpPr>
          <p:cNvPr id="17" name="Rectangle 35">
            <a:extLst>
              <a:ext uri="{FF2B5EF4-FFF2-40B4-BE49-F238E27FC236}">
                <a16:creationId xmlns:a16="http://schemas.microsoft.com/office/drawing/2014/main" id="{AB32B7C5-6320-423C-90D3-2D7F6553D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41" y="817548"/>
            <a:ext cx="271099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、文件的读写 </a:t>
            </a:r>
          </a:p>
        </p:txBody>
      </p:sp>
    </p:spTree>
    <p:extLst>
      <p:ext uri="{BB962C8B-B14F-4D97-AF65-F5344CB8AC3E}">
        <p14:creationId xmlns:p14="http://schemas.microsoft.com/office/powerpoint/2010/main" val="81209098"/>
      </p:ext>
    </p:extLst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74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74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74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74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0741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0741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1074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10741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10741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74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4183" grpId="0"/>
      <p:bldP spid="1074189" grpId="0"/>
      <p:bldP spid="1074190" grpId="0"/>
      <p:bldP spid="1074191" grpId="0" animBg="1"/>
      <p:bldP spid="1074193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229" name="Rectangle 5"/>
          <p:cNvSpPr>
            <a:spLocks noChangeArrowheads="1"/>
          </p:cNvSpPr>
          <p:nvPr/>
        </p:nvSpPr>
        <p:spPr bwMode="auto">
          <a:xfrm>
            <a:off x="857899" y="807095"/>
            <a:ext cx="941456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3】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向文件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wang.txt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中写入两行文本，然后分三次读出其内容。 </a:t>
            </a:r>
          </a:p>
        </p:txBody>
      </p:sp>
      <p:sp>
        <p:nvSpPr>
          <p:cNvPr id="1076230" name="Rectangle 6" descr="信纸"/>
          <p:cNvSpPr>
            <a:spLocks noChangeArrowheads="1"/>
          </p:cNvSpPr>
          <p:nvPr/>
        </p:nvSpPr>
        <p:spPr bwMode="auto">
          <a:xfrm>
            <a:off x="808271" y="1268760"/>
            <a:ext cx="5033014" cy="5539978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a typeface="楷体_GB2312" pitchFamily="49" charset="-122"/>
              </a:rPr>
              <a:t>stdio.h</a:t>
            </a:r>
            <a:r>
              <a:rPr lang="en-US" altLang="zh-CN" sz="2000" b="1" dirty="0">
                <a:ea typeface="楷体_GB2312" pitchFamily="49" charset="-122"/>
              </a:rPr>
              <a:t>&gt;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a typeface="楷体_GB2312" pitchFamily="49" charset="-122"/>
              </a:rPr>
              <a:t>stdlib.h</a:t>
            </a:r>
            <a:r>
              <a:rPr lang="en-US" altLang="zh-CN" sz="2000" b="1" dirty="0">
                <a:ea typeface="楷体_GB2312" pitchFamily="49" charset="-122"/>
              </a:rPr>
              <a:t>&gt;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 main ( )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{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FILE *fp1, *fp2;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char </a:t>
            </a:r>
            <a:r>
              <a:rPr lang="en-US" altLang="zh-CN" sz="2000" b="1" dirty="0" err="1">
                <a:ea typeface="楷体_GB2312" pitchFamily="49" charset="-122"/>
              </a:rPr>
              <a:t>str</a:t>
            </a:r>
            <a:r>
              <a:rPr lang="en-US" altLang="zh-CN" sz="2000" b="1" dirty="0">
                <a:ea typeface="楷体_GB2312" pitchFamily="49" charset="-122"/>
              </a:rPr>
              <a:t>[ ] = "123456789";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1800" b="1" dirty="0">
                <a:solidFill>
                  <a:srgbClr val="002060"/>
                </a:solidFill>
                <a:ea typeface="楷体_GB2312" pitchFamily="49" charset="-122"/>
              </a:rPr>
              <a:t>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创建文本文件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wang.txt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rgbClr val="C00000"/>
                </a:solidFill>
                <a:ea typeface="楷体_GB2312" pitchFamily="49" charset="-122"/>
              </a:rPr>
              <a:t>  fp1 = </a:t>
            </a:r>
            <a:r>
              <a:rPr lang="en-US" altLang="zh-CN" sz="2000" b="1" dirty="0" err="1">
                <a:solidFill>
                  <a:srgbClr val="C00000"/>
                </a:solidFill>
                <a:ea typeface="楷体_GB2312" pitchFamily="49" charset="-122"/>
              </a:rPr>
              <a:t>fopen</a:t>
            </a:r>
            <a:r>
              <a:rPr lang="en-US" altLang="zh-CN" sz="2000" b="1" dirty="0">
                <a:solidFill>
                  <a:srgbClr val="C00000"/>
                </a:solidFill>
                <a:ea typeface="楷体_GB2312" pitchFamily="49" charset="-122"/>
              </a:rPr>
              <a:t> ("wang.txt", "w"); </a:t>
            </a:r>
            <a:r>
              <a:rPr lang="en-US" altLang="zh-CN" sz="2000" b="1" dirty="0">
                <a:solidFill>
                  <a:srgbClr val="FF3300"/>
                </a:solidFill>
                <a:ea typeface="楷体_GB2312" pitchFamily="49" charset="-122"/>
              </a:rPr>
              <a:t>	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if (fp1 = = NULL)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创建文件失败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>
                <a:ea typeface="楷体_GB2312" pitchFamily="49" charset="-122"/>
              </a:rPr>
              <a:t>{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("can not open file: wang.txt\n");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exit (0);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}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1800" b="1" dirty="0">
                <a:solidFill>
                  <a:schemeClr val="accent2"/>
                </a:solidFill>
                <a:ea typeface="楷体_GB2312" pitchFamily="49" charset="-122"/>
              </a:rPr>
              <a:t>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将字符串“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12345678”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写入文件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fputs</a:t>
            </a:r>
            <a:r>
              <a:rPr lang="en-US" altLang="zh-CN" sz="2000" b="1" dirty="0">
                <a:ea typeface="楷体_GB2312" pitchFamily="49" charset="-122"/>
              </a:rPr>
              <a:t> (</a:t>
            </a:r>
            <a:r>
              <a:rPr lang="en-US" altLang="zh-CN" sz="2000" b="1" dirty="0" err="1">
                <a:ea typeface="楷体_GB2312" pitchFamily="49" charset="-122"/>
              </a:rPr>
              <a:t>str</a:t>
            </a:r>
            <a:r>
              <a:rPr lang="en-US" altLang="zh-CN" sz="2000" b="1" dirty="0">
                <a:ea typeface="楷体_GB2312" pitchFamily="49" charset="-122"/>
              </a:rPr>
              <a:t>, fp1);   </a:t>
            </a:r>
            <a:endParaRPr lang="en-US" altLang="zh-CN" sz="1800" b="1" dirty="0">
              <a:solidFill>
                <a:schemeClr val="accent2"/>
              </a:solidFill>
              <a:ea typeface="楷体_GB2312" pitchFamily="49" charset="-122"/>
            </a:endParaRPr>
          </a:p>
          <a:p>
            <a:pPr marL="457200" indent="-457200">
              <a:tabLst>
                <a:tab pos="914400" algn="l"/>
              </a:tabLst>
            </a:pPr>
            <a:r>
              <a:rPr lang="en-US" altLang="zh-CN" sz="1800" b="1" dirty="0">
                <a:solidFill>
                  <a:schemeClr val="accent2"/>
                </a:solidFill>
                <a:ea typeface="楷体_GB2312" pitchFamily="49" charset="-122"/>
              </a:rPr>
              <a:t>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写入第一行文本的换行符和下一行文本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fputs</a:t>
            </a:r>
            <a:r>
              <a:rPr lang="en-US" altLang="zh-CN" sz="2000" b="1" dirty="0">
                <a:ea typeface="楷体_GB2312" pitchFamily="49" charset="-122"/>
              </a:rPr>
              <a:t> ("\</a:t>
            </a:r>
            <a:r>
              <a:rPr lang="en-US" altLang="zh-CN" sz="2000" b="1" dirty="0" err="1">
                <a:ea typeface="楷体_GB2312" pitchFamily="49" charset="-122"/>
              </a:rPr>
              <a:t>nabcd</a:t>
            </a:r>
            <a:r>
              <a:rPr lang="en-US" altLang="zh-CN" sz="2000" b="1" dirty="0">
                <a:ea typeface="楷体_GB2312" pitchFamily="49" charset="-122"/>
              </a:rPr>
              <a:t>", fp1);   </a:t>
            </a:r>
            <a:endParaRPr lang="en-US" altLang="zh-CN" sz="1800" b="1" dirty="0">
              <a:solidFill>
                <a:schemeClr val="accent2"/>
              </a:solidFill>
              <a:ea typeface="楷体_GB2312" pitchFamily="49" charset="-122"/>
            </a:endParaRP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fclose</a:t>
            </a:r>
            <a:r>
              <a:rPr lang="en-US" altLang="zh-CN" sz="2000" b="1" dirty="0">
                <a:ea typeface="楷体_GB2312" pitchFamily="49" charset="-122"/>
              </a:rPr>
              <a:t> (fp1); 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关闭文件</a:t>
            </a:r>
          </a:p>
        </p:txBody>
      </p:sp>
      <p:grpSp>
        <p:nvGrpSpPr>
          <p:cNvPr id="1076261" name="Group 37"/>
          <p:cNvGrpSpPr>
            <a:grpSpLocks/>
          </p:cNvGrpSpPr>
          <p:nvPr/>
        </p:nvGrpSpPr>
        <p:grpSpPr bwMode="auto">
          <a:xfrm>
            <a:off x="5766543" y="2304206"/>
            <a:ext cx="6162675" cy="2420938"/>
            <a:chOff x="1784" y="346"/>
            <a:chExt cx="3882" cy="1525"/>
          </a:xfrm>
        </p:grpSpPr>
        <p:grpSp>
          <p:nvGrpSpPr>
            <p:cNvPr id="1076246" name="Group 22"/>
            <p:cNvGrpSpPr>
              <a:grpSpLocks/>
            </p:cNvGrpSpPr>
            <p:nvPr/>
          </p:nvGrpSpPr>
          <p:grpSpPr bwMode="auto">
            <a:xfrm>
              <a:off x="2417" y="346"/>
              <a:ext cx="3249" cy="1525"/>
              <a:chOff x="1854" y="1134"/>
              <a:chExt cx="3249" cy="1525"/>
            </a:xfrm>
          </p:grpSpPr>
          <p:sp>
            <p:nvSpPr>
              <p:cNvPr id="1076240" name="AutoShape 16"/>
              <p:cNvSpPr>
                <a:spLocks noChangeArrowheads="1"/>
              </p:cNvSpPr>
              <p:nvPr/>
            </p:nvSpPr>
            <p:spPr bwMode="auto">
              <a:xfrm>
                <a:off x="1854" y="1452"/>
                <a:ext cx="3249" cy="1207"/>
              </a:xfrm>
              <a:prstGeom prst="foldedCorner">
                <a:avLst>
                  <a:gd name="adj" fmla="val 12500"/>
                </a:avLst>
              </a:prstGeom>
              <a:gradFill rotWithShape="1">
                <a:gsLst>
                  <a:gs pos="0">
                    <a:srgbClr val="CFCFD1"/>
                  </a:gs>
                  <a:gs pos="100000">
                    <a:schemeClr val="bg1"/>
                  </a:gs>
                </a:gsLst>
                <a:lin ang="5400000" scaled="1"/>
              </a:gradFill>
              <a:ln w="25400">
                <a:solidFill>
                  <a:srgbClr val="C01920"/>
                </a:solidFill>
                <a:round/>
                <a:headEnd/>
                <a:tailEnd/>
              </a:ln>
              <a:effectLst>
                <a:outerShdw blurRad="50800" dist="106680" dir="2700000" algn="tl" rotWithShape="0">
                  <a:prstClr val="black">
                    <a:alpha val="43000"/>
                  </a:prstClr>
                </a:outerShdw>
              </a:effectLst>
            </p:spPr>
            <p:txBody>
              <a:bodyPr wrap="none" anchor="ctr"/>
              <a:lstStyle/>
              <a:p>
                <a:pPr algn="ctr"/>
                <a:endParaRPr lang="zh-CN" altLang="zh-CN">
                  <a:solidFill>
                    <a:srgbClr val="C00000"/>
                  </a:solidFill>
                </a:endParaRPr>
              </a:p>
            </p:txBody>
          </p:sp>
          <p:sp>
            <p:nvSpPr>
              <p:cNvPr id="1076241" name="Text Box 17"/>
              <p:cNvSpPr txBox="1">
                <a:spLocks noChangeArrowheads="1"/>
              </p:cNvSpPr>
              <p:nvPr/>
            </p:nvSpPr>
            <p:spPr bwMode="auto">
              <a:xfrm>
                <a:off x="3053" y="1134"/>
                <a:ext cx="90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rgbClr val="C00000"/>
                    </a:solidFill>
                  </a:rPr>
                  <a:t>wang.txt</a:t>
                </a:r>
              </a:p>
            </p:txBody>
          </p:sp>
        </p:grpSp>
        <p:grpSp>
          <p:nvGrpSpPr>
            <p:cNvPr id="1076260" name="Group 36"/>
            <p:cNvGrpSpPr>
              <a:grpSpLocks/>
            </p:cNvGrpSpPr>
            <p:nvPr/>
          </p:nvGrpSpPr>
          <p:grpSpPr bwMode="auto">
            <a:xfrm>
              <a:off x="1784" y="709"/>
              <a:ext cx="617" cy="250"/>
              <a:chOff x="3851" y="2432"/>
              <a:chExt cx="617" cy="250"/>
            </a:xfrm>
          </p:grpSpPr>
          <p:sp>
            <p:nvSpPr>
              <p:cNvPr id="1076258" name="Line 34"/>
              <p:cNvSpPr>
                <a:spLocks noChangeShapeType="1"/>
              </p:cNvSpPr>
              <p:nvPr/>
            </p:nvSpPr>
            <p:spPr bwMode="auto">
              <a:xfrm>
                <a:off x="4144" y="2577"/>
                <a:ext cx="324" cy="0"/>
              </a:xfrm>
              <a:prstGeom prst="line">
                <a:avLst/>
              </a:prstGeom>
              <a:noFill/>
              <a:ln w="28575">
                <a:solidFill>
                  <a:srgbClr val="C00000"/>
                </a:solidFill>
                <a:round/>
                <a:headEnd/>
                <a:tailEnd type="stealth" w="lg" len="lg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>
                  <a:solidFill>
                    <a:srgbClr val="C00000"/>
                  </a:solidFill>
                </a:endParaRPr>
              </a:p>
            </p:txBody>
          </p:sp>
          <p:sp>
            <p:nvSpPr>
              <p:cNvPr id="1076259" name="Text Box 35"/>
              <p:cNvSpPr txBox="1">
                <a:spLocks noChangeArrowheads="1"/>
              </p:cNvSpPr>
              <p:nvPr/>
            </p:nvSpPr>
            <p:spPr bwMode="auto">
              <a:xfrm>
                <a:off x="3851" y="2432"/>
                <a:ext cx="454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rgbClr val="C00000"/>
                    </a:solidFill>
                  </a:rPr>
                  <a:t>fp1</a:t>
                </a:r>
              </a:p>
            </p:txBody>
          </p:sp>
        </p:grpSp>
      </p:grpSp>
      <p:sp>
        <p:nvSpPr>
          <p:cNvPr id="1076244" name="Text Box 20"/>
          <p:cNvSpPr txBox="1">
            <a:spLocks noChangeArrowheads="1"/>
          </p:cNvSpPr>
          <p:nvPr/>
        </p:nvSpPr>
        <p:spPr bwMode="auto">
          <a:xfrm>
            <a:off x="6815880" y="2924920"/>
            <a:ext cx="30972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31 32 33 34 35 36 37 38 39</a:t>
            </a:r>
          </a:p>
        </p:txBody>
      </p:sp>
      <p:sp>
        <p:nvSpPr>
          <p:cNvPr id="1076245" name="Text Box 21"/>
          <p:cNvSpPr txBox="1">
            <a:spLocks noChangeArrowheads="1"/>
          </p:cNvSpPr>
          <p:nvPr/>
        </p:nvSpPr>
        <p:spPr bwMode="auto">
          <a:xfrm>
            <a:off x="9768631" y="2910632"/>
            <a:ext cx="22320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>
                <a:solidFill>
                  <a:srgbClr val="C00000"/>
                </a:solidFill>
              </a:rPr>
              <a:t>0D 0A 61 62 63 64</a:t>
            </a:r>
          </a:p>
        </p:txBody>
      </p:sp>
      <p:grpSp>
        <p:nvGrpSpPr>
          <p:cNvPr id="1076253" name="Group 29"/>
          <p:cNvGrpSpPr>
            <a:grpSpLocks/>
          </p:cNvGrpSpPr>
          <p:nvPr/>
        </p:nvGrpSpPr>
        <p:grpSpPr bwMode="auto">
          <a:xfrm>
            <a:off x="7001617" y="3312269"/>
            <a:ext cx="2520950" cy="654050"/>
            <a:chOff x="2562" y="981"/>
            <a:chExt cx="1588" cy="412"/>
          </a:xfrm>
        </p:grpSpPr>
        <p:sp>
          <p:nvSpPr>
            <p:cNvPr id="1076247" name="AutoShape 23"/>
            <p:cNvSpPr>
              <a:spLocks/>
            </p:cNvSpPr>
            <p:nvPr/>
          </p:nvSpPr>
          <p:spPr bwMode="auto">
            <a:xfrm rot="-5400000">
              <a:off x="3265" y="278"/>
              <a:ext cx="181" cy="1588"/>
            </a:xfrm>
            <a:prstGeom prst="leftBrace">
              <a:avLst>
                <a:gd name="adj1" fmla="val 73112"/>
                <a:gd name="adj2" fmla="val 50000"/>
              </a:avLst>
            </a:prstGeom>
            <a:noFill/>
            <a:ln w="19050">
              <a:solidFill>
                <a:srgbClr val="00206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1076248" name="Text Box 24"/>
            <p:cNvSpPr txBox="1">
              <a:spLocks noChangeArrowheads="1"/>
            </p:cNvSpPr>
            <p:nvPr/>
          </p:nvSpPr>
          <p:spPr bwMode="auto">
            <a:xfrm>
              <a:off x="2880" y="1162"/>
              <a:ext cx="104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 dirty="0">
                  <a:solidFill>
                    <a:srgbClr val="002060"/>
                  </a:solidFill>
                </a:rPr>
                <a:t>"123456789"</a:t>
              </a:r>
            </a:p>
          </p:txBody>
        </p:sp>
      </p:grpSp>
      <p:grpSp>
        <p:nvGrpSpPr>
          <p:cNvPr id="1076255" name="Group 31"/>
          <p:cNvGrpSpPr>
            <a:grpSpLocks/>
          </p:cNvGrpSpPr>
          <p:nvPr/>
        </p:nvGrpSpPr>
        <p:grpSpPr bwMode="auto">
          <a:xfrm>
            <a:off x="9162206" y="2951907"/>
            <a:ext cx="1425575" cy="1438275"/>
            <a:chOff x="3923" y="754"/>
            <a:chExt cx="898" cy="906"/>
          </a:xfrm>
        </p:grpSpPr>
        <p:sp>
          <p:nvSpPr>
            <p:cNvPr id="1076249" name="Oval 25"/>
            <p:cNvSpPr>
              <a:spLocks noChangeArrowheads="1"/>
            </p:cNvSpPr>
            <p:nvPr/>
          </p:nvSpPr>
          <p:spPr bwMode="auto">
            <a:xfrm>
              <a:off x="4323" y="754"/>
              <a:ext cx="498" cy="227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dirty="0">
                <a:solidFill>
                  <a:srgbClr val="002060"/>
                </a:solidFill>
              </a:endParaRPr>
            </a:p>
          </p:txBody>
        </p:sp>
        <p:sp>
          <p:nvSpPr>
            <p:cNvPr id="1076250" name="AutoShape 26"/>
            <p:cNvSpPr>
              <a:spLocks noChangeArrowheads="1"/>
            </p:cNvSpPr>
            <p:nvPr/>
          </p:nvSpPr>
          <p:spPr bwMode="auto">
            <a:xfrm>
              <a:off x="3923" y="1207"/>
              <a:ext cx="817" cy="453"/>
            </a:xfrm>
            <a:prstGeom prst="wedgeRoundRectCallout">
              <a:avLst>
                <a:gd name="adj1" fmla="val 27968"/>
                <a:gd name="adj2" fmla="val -98343"/>
                <a:gd name="adj3" fmla="val 16667"/>
              </a:avLst>
            </a:prstGeom>
            <a:gradFill rotWithShape="1">
              <a:gsLst>
                <a:gs pos="0">
                  <a:srgbClr val="FFCC99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txBody>
            <a:bodyPr/>
            <a:lstStyle/>
            <a:p>
              <a:r>
                <a:rPr lang="zh-CN" altLang="en-US" sz="18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回车换行符</a:t>
              </a:r>
              <a:r>
                <a:rPr lang="en-US" altLang="zh-CN" sz="18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'\n'</a:t>
              </a:r>
            </a:p>
          </p:txBody>
        </p:sp>
      </p:grpSp>
      <p:grpSp>
        <p:nvGrpSpPr>
          <p:cNvPr id="1076254" name="Group 30"/>
          <p:cNvGrpSpPr>
            <a:grpSpLocks/>
          </p:cNvGrpSpPr>
          <p:nvPr/>
        </p:nvGrpSpPr>
        <p:grpSpPr bwMode="auto">
          <a:xfrm>
            <a:off x="10644931" y="3269406"/>
            <a:ext cx="1152525" cy="628650"/>
            <a:chOff x="4857" y="954"/>
            <a:chExt cx="726" cy="396"/>
          </a:xfrm>
        </p:grpSpPr>
        <p:sp>
          <p:nvSpPr>
            <p:cNvPr id="1076251" name="AutoShape 27"/>
            <p:cNvSpPr>
              <a:spLocks/>
            </p:cNvSpPr>
            <p:nvPr/>
          </p:nvSpPr>
          <p:spPr bwMode="auto">
            <a:xfrm rot="-5400000">
              <a:off x="5129" y="682"/>
              <a:ext cx="181" cy="726"/>
            </a:xfrm>
            <a:prstGeom prst="leftBrace">
              <a:avLst>
                <a:gd name="adj1" fmla="val 33425"/>
                <a:gd name="adj2" fmla="val 50000"/>
              </a:avLst>
            </a:prstGeom>
            <a:noFill/>
            <a:ln w="19050">
              <a:solidFill>
                <a:srgbClr val="00206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>
                <a:solidFill>
                  <a:srgbClr val="002060"/>
                </a:solidFill>
              </a:endParaRPr>
            </a:p>
          </p:txBody>
        </p:sp>
        <p:sp>
          <p:nvSpPr>
            <p:cNvPr id="1076252" name="Text Box 28"/>
            <p:cNvSpPr txBox="1">
              <a:spLocks noChangeArrowheads="1"/>
            </p:cNvSpPr>
            <p:nvPr/>
          </p:nvSpPr>
          <p:spPr bwMode="auto">
            <a:xfrm>
              <a:off x="4940" y="1117"/>
              <a:ext cx="58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 dirty="0">
                  <a:solidFill>
                    <a:srgbClr val="002060"/>
                  </a:solidFill>
                </a:rPr>
                <a:t>"</a:t>
              </a:r>
              <a:r>
                <a:rPr lang="en-US" altLang="zh-CN" sz="1800" b="1" dirty="0" err="1">
                  <a:solidFill>
                    <a:srgbClr val="002060"/>
                  </a:solidFill>
                </a:rPr>
                <a:t>abcd</a:t>
              </a:r>
              <a:r>
                <a:rPr lang="en-US" altLang="zh-CN" sz="1800" b="1" dirty="0">
                  <a:solidFill>
                    <a:srgbClr val="002060"/>
                  </a:solidFill>
                </a:rPr>
                <a:t>"</a:t>
              </a:r>
            </a:p>
          </p:txBody>
        </p:sp>
      </p:grpSp>
      <p:sp>
        <p:nvSpPr>
          <p:cNvPr id="25" name="Rectangle 4">
            <a:extLst>
              <a:ext uri="{FF2B5EF4-FFF2-40B4-BE49-F238E27FC236}">
                <a16:creationId xmlns:a16="http://schemas.microsoft.com/office/drawing/2014/main" id="{7EB3CEB6-CB94-425C-860B-3EA307753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12.5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文件的打开、读写和关闭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76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76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76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76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762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762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762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762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762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762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762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762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762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762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762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762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762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762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762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762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762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762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762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762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762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762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0" dur="500"/>
                                        <p:tgtEl>
                                          <p:spTgt spid="10762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0762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762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7623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07623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4" dur="1000"/>
                                        <p:tgtEl>
                                          <p:spTgt spid="10762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300"/>
                            </p:stCondLst>
                            <p:childTnLst>
                              <p:par>
                                <p:cTn id="76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8" dur="500"/>
                                        <p:tgtEl>
                                          <p:spTgt spid="10762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07623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07623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07623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07623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2" dur="1000"/>
                                        <p:tgtEl>
                                          <p:spTgt spid="10762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000"/>
                            </p:stCondLst>
                            <p:childTnLst>
                              <p:par>
                                <p:cTn id="94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6" dur="500"/>
                                        <p:tgtEl>
                                          <p:spTgt spid="10762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500"/>
                            </p:stCondLst>
                            <p:childTnLst>
                              <p:par>
                                <p:cTn id="9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0" dur="500"/>
                                        <p:tgtEl>
                                          <p:spTgt spid="10762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07623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07623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6244" grpId="0"/>
      <p:bldP spid="107624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">
            <a:extLst>
              <a:ext uri="{FF2B5EF4-FFF2-40B4-BE49-F238E27FC236}">
                <a16:creationId xmlns:a16="http://schemas.microsoft.com/office/drawing/2014/main" id="{0AD80E1A-D936-4CBC-B756-D16EFD780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12.5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文件的打开、读写和关闭 </a:t>
            </a:r>
          </a:p>
        </p:txBody>
      </p:sp>
      <p:sp>
        <p:nvSpPr>
          <p:cNvPr id="1078293" name="Rectangle 21" descr="信纸"/>
          <p:cNvSpPr>
            <a:spLocks noChangeArrowheads="1"/>
          </p:cNvSpPr>
          <p:nvPr/>
        </p:nvSpPr>
        <p:spPr bwMode="auto">
          <a:xfrm>
            <a:off x="1775520" y="989434"/>
            <a:ext cx="8007099" cy="3231654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pPr>
              <a:tabLst>
                <a:tab pos="800100" algn="l"/>
              </a:tabLst>
            </a:pPr>
            <a:r>
              <a:rPr lang="en-US" altLang="zh-CN" dirty="0"/>
              <a:t>  </a:t>
            </a:r>
            <a:r>
              <a:rPr lang="en-US" altLang="zh-CN" sz="2000" b="1" dirty="0">
                <a:ea typeface="楷体_GB2312" pitchFamily="49" charset="-122"/>
              </a:rPr>
              <a:t>fp2 = </a:t>
            </a:r>
            <a:r>
              <a:rPr lang="en-US" altLang="zh-CN" sz="2000" b="1" dirty="0" err="1">
                <a:ea typeface="楷体_GB2312" pitchFamily="49" charset="-122"/>
              </a:rPr>
              <a:t>fopen</a:t>
            </a:r>
            <a:r>
              <a:rPr lang="en-US" altLang="zh-CN" sz="2000" b="1" dirty="0">
                <a:ea typeface="楷体_GB2312" pitchFamily="49" charset="-122"/>
              </a:rPr>
              <a:t> ("wang.txt", "</a:t>
            </a:r>
            <a:r>
              <a:rPr lang="en-US" altLang="zh-CN" sz="2000" b="1" dirty="0" err="1">
                <a:ea typeface="楷体_GB2312" pitchFamily="49" charset="-122"/>
              </a:rPr>
              <a:t>rt</a:t>
            </a:r>
            <a:r>
              <a:rPr lang="en-US" altLang="zh-CN" sz="2000" b="1" dirty="0">
                <a:ea typeface="楷体_GB2312" pitchFamily="49" charset="-122"/>
              </a:rPr>
              <a:t>");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以只读方式打开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wang.txt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文件</a:t>
            </a:r>
          </a:p>
          <a:p>
            <a:pPr>
              <a:tabLst>
                <a:tab pos="8001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fgets</a:t>
            </a:r>
            <a:r>
              <a:rPr lang="en-US" altLang="zh-CN" sz="2000" b="1" dirty="0">
                <a:ea typeface="楷体_GB2312" pitchFamily="49" charset="-122"/>
              </a:rPr>
              <a:t> (</a:t>
            </a:r>
            <a:r>
              <a:rPr lang="en-US" altLang="zh-CN" sz="2000" b="1" dirty="0" err="1">
                <a:ea typeface="楷体_GB2312" pitchFamily="49" charset="-122"/>
              </a:rPr>
              <a:t>str</a:t>
            </a:r>
            <a:r>
              <a:rPr lang="en-US" altLang="zh-CN" sz="2000" b="1" dirty="0">
                <a:ea typeface="楷体_GB2312" pitchFamily="49" charset="-122"/>
              </a:rPr>
              <a:t>, 8, fp2);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读取字符串，最大长度是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7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，将是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"1234567"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("%s\n", </a:t>
            </a:r>
            <a:r>
              <a:rPr lang="en-US" altLang="zh-CN" sz="2000" b="1" dirty="0" err="1">
                <a:ea typeface="楷体_GB2312" pitchFamily="49" charset="-122"/>
              </a:rPr>
              <a:t>str</a:t>
            </a:r>
            <a:r>
              <a:rPr lang="en-US" altLang="zh-CN" sz="2000" b="1" dirty="0">
                <a:ea typeface="楷体_GB2312" pitchFamily="49" charset="-122"/>
              </a:rPr>
              <a:t>);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fgets</a:t>
            </a:r>
            <a:r>
              <a:rPr lang="en-US" altLang="zh-CN" sz="2000" b="1" dirty="0">
                <a:ea typeface="楷体_GB2312" pitchFamily="49" charset="-122"/>
              </a:rPr>
              <a:t> (</a:t>
            </a:r>
            <a:r>
              <a:rPr lang="en-US" altLang="zh-CN" sz="2000" b="1" dirty="0" err="1">
                <a:ea typeface="楷体_GB2312" pitchFamily="49" charset="-122"/>
              </a:rPr>
              <a:t>str</a:t>
            </a:r>
            <a:r>
              <a:rPr lang="en-US" altLang="zh-CN" sz="2000" b="1" dirty="0">
                <a:ea typeface="楷体_GB2312" pitchFamily="49" charset="-122"/>
              </a:rPr>
              <a:t>, 8, fp2);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读取字符串，最大长度是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7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，实际上将是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"89\n"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("%s\n", </a:t>
            </a:r>
            <a:r>
              <a:rPr lang="en-US" altLang="zh-CN" sz="2000" b="1" dirty="0" err="1">
                <a:ea typeface="楷体_GB2312" pitchFamily="49" charset="-122"/>
              </a:rPr>
              <a:t>str</a:t>
            </a:r>
            <a:r>
              <a:rPr lang="en-US" altLang="zh-CN" sz="2000" b="1" dirty="0">
                <a:ea typeface="楷体_GB2312" pitchFamily="49" charset="-122"/>
              </a:rPr>
              <a:t>);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fgets</a:t>
            </a:r>
            <a:r>
              <a:rPr lang="en-US" altLang="zh-CN" sz="2000" b="1" dirty="0">
                <a:ea typeface="楷体_GB2312" pitchFamily="49" charset="-122"/>
              </a:rPr>
              <a:t> (</a:t>
            </a:r>
            <a:r>
              <a:rPr lang="en-US" altLang="zh-CN" sz="2000" b="1" dirty="0" err="1">
                <a:ea typeface="楷体_GB2312" pitchFamily="49" charset="-122"/>
              </a:rPr>
              <a:t>str</a:t>
            </a:r>
            <a:r>
              <a:rPr lang="en-US" altLang="zh-CN" sz="2000" b="1" dirty="0">
                <a:ea typeface="楷体_GB2312" pitchFamily="49" charset="-122"/>
              </a:rPr>
              <a:t>, 8, fp2);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读取字符串，最大长度是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7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，实际上将是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"</a:t>
            </a:r>
            <a:r>
              <a:rPr lang="en-US" altLang="zh-CN" sz="1800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abcd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"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("%s\n", </a:t>
            </a:r>
            <a:r>
              <a:rPr lang="en-US" altLang="zh-CN" sz="2000" b="1" dirty="0" err="1">
                <a:ea typeface="楷体_GB2312" pitchFamily="49" charset="-122"/>
              </a:rPr>
              <a:t>str</a:t>
            </a:r>
            <a:r>
              <a:rPr lang="en-US" altLang="zh-CN" sz="2000" b="1" dirty="0">
                <a:ea typeface="楷体_GB2312" pitchFamily="49" charset="-122"/>
              </a:rPr>
              <a:t>);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fclose</a:t>
            </a:r>
            <a:r>
              <a:rPr lang="en-US" altLang="zh-CN" sz="2000" b="1" dirty="0">
                <a:ea typeface="楷体_GB2312" pitchFamily="49" charset="-122"/>
              </a:rPr>
              <a:t> (fp2);              </a:t>
            </a:r>
            <a:r>
              <a:rPr lang="en-US" altLang="zh-CN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18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关闭打开的文件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return 0;</a:t>
            </a:r>
          </a:p>
          <a:p>
            <a:pPr>
              <a:tabLst>
                <a:tab pos="8001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}</a:t>
            </a:r>
          </a:p>
        </p:txBody>
      </p:sp>
      <p:grpSp>
        <p:nvGrpSpPr>
          <p:cNvPr id="1078306" name="Group 34"/>
          <p:cNvGrpSpPr>
            <a:grpSpLocks/>
          </p:cNvGrpSpPr>
          <p:nvPr/>
        </p:nvGrpSpPr>
        <p:grpSpPr bwMode="auto">
          <a:xfrm>
            <a:off x="1101672" y="4165497"/>
            <a:ext cx="6469063" cy="2420937"/>
            <a:chOff x="286" y="2055"/>
            <a:chExt cx="4075" cy="1525"/>
          </a:xfrm>
        </p:grpSpPr>
        <p:grpSp>
          <p:nvGrpSpPr>
            <p:cNvPr id="1078302" name="Group 30"/>
            <p:cNvGrpSpPr>
              <a:grpSpLocks/>
            </p:cNvGrpSpPr>
            <p:nvPr/>
          </p:nvGrpSpPr>
          <p:grpSpPr bwMode="auto">
            <a:xfrm>
              <a:off x="286" y="2055"/>
              <a:ext cx="4075" cy="1525"/>
              <a:chOff x="502" y="2397"/>
              <a:chExt cx="4075" cy="1525"/>
            </a:xfrm>
          </p:grpSpPr>
          <p:grpSp>
            <p:nvGrpSpPr>
              <p:cNvPr id="1078294" name="Group 22"/>
              <p:cNvGrpSpPr>
                <a:grpSpLocks/>
              </p:cNvGrpSpPr>
              <p:nvPr/>
            </p:nvGrpSpPr>
            <p:grpSpPr bwMode="auto">
              <a:xfrm>
                <a:off x="1283" y="2397"/>
                <a:ext cx="3294" cy="1525"/>
                <a:chOff x="2417" y="346"/>
                <a:chExt cx="3294" cy="1525"/>
              </a:xfrm>
            </p:grpSpPr>
            <p:grpSp>
              <p:nvGrpSpPr>
                <p:cNvPr id="1078279" name="Group 7"/>
                <p:cNvGrpSpPr>
                  <a:grpSpLocks/>
                </p:cNvGrpSpPr>
                <p:nvPr/>
              </p:nvGrpSpPr>
              <p:grpSpPr bwMode="auto">
                <a:xfrm>
                  <a:off x="2417" y="346"/>
                  <a:ext cx="3249" cy="1525"/>
                  <a:chOff x="1854" y="1134"/>
                  <a:chExt cx="3249" cy="1525"/>
                </a:xfrm>
              </p:grpSpPr>
              <p:sp>
                <p:nvSpPr>
                  <p:cNvPr id="1078280" name="AutoShape 8"/>
                  <p:cNvSpPr>
                    <a:spLocks noChangeArrowheads="1"/>
                  </p:cNvSpPr>
                  <p:nvPr/>
                </p:nvSpPr>
                <p:spPr bwMode="auto">
                  <a:xfrm>
                    <a:off x="1854" y="1452"/>
                    <a:ext cx="3249" cy="1207"/>
                  </a:xfrm>
                  <a:prstGeom prst="foldedCorner">
                    <a:avLst>
                      <a:gd name="adj" fmla="val 12500"/>
                    </a:avLst>
                  </a:prstGeom>
                  <a:gradFill rotWithShape="1">
                    <a:gsLst>
                      <a:gs pos="0">
                        <a:srgbClr val="CFCFD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 w="25400">
                    <a:solidFill>
                      <a:srgbClr val="C00000"/>
                    </a:solidFill>
                    <a:round/>
                    <a:headEnd/>
                    <a:tailEnd/>
                  </a:ln>
                  <a:effectLst>
                    <a:outerShdw blurRad="50800" dist="106680" dir="2700000" algn="tl" rotWithShape="0">
                      <a:prstClr val="black">
                        <a:alpha val="43000"/>
                      </a:prstClr>
                    </a:outerShdw>
                  </a:effectLst>
                </p:spPr>
                <p:txBody>
                  <a:bodyPr wrap="none" anchor="ctr"/>
                  <a:lstStyle/>
                  <a:p>
                    <a:pPr algn="ctr"/>
                    <a:endParaRPr lang="zh-CN" altLang="zh-CN" dirty="0"/>
                  </a:p>
                </p:txBody>
              </p:sp>
              <p:sp>
                <p:nvSpPr>
                  <p:cNvPr id="1078281" name="Text Box 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53" y="1134"/>
                    <a:ext cx="908" cy="28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b="1" dirty="0">
                        <a:solidFill>
                          <a:srgbClr val="C00000"/>
                        </a:solidFill>
                      </a:rPr>
                      <a:t>wang.txt</a:t>
                    </a:r>
                  </a:p>
                </p:txBody>
              </p:sp>
            </p:grpSp>
            <p:sp>
              <p:nvSpPr>
                <p:cNvPr id="1078282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2445" y="737"/>
                  <a:ext cx="1951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000" b="1"/>
                    <a:t>31 32 33 34 35 36 37 38 39</a:t>
                  </a:r>
                </a:p>
              </p:txBody>
            </p:sp>
            <p:sp>
              <p:nvSpPr>
                <p:cNvPr id="1078283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4305" y="728"/>
                  <a:ext cx="1406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rgbClr val="C00000"/>
                      </a:solidFill>
                    </a:rPr>
                    <a:t>0D 0A 61 62 63 64</a:t>
                  </a:r>
                </a:p>
              </p:txBody>
            </p:sp>
          </p:grpSp>
          <p:grpSp>
            <p:nvGrpSpPr>
              <p:cNvPr id="1078297" name="Group 25"/>
              <p:cNvGrpSpPr>
                <a:grpSpLocks/>
              </p:cNvGrpSpPr>
              <p:nvPr/>
            </p:nvGrpSpPr>
            <p:grpSpPr bwMode="auto">
              <a:xfrm>
                <a:off x="502" y="2751"/>
                <a:ext cx="763" cy="250"/>
                <a:chOff x="502" y="2877"/>
                <a:chExt cx="763" cy="250"/>
              </a:xfrm>
            </p:grpSpPr>
            <p:sp>
              <p:nvSpPr>
                <p:cNvPr id="1078295" name="Line 23"/>
                <p:cNvSpPr>
                  <a:spLocks noChangeShapeType="1"/>
                </p:cNvSpPr>
                <p:nvPr/>
              </p:nvSpPr>
              <p:spPr bwMode="auto">
                <a:xfrm>
                  <a:off x="811" y="3022"/>
                  <a:ext cx="454" cy="0"/>
                </a:xfrm>
                <a:prstGeom prst="line">
                  <a:avLst/>
                </a:prstGeom>
                <a:noFill/>
                <a:ln w="28575">
                  <a:solidFill>
                    <a:srgbClr val="C00000"/>
                  </a:solidFill>
                  <a:round/>
                  <a:headEnd/>
                  <a:tailEnd type="stealth" w="lg" len="lg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78296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502" y="2877"/>
                  <a:ext cx="408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rgbClr val="C00000"/>
                      </a:solidFill>
                    </a:rPr>
                    <a:t>fp2</a:t>
                  </a:r>
                </a:p>
              </p:txBody>
            </p:sp>
          </p:grpSp>
        </p:grpSp>
        <p:grpSp>
          <p:nvGrpSpPr>
            <p:cNvPr id="1078300" name="Group 28"/>
            <p:cNvGrpSpPr>
              <a:grpSpLocks/>
            </p:cNvGrpSpPr>
            <p:nvPr/>
          </p:nvGrpSpPr>
          <p:grpSpPr bwMode="auto">
            <a:xfrm>
              <a:off x="1032" y="2681"/>
              <a:ext cx="453" cy="641"/>
              <a:chOff x="1257" y="3158"/>
              <a:chExt cx="453" cy="641"/>
            </a:xfrm>
          </p:grpSpPr>
          <p:sp>
            <p:nvSpPr>
              <p:cNvPr id="1078298" name="Line 26"/>
              <p:cNvSpPr>
                <a:spLocks noChangeShapeType="1"/>
              </p:cNvSpPr>
              <p:nvPr/>
            </p:nvSpPr>
            <p:spPr bwMode="auto">
              <a:xfrm flipV="1">
                <a:off x="1447" y="3158"/>
                <a:ext cx="0" cy="272"/>
              </a:xfrm>
              <a:prstGeom prst="line">
                <a:avLst/>
              </a:prstGeom>
              <a:noFill/>
              <a:ln w="28575">
                <a:solidFill>
                  <a:srgbClr val="002060"/>
                </a:solidFill>
                <a:prstDash val="sysDot"/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8299" name="Text Box 27"/>
              <p:cNvSpPr txBox="1">
                <a:spLocks noChangeArrowheads="1"/>
              </p:cNvSpPr>
              <p:nvPr/>
            </p:nvSpPr>
            <p:spPr bwMode="auto">
              <a:xfrm>
                <a:off x="1257" y="3395"/>
                <a:ext cx="453" cy="4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1800" b="1" dirty="0">
                    <a:solidFill>
                      <a:srgbClr val="002060"/>
                    </a:solidFill>
                    <a:latin typeface="+mn-lt"/>
                    <a:ea typeface="楷体" pitchFamily="49" charset="-122"/>
                  </a:rPr>
                  <a:t>位置指针</a:t>
                </a:r>
              </a:p>
            </p:txBody>
          </p:sp>
        </p:grpSp>
      </p:grpSp>
      <p:grpSp>
        <p:nvGrpSpPr>
          <p:cNvPr id="1078303" name="Group 31"/>
          <p:cNvGrpSpPr>
            <a:grpSpLocks/>
          </p:cNvGrpSpPr>
          <p:nvPr/>
        </p:nvGrpSpPr>
        <p:grpSpPr bwMode="auto">
          <a:xfrm>
            <a:off x="4524325" y="5147716"/>
            <a:ext cx="719137" cy="1017588"/>
            <a:chOff x="1257" y="3158"/>
            <a:chExt cx="453" cy="641"/>
          </a:xfrm>
        </p:grpSpPr>
        <p:sp>
          <p:nvSpPr>
            <p:cNvPr id="1078304" name="Line 32"/>
            <p:cNvSpPr>
              <a:spLocks noChangeShapeType="1"/>
            </p:cNvSpPr>
            <p:nvPr/>
          </p:nvSpPr>
          <p:spPr bwMode="auto">
            <a:xfrm flipV="1">
              <a:off x="1447" y="3158"/>
              <a:ext cx="0" cy="272"/>
            </a:xfrm>
            <a:prstGeom prst="line">
              <a:avLst/>
            </a:prstGeom>
            <a:noFill/>
            <a:ln w="28575">
              <a:solidFill>
                <a:srgbClr val="002060"/>
              </a:solidFill>
              <a:prstDash val="sysDot"/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8305" name="Text Box 33"/>
            <p:cNvSpPr txBox="1">
              <a:spLocks noChangeArrowheads="1"/>
            </p:cNvSpPr>
            <p:nvPr/>
          </p:nvSpPr>
          <p:spPr bwMode="auto">
            <a:xfrm>
              <a:off x="1257" y="3395"/>
              <a:ext cx="453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位置指针</a:t>
              </a:r>
            </a:p>
          </p:txBody>
        </p:sp>
      </p:grpSp>
      <p:sp>
        <p:nvSpPr>
          <p:cNvPr id="1078307" name="Text Box 35"/>
          <p:cNvSpPr txBox="1">
            <a:spLocks noChangeArrowheads="1"/>
          </p:cNvSpPr>
          <p:nvPr/>
        </p:nvSpPr>
        <p:spPr bwMode="auto">
          <a:xfrm>
            <a:off x="8154937" y="4707879"/>
            <a:ext cx="1627679" cy="1617662"/>
          </a:xfrm>
          <a:prstGeom prst="rect">
            <a:avLst/>
          </a:prstGeom>
          <a:solidFill>
            <a:srgbClr val="FFFFFF"/>
          </a:soli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just"/>
            <a:r>
              <a:rPr lang="zh-CN" altLang="en-US" sz="2000" b="1" dirty="0">
                <a:solidFill>
                  <a:srgbClr val="C00000"/>
                </a:solidFill>
                <a:latin typeface="隶书" pitchFamily="49" charset="-122"/>
                <a:ea typeface="隶书" pitchFamily="49" charset="-122"/>
              </a:rPr>
              <a:t>运行结果：</a:t>
            </a:r>
          </a:p>
          <a:p>
            <a:pPr algn="just"/>
            <a:r>
              <a:rPr lang="en-US" altLang="zh-CN" sz="2000" b="1" dirty="0">
                <a:solidFill>
                  <a:srgbClr val="002060"/>
                </a:solidFill>
              </a:rPr>
              <a:t>1234567</a:t>
            </a:r>
          </a:p>
          <a:p>
            <a:pPr algn="just"/>
            <a:endParaRPr lang="en-US" altLang="zh-CN" sz="2000" b="1" dirty="0">
              <a:solidFill>
                <a:srgbClr val="002060"/>
              </a:solidFill>
            </a:endParaRPr>
          </a:p>
          <a:p>
            <a:pPr algn="just"/>
            <a:endParaRPr lang="en-US" altLang="zh-CN" sz="2000" b="1" dirty="0">
              <a:solidFill>
                <a:srgbClr val="002060"/>
              </a:solidFill>
            </a:endParaRPr>
          </a:p>
          <a:p>
            <a:pPr algn="just"/>
            <a:endParaRPr lang="en-US" altLang="zh-CN" sz="2000" b="1" dirty="0">
              <a:solidFill>
                <a:srgbClr val="002060"/>
              </a:solidFill>
            </a:endParaRPr>
          </a:p>
        </p:txBody>
      </p:sp>
      <p:sp>
        <p:nvSpPr>
          <p:cNvPr id="1078308" name="Rectangle 36"/>
          <p:cNvSpPr>
            <a:spLocks noChangeArrowheads="1"/>
          </p:cNvSpPr>
          <p:nvPr/>
        </p:nvSpPr>
        <p:spPr bwMode="auto">
          <a:xfrm>
            <a:off x="2384917" y="5098205"/>
            <a:ext cx="504825" cy="1008063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78311" name="Group 39"/>
          <p:cNvGrpSpPr>
            <a:grpSpLocks/>
          </p:cNvGrpSpPr>
          <p:nvPr/>
        </p:nvGrpSpPr>
        <p:grpSpPr bwMode="auto">
          <a:xfrm>
            <a:off x="2554236" y="5085453"/>
            <a:ext cx="1943100" cy="931863"/>
            <a:chOff x="1202" y="2840"/>
            <a:chExt cx="1224" cy="587"/>
          </a:xfrm>
        </p:grpSpPr>
        <p:sp>
          <p:nvSpPr>
            <p:cNvPr id="1078309" name="AutoShape 37"/>
            <p:cNvSpPr>
              <a:spLocks/>
            </p:cNvSpPr>
            <p:nvPr/>
          </p:nvSpPr>
          <p:spPr bwMode="auto">
            <a:xfrm rot="-5400000">
              <a:off x="1700" y="2342"/>
              <a:ext cx="227" cy="1224"/>
            </a:xfrm>
            <a:prstGeom prst="leftBrace">
              <a:avLst>
                <a:gd name="adj1" fmla="val 44934"/>
                <a:gd name="adj2" fmla="val 50000"/>
              </a:avLst>
            </a:prstGeom>
            <a:noFill/>
            <a:ln w="19050">
              <a:solidFill>
                <a:srgbClr val="00206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  <p:sp>
          <p:nvSpPr>
            <p:cNvPr id="1078310" name="Text Box 38"/>
            <p:cNvSpPr txBox="1">
              <a:spLocks noChangeArrowheads="1"/>
            </p:cNvSpPr>
            <p:nvPr/>
          </p:nvSpPr>
          <p:spPr bwMode="auto">
            <a:xfrm>
              <a:off x="1428" y="3023"/>
              <a:ext cx="953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第一次读取</a:t>
              </a:r>
              <a:r>
                <a:rPr lang="en-US" altLang="zh-CN" sz="1800" b="1" dirty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楷体" pitchFamily="49" charset="-122"/>
                </a:rPr>
                <a:t>"1234567"</a:t>
              </a:r>
            </a:p>
          </p:txBody>
        </p:sp>
      </p:grpSp>
      <p:grpSp>
        <p:nvGrpSpPr>
          <p:cNvPr id="1078312" name="Group 40"/>
          <p:cNvGrpSpPr>
            <a:grpSpLocks/>
          </p:cNvGrpSpPr>
          <p:nvPr/>
        </p:nvGrpSpPr>
        <p:grpSpPr bwMode="auto">
          <a:xfrm>
            <a:off x="6096942" y="5085184"/>
            <a:ext cx="719138" cy="1017587"/>
            <a:chOff x="1257" y="3158"/>
            <a:chExt cx="453" cy="641"/>
          </a:xfrm>
        </p:grpSpPr>
        <p:sp>
          <p:nvSpPr>
            <p:cNvPr id="1078313" name="Line 41"/>
            <p:cNvSpPr>
              <a:spLocks noChangeShapeType="1"/>
            </p:cNvSpPr>
            <p:nvPr/>
          </p:nvSpPr>
          <p:spPr bwMode="auto">
            <a:xfrm flipV="1">
              <a:off x="1447" y="3158"/>
              <a:ext cx="0" cy="272"/>
            </a:xfrm>
            <a:prstGeom prst="line">
              <a:avLst/>
            </a:prstGeom>
            <a:noFill/>
            <a:ln w="28575">
              <a:solidFill>
                <a:srgbClr val="002060"/>
              </a:solidFill>
              <a:prstDash val="sysDot"/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  <p:sp>
          <p:nvSpPr>
            <p:cNvPr id="1078314" name="Text Box 42"/>
            <p:cNvSpPr txBox="1">
              <a:spLocks noChangeArrowheads="1"/>
            </p:cNvSpPr>
            <p:nvPr/>
          </p:nvSpPr>
          <p:spPr bwMode="auto">
            <a:xfrm>
              <a:off x="1257" y="3395"/>
              <a:ext cx="453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位置指针</a:t>
              </a:r>
            </a:p>
          </p:txBody>
        </p:sp>
      </p:grpSp>
      <p:sp>
        <p:nvSpPr>
          <p:cNvPr id="1078315" name="Rectangle 43"/>
          <p:cNvSpPr>
            <a:spLocks noChangeArrowheads="1"/>
          </p:cNvSpPr>
          <p:nvPr/>
        </p:nvSpPr>
        <p:spPr bwMode="auto">
          <a:xfrm>
            <a:off x="4611637" y="5110137"/>
            <a:ext cx="504825" cy="1008063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78319" name="Group 47"/>
          <p:cNvGrpSpPr>
            <a:grpSpLocks/>
          </p:cNvGrpSpPr>
          <p:nvPr/>
        </p:nvGrpSpPr>
        <p:grpSpPr bwMode="auto">
          <a:xfrm>
            <a:off x="4756099" y="5109954"/>
            <a:ext cx="1528762" cy="922338"/>
            <a:chOff x="2589" y="2859"/>
            <a:chExt cx="963" cy="581"/>
          </a:xfrm>
        </p:grpSpPr>
        <p:sp>
          <p:nvSpPr>
            <p:cNvPr id="1078317" name="AutoShape 45"/>
            <p:cNvSpPr>
              <a:spLocks/>
            </p:cNvSpPr>
            <p:nvPr/>
          </p:nvSpPr>
          <p:spPr bwMode="auto">
            <a:xfrm rot="-5400000">
              <a:off x="2888" y="2560"/>
              <a:ext cx="191" cy="790"/>
            </a:xfrm>
            <a:prstGeom prst="leftBrace">
              <a:avLst>
                <a:gd name="adj1" fmla="val 34468"/>
                <a:gd name="adj2" fmla="val 50000"/>
              </a:avLst>
            </a:prstGeom>
            <a:noFill/>
            <a:ln w="19050">
              <a:solidFill>
                <a:srgbClr val="00206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 dirty="0">
                <a:latin typeface="+mn-lt"/>
                <a:ea typeface="楷体" pitchFamily="49" charset="-122"/>
              </a:endParaRPr>
            </a:p>
          </p:txBody>
        </p:sp>
        <p:sp>
          <p:nvSpPr>
            <p:cNvPr id="1078318" name="Text Box 46"/>
            <p:cNvSpPr txBox="1">
              <a:spLocks noChangeArrowheads="1"/>
            </p:cNvSpPr>
            <p:nvPr/>
          </p:nvSpPr>
          <p:spPr bwMode="auto">
            <a:xfrm>
              <a:off x="2599" y="3033"/>
              <a:ext cx="953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第二次读取</a:t>
              </a:r>
              <a:r>
                <a:rPr lang="en-US" altLang="zh-CN" sz="1800" b="1" dirty="0">
                  <a:solidFill>
                    <a:schemeClr val="accent1">
                      <a:lumMod val="50000"/>
                    </a:schemeClr>
                  </a:solidFill>
                  <a:ea typeface="楷体" pitchFamily="49" charset="-122"/>
                </a:rPr>
                <a:t>"</a:t>
              </a:r>
              <a:r>
                <a:rPr lang="en-US" altLang="zh-CN" sz="1800" b="1" dirty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楷体" pitchFamily="49" charset="-122"/>
                </a:rPr>
                <a:t>89\n"</a:t>
              </a:r>
            </a:p>
          </p:txBody>
        </p:sp>
      </p:grpSp>
      <p:grpSp>
        <p:nvGrpSpPr>
          <p:cNvPr id="1078320" name="Group 48"/>
          <p:cNvGrpSpPr>
            <a:grpSpLocks/>
          </p:cNvGrpSpPr>
          <p:nvPr/>
        </p:nvGrpSpPr>
        <p:grpSpPr bwMode="auto">
          <a:xfrm>
            <a:off x="7464375" y="5095230"/>
            <a:ext cx="719137" cy="1017587"/>
            <a:chOff x="1257" y="3158"/>
            <a:chExt cx="453" cy="641"/>
          </a:xfrm>
        </p:grpSpPr>
        <p:sp>
          <p:nvSpPr>
            <p:cNvPr id="1078321" name="Line 49"/>
            <p:cNvSpPr>
              <a:spLocks noChangeShapeType="1"/>
            </p:cNvSpPr>
            <p:nvPr/>
          </p:nvSpPr>
          <p:spPr bwMode="auto">
            <a:xfrm flipV="1">
              <a:off x="1447" y="3158"/>
              <a:ext cx="0" cy="272"/>
            </a:xfrm>
            <a:prstGeom prst="line">
              <a:avLst/>
            </a:prstGeom>
            <a:noFill/>
            <a:ln w="28575">
              <a:solidFill>
                <a:srgbClr val="002060"/>
              </a:solidFill>
              <a:prstDash val="sysDot"/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 dirty="0">
                <a:latin typeface="+mn-lt"/>
                <a:ea typeface="楷体" pitchFamily="49" charset="-122"/>
              </a:endParaRPr>
            </a:p>
          </p:txBody>
        </p:sp>
        <p:sp>
          <p:nvSpPr>
            <p:cNvPr id="1078322" name="Text Box 50"/>
            <p:cNvSpPr txBox="1">
              <a:spLocks noChangeArrowheads="1"/>
            </p:cNvSpPr>
            <p:nvPr/>
          </p:nvSpPr>
          <p:spPr bwMode="auto">
            <a:xfrm>
              <a:off x="1257" y="3395"/>
              <a:ext cx="453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位置指针</a:t>
              </a:r>
            </a:p>
          </p:txBody>
        </p:sp>
      </p:grpSp>
      <p:sp>
        <p:nvSpPr>
          <p:cNvPr id="1078323" name="Rectangle 51"/>
          <p:cNvSpPr>
            <a:spLocks noChangeArrowheads="1"/>
          </p:cNvSpPr>
          <p:nvPr/>
        </p:nvSpPr>
        <p:spPr bwMode="auto">
          <a:xfrm>
            <a:off x="8197799" y="5328592"/>
            <a:ext cx="438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 b="1">
                <a:solidFill>
                  <a:srgbClr val="002060"/>
                </a:solidFill>
              </a:rPr>
              <a:t>89</a:t>
            </a:r>
          </a:p>
        </p:txBody>
      </p:sp>
      <p:sp>
        <p:nvSpPr>
          <p:cNvPr id="1078324" name="Rectangle 52"/>
          <p:cNvSpPr>
            <a:spLocks noChangeArrowheads="1"/>
          </p:cNvSpPr>
          <p:nvPr/>
        </p:nvSpPr>
        <p:spPr bwMode="auto">
          <a:xfrm>
            <a:off x="6167239" y="5110236"/>
            <a:ext cx="504825" cy="1008062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78328" name="Group 56"/>
          <p:cNvGrpSpPr>
            <a:grpSpLocks/>
          </p:cNvGrpSpPr>
          <p:nvPr/>
        </p:nvGrpSpPr>
        <p:grpSpPr bwMode="auto">
          <a:xfrm>
            <a:off x="6057847" y="5109516"/>
            <a:ext cx="1512888" cy="935038"/>
            <a:chOff x="3409" y="2840"/>
            <a:chExt cx="953" cy="589"/>
          </a:xfrm>
        </p:grpSpPr>
        <p:sp>
          <p:nvSpPr>
            <p:cNvPr id="1078326" name="AutoShape 54"/>
            <p:cNvSpPr>
              <a:spLocks/>
            </p:cNvSpPr>
            <p:nvPr/>
          </p:nvSpPr>
          <p:spPr bwMode="auto">
            <a:xfrm rot="-5400000">
              <a:off x="3751" y="2597"/>
              <a:ext cx="202" cy="687"/>
            </a:xfrm>
            <a:prstGeom prst="leftBrace">
              <a:avLst>
                <a:gd name="adj1" fmla="val 28342"/>
                <a:gd name="adj2" fmla="val 50000"/>
              </a:avLst>
            </a:prstGeom>
            <a:noFill/>
            <a:ln w="19050">
              <a:solidFill>
                <a:srgbClr val="002060"/>
              </a:solidFill>
              <a:round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  <p:sp>
          <p:nvSpPr>
            <p:cNvPr id="1078327" name="Text Box 55"/>
            <p:cNvSpPr txBox="1">
              <a:spLocks noChangeArrowheads="1"/>
            </p:cNvSpPr>
            <p:nvPr/>
          </p:nvSpPr>
          <p:spPr bwMode="auto">
            <a:xfrm>
              <a:off x="3409" y="3025"/>
              <a:ext cx="953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002060"/>
                  </a:solidFill>
                  <a:latin typeface="+mn-lt"/>
                  <a:ea typeface="楷体" pitchFamily="49" charset="-122"/>
                </a:rPr>
                <a:t>第三次读取</a:t>
              </a:r>
              <a:r>
                <a:rPr lang="en-US" altLang="zh-CN" sz="1800" b="1" dirty="0">
                  <a:solidFill>
                    <a:srgbClr val="002060"/>
                  </a:solidFill>
                  <a:ea typeface="楷体" pitchFamily="49" charset="-122"/>
                </a:rPr>
                <a:t>       </a:t>
              </a:r>
              <a:r>
                <a:rPr lang="en-US" altLang="zh-CN" sz="1800" b="1" dirty="0">
                  <a:solidFill>
                    <a:schemeClr val="accent1">
                      <a:lumMod val="50000"/>
                    </a:schemeClr>
                  </a:solidFill>
                  <a:ea typeface="楷体" pitchFamily="49" charset="-122"/>
                </a:rPr>
                <a:t>"</a:t>
              </a:r>
              <a:r>
                <a:rPr lang="en-US" altLang="zh-CN" sz="1800" b="1" dirty="0" err="1">
                  <a:solidFill>
                    <a:schemeClr val="accent1">
                      <a:lumMod val="50000"/>
                    </a:schemeClr>
                  </a:solidFill>
                  <a:latin typeface="+mn-lt"/>
                  <a:ea typeface="楷体" pitchFamily="49" charset="-122"/>
                </a:rPr>
                <a:t>abcd</a:t>
              </a:r>
              <a:r>
                <a:rPr lang="en-US" altLang="zh-CN" sz="1800" b="1" dirty="0">
                  <a:solidFill>
                    <a:schemeClr val="accent1">
                      <a:lumMod val="50000"/>
                    </a:schemeClr>
                  </a:solidFill>
                  <a:latin typeface="+mn-lt"/>
                  <a:ea typeface="楷体" pitchFamily="49" charset="-122"/>
                </a:rPr>
                <a:t>"</a:t>
              </a:r>
            </a:p>
          </p:txBody>
        </p:sp>
      </p:grpSp>
      <p:sp>
        <p:nvSpPr>
          <p:cNvPr id="1078329" name="Rectangle 57"/>
          <p:cNvSpPr>
            <a:spLocks noChangeArrowheads="1"/>
          </p:cNvSpPr>
          <p:nvPr/>
        </p:nvSpPr>
        <p:spPr bwMode="auto">
          <a:xfrm>
            <a:off x="8199386" y="5758805"/>
            <a:ext cx="7762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000" b="1" dirty="0" err="1">
                <a:solidFill>
                  <a:srgbClr val="002060"/>
                </a:solidFill>
              </a:rPr>
              <a:t>abcd</a:t>
            </a:r>
            <a:endParaRPr lang="en-US" altLang="zh-CN" sz="20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78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78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783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782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782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783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10783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0" dur="500"/>
                                        <p:tgtEl>
                                          <p:spTgt spid="10783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782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782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0" dur="500"/>
                                        <p:tgtEl>
                                          <p:spTgt spid="10783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782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782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10783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4" dur="500"/>
                                        <p:tgtEl>
                                          <p:spTgt spid="10783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8" dur="500"/>
                                        <p:tgtEl>
                                          <p:spTgt spid="10783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0782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782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78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78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782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0782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9" dur="500"/>
                                        <p:tgtEl>
                                          <p:spTgt spid="10783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3" dur="500"/>
                                        <p:tgtEl>
                                          <p:spTgt spid="10783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7" dur="500"/>
                                        <p:tgtEl>
                                          <p:spTgt spid="10783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0782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0782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078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078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0782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0782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0782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0782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29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07829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07829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8307" grpId="0" animBg="1"/>
      <p:bldP spid="1078308" grpId="0" animBg="1"/>
      <p:bldP spid="1078315" grpId="0" animBg="1"/>
      <p:bldP spid="1078323" grpId="0"/>
      <p:bldP spid="1078324" grpId="0" animBg="1"/>
      <p:bldP spid="107832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333" name="Rectangle 13"/>
          <p:cNvSpPr>
            <a:spLocks noChangeArrowheads="1"/>
          </p:cNvSpPr>
          <p:nvPr/>
        </p:nvSpPr>
        <p:spPr bwMode="auto">
          <a:xfrm>
            <a:off x="839416" y="917912"/>
            <a:ext cx="84248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US" altLang="zh-CN" b="1">
                <a:solidFill>
                  <a:srgbClr val="CC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lang="zh-CN" altLang="en-US" b="1">
                <a:solidFill>
                  <a:srgbClr val="CC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>
                <a:solidFill>
                  <a:srgbClr val="CC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4】</a:t>
            </a:r>
            <a:r>
              <a:rPr lang="zh-CN" altLang="en-US" b="1">
                <a:solidFill>
                  <a:srgbClr val="CC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利用字符串读写函数实现文件拷贝。</a:t>
            </a:r>
          </a:p>
        </p:txBody>
      </p:sp>
      <p:sp>
        <p:nvSpPr>
          <p:cNvPr id="1080322" name="Rectangle 2" descr="信纸"/>
          <p:cNvSpPr>
            <a:spLocks noChangeArrowheads="1"/>
          </p:cNvSpPr>
          <p:nvPr/>
        </p:nvSpPr>
        <p:spPr bwMode="auto">
          <a:xfrm>
            <a:off x="407368" y="836712"/>
            <a:ext cx="6765185" cy="5940088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none" anchor="ctr">
            <a:spAutoFit/>
          </a:bodyPr>
          <a:lstStyle/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a typeface="楷体_GB2312" pitchFamily="49" charset="-122"/>
              </a:rPr>
              <a:t>stdio.h</a:t>
            </a:r>
            <a:r>
              <a:rPr lang="en-US" altLang="zh-CN" sz="2000" b="1" dirty="0">
                <a:ea typeface="楷体_GB2312" pitchFamily="49" charset="-122"/>
              </a:rPr>
              <a:t>&gt;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a typeface="楷体_GB2312" pitchFamily="49" charset="-122"/>
              </a:rPr>
              <a:t>stdlib.h</a:t>
            </a:r>
            <a:r>
              <a:rPr lang="en-US" altLang="zh-CN" sz="2000" b="1" dirty="0">
                <a:ea typeface="楷体_GB2312" pitchFamily="49" charset="-122"/>
              </a:rPr>
              <a:t>&gt;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 main (</a:t>
            </a:r>
            <a:r>
              <a:rPr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 </a:t>
            </a:r>
            <a:r>
              <a:rPr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argc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, char *</a:t>
            </a:r>
            <a:r>
              <a:rPr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argv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[ ])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{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rgbClr val="002060"/>
                </a:solidFill>
                <a:ea typeface="楷体_GB2312" pitchFamily="49" charset="-122"/>
              </a:rPr>
              <a:t>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//input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：源文件指针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, output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：目标文件指针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>
                <a:ea typeface="楷体_GB2312" pitchFamily="49" charset="-122"/>
              </a:rPr>
              <a:t>FILE *input, *output;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char string[81];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if (</a:t>
            </a:r>
            <a:r>
              <a:rPr lang="en-US" altLang="zh-CN" sz="2000" b="1" dirty="0" err="1">
                <a:ea typeface="楷体_GB2312" pitchFamily="49" charset="-122"/>
              </a:rPr>
              <a:t>argc</a:t>
            </a:r>
            <a:r>
              <a:rPr lang="en-US" altLang="zh-CN" sz="2000" b="1" dirty="0">
                <a:ea typeface="楷体_GB2312" pitchFamily="49" charset="-122"/>
              </a:rPr>
              <a:t> != 3)  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参数个数不对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>
                <a:ea typeface="楷体_GB2312" pitchFamily="49" charset="-122"/>
              </a:rPr>
              <a:t>{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("the number of arguments not correct\n");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("\n Usage:  </a:t>
            </a:r>
            <a:r>
              <a:rPr lang="zh-CN" altLang="en-US" sz="2000" b="1" dirty="0">
                <a:latin typeface="+mn-lt"/>
                <a:ea typeface="楷体" pitchFamily="49" charset="-122"/>
              </a:rPr>
              <a:t>可执行文件名  </a:t>
            </a:r>
            <a:r>
              <a:rPr lang="en-US" altLang="zh-CN" sz="2000" b="1" dirty="0">
                <a:ea typeface="楷体_GB2312" pitchFamily="49" charset="-122"/>
              </a:rPr>
              <a:t>source-file  </a:t>
            </a:r>
            <a:r>
              <a:rPr lang="en-US" altLang="zh-CN" sz="2000" b="1" dirty="0" err="1">
                <a:ea typeface="楷体_GB2312" pitchFamily="49" charset="-122"/>
              </a:rPr>
              <a:t>dest</a:t>
            </a:r>
            <a:r>
              <a:rPr lang="en-US" altLang="zh-CN" sz="2000" b="1" dirty="0">
                <a:ea typeface="楷体_GB2312" pitchFamily="49" charset="-122"/>
              </a:rPr>
              <a:t>-file");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exit (0);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}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ea typeface="楷体_GB2312" pitchFamily="49" charset="-122"/>
              </a:rPr>
              <a:t>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打开源文件失败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>
                <a:ea typeface="楷体_GB2312" pitchFamily="49" charset="-122"/>
              </a:rPr>
              <a:t>if ((input = </a:t>
            </a:r>
            <a:r>
              <a:rPr lang="en-US" altLang="zh-CN" sz="2000" b="1" dirty="0" err="1">
                <a:ea typeface="楷体_GB2312" pitchFamily="49" charset="-122"/>
              </a:rPr>
              <a:t>fopen</a:t>
            </a:r>
            <a:r>
              <a:rPr lang="en-US" altLang="zh-CN" sz="2000" b="1" dirty="0">
                <a:ea typeface="楷体_GB2312" pitchFamily="49" charset="-122"/>
              </a:rPr>
              <a:t>(</a:t>
            </a:r>
            <a:r>
              <a:rPr lang="en-US" altLang="zh-CN" sz="2000" b="1" dirty="0" err="1">
                <a:ea typeface="楷体_GB2312" pitchFamily="49" charset="-122"/>
              </a:rPr>
              <a:t>argv</a:t>
            </a:r>
            <a:r>
              <a:rPr lang="en-US" altLang="zh-CN" sz="2000" b="1" dirty="0">
                <a:ea typeface="楷体_GB2312" pitchFamily="49" charset="-122"/>
              </a:rPr>
              <a:t>[1],"r")) == NULL)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{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("can not open source file\n");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exit (0);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}</a:t>
            </a:r>
            <a:r>
              <a:rPr lang="en-US" altLang="zh-CN" sz="2000" dirty="0">
                <a:ea typeface="楷体_GB2312" pitchFamily="49" charset="-122"/>
              </a:rPr>
              <a:t> </a:t>
            </a:r>
          </a:p>
        </p:txBody>
      </p:sp>
      <p:sp>
        <p:nvSpPr>
          <p:cNvPr id="1080345" name="Rectangle 25" descr="信纸"/>
          <p:cNvSpPr>
            <a:spLocks noChangeArrowheads="1"/>
          </p:cNvSpPr>
          <p:nvPr/>
        </p:nvSpPr>
        <p:spPr bwMode="auto">
          <a:xfrm>
            <a:off x="6822143" y="1916832"/>
            <a:ext cx="5121915" cy="440120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none" anchor="ctr">
            <a:spAutoFit/>
          </a:bodyPr>
          <a:lstStyle/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chemeClr val="accent2"/>
                </a:solidFill>
              </a:rPr>
              <a:t>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创建目标文件失败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>
                <a:ea typeface="楷体_GB2312" pitchFamily="49" charset="-122"/>
              </a:rPr>
              <a:t>if ((output = </a:t>
            </a:r>
            <a:r>
              <a:rPr lang="en-US" altLang="zh-CN" sz="2000" b="1" dirty="0" err="1">
                <a:ea typeface="楷体_GB2312" pitchFamily="49" charset="-122"/>
              </a:rPr>
              <a:t>fopen</a:t>
            </a:r>
            <a:r>
              <a:rPr lang="en-US" altLang="zh-CN" sz="2000" b="1" dirty="0">
                <a:ea typeface="楷体_GB2312" pitchFamily="49" charset="-122"/>
              </a:rPr>
              <a:t>(</a:t>
            </a:r>
            <a:r>
              <a:rPr lang="en-US" altLang="zh-CN" sz="2000" b="1" dirty="0" err="1">
                <a:ea typeface="楷体_GB2312" pitchFamily="49" charset="-122"/>
              </a:rPr>
              <a:t>argv</a:t>
            </a:r>
            <a:r>
              <a:rPr lang="en-US" altLang="zh-CN" sz="2000" b="1" dirty="0">
                <a:ea typeface="楷体_GB2312" pitchFamily="49" charset="-122"/>
              </a:rPr>
              <a:t>[2],"w")) == NULL)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{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("can not create destination file\n");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exit (0);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}</a:t>
            </a:r>
          </a:p>
          <a:p>
            <a:pPr marL="457200" indent="-457200">
              <a:tabLst>
                <a:tab pos="914400" algn="l"/>
              </a:tabLst>
            </a:pPr>
            <a:endParaRPr lang="en-US" altLang="zh-CN" sz="2000" b="1" dirty="0">
              <a:ea typeface="楷体_GB2312" pitchFamily="49" charset="-122"/>
            </a:endParaRP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ea typeface="楷体_GB2312" pitchFamily="49" charset="-122"/>
              </a:rPr>
              <a:t>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复制源文件到目标文件中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>
                <a:ea typeface="楷体_GB2312" pitchFamily="49" charset="-122"/>
              </a:rPr>
              <a:t>while (</a:t>
            </a:r>
            <a:r>
              <a:rPr lang="en-US" altLang="zh-CN" sz="2000" b="1" dirty="0" err="1">
                <a:solidFill>
                  <a:srgbClr val="C00000"/>
                </a:solidFill>
                <a:ea typeface="楷体_GB2312" pitchFamily="49" charset="-122"/>
              </a:rPr>
              <a:t>fgets</a:t>
            </a:r>
            <a:r>
              <a:rPr lang="en-US" altLang="zh-CN" sz="2000" b="1" dirty="0">
                <a:solidFill>
                  <a:srgbClr val="C00000"/>
                </a:solidFill>
                <a:ea typeface="楷体_GB2312" pitchFamily="49" charset="-122"/>
              </a:rPr>
              <a:t>(string, 81, input) </a:t>
            </a:r>
            <a:r>
              <a:rPr lang="en-US" altLang="zh-CN" sz="2000" b="1" dirty="0">
                <a:ea typeface="楷体_GB2312" pitchFamily="49" charset="-122"/>
              </a:rPr>
              <a:t>!= NULL)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  </a:t>
            </a:r>
            <a:r>
              <a:rPr lang="en-US" altLang="zh-CN" sz="2000" b="1" dirty="0" err="1">
                <a:solidFill>
                  <a:srgbClr val="C00000"/>
                </a:solidFill>
                <a:ea typeface="楷体_GB2312" pitchFamily="49" charset="-122"/>
              </a:rPr>
              <a:t>fputs</a:t>
            </a:r>
            <a:r>
              <a:rPr lang="en-US" altLang="zh-CN" sz="2000" b="1" dirty="0">
                <a:solidFill>
                  <a:srgbClr val="C00000"/>
                </a:solidFill>
                <a:ea typeface="楷体_GB2312" pitchFamily="49" charset="-122"/>
              </a:rPr>
              <a:t> (string, output);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fclose</a:t>
            </a:r>
            <a:r>
              <a:rPr lang="en-US" altLang="zh-CN" sz="2000" b="1" dirty="0">
                <a:ea typeface="楷体_GB2312" pitchFamily="49" charset="-122"/>
              </a:rPr>
              <a:t> (input);   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关闭源文件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fclose</a:t>
            </a:r>
            <a:r>
              <a:rPr lang="en-US" altLang="zh-CN" sz="2000" b="1" dirty="0">
                <a:ea typeface="楷体_GB2312" pitchFamily="49" charset="-122"/>
              </a:rPr>
              <a:t> (output);  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关闭目标文件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return 0;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4608F430-7D3F-4F61-A25D-3939372C3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12.5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文件的打开、读写和关闭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803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803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0322" grpId="0" animBg="1"/>
      <p:bldP spid="108034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373" name="Rectangle 5"/>
          <p:cNvSpPr>
            <a:spLocks noChangeArrowheads="1"/>
          </p:cNvSpPr>
          <p:nvPr/>
        </p:nvSpPr>
        <p:spPr bwMode="auto">
          <a:xfrm>
            <a:off x="730306" y="1486659"/>
            <a:ext cx="5612434" cy="461665"/>
          </a:xfrm>
          <a:prstGeom prst="rect">
            <a:avLst/>
          </a:prstGeom>
          <a:noFill/>
          <a:ln>
            <a:noFill/>
            <a:headEnd/>
            <a:tailEnd/>
          </a:ln>
          <a:effectLst/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pPr marL="457200" indent="-457200">
              <a:tabLst>
                <a:tab pos="457200" algn="l"/>
              </a:tabLst>
            </a:pP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(3) </a:t>
            </a:r>
            <a:r>
              <a:rPr lang="zh-CN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数据块读写函数：</a:t>
            </a:r>
            <a:r>
              <a:rPr lang="en-US" altLang="zh-CN" b="1" dirty="0" err="1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fread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 </a:t>
            </a:r>
            <a:r>
              <a:rPr lang="en-US" altLang="zh-CN" b="1" dirty="0" err="1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fwrite</a:t>
            </a:r>
            <a:endParaRPr lang="en-US" altLang="zh-CN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82374" name="Rectangle 6"/>
          <p:cNvSpPr>
            <a:spLocks noChangeArrowheads="1"/>
          </p:cNvSpPr>
          <p:nvPr/>
        </p:nvSpPr>
        <p:spPr bwMode="auto">
          <a:xfrm>
            <a:off x="1199456" y="2102480"/>
            <a:ext cx="1397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 typeface="Wingdings" pitchFamily="2" charset="2"/>
              <a:buChar char="Ø"/>
              <a:tabLst>
                <a:tab pos="496888" algn="l"/>
              </a:tabLst>
            </a:pPr>
            <a:r>
              <a:rPr lang="en-US" altLang="zh-CN" b="1" dirty="0">
                <a:solidFill>
                  <a:srgbClr val="C00000"/>
                </a:solidFill>
                <a:ea typeface="楷体_GB2312" pitchFamily="49" charset="-122"/>
              </a:rPr>
              <a:t> </a:t>
            </a:r>
            <a:r>
              <a:rPr lang="en-US" altLang="zh-CN" b="1" dirty="0" err="1">
                <a:solidFill>
                  <a:srgbClr val="C00000"/>
                </a:solidFill>
                <a:ea typeface="楷体_GB2312" pitchFamily="49" charset="-122"/>
              </a:rPr>
              <a:t>fread</a:t>
            </a:r>
            <a:endParaRPr lang="en-US" altLang="zh-CN" b="1" dirty="0">
              <a:solidFill>
                <a:srgbClr val="C00000"/>
              </a:solidFill>
              <a:ea typeface="楷体_GB2312" pitchFamily="49" charset="-122"/>
            </a:endParaRPr>
          </a:p>
        </p:txBody>
      </p:sp>
      <p:sp>
        <p:nvSpPr>
          <p:cNvPr id="1082375" name="Rectangle 7"/>
          <p:cNvSpPr>
            <a:spLocks noChangeArrowheads="1"/>
          </p:cNvSpPr>
          <p:nvPr/>
        </p:nvSpPr>
        <p:spPr bwMode="auto">
          <a:xfrm>
            <a:off x="1529656" y="2749947"/>
            <a:ext cx="21605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C00000"/>
              </a:buClr>
              <a:buFont typeface="Wingdings" pitchFamily="2" charset="2"/>
              <a:buChar char="l"/>
            </a:pPr>
            <a:r>
              <a:rPr lang="en-US" altLang="zh-CN" b="1" dirty="0">
                <a:latin typeface="+mn-lt"/>
                <a:ea typeface="楷体" pitchFamily="49" charset="-122"/>
              </a:rPr>
              <a:t> </a:t>
            </a:r>
            <a:r>
              <a:rPr lang="zh-CN" altLang="zh-CN" b="1" dirty="0">
                <a:latin typeface="+mn-lt"/>
                <a:ea typeface="楷体" pitchFamily="49" charset="-122"/>
              </a:rPr>
              <a:t>函数原形：         </a:t>
            </a:r>
            <a:endParaRPr lang="zh-CN" altLang="en-US" b="1" dirty="0">
              <a:latin typeface="+mn-lt"/>
              <a:ea typeface="楷体" pitchFamily="49" charset="-122"/>
            </a:endParaRPr>
          </a:p>
        </p:txBody>
      </p:sp>
      <p:sp>
        <p:nvSpPr>
          <p:cNvPr id="1082376" name="Text Box 8"/>
          <p:cNvSpPr txBox="1">
            <a:spLocks noChangeArrowheads="1"/>
          </p:cNvSpPr>
          <p:nvPr/>
        </p:nvSpPr>
        <p:spPr bwMode="auto">
          <a:xfrm>
            <a:off x="1883730" y="3238888"/>
            <a:ext cx="8424540" cy="431800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en-US" altLang="zh-CN" sz="2000" b="1" dirty="0"/>
              <a:t>unsigned  </a:t>
            </a:r>
            <a:r>
              <a:rPr lang="en-US" altLang="zh-CN" sz="2000" b="1" dirty="0" err="1">
                <a:solidFill>
                  <a:srgbClr val="C00000"/>
                </a:solidFill>
              </a:rPr>
              <a:t>fread</a:t>
            </a:r>
            <a:r>
              <a:rPr lang="en-US" altLang="zh-CN" sz="2000" b="1" dirty="0"/>
              <a:t> (void *</a:t>
            </a:r>
            <a:r>
              <a:rPr lang="en-US" altLang="zh-CN" sz="2000" b="1" dirty="0" err="1"/>
              <a:t>ptr</a:t>
            </a:r>
            <a:r>
              <a:rPr lang="en-US" altLang="zh-CN" sz="2000" b="1" dirty="0"/>
              <a:t>, unsigned size, unsigned n, FILE *</a:t>
            </a:r>
            <a:r>
              <a:rPr lang="en-US" altLang="zh-CN" sz="2000" b="1" dirty="0" err="1"/>
              <a:t>filepointer</a:t>
            </a:r>
            <a:r>
              <a:rPr lang="en-US" altLang="zh-CN" sz="2000" b="1" dirty="0"/>
              <a:t>);</a:t>
            </a:r>
          </a:p>
        </p:txBody>
      </p:sp>
      <p:sp>
        <p:nvSpPr>
          <p:cNvPr id="1082377" name="Rectangle 9"/>
          <p:cNvSpPr>
            <a:spLocks noChangeArrowheads="1"/>
          </p:cNvSpPr>
          <p:nvPr/>
        </p:nvSpPr>
        <p:spPr bwMode="auto">
          <a:xfrm>
            <a:off x="1529656" y="3933056"/>
            <a:ext cx="9390880" cy="25203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lnSpc>
                <a:spcPts val="3200"/>
              </a:lnSpc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+mn-lt"/>
                <a:ea typeface="楷体" pitchFamily="49" charset="-122"/>
              </a:rPr>
              <a:t>功能：从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filepointer</a:t>
            </a:r>
            <a:r>
              <a:rPr lang="zh-CN" altLang="en-US" b="1" dirty="0">
                <a:latin typeface="+mn-lt"/>
                <a:ea typeface="楷体" pitchFamily="49" charset="-122"/>
              </a:rPr>
              <a:t>所指向的文件中读取</a:t>
            </a:r>
            <a:r>
              <a:rPr lang="en-US" altLang="zh-CN" b="1" dirty="0">
                <a:latin typeface="+mn-lt"/>
                <a:ea typeface="楷体" pitchFamily="49" charset="-122"/>
              </a:rPr>
              <a:t>n</a:t>
            </a:r>
            <a:r>
              <a:rPr lang="zh-CN" altLang="en-US" b="1" dirty="0">
                <a:latin typeface="+mn-lt"/>
                <a:ea typeface="楷体" pitchFamily="49" charset="-122"/>
              </a:rPr>
              <a:t>个数据项，每个数据项的大小是</a:t>
            </a:r>
            <a:r>
              <a:rPr lang="en-US" altLang="zh-CN" b="1" dirty="0">
                <a:latin typeface="+mn-lt"/>
                <a:ea typeface="楷体" pitchFamily="49" charset="-122"/>
              </a:rPr>
              <a:t>size</a:t>
            </a:r>
            <a:r>
              <a:rPr lang="zh-CN" altLang="en-US" b="1" dirty="0">
                <a:latin typeface="+mn-lt"/>
                <a:ea typeface="楷体" pitchFamily="49" charset="-122"/>
              </a:rPr>
              <a:t>个字节，这些数据将被存放到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ptr</a:t>
            </a:r>
            <a:r>
              <a:rPr lang="zh-CN" altLang="en-US" b="1" dirty="0">
                <a:latin typeface="+mn-lt"/>
                <a:ea typeface="楷体" pitchFamily="49" charset="-122"/>
              </a:rPr>
              <a:t>所指向的内存中。同时，将读写位置指针向前移动</a:t>
            </a:r>
            <a:r>
              <a:rPr lang="en-US" altLang="zh-CN" b="1" dirty="0">
                <a:latin typeface="+mn-lt"/>
                <a:ea typeface="楷体" pitchFamily="49" charset="-122"/>
              </a:rPr>
              <a:t>n*size</a:t>
            </a:r>
            <a:r>
              <a:rPr lang="zh-CN" altLang="en-US" b="1" dirty="0">
                <a:latin typeface="+mn-lt"/>
                <a:ea typeface="楷体" pitchFamily="49" charset="-122"/>
              </a:rPr>
              <a:t>个字节。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pPr>
              <a:lnSpc>
                <a:spcPts val="3200"/>
              </a:lnSpc>
              <a:buClr>
                <a:srgbClr val="339933"/>
              </a:buClr>
            </a:pP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  <a:endParaRPr lang="zh-CN" altLang="en-US" b="1" dirty="0">
              <a:latin typeface="+mn-lt"/>
              <a:ea typeface="楷体" pitchFamily="49" charset="-122"/>
            </a:endParaRPr>
          </a:p>
          <a:p>
            <a:pPr marL="342900" indent="-342900">
              <a:lnSpc>
                <a:spcPts val="3200"/>
              </a:lnSpc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+mn-lt"/>
                <a:ea typeface="楷体" pitchFamily="49" charset="-122"/>
              </a:rPr>
              <a:t>返值：如果操作成功，则函数返回值就是读取的数据项的个数（不是字节的个数）；如果操作出错或遇到文件尾，则返回</a:t>
            </a:r>
            <a:r>
              <a:rPr lang="en-US" altLang="zh-CN" b="1" dirty="0">
                <a:latin typeface="+mn-lt"/>
                <a:ea typeface="楷体" pitchFamily="49" charset="-122"/>
              </a:rPr>
              <a:t>0</a:t>
            </a:r>
            <a:r>
              <a:rPr lang="zh-CN" altLang="en-US" b="1" dirty="0">
                <a:latin typeface="+mn-lt"/>
                <a:ea typeface="楷体" pitchFamily="49" charset="-122"/>
              </a:rPr>
              <a:t>。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046AEBAC-F934-4560-820E-5C41073040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12.5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文件的打开、读写和关闭 </a:t>
            </a:r>
          </a:p>
        </p:txBody>
      </p:sp>
      <p:sp>
        <p:nvSpPr>
          <p:cNvPr id="17" name="Rectangle 35">
            <a:extLst>
              <a:ext uri="{FF2B5EF4-FFF2-40B4-BE49-F238E27FC236}">
                <a16:creationId xmlns:a16="http://schemas.microsoft.com/office/drawing/2014/main" id="{2351A8CF-93C8-46F2-9BC3-A18FB4F4A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41" y="885126"/>
            <a:ext cx="271099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、文件的读写 </a:t>
            </a:r>
          </a:p>
        </p:txBody>
      </p:sp>
    </p:spTree>
    <p:extLst>
      <p:ext uri="{BB962C8B-B14F-4D97-AF65-F5344CB8AC3E}">
        <p14:creationId xmlns:p14="http://schemas.microsoft.com/office/powerpoint/2010/main" val="2316562238"/>
      </p:ext>
    </p:extLst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82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82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823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82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0823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0823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10823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10823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10823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2373" grpId="0"/>
      <p:bldP spid="1082374" grpId="0"/>
      <p:bldP spid="1082375" grpId="0"/>
      <p:bldP spid="108237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373" name="Rectangle 5"/>
          <p:cNvSpPr>
            <a:spLocks noChangeArrowheads="1"/>
          </p:cNvSpPr>
          <p:nvPr/>
        </p:nvSpPr>
        <p:spPr bwMode="auto">
          <a:xfrm>
            <a:off x="702147" y="1589631"/>
            <a:ext cx="5612434" cy="461665"/>
          </a:xfrm>
          <a:prstGeom prst="rect">
            <a:avLst/>
          </a:prstGeom>
          <a:noFill/>
          <a:ln>
            <a:noFill/>
            <a:headEnd/>
            <a:tailEnd/>
          </a:ln>
          <a:effectLst/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pPr marL="457200" indent="-457200">
              <a:tabLst>
                <a:tab pos="457200" algn="l"/>
              </a:tabLst>
            </a:pP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(3) </a:t>
            </a:r>
            <a:r>
              <a:rPr lang="zh-CN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数据块读写函数：</a:t>
            </a:r>
            <a:r>
              <a:rPr lang="en-US" altLang="zh-CN" b="1" dirty="0" err="1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fread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 </a:t>
            </a:r>
            <a:r>
              <a:rPr lang="en-US" altLang="zh-CN" b="1" dirty="0" err="1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fwrite</a:t>
            </a:r>
            <a:endParaRPr lang="en-US" altLang="zh-CN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AFCD8935-859C-4A7E-BC5B-051C5A2FF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55" y="2148535"/>
            <a:ext cx="1397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 typeface="Wingdings" pitchFamily="2" charset="2"/>
              <a:buChar char="Ø"/>
              <a:tabLst>
                <a:tab pos="496888" algn="l"/>
              </a:tabLst>
            </a:pPr>
            <a:r>
              <a:rPr lang="en-US" altLang="zh-CN" b="1" dirty="0">
                <a:solidFill>
                  <a:srgbClr val="C00000"/>
                </a:solidFill>
                <a:ea typeface="楷体_GB2312" pitchFamily="49" charset="-122"/>
              </a:rPr>
              <a:t> </a:t>
            </a:r>
            <a:r>
              <a:rPr lang="en-US" altLang="zh-CN" b="1" dirty="0" err="1">
                <a:solidFill>
                  <a:srgbClr val="C00000"/>
                </a:solidFill>
                <a:ea typeface="楷体_GB2312" pitchFamily="49" charset="-122"/>
              </a:rPr>
              <a:t>fwrite</a:t>
            </a:r>
            <a:endParaRPr lang="en-US" altLang="zh-CN" b="1" dirty="0">
              <a:solidFill>
                <a:srgbClr val="C00000"/>
              </a:solidFill>
              <a:ea typeface="楷体_GB2312" pitchFamily="49" charset="-122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9E9E8CEF-6DA4-4BAF-B1EA-31E93C5A4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8484" y="2780928"/>
            <a:ext cx="21605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C00000"/>
              </a:buClr>
              <a:buFont typeface="Wingdings" pitchFamily="2" charset="2"/>
              <a:buChar char="l"/>
            </a:pPr>
            <a:r>
              <a:rPr lang="en-US" altLang="zh-CN" b="1" dirty="0">
                <a:latin typeface="+mn-lt"/>
                <a:ea typeface="楷体" pitchFamily="49" charset="-122"/>
              </a:rPr>
              <a:t> </a:t>
            </a:r>
            <a:r>
              <a:rPr lang="zh-CN" altLang="zh-CN" b="1" dirty="0">
                <a:latin typeface="+mn-lt"/>
                <a:ea typeface="楷体" pitchFamily="49" charset="-122"/>
              </a:rPr>
              <a:t>函数原形：         </a:t>
            </a:r>
            <a:endParaRPr lang="zh-CN" altLang="en-US" b="1" dirty="0">
              <a:latin typeface="+mn-lt"/>
              <a:ea typeface="楷体" pitchFamily="49" charset="-122"/>
            </a:endParaRPr>
          </a:p>
        </p:txBody>
      </p:sp>
      <p:sp>
        <p:nvSpPr>
          <p:cNvPr id="12" name="Text Box 8">
            <a:extLst>
              <a:ext uri="{FF2B5EF4-FFF2-40B4-BE49-F238E27FC236}">
                <a16:creationId xmlns:a16="http://schemas.microsoft.com/office/drawing/2014/main" id="{D56AE6C3-1FC6-4343-8BD4-F18CB8F106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9810" y="3283619"/>
            <a:ext cx="8388350" cy="431800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en-US" altLang="zh-CN" sz="2000" b="1" dirty="0"/>
              <a:t>unsigned </a:t>
            </a:r>
            <a:r>
              <a:rPr lang="en-US" altLang="zh-CN" sz="2000" b="1" dirty="0">
                <a:solidFill>
                  <a:srgbClr val="C00000"/>
                </a:solidFill>
              </a:rPr>
              <a:t> </a:t>
            </a:r>
            <a:r>
              <a:rPr lang="en-US" altLang="zh-CN" sz="2000" b="1" dirty="0" err="1">
                <a:solidFill>
                  <a:srgbClr val="C00000"/>
                </a:solidFill>
              </a:rPr>
              <a:t>fwrite</a:t>
            </a:r>
            <a:r>
              <a:rPr lang="en-US" altLang="zh-CN" sz="2000" b="1" dirty="0">
                <a:solidFill>
                  <a:srgbClr val="C00000"/>
                </a:solidFill>
              </a:rPr>
              <a:t> </a:t>
            </a:r>
            <a:r>
              <a:rPr lang="en-US" altLang="zh-CN" sz="2000" b="1" dirty="0"/>
              <a:t>(void *</a:t>
            </a:r>
            <a:r>
              <a:rPr lang="en-US" altLang="zh-CN" sz="2000" b="1" dirty="0" err="1"/>
              <a:t>ptr</a:t>
            </a:r>
            <a:r>
              <a:rPr lang="en-US" altLang="zh-CN" sz="2000" b="1" dirty="0"/>
              <a:t>, unsigned size, unsigned n, FILE *</a:t>
            </a:r>
            <a:r>
              <a:rPr lang="en-US" altLang="zh-CN" sz="2000" b="1" dirty="0" err="1"/>
              <a:t>filepointer</a:t>
            </a:r>
            <a:r>
              <a:rPr lang="en-US" altLang="zh-CN" sz="2000" b="1" dirty="0"/>
              <a:t>);</a:t>
            </a: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78A0E4E4-93EC-4070-89B9-E245C41FB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8483" y="3866272"/>
            <a:ext cx="10370165" cy="2123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rgbClr val="C0192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+mn-lt"/>
                <a:ea typeface="楷体" pitchFamily="49" charset="-122"/>
              </a:rPr>
              <a:t>功能：将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ptr</a:t>
            </a:r>
            <a:r>
              <a:rPr lang="zh-CN" altLang="en-US" b="1" dirty="0">
                <a:latin typeface="+mn-lt"/>
                <a:ea typeface="楷体" pitchFamily="49" charset="-122"/>
              </a:rPr>
              <a:t>所指向的内存中存放的</a:t>
            </a:r>
            <a:r>
              <a:rPr lang="en-US" altLang="zh-CN" b="1" dirty="0">
                <a:latin typeface="+mn-lt"/>
                <a:ea typeface="楷体" pitchFamily="49" charset="-122"/>
              </a:rPr>
              <a:t>n</a:t>
            </a:r>
            <a:r>
              <a:rPr lang="zh-CN" altLang="en-US" b="1" dirty="0">
                <a:latin typeface="+mn-lt"/>
                <a:ea typeface="楷体" pitchFamily="49" charset="-122"/>
              </a:rPr>
              <a:t>个大小为</a:t>
            </a:r>
            <a:r>
              <a:rPr lang="en-US" altLang="zh-CN" b="1" dirty="0">
                <a:latin typeface="+mn-lt"/>
                <a:ea typeface="楷体" pitchFamily="49" charset="-122"/>
              </a:rPr>
              <a:t>size</a:t>
            </a:r>
            <a:r>
              <a:rPr lang="zh-CN" altLang="en-US" b="1" dirty="0">
                <a:latin typeface="+mn-lt"/>
                <a:ea typeface="楷体" pitchFamily="49" charset="-122"/>
              </a:rPr>
              <a:t>个字节的数据项写入到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filepointer</a:t>
            </a:r>
            <a:r>
              <a:rPr lang="zh-CN" altLang="en-US" b="1" dirty="0">
                <a:latin typeface="+mn-lt"/>
                <a:ea typeface="楷体" pitchFamily="49" charset="-122"/>
              </a:rPr>
              <a:t>所指向的文件中，实际要写入数据的字节数是</a:t>
            </a:r>
            <a:r>
              <a:rPr lang="en-US" altLang="zh-CN" b="1" dirty="0">
                <a:latin typeface="+mn-lt"/>
                <a:ea typeface="楷体" pitchFamily="49" charset="-122"/>
              </a:rPr>
              <a:t>n*size</a:t>
            </a:r>
            <a:r>
              <a:rPr lang="zh-CN" altLang="en-US" b="1" dirty="0">
                <a:latin typeface="+mn-lt"/>
                <a:ea typeface="楷体" pitchFamily="49" charset="-122"/>
              </a:rPr>
              <a:t>。同时，将读写位置指针向前移动</a:t>
            </a:r>
            <a:r>
              <a:rPr lang="en-US" altLang="zh-CN" b="1" dirty="0">
                <a:latin typeface="+mn-lt"/>
                <a:ea typeface="楷体" pitchFamily="49" charset="-122"/>
              </a:rPr>
              <a:t>n*size</a:t>
            </a:r>
            <a:r>
              <a:rPr lang="zh-CN" altLang="en-US" b="1" dirty="0">
                <a:latin typeface="+mn-lt"/>
                <a:ea typeface="楷体" pitchFamily="49" charset="-122"/>
              </a:rPr>
              <a:t>个字节。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pPr>
              <a:buClr>
                <a:srgbClr val="339933"/>
              </a:buClr>
            </a:pPr>
            <a:endParaRPr lang="en-US" altLang="zh-CN" sz="1050" b="1" dirty="0">
              <a:latin typeface="+mn-lt"/>
              <a:ea typeface="楷体" pitchFamily="49" charset="-122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+mn-lt"/>
                <a:ea typeface="楷体" pitchFamily="49" charset="-122"/>
              </a:rPr>
              <a:t>返值：如果操作成功，则函数返回值就是实际写入的数据项的个数（不是字节的个数）；如果操作出错，则返回</a:t>
            </a:r>
            <a:r>
              <a:rPr lang="en-US" altLang="zh-CN" b="1" dirty="0">
                <a:latin typeface="+mn-lt"/>
                <a:ea typeface="楷体" pitchFamily="49" charset="-122"/>
              </a:rPr>
              <a:t>0</a:t>
            </a:r>
            <a:r>
              <a:rPr lang="zh-CN" altLang="en-US" b="1" dirty="0">
                <a:latin typeface="+mn-lt"/>
                <a:ea typeface="楷体" pitchFamily="49" charset="-122"/>
              </a:rPr>
              <a:t>。</a:t>
            </a: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89C61510-2C91-4518-8123-97B261DF4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7955" y="6097215"/>
            <a:ext cx="9074070" cy="461665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ea typeface="隶书" pitchFamily="49" charset="-122"/>
              </a:rPr>
              <a:t>注意：</a:t>
            </a:r>
            <a:r>
              <a:rPr lang="en-US" altLang="zh-CN" b="1" dirty="0" err="1">
                <a:solidFill>
                  <a:srgbClr val="CC0000"/>
                </a:solidFill>
                <a:ea typeface="隶书" pitchFamily="49" charset="-122"/>
              </a:rPr>
              <a:t>fread</a:t>
            </a:r>
            <a:r>
              <a:rPr lang="zh-CN" altLang="en-US" b="1" dirty="0">
                <a:ea typeface="隶书" pitchFamily="49" charset="-122"/>
              </a:rPr>
              <a:t>和</a:t>
            </a:r>
            <a:r>
              <a:rPr lang="en-US" altLang="zh-CN" b="1" dirty="0" err="1">
                <a:solidFill>
                  <a:srgbClr val="CC0000"/>
                </a:solidFill>
                <a:ea typeface="隶书" pitchFamily="49" charset="-122"/>
              </a:rPr>
              <a:t>fwrite</a:t>
            </a:r>
            <a:r>
              <a:rPr lang="zh-CN" altLang="en-US" b="1" dirty="0">
                <a:ea typeface="隶书" pitchFamily="49" charset="-122"/>
              </a:rPr>
              <a:t>一般用于二进制文件的输入和输出</a:t>
            </a: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046AEBAC-F934-4560-820E-5C41073040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12.5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文件的打开、读写和关闭 </a:t>
            </a:r>
          </a:p>
        </p:txBody>
      </p:sp>
      <p:sp>
        <p:nvSpPr>
          <p:cNvPr id="17" name="Rectangle 35">
            <a:extLst>
              <a:ext uri="{FF2B5EF4-FFF2-40B4-BE49-F238E27FC236}">
                <a16:creationId xmlns:a16="http://schemas.microsoft.com/office/drawing/2014/main" id="{2351A8CF-93C8-46F2-9BC3-A18FB4F4A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41" y="885126"/>
            <a:ext cx="271099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、文件的读写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82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82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2373" grpId="0"/>
      <p:bldP spid="10" grpId="0"/>
      <p:bldP spid="11" grpId="0"/>
      <p:bldP spid="12" grpId="0" animBg="1"/>
      <p:bldP spid="1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470" name="Rectangle 6"/>
          <p:cNvSpPr>
            <a:spLocks noChangeArrowheads="1"/>
          </p:cNvSpPr>
          <p:nvPr/>
        </p:nvSpPr>
        <p:spPr bwMode="auto">
          <a:xfrm>
            <a:off x="361781" y="807095"/>
            <a:ext cx="1149485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【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5】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将一个整型数组存放到文件中，然后从文件中读取数据到数组中并显示。 </a:t>
            </a:r>
          </a:p>
        </p:txBody>
      </p:sp>
      <p:sp>
        <p:nvSpPr>
          <p:cNvPr id="1086466" name="Rectangle 2" descr="信纸"/>
          <p:cNvSpPr>
            <a:spLocks noChangeArrowheads="1"/>
          </p:cNvSpPr>
          <p:nvPr/>
        </p:nvSpPr>
        <p:spPr bwMode="auto">
          <a:xfrm>
            <a:off x="741128" y="959571"/>
            <a:ext cx="5204560" cy="53117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a typeface="楷体_GB2312" pitchFamily="49" charset="-122"/>
              </a:rPr>
              <a:t>stdio.h</a:t>
            </a:r>
            <a:r>
              <a:rPr lang="en-US" altLang="zh-CN" sz="2000" b="1" dirty="0">
                <a:ea typeface="楷体_GB2312" pitchFamily="49" charset="-122"/>
              </a:rPr>
              <a:t>&gt;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a typeface="楷体_GB2312" pitchFamily="49" charset="-122"/>
              </a:rPr>
              <a:t>stdlib.h</a:t>
            </a:r>
            <a:r>
              <a:rPr lang="en-US" altLang="zh-CN" sz="2000" b="1" dirty="0">
                <a:ea typeface="楷体_GB2312" pitchFamily="49" charset="-122"/>
              </a:rPr>
              <a:t>&gt;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a typeface="楷体_GB2312" pitchFamily="49" charset="-122"/>
              </a:rPr>
              <a:t>memory.h</a:t>
            </a:r>
            <a:r>
              <a:rPr lang="en-US" altLang="zh-CN" sz="2000" b="1" dirty="0">
                <a:ea typeface="楷体_GB2312" pitchFamily="49" charset="-122"/>
              </a:rPr>
              <a:t>&gt;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 main ( )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{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FILE *</a:t>
            </a:r>
            <a:r>
              <a:rPr lang="en-US" altLang="zh-CN" sz="2000" b="1" dirty="0" err="1">
                <a:ea typeface="楷体_GB2312" pitchFamily="49" charset="-122"/>
              </a:rPr>
              <a:t>fp</a:t>
            </a:r>
            <a:r>
              <a:rPr lang="en-US" altLang="zh-CN" sz="2000" b="1" dirty="0">
                <a:ea typeface="楷体_GB2312" pitchFamily="49" charset="-122"/>
              </a:rPr>
              <a:t>;	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short  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, a[10] = {0, 1, 2, 3, 4, 5, 6, 7, 8, 9};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创建二进制文件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wang.dat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</a:t>
            </a:r>
            <a:r>
              <a:rPr lang="en-US" altLang="zh-CN" sz="2000" b="1" dirty="0" err="1">
                <a:ea typeface="楷体_GB2312" pitchFamily="49" charset="-122"/>
              </a:rPr>
              <a:t>fp</a:t>
            </a:r>
            <a:r>
              <a:rPr lang="en-US" altLang="zh-CN" sz="2000" b="1" dirty="0">
                <a:ea typeface="楷体_GB2312" pitchFamily="49" charset="-122"/>
              </a:rPr>
              <a:t> = </a:t>
            </a:r>
            <a:r>
              <a:rPr lang="en-US" altLang="zh-CN" sz="2000" b="1" dirty="0" err="1">
                <a:ea typeface="楷体_GB2312" pitchFamily="49" charset="-122"/>
              </a:rPr>
              <a:t>fopen</a:t>
            </a:r>
            <a:r>
              <a:rPr lang="en-US" altLang="zh-CN" sz="2000" b="1" dirty="0">
                <a:ea typeface="楷体_GB2312" pitchFamily="49" charset="-122"/>
              </a:rPr>
              <a:t> ("wang.dat", "</a:t>
            </a:r>
            <a:r>
              <a:rPr lang="en-US" altLang="zh-CN" sz="2000" b="1" dirty="0" err="1">
                <a:ea typeface="楷体_GB2312" pitchFamily="49" charset="-122"/>
              </a:rPr>
              <a:t>wb</a:t>
            </a:r>
            <a:r>
              <a:rPr lang="en-US" altLang="zh-CN" sz="2000" b="1" dirty="0">
                <a:ea typeface="楷体_GB2312" pitchFamily="49" charset="-122"/>
              </a:rPr>
              <a:t>");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if (</a:t>
            </a:r>
            <a:r>
              <a:rPr lang="en-US" altLang="zh-CN" sz="2000" b="1" dirty="0" err="1">
                <a:ea typeface="楷体_GB2312" pitchFamily="49" charset="-122"/>
              </a:rPr>
              <a:t>fp</a:t>
            </a:r>
            <a:r>
              <a:rPr lang="en-US" altLang="zh-CN" sz="2000" b="1" dirty="0">
                <a:ea typeface="楷体_GB2312" pitchFamily="49" charset="-122"/>
              </a:rPr>
              <a:t> = = NULL)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创建失败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 </a:t>
            </a:r>
            <a:r>
              <a:rPr lang="en-US" altLang="zh-CN" sz="2000" b="1" dirty="0">
                <a:ea typeface="楷体_GB2312" pitchFamily="49" charset="-122"/>
              </a:rPr>
              <a:t>{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("can not create file: wang.txt\n");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 exit (0);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}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ea typeface="楷体_GB2312" pitchFamily="49" charset="-122"/>
              </a:rPr>
              <a:t>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将数组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10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个整型数写入到文件中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solidFill>
                  <a:srgbClr val="C00000"/>
                </a:solidFill>
                <a:ea typeface="楷体_GB2312" pitchFamily="49" charset="-122"/>
              </a:rPr>
              <a:t>   </a:t>
            </a:r>
            <a:r>
              <a:rPr lang="en-US" altLang="zh-CN" sz="2000" b="1" dirty="0" err="1">
                <a:solidFill>
                  <a:srgbClr val="C00000"/>
                </a:solidFill>
                <a:ea typeface="楷体_GB2312" pitchFamily="49" charset="-122"/>
              </a:rPr>
              <a:t>fwrite</a:t>
            </a:r>
            <a:r>
              <a:rPr lang="en-US" altLang="zh-CN" sz="2000" b="1" dirty="0">
                <a:solidFill>
                  <a:srgbClr val="C00000"/>
                </a:solidFill>
                <a:ea typeface="楷体_GB2312" pitchFamily="49" charset="-122"/>
              </a:rPr>
              <a:t> (a, </a:t>
            </a:r>
            <a:r>
              <a:rPr lang="en-US" altLang="zh-CN" sz="2000" b="1" dirty="0" err="1">
                <a:solidFill>
                  <a:srgbClr val="C00000"/>
                </a:solidFill>
                <a:ea typeface="楷体_GB2312" pitchFamily="49" charset="-122"/>
              </a:rPr>
              <a:t>sizeof</a:t>
            </a:r>
            <a:r>
              <a:rPr lang="en-US" altLang="zh-CN" sz="2000" b="1" dirty="0">
                <a:solidFill>
                  <a:srgbClr val="C00000"/>
                </a:solidFill>
                <a:ea typeface="楷体_GB2312" pitchFamily="49" charset="-122"/>
              </a:rPr>
              <a:t>(short), 10, </a:t>
            </a:r>
            <a:r>
              <a:rPr lang="en-US" altLang="zh-CN" sz="2000" b="1" dirty="0" err="1">
                <a:solidFill>
                  <a:srgbClr val="C00000"/>
                </a:solidFill>
                <a:ea typeface="楷体_GB2312" pitchFamily="49" charset="-122"/>
              </a:rPr>
              <a:t>fp</a:t>
            </a:r>
            <a:r>
              <a:rPr lang="en-US" altLang="zh-CN" sz="2000" b="1" dirty="0">
                <a:solidFill>
                  <a:srgbClr val="C00000"/>
                </a:solidFill>
                <a:ea typeface="楷体_GB2312" pitchFamily="49" charset="-122"/>
              </a:rPr>
              <a:t>);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</a:t>
            </a:r>
            <a:r>
              <a:rPr lang="en-US" altLang="zh-CN" sz="2000" b="1" dirty="0" err="1">
                <a:ea typeface="楷体_GB2312" pitchFamily="49" charset="-122"/>
              </a:rPr>
              <a:t>fclose</a:t>
            </a:r>
            <a:r>
              <a:rPr lang="en-US" altLang="zh-CN" sz="2000" b="1" dirty="0">
                <a:ea typeface="楷体_GB2312" pitchFamily="49" charset="-122"/>
              </a:rPr>
              <a:t> (</a:t>
            </a:r>
            <a:r>
              <a:rPr lang="en-US" altLang="zh-CN" sz="2000" b="1" dirty="0" err="1">
                <a:ea typeface="楷体_GB2312" pitchFamily="49" charset="-122"/>
              </a:rPr>
              <a:t>fp</a:t>
            </a:r>
            <a:r>
              <a:rPr lang="en-US" altLang="zh-CN" sz="2000" b="1" dirty="0">
                <a:ea typeface="楷体_GB2312" pitchFamily="49" charset="-122"/>
              </a:rPr>
              <a:t>);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关闭文件   </a:t>
            </a:r>
          </a:p>
        </p:txBody>
      </p:sp>
      <p:sp>
        <p:nvSpPr>
          <p:cNvPr id="1086472" name="Rectangle 8" descr="信纸"/>
          <p:cNvSpPr>
            <a:spLocks noChangeArrowheads="1"/>
          </p:cNvSpPr>
          <p:nvPr/>
        </p:nvSpPr>
        <p:spPr bwMode="auto">
          <a:xfrm>
            <a:off x="6158510" y="840186"/>
            <a:ext cx="5492795" cy="5693866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pPr marL="457200" indent="-457200">
              <a:tabLst>
                <a:tab pos="914400" algn="l"/>
              </a:tabLst>
            </a:pPr>
            <a:r>
              <a:rPr lang="en-US" altLang="zh-CN" dirty="0">
                <a:solidFill>
                  <a:schemeClr val="accent2"/>
                </a:solidFill>
              </a:rPr>
              <a:t>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以读的打开二进制文件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wang.dat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dirty="0">
                <a:ea typeface="楷体_GB2312" pitchFamily="49" charset="-122"/>
              </a:rPr>
              <a:t>   </a:t>
            </a:r>
            <a:r>
              <a:rPr lang="en-US" altLang="zh-CN" sz="2000" b="1" dirty="0" err="1">
                <a:ea typeface="楷体_GB2312" pitchFamily="49" charset="-122"/>
              </a:rPr>
              <a:t>fp</a:t>
            </a:r>
            <a:r>
              <a:rPr lang="en-US" altLang="zh-CN" sz="2000" b="1" dirty="0">
                <a:ea typeface="楷体_GB2312" pitchFamily="49" charset="-122"/>
              </a:rPr>
              <a:t> = </a:t>
            </a:r>
            <a:r>
              <a:rPr lang="en-US" altLang="zh-CN" sz="2000" b="1" dirty="0" err="1">
                <a:ea typeface="楷体_GB2312" pitchFamily="49" charset="-122"/>
              </a:rPr>
              <a:t>fopen</a:t>
            </a:r>
            <a:r>
              <a:rPr lang="en-US" altLang="zh-CN" sz="2000" b="1" dirty="0">
                <a:ea typeface="楷体_GB2312" pitchFamily="49" charset="-122"/>
              </a:rPr>
              <a:t> ("wang.dat", "</a:t>
            </a:r>
            <a:r>
              <a:rPr lang="en-US" altLang="zh-CN" sz="2000" b="1" dirty="0" err="1">
                <a:ea typeface="楷体_GB2312" pitchFamily="49" charset="-122"/>
              </a:rPr>
              <a:t>rb</a:t>
            </a:r>
            <a:r>
              <a:rPr lang="en-US" altLang="zh-CN" sz="2000" b="1" dirty="0">
                <a:ea typeface="楷体_GB2312" pitchFamily="49" charset="-122"/>
              </a:rPr>
              <a:t>");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if (</a:t>
            </a:r>
            <a:r>
              <a:rPr lang="en-US" altLang="zh-CN" sz="2000" b="1" dirty="0" err="1">
                <a:ea typeface="楷体_GB2312" pitchFamily="49" charset="-122"/>
              </a:rPr>
              <a:t>fp</a:t>
            </a:r>
            <a:r>
              <a:rPr lang="en-US" altLang="zh-CN" sz="2000" b="1" dirty="0">
                <a:ea typeface="楷体_GB2312" pitchFamily="49" charset="-122"/>
              </a:rPr>
              <a:t> = = NULL)          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打开失败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 </a:t>
            </a:r>
            <a:r>
              <a:rPr lang="en-US" altLang="zh-CN" sz="2000" b="1" dirty="0">
                <a:ea typeface="楷体_GB2312" pitchFamily="49" charset="-122"/>
              </a:rPr>
              <a:t>{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("can not open file: wang.dat\n");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 exit (0);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}</a:t>
            </a:r>
          </a:p>
          <a:p>
            <a:pPr marL="457200" indent="-457200">
              <a:tabLst>
                <a:tab pos="914400" algn="l"/>
              </a:tabLst>
            </a:pPr>
            <a:endParaRPr lang="en-US" altLang="zh-CN" sz="2000" b="1" dirty="0">
              <a:ea typeface="楷体_GB2312" pitchFamily="49" charset="-122"/>
            </a:endParaRP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latin typeface="+mn-lt"/>
                <a:ea typeface="楷体" pitchFamily="49" charset="-122"/>
              </a:rPr>
              <a:t>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将数组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10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个元素清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0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</a:t>
            </a:r>
            <a:r>
              <a:rPr lang="en-US" altLang="zh-CN" sz="2000" b="1" dirty="0" err="1">
                <a:ea typeface="楷体_GB2312" pitchFamily="49" charset="-122"/>
              </a:rPr>
              <a:t>memset</a:t>
            </a:r>
            <a:r>
              <a:rPr lang="en-US" altLang="zh-CN" sz="2000" b="1" dirty="0">
                <a:ea typeface="楷体_GB2312" pitchFamily="49" charset="-122"/>
              </a:rPr>
              <a:t> (a, 0, 10*</a:t>
            </a:r>
            <a:r>
              <a:rPr lang="en-US" altLang="zh-CN" sz="2000" b="1" dirty="0" err="1">
                <a:ea typeface="楷体_GB2312" pitchFamily="49" charset="-122"/>
              </a:rPr>
              <a:t>sizeof</a:t>
            </a:r>
            <a:r>
              <a:rPr lang="en-US" altLang="zh-CN" sz="2000" b="1" dirty="0">
                <a:ea typeface="楷体_GB2312" pitchFamily="49" charset="-122"/>
              </a:rPr>
              <a:t>(short));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ea typeface="楷体_GB2312" pitchFamily="49" charset="-122"/>
              </a:rPr>
              <a:t>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从文件中读取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10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个整型数据到数组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rgbClr val="C00000"/>
                </a:solidFill>
                <a:ea typeface="楷体_GB2312" pitchFamily="49" charset="-122"/>
              </a:rPr>
              <a:t>   </a:t>
            </a:r>
            <a:r>
              <a:rPr lang="en-US" altLang="zh-CN" sz="2000" b="1" dirty="0" err="1">
                <a:solidFill>
                  <a:srgbClr val="C00000"/>
                </a:solidFill>
                <a:ea typeface="楷体_GB2312" pitchFamily="49" charset="-122"/>
              </a:rPr>
              <a:t>fread</a:t>
            </a:r>
            <a:r>
              <a:rPr lang="en-US" altLang="zh-CN" sz="2000" b="1" dirty="0">
                <a:solidFill>
                  <a:srgbClr val="C00000"/>
                </a:solidFill>
                <a:ea typeface="楷体_GB2312" pitchFamily="49" charset="-122"/>
              </a:rPr>
              <a:t> (a, </a:t>
            </a:r>
            <a:r>
              <a:rPr lang="en-US" altLang="zh-CN" sz="2000" b="1" dirty="0" err="1">
                <a:solidFill>
                  <a:srgbClr val="C00000"/>
                </a:solidFill>
                <a:ea typeface="楷体_GB2312" pitchFamily="49" charset="-122"/>
              </a:rPr>
              <a:t>sizeof</a:t>
            </a:r>
            <a:r>
              <a:rPr lang="en-US" altLang="zh-CN" sz="2000" b="1" dirty="0">
                <a:solidFill>
                  <a:srgbClr val="C00000"/>
                </a:solidFill>
                <a:ea typeface="楷体_GB2312" pitchFamily="49" charset="-122"/>
              </a:rPr>
              <a:t>(short), 10, </a:t>
            </a:r>
            <a:r>
              <a:rPr lang="en-US" altLang="zh-CN" sz="2000" b="1" dirty="0" err="1">
                <a:solidFill>
                  <a:srgbClr val="C00000"/>
                </a:solidFill>
                <a:ea typeface="楷体_GB2312" pitchFamily="49" charset="-122"/>
              </a:rPr>
              <a:t>fp</a:t>
            </a:r>
            <a:r>
              <a:rPr lang="en-US" altLang="zh-CN" sz="2000" b="1" dirty="0">
                <a:solidFill>
                  <a:srgbClr val="C00000"/>
                </a:solidFill>
                <a:ea typeface="楷体_GB2312" pitchFamily="49" charset="-122"/>
              </a:rPr>
              <a:t>);  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</a:t>
            </a:r>
            <a:r>
              <a:rPr lang="en-US" altLang="zh-CN" sz="2000" b="1" dirty="0" err="1">
                <a:ea typeface="楷体_GB2312" pitchFamily="49" charset="-122"/>
              </a:rPr>
              <a:t>fclose</a:t>
            </a:r>
            <a:r>
              <a:rPr lang="en-US" altLang="zh-CN" sz="2000" b="1" dirty="0">
                <a:ea typeface="楷体_GB2312" pitchFamily="49" charset="-122"/>
              </a:rPr>
              <a:t> (</a:t>
            </a:r>
            <a:r>
              <a:rPr lang="en-US" altLang="zh-CN" sz="2000" b="1" dirty="0" err="1">
                <a:ea typeface="楷体_GB2312" pitchFamily="49" charset="-122"/>
              </a:rPr>
              <a:t>fp</a:t>
            </a:r>
            <a:r>
              <a:rPr lang="en-US" altLang="zh-CN" sz="2000" b="1" dirty="0">
                <a:ea typeface="楷体_GB2312" pitchFamily="49" charset="-122"/>
              </a:rPr>
              <a:t>);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关闭文件</a:t>
            </a:r>
          </a:p>
          <a:p>
            <a:pPr marL="457200" indent="-457200">
              <a:tabLst>
                <a:tab pos="914400" algn="l"/>
              </a:tabLst>
            </a:pPr>
            <a:endParaRPr lang="zh-CN" altLang="en-US" sz="2000" b="1" dirty="0">
              <a:solidFill>
                <a:schemeClr val="accent2"/>
              </a:solidFill>
              <a:ea typeface="楷体_GB2312" pitchFamily="49" charset="-122"/>
            </a:endParaRP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 </a:t>
            </a:r>
            <a:r>
              <a:rPr lang="en-US" altLang="zh-CN" sz="2000" b="1" dirty="0">
                <a:ea typeface="楷体_GB2312" pitchFamily="49" charset="-122"/>
              </a:rPr>
              <a:t>for (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 = 0; 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 &lt; 10; 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++)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显示数组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a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的元素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   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("%d ", a[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]);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return 0;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}</a:t>
            </a:r>
          </a:p>
        </p:txBody>
      </p:sp>
      <p:grpSp>
        <p:nvGrpSpPr>
          <p:cNvPr id="1086517" name="Group 53"/>
          <p:cNvGrpSpPr>
            <a:grpSpLocks/>
          </p:cNvGrpSpPr>
          <p:nvPr/>
        </p:nvGrpSpPr>
        <p:grpSpPr bwMode="auto">
          <a:xfrm>
            <a:off x="2864841" y="2708920"/>
            <a:ext cx="6337300" cy="2736850"/>
            <a:chOff x="1111" y="1298"/>
            <a:chExt cx="3992" cy="1724"/>
          </a:xfrm>
        </p:grpSpPr>
        <p:sp>
          <p:nvSpPr>
            <p:cNvPr id="1086474" name="AutoShape 10"/>
            <p:cNvSpPr>
              <a:spLocks noChangeArrowheads="1"/>
            </p:cNvSpPr>
            <p:nvPr/>
          </p:nvSpPr>
          <p:spPr bwMode="auto">
            <a:xfrm>
              <a:off x="1111" y="1298"/>
              <a:ext cx="3992" cy="1724"/>
            </a:xfrm>
            <a:prstGeom prst="foldedCorner">
              <a:avLst>
                <a:gd name="adj" fmla="val 12500"/>
              </a:avLst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25400">
              <a:solidFill>
                <a:srgbClr val="C00000"/>
              </a:solidFill>
              <a:round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 wrap="none"/>
            <a:lstStyle/>
            <a:p>
              <a:pPr algn="ctr"/>
              <a:r>
                <a:rPr lang="en-US" altLang="zh-CN" b="1" u="sng" dirty="0">
                  <a:solidFill>
                    <a:srgbClr val="C00000"/>
                  </a:solidFill>
                </a:rPr>
                <a:t>wang.dat</a:t>
              </a:r>
            </a:p>
            <a:p>
              <a:pPr algn="ctr"/>
              <a:endParaRPr lang="en-US" altLang="zh-CN" b="1" dirty="0">
                <a:solidFill>
                  <a:srgbClr val="FF3300"/>
                </a:solidFill>
              </a:endParaRPr>
            </a:p>
          </p:txBody>
        </p:sp>
        <p:sp>
          <p:nvSpPr>
            <p:cNvPr id="1086475" name="Text Box 11"/>
            <p:cNvSpPr txBox="1">
              <a:spLocks noChangeArrowheads="1"/>
            </p:cNvSpPr>
            <p:nvPr/>
          </p:nvSpPr>
          <p:spPr bwMode="auto">
            <a:xfrm>
              <a:off x="1256" y="1625"/>
              <a:ext cx="381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/>
                <a:t>00 00  01 00  02 00  03 00  04 00  05 00  06 00</a:t>
              </a:r>
            </a:p>
          </p:txBody>
        </p:sp>
        <p:sp>
          <p:nvSpPr>
            <p:cNvPr id="1086476" name="Text Box 12"/>
            <p:cNvSpPr txBox="1">
              <a:spLocks noChangeArrowheads="1"/>
            </p:cNvSpPr>
            <p:nvPr/>
          </p:nvSpPr>
          <p:spPr bwMode="auto">
            <a:xfrm>
              <a:off x="1257" y="2301"/>
              <a:ext cx="381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07 00  08 00  09 00  </a:t>
              </a:r>
            </a:p>
          </p:txBody>
        </p:sp>
        <p:grpSp>
          <p:nvGrpSpPr>
            <p:cNvPr id="1086488" name="Group 24"/>
            <p:cNvGrpSpPr>
              <a:grpSpLocks/>
            </p:cNvGrpSpPr>
            <p:nvPr/>
          </p:nvGrpSpPr>
          <p:grpSpPr bwMode="auto">
            <a:xfrm>
              <a:off x="1329" y="1870"/>
              <a:ext cx="399" cy="397"/>
              <a:chOff x="1329" y="1870"/>
              <a:chExt cx="399" cy="397"/>
            </a:xfrm>
          </p:grpSpPr>
          <p:sp>
            <p:nvSpPr>
              <p:cNvPr id="1086477" name="AutoShape 13"/>
              <p:cNvSpPr>
                <a:spLocks/>
              </p:cNvSpPr>
              <p:nvPr/>
            </p:nvSpPr>
            <p:spPr bwMode="auto">
              <a:xfrm rot="-5400000">
                <a:off x="1461" y="1738"/>
                <a:ext cx="136" cy="399"/>
              </a:xfrm>
              <a:prstGeom prst="leftBrace">
                <a:avLst>
                  <a:gd name="adj1" fmla="val 24449"/>
                  <a:gd name="adj2" fmla="val 50000"/>
                </a:avLst>
              </a:prstGeom>
              <a:noFill/>
              <a:ln w="25400">
                <a:solidFill>
                  <a:srgbClr val="00206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86478" name="Text Box 14"/>
              <p:cNvSpPr txBox="1">
                <a:spLocks noChangeArrowheads="1"/>
              </p:cNvSpPr>
              <p:nvPr/>
            </p:nvSpPr>
            <p:spPr bwMode="auto">
              <a:xfrm>
                <a:off x="1429" y="1979"/>
                <a:ext cx="227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rgbClr val="002060"/>
                    </a:solidFill>
                  </a:rPr>
                  <a:t>0</a:t>
                </a:r>
              </a:p>
            </p:txBody>
          </p:sp>
        </p:grpSp>
        <p:grpSp>
          <p:nvGrpSpPr>
            <p:cNvPr id="1086489" name="Group 25"/>
            <p:cNvGrpSpPr>
              <a:grpSpLocks/>
            </p:cNvGrpSpPr>
            <p:nvPr/>
          </p:nvGrpSpPr>
          <p:grpSpPr bwMode="auto">
            <a:xfrm>
              <a:off x="1870" y="1862"/>
              <a:ext cx="399" cy="397"/>
              <a:chOff x="1329" y="1870"/>
              <a:chExt cx="399" cy="397"/>
            </a:xfrm>
          </p:grpSpPr>
          <p:sp>
            <p:nvSpPr>
              <p:cNvPr id="1086490" name="AutoShape 26"/>
              <p:cNvSpPr>
                <a:spLocks/>
              </p:cNvSpPr>
              <p:nvPr/>
            </p:nvSpPr>
            <p:spPr bwMode="auto">
              <a:xfrm rot="-5400000">
                <a:off x="1461" y="1738"/>
                <a:ext cx="136" cy="399"/>
              </a:xfrm>
              <a:prstGeom prst="leftBrace">
                <a:avLst>
                  <a:gd name="adj1" fmla="val 24449"/>
                  <a:gd name="adj2" fmla="val 50000"/>
                </a:avLst>
              </a:prstGeom>
              <a:noFill/>
              <a:ln w="25400">
                <a:solidFill>
                  <a:srgbClr val="00206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86491" name="Text Box 27"/>
              <p:cNvSpPr txBox="1">
                <a:spLocks noChangeArrowheads="1"/>
              </p:cNvSpPr>
              <p:nvPr/>
            </p:nvSpPr>
            <p:spPr bwMode="auto">
              <a:xfrm>
                <a:off x="1429" y="1979"/>
                <a:ext cx="227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rgbClr val="002060"/>
                    </a:solidFill>
                  </a:rPr>
                  <a:t>1</a:t>
                </a:r>
              </a:p>
            </p:txBody>
          </p:sp>
        </p:grpSp>
        <p:grpSp>
          <p:nvGrpSpPr>
            <p:cNvPr id="1086492" name="Group 28"/>
            <p:cNvGrpSpPr>
              <a:grpSpLocks/>
            </p:cNvGrpSpPr>
            <p:nvPr/>
          </p:nvGrpSpPr>
          <p:grpSpPr bwMode="auto">
            <a:xfrm>
              <a:off x="2393" y="1863"/>
              <a:ext cx="399" cy="397"/>
              <a:chOff x="1329" y="1870"/>
              <a:chExt cx="399" cy="397"/>
            </a:xfrm>
          </p:grpSpPr>
          <p:sp>
            <p:nvSpPr>
              <p:cNvPr id="1086493" name="AutoShape 29"/>
              <p:cNvSpPr>
                <a:spLocks/>
              </p:cNvSpPr>
              <p:nvPr/>
            </p:nvSpPr>
            <p:spPr bwMode="auto">
              <a:xfrm rot="-5400000">
                <a:off x="1461" y="1738"/>
                <a:ext cx="136" cy="399"/>
              </a:xfrm>
              <a:prstGeom prst="leftBrace">
                <a:avLst>
                  <a:gd name="adj1" fmla="val 24449"/>
                  <a:gd name="adj2" fmla="val 50000"/>
                </a:avLst>
              </a:prstGeom>
              <a:noFill/>
              <a:ln w="25400">
                <a:solidFill>
                  <a:srgbClr val="00206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86494" name="Text Box 30"/>
              <p:cNvSpPr txBox="1">
                <a:spLocks noChangeArrowheads="1"/>
              </p:cNvSpPr>
              <p:nvPr/>
            </p:nvSpPr>
            <p:spPr bwMode="auto">
              <a:xfrm>
                <a:off x="1429" y="1979"/>
                <a:ext cx="227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rgbClr val="002060"/>
                    </a:solidFill>
                  </a:rPr>
                  <a:t>2</a:t>
                </a:r>
              </a:p>
            </p:txBody>
          </p:sp>
        </p:grpSp>
        <p:grpSp>
          <p:nvGrpSpPr>
            <p:cNvPr id="1086495" name="Group 31"/>
            <p:cNvGrpSpPr>
              <a:grpSpLocks/>
            </p:cNvGrpSpPr>
            <p:nvPr/>
          </p:nvGrpSpPr>
          <p:grpSpPr bwMode="auto">
            <a:xfrm>
              <a:off x="2925" y="1855"/>
              <a:ext cx="399" cy="397"/>
              <a:chOff x="1329" y="1870"/>
              <a:chExt cx="399" cy="397"/>
            </a:xfrm>
          </p:grpSpPr>
          <p:sp>
            <p:nvSpPr>
              <p:cNvPr id="1086496" name="AutoShape 32"/>
              <p:cNvSpPr>
                <a:spLocks/>
              </p:cNvSpPr>
              <p:nvPr/>
            </p:nvSpPr>
            <p:spPr bwMode="auto">
              <a:xfrm rot="-5400000">
                <a:off x="1461" y="1738"/>
                <a:ext cx="136" cy="399"/>
              </a:xfrm>
              <a:prstGeom prst="leftBrace">
                <a:avLst>
                  <a:gd name="adj1" fmla="val 24449"/>
                  <a:gd name="adj2" fmla="val 50000"/>
                </a:avLst>
              </a:prstGeom>
              <a:noFill/>
              <a:ln w="25400">
                <a:solidFill>
                  <a:srgbClr val="00206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86497" name="Text Box 33"/>
              <p:cNvSpPr txBox="1">
                <a:spLocks noChangeArrowheads="1"/>
              </p:cNvSpPr>
              <p:nvPr/>
            </p:nvSpPr>
            <p:spPr bwMode="auto">
              <a:xfrm>
                <a:off x="1429" y="1979"/>
                <a:ext cx="227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rgbClr val="002060"/>
                    </a:solidFill>
                  </a:rPr>
                  <a:t>3</a:t>
                </a:r>
              </a:p>
            </p:txBody>
          </p:sp>
        </p:grpSp>
        <p:grpSp>
          <p:nvGrpSpPr>
            <p:cNvPr id="1086498" name="Group 34"/>
            <p:cNvGrpSpPr>
              <a:grpSpLocks/>
            </p:cNvGrpSpPr>
            <p:nvPr/>
          </p:nvGrpSpPr>
          <p:grpSpPr bwMode="auto">
            <a:xfrm>
              <a:off x="3448" y="1856"/>
              <a:ext cx="399" cy="397"/>
              <a:chOff x="1329" y="1870"/>
              <a:chExt cx="399" cy="397"/>
            </a:xfrm>
          </p:grpSpPr>
          <p:sp>
            <p:nvSpPr>
              <p:cNvPr id="1086499" name="AutoShape 35"/>
              <p:cNvSpPr>
                <a:spLocks/>
              </p:cNvSpPr>
              <p:nvPr/>
            </p:nvSpPr>
            <p:spPr bwMode="auto">
              <a:xfrm rot="-5400000">
                <a:off x="1461" y="1738"/>
                <a:ext cx="136" cy="399"/>
              </a:xfrm>
              <a:prstGeom prst="leftBrace">
                <a:avLst>
                  <a:gd name="adj1" fmla="val 24449"/>
                  <a:gd name="adj2" fmla="val 50000"/>
                </a:avLst>
              </a:prstGeom>
              <a:noFill/>
              <a:ln w="25400">
                <a:solidFill>
                  <a:srgbClr val="00206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86500" name="Text Box 36"/>
              <p:cNvSpPr txBox="1">
                <a:spLocks noChangeArrowheads="1"/>
              </p:cNvSpPr>
              <p:nvPr/>
            </p:nvSpPr>
            <p:spPr bwMode="auto">
              <a:xfrm>
                <a:off x="1429" y="1979"/>
                <a:ext cx="227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rgbClr val="002060"/>
                    </a:solidFill>
                  </a:rPr>
                  <a:t>4</a:t>
                </a:r>
              </a:p>
            </p:txBody>
          </p:sp>
        </p:grpSp>
        <p:grpSp>
          <p:nvGrpSpPr>
            <p:cNvPr id="1086501" name="Group 37"/>
            <p:cNvGrpSpPr>
              <a:grpSpLocks/>
            </p:cNvGrpSpPr>
            <p:nvPr/>
          </p:nvGrpSpPr>
          <p:grpSpPr bwMode="auto">
            <a:xfrm>
              <a:off x="3989" y="1866"/>
              <a:ext cx="399" cy="397"/>
              <a:chOff x="1329" y="1870"/>
              <a:chExt cx="399" cy="397"/>
            </a:xfrm>
          </p:grpSpPr>
          <p:sp>
            <p:nvSpPr>
              <p:cNvPr id="1086502" name="AutoShape 38"/>
              <p:cNvSpPr>
                <a:spLocks/>
              </p:cNvSpPr>
              <p:nvPr/>
            </p:nvSpPr>
            <p:spPr bwMode="auto">
              <a:xfrm rot="-5400000">
                <a:off x="1461" y="1738"/>
                <a:ext cx="136" cy="399"/>
              </a:xfrm>
              <a:prstGeom prst="leftBrace">
                <a:avLst>
                  <a:gd name="adj1" fmla="val 24449"/>
                  <a:gd name="adj2" fmla="val 50000"/>
                </a:avLst>
              </a:prstGeom>
              <a:noFill/>
              <a:ln w="25400">
                <a:solidFill>
                  <a:srgbClr val="00206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86503" name="Text Box 39"/>
              <p:cNvSpPr txBox="1">
                <a:spLocks noChangeArrowheads="1"/>
              </p:cNvSpPr>
              <p:nvPr/>
            </p:nvSpPr>
            <p:spPr bwMode="auto">
              <a:xfrm>
                <a:off x="1429" y="1979"/>
                <a:ext cx="227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rgbClr val="002060"/>
                    </a:solidFill>
                  </a:rPr>
                  <a:t>5</a:t>
                </a:r>
              </a:p>
            </p:txBody>
          </p:sp>
        </p:grpSp>
        <p:grpSp>
          <p:nvGrpSpPr>
            <p:cNvPr id="1086504" name="Group 40"/>
            <p:cNvGrpSpPr>
              <a:grpSpLocks/>
            </p:cNvGrpSpPr>
            <p:nvPr/>
          </p:nvGrpSpPr>
          <p:grpSpPr bwMode="auto">
            <a:xfrm>
              <a:off x="4494" y="1867"/>
              <a:ext cx="399" cy="397"/>
              <a:chOff x="1329" y="1870"/>
              <a:chExt cx="399" cy="397"/>
            </a:xfrm>
          </p:grpSpPr>
          <p:sp>
            <p:nvSpPr>
              <p:cNvPr id="1086505" name="AutoShape 41"/>
              <p:cNvSpPr>
                <a:spLocks/>
              </p:cNvSpPr>
              <p:nvPr/>
            </p:nvSpPr>
            <p:spPr bwMode="auto">
              <a:xfrm rot="-5400000">
                <a:off x="1461" y="1738"/>
                <a:ext cx="136" cy="399"/>
              </a:xfrm>
              <a:prstGeom prst="leftBrace">
                <a:avLst>
                  <a:gd name="adj1" fmla="val 24449"/>
                  <a:gd name="adj2" fmla="val 50000"/>
                </a:avLst>
              </a:prstGeom>
              <a:noFill/>
              <a:ln w="25400">
                <a:solidFill>
                  <a:srgbClr val="00206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86506" name="Text Box 42"/>
              <p:cNvSpPr txBox="1">
                <a:spLocks noChangeArrowheads="1"/>
              </p:cNvSpPr>
              <p:nvPr/>
            </p:nvSpPr>
            <p:spPr bwMode="auto">
              <a:xfrm>
                <a:off x="1429" y="1979"/>
                <a:ext cx="227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rgbClr val="002060"/>
                    </a:solidFill>
                  </a:rPr>
                  <a:t>6</a:t>
                </a:r>
              </a:p>
            </p:txBody>
          </p:sp>
        </p:grpSp>
        <p:grpSp>
          <p:nvGrpSpPr>
            <p:cNvPr id="1086507" name="Group 43"/>
            <p:cNvGrpSpPr>
              <a:grpSpLocks/>
            </p:cNvGrpSpPr>
            <p:nvPr/>
          </p:nvGrpSpPr>
          <p:grpSpPr bwMode="auto">
            <a:xfrm>
              <a:off x="1330" y="2528"/>
              <a:ext cx="399" cy="397"/>
              <a:chOff x="1329" y="1870"/>
              <a:chExt cx="399" cy="397"/>
            </a:xfrm>
          </p:grpSpPr>
          <p:sp>
            <p:nvSpPr>
              <p:cNvPr id="1086508" name="AutoShape 44"/>
              <p:cNvSpPr>
                <a:spLocks/>
              </p:cNvSpPr>
              <p:nvPr/>
            </p:nvSpPr>
            <p:spPr bwMode="auto">
              <a:xfrm rot="-5400000">
                <a:off x="1461" y="1738"/>
                <a:ext cx="136" cy="399"/>
              </a:xfrm>
              <a:prstGeom prst="leftBrace">
                <a:avLst>
                  <a:gd name="adj1" fmla="val 24449"/>
                  <a:gd name="adj2" fmla="val 50000"/>
                </a:avLst>
              </a:prstGeom>
              <a:noFill/>
              <a:ln w="25400">
                <a:solidFill>
                  <a:srgbClr val="00206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86509" name="Text Box 45"/>
              <p:cNvSpPr txBox="1">
                <a:spLocks noChangeArrowheads="1"/>
              </p:cNvSpPr>
              <p:nvPr/>
            </p:nvSpPr>
            <p:spPr bwMode="auto">
              <a:xfrm>
                <a:off x="1429" y="1979"/>
                <a:ext cx="227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rgbClr val="002060"/>
                    </a:solidFill>
                  </a:rPr>
                  <a:t>7</a:t>
                </a:r>
              </a:p>
            </p:txBody>
          </p:sp>
        </p:grpSp>
        <p:grpSp>
          <p:nvGrpSpPr>
            <p:cNvPr id="1086510" name="Group 46"/>
            <p:cNvGrpSpPr>
              <a:grpSpLocks/>
            </p:cNvGrpSpPr>
            <p:nvPr/>
          </p:nvGrpSpPr>
          <p:grpSpPr bwMode="auto">
            <a:xfrm>
              <a:off x="1871" y="2538"/>
              <a:ext cx="399" cy="397"/>
              <a:chOff x="1329" y="1870"/>
              <a:chExt cx="399" cy="397"/>
            </a:xfrm>
          </p:grpSpPr>
          <p:sp>
            <p:nvSpPr>
              <p:cNvPr id="1086511" name="AutoShape 47"/>
              <p:cNvSpPr>
                <a:spLocks/>
              </p:cNvSpPr>
              <p:nvPr/>
            </p:nvSpPr>
            <p:spPr bwMode="auto">
              <a:xfrm rot="-5400000">
                <a:off x="1461" y="1738"/>
                <a:ext cx="136" cy="399"/>
              </a:xfrm>
              <a:prstGeom prst="leftBrace">
                <a:avLst>
                  <a:gd name="adj1" fmla="val 24449"/>
                  <a:gd name="adj2" fmla="val 50000"/>
                </a:avLst>
              </a:prstGeom>
              <a:noFill/>
              <a:ln w="25400">
                <a:solidFill>
                  <a:srgbClr val="00206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86512" name="Text Box 48"/>
              <p:cNvSpPr txBox="1">
                <a:spLocks noChangeArrowheads="1"/>
              </p:cNvSpPr>
              <p:nvPr/>
            </p:nvSpPr>
            <p:spPr bwMode="auto">
              <a:xfrm>
                <a:off x="1429" y="1979"/>
                <a:ext cx="227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rgbClr val="002060"/>
                    </a:solidFill>
                  </a:rPr>
                  <a:t>8</a:t>
                </a:r>
              </a:p>
            </p:txBody>
          </p:sp>
        </p:grpSp>
        <p:grpSp>
          <p:nvGrpSpPr>
            <p:cNvPr id="1086513" name="Group 49"/>
            <p:cNvGrpSpPr>
              <a:grpSpLocks/>
            </p:cNvGrpSpPr>
            <p:nvPr/>
          </p:nvGrpSpPr>
          <p:grpSpPr bwMode="auto">
            <a:xfrm>
              <a:off x="2403" y="2539"/>
              <a:ext cx="399" cy="397"/>
              <a:chOff x="1329" y="1870"/>
              <a:chExt cx="399" cy="397"/>
            </a:xfrm>
          </p:grpSpPr>
          <p:sp>
            <p:nvSpPr>
              <p:cNvPr id="1086514" name="AutoShape 50"/>
              <p:cNvSpPr>
                <a:spLocks/>
              </p:cNvSpPr>
              <p:nvPr/>
            </p:nvSpPr>
            <p:spPr bwMode="auto">
              <a:xfrm rot="-5400000">
                <a:off x="1461" y="1738"/>
                <a:ext cx="136" cy="399"/>
              </a:xfrm>
              <a:prstGeom prst="leftBrace">
                <a:avLst>
                  <a:gd name="adj1" fmla="val 24449"/>
                  <a:gd name="adj2" fmla="val 50000"/>
                </a:avLst>
              </a:prstGeom>
              <a:noFill/>
              <a:ln w="25400">
                <a:solidFill>
                  <a:srgbClr val="002060"/>
                </a:solidFill>
                <a:round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86515" name="Text Box 51"/>
              <p:cNvSpPr txBox="1">
                <a:spLocks noChangeArrowheads="1"/>
              </p:cNvSpPr>
              <p:nvPr/>
            </p:nvSpPr>
            <p:spPr bwMode="auto">
              <a:xfrm>
                <a:off x="1429" y="1979"/>
                <a:ext cx="227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rgbClr val="002060"/>
                    </a:solidFill>
                  </a:rPr>
                  <a:t>9</a:t>
                </a:r>
              </a:p>
            </p:txBody>
          </p:sp>
        </p:grpSp>
        <p:sp>
          <p:nvSpPr>
            <p:cNvPr id="1086516" name="Rectangle 52"/>
            <p:cNvSpPr>
              <a:spLocks noChangeArrowheads="1"/>
            </p:cNvSpPr>
            <p:nvPr/>
          </p:nvSpPr>
          <p:spPr bwMode="auto">
            <a:xfrm>
              <a:off x="3424" y="2523"/>
              <a:ext cx="1142" cy="300"/>
            </a:xfrm>
            <a:prstGeom prst="rect">
              <a:avLst/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19050">
              <a:solidFill>
                <a:srgbClr val="002060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>
              <a:spAutoFit/>
            </a:bodyPr>
            <a:lstStyle/>
            <a:p>
              <a:r>
                <a:rPr lang="en-US" altLang="zh-CN" b="1" dirty="0">
                  <a:solidFill>
                    <a:srgbClr val="C00000"/>
                  </a:solidFill>
                  <a:latin typeface="隶书" pitchFamily="49" charset="-122"/>
                  <a:ea typeface="隶书" pitchFamily="49" charset="-122"/>
                </a:rPr>
                <a:t>16</a:t>
              </a:r>
              <a:r>
                <a:rPr lang="zh-CN" altLang="en-US" b="1" dirty="0">
                  <a:solidFill>
                    <a:srgbClr val="C00000"/>
                  </a:solidFill>
                  <a:latin typeface="隶书" pitchFamily="49" charset="-122"/>
                  <a:ea typeface="隶书" pitchFamily="49" charset="-122"/>
                </a:rPr>
                <a:t>进制形式</a:t>
              </a:r>
              <a:r>
                <a:rPr lang="zh-CN" altLang="en-US" dirty="0">
                  <a:solidFill>
                    <a:srgbClr val="C00000"/>
                  </a:solidFill>
                </a:rPr>
                <a:t> </a:t>
              </a:r>
            </a:p>
          </p:txBody>
        </p:sp>
      </p:grpSp>
      <p:sp>
        <p:nvSpPr>
          <p:cNvPr id="1086473" name="Text Box 9"/>
          <p:cNvSpPr txBox="1">
            <a:spLocks noChangeArrowheads="1"/>
          </p:cNvSpPr>
          <p:nvPr/>
        </p:nvSpPr>
        <p:spPr bwMode="auto">
          <a:xfrm>
            <a:off x="9392350" y="5619010"/>
            <a:ext cx="2232025" cy="792163"/>
          </a:xfrm>
          <a:prstGeom prst="rect">
            <a:avLst/>
          </a:prstGeom>
          <a:solidFill>
            <a:srgbClr val="FFFFFF"/>
          </a:soli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just"/>
            <a:r>
              <a:rPr lang="zh-CN" altLang="en-US" sz="2000" b="1" dirty="0">
                <a:solidFill>
                  <a:srgbClr val="C00000"/>
                </a:solidFill>
                <a:latin typeface="隶书" pitchFamily="49" charset="-122"/>
                <a:ea typeface="隶书" pitchFamily="49" charset="-122"/>
              </a:rPr>
              <a:t>运行结果：</a:t>
            </a:r>
          </a:p>
          <a:p>
            <a:pPr algn="just"/>
            <a:r>
              <a:rPr lang="en-US" altLang="zh-CN" sz="2000" b="1" dirty="0">
                <a:solidFill>
                  <a:srgbClr val="002060"/>
                </a:solidFill>
              </a:rPr>
              <a:t>0 1 2 3 4 5 6 7 8 9</a:t>
            </a:r>
          </a:p>
          <a:p>
            <a:pPr algn="just"/>
            <a:endParaRPr lang="en-US" altLang="zh-CN" sz="2000" b="1" dirty="0">
              <a:solidFill>
                <a:srgbClr val="002060"/>
              </a:solidFill>
            </a:endParaRPr>
          </a:p>
          <a:p>
            <a:pPr algn="just"/>
            <a:endParaRPr lang="en-US" altLang="zh-CN" sz="2000" b="1" dirty="0">
              <a:solidFill>
                <a:srgbClr val="002060"/>
              </a:solidFill>
            </a:endParaRPr>
          </a:p>
          <a:p>
            <a:pPr algn="just"/>
            <a:endParaRPr lang="en-US" altLang="zh-CN" sz="2000" b="1" dirty="0">
              <a:solidFill>
                <a:srgbClr val="002060"/>
              </a:solidFill>
            </a:endParaRPr>
          </a:p>
        </p:txBody>
      </p:sp>
      <p:sp>
        <p:nvSpPr>
          <p:cNvPr id="44" name="Rectangle 4">
            <a:extLst>
              <a:ext uri="{FF2B5EF4-FFF2-40B4-BE49-F238E27FC236}">
                <a16:creationId xmlns:a16="http://schemas.microsoft.com/office/drawing/2014/main" id="{4956AD15-9A40-406E-A73A-0E6C2742C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12.5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文件的打开、读写和关闭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864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864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0864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0865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6466" grpId="0" animBg="1"/>
      <p:bldP spid="1086472" grpId="0" animBg="1"/>
      <p:bldP spid="108647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514" name="Rectangle 2" descr="信纸"/>
          <p:cNvSpPr>
            <a:spLocks noChangeArrowheads="1"/>
          </p:cNvSpPr>
          <p:nvPr/>
        </p:nvSpPr>
        <p:spPr bwMode="auto">
          <a:xfrm>
            <a:off x="529928" y="1549971"/>
            <a:ext cx="5411788" cy="50069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none" anchor="ctr">
            <a:spAutoFit/>
          </a:bodyPr>
          <a:lstStyle/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#include &lt;</a:t>
            </a:r>
            <a:r>
              <a:rPr lang="en-US" altLang="zh-CN" sz="2000" b="1" dirty="0" err="1"/>
              <a:t>stdio.h</a:t>
            </a:r>
            <a:r>
              <a:rPr lang="en-US" altLang="zh-CN" sz="2000" b="1" dirty="0"/>
              <a:t>&gt;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#include &lt;</a:t>
            </a:r>
            <a:r>
              <a:rPr lang="en-US" altLang="zh-CN" sz="2000" b="1" dirty="0" err="1"/>
              <a:t>stdlib.h</a:t>
            </a:r>
            <a:r>
              <a:rPr lang="en-US" altLang="zh-CN" sz="2000" b="1" dirty="0"/>
              <a:t>&gt;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#include &lt;</a:t>
            </a:r>
            <a:r>
              <a:rPr lang="en-US" altLang="zh-CN" sz="2000" b="1" dirty="0" err="1"/>
              <a:t>memory.h</a:t>
            </a:r>
            <a:r>
              <a:rPr lang="en-US" altLang="zh-CN" sz="2000" b="1" dirty="0"/>
              <a:t>&gt;</a:t>
            </a:r>
          </a:p>
          <a:p>
            <a:pPr marL="457200" indent="-457200">
              <a:tabLst>
                <a:tab pos="914400" algn="l"/>
              </a:tabLst>
            </a:pPr>
            <a:endParaRPr lang="en-US" altLang="zh-CN" sz="2000" b="1" dirty="0"/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struct </a:t>
            </a:r>
            <a:r>
              <a:rPr lang="en-US" altLang="zh-CN" sz="2000" b="1" dirty="0" err="1"/>
              <a:t>student_info</a:t>
            </a:r>
            <a:endParaRPr lang="en-US" altLang="zh-CN" sz="2000" b="1" dirty="0"/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{  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 char no[9];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 char name[10];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 char sex;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 int  age;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 char address[20];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};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typedef struct </a:t>
            </a:r>
            <a:r>
              <a:rPr lang="en-US" altLang="zh-CN" sz="2000" b="1" dirty="0" err="1"/>
              <a:t>student_info</a:t>
            </a:r>
            <a:r>
              <a:rPr lang="en-US" altLang="zh-CN" sz="2000" b="1" dirty="0"/>
              <a:t> STUINFO;</a:t>
            </a:r>
          </a:p>
          <a:p>
            <a:pPr marL="457200" indent="-457200">
              <a:tabLst>
                <a:tab pos="914400" algn="l"/>
              </a:tabLst>
            </a:pPr>
            <a:endParaRPr lang="en-US" altLang="zh-CN" sz="2000" b="1" dirty="0"/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void </a:t>
            </a:r>
            <a:r>
              <a:rPr lang="en-US" altLang="zh-CN" sz="2000" b="1" dirty="0" err="1"/>
              <a:t>WriteToFile</a:t>
            </a:r>
            <a:r>
              <a:rPr lang="en-US" altLang="zh-CN" sz="2000" b="1" dirty="0"/>
              <a:t> (STUINFO *</a:t>
            </a:r>
            <a:r>
              <a:rPr lang="en-US" altLang="zh-CN" sz="2000" b="1" dirty="0" err="1"/>
              <a:t>pstu</a:t>
            </a:r>
            <a:r>
              <a:rPr lang="en-US" altLang="zh-CN" sz="2000" b="1" dirty="0"/>
              <a:t>, int num);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void </a:t>
            </a:r>
            <a:r>
              <a:rPr lang="en-US" altLang="zh-CN" sz="2000" b="1" dirty="0" err="1"/>
              <a:t>ReadFromFile</a:t>
            </a:r>
            <a:r>
              <a:rPr lang="en-US" altLang="zh-CN" sz="2000" b="1" dirty="0"/>
              <a:t> (STUINFO *</a:t>
            </a:r>
            <a:r>
              <a:rPr lang="en-US" altLang="zh-CN" sz="2000" b="1" dirty="0" err="1"/>
              <a:t>pstu</a:t>
            </a:r>
            <a:r>
              <a:rPr lang="en-US" altLang="zh-CN" sz="2000" b="1" dirty="0"/>
              <a:t>, int num);</a:t>
            </a:r>
            <a:endParaRPr lang="en-US" altLang="zh-CN" sz="2000" dirty="0"/>
          </a:p>
        </p:txBody>
      </p:sp>
      <p:sp>
        <p:nvSpPr>
          <p:cNvPr id="1088520" name="Rectangle 8"/>
          <p:cNvSpPr>
            <a:spLocks noChangeArrowheads="1"/>
          </p:cNvSpPr>
          <p:nvPr/>
        </p:nvSpPr>
        <p:spPr bwMode="auto">
          <a:xfrm>
            <a:off x="361219" y="740338"/>
            <a:ext cx="11160993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solidFill>
                  <a:srgbClr val="CC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【</a:t>
            </a:r>
            <a:r>
              <a:rPr lang="zh-CN" altLang="en-US" b="1" dirty="0">
                <a:solidFill>
                  <a:srgbClr val="CC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 dirty="0">
                <a:solidFill>
                  <a:srgbClr val="CC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6】</a:t>
            </a:r>
            <a:r>
              <a:rPr lang="zh-CN" altLang="en-US" b="1" dirty="0">
                <a:solidFill>
                  <a:srgbClr val="CC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将多个学生的基本信息存放到</a:t>
            </a:r>
            <a:r>
              <a:rPr lang="en-US" altLang="zh-CN" b="1" dirty="0">
                <a:solidFill>
                  <a:srgbClr val="CC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student.dat</a:t>
            </a:r>
            <a:r>
              <a:rPr lang="zh-CN" altLang="en-US" b="1" dirty="0">
                <a:solidFill>
                  <a:srgbClr val="CC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文件中，然后从文件中读出并显示。</a:t>
            </a:r>
          </a:p>
        </p:txBody>
      </p:sp>
      <p:sp>
        <p:nvSpPr>
          <p:cNvPr id="1088556" name="Rectangle 44" descr="信纸"/>
          <p:cNvSpPr>
            <a:spLocks noChangeArrowheads="1"/>
          </p:cNvSpPr>
          <p:nvPr/>
        </p:nvSpPr>
        <p:spPr bwMode="auto">
          <a:xfrm>
            <a:off x="5375920" y="1875805"/>
            <a:ext cx="6577013" cy="47021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none" anchor="ctr">
            <a:spAutoFit/>
          </a:bodyPr>
          <a:lstStyle/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 main ( )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{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</a:t>
            </a:r>
            <a:r>
              <a:rPr lang="en-US" altLang="zh-CN" sz="2000" b="1" dirty="0" err="1">
                <a:ea typeface="楷体_GB2312" pitchFamily="49" charset="-122"/>
              </a:rPr>
              <a:t>int</a:t>
            </a:r>
            <a:r>
              <a:rPr lang="en-US" altLang="zh-CN" sz="2000" b="1" dirty="0">
                <a:ea typeface="楷体_GB2312" pitchFamily="49" charset="-122"/>
              </a:rPr>
              <a:t> 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, num;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STUINFO *</a:t>
            </a:r>
            <a:r>
              <a:rPr lang="en-US" altLang="zh-CN" sz="2000" b="1" dirty="0" err="1">
                <a:ea typeface="楷体_GB2312" pitchFamily="49" charset="-122"/>
              </a:rPr>
              <a:t>pstu</a:t>
            </a:r>
            <a:r>
              <a:rPr lang="en-US" altLang="zh-CN" sz="2000" b="1" dirty="0">
                <a:ea typeface="楷体_GB2312" pitchFamily="49" charset="-122"/>
              </a:rPr>
              <a:t>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rgbClr val="002060"/>
                </a:solidFill>
                <a:ea typeface="楷体_GB2312" pitchFamily="49" charset="-122"/>
              </a:rPr>
              <a:t> 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输入学生人数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("input the number of students: ");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</a:t>
            </a:r>
            <a:r>
              <a:rPr lang="en-US" altLang="zh-CN" sz="2000" b="1" dirty="0" err="1">
                <a:ea typeface="楷体_GB2312" pitchFamily="49" charset="-122"/>
              </a:rPr>
              <a:t>scanf</a:t>
            </a:r>
            <a:r>
              <a:rPr lang="en-US" altLang="zh-CN" sz="2000" b="1" dirty="0">
                <a:ea typeface="楷体_GB2312" pitchFamily="49" charset="-122"/>
              </a:rPr>
              <a:t> ("%d", &amp;num);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</a:t>
            </a:r>
            <a:r>
              <a:rPr lang="en-US" altLang="zh-CN" sz="2000" b="1" dirty="0" err="1">
                <a:ea typeface="楷体_GB2312" pitchFamily="49" charset="-122"/>
              </a:rPr>
              <a:t>fflush</a:t>
            </a:r>
            <a:r>
              <a:rPr lang="en-US" altLang="zh-CN" sz="2000" b="1" dirty="0">
                <a:ea typeface="楷体_GB2312" pitchFamily="49" charset="-122"/>
              </a:rPr>
              <a:t> (</a:t>
            </a:r>
            <a:r>
              <a:rPr lang="en-US" altLang="zh-CN" sz="2000" b="1" dirty="0" err="1">
                <a:ea typeface="楷体_GB2312" pitchFamily="49" charset="-122"/>
              </a:rPr>
              <a:t>stdin</a:t>
            </a:r>
            <a:r>
              <a:rPr lang="en-US" altLang="zh-CN" sz="2000" b="1" dirty="0">
                <a:ea typeface="楷体_GB2312" pitchFamily="49" charset="-122"/>
              </a:rPr>
              <a:t>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latin typeface="+mn-lt"/>
                <a:ea typeface="楷体" pitchFamily="49" charset="-122"/>
              </a:rPr>
              <a:t> 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动态分配内存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solidFill>
                  <a:srgbClr val="C00000"/>
                </a:solidFill>
                <a:ea typeface="楷体_GB2312" pitchFamily="49" charset="-122"/>
              </a:rPr>
              <a:t>    </a:t>
            </a:r>
            <a:r>
              <a:rPr lang="en-US" altLang="zh-CN" sz="2000" b="1" dirty="0" err="1">
                <a:solidFill>
                  <a:srgbClr val="C00000"/>
                </a:solidFill>
                <a:ea typeface="楷体_GB2312" pitchFamily="49" charset="-122"/>
              </a:rPr>
              <a:t>pstu</a:t>
            </a:r>
            <a:r>
              <a:rPr lang="en-US" altLang="zh-CN" sz="2000" b="1" dirty="0">
                <a:solidFill>
                  <a:srgbClr val="C00000"/>
                </a:solidFill>
                <a:ea typeface="楷体_GB2312" pitchFamily="49" charset="-122"/>
              </a:rPr>
              <a:t> = (STUINFO *) </a:t>
            </a:r>
            <a:r>
              <a:rPr lang="en-US" altLang="zh-CN" sz="2000" b="1" dirty="0" err="1">
                <a:solidFill>
                  <a:srgbClr val="C00000"/>
                </a:solidFill>
                <a:ea typeface="楷体_GB2312" pitchFamily="49" charset="-122"/>
              </a:rPr>
              <a:t>malloc</a:t>
            </a:r>
            <a:r>
              <a:rPr lang="en-US" altLang="zh-CN" sz="2000" b="1" dirty="0">
                <a:solidFill>
                  <a:srgbClr val="C00000"/>
                </a:solidFill>
                <a:ea typeface="楷体_GB2312" pitchFamily="49" charset="-122"/>
              </a:rPr>
              <a:t> (num * </a:t>
            </a:r>
            <a:r>
              <a:rPr lang="en-US" altLang="zh-CN" sz="2000" b="1" dirty="0" err="1">
                <a:solidFill>
                  <a:srgbClr val="C00000"/>
                </a:solidFill>
                <a:ea typeface="楷体_GB2312" pitchFamily="49" charset="-122"/>
              </a:rPr>
              <a:t>sizeof</a:t>
            </a:r>
            <a:r>
              <a:rPr lang="en-US" altLang="zh-CN" sz="2000" b="1" dirty="0">
                <a:solidFill>
                  <a:srgbClr val="C00000"/>
                </a:solidFill>
                <a:ea typeface="楷体_GB2312" pitchFamily="49" charset="-122"/>
              </a:rPr>
              <a:t>(STUINFO));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if (</a:t>
            </a:r>
            <a:r>
              <a:rPr lang="en-US" altLang="zh-CN" sz="2000" b="1" dirty="0" err="1">
                <a:ea typeface="楷体_GB2312" pitchFamily="49" charset="-122"/>
              </a:rPr>
              <a:t>pstu</a:t>
            </a:r>
            <a:r>
              <a:rPr lang="en-US" altLang="zh-CN" sz="2000" b="1" dirty="0">
                <a:ea typeface="楷体_GB2312" pitchFamily="49" charset="-122"/>
              </a:rPr>
              <a:t> == NULL)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内存分配失败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  </a:t>
            </a:r>
            <a:r>
              <a:rPr lang="en-US" altLang="zh-CN" sz="2000" b="1" dirty="0">
                <a:ea typeface="楷体_GB2312" pitchFamily="49" charset="-122"/>
              </a:rPr>
              <a:t>{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("not enough memory\n");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  return;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CE54C0D-D753-49FB-87BE-2E4694A91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12.5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文件的打开、读写和关闭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885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8855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8514" grpId="0" animBg="1"/>
      <p:bldP spid="108855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566" name="Rectangle 6"/>
          <p:cNvSpPr>
            <a:spLocks noChangeArrowheads="1"/>
          </p:cNvSpPr>
          <p:nvPr/>
        </p:nvSpPr>
        <p:spPr bwMode="auto">
          <a:xfrm>
            <a:off x="433698" y="859763"/>
            <a:ext cx="1091888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【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6】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将多个学生的基本信息存放到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student.dat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文件中，然后从文件中读出并显示。</a:t>
            </a:r>
          </a:p>
        </p:txBody>
      </p:sp>
      <p:sp>
        <p:nvSpPr>
          <p:cNvPr id="1090568" name="Rectangle 8" descr="信纸"/>
          <p:cNvSpPr>
            <a:spLocks noChangeArrowheads="1"/>
          </p:cNvSpPr>
          <p:nvPr/>
        </p:nvSpPr>
        <p:spPr bwMode="auto">
          <a:xfrm>
            <a:off x="623392" y="1100354"/>
            <a:ext cx="5443537" cy="56165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none" anchor="ctr">
            <a:spAutoFit/>
          </a:bodyPr>
          <a:lstStyle/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  for (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 = 0; 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 &lt; num; 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++)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输入学生信息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/>
              <a:t>    </a:t>
            </a:r>
            <a:r>
              <a:rPr lang="en-US" altLang="zh-CN" sz="2000" b="1" dirty="0"/>
              <a:t>{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    </a:t>
            </a:r>
            <a:r>
              <a:rPr lang="en-US" altLang="zh-CN" sz="2000" b="1" dirty="0" err="1"/>
              <a:t>printf</a:t>
            </a:r>
            <a:r>
              <a:rPr lang="en-US" altLang="zh-CN" sz="2000" b="1" dirty="0"/>
              <a:t> ("the %</a:t>
            </a:r>
            <a:r>
              <a:rPr lang="en-US" altLang="zh-CN" sz="2000" b="1" dirty="0" err="1"/>
              <a:t>dth</a:t>
            </a:r>
            <a:r>
              <a:rPr lang="en-US" altLang="zh-CN" sz="2000" b="1" dirty="0"/>
              <a:t> student: no = ", i+1);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    gets (</a:t>
            </a:r>
            <a:r>
              <a:rPr lang="en-US" altLang="zh-CN" sz="2000" b="1" dirty="0" err="1"/>
              <a:t>pstu</a:t>
            </a:r>
            <a:r>
              <a:rPr lang="en-US" altLang="zh-CN" sz="2000" b="1" dirty="0"/>
              <a:t>[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].no);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    </a:t>
            </a:r>
            <a:r>
              <a:rPr lang="en-US" altLang="zh-CN" sz="2000" b="1" dirty="0" err="1"/>
              <a:t>fflush</a:t>
            </a:r>
            <a:r>
              <a:rPr lang="en-US" altLang="zh-CN" sz="2000" b="1" dirty="0"/>
              <a:t> (</a:t>
            </a:r>
            <a:r>
              <a:rPr lang="en-US" altLang="zh-CN" sz="2000" b="1" dirty="0" err="1"/>
              <a:t>stdin</a:t>
            </a:r>
            <a:r>
              <a:rPr lang="en-US" altLang="zh-CN" sz="2000" b="1" dirty="0"/>
              <a:t>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    </a:t>
            </a:r>
            <a:r>
              <a:rPr lang="en-US" altLang="zh-CN" sz="2000" b="1" dirty="0" err="1"/>
              <a:t>printf</a:t>
            </a:r>
            <a:r>
              <a:rPr lang="en-US" altLang="zh-CN" sz="2000" b="1" dirty="0"/>
              <a:t> ("the %</a:t>
            </a:r>
            <a:r>
              <a:rPr lang="en-US" altLang="zh-CN" sz="2000" b="1" dirty="0" err="1"/>
              <a:t>dth</a:t>
            </a:r>
            <a:r>
              <a:rPr lang="en-US" altLang="zh-CN" sz="2000" b="1" dirty="0"/>
              <a:t> student: name = ", i+1);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    gets (</a:t>
            </a:r>
            <a:r>
              <a:rPr lang="en-US" altLang="zh-CN" sz="2000" b="1" dirty="0" err="1"/>
              <a:t>pstu</a:t>
            </a:r>
            <a:r>
              <a:rPr lang="en-US" altLang="zh-CN" sz="2000" b="1" dirty="0"/>
              <a:t>[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].name);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    </a:t>
            </a:r>
            <a:r>
              <a:rPr lang="en-US" altLang="zh-CN" sz="2000" b="1" dirty="0" err="1"/>
              <a:t>fflush</a:t>
            </a:r>
            <a:r>
              <a:rPr lang="en-US" altLang="zh-CN" sz="2000" b="1" dirty="0"/>
              <a:t> (</a:t>
            </a:r>
            <a:r>
              <a:rPr lang="en-US" altLang="zh-CN" sz="2000" b="1" dirty="0" err="1"/>
              <a:t>stdin</a:t>
            </a:r>
            <a:r>
              <a:rPr lang="en-US" altLang="zh-CN" sz="2000" b="1" dirty="0"/>
              <a:t>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    </a:t>
            </a:r>
            <a:r>
              <a:rPr lang="en-US" altLang="zh-CN" sz="2000" b="1" dirty="0" err="1"/>
              <a:t>printf</a:t>
            </a:r>
            <a:r>
              <a:rPr lang="en-US" altLang="zh-CN" sz="2000" b="1" dirty="0"/>
              <a:t> ("the %</a:t>
            </a:r>
            <a:r>
              <a:rPr lang="en-US" altLang="zh-CN" sz="2000" b="1" dirty="0" err="1"/>
              <a:t>dth</a:t>
            </a:r>
            <a:r>
              <a:rPr lang="en-US" altLang="zh-CN" sz="2000" b="1" dirty="0"/>
              <a:t> student: sex = ", i+1);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    </a:t>
            </a:r>
            <a:r>
              <a:rPr lang="en-US" altLang="zh-CN" sz="2000" b="1" dirty="0" err="1"/>
              <a:t>scanf</a:t>
            </a:r>
            <a:r>
              <a:rPr lang="en-US" altLang="zh-CN" sz="2000" b="1" dirty="0"/>
              <a:t> ("%</a:t>
            </a:r>
            <a:r>
              <a:rPr lang="en-US" altLang="zh-CN" sz="2000" b="1" dirty="0" err="1"/>
              <a:t>c",&amp;pstu</a:t>
            </a:r>
            <a:r>
              <a:rPr lang="en-US" altLang="zh-CN" sz="2000" b="1" dirty="0"/>
              <a:t>[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].sex);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    </a:t>
            </a:r>
            <a:r>
              <a:rPr lang="en-US" altLang="zh-CN" sz="2000" b="1" dirty="0" err="1"/>
              <a:t>fflush</a:t>
            </a:r>
            <a:r>
              <a:rPr lang="en-US" altLang="zh-CN" sz="2000" b="1" dirty="0"/>
              <a:t> (</a:t>
            </a:r>
            <a:r>
              <a:rPr lang="en-US" altLang="zh-CN" sz="2000" b="1" dirty="0" err="1"/>
              <a:t>stdin</a:t>
            </a:r>
            <a:r>
              <a:rPr lang="en-US" altLang="zh-CN" sz="2000" b="1" dirty="0"/>
              <a:t>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    </a:t>
            </a:r>
            <a:r>
              <a:rPr lang="en-US" altLang="zh-CN" sz="2000" b="1" dirty="0" err="1"/>
              <a:t>printf</a:t>
            </a:r>
            <a:r>
              <a:rPr lang="en-US" altLang="zh-CN" sz="2000" b="1" dirty="0"/>
              <a:t> ("the %</a:t>
            </a:r>
            <a:r>
              <a:rPr lang="en-US" altLang="zh-CN" sz="2000" b="1" dirty="0" err="1"/>
              <a:t>dth</a:t>
            </a:r>
            <a:r>
              <a:rPr lang="en-US" altLang="zh-CN" sz="2000" b="1" dirty="0"/>
              <a:t> student: age = ", i+1);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    </a:t>
            </a:r>
            <a:r>
              <a:rPr lang="en-US" altLang="zh-CN" sz="2000" b="1" dirty="0" err="1"/>
              <a:t>scanf</a:t>
            </a:r>
            <a:r>
              <a:rPr lang="en-US" altLang="zh-CN" sz="2000" b="1" dirty="0"/>
              <a:t> ("%d", &amp;</a:t>
            </a:r>
            <a:r>
              <a:rPr lang="en-US" altLang="zh-CN" sz="2000" b="1" dirty="0" err="1"/>
              <a:t>pstu</a:t>
            </a:r>
            <a:r>
              <a:rPr lang="en-US" altLang="zh-CN" sz="2000" b="1" dirty="0"/>
              <a:t>[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].age);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    </a:t>
            </a:r>
            <a:r>
              <a:rPr lang="en-US" altLang="zh-CN" sz="2000" b="1" dirty="0" err="1"/>
              <a:t>fflush</a:t>
            </a:r>
            <a:r>
              <a:rPr lang="en-US" altLang="zh-CN" sz="2000" b="1" dirty="0"/>
              <a:t> (</a:t>
            </a:r>
            <a:r>
              <a:rPr lang="en-US" altLang="zh-CN" sz="2000" b="1" dirty="0" err="1"/>
              <a:t>stdin</a:t>
            </a:r>
            <a:r>
              <a:rPr lang="en-US" altLang="zh-CN" sz="2000" b="1" dirty="0"/>
              <a:t>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    </a:t>
            </a:r>
            <a:r>
              <a:rPr lang="en-US" altLang="zh-CN" sz="2000" b="1" dirty="0" err="1"/>
              <a:t>printf</a:t>
            </a:r>
            <a:r>
              <a:rPr lang="en-US" altLang="zh-CN" sz="2000" b="1" dirty="0"/>
              <a:t> ("the %</a:t>
            </a:r>
            <a:r>
              <a:rPr lang="en-US" altLang="zh-CN" sz="2000" b="1" dirty="0" err="1"/>
              <a:t>dth</a:t>
            </a:r>
            <a:r>
              <a:rPr lang="en-US" altLang="zh-CN" sz="2000" b="1" dirty="0"/>
              <a:t> student: address = ", i+1);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    gets (</a:t>
            </a:r>
            <a:r>
              <a:rPr lang="en-US" altLang="zh-CN" sz="2000" b="1" dirty="0" err="1"/>
              <a:t>pstu</a:t>
            </a:r>
            <a:r>
              <a:rPr lang="en-US" altLang="zh-CN" sz="2000" b="1" dirty="0"/>
              <a:t>[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].address);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    </a:t>
            </a:r>
            <a:r>
              <a:rPr lang="en-US" altLang="zh-CN" sz="2000" b="1" dirty="0" err="1"/>
              <a:t>fflush</a:t>
            </a:r>
            <a:r>
              <a:rPr lang="en-US" altLang="zh-CN" sz="2000" b="1" dirty="0"/>
              <a:t> (</a:t>
            </a:r>
            <a:r>
              <a:rPr lang="en-US" altLang="zh-CN" sz="2000" b="1" dirty="0" err="1"/>
              <a:t>stdin</a:t>
            </a:r>
            <a:r>
              <a:rPr lang="en-US" altLang="zh-CN" sz="2000" b="1" dirty="0"/>
              <a:t>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  }</a:t>
            </a:r>
          </a:p>
        </p:txBody>
      </p:sp>
      <p:sp>
        <p:nvSpPr>
          <p:cNvPr id="1090569" name="Rectangle 9" descr="信纸"/>
          <p:cNvSpPr>
            <a:spLocks noChangeArrowheads="1"/>
          </p:cNvSpPr>
          <p:nvPr/>
        </p:nvSpPr>
        <p:spPr bwMode="auto">
          <a:xfrm>
            <a:off x="4223792" y="1915068"/>
            <a:ext cx="7457491" cy="4708981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none" anchor="ctr">
            <a:spAutoFit/>
          </a:bodyPr>
          <a:lstStyle/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latin typeface="+mn-lt"/>
                <a:ea typeface="楷体" pitchFamily="49" charset="-122"/>
              </a:rPr>
              <a:t> 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将</a:t>
            </a:r>
            <a:r>
              <a:rPr lang="en-US" altLang="zh-CN" sz="2000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pstu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所指向的学生信息写入文件中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solidFill>
                  <a:srgbClr val="C00000"/>
                </a:solidFill>
                <a:ea typeface="楷体_GB2312" pitchFamily="49" charset="-122"/>
              </a:rPr>
              <a:t>    </a:t>
            </a:r>
            <a:r>
              <a:rPr lang="en-US" altLang="zh-CN" sz="2000" b="1" dirty="0" err="1">
                <a:solidFill>
                  <a:srgbClr val="C00000"/>
                </a:solidFill>
                <a:ea typeface="楷体_GB2312" pitchFamily="49" charset="-122"/>
              </a:rPr>
              <a:t>WriteToFile</a:t>
            </a:r>
            <a:r>
              <a:rPr lang="en-US" altLang="zh-CN" sz="2000" b="1" dirty="0">
                <a:solidFill>
                  <a:srgbClr val="C00000"/>
                </a:solidFill>
                <a:ea typeface="楷体_GB2312" pitchFamily="49" charset="-122"/>
              </a:rPr>
              <a:t> (</a:t>
            </a:r>
            <a:r>
              <a:rPr lang="en-US" altLang="zh-CN" sz="2000" b="1" dirty="0" err="1">
                <a:solidFill>
                  <a:srgbClr val="C00000"/>
                </a:solidFill>
                <a:ea typeface="楷体_GB2312" pitchFamily="49" charset="-122"/>
              </a:rPr>
              <a:t>pstu</a:t>
            </a:r>
            <a:r>
              <a:rPr lang="en-US" altLang="zh-CN" sz="2000" b="1" dirty="0">
                <a:solidFill>
                  <a:srgbClr val="C00000"/>
                </a:solidFill>
                <a:ea typeface="楷体_GB2312" pitchFamily="49" charset="-122"/>
              </a:rPr>
              <a:t>, num);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将</a:t>
            </a:r>
            <a:r>
              <a:rPr lang="en-US" altLang="zh-CN" sz="2000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pstu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所指向的内存块清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0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</a:t>
            </a:r>
            <a:r>
              <a:rPr lang="en-US" altLang="zh-CN" sz="2000" b="1" dirty="0" err="1">
                <a:ea typeface="楷体_GB2312" pitchFamily="49" charset="-122"/>
              </a:rPr>
              <a:t>memset</a:t>
            </a:r>
            <a:r>
              <a:rPr lang="en-US" altLang="zh-CN" sz="2000" b="1" dirty="0">
                <a:ea typeface="楷体_GB2312" pitchFamily="49" charset="-122"/>
              </a:rPr>
              <a:t> (</a:t>
            </a:r>
            <a:r>
              <a:rPr lang="en-US" altLang="zh-CN" sz="2000" b="1" dirty="0" err="1">
                <a:ea typeface="楷体_GB2312" pitchFamily="49" charset="-122"/>
              </a:rPr>
              <a:t>pstu</a:t>
            </a:r>
            <a:r>
              <a:rPr lang="en-US" altLang="zh-CN" sz="2000" b="1" dirty="0">
                <a:ea typeface="楷体_GB2312" pitchFamily="49" charset="-122"/>
              </a:rPr>
              <a:t>, 0, num * </a:t>
            </a:r>
            <a:r>
              <a:rPr lang="en-US" altLang="zh-CN" sz="2000" b="1" dirty="0" err="1">
                <a:ea typeface="楷体_GB2312" pitchFamily="49" charset="-122"/>
              </a:rPr>
              <a:t>sizeof</a:t>
            </a:r>
            <a:r>
              <a:rPr lang="en-US" altLang="zh-CN" sz="2000" b="1" dirty="0">
                <a:ea typeface="楷体_GB2312" pitchFamily="49" charset="-122"/>
              </a:rPr>
              <a:t>(STUINFO));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latin typeface="+mn-lt"/>
                <a:ea typeface="楷体" pitchFamily="49" charset="-122"/>
              </a:rPr>
              <a:t> 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从文件中读取学生信息到</a:t>
            </a:r>
            <a:r>
              <a:rPr lang="en-US" altLang="zh-CN" sz="2000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pstu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所指向的内存块中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solidFill>
                  <a:srgbClr val="C00000"/>
                </a:solidFill>
                <a:ea typeface="楷体_GB2312" pitchFamily="49" charset="-122"/>
              </a:rPr>
              <a:t>    </a:t>
            </a:r>
            <a:r>
              <a:rPr lang="en-US" altLang="zh-CN" sz="2000" b="1" dirty="0" err="1">
                <a:solidFill>
                  <a:srgbClr val="C00000"/>
                </a:solidFill>
                <a:ea typeface="楷体_GB2312" pitchFamily="49" charset="-122"/>
              </a:rPr>
              <a:t>ReadFromFile</a:t>
            </a:r>
            <a:r>
              <a:rPr lang="en-US" altLang="zh-CN" sz="2000" b="1" dirty="0">
                <a:solidFill>
                  <a:srgbClr val="C00000"/>
                </a:solidFill>
                <a:ea typeface="楷体_GB2312" pitchFamily="49" charset="-122"/>
              </a:rPr>
              <a:t> (</a:t>
            </a:r>
            <a:r>
              <a:rPr lang="en-US" altLang="zh-CN" sz="2000" b="1" dirty="0" err="1">
                <a:solidFill>
                  <a:srgbClr val="C00000"/>
                </a:solidFill>
                <a:ea typeface="楷体_GB2312" pitchFamily="49" charset="-122"/>
              </a:rPr>
              <a:t>pstu</a:t>
            </a:r>
            <a:r>
              <a:rPr lang="en-US" altLang="zh-CN" sz="2000" b="1" dirty="0">
                <a:solidFill>
                  <a:srgbClr val="C00000"/>
                </a:solidFill>
                <a:ea typeface="楷体_GB2312" pitchFamily="49" charset="-122"/>
              </a:rPr>
              <a:t>, num);  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latin typeface="+mn-lt"/>
                <a:ea typeface="楷体" pitchFamily="49" charset="-122"/>
              </a:rPr>
              <a:t> 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显示学生信息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("%10s%12s%6s%5s%20s\</a:t>
            </a:r>
            <a:r>
              <a:rPr lang="en-US" altLang="zh-CN" sz="2000" b="1" dirty="0" err="1">
                <a:ea typeface="楷体_GB2312" pitchFamily="49" charset="-122"/>
              </a:rPr>
              <a:t>n","no","name</a:t>
            </a:r>
            <a:r>
              <a:rPr lang="en-US" altLang="zh-CN" sz="2000" b="1" dirty="0">
                <a:ea typeface="楷体_GB2312" pitchFamily="49" charset="-122"/>
              </a:rPr>
              <a:t>",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            "</a:t>
            </a:r>
            <a:r>
              <a:rPr lang="en-US" altLang="zh-CN" sz="2000" b="1" dirty="0" err="1">
                <a:ea typeface="楷体_GB2312" pitchFamily="49" charset="-122"/>
              </a:rPr>
              <a:t>sex","age","address</a:t>
            </a:r>
            <a:r>
              <a:rPr lang="en-US" altLang="zh-CN" sz="2000" b="1" dirty="0">
                <a:ea typeface="楷体_GB2312" pitchFamily="49" charset="-122"/>
              </a:rPr>
              <a:t>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for (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 = 0; 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 &lt; num; 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++)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("%10s%12s%6c%5d%20s\n", </a:t>
            </a:r>
            <a:r>
              <a:rPr lang="en-US" altLang="zh-CN" sz="2000" b="1" dirty="0" err="1">
                <a:ea typeface="楷体_GB2312" pitchFamily="49" charset="-122"/>
              </a:rPr>
              <a:t>pstu</a:t>
            </a:r>
            <a:r>
              <a:rPr lang="en-US" altLang="zh-CN" sz="2000" b="1" dirty="0">
                <a:ea typeface="楷体_GB2312" pitchFamily="49" charset="-122"/>
              </a:rPr>
              <a:t>[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].no, </a:t>
            </a:r>
            <a:r>
              <a:rPr lang="en-US" altLang="zh-CN" sz="2000" b="1" dirty="0" err="1">
                <a:ea typeface="楷体_GB2312" pitchFamily="49" charset="-122"/>
              </a:rPr>
              <a:t>pstu</a:t>
            </a:r>
            <a:r>
              <a:rPr lang="en-US" altLang="zh-CN" sz="2000" b="1" dirty="0">
                <a:ea typeface="楷体_GB2312" pitchFamily="49" charset="-122"/>
              </a:rPr>
              <a:t>[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].name,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                    </a:t>
            </a:r>
            <a:r>
              <a:rPr lang="en-US" altLang="zh-CN" sz="2000" b="1" dirty="0" err="1">
                <a:ea typeface="楷体_GB2312" pitchFamily="49" charset="-122"/>
              </a:rPr>
              <a:t>pstu</a:t>
            </a:r>
            <a:r>
              <a:rPr lang="en-US" altLang="zh-CN" sz="2000" b="1" dirty="0">
                <a:ea typeface="楷体_GB2312" pitchFamily="49" charset="-122"/>
              </a:rPr>
              <a:t>[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].sex, </a:t>
            </a:r>
            <a:r>
              <a:rPr lang="en-US" altLang="zh-CN" sz="2000" b="1" dirty="0" err="1">
                <a:ea typeface="楷体_GB2312" pitchFamily="49" charset="-122"/>
              </a:rPr>
              <a:t>pstu</a:t>
            </a:r>
            <a:r>
              <a:rPr lang="en-US" altLang="zh-CN" sz="2000" b="1" dirty="0">
                <a:ea typeface="楷体_GB2312" pitchFamily="49" charset="-122"/>
              </a:rPr>
              <a:t>[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].age, </a:t>
            </a:r>
            <a:r>
              <a:rPr lang="en-US" altLang="zh-CN" sz="2000" b="1" dirty="0" err="1">
                <a:ea typeface="楷体_GB2312" pitchFamily="49" charset="-122"/>
              </a:rPr>
              <a:t>pstu</a:t>
            </a:r>
            <a:r>
              <a:rPr lang="en-US" altLang="zh-CN" sz="2000" b="1" dirty="0">
                <a:ea typeface="楷体_GB2312" pitchFamily="49" charset="-122"/>
              </a:rPr>
              <a:t>[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].address);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free (</a:t>
            </a:r>
            <a:r>
              <a:rPr lang="en-US" altLang="zh-CN" sz="2000" b="1" dirty="0" err="1">
                <a:ea typeface="楷体_GB2312" pitchFamily="49" charset="-122"/>
              </a:rPr>
              <a:t>pstu</a:t>
            </a:r>
            <a:r>
              <a:rPr lang="en-US" altLang="zh-CN" sz="2000" b="1" dirty="0">
                <a:ea typeface="楷体_GB2312" pitchFamily="49" charset="-122"/>
              </a:rPr>
              <a:t>);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释放动态分配的内存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  </a:t>
            </a:r>
            <a:r>
              <a:rPr lang="en-US" altLang="zh-CN" sz="2000" b="1" dirty="0">
                <a:ea typeface="楷体_GB2312" pitchFamily="49" charset="-122"/>
              </a:rPr>
              <a:t>return 0;</a:t>
            </a:r>
            <a:r>
              <a:rPr lang="zh-CN" altLang="en-US" sz="2000" b="1" dirty="0">
                <a:ea typeface="楷体_GB2312" pitchFamily="49" charset="-122"/>
              </a:rPr>
              <a:t> </a:t>
            </a:r>
            <a:endParaRPr lang="en-US" altLang="zh-CN" sz="2000" b="1" dirty="0">
              <a:ea typeface="楷体_GB2312" pitchFamily="49" charset="-122"/>
            </a:endParaRP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</a:t>
            </a:r>
            <a:r>
              <a:rPr lang="en-US" altLang="zh-CN" sz="2000" b="1" dirty="0">
                <a:ea typeface="楷体_GB2312" pitchFamily="49" charset="-122"/>
              </a:rPr>
              <a:t>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917D4909-6176-4441-B175-3C83BFA2C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12.5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文件的打开、读写和关闭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905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905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0568" grpId="0" animBg="1"/>
      <p:bldP spid="109056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613" name="Rectangle 5"/>
          <p:cNvSpPr>
            <a:spLocks noChangeArrowheads="1"/>
          </p:cNvSpPr>
          <p:nvPr/>
        </p:nvSpPr>
        <p:spPr bwMode="auto">
          <a:xfrm>
            <a:off x="407368" y="836712"/>
            <a:ext cx="1095707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solidFill>
                  <a:srgbClr val="CC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【</a:t>
            </a:r>
            <a:r>
              <a:rPr lang="zh-CN" altLang="en-US" b="1" dirty="0">
                <a:solidFill>
                  <a:srgbClr val="CC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 dirty="0">
                <a:solidFill>
                  <a:srgbClr val="CC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6】</a:t>
            </a:r>
            <a:r>
              <a:rPr lang="zh-CN" altLang="en-US" b="1" dirty="0">
                <a:solidFill>
                  <a:srgbClr val="CC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将多个学生的基本信息存放到</a:t>
            </a:r>
            <a:r>
              <a:rPr lang="en-US" altLang="zh-CN" b="1" dirty="0">
                <a:solidFill>
                  <a:srgbClr val="CC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student.dat</a:t>
            </a:r>
            <a:r>
              <a:rPr lang="zh-CN" altLang="en-US" b="1" dirty="0">
                <a:solidFill>
                  <a:srgbClr val="CC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文件中，然后从文件中读出并显示。</a:t>
            </a:r>
          </a:p>
        </p:txBody>
      </p:sp>
      <p:sp>
        <p:nvSpPr>
          <p:cNvPr id="1092614" name="Rectangle 6" descr="信纸"/>
          <p:cNvSpPr>
            <a:spLocks noChangeArrowheads="1"/>
          </p:cNvSpPr>
          <p:nvPr/>
        </p:nvSpPr>
        <p:spPr bwMode="auto">
          <a:xfrm>
            <a:off x="615503" y="1767929"/>
            <a:ext cx="5624513" cy="43973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none" anchor="ctr">
            <a:spAutoFit/>
          </a:bodyPr>
          <a:lstStyle/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将</a:t>
            </a:r>
            <a:r>
              <a:rPr lang="en-US" altLang="zh-CN" sz="2000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pstu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所指向的学生信息写入文件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student.dat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rgbClr val="CC0000"/>
                </a:solidFill>
              </a:rPr>
              <a:t>void </a:t>
            </a:r>
            <a:r>
              <a:rPr lang="en-US" altLang="zh-CN" sz="2000" b="1" dirty="0" err="1">
                <a:solidFill>
                  <a:srgbClr val="CC0000"/>
                </a:solidFill>
              </a:rPr>
              <a:t>WriteToFile</a:t>
            </a:r>
            <a:r>
              <a:rPr lang="en-US" altLang="zh-CN" sz="2000" b="1" dirty="0">
                <a:solidFill>
                  <a:srgbClr val="CC0000"/>
                </a:solidFill>
              </a:rPr>
              <a:t> (STUINFO *</a:t>
            </a:r>
            <a:r>
              <a:rPr lang="en-US" altLang="zh-CN" sz="2000" b="1" dirty="0" err="1">
                <a:solidFill>
                  <a:srgbClr val="CC0000"/>
                </a:solidFill>
              </a:rPr>
              <a:t>pstu</a:t>
            </a:r>
            <a:r>
              <a:rPr lang="en-US" altLang="zh-CN" sz="2000" b="1" dirty="0">
                <a:solidFill>
                  <a:srgbClr val="CC0000"/>
                </a:solidFill>
              </a:rPr>
              <a:t>, </a:t>
            </a:r>
            <a:r>
              <a:rPr lang="en-US" altLang="zh-CN" sz="2000" b="1" dirty="0" err="1">
                <a:solidFill>
                  <a:srgbClr val="CC0000"/>
                </a:solidFill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</a:rPr>
              <a:t> num)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{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  FILE *</a:t>
            </a:r>
            <a:r>
              <a:rPr lang="en-US" altLang="zh-CN" sz="2000" b="1" dirty="0" err="1"/>
              <a:t>fp</a:t>
            </a:r>
            <a:r>
              <a:rPr lang="en-US" altLang="zh-CN" sz="2000" b="1" dirty="0"/>
              <a:t>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  </a:t>
            </a:r>
            <a:r>
              <a:rPr lang="en-US" altLang="zh-CN" sz="2000" b="1" dirty="0" err="1"/>
              <a:t>fp</a:t>
            </a:r>
            <a:r>
              <a:rPr lang="en-US" altLang="zh-CN" sz="2000" b="1" dirty="0"/>
              <a:t> = </a:t>
            </a:r>
            <a:r>
              <a:rPr lang="en-US" altLang="zh-CN" sz="2000" b="1" dirty="0" err="1"/>
              <a:t>fopen</a:t>
            </a:r>
            <a:r>
              <a:rPr lang="en-US" altLang="zh-CN" sz="2000" b="1" dirty="0"/>
              <a:t> ("student.dat", "</a:t>
            </a:r>
            <a:r>
              <a:rPr lang="en-US" altLang="zh-CN" sz="2000" b="1" dirty="0" err="1"/>
              <a:t>wb</a:t>
            </a:r>
            <a:r>
              <a:rPr lang="en-US" altLang="zh-CN" sz="2000" b="1" dirty="0"/>
              <a:t>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  if (</a:t>
            </a:r>
            <a:r>
              <a:rPr lang="en-US" altLang="zh-CN" sz="2000" b="1" dirty="0" err="1"/>
              <a:t>fp</a:t>
            </a:r>
            <a:r>
              <a:rPr lang="en-US" altLang="zh-CN" sz="2000" b="1" dirty="0"/>
              <a:t> = = NULL)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  {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    </a:t>
            </a:r>
            <a:r>
              <a:rPr lang="en-US" altLang="zh-CN" sz="2000" b="1" dirty="0" err="1"/>
              <a:t>printf</a:t>
            </a:r>
            <a:r>
              <a:rPr lang="en-US" altLang="zh-CN" sz="2000" b="1" dirty="0"/>
              <a:t> ("can't create student.dat\n");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    free (</a:t>
            </a:r>
            <a:r>
              <a:rPr lang="en-US" altLang="zh-CN" sz="2000" b="1" dirty="0" err="1"/>
              <a:t>pstu</a:t>
            </a:r>
            <a:r>
              <a:rPr lang="en-US" altLang="zh-CN" sz="2000" b="1" dirty="0"/>
              <a:t>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    exit (0);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  }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  </a:t>
            </a:r>
            <a:r>
              <a:rPr lang="en-US" altLang="zh-CN" sz="2000" b="1" dirty="0" err="1"/>
              <a:t>fwrite</a:t>
            </a:r>
            <a:r>
              <a:rPr lang="en-US" altLang="zh-CN" sz="2000" b="1" dirty="0"/>
              <a:t> (</a:t>
            </a:r>
            <a:r>
              <a:rPr lang="en-US" altLang="zh-CN" sz="2000" b="1" dirty="0" err="1"/>
              <a:t>pstu</a:t>
            </a:r>
            <a:r>
              <a:rPr lang="en-US" altLang="zh-CN" sz="2000" b="1" dirty="0"/>
              <a:t>, </a:t>
            </a:r>
            <a:r>
              <a:rPr lang="en-US" altLang="zh-CN" sz="2000" b="1" dirty="0" err="1"/>
              <a:t>sizeof</a:t>
            </a:r>
            <a:r>
              <a:rPr lang="en-US" altLang="zh-CN" sz="2000" b="1" dirty="0"/>
              <a:t>(STUINFO), num, </a:t>
            </a:r>
            <a:r>
              <a:rPr lang="en-US" altLang="zh-CN" sz="2000" b="1" dirty="0" err="1"/>
              <a:t>fp</a:t>
            </a:r>
            <a:r>
              <a:rPr lang="en-US" altLang="zh-CN" sz="2000" b="1" dirty="0"/>
              <a:t>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  </a:t>
            </a:r>
            <a:r>
              <a:rPr lang="en-US" altLang="zh-CN" sz="2000" b="1" dirty="0" err="1"/>
              <a:t>fclose</a:t>
            </a:r>
            <a:r>
              <a:rPr lang="en-US" altLang="zh-CN" sz="2000" b="1" dirty="0"/>
              <a:t> (</a:t>
            </a:r>
            <a:r>
              <a:rPr lang="en-US" altLang="zh-CN" sz="2000" b="1" dirty="0" err="1"/>
              <a:t>fp</a:t>
            </a:r>
            <a:r>
              <a:rPr lang="en-US" altLang="zh-CN" sz="2000" b="1" dirty="0"/>
              <a:t>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}</a:t>
            </a:r>
          </a:p>
        </p:txBody>
      </p:sp>
      <p:sp>
        <p:nvSpPr>
          <p:cNvPr id="1092616" name="Rectangle 8" descr="信纸"/>
          <p:cNvSpPr>
            <a:spLocks noChangeArrowheads="1"/>
          </p:cNvSpPr>
          <p:nvPr/>
        </p:nvSpPr>
        <p:spPr bwMode="auto">
          <a:xfrm>
            <a:off x="6312024" y="1628800"/>
            <a:ext cx="5327650" cy="47021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none" anchor="ctr">
            <a:spAutoFit/>
          </a:bodyPr>
          <a:lstStyle/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rgbClr val="002060"/>
                </a:solidFill>
                <a:ea typeface="楷体_GB2312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从文件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student.dat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中读取学生信息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 到</a:t>
            </a:r>
            <a:r>
              <a:rPr lang="en-US" altLang="zh-CN" sz="2000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pstu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所指向的内存块中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rgbClr val="CC0000"/>
                </a:solidFill>
              </a:rPr>
              <a:t>void </a:t>
            </a:r>
            <a:r>
              <a:rPr lang="en-US" altLang="zh-CN" sz="2000" b="1" dirty="0" err="1">
                <a:solidFill>
                  <a:srgbClr val="CC0000"/>
                </a:solidFill>
              </a:rPr>
              <a:t>ReadFromFile</a:t>
            </a:r>
            <a:r>
              <a:rPr lang="en-US" altLang="zh-CN" sz="2000" b="1" dirty="0">
                <a:solidFill>
                  <a:srgbClr val="CC0000"/>
                </a:solidFill>
              </a:rPr>
              <a:t> (STUINFO *</a:t>
            </a:r>
            <a:r>
              <a:rPr lang="en-US" altLang="zh-CN" sz="2000" b="1" dirty="0" err="1">
                <a:solidFill>
                  <a:srgbClr val="CC0000"/>
                </a:solidFill>
              </a:rPr>
              <a:t>pstu</a:t>
            </a:r>
            <a:r>
              <a:rPr lang="en-US" altLang="zh-CN" sz="2000" b="1" dirty="0">
                <a:solidFill>
                  <a:srgbClr val="CC0000"/>
                </a:solidFill>
              </a:rPr>
              <a:t>, </a:t>
            </a:r>
            <a:r>
              <a:rPr lang="en-US" altLang="zh-CN" sz="2000" b="1" dirty="0" err="1">
                <a:solidFill>
                  <a:srgbClr val="CC0000"/>
                </a:solidFill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</a:rPr>
              <a:t> num)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{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  FILE *</a:t>
            </a:r>
            <a:r>
              <a:rPr lang="en-US" altLang="zh-CN" sz="2000" b="1" dirty="0" err="1"/>
              <a:t>fp</a:t>
            </a:r>
            <a:r>
              <a:rPr lang="en-US" altLang="zh-CN" sz="2000" b="1" dirty="0"/>
              <a:t>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  </a:t>
            </a:r>
            <a:r>
              <a:rPr lang="en-US" altLang="zh-CN" sz="2000" b="1" dirty="0" err="1"/>
              <a:t>fp</a:t>
            </a:r>
            <a:r>
              <a:rPr lang="en-US" altLang="zh-CN" sz="2000" b="1" dirty="0"/>
              <a:t> = </a:t>
            </a:r>
            <a:r>
              <a:rPr lang="en-US" altLang="zh-CN" sz="2000" b="1" dirty="0" err="1"/>
              <a:t>fopen</a:t>
            </a:r>
            <a:r>
              <a:rPr lang="en-US" altLang="zh-CN" sz="2000" b="1" dirty="0"/>
              <a:t> ("student.dat", "</a:t>
            </a:r>
            <a:r>
              <a:rPr lang="en-US" altLang="zh-CN" sz="2000" b="1" dirty="0" err="1"/>
              <a:t>rb</a:t>
            </a:r>
            <a:r>
              <a:rPr lang="en-US" altLang="zh-CN" sz="2000" b="1" dirty="0"/>
              <a:t>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  if (</a:t>
            </a:r>
            <a:r>
              <a:rPr lang="en-US" altLang="zh-CN" sz="2000" b="1" dirty="0" err="1"/>
              <a:t>fp</a:t>
            </a:r>
            <a:r>
              <a:rPr lang="en-US" altLang="zh-CN" sz="2000" b="1" dirty="0"/>
              <a:t> = = NULL)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  {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    </a:t>
            </a:r>
            <a:r>
              <a:rPr lang="en-US" altLang="zh-CN" sz="2000" b="1" dirty="0" err="1"/>
              <a:t>printf</a:t>
            </a:r>
            <a:r>
              <a:rPr lang="en-US" altLang="zh-CN" sz="2000" b="1" dirty="0"/>
              <a:t> ("can't open student.dat\n");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    free (</a:t>
            </a:r>
            <a:r>
              <a:rPr lang="en-US" altLang="zh-CN" sz="2000" b="1" dirty="0" err="1"/>
              <a:t>pstu</a:t>
            </a:r>
            <a:r>
              <a:rPr lang="en-US" altLang="zh-CN" sz="2000" b="1" dirty="0"/>
              <a:t>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    exit (0);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  }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  </a:t>
            </a:r>
            <a:r>
              <a:rPr lang="en-US" altLang="zh-CN" sz="2000" b="1" dirty="0" err="1"/>
              <a:t>fread</a:t>
            </a:r>
            <a:r>
              <a:rPr lang="en-US" altLang="zh-CN" sz="2000" b="1" dirty="0"/>
              <a:t> (</a:t>
            </a:r>
            <a:r>
              <a:rPr lang="en-US" altLang="zh-CN" sz="2000" b="1" dirty="0" err="1"/>
              <a:t>pstu</a:t>
            </a:r>
            <a:r>
              <a:rPr lang="en-US" altLang="zh-CN" sz="2000" b="1" dirty="0"/>
              <a:t>, </a:t>
            </a:r>
            <a:r>
              <a:rPr lang="en-US" altLang="zh-CN" sz="2000" b="1" dirty="0" err="1"/>
              <a:t>sizeof</a:t>
            </a:r>
            <a:r>
              <a:rPr lang="en-US" altLang="zh-CN" sz="2000" b="1" dirty="0"/>
              <a:t>(STUINFO), num, </a:t>
            </a:r>
            <a:r>
              <a:rPr lang="en-US" altLang="zh-CN" sz="2000" b="1" dirty="0" err="1"/>
              <a:t>fp</a:t>
            </a:r>
            <a:r>
              <a:rPr lang="en-US" altLang="zh-CN" sz="2000" b="1" dirty="0"/>
              <a:t>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  </a:t>
            </a:r>
            <a:r>
              <a:rPr lang="en-US" altLang="zh-CN" sz="2000" b="1" dirty="0" err="1"/>
              <a:t>fclose</a:t>
            </a:r>
            <a:r>
              <a:rPr lang="en-US" altLang="zh-CN" sz="2000" b="1" dirty="0"/>
              <a:t> (</a:t>
            </a:r>
            <a:r>
              <a:rPr lang="en-US" altLang="zh-CN" sz="2000" b="1" dirty="0" err="1"/>
              <a:t>fp</a:t>
            </a:r>
            <a:r>
              <a:rPr lang="en-US" altLang="zh-CN" sz="2000" b="1" dirty="0"/>
              <a:t>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A36E13F-A92E-4FF3-A721-8EC63B6F6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12.5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文件的打开、读写和关闭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926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926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2614" grpId="0" animBg="1"/>
      <p:bldP spid="109261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661" name="Rectangle 5"/>
          <p:cNvSpPr>
            <a:spLocks noChangeArrowheads="1"/>
          </p:cNvSpPr>
          <p:nvPr/>
        </p:nvSpPr>
        <p:spPr bwMode="auto">
          <a:xfrm>
            <a:off x="908489" y="1527911"/>
            <a:ext cx="5767926" cy="461665"/>
          </a:xfrm>
          <a:prstGeom prst="rect">
            <a:avLst/>
          </a:prstGeom>
          <a:noFill/>
          <a:ln>
            <a:noFill/>
            <a:headEnd/>
            <a:tailEnd/>
          </a:ln>
          <a:effectLst/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pPr marL="457200" indent="-457200">
              <a:tabLst>
                <a:tab pos="457200" algn="l"/>
              </a:tabLst>
            </a:pP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(4) </a:t>
            </a:r>
            <a:r>
              <a:rPr lang="zh-CN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格式化读写函数：</a:t>
            </a:r>
            <a:r>
              <a:rPr lang="en-US" altLang="zh-CN" b="1" dirty="0" err="1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fscanf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 </a:t>
            </a:r>
            <a:r>
              <a:rPr lang="en-US" altLang="zh-CN" b="1" dirty="0" err="1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fprinf</a:t>
            </a:r>
            <a:endParaRPr lang="en-US" altLang="zh-CN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94662" name="Rectangle 6"/>
          <p:cNvSpPr>
            <a:spLocks noChangeArrowheads="1"/>
          </p:cNvSpPr>
          <p:nvPr/>
        </p:nvSpPr>
        <p:spPr bwMode="auto">
          <a:xfrm>
            <a:off x="1199456" y="2115684"/>
            <a:ext cx="1397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 typeface="Wingdings" pitchFamily="2" charset="2"/>
              <a:buChar char="Ø"/>
              <a:tabLst>
                <a:tab pos="496888" algn="l"/>
              </a:tabLst>
            </a:pPr>
            <a:r>
              <a:rPr lang="en-US" altLang="zh-CN" b="1" dirty="0">
                <a:solidFill>
                  <a:srgbClr val="C00000"/>
                </a:solidFill>
                <a:ea typeface="楷体_GB2312" pitchFamily="49" charset="-122"/>
              </a:rPr>
              <a:t> </a:t>
            </a:r>
            <a:r>
              <a:rPr lang="en-US" altLang="zh-CN" b="1" dirty="0" err="1">
                <a:solidFill>
                  <a:srgbClr val="C00000"/>
                </a:solidFill>
                <a:ea typeface="楷体_GB2312" pitchFamily="49" charset="-122"/>
              </a:rPr>
              <a:t>fscanf</a:t>
            </a:r>
            <a:endParaRPr lang="en-US" altLang="zh-CN" b="1" dirty="0">
              <a:solidFill>
                <a:srgbClr val="C00000"/>
              </a:solidFill>
              <a:ea typeface="楷体_GB2312" pitchFamily="49" charset="-122"/>
            </a:endParaRPr>
          </a:p>
        </p:txBody>
      </p:sp>
      <p:sp>
        <p:nvSpPr>
          <p:cNvPr id="1094663" name="Rectangle 7"/>
          <p:cNvSpPr>
            <a:spLocks noChangeArrowheads="1"/>
          </p:cNvSpPr>
          <p:nvPr/>
        </p:nvSpPr>
        <p:spPr bwMode="auto">
          <a:xfrm>
            <a:off x="1529656" y="2804783"/>
            <a:ext cx="21605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C00000"/>
              </a:buClr>
              <a:buFont typeface="Wingdings" pitchFamily="2" charset="2"/>
              <a:buChar char="l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函数原形：         </a:t>
            </a:r>
            <a:endParaRPr lang="zh-CN" altLang="en-US" b="1" dirty="0">
              <a:solidFill>
                <a:srgbClr val="D60093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094664" name="Text Box 8"/>
          <p:cNvSpPr txBox="1">
            <a:spLocks noChangeArrowheads="1"/>
          </p:cNvSpPr>
          <p:nvPr/>
        </p:nvSpPr>
        <p:spPr bwMode="auto">
          <a:xfrm>
            <a:off x="1557847" y="3505974"/>
            <a:ext cx="9227986" cy="422922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</a:rPr>
              <a:t>int  fscanf ( FILE *filepointer, const char *format[,address,…]);</a:t>
            </a:r>
          </a:p>
        </p:txBody>
      </p:sp>
      <p:sp>
        <p:nvSpPr>
          <p:cNvPr id="1094665" name="Rectangle 9"/>
          <p:cNvSpPr>
            <a:spLocks noChangeArrowheads="1"/>
          </p:cNvSpPr>
          <p:nvPr/>
        </p:nvSpPr>
        <p:spPr bwMode="auto">
          <a:xfrm>
            <a:off x="1537086" y="4235604"/>
            <a:ext cx="9599227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功能：从</a:t>
            </a:r>
            <a:r>
              <a:rPr lang="en-US" altLang="zh-CN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filepointer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所指向的文件中读取数据。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l"/>
            </a:pP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返值：如果操作成功，则函数返回值就是读取的数据项的个数；如果操作出错或遇到文件尾，则返回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EOF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。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AD9D95BF-6F16-4287-8D2B-C2A91AEAE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12.5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文件的打开、读写和关闭 </a:t>
            </a:r>
          </a:p>
        </p:txBody>
      </p:sp>
      <p:sp>
        <p:nvSpPr>
          <p:cNvPr id="16" name="Rectangle 35">
            <a:extLst>
              <a:ext uri="{FF2B5EF4-FFF2-40B4-BE49-F238E27FC236}">
                <a16:creationId xmlns:a16="http://schemas.microsoft.com/office/drawing/2014/main" id="{70BC1B5E-6A69-4491-BA27-F1D81856A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41" y="885126"/>
            <a:ext cx="271099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、文件的读写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4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4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46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46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0946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0946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10946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10946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4661" grpId="0"/>
      <p:bldP spid="1094662" grpId="0"/>
      <p:bldP spid="1094663" grpId="0"/>
      <p:bldP spid="109466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661" name="Rectangle 5"/>
          <p:cNvSpPr>
            <a:spLocks noChangeArrowheads="1"/>
          </p:cNvSpPr>
          <p:nvPr/>
        </p:nvSpPr>
        <p:spPr bwMode="auto">
          <a:xfrm>
            <a:off x="908489" y="1527911"/>
            <a:ext cx="5767926" cy="461665"/>
          </a:xfrm>
          <a:prstGeom prst="rect">
            <a:avLst/>
          </a:prstGeom>
          <a:noFill/>
          <a:ln>
            <a:noFill/>
            <a:headEnd/>
            <a:tailEnd/>
          </a:ln>
          <a:effectLst/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pPr marL="457200" indent="-457200">
              <a:tabLst>
                <a:tab pos="457200" algn="l"/>
              </a:tabLst>
            </a:pP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(4) </a:t>
            </a:r>
            <a:r>
              <a:rPr lang="zh-CN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格式化读写函数：</a:t>
            </a:r>
            <a:r>
              <a:rPr lang="en-US" altLang="zh-CN" b="1" dirty="0" err="1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fscanf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 </a:t>
            </a:r>
            <a:r>
              <a:rPr lang="en-US" altLang="zh-CN" b="1" dirty="0" err="1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fprinf</a:t>
            </a:r>
            <a:endParaRPr lang="en-US" altLang="zh-CN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94667" name="Rectangle 11"/>
          <p:cNvSpPr>
            <a:spLocks noChangeArrowheads="1"/>
          </p:cNvSpPr>
          <p:nvPr/>
        </p:nvSpPr>
        <p:spPr bwMode="auto">
          <a:xfrm>
            <a:off x="1231192" y="2060848"/>
            <a:ext cx="1397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 typeface="Wingdings" pitchFamily="2" charset="2"/>
              <a:buChar char="Ø"/>
              <a:tabLst>
                <a:tab pos="496888" algn="l"/>
              </a:tabLst>
            </a:pPr>
            <a:r>
              <a:rPr lang="en-US" altLang="zh-CN" b="1" dirty="0">
                <a:solidFill>
                  <a:srgbClr val="C00000"/>
                </a:solidFill>
                <a:ea typeface="楷体_GB2312" pitchFamily="49" charset="-122"/>
              </a:rPr>
              <a:t> </a:t>
            </a:r>
            <a:r>
              <a:rPr lang="en-US" altLang="zh-CN" b="1" dirty="0" err="1">
                <a:solidFill>
                  <a:srgbClr val="C00000"/>
                </a:solidFill>
                <a:ea typeface="楷体_GB2312" pitchFamily="49" charset="-122"/>
              </a:rPr>
              <a:t>fprintf</a:t>
            </a:r>
            <a:endParaRPr lang="en-US" altLang="zh-CN" b="1" dirty="0">
              <a:solidFill>
                <a:srgbClr val="C00000"/>
              </a:solidFill>
              <a:ea typeface="楷体_GB2312" pitchFamily="49" charset="-122"/>
            </a:endParaRPr>
          </a:p>
        </p:txBody>
      </p:sp>
      <p:sp>
        <p:nvSpPr>
          <p:cNvPr id="1094668" name="Rectangle 12"/>
          <p:cNvSpPr>
            <a:spLocks noChangeArrowheads="1"/>
          </p:cNvSpPr>
          <p:nvPr/>
        </p:nvSpPr>
        <p:spPr bwMode="auto">
          <a:xfrm>
            <a:off x="1559155" y="2564904"/>
            <a:ext cx="21605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C00000"/>
              </a:buClr>
              <a:buFont typeface="Wingdings" pitchFamily="2" charset="2"/>
              <a:buChar char="l"/>
            </a:pPr>
            <a:r>
              <a:rPr lang="en-US" altLang="zh-CN" b="1" dirty="0">
                <a:latin typeface="+mn-lt"/>
                <a:ea typeface="楷体" pitchFamily="49" charset="-122"/>
              </a:rPr>
              <a:t> </a:t>
            </a:r>
            <a:r>
              <a:rPr lang="zh-CN" altLang="zh-CN" b="1" dirty="0">
                <a:latin typeface="+mn-lt"/>
                <a:ea typeface="楷体" pitchFamily="49" charset="-122"/>
              </a:rPr>
              <a:t>函数原形：         </a:t>
            </a:r>
            <a:endParaRPr lang="zh-CN" altLang="en-US" b="1" dirty="0">
              <a:solidFill>
                <a:srgbClr val="D60093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094669" name="Text Box 13"/>
          <p:cNvSpPr txBox="1">
            <a:spLocks noChangeArrowheads="1"/>
          </p:cNvSpPr>
          <p:nvPr/>
        </p:nvSpPr>
        <p:spPr bwMode="auto">
          <a:xfrm>
            <a:off x="1990048" y="3031631"/>
            <a:ext cx="8972081" cy="452256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en-US" altLang="zh-CN" sz="2000" b="1" dirty="0"/>
              <a:t>int  </a:t>
            </a:r>
            <a:r>
              <a:rPr lang="en-US" altLang="zh-CN" sz="2000" b="1" dirty="0" err="1"/>
              <a:t>fprintf</a:t>
            </a:r>
            <a:r>
              <a:rPr lang="en-US" altLang="zh-CN" sz="2000" b="1" dirty="0"/>
              <a:t> ( FILE *</a:t>
            </a:r>
            <a:r>
              <a:rPr lang="en-US" altLang="zh-CN" sz="2000" b="1" dirty="0" err="1"/>
              <a:t>filepointer</a:t>
            </a:r>
            <a:r>
              <a:rPr lang="en-US" altLang="zh-CN" sz="2000" b="1" dirty="0"/>
              <a:t>, const char *format[,address,…]);</a:t>
            </a:r>
          </a:p>
        </p:txBody>
      </p:sp>
      <p:sp>
        <p:nvSpPr>
          <p:cNvPr id="1094670" name="Rectangle 14"/>
          <p:cNvSpPr>
            <a:spLocks noChangeArrowheads="1"/>
          </p:cNvSpPr>
          <p:nvPr/>
        </p:nvSpPr>
        <p:spPr bwMode="auto">
          <a:xfrm>
            <a:off x="1559496" y="3665503"/>
            <a:ext cx="9576817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+mn-lt"/>
                <a:ea typeface="楷体" pitchFamily="49" charset="-122"/>
              </a:rPr>
              <a:t>功能：将表达式输出到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filepointer</a:t>
            </a:r>
            <a:r>
              <a:rPr lang="zh-CN" altLang="en-US" b="1" dirty="0">
                <a:latin typeface="+mn-lt"/>
                <a:ea typeface="楷体" pitchFamily="49" charset="-122"/>
              </a:rPr>
              <a:t>所指向的文件中。</a:t>
            </a:r>
            <a:endParaRPr lang="en-US" altLang="zh-CN" b="1" dirty="0">
              <a:latin typeface="+mn-lt"/>
              <a:ea typeface="楷体" pitchFamily="49" charset="-122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l"/>
            </a:pPr>
            <a:endParaRPr lang="en-US" altLang="zh-CN" dirty="0">
              <a:latin typeface="+mn-lt"/>
              <a:ea typeface="楷体" pitchFamily="49" charset="-122"/>
            </a:endParaRPr>
          </a:p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+mn-lt"/>
                <a:ea typeface="楷体" pitchFamily="49" charset="-122"/>
              </a:rPr>
              <a:t>返值：如果操作成功，则函数返回值就是写入到文件中数据的字节个数；如果操作出错，则返回</a:t>
            </a:r>
            <a:r>
              <a:rPr lang="en-US" altLang="zh-CN" b="1" dirty="0">
                <a:latin typeface="+mn-lt"/>
                <a:ea typeface="楷体" pitchFamily="49" charset="-122"/>
              </a:rPr>
              <a:t>EOF</a:t>
            </a:r>
            <a:r>
              <a:rPr lang="zh-CN" altLang="en-US" b="1" dirty="0">
                <a:latin typeface="+mn-lt"/>
                <a:ea typeface="楷体" pitchFamily="49" charset="-122"/>
              </a:rPr>
              <a:t>。 </a:t>
            </a:r>
          </a:p>
        </p:txBody>
      </p:sp>
      <p:sp>
        <p:nvSpPr>
          <p:cNvPr id="1094672" name="Rectangle 16" descr="信纸"/>
          <p:cNvSpPr>
            <a:spLocks noChangeArrowheads="1"/>
          </p:cNvSpPr>
          <p:nvPr/>
        </p:nvSpPr>
        <p:spPr bwMode="auto">
          <a:xfrm>
            <a:off x="1972740" y="5210681"/>
            <a:ext cx="8989389" cy="1044575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隶书" pitchFamily="49" charset="-122"/>
                <a:ea typeface="隶书" pitchFamily="49" charset="-122"/>
              </a:rPr>
              <a:t>例如：</a:t>
            </a:r>
          </a:p>
          <a:p>
            <a:r>
              <a:rPr lang="en-US" altLang="zh-CN" sz="2000" b="1" dirty="0" err="1">
                <a:ea typeface="楷体_GB2312" pitchFamily="49" charset="-122"/>
              </a:rPr>
              <a:t>fprintf</a:t>
            </a:r>
            <a:r>
              <a:rPr lang="en-US" altLang="zh-CN" sz="2000" b="1" dirty="0">
                <a:ea typeface="楷体_GB2312" pitchFamily="49" charset="-122"/>
              </a:rPr>
              <a:t> (</a:t>
            </a:r>
            <a:r>
              <a:rPr lang="en-US" altLang="zh-CN" sz="2000" b="1" dirty="0" err="1">
                <a:ea typeface="楷体_GB2312" pitchFamily="49" charset="-122"/>
              </a:rPr>
              <a:t>fp</a:t>
            </a:r>
            <a:r>
              <a:rPr lang="en-US" altLang="zh-CN" sz="2000" b="1" dirty="0">
                <a:ea typeface="楷体_GB2312" pitchFamily="49" charset="-122"/>
              </a:rPr>
              <a:t>, "%d,%6.2f", 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, t);  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将</a:t>
            </a:r>
            <a:r>
              <a:rPr lang="en-US" altLang="zh-CN" sz="2000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i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和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t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按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%d, %6.2f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格式输出到</a:t>
            </a:r>
            <a:r>
              <a:rPr lang="en-US" altLang="zh-CN" sz="2000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fp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文件</a:t>
            </a:r>
          </a:p>
          <a:p>
            <a:r>
              <a:rPr lang="en-US" altLang="zh-CN" sz="2000" b="1" dirty="0" err="1">
                <a:ea typeface="楷体_GB2312" pitchFamily="49" charset="-122"/>
              </a:rPr>
              <a:t>fscanf</a:t>
            </a:r>
            <a:r>
              <a:rPr lang="en-US" altLang="zh-CN" sz="2000" b="1" dirty="0">
                <a:ea typeface="楷体_GB2312" pitchFamily="49" charset="-122"/>
              </a:rPr>
              <a:t> (</a:t>
            </a:r>
            <a:r>
              <a:rPr lang="en-US" altLang="zh-CN" sz="2000" b="1" dirty="0" err="1">
                <a:ea typeface="楷体_GB2312" pitchFamily="49" charset="-122"/>
              </a:rPr>
              <a:t>fp</a:t>
            </a:r>
            <a:r>
              <a:rPr lang="en-US" altLang="zh-CN" sz="2000" b="1" dirty="0">
                <a:ea typeface="楷体_GB2312" pitchFamily="49" charset="-122"/>
              </a:rPr>
              <a:t>, "%</a:t>
            </a:r>
            <a:r>
              <a:rPr lang="en-US" altLang="zh-CN" sz="2000" b="1" dirty="0" err="1">
                <a:ea typeface="楷体_GB2312" pitchFamily="49" charset="-122"/>
              </a:rPr>
              <a:t>d,%f</a:t>
            </a:r>
            <a:r>
              <a:rPr lang="en-US" altLang="zh-CN" sz="2000" b="1" dirty="0">
                <a:ea typeface="楷体_GB2312" pitchFamily="49" charset="-122"/>
              </a:rPr>
              <a:t>", &amp;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, &amp;t); 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若文件中有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3, 4.5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，则将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3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送入</a:t>
            </a:r>
            <a:r>
              <a:rPr lang="en-US" altLang="zh-CN" sz="2000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i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，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4.5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送入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t</a:t>
            </a: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AD9D95BF-6F16-4287-8D2B-C2A91AEAE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12.5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文件的打开、读写和关闭 </a:t>
            </a:r>
          </a:p>
        </p:txBody>
      </p:sp>
      <p:sp>
        <p:nvSpPr>
          <p:cNvPr id="16" name="Rectangle 35">
            <a:extLst>
              <a:ext uri="{FF2B5EF4-FFF2-40B4-BE49-F238E27FC236}">
                <a16:creationId xmlns:a16="http://schemas.microsoft.com/office/drawing/2014/main" id="{70BC1B5E-6A69-4491-BA27-F1D81856A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41" y="885126"/>
            <a:ext cx="271099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、文件的读写 </a:t>
            </a:r>
          </a:p>
        </p:txBody>
      </p:sp>
    </p:spTree>
    <p:extLst>
      <p:ext uri="{BB962C8B-B14F-4D97-AF65-F5344CB8AC3E}">
        <p14:creationId xmlns:p14="http://schemas.microsoft.com/office/powerpoint/2010/main" val="2804753726"/>
      </p:ext>
    </p:extLst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4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4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46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46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0946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0946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10946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10946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10946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4661" grpId="0"/>
      <p:bldP spid="1094667" grpId="0"/>
      <p:bldP spid="1094668" grpId="0"/>
      <p:bldP spid="1094669" grpId="0" animBg="1"/>
      <p:bldP spid="109467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706" name="Rectangle 2" descr="信纸"/>
          <p:cNvSpPr>
            <a:spLocks noChangeArrowheads="1"/>
          </p:cNvSpPr>
          <p:nvPr/>
        </p:nvSpPr>
        <p:spPr bwMode="auto">
          <a:xfrm>
            <a:off x="604350" y="1331292"/>
            <a:ext cx="4804935" cy="53117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a typeface="楷体_GB2312" pitchFamily="49" charset="-122"/>
              </a:rPr>
              <a:t>stdio.h</a:t>
            </a:r>
            <a:r>
              <a:rPr lang="en-US" altLang="zh-CN" sz="2000" b="1" dirty="0">
                <a:ea typeface="楷体_GB2312" pitchFamily="49" charset="-122"/>
              </a:rPr>
              <a:t>&gt;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a typeface="楷体_GB2312" pitchFamily="49" charset="-122"/>
              </a:rPr>
              <a:t>stdlib.h</a:t>
            </a:r>
            <a:r>
              <a:rPr lang="en-US" altLang="zh-CN" sz="2000" b="1" dirty="0">
                <a:ea typeface="楷体_GB2312" pitchFamily="49" charset="-122"/>
              </a:rPr>
              <a:t>&gt;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 main ( )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{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int</a:t>
            </a:r>
            <a:r>
              <a:rPr lang="en-US" altLang="zh-CN" sz="2000" b="1" dirty="0">
                <a:ea typeface="楷体_GB2312" pitchFamily="49" charset="-122"/>
              </a:rPr>
              <a:t> 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 = 3;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float f = (float)9.8;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FILE *</a:t>
            </a:r>
            <a:r>
              <a:rPr lang="en-US" altLang="zh-CN" sz="2000" b="1" dirty="0" err="1">
                <a:ea typeface="楷体_GB2312" pitchFamily="49" charset="-122"/>
              </a:rPr>
              <a:t>fp</a:t>
            </a:r>
            <a:r>
              <a:rPr lang="en-US" altLang="zh-CN" sz="2000" b="1" dirty="0">
                <a:ea typeface="楷体_GB2312" pitchFamily="49" charset="-122"/>
              </a:rPr>
              <a:t>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  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创建文本文件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wang.txt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fp</a:t>
            </a:r>
            <a:r>
              <a:rPr lang="en-US" altLang="zh-CN" sz="2000" b="1" dirty="0">
                <a:ea typeface="楷体_GB2312" pitchFamily="49" charset="-122"/>
              </a:rPr>
              <a:t> = </a:t>
            </a:r>
            <a:r>
              <a:rPr lang="en-US" altLang="zh-CN" sz="2000" b="1" dirty="0" err="1">
                <a:ea typeface="楷体_GB2312" pitchFamily="49" charset="-122"/>
              </a:rPr>
              <a:t>fopen</a:t>
            </a:r>
            <a:r>
              <a:rPr lang="en-US" altLang="zh-CN" sz="2000" b="1" dirty="0">
                <a:ea typeface="楷体_GB2312" pitchFamily="49" charset="-122"/>
              </a:rPr>
              <a:t> ("wang.txt", "w");   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if (</a:t>
            </a:r>
            <a:r>
              <a:rPr lang="en-US" altLang="zh-CN" sz="2000" b="1" dirty="0" err="1">
                <a:ea typeface="楷体_GB2312" pitchFamily="49" charset="-122"/>
              </a:rPr>
              <a:t>fp</a:t>
            </a:r>
            <a:r>
              <a:rPr lang="en-US" altLang="zh-CN" sz="2000" b="1" dirty="0">
                <a:ea typeface="楷体_GB2312" pitchFamily="49" charset="-122"/>
              </a:rPr>
              <a:t> = = NULL)  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创建失败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>
                <a:ea typeface="楷体_GB2312" pitchFamily="49" charset="-122"/>
              </a:rPr>
              <a:t>{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("can't create file: wang.dat\n");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exit (0);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}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ea typeface="楷体_GB2312" pitchFamily="49" charset="-122"/>
              </a:rPr>
              <a:t>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将变量</a:t>
            </a:r>
            <a:r>
              <a:rPr lang="en-US" altLang="zh-CN" sz="2000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i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和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f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的值格式化输出到文件中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fprintf</a:t>
            </a:r>
            <a:r>
              <a:rPr lang="en-US" altLang="zh-CN" sz="2000" b="1" dirty="0">
                <a:ea typeface="楷体_GB2312" pitchFamily="49" charset="-122"/>
              </a:rPr>
              <a:t> (</a:t>
            </a:r>
            <a:r>
              <a:rPr lang="en-US" altLang="zh-CN" sz="2000" b="1" dirty="0" err="1">
                <a:ea typeface="楷体_GB2312" pitchFamily="49" charset="-122"/>
              </a:rPr>
              <a:t>fp</a:t>
            </a:r>
            <a:r>
              <a:rPr lang="en-US" altLang="zh-CN" sz="2000" b="1" dirty="0">
                <a:ea typeface="楷体_GB2312" pitchFamily="49" charset="-122"/>
              </a:rPr>
              <a:t>, "%2d,%6.2f", 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, f);   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fclose</a:t>
            </a:r>
            <a:r>
              <a:rPr lang="en-US" altLang="zh-CN" sz="2000" b="1" dirty="0">
                <a:ea typeface="楷体_GB2312" pitchFamily="49" charset="-122"/>
              </a:rPr>
              <a:t> (</a:t>
            </a:r>
            <a:r>
              <a:rPr lang="en-US" altLang="zh-CN" sz="2000" b="1" dirty="0" err="1">
                <a:ea typeface="楷体_GB2312" pitchFamily="49" charset="-122"/>
              </a:rPr>
              <a:t>fp</a:t>
            </a:r>
            <a:r>
              <a:rPr lang="en-US" altLang="zh-CN" sz="2000" b="1" dirty="0">
                <a:ea typeface="楷体_GB2312" pitchFamily="49" charset="-122"/>
              </a:rPr>
              <a:t>);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关闭文件</a:t>
            </a:r>
          </a:p>
        </p:txBody>
      </p:sp>
      <p:grpSp>
        <p:nvGrpSpPr>
          <p:cNvPr id="1096766" name="Group 62"/>
          <p:cNvGrpSpPr>
            <a:grpSpLocks/>
          </p:cNvGrpSpPr>
          <p:nvPr/>
        </p:nvGrpSpPr>
        <p:grpSpPr bwMode="auto">
          <a:xfrm>
            <a:off x="5465236" y="2232198"/>
            <a:ext cx="6489700" cy="2420938"/>
            <a:chOff x="1600" y="618"/>
            <a:chExt cx="4088" cy="1525"/>
          </a:xfrm>
        </p:grpSpPr>
        <p:grpSp>
          <p:nvGrpSpPr>
            <p:cNvPr id="1096715" name="Group 11"/>
            <p:cNvGrpSpPr>
              <a:grpSpLocks/>
            </p:cNvGrpSpPr>
            <p:nvPr/>
          </p:nvGrpSpPr>
          <p:grpSpPr bwMode="auto">
            <a:xfrm>
              <a:off x="2228" y="618"/>
              <a:ext cx="3460" cy="1525"/>
              <a:chOff x="1854" y="1134"/>
              <a:chExt cx="3249" cy="1525"/>
            </a:xfrm>
          </p:grpSpPr>
          <p:sp>
            <p:nvSpPr>
              <p:cNvPr id="1096716" name="AutoShape 12"/>
              <p:cNvSpPr>
                <a:spLocks noChangeArrowheads="1"/>
              </p:cNvSpPr>
              <p:nvPr/>
            </p:nvSpPr>
            <p:spPr bwMode="auto">
              <a:xfrm>
                <a:off x="1854" y="1452"/>
                <a:ext cx="3249" cy="1207"/>
              </a:xfrm>
              <a:prstGeom prst="foldedCorner">
                <a:avLst>
                  <a:gd name="adj" fmla="val 12500"/>
                </a:avLst>
              </a:prstGeom>
              <a:gradFill rotWithShape="1">
                <a:gsLst>
                  <a:gs pos="0">
                    <a:srgbClr val="CFCFD1"/>
                  </a:gs>
                  <a:gs pos="100000">
                    <a:schemeClr val="bg1"/>
                  </a:gs>
                </a:gsLst>
                <a:lin ang="5400000" scaled="1"/>
              </a:gradFill>
              <a:ln w="25400">
                <a:solidFill>
                  <a:srgbClr val="C00000"/>
                </a:solidFill>
                <a:round/>
                <a:headEnd/>
                <a:tailEnd/>
              </a:ln>
              <a:effectLst>
                <a:outerShdw blurRad="50800" dist="106680" dir="2700000" algn="tl" rotWithShape="0">
                  <a:prstClr val="black">
                    <a:alpha val="43000"/>
                  </a:prstClr>
                </a:outerShdw>
              </a:effectLst>
            </p:spPr>
            <p:txBody>
              <a:bodyPr wrap="none" anchor="ctr"/>
              <a:lstStyle/>
              <a:p>
                <a:pPr algn="ctr"/>
                <a:endParaRPr lang="zh-CN" altLang="zh-CN"/>
              </a:p>
            </p:txBody>
          </p:sp>
          <p:sp>
            <p:nvSpPr>
              <p:cNvPr id="1096717" name="Text Box 13"/>
              <p:cNvSpPr txBox="1">
                <a:spLocks noChangeArrowheads="1"/>
              </p:cNvSpPr>
              <p:nvPr/>
            </p:nvSpPr>
            <p:spPr bwMode="auto">
              <a:xfrm>
                <a:off x="3053" y="1134"/>
                <a:ext cx="90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b="1">
                    <a:solidFill>
                      <a:srgbClr val="C00000"/>
                    </a:solidFill>
                  </a:rPr>
                  <a:t>wang.txt</a:t>
                </a:r>
              </a:p>
            </p:txBody>
          </p:sp>
        </p:grpSp>
        <p:grpSp>
          <p:nvGrpSpPr>
            <p:cNvPr id="1096726" name="Group 22"/>
            <p:cNvGrpSpPr>
              <a:grpSpLocks/>
            </p:cNvGrpSpPr>
            <p:nvPr/>
          </p:nvGrpSpPr>
          <p:grpSpPr bwMode="auto">
            <a:xfrm>
              <a:off x="1600" y="1008"/>
              <a:ext cx="609" cy="250"/>
              <a:chOff x="1591" y="972"/>
              <a:chExt cx="691" cy="250"/>
            </a:xfrm>
          </p:grpSpPr>
          <p:sp>
            <p:nvSpPr>
              <p:cNvPr id="1096721" name="Line 17"/>
              <p:cNvSpPr>
                <a:spLocks noChangeShapeType="1"/>
              </p:cNvSpPr>
              <p:nvPr/>
            </p:nvSpPr>
            <p:spPr bwMode="auto">
              <a:xfrm>
                <a:off x="1828" y="1117"/>
                <a:ext cx="454" cy="0"/>
              </a:xfrm>
              <a:prstGeom prst="line">
                <a:avLst/>
              </a:prstGeom>
              <a:noFill/>
              <a:ln w="28575">
                <a:solidFill>
                  <a:srgbClr val="C00000"/>
                </a:solidFill>
                <a:round/>
                <a:headEnd/>
                <a:tailEnd type="stealth" w="lg" len="lg"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722" name="Text Box 18"/>
              <p:cNvSpPr txBox="1">
                <a:spLocks noChangeArrowheads="1"/>
              </p:cNvSpPr>
              <p:nvPr/>
            </p:nvSpPr>
            <p:spPr bwMode="auto">
              <a:xfrm>
                <a:off x="1591" y="972"/>
                <a:ext cx="318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dirty="0" err="1">
                    <a:solidFill>
                      <a:srgbClr val="C00000"/>
                    </a:solidFill>
                  </a:rPr>
                  <a:t>fp</a:t>
                </a:r>
                <a:endParaRPr lang="en-US" altLang="zh-CN" sz="2000" b="1" dirty="0">
                  <a:solidFill>
                    <a:srgbClr val="C00000"/>
                  </a:solidFill>
                </a:endParaRPr>
              </a:p>
            </p:txBody>
          </p:sp>
        </p:grpSp>
      </p:grpSp>
      <p:sp>
        <p:nvSpPr>
          <p:cNvPr id="1096710" name="Rectangle 6"/>
          <p:cNvSpPr>
            <a:spLocks noChangeArrowheads="1"/>
          </p:cNvSpPr>
          <p:nvPr/>
        </p:nvSpPr>
        <p:spPr bwMode="auto">
          <a:xfrm>
            <a:off x="358479" y="809682"/>
            <a:ext cx="1183352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【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7】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将变量的值格式化写入文件中，然后从文件中格式化读出并显示。 </a:t>
            </a:r>
          </a:p>
        </p:txBody>
      </p:sp>
      <p:sp>
        <p:nvSpPr>
          <p:cNvPr id="1096718" name="Text Box 14"/>
          <p:cNvSpPr txBox="1">
            <a:spLocks noChangeArrowheads="1"/>
          </p:cNvSpPr>
          <p:nvPr/>
        </p:nvSpPr>
        <p:spPr bwMode="auto">
          <a:xfrm>
            <a:off x="6478062" y="2852911"/>
            <a:ext cx="4837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/>
              <a:t>20  33  2C  20  20  39  2E  38  30</a:t>
            </a:r>
          </a:p>
        </p:txBody>
      </p:sp>
      <p:grpSp>
        <p:nvGrpSpPr>
          <p:cNvPr id="1096767" name="Group 63"/>
          <p:cNvGrpSpPr>
            <a:grpSpLocks/>
          </p:cNvGrpSpPr>
          <p:nvPr/>
        </p:nvGrpSpPr>
        <p:grpSpPr bwMode="auto">
          <a:xfrm>
            <a:off x="10724624" y="2878311"/>
            <a:ext cx="1344612" cy="366712"/>
            <a:chOff x="4913" y="1025"/>
            <a:chExt cx="847" cy="231"/>
          </a:xfrm>
        </p:grpSpPr>
        <p:sp>
          <p:nvSpPr>
            <p:cNvPr id="1096746" name="Line 42"/>
            <p:cNvSpPr>
              <a:spLocks noChangeShapeType="1"/>
            </p:cNvSpPr>
            <p:nvPr/>
          </p:nvSpPr>
          <p:spPr bwMode="auto">
            <a:xfrm flipH="1">
              <a:off x="4913" y="1162"/>
              <a:ext cx="226" cy="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  <p:sp>
          <p:nvSpPr>
            <p:cNvPr id="1096747" name="Text Box 43"/>
            <p:cNvSpPr txBox="1">
              <a:spLocks noChangeArrowheads="1"/>
            </p:cNvSpPr>
            <p:nvPr/>
          </p:nvSpPr>
          <p:spPr bwMode="auto">
            <a:xfrm>
              <a:off x="5079" y="1025"/>
              <a:ext cx="68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solidFill>
                    <a:srgbClr val="990099"/>
                  </a:solidFill>
                  <a:latin typeface="+mn-lt"/>
                  <a:ea typeface="楷体" pitchFamily="49" charset="-122"/>
                </a:rPr>
                <a:t>ASCII</a:t>
              </a:r>
              <a:r>
                <a:rPr lang="zh-CN" altLang="en-US" sz="1800" b="1">
                  <a:solidFill>
                    <a:srgbClr val="990099"/>
                  </a:solidFill>
                  <a:latin typeface="+mn-lt"/>
                  <a:ea typeface="楷体" pitchFamily="49" charset="-122"/>
                </a:rPr>
                <a:t>码</a:t>
              </a:r>
            </a:p>
          </p:txBody>
        </p:sp>
      </p:grpSp>
      <p:grpSp>
        <p:nvGrpSpPr>
          <p:cNvPr id="1096768" name="Group 64"/>
          <p:cNvGrpSpPr>
            <a:grpSpLocks/>
          </p:cNvGrpSpPr>
          <p:nvPr/>
        </p:nvGrpSpPr>
        <p:grpSpPr bwMode="auto">
          <a:xfrm>
            <a:off x="10726211" y="3394248"/>
            <a:ext cx="1049338" cy="641350"/>
            <a:chOff x="4914" y="1350"/>
            <a:chExt cx="661" cy="404"/>
          </a:xfrm>
        </p:grpSpPr>
        <p:sp>
          <p:nvSpPr>
            <p:cNvPr id="1096748" name="Line 44"/>
            <p:cNvSpPr>
              <a:spLocks noChangeShapeType="1"/>
            </p:cNvSpPr>
            <p:nvPr/>
          </p:nvSpPr>
          <p:spPr bwMode="auto">
            <a:xfrm flipH="1">
              <a:off x="4914" y="1568"/>
              <a:ext cx="226" cy="0"/>
            </a:xfrm>
            <a:prstGeom prst="line">
              <a:avLst/>
            </a:prstGeom>
            <a:noFill/>
            <a:ln w="9525">
              <a:solidFill>
                <a:srgbClr val="80008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lt"/>
                <a:ea typeface="楷体" pitchFamily="49" charset="-122"/>
              </a:endParaRPr>
            </a:p>
          </p:txBody>
        </p:sp>
        <p:sp>
          <p:nvSpPr>
            <p:cNvPr id="1096749" name="Text Box 45"/>
            <p:cNvSpPr txBox="1">
              <a:spLocks noChangeArrowheads="1"/>
            </p:cNvSpPr>
            <p:nvPr/>
          </p:nvSpPr>
          <p:spPr bwMode="auto">
            <a:xfrm>
              <a:off x="5134" y="1350"/>
              <a:ext cx="441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990099"/>
                  </a:solidFill>
                  <a:latin typeface="+mn-lt"/>
                  <a:ea typeface="楷体" pitchFamily="49" charset="-122"/>
                </a:rPr>
                <a:t>对应字符</a:t>
              </a:r>
            </a:p>
          </p:txBody>
        </p:sp>
      </p:grpSp>
      <p:grpSp>
        <p:nvGrpSpPr>
          <p:cNvPr id="1096769" name="Group 65"/>
          <p:cNvGrpSpPr>
            <a:grpSpLocks/>
          </p:cNvGrpSpPr>
          <p:nvPr/>
        </p:nvGrpSpPr>
        <p:grpSpPr bwMode="auto">
          <a:xfrm>
            <a:off x="6505049" y="3262486"/>
            <a:ext cx="4278312" cy="1282700"/>
            <a:chOff x="2255" y="1267"/>
            <a:chExt cx="2695" cy="808"/>
          </a:xfrm>
        </p:grpSpPr>
        <p:grpSp>
          <p:nvGrpSpPr>
            <p:cNvPr id="1096751" name="Group 47"/>
            <p:cNvGrpSpPr>
              <a:grpSpLocks/>
            </p:cNvGrpSpPr>
            <p:nvPr/>
          </p:nvGrpSpPr>
          <p:grpSpPr bwMode="auto">
            <a:xfrm>
              <a:off x="2255" y="1280"/>
              <a:ext cx="270" cy="470"/>
              <a:chOff x="2255" y="1280"/>
              <a:chExt cx="270" cy="470"/>
            </a:xfrm>
          </p:grpSpPr>
          <p:sp>
            <p:nvSpPr>
              <p:cNvPr id="1096727" name="Line 23"/>
              <p:cNvSpPr>
                <a:spLocks noChangeShapeType="1"/>
              </p:cNvSpPr>
              <p:nvPr/>
            </p:nvSpPr>
            <p:spPr bwMode="auto">
              <a:xfrm>
                <a:off x="2382" y="1280"/>
                <a:ext cx="0" cy="227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728" name="Rectangle 24"/>
              <p:cNvSpPr>
                <a:spLocks noChangeArrowheads="1"/>
              </p:cNvSpPr>
              <p:nvPr/>
            </p:nvSpPr>
            <p:spPr bwMode="auto">
              <a:xfrm>
                <a:off x="2255" y="1462"/>
                <a:ext cx="27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r>
                  <a:rPr lang="en-US" altLang="zh-CN" b="1">
                    <a:solidFill>
                      <a:srgbClr val="CC0000"/>
                    </a:solidFill>
                  </a:rPr>
                  <a:t>' '</a:t>
                </a:r>
              </a:p>
            </p:txBody>
          </p:sp>
        </p:grpSp>
        <p:grpSp>
          <p:nvGrpSpPr>
            <p:cNvPr id="1096752" name="Group 48"/>
            <p:cNvGrpSpPr>
              <a:grpSpLocks/>
            </p:cNvGrpSpPr>
            <p:nvPr/>
          </p:nvGrpSpPr>
          <p:grpSpPr bwMode="auto">
            <a:xfrm>
              <a:off x="2554" y="1272"/>
              <a:ext cx="318" cy="487"/>
              <a:chOff x="2554" y="1272"/>
              <a:chExt cx="318" cy="487"/>
            </a:xfrm>
          </p:grpSpPr>
          <p:sp>
            <p:nvSpPr>
              <p:cNvPr id="1096729" name="Line 25"/>
              <p:cNvSpPr>
                <a:spLocks noChangeShapeType="1"/>
              </p:cNvSpPr>
              <p:nvPr/>
            </p:nvSpPr>
            <p:spPr bwMode="auto">
              <a:xfrm>
                <a:off x="2671" y="1272"/>
                <a:ext cx="0" cy="227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730" name="Rectangle 26"/>
              <p:cNvSpPr>
                <a:spLocks noChangeArrowheads="1"/>
              </p:cNvSpPr>
              <p:nvPr/>
            </p:nvSpPr>
            <p:spPr bwMode="auto">
              <a:xfrm>
                <a:off x="2554" y="1471"/>
                <a:ext cx="31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r>
                  <a:rPr lang="en-US" altLang="zh-CN" b="1">
                    <a:solidFill>
                      <a:srgbClr val="CC0000"/>
                    </a:solidFill>
                  </a:rPr>
                  <a:t>'3'</a:t>
                </a:r>
              </a:p>
            </p:txBody>
          </p:sp>
        </p:grpSp>
        <p:grpSp>
          <p:nvGrpSpPr>
            <p:cNvPr id="1096753" name="Group 49"/>
            <p:cNvGrpSpPr>
              <a:grpSpLocks/>
            </p:cNvGrpSpPr>
            <p:nvPr/>
          </p:nvGrpSpPr>
          <p:grpSpPr bwMode="auto">
            <a:xfrm>
              <a:off x="2854" y="1282"/>
              <a:ext cx="318" cy="468"/>
              <a:chOff x="2854" y="1282"/>
              <a:chExt cx="318" cy="468"/>
            </a:xfrm>
          </p:grpSpPr>
          <p:sp>
            <p:nvSpPr>
              <p:cNvPr id="1096731" name="Line 27"/>
              <p:cNvSpPr>
                <a:spLocks noChangeShapeType="1"/>
              </p:cNvSpPr>
              <p:nvPr/>
            </p:nvSpPr>
            <p:spPr bwMode="auto">
              <a:xfrm>
                <a:off x="2987" y="1282"/>
                <a:ext cx="0" cy="227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732" name="Rectangle 28"/>
              <p:cNvSpPr>
                <a:spLocks noChangeArrowheads="1"/>
              </p:cNvSpPr>
              <p:nvPr/>
            </p:nvSpPr>
            <p:spPr bwMode="auto">
              <a:xfrm>
                <a:off x="2854" y="1462"/>
                <a:ext cx="31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r>
                  <a:rPr lang="en-US" altLang="zh-CN" b="1">
                    <a:solidFill>
                      <a:srgbClr val="CC0000"/>
                    </a:solidFill>
                  </a:rPr>
                  <a:t>', '</a:t>
                </a:r>
              </a:p>
            </p:txBody>
          </p:sp>
        </p:grpSp>
        <p:grpSp>
          <p:nvGrpSpPr>
            <p:cNvPr id="1096754" name="Group 50"/>
            <p:cNvGrpSpPr>
              <a:grpSpLocks/>
            </p:cNvGrpSpPr>
            <p:nvPr/>
          </p:nvGrpSpPr>
          <p:grpSpPr bwMode="auto">
            <a:xfrm>
              <a:off x="3192" y="1274"/>
              <a:ext cx="270" cy="477"/>
              <a:chOff x="3192" y="1274"/>
              <a:chExt cx="270" cy="477"/>
            </a:xfrm>
          </p:grpSpPr>
          <p:sp>
            <p:nvSpPr>
              <p:cNvPr id="1096733" name="Line 29"/>
              <p:cNvSpPr>
                <a:spLocks noChangeShapeType="1"/>
              </p:cNvSpPr>
              <p:nvPr/>
            </p:nvSpPr>
            <p:spPr bwMode="auto">
              <a:xfrm>
                <a:off x="3303" y="1274"/>
                <a:ext cx="0" cy="227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734" name="Rectangle 30"/>
              <p:cNvSpPr>
                <a:spLocks noChangeArrowheads="1"/>
              </p:cNvSpPr>
              <p:nvPr/>
            </p:nvSpPr>
            <p:spPr bwMode="auto">
              <a:xfrm>
                <a:off x="3192" y="1463"/>
                <a:ext cx="27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r>
                  <a:rPr lang="en-US" altLang="zh-CN" b="1">
                    <a:solidFill>
                      <a:srgbClr val="CC0000"/>
                    </a:solidFill>
                  </a:rPr>
                  <a:t>' '</a:t>
                </a:r>
              </a:p>
            </p:txBody>
          </p:sp>
        </p:grpSp>
        <p:grpSp>
          <p:nvGrpSpPr>
            <p:cNvPr id="1096755" name="Group 51"/>
            <p:cNvGrpSpPr>
              <a:grpSpLocks/>
            </p:cNvGrpSpPr>
            <p:nvPr/>
          </p:nvGrpSpPr>
          <p:grpSpPr bwMode="auto">
            <a:xfrm>
              <a:off x="3472" y="1275"/>
              <a:ext cx="270" cy="477"/>
              <a:chOff x="3472" y="1275"/>
              <a:chExt cx="270" cy="477"/>
            </a:xfrm>
          </p:grpSpPr>
          <p:sp>
            <p:nvSpPr>
              <p:cNvPr id="1096736" name="Line 32"/>
              <p:cNvSpPr>
                <a:spLocks noChangeShapeType="1"/>
              </p:cNvSpPr>
              <p:nvPr/>
            </p:nvSpPr>
            <p:spPr bwMode="auto">
              <a:xfrm>
                <a:off x="3592" y="1275"/>
                <a:ext cx="0" cy="227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737" name="Rectangle 33"/>
              <p:cNvSpPr>
                <a:spLocks noChangeArrowheads="1"/>
              </p:cNvSpPr>
              <p:nvPr/>
            </p:nvSpPr>
            <p:spPr bwMode="auto">
              <a:xfrm>
                <a:off x="3472" y="1464"/>
                <a:ext cx="27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r>
                  <a:rPr lang="en-US" altLang="zh-CN" b="1" dirty="0">
                    <a:solidFill>
                      <a:srgbClr val="CC0000"/>
                    </a:solidFill>
                  </a:rPr>
                  <a:t>' '</a:t>
                </a:r>
              </a:p>
            </p:txBody>
          </p:sp>
        </p:grpSp>
        <p:grpSp>
          <p:nvGrpSpPr>
            <p:cNvPr id="1096756" name="Group 52"/>
            <p:cNvGrpSpPr>
              <a:grpSpLocks/>
            </p:cNvGrpSpPr>
            <p:nvPr/>
          </p:nvGrpSpPr>
          <p:grpSpPr bwMode="auto">
            <a:xfrm>
              <a:off x="3725" y="1267"/>
              <a:ext cx="318" cy="474"/>
              <a:chOff x="3725" y="1267"/>
              <a:chExt cx="318" cy="474"/>
            </a:xfrm>
          </p:grpSpPr>
          <p:sp>
            <p:nvSpPr>
              <p:cNvPr id="1096738" name="Line 34"/>
              <p:cNvSpPr>
                <a:spLocks noChangeShapeType="1"/>
              </p:cNvSpPr>
              <p:nvPr/>
            </p:nvSpPr>
            <p:spPr bwMode="auto">
              <a:xfrm>
                <a:off x="3872" y="1267"/>
                <a:ext cx="0" cy="227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739" name="Rectangle 35"/>
              <p:cNvSpPr>
                <a:spLocks noChangeArrowheads="1"/>
              </p:cNvSpPr>
              <p:nvPr/>
            </p:nvSpPr>
            <p:spPr bwMode="auto">
              <a:xfrm>
                <a:off x="3725" y="1453"/>
                <a:ext cx="31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r>
                  <a:rPr lang="en-US" altLang="zh-CN" b="1">
                    <a:solidFill>
                      <a:srgbClr val="CC0000"/>
                    </a:solidFill>
                  </a:rPr>
                  <a:t>'9'</a:t>
                </a:r>
              </a:p>
            </p:txBody>
          </p:sp>
        </p:grpSp>
        <p:grpSp>
          <p:nvGrpSpPr>
            <p:cNvPr id="1096757" name="Group 53"/>
            <p:cNvGrpSpPr>
              <a:grpSpLocks/>
            </p:cNvGrpSpPr>
            <p:nvPr/>
          </p:nvGrpSpPr>
          <p:grpSpPr bwMode="auto">
            <a:xfrm>
              <a:off x="4024" y="1277"/>
              <a:ext cx="318" cy="464"/>
              <a:chOff x="4024" y="1277"/>
              <a:chExt cx="318" cy="464"/>
            </a:xfrm>
          </p:grpSpPr>
          <p:sp>
            <p:nvSpPr>
              <p:cNvPr id="1096740" name="Line 36"/>
              <p:cNvSpPr>
                <a:spLocks noChangeShapeType="1"/>
              </p:cNvSpPr>
              <p:nvPr/>
            </p:nvSpPr>
            <p:spPr bwMode="auto">
              <a:xfrm>
                <a:off x="4170" y="1277"/>
                <a:ext cx="0" cy="227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741" name="Rectangle 37"/>
              <p:cNvSpPr>
                <a:spLocks noChangeArrowheads="1"/>
              </p:cNvSpPr>
              <p:nvPr/>
            </p:nvSpPr>
            <p:spPr bwMode="auto">
              <a:xfrm>
                <a:off x="4024" y="1453"/>
                <a:ext cx="31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r>
                  <a:rPr lang="en-US" altLang="zh-CN" b="1">
                    <a:solidFill>
                      <a:srgbClr val="CC0000"/>
                    </a:solidFill>
                  </a:rPr>
                  <a:t>'. '</a:t>
                </a:r>
              </a:p>
            </p:txBody>
          </p:sp>
        </p:grpSp>
        <p:grpSp>
          <p:nvGrpSpPr>
            <p:cNvPr id="1096758" name="Group 54"/>
            <p:cNvGrpSpPr>
              <a:grpSpLocks/>
            </p:cNvGrpSpPr>
            <p:nvPr/>
          </p:nvGrpSpPr>
          <p:grpSpPr bwMode="auto">
            <a:xfrm>
              <a:off x="4350" y="1278"/>
              <a:ext cx="318" cy="471"/>
              <a:chOff x="4350" y="1278"/>
              <a:chExt cx="318" cy="471"/>
            </a:xfrm>
          </p:grpSpPr>
          <p:sp>
            <p:nvSpPr>
              <p:cNvPr id="1096742" name="Line 38"/>
              <p:cNvSpPr>
                <a:spLocks noChangeShapeType="1"/>
              </p:cNvSpPr>
              <p:nvPr/>
            </p:nvSpPr>
            <p:spPr bwMode="auto">
              <a:xfrm>
                <a:off x="4486" y="1278"/>
                <a:ext cx="0" cy="227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743" name="Rectangle 39"/>
              <p:cNvSpPr>
                <a:spLocks noChangeArrowheads="1"/>
              </p:cNvSpPr>
              <p:nvPr/>
            </p:nvSpPr>
            <p:spPr bwMode="auto">
              <a:xfrm>
                <a:off x="4350" y="1461"/>
                <a:ext cx="31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r>
                  <a:rPr lang="en-US" altLang="zh-CN" b="1">
                    <a:solidFill>
                      <a:srgbClr val="CC0000"/>
                    </a:solidFill>
                  </a:rPr>
                  <a:t>'8'</a:t>
                </a:r>
              </a:p>
            </p:txBody>
          </p:sp>
        </p:grpSp>
        <p:grpSp>
          <p:nvGrpSpPr>
            <p:cNvPr id="1096759" name="Group 55"/>
            <p:cNvGrpSpPr>
              <a:grpSpLocks/>
            </p:cNvGrpSpPr>
            <p:nvPr/>
          </p:nvGrpSpPr>
          <p:grpSpPr bwMode="auto">
            <a:xfrm>
              <a:off x="4632" y="1270"/>
              <a:ext cx="318" cy="470"/>
              <a:chOff x="4632" y="1270"/>
              <a:chExt cx="318" cy="470"/>
            </a:xfrm>
          </p:grpSpPr>
          <p:sp>
            <p:nvSpPr>
              <p:cNvPr id="1096744" name="Line 40"/>
              <p:cNvSpPr>
                <a:spLocks noChangeShapeType="1"/>
              </p:cNvSpPr>
              <p:nvPr/>
            </p:nvSpPr>
            <p:spPr bwMode="auto">
              <a:xfrm>
                <a:off x="4766" y="1270"/>
                <a:ext cx="0" cy="227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745" name="Rectangle 41"/>
              <p:cNvSpPr>
                <a:spLocks noChangeArrowheads="1"/>
              </p:cNvSpPr>
              <p:nvPr/>
            </p:nvSpPr>
            <p:spPr bwMode="auto">
              <a:xfrm>
                <a:off x="4632" y="1452"/>
                <a:ext cx="31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r>
                  <a:rPr lang="en-US" altLang="zh-CN" b="1">
                    <a:solidFill>
                      <a:srgbClr val="CC0000"/>
                    </a:solidFill>
                  </a:rPr>
                  <a:t>'0'</a:t>
                </a:r>
              </a:p>
            </p:txBody>
          </p:sp>
        </p:grpSp>
        <p:grpSp>
          <p:nvGrpSpPr>
            <p:cNvPr id="1096764" name="Group 60"/>
            <p:cNvGrpSpPr>
              <a:grpSpLocks/>
            </p:cNvGrpSpPr>
            <p:nvPr/>
          </p:nvGrpSpPr>
          <p:grpSpPr bwMode="auto">
            <a:xfrm>
              <a:off x="2318" y="1724"/>
              <a:ext cx="454" cy="341"/>
              <a:chOff x="2318" y="1724"/>
              <a:chExt cx="454" cy="341"/>
            </a:xfrm>
          </p:grpSpPr>
          <p:sp>
            <p:nvSpPr>
              <p:cNvPr id="1096760" name="AutoShape 56"/>
              <p:cNvSpPr>
                <a:spLocks/>
              </p:cNvSpPr>
              <p:nvPr/>
            </p:nvSpPr>
            <p:spPr bwMode="auto">
              <a:xfrm rot="-5400000">
                <a:off x="2477" y="1565"/>
                <a:ext cx="136" cy="453"/>
              </a:xfrm>
              <a:prstGeom prst="leftBrace">
                <a:avLst>
                  <a:gd name="adj1" fmla="val 27757"/>
                  <a:gd name="adj2" fmla="val 50000"/>
                </a:avLst>
              </a:prstGeom>
              <a:noFill/>
              <a:ln w="22225">
                <a:solidFill>
                  <a:srgbClr val="00206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  <p:sp>
            <p:nvSpPr>
              <p:cNvPr id="1096761" name="Text Box 57"/>
              <p:cNvSpPr txBox="1">
                <a:spLocks noChangeArrowheads="1"/>
              </p:cNvSpPr>
              <p:nvPr/>
            </p:nvSpPr>
            <p:spPr bwMode="auto">
              <a:xfrm>
                <a:off x="2318" y="1815"/>
                <a:ext cx="454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>
                    <a:solidFill>
                      <a:schemeClr val="accent1">
                        <a:lumMod val="50000"/>
                      </a:schemeClr>
                    </a:solidFill>
                  </a:rPr>
                  <a:t>%2d</a:t>
                </a:r>
              </a:p>
            </p:txBody>
          </p:sp>
        </p:grpSp>
        <p:grpSp>
          <p:nvGrpSpPr>
            <p:cNvPr id="1096765" name="Group 61"/>
            <p:cNvGrpSpPr>
              <a:grpSpLocks/>
            </p:cNvGrpSpPr>
            <p:nvPr/>
          </p:nvGrpSpPr>
          <p:grpSpPr bwMode="auto">
            <a:xfrm>
              <a:off x="3300" y="1688"/>
              <a:ext cx="1494" cy="387"/>
              <a:chOff x="3300" y="1688"/>
              <a:chExt cx="1494" cy="387"/>
            </a:xfrm>
          </p:grpSpPr>
          <p:sp>
            <p:nvSpPr>
              <p:cNvPr id="1096762" name="AutoShape 58"/>
              <p:cNvSpPr>
                <a:spLocks/>
              </p:cNvSpPr>
              <p:nvPr/>
            </p:nvSpPr>
            <p:spPr bwMode="auto">
              <a:xfrm rot="-5400000">
                <a:off x="3956" y="1032"/>
                <a:ext cx="182" cy="1494"/>
              </a:xfrm>
              <a:prstGeom prst="leftBrace">
                <a:avLst>
                  <a:gd name="adj1" fmla="val 68407"/>
                  <a:gd name="adj2" fmla="val 50000"/>
                </a:avLst>
              </a:prstGeom>
              <a:noFill/>
              <a:ln w="22225">
                <a:solidFill>
                  <a:srgbClr val="00206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  <p:sp>
            <p:nvSpPr>
              <p:cNvPr id="1096763" name="Text Box 59"/>
              <p:cNvSpPr txBox="1">
                <a:spLocks noChangeArrowheads="1"/>
              </p:cNvSpPr>
              <p:nvPr/>
            </p:nvSpPr>
            <p:spPr bwMode="auto">
              <a:xfrm>
                <a:off x="3761" y="1825"/>
                <a:ext cx="68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accent1">
                        <a:lumMod val="50000"/>
                      </a:schemeClr>
                    </a:solidFill>
                  </a:rPr>
                  <a:t>%6.2f</a:t>
                </a:r>
              </a:p>
            </p:txBody>
          </p:sp>
        </p:grpSp>
      </p:grpSp>
      <p:sp>
        <p:nvSpPr>
          <p:cNvPr id="55" name="Rectangle 4">
            <a:extLst>
              <a:ext uri="{FF2B5EF4-FFF2-40B4-BE49-F238E27FC236}">
                <a16:creationId xmlns:a16="http://schemas.microsoft.com/office/drawing/2014/main" id="{F0D37A8D-5442-4E10-A369-05AB17AFAB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12.5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文件的打开、读写和关闭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6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67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967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967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967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967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67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67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967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967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967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967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967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967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967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967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967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967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967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967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967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967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9670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9670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9670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9670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9670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9670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4" dur="500"/>
                                        <p:tgtEl>
                                          <p:spTgt spid="109676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9670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09670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09670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9670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8" dur="1000"/>
                                        <p:tgtEl>
                                          <p:spTgt spid="10967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200"/>
                            </p:stCondLst>
                            <p:childTnLst>
                              <p:par>
                                <p:cTn id="8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0967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0967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700"/>
                            </p:stCondLst>
                            <p:childTnLst>
                              <p:par>
                                <p:cTn id="8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7" dur="500"/>
                                        <p:tgtEl>
                                          <p:spTgt spid="10967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4200"/>
                            </p:stCondLst>
                            <p:childTnLst>
                              <p:par>
                                <p:cTn id="8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0967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0967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09670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09670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671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754" name="Rectangle 2" descr="信纸"/>
          <p:cNvSpPr>
            <a:spLocks noChangeArrowheads="1"/>
          </p:cNvSpPr>
          <p:nvPr/>
        </p:nvSpPr>
        <p:spPr bwMode="auto">
          <a:xfrm>
            <a:off x="825705" y="887065"/>
            <a:ext cx="4680521" cy="47021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latin typeface="+mn-lt"/>
                <a:ea typeface="楷体" pitchFamily="49" charset="-122"/>
              </a:rPr>
              <a:t>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以读的方式打开文件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wang.txt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fp</a:t>
            </a:r>
            <a:r>
              <a:rPr lang="en-US" altLang="zh-CN" sz="2000" b="1" dirty="0">
                <a:ea typeface="楷体_GB2312" pitchFamily="49" charset="-122"/>
              </a:rPr>
              <a:t> = </a:t>
            </a:r>
            <a:r>
              <a:rPr lang="en-US" altLang="zh-CN" sz="2000" b="1" dirty="0" err="1">
                <a:ea typeface="楷体_GB2312" pitchFamily="49" charset="-122"/>
              </a:rPr>
              <a:t>fopen</a:t>
            </a:r>
            <a:r>
              <a:rPr lang="en-US" altLang="zh-CN" sz="2000" b="1" dirty="0">
                <a:ea typeface="楷体_GB2312" pitchFamily="49" charset="-122"/>
              </a:rPr>
              <a:t> ("wang.txt", "r");     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if (</a:t>
            </a:r>
            <a:r>
              <a:rPr lang="en-US" altLang="zh-CN" sz="2000" b="1" dirty="0" err="1">
                <a:ea typeface="楷体_GB2312" pitchFamily="49" charset="-122"/>
              </a:rPr>
              <a:t>fp</a:t>
            </a:r>
            <a:r>
              <a:rPr lang="en-US" altLang="zh-CN" sz="2000" b="1" dirty="0">
                <a:ea typeface="楷体_GB2312" pitchFamily="49" charset="-122"/>
              </a:rPr>
              <a:t> = = NULL) 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打开失败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>
                <a:ea typeface="楷体_GB2312" pitchFamily="49" charset="-122"/>
              </a:rPr>
              <a:t>{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("can't open file: wang.dat\n");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exit (0);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}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 = 0;   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en-US" altLang="zh-CN" sz="2000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i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清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0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f = 0;   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//f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清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0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ea typeface="楷体_GB2312" pitchFamily="49" charset="-122"/>
              </a:rPr>
              <a:t>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从文件中读取数值到变量</a:t>
            </a:r>
            <a:r>
              <a:rPr lang="en-US" altLang="zh-CN" sz="2000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i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和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f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fscanf</a:t>
            </a:r>
            <a:r>
              <a:rPr lang="en-US" altLang="zh-CN" sz="2000" b="1" dirty="0">
                <a:ea typeface="楷体_GB2312" pitchFamily="49" charset="-122"/>
              </a:rPr>
              <a:t> (</a:t>
            </a:r>
            <a:r>
              <a:rPr lang="en-US" altLang="zh-CN" sz="2000" b="1" dirty="0" err="1">
                <a:ea typeface="楷体_GB2312" pitchFamily="49" charset="-122"/>
              </a:rPr>
              <a:t>fp</a:t>
            </a:r>
            <a:r>
              <a:rPr lang="en-US" altLang="zh-CN" sz="2000" b="1" dirty="0">
                <a:ea typeface="楷体_GB2312" pitchFamily="49" charset="-122"/>
              </a:rPr>
              <a:t>, "%</a:t>
            </a:r>
            <a:r>
              <a:rPr lang="en-US" altLang="zh-CN" sz="2000" b="1" dirty="0" err="1">
                <a:ea typeface="楷体_GB2312" pitchFamily="49" charset="-122"/>
              </a:rPr>
              <a:t>d,%f</a:t>
            </a:r>
            <a:r>
              <a:rPr lang="en-US" altLang="zh-CN" sz="2000" b="1" dirty="0">
                <a:ea typeface="楷体_GB2312" pitchFamily="49" charset="-122"/>
              </a:rPr>
              <a:t>", &amp;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, &amp;f);    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fclose</a:t>
            </a:r>
            <a:r>
              <a:rPr lang="en-US" altLang="zh-CN" sz="2000" b="1" dirty="0">
                <a:ea typeface="楷体_GB2312" pitchFamily="49" charset="-122"/>
              </a:rPr>
              <a:t> (</a:t>
            </a:r>
            <a:r>
              <a:rPr lang="en-US" altLang="zh-CN" sz="2000" b="1" dirty="0" err="1">
                <a:ea typeface="楷体_GB2312" pitchFamily="49" charset="-122"/>
              </a:rPr>
              <a:t>fp</a:t>
            </a:r>
            <a:r>
              <a:rPr lang="en-US" altLang="zh-CN" sz="2000" b="1" dirty="0">
                <a:ea typeface="楷体_GB2312" pitchFamily="49" charset="-122"/>
              </a:rPr>
              <a:t>);                  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关闭文件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solidFill>
                  <a:schemeClr val="accent2"/>
                </a:solidFill>
                <a:ea typeface="楷体_GB2312" pitchFamily="49" charset="-122"/>
              </a:rPr>
              <a:t>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显示从文件中读取的变量</a:t>
            </a:r>
            <a:r>
              <a:rPr lang="en-US" altLang="zh-CN" sz="2000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i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和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f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的值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 = %2d, f = %6.2f\n", 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, f);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}</a:t>
            </a:r>
          </a:p>
        </p:txBody>
      </p:sp>
      <p:grpSp>
        <p:nvGrpSpPr>
          <p:cNvPr id="1098807" name="Group 55"/>
          <p:cNvGrpSpPr>
            <a:grpSpLocks/>
          </p:cNvGrpSpPr>
          <p:nvPr/>
        </p:nvGrpSpPr>
        <p:grpSpPr bwMode="auto">
          <a:xfrm>
            <a:off x="5519936" y="1080070"/>
            <a:ext cx="6604000" cy="2420938"/>
            <a:chOff x="1546" y="2714"/>
            <a:chExt cx="4160" cy="1525"/>
          </a:xfrm>
        </p:grpSpPr>
        <p:grpSp>
          <p:nvGrpSpPr>
            <p:cNvPr id="1098755" name="Group 3"/>
            <p:cNvGrpSpPr>
              <a:grpSpLocks/>
            </p:cNvGrpSpPr>
            <p:nvPr/>
          </p:nvGrpSpPr>
          <p:grpSpPr bwMode="auto">
            <a:xfrm>
              <a:off x="1546" y="2714"/>
              <a:ext cx="4088" cy="1525"/>
              <a:chOff x="1600" y="618"/>
              <a:chExt cx="4088" cy="1525"/>
            </a:xfrm>
          </p:grpSpPr>
          <p:grpSp>
            <p:nvGrpSpPr>
              <p:cNvPr id="1098756" name="Group 4"/>
              <p:cNvGrpSpPr>
                <a:grpSpLocks/>
              </p:cNvGrpSpPr>
              <p:nvPr/>
            </p:nvGrpSpPr>
            <p:grpSpPr bwMode="auto">
              <a:xfrm>
                <a:off x="2228" y="618"/>
                <a:ext cx="3460" cy="1525"/>
                <a:chOff x="1854" y="1134"/>
                <a:chExt cx="3249" cy="1525"/>
              </a:xfrm>
            </p:grpSpPr>
            <p:sp>
              <p:nvSpPr>
                <p:cNvPr id="1098757" name="AutoShape 5"/>
                <p:cNvSpPr>
                  <a:spLocks noChangeArrowheads="1"/>
                </p:cNvSpPr>
                <p:nvPr/>
              </p:nvSpPr>
              <p:spPr bwMode="auto">
                <a:xfrm>
                  <a:off x="1854" y="1452"/>
                  <a:ext cx="3249" cy="1207"/>
                </a:xfrm>
                <a:prstGeom prst="foldedCorner">
                  <a:avLst>
                    <a:gd name="adj" fmla="val 12500"/>
                  </a:avLst>
                </a:prstGeom>
                <a:gradFill rotWithShape="1">
                  <a:gsLst>
                    <a:gs pos="0">
                      <a:srgbClr val="CFCFD1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25400">
                  <a:solidFill>
                    <a:srgbClr val="C01920"/>
                  </a:solidFill>
                  <a:round/>
                  <a:headEnd/>
                  <a:tailEnd/>
                </a:ln>
                <a:effectLst>
                  <a:outerShdw blurRad="50800" dist="106680" dir="2700000" algn="tl" rotWithShape="0">
                    <a:prstClr val="black">
                      <a:alpha val="43000"/>
                    </a:prstClr>
                  </a:outerShdw>
                </a:effectLst>
              </p:spPr>
              <p:txBody>
                <a:bodyPr wrap="none" anchor="ctr"/>
                <a:lstStyle/>
                <a:p>
                  <a:pPr algn="ctr"/>
                  <a:endParaRPr lang="zh-CN" altLang="zh-CN"/>
                </a:p>
              </p:txBody>
            </p:sp>
            <p:sp>
              <p:nvSpPr>
                <p:cNvPr id="1098758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3053" y="1134"/>
                  <a:ext cx="908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b="1">
                      <a:solidFill>
                        <a:srgbClr val="C00000"/>
                      </a:solidFill>
                    </a:rPr>
                    <a:t>wang.txt</a:t>
                  </a:r>
                </a:p>
              </p:txBody>
            </p:sp>
          </p:grpSp>
          <p:grpSp>
            <p:nvGrpSpPr>
              <p:cNvPr id="1098759" name="Group 7"/>
              <p:cNvGrpSpPr>
                <a:grpSpLocks/>
              </p:cNvGrpSpPr>
              <p:nvPr/>
            </p:nvGrpSpPr>
            <p:grpSpPr bwMode="auto">
              <a:xfrm>
                <a:off x="1600" y="1008"/>
                <a:ext cx="609" cy="250"/>
                <a:chOff x="1591" y="972"/>
                <a:chExt cx="691" cy="250"/>
              </a:xfrm>
            </p:grpSpPr>
            <p:sp>
              <p:nvSpPr>
                <p:cNvPr id="1098760" name="Line 8"/>
                <p:cNvSpPr>
                  <a:spLocks noChangeShapeType="1"/>
                </p:cNvSpPr>
                <p:nvPr/>
              </p:nvSpPr>
              <p:spPr bwMode="auto">
                <a:xfrm>
                  <a:off x="1828" y="1117"/>
                  <a:ext cx="454" cy="0"/>
                </a:xfrm>
                <a:prstGeom prst="line">
                  <a:avLst/>
                </a:prstGeom>
                <a:noFill/>
                <a:ln w="28575">
                  <a:solidFill>
                    <a:srgbClr val="C00000"/>
                  </a:solidFill>
                  <a:round/>
                  <a:headEnd/>
                  <a:tailEnd type="stealth" w="lg" len="lg"/>
                </a:ln>
                <a:effectLst>
                  <a:outerShdw dist="35921" dir="2700000" algn="ctr" rotWithShape="0">
                    <a:schemeClr val="bg2"/>
                  </a:outerShdw>
                </a:effec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98761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1591" y="972"/>
                  <a:ext cx="318" cy="2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000" b="1">
                      <a:solidFill>
                        <a:srgbClr val="C00000"/>
                      </a:solidFill>
                    </a:rPr>
                    <a:t>fp</a:t>
                  </a:r>
                </a:p>
              </p:txBody>
            </p:sp>
          </p:grpSp>
        </p:grpSp>
        <p:sp>
          <p:nvSpPr>
            <p:cNvPr id="1098766" name="Text Box 14"/>
            <p:cNvSpPr txBox="1">
              <a:spLocks noChangeArrowheads="1"/>
            </p:cNvSpPr>
            <p:nvPr/>
          </p:nvSpPr>
          <p:spPr bwMode="auto">
            <a:xfrm>
              <a:off x="2184" y="3105"/>
              <a:ext cx="304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20  33  2C  20  20  39  2E  38  30</a:t>
              </a:r>
            </a:p>
          </p:txBody>
        </p:sp>
        <p:grpSp>
          <p:nvGrpSpPr>
            <p:cNvPr id="1098767" name="Group 15"/>
            <p:cNvGrpSpPr>
              <a:grpSpLocks/>
            </p:cNvGrpSpPr>
            <p:nvPr/>
          </p:nvGrpSpPr>
          <p:grpSpPr bwMode="auto">
            <a:xfrm>
              <a:off x="4859" y="3121"/>
              <a:ext cx="847" cy="231"/>
              <a:chOff x="4913" y="1025"/>
              <a:chExt cx="847" cy="231"/>
            </a:xfrm>
          </p:grpSpPr>
          <p:sp>
            <p:nvSpPr>
              <p:cNvPr id="1098768" name="Line 16"/>
              <p:cNvSpPr>
                <a:spLocks noChangeShapeType="1"/>
              </p:cNvSpPr>
              <p:nvPr/>
            </p:nvSpPr>
            <p:spPr bwMode="auto">
              <a:xfrm flipH="1">
                <a:off x="4913" y="1162"/>
                <a:ext cx="226" cy="0"/>
              </a:xfrm>
              <a:prstGeom prst="line">
                <a:avLst/>
              </a:prstGeom>
              <a:noFill/>
              <a:ln w="9525">
                <a:solidFill>
                  <a:srgbClr val="80008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8769" name="Text Box 17"/>
              <p:cNvSpPr txBox="1">
                <a:spLocks noChangeArrowheads="1"/>
              </p:cNvSpPr>
              <p:nvPr/>
            </p:nvSpPr>
            <p:spPr bwMode="auto">
              <a:xfrm>
                <a:off x="5079" y="1025"/>
                <a:ext cx="681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 dirty="0">
                    <a:solidFill>
                      <a:srgbClr val="990099"/>
                    </a:solidFill>
                    <a:latin typeface="+mn-lt"/>
                    <a:ea typeface="楷体" pitchFamily="49" charset="-122"/>
                  </a:rPr>
                  <a:t>ASCII</a:t>
                </a:r>
                <a:r>
                  <a:rPr lang="zh-CN" altLang="en-US" sz="1800" b="1" dirty="0">
                    <a:solidFill>
                      <a:srgbClr val="990099"/>
                    </a:solidFill>
                    <a:latin typeface="+mn-lt"/>
                    <a:ea typeface="楷体" pitchFamily="49" charset="-122"/>
                  </a:rPr>
                  <a:t>码</a:t>
                </a:r>
              </a:p>
            </p:txBody>
          </p:sp>
        </p:grpSp>
        <p:grpSp>
          <p:nvGrpSpPr>
            <p:cNvPr id="1098770" name="Group 18"/>
            <p:cNvGrpSpPr>
              <a:grpSpLocks/>
            </p:cNvGrpSpPr>
            <p:nvPr/>
          </p:nvGrpSpPr>
          <p:grpSpPr bwMode="auto">
            <a:xfrm>
              <a:off x="4860" y="3446"/>
              <a:ext cx="661" cy="404"/>
              <a:chOff x="4914" y="1350"/>
              <a:chExt cx="661" cy="404"/>
            </a:xfrm>
          </p:grpSpPr>
          <p:sp>
            <p:nvSpPr>
              <p:cNvPr id="1098771" name="Line 19"/>
              <p:cNvSpPr>
                <a:spLocks noChangeShapeType="1"/>
              </p:cNvSpPr>
              <p:nvPr/>
            </p:nvSpPr>
            <p:spPr bwMode="auto">
              <a:xfrm flipH="1">
                <a:off x="4914" y="1568"/>
                <a:ext cx="226" cy="0"/>
              </a:xfrm>
              <a:prstGeom prst="line">
                <a:avLst/>
              </a:prstGeom>
              <a:noFill/>
              <a:ln w="9525">
                <a:solidFill>
                  <a:srgbClr val="80008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8772" name="Text Box 20"/>
              <p:cNvSpPr txBox="1">
                <a:spLocks noChangeArrowheads="1"/>
              </p:cNvSpPr>
              <p:nvPr/>
            </p:nvSpPr>
            <p:spPr bwMode="auto">
              <a:xfrm>
                <a:off x="5134" y="1350"/>
                <a:ext cx="441" cy="4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1800" b="1">
                    <a:solidFill>
                      <a:srgbClr val="990099"/>
                    </a:solidFill>
                    <a:latin typeface="+mn-lt"/>
                    <a:ea typeface="楷体" pitchFamily="49" charset="-122"/>
                  </a:rPr>
                  <a:t>对应字符</a:t>
                </a:r>
              </a:p>
            </p:txBody>
          </p:sp>
        </p:grpSp>
        <p:grpSp>
          <p:nvGrpSpPr>
            <p:cNvPr id="1098774" name="Group 22"/>
            <p:cNvGrpSpPr>
              <a:grpSpLocks/>
            </p:cNvGrpSpPr>
            <p:nvPr/>
          </p:nvGrpSpPr>
          <p:grpSpPr bwMode="auto">
            <a:xfrm>
              <a:off x="2201" y="3376"/>
              <a:ext cx="270" cy="470"/>
              <a:chOff x="2255" y="1280"/>
              <a:chExt cx="270" cy="470"/>
            </a:xfrm>
          </p:grpSpPr>
          <p:sp>
            <p:nvSpPr>
              <p:cNvPr id="1098775" name="Line 23"/>
              <p:cNvSpPr>
                <a:spLocks noChangeShapeType="1"/>
              </p:cNvSpPr>
              <p:nvPr/>
            </p:nvSpPr>
            <p:spPr bwMode="auto">
              <a:xfrm>
                <a:off x="2382" y="1280"/>
                <a:ext cx="0" cy="227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 dirty="0"/>
              </a:p>
            </p:txBody>
          </p:sp>
          <p:sp>
            <p:nvSpPr>
              <p:cNvPr id="1098776" name="Rectangle 24"/>
              <p:cNvSpPr>
                <a:spLocks noChangeArrowheads="1"/>
              </p:cNvSpPr>
              <p:nvPr/>
            </p:nvSpPr>
            <p:spPr bwMode="auto">
              <a:xfrm>
                <a:off x="2255" y="1462"/>
                <a:ext cx="27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r>
                  <a:rPr lang="en-US" altLang="zh-CN" b="1">
                    <a:solidFill>
                      <a:srgbClr val="CC0000"/>
                    </a:solidFill>
                  </a:rPr>
                  <a:t>' '</a:t>
                </a:r>
              </a:p>
            </p:txBody>
          </p:sp>
        </p:grpSp>
        <p:grpSp>
          <p:nvGrpSpPr>
            <p:cNvPr id="1098777" name="Group 25"/>
            <p:cNvGrpSpPr>
              <a:grpSpLocks/>
            </p:cNvGrpSpPr>
            <p:nvPr/>
          </p:nvGrpSpPr>
          <p:grpSpPr bwMode="auto">
            <a:xfrm>
              <a:off x="2500" y="3368"/>
              <a:ext cx="318" cy="487"/>
              <a:chOff x="2554" y="1272"/>
              <a:chExt cx="318" cy="487"/>
            </a:xfrm>
          </p:grpSpPr>
          <p:sp>
            <p:nvSpPr>
              <p:cNvPr id="1098778" name="Line 26"/>
              <p:cNvSpPr>
                <a:spLocks noChangeShapeType="1"/>
              </p:cNvSpPr>
              <p:nvPr/>
            </p:nvSpPr>
            <p:spPr bwMode="auto">
              <a:xfrm>
                <a:off x="2671" y="1272"/>
                <a:ext cx="0" cy="227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8779" name="Rectangle 27"/>
              <p:cNvSpPr>
                <a:spLocks noChangeArrowheads="1"/>
              </p:cNvSpPr>
              <p:nvPr/>
            </p:nvSpPr>
            <p:spPr bwMode="auto">
              <a:xfrm>
                <a:off x="2554" y="1471"/>
                <a:ext cx="31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r>
                  <a:rPr lang="en-US" altLang="zh-CN" b="1">
                    <a:solidFill>
                      <a:srgbClr val="CC0000"/>
                    </a:solidFill>
                  </a:rPr>
                  <a:t>'3'</a:t>
                </a:r>
              </a:p>
            </p:txBody>
          </p:sp>
        </p:grpSp>
        <p:grpSp>
          <p:nvGrpSpPr>
            <p:cNvPr id="1098780" name="Group 28"/>
            <p:cNvGrpSpPr>
              <a:grpSpLocks/>
            </p:cNvGrpSpPr>
            <p:nvPr/>
          </p:nvGrpSpPr>
          <p:grpSpPr bwMode="auto">
            <a:xfrm>
              <a:off x="2800" y="3378"/>
              <a:ext cx="318" cy="468"/>
              <a:chOff x="2854" y="1282"/>
              <a:chExt cx="318" cy="468"/>
            </a:xfrm>
          </p:grpSpPr>
          <p:sp>
            <p:nvSpPr>
              <p:cNvPr id="1098781" name="Line 29"/>
              <p:cNvSpPr>
                <a:spLocks noChangeShapeType="1"/>
              </p:cNvSpPr>
              <p:nvPr/>
            </p:nvSpPr>
            <p:spPr bwMode="auto">
              <a:xfrm>
                <a:off x="2987" y="1282"/>
                <a:ext cx="0" cy="227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8782" name="Rectangle 30"/>
              <p:cNvSpPr>
                <a:spLocks noChangeArrowheads="1"/>
              </p:cNvSpPr>
              <p:nvPr/>
            </p:nvSpPr>
            <p:spPr bwMode="auto">
              <a:xfrm>
                <a:off x="2854" y="1462"/>
                <a:ext cx="31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r>
                  <a:rPr lang="en-US" altLang="zh-CN" b="1">
                    <a:solidFill>
                      <a:srgbClr val="CC0000"/>
                    </a:solidFill>
                  </a:rPr>
                  <a:t>', '</a:t>
                </a:r>
              </a:p>
            </p:txBody>
          </p:sp>
        </p:grpSp>
        <p:grpSp>
          <p:nvGrpSpPr>
            <p:cNvPr id="1098783" name="Group 31"/>
            <p:cNvGrpSpPr>
              <a:grpSpLocks/>
            </p:cNvGrpSpPr>
            <p:nvPr/>
          </p:nvGrpSpPr>
          <p:grpSpPr bwMode="auto">
            <a:xfrm>
              <a:off x="3138" y="3370"/>
              <a:ext cx="270" cy="477"/>
              <a:chOff x="3192" y="1274"/>
              <a:chExt cx="270" cy="477"/>
            </a:xfrm>
          </p:grpSpPr>
          <p:sp>
            <p:nvSpPr>
              <p:cNvPr id="1098784" name="Line 32"/>
              <p:cNvSpPr>
                <a:spLocks noChangeShapeType="1"/>
              </p:cNvSpPr>
              <p:nvPr/>
            </p:nvSpPr>
            <p:spPr bwMode="auto">
              <a:xfrm>
                <a:off x="3303" y="1274"/>
                <a:ext cx="0" cy="227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8785" name="Rectangle 33"/>
              <p:cNvSpPr>
                <a:spLocks noChangeArrowheads="1"/>
              </p:cNvSpPr>
              <p:nvPr/>
            </p:nvSpPr>
            <p:spPr bwMode="auto">
              <a:xfrm>
                <a:off x="3192" y="1463"/>
                <a:ext cx="27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r>
                  <a:rPr lang="en-US" altLang="zh-CN" b="1">
                    <a:solidFill>
                      <a:srgbClr val="CC0000"/>
                    </a:solidFill>
                  </a:rPr>
                  <a:t>' '</a:t>
                </a:r>
              </a:p>
            </p:txBody>
          </p:sp>
        </p:grpSp>
        <p:grpSp>
          <p:nvGrpSpPr>
            <p:cNvPr id="1098786" name="Group 34"/>
            <p:cNvGrpSpPr>
              <a:grpSpLocks/>
            </p:cNvGrpSpPr>
            <p:nvPr/>
          </p:nvGrpSpPr>
          <p:grpSpPr bwMode="auto">
            <a:xfrm>
              <a:off x="3418" y="3371"/>
              <a:ext cx="270" cy="477"/>
              <a:chOff x="3472" y="1275"/>
              <a:chExt cx="270" cy="477"/>
            </a:xfrm>
          </p:grpSpPr>
          <p:sp>
            <p:nvSpPr>
              <p:cNvPr id="1098787" name="Line 35"/>
              <p:cNvSpPr>
                <a:spLocks noChangeShapeType="1"/>
              </p:cNvSpPr>
              <p:nvPr/>
            </p:nvSpPr>
            <p:spPr bwMode="auto">
              <a:xfrm>
                <a:off x="3592" y="1275"/>
                <a:ext cx="0" cy="227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8788" name="Rectangle 36"/>
              <p:cNvSpPr>
                <a:spLocks noChangeArrowheads="1"/>
              </p:cNvSpPr>
              <p:nvPr/>
            </p:nvSpPr>
            <p:spPr bwMode="auto">
              <a:xfrm>
                <a:off x="3472" y="1464"/>
                <a:ext cx="27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r>
                  <a:rPr lang="en-US" altLang="zh-CN" b="1">
                    <a:solidFill>
                      <a:srgbClr val="CC0000"/>
                    </a:solidFill>
                  </a:rPr>
                  <a:t>' '</a:t>
                </a:r>
              </a:p>
            </p:txBody>
          </p:sp>
        </p:grpSp>
        <p:grpSp>
          <p:nvGrpSpPr>
            <p:cNvPr id="1098789" name="Group 37"/>
            <p:cNvGrpSpPr>
              <a:grpSpLocks/>
            </p:cNvGrpSpPr>
            <p:nvPr/>
          </p:nvGrpSpPr>
          <p:grpSpPr bwMode="auto">
            <a:xfrm>
              <a:off x="3671" y="3363"/>
              <a:ext cx="318" cy="474"/>
              <a:chOff x="3725" y="1267"/>
              <a:chExt cx="318" cy="474"/>
            </a:xfrm>
          </p:grpSpPr>
          <p:sp>
            <p:nvSpPr>
              <p:cNvPr id="1098790" name="Line 38"/>
              <p:cNvSpPr>
                <a:spLocks noChangeShapeType="1"/>
              </p:cNvSpPr>
              <p:nvPr/>
            </p:nvSpPr>
            <p:spPr bwMode="auto">
              <a:xfrm>
                <a:off x="3872" y="1267"/>
                <a:ext cx="0" cy="227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8791" name="Rectangle 39"/>
              <p:cNvSpPr>
                <a:spLocks noChangeArrowheads="1"/>
              </p:cNvSpPr>
              <p:nvPr/>
            </p:nvSpPr>
            <p:spPr bwMode="auto">
              <a:xfrm>
                <a:off x="3725" y="1453"/>
                <a:ext cx="31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r>
                  <a:rPr lang="en-US" altLang="zh-CN" b="1">
                    <a:solidFill>
                      <a:srgbClr val="CC0000"/>
                    </a:solidFill>
                  </a:rPr>
                  <a:t>'9'</a:t>
                </a:r>
              </a:p>
            </p:txBody>
          </p:sp>
        </p:grpSp>
        <p:grpSp>
          <p:nvGrpSpPr>
            <p:cNvPr id="1098792" name="Group 40"/>
            <p:cNvGrpSpPr>
              <a:grpSpLocks/>
            </p:cNvGrpSpPr>
            <p:nvPr/>
          </p:nvGrpSpPr>
          <p:grpSpPr bwMode="auto">
            <a:xfrm>
              <a:off x="3970" y="3373"/>
              <a:ext cx="318" cy="464"/>
              <a:chOff x="4024" y="1277"/>
              <a:chExt cx="318" cy="464"/>
            </a:xfrm>
          </p:grpSpPr>
          <p:sp>
            <p:nvSpPr>
              <p:cNvPr id="1098793" name="Line 41"/>
              <p:cNvSpPr>
                <a:spLocks noChangeShapeType="1"/>
              </p:cNvSpPr>
              <p:nvPr/>
            </p:nvSpPr>
            <p:spPr bwMode="auto">
              <a:xfrm>
                <a:off x="4170" y="1277"/>
                <a:ext cx="0" cy="227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8794" name="Rectangle 42"/>
              <p:cNvSpPr>
                <a:spLocks noChangeArrowheads="1"/>
              </p:cNvSpPr>
              <p:nvPr/>
            </p:nvSpPr>
            <p:spPr bwMode="auto">
              <a:xfrm>
                <a:off x="4024" y="1453"/>
                <a:ext cx="31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r>
                  <a:rPr lang="en-US" altLang="zh-CN" b="1">
                    <a:solidFill>
                      <a:srgbClr val="CC0000"/>
                    </a:solidFill>
                  </a:rPr>
                  <a:t>'. '</a:t>
                </a:r>
              </a:p>
            </p:txBody>
          </p:sp>
        </p:grpSp>
        <p:grpSp>
          <p:nvGrpSpPr>
            <p:cNvPr id="1098795" name="Group 43"/>
            <p:cNvGrpSpPr>
              <a:grpSpLocks/>
            </p:cNvGrpSpPr>
            <p:nvPr/>
          </p:nvGrpSpPr>
          <p:grpSpPr bwMode="auto">
            <a:xfrm>
              <a:off x="4296" y="3374"/>
              <a:ext cx="318" cy="471"/>
              <a:chOff x="4350" y="1278"/>
              <a:chExt cx="318" cy="471"/>
            </a:xfrm>
          </p:grpSpPr>
          <p:sp>
            <p:nvSpPr>
              <p:cNvPr id="1098796" name="Line 44"/>
              <p:cNvSpPr>
                <a:spLocks noChangeShapeType="1"/>
              </p:cNvSpPr>
              <p:nvPr/>
            </p:nvSpPr>
            <p:spPr bwMode="auto">
              <a:xfrm>
                <a:off x="4486" y="1278"/>
                <a:ext cx="0" cy="227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8797" name="Rectangle 45"/>
              <p:cNvSpPr>
                <a:spLocks noChangeArrowheads="1"/>
              </p:cNvSpPr>
              <p:nvPr/>
            </p:nvSpPr>
            <p:spPr bwMode="auto">
              <a:xfrm>
                <a:off x="4350" y="1461"/>
                <a:ext cx="31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r>
                  <a:rPr lang="en-US" altLang="zh-CN" b="1">
                    <a:solidFill>
                      <a:srgbClr val="CC0000"/>
                    </a:solidFill>
                  </a:rPr>
                  <a:t>'8'</a:t>
                </a:r>
              </a:p>
            </p:txBody>
          </p:sp>
        </p:grpSp>
        <p:grpSp>
          <p:nvGrpSpPr>
            <p:cNvPr id="1098798" name="Group 46"/>
            <p:cNvGrpSpPr>
              <a:grpSpLocks/>
            </p:cNvGrpSpPr>
            <p:nvPr/>
          </p:nvGrpSpPr>
          <p:grpSpPr bwMode="auto">
            <a:xfrm>
              <a:off x="4578" y="3366"/>
              <a:ext cx="318" cy="470"/>
              <a:chOff x="4632" y="1270"/>
              <a:chExt cx="318" cy="470"/>
            </a:xfrm>
          </p:grpSpPr>
          <p:sp>
            <p:nvSpPr>
              <p:cNvPr id="1098799" name="Line 47"/>
              <p:cNvSpPr>
                <a:spLocks noChangeShapeType="1"/>
              </p:cNvSpPr>
              <p:nvPr/>
            </p:nvSpPr>
            <p:spPr bwMode="auto">
              <a:xfrm>
                <a:off x="4766" y="1270"/>
                <a:ext cx="0" cy="227"/>
              </a:xfrm>
              <a:prstGeom prst="line">
                <a:avLst/>
              </a:prstGeom>
              <a:noFill/>
              <a:ln w="19050">
                <a:solidFill>
                  <a:srgbClr val="002060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8800" name="Rectangle 48"/>
              <p:cNvSpPr>
                <a:spLocks noChangeArrowheads="1"/>
              </p:cNvSpPr>
              <p:nvPr/>
            </p:nvSpPr>
            <p:spPr bwMode="auto">
              <a:xfrm>
                <a:off x="4632" y="1452"/>
                <a:ext cx="31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r>
                  <a:rPr lang="en-US" altLang="zh-CN" b="1">
                    <a:solidFill>
                      <a:srgbClr val="CC0000"/>
                    </a:solidFill>
                  </a:rPr>
                  <a:t>'0'</a:t>
                </a:r>
              </a:p>
            </p:txBody>
          </p:sp>
        </p:grpSp>
      </p:grpSp>
      <p:grpSp>
        <p:nvGrpSpPr>
          <p:cNvPr id="1098814" name="Group 62"/>
          <p:cNvGrpSpPr>
            <a:grpSpLocks/>
          </p:cNvGrpSpPr>
          <p:nvPr/>
        </p:nvGrpSpPr>
        <p:grpSpPr bwMode="auto">
          <a:xfrm>
            <a:off x="6572449" y="1699196"/>
            <a:ext cx="1352550" cy="1787525"/>
            <a:chOff x="2209" y="3104"/>
            <a:chExt cx="852" cy="1126"/>
          </a:xfrm>
        </p:grpSpPr>
        <p:sp>
          <p:nvSpPr>
            <p:cNvPr id="1098808" name="Oval 56"/>
            <p:cNvSpPr>
              <a:spLocks noChangeArrowheads="1"/>
            </p:cNvSpPr>
            <p:nvPr/>
          </p:nvSpPr>
          <p:spPr bwMode="auto">
            <a:xfrm>
              <a:off x="2209" y="3104"/>
              <a:ext cx="544" cy="272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8809" name="Line 57"/>
            <p:cNvSpPr>
              <a:spLocks noChangeShapeType="1"/>
            </p:cNvSpPr>
            <p:nvPr/>
          </p:nvSpPr>
          <p:spPr bwMode="auto">
            <a:xfrm>
              <a:off x="2472" y="3385"/>
              <a:ext cx="0" cy="589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prstDash val="sysDot"/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8810" name="Text Box 58"/>
            <p:cNvSpPr txBox="1">
              <a:spLocks noChangeArrowheads="1"/>
            </p:cNvSpPr>
            <p:nvPr/>
          </p:nvSpPr>
          <p:spPr bwMode="auto">
            <a:xfrm>
              <a:off x="2390" y="3942"/>
              <a:ext cx="67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i = 3</a:t>
              </a:r>
            </a:p>
          </p:txBody>
        </p:sp>
      </p:grpSp>
      <p:grpSp>
        <p:nvGrpSpPr>
          <p:cNvPr id="1098815" name="Group 63"/>
          <p:cNvGrpSpPr>
            <a:grpSpLocks/>
          </p:cNvGrpSpPr>
          <p:nvPr/>
        </p:nvGrpSpPr>
        <p:grpSpPr bwMode="auto">
          <a:xfrm>
            <a:off x="7998025" y="1669034"/>
            <a:ext cx="2808287" cy="1811337"/>
            <a:chOff x="3107" y="3085"/>
            <a:chExt cx="1769" cy="1141"/>
          </a:xfrm>
        </p:grpSpPr>
        <p:sp>
          <p:nvSpPr>
            <p:cNvPr id="1098811" name="Oval 59"/>
            <p:cNvSpPr>
              <a:spLocks noChangeArrowheads="1"/>
            </p:cNvSpPr>
            <p:nvPr/>
          </p:nvSpPr>
          <p:spPr bwMode="auto">
            <a:xfrm>
              <a:off x="3107" y="3085"/>
              <a:ext cx="1769" cy="318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098812" name="Line 60"/>
            <p:cNvSpPr>
              <a:spLocks noChangeShapeType="1"/>
            </p:cNvSpPr>
            <p:nvPr/>
          </p:nvSpPr>
          <p:spPr bwMode="auto">
            <a:xfrm>
              <a:off x="3985" y="3404"/>
              <a:ext cx="0" cy="589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prstDash val="sysDot"/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098813" name="Text Box 61"/>
            <p:cNvSpPr txBox="1">
              <a:spLocks noChangeArrowheads="1"/>
            </p:cNvSpPr>
            <p:nvPr/>
          </p:nvSpPr>
          <p:spPr bwMode="auto">
            <a:xfrm>
              <a:off x="3905" y="3938"/>
              <a:ext cx="78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/>
                <a:t>f = 9.80</a:t>
              </a:r>
            </a:p>
          </p:txBody>
        </p:sp>
      </p:grpSp>
      <p:sp>
        <p:nvSpPr>
          <p:cNvPr id="1098816" name="Rectangle 64"/>
          <p:cNvSpPr>
            <a:spLocks noChangeArrowheads="1"/>
          </p:cNvSpPr>
          <p:nvPr/>
        </p:nvSpPr>
        <p:spPr bwMode="auto">
          <a:xfrm>
            <a:off x="6467647" y="4368114"/>
            <a:ext cx="2508303" cy="707886"/>
          </a:xfrm>
          <a:prstGeom prst="rect">
            <a:avLst/>
          </a:prstGeom>
          <a:solidFill>
            <a:srgbClr val="FFFFFF"/>
          </a:soli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隶书" pitchFamily="49" charset="-122"/>
                <a:ea typeface="隶书" pitchFamily="49" charset="-122"/>
              </a:rPr>
              <a:t>运行结果：</a:t>
            </a:r>
          </a:p>
          <a:p>
            <a:r>
              <a:rPr lang="en-US" altLang="zh-CN" sz="2000" b="1" dirty="0" err="1">
                <a:solidFill>
                  <a:srgbClr val="002060"/>
                </a:solidFill>
                <a:ea typeface="楷体_GB2312" pitchFamily="49" charset="-122"/>
              </a:rPr>
              <a:t>i</a:t>
            </a:r>
            <a:r>
              <a:rPr lang="en-US" altLang="zh-CN" sz="2000" b="1" dirty="0">
                <a:solidFill>
                  <a:srgbClr val="002060"/>
                </a:solidFill>
                <a:ea typeface="楷体_GB2312" pitchFamily="49" charset="-122"/>
              </a:rPr>
              <a:t> =  3, f =   9.80</a:t>
            </a:r>
          </a:p>
        </p:txBody>
      </p:sp>
      <p:sp>
        <p:nvSpPr>
          <p:cNvPr id="1098817" name="Rectangle 65"/>
          <p:cNvSpPr>
            <a:spLocks noChangeArrowheads="1"/>
          </p:cNvSpPr>
          <p:nvPr/>
        </p:nvSpPr>
        <p:spPr bwMode="auto">
          <a:xfrm>
            <a:off x="756716" y="5738126"/>
            <a:ext cx="11019571" cy="830997"/>
          </a:xfrm>
          <a:prstGeom prst="rect">
            <a:avLst/>
          </a:prstGeom>
          <a:gradFill flip="none"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3500000" scaled="1"/>
            <a:tileRect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solidFill>
                  <a:srgbClr val="FF3300"/>
                </a:solidFill>
                <a:latin typeface="隶书" pitchFamily="49" charset="-122"/>
                <a:ea typeface="隶书" pitchFamily="49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latin typeface="隶书" pitchFamily="49" charset="-122"/>
                <a:ea typeface="隶书" pitchFamily="49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隶书" pitchFamily="49" charset="-122"/>
                <a:ea typeface="隶书" pitchFamily="49" charset="-122"/>
              </a:rPr>
              <a:t>注意：</a:t>
            </a:r>
            <a:r>
              <a:rPr lang="zh-CN" altLang="en-US" b="1" dirty="0">
                <a:latin typeface="隶书" pitchFamily="49" charset="-122"/>
                <a:ea typeface="隶书" pitchFamily="49" charset="-122"/>
              </a:rPr>
              <a:t>文件格式化输出函数</a:t>
            </a:r>
            <a:r>
              <a:rPr lang="en-US" altLang="zh-CN" b="1" dirty="0" err="1">
                <a:ea typeface="隶书" pitchFamily="49" charset="-122"/>
              </a:rPr>
              <a:t>fprintf</a:t>
            </a:r>
            <a:r>
              <a:rPr lang="zh-CN" altLang="en-US" b="1" dirty="0">
                <a:latin typeface="隶书" pitchFamily="49" charset="-122"/>
                <a:ea typeface="隶书" pitchFamily="49" charset="-122"/>
              </a:rPr>
              <a:t>总是以</a:t>
            </a:r>
            <a:r>
              <a:rPr lang="zh-CN" altLang="en-US" b="1" dirty="0">
                <a:solidFill>
                  <a:srgbClr val="CC0000"/>
                </a:solidFill>
                <a:latin typeface="隶书" pitchFamily="49" charset="-122"/>
                <a:ea typeface="隶书" pitchFamily="49" charset="-122"/>
              </a:rPr>
              <a:t>字符串的形式</a:t>
            </a:r>
            <a:r>
              <a:rPr lang="zh-CN" altLang="en-US" b="1" dirty="0">
                <a:latin typeface="隶书" pitchFamily="49" charset="-122"/>
                <a:ea typeface="隶书" pitchFamily="49" charset="-122"/>
              </a:rPr>
              <a:t>将数据信息存放到文件中，而不是以数值的形式存放到文件中，不管打开的是文本文件还是二进制文件。</a:t>
            </a:r>
          </a:p>
        </p:txBody>
      </p:sp>
      <p:sp>
        <p:nvSpPr>
          <p:cNvPr id="58" name="Rectangle 4">
            <a:extLst>
              <a:ext uri="{FF2B5EF4-FFF2-40B4-BE49-F238E27FC236}">
                <a16:creationId xmlns:a16="http://schemas.microsoft.com/office/drawing/2014/main" id="{A3A08C94-4E88-4AA5-B1F4-5B024CF01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12.5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文件的打开、读写和关闭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8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8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987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987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987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987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87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87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987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987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987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987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987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987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10988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987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987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987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987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987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987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987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987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8" dur="500"/>
                                        <p:tgtEl>
                                          <p:spTgt spid="10988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10988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9875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9875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09875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9875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09875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09875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09875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09875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6" dur="500"/>
                                        <p:tgtEl>
                                          <p:spTgt spid="10988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1" dur="500"/>
                                        <p:tgtEl>
                                          <p:spTgt spid="10988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8816" grpId="0" animBg="1"/>
      <p:bldP spid="109881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805" name="Rectangle 5"/>
          <p:cNvSpPr>
            <a:spLocks noChangeArrowheads="1"/>
          </p:cNvSpPr>
          <p:nvPr/>
        </p:nvSpPr>
        <p:spPr bwMode="auto">
          <a:xfrm>
            <a:off x="617242" y="980728"/>
            <a:ext cx="451277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b="1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、文件读写函数选用原则 </a:t>
            </a:r>
          </a:p>
        </p:txBody>
      </p:sp>
      <p:sp>
        <p:nvSpPr>
          <p:cNvPr id="1100812" name="Rectangle 12"/>
          <p:cNvSpPr>
            <a:spLocks noChangeArrowheads="1"/>
          </p:cNvSpPr>
          <p:nvPr/>
        </p:nvSpPr>
        <p:spPr bwMode="auto">
          <a:xfrm>
            <a:off x="1218957" y="1556792"/>
            <a:ext cx="10277643" cy="1880579"/>
          </a:xfrm>
          <a:prstGeom prst="rect">
            <a:avLst/>
          </a:prstGeom>
          <a:noFill/>
          <a:ln>
            <a:noFill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buClr>
                <a:srgbClr val="C00000"/>
              </a:buClr>
              <a:buFont typeface="Wingdings" pitchFamily="2" charset="2"/>
              <a:buChar char="Ø"/>
              <a:tabLst>
                <a:tab pos="457200" algn="l"/>
              </a:tabLst>
            </a:pPr>
            <a:r>
              <a:rPr lang="en-US" altLang="zh-CN" sz="2000" b="1" dirty="0">
                <a:ea typeface="楷体" pitchFamily="49" charset="-122"/>
              </a:rPr>
              <a:t> </a:t>
            </a:r>
            <a:r>
              <a:rPr lang="zh-CN" altLang="en-US" sz="2000" b="1" dirty="0">
                <a:ea typeface="楷体" pitchFamily="49" charset="-122"/>
              </a:rPr>
              <a:t>读</a:t>
            </a:r>
            <a:r>
              <a:rPr lang="en-US" altLang="zh-CN" sz="2000" b="1" dirty="0">
                <a:ea typeface="楷体" pitchFamily="49" charset="-122"/>
              </a:rPr>
              <a:t>/</a:t>
            </a:r>
            <a:r>
              <a:rPr lang="zh-CN" altLang="en-US" sz="2000" b="1" dirty="0">
                <a:ea typeface="楷体" pitchFamily="49" charset="-122"/>
              </a:rPr>
              <a:t>写</a:t>
            </a:r>
            <a:r>
              <a:rPr lang="en-US" altLang="zh-CN" sz="2000" b="1" dirty="0">
                <a:ea typeface="楷体" pitchFamily="49" charset="-122"/>
              </a:rPr>
              <a:t>1</a:t>
            </a:r>
            <a:r>
              <a:rPr lang="zh-CN" altLang="en-US" sz="2000" b="1" dirty="0">
                <a:ea typeface="楷体" pitchFamily="49" charset="-122"/>
              </a:rPr>
              <a:t>个字符（或字节）数据时：选用</a:t>
            </a:r>
            <a:r>
              <a:rPr lang="en-US" altLang="zh-CN" sz="2000" b="1" dirty="0" err="1">
                <a:ea typeface="楷体" pitchFamily="49" charset="-122"/>
              </a:rPr>
              <a:t>fgetc</a:t>
            </a:r>
            <a:r>
              <a:rPr lang="en-US" altLang="zh-CN" sz="2000" b="1" dirty="0">
                <a:ea typeface="楷体" pitchFamily="49" charset="-122"/>
              </a:rPr>
              <a:t>( )</a:t>
            </a:r>
            <a:r>
              <a:rPr lang="zh-CN" altLang="en-US" sz="2000" b="1" dirty="0">
                <a:ea typeface="楷体" pitchFamily="49" charset="-122"/>
              </a:rPr>
              <a:t>和</a:t>
            </a:r>
            <a:r>
              <a:rPr lang="en-US" altLang="zh-CN" sz="2000" b="1" dirty="0" err="1">
                <a:ea typeface="楷体" pitchFamily="49" charset="-122"/>
              </a:rPr>
              <a:t>fputc</a:t>
            </a:r>
            <a:r>
              <a:rPr lang="en-US" altLang="zh-CN" sz="2000" b="1" dirty="0">
                <a:ea typeface="楷体" pitchFamily="49" charset="-122"/>
              </a:rPr>
              <a:t>( )</a:t>
            </a:r>
            <a:r>
              <a:rPr lang="zh-CN" altLang="en-US" sz="2000" b="1" dirty="0">
                <a:ea typeface="楷体" pitchFamily="49" charset="-122"/>
              </a:rPr>
              <a:t>函数。</a:t>
            </a:r>
          </a:p>
          <a:p>
            <a:pPr>
              <a:lnSpc>
                <a:spcPct val="150000"/>
              </a:lnSpc>
              <a:buClr>
                <a:srgbClr val="C00000"/>
              </a:buClr>
              <a:buFont typeface="Wingdings" pitchFamily="2" charset="2"/>
              <a:buChar char="Ø"/>
              <a:tabLst>
                <a:tab pos="457200" algn="l"/>
              </a:tabLst>
            </a:pPr>
            <a:r>
              <a:rPr lang="zh-CN" altLang="en-US" sz="2000" b="1" dirty="0">
                <a:ea typeface="楷体" pitchFamily="49" charset="-122"/>
              </a:rPr>
              <a:t> 读</a:t>
            </a:r>
            <a:r>
              <a:rPr lang="en-US" altLang="zh-CN" sz="2000" b="1" dirty="0">
                <a:ea typeface="楷体" pitchFamily="49" charset="-122"/>
              </a:rPr>
              <a:t>/</a:t>
            </a:r>
            <a:r>
              <a:rPr lang="zh-CN" altLang="en-US" sz="2000" b="1" dirty="0">
                <a:ea typeface="楷体" pitchFamily="49" charset="-122"/>
              </a:rPr>
              <a:t>写</a:t>
            </a:r>
            <a:r>
              <a:rPr lang="en-US" altLang="zh-CN" sz="2000" b="1" dirty="0">
                <a:ea typeface="楷体" pitchFamily="49" charset="-122"/>
              </a:rPr>
              <a:t>1</a:t>
            </a:r>
            <a:r>
              <a:rPr lang="zh-CN" altLang="en-US" sz="2000" b="1" dirty="0">
                <a:ea typeface="楷体" pitchFamily="49" charset="-122"/>
              </a:rPr>
              <a:t>个字符串时：选用</a:t>
            </a:r>
            <a:r>
              <a:rPr lang="en-US" altLang="zh-CN" sz="2000" b="1" dirty="0" err="1">
                <a:ea typeface="楷体" pitchFamily="49" charset="-122"/>
              </a:rPr>
              <a:t>fgets</a:t>
            </a:r>
            <a:r>
              <a:rPr lang="en-US" altLang="zh-CN" sz="2000" b="1" dirty="0">
                <a:ea typeface="楷体" pitchFamily="49" charset="-122"/>
              </a:rPr>
              <a:t>( )</a:t>
            </a:r>
            <a:r>
              <a:rPr lang="zh-CN" altLang="en-US" sz="2000" b="1" dirty="0">
                <a:ea typeface="楷体" pitchFamily="49" charset="-122"/>
              </a:rPr>
              <a:t>和</a:t>
            </a:r>
            <a:r>
              <a:rPr lang="en-US" altLang="zh-CN" sz="2000" b="1" dirty="0" err="1">
                <a:ea typeface="楷体" pitchFamily="49" charset="-122"/>
              </a:rPr>
              <a:t>fputs</a:t>
            </a:r>
            <a:r>
              <a:rPr lang="en-US" altLang="zh-CN" sz="2000" b="1" dirty="0">
                <a:ea typeface="楷体" pitchFamily="49" charset="-122"/>
              </a:rPr>
              <a:t>( )</a:t>
            </a:r>
            <a:r>
              <a:rPr lang="zh-CN" altLang="en-US" sz="2000" b="1" dirty="0">
                <a:ea typeface="楷体" pitchFamily="49" charset="-122"/>
              </a:rPr>
              <a:t>函数。</a:t>
            </a:r>
          </a:p>
          <a:p>
            <a:pPr>
              <a:lnSpc>
                <a:spcPct val="150000"/>
              </a:lnSpc>
              <a:buClr>
                <a:srgbClr val="C00000"/>
              </a:buClr>
              <a:buFont typeface="Wingdings" pitchFamily="2" charset="2"/>
              <a:buChar char="Ø"/>
              <a:tabLst>
                <a:tab pos="457200" algn="l"/>
              </a:tabLst>
            </a:pPr>
            <a:r>
              <a:rPr lang="zh-CN" altLang="en-US" sz="2000" b="1" dirty="0">
                <a:ea typeface="楷体" pitchFamily="49" charset="-122"/>
              </a:rPr>
              <a:t> 读</a:t>
            </a:r>
            <a:r>
              <a:rPr lang="en-US" altLang="zh-CN" sz="2000" b="1" dirty="0">
                <a:ea typeface="楷体" pitchFamily="49" charset="-122"/>
              </a:rPr>
              <a:t>/</a:t>
            </a:r>
            <a:r>
              <a:rPr lang="zh-CN" altLang="en-US" sz="2000" b="1" dirty="0">
                <a:ea typeface="楷体" pitchFamily="49" charset="-122"/>
              </a:rPr>
              <a:t>写</a:t>
            </a:r>
            <a:r>
              <a:rPr lang="en-US" altLang="zh-CN" sz="2000" b="1" dirty="0">
                <a:ea typeface="楷体" pitchFamily="49" charset="-122"/>
              </a:rPr>
              <a:t>1</a:t>
            </a:r>
            <a:r>
              <a:rPr lang="zh-CN" altLang="en-US" sz="2000" b="1" dirty="0">
                <a:ea typeface="楷体" pitchFamily="49" charset="-122"/>
              </a:rPr>
              <a:t>个（或多个）不含格式的数据时：选用</a:t>
            </a:r>
            <a:r>
              <a:rPr lang="en-US" altLang="zh-CN" sz="2000" b="1" dirty="0" err="1">
                <a:ea typeface="楷体" pitchFamily="49" charset="-122"/>
              </a:rPr>
              <a:t>fread</a:t>
            </a:r>
            <a:r>
              <a:rPr lang="en-US" altLang="zh-CN" sz="2000" b="1" dirty="0">
                <a:ea typeface="楷体" pitchFamily="49" charset="-122"/>
              </a:rPr>
              <a:t>( )</a:t>
            </a:r>
            <a:r>
              <a:rPr lang="zh-CN" altLang="en-US" sz="2000" b="1" dirty="0">
                <a:ea typeface="楷体" pitchFamily="49" charset="-122"/>
              </a:rPr>
              <a:t>和</a:t>
            </a:r>
            <a:r>
              <a:rPr lang="en-US" altLang="zh-CN" sz="2000" b="1" dirty="0" err="1">
                <a:ea typeface="楷体" pitchFamily="49" charset="-122"/>
              </a:rPr>
              <a:t>fwrite</a:t>
            </a:r>
            <a:r>
              <a:rPr lang="en-US" altLang="zh-CN" sz="2000" b="1" dirty="0">
                <a:ea typeface="楷体" pitchFamily="49" charset="-122"/>
              </a:rPr>
              <a:t>( )</a:t>
            </a:r>
            <a:r>
              <a:rPr lang="zh-CN" altLang="en-US" sz="2000" b="1" dirty="0">
                <a:ea typeface="楷体" pitchFamily="49" charset="-122"/>
              </a:rPr>
              <a:t>函数。</a:t>
            </a:r>
          </a:p>
          <a:p>
            <a:pPr>
              <a:lnSpc>
                <a:spcPct val="150000"/>
              </a:lnSpc>
              <a:buClr>
                <a:srgbClr val="C00000"/>
              </a:buClr>
              <a:buFont typeface="Wingdings" pitchFamily="2" charset="2"/>
              <a:buChar char="Ø"/>
              <a:tabLst>
                <a:tab pos="457200" algn="l"/>
              </a:tabLst>
            </a:pPr>
            <a:r>
              <a:rPr lang="zh-CN" altLang="en-US" sz="2000" b="1" dirty="0">
                <a:ea typeface="楷体" pitchFamily="49" charset="-122"/>
              </a:rPr>
              <a:t> 读</a:t>
            </a:r>
            <a:r>
              <a:rPr lang="en-US" altLang="zh-CN" sz="2000" b="1" dirty="0">
                <a:ea typeface="楷体" pitchFamily="49" charset="-122"/>
              </a:rPr>
              <a:t>/</a:t>
            </a:r>
            <a:r>
              <a:rPr lang="zh-CN" altLang="en-US" sz="2000" b="1" dirty="0">
                <a:ea typeface="楷体" pitchFamily="49" charset="-122"/>
              </a:rPr>
              <a:t>写</a:t>
            </a:r>
            <a:r>
              <a:rPr lang="en-US" altLang="zh-CN" sz="2000" b="1" dirty="0">
                <a:ea typeface="楷体" pitchFamily="49" charset="-122"/>
              </a:rPr>
              <a:t>1</a:t>
            </a:r>
            <a:r>
              <a:rPr lang="zh-CN" altLang="en-US" sz="2000" b="1" dirty="0">
                <a:ea typeface="楷体" pitchFamily="49" charset="-122"/>
              </a:rPr>
              <a:t>个（或多个）含格式的数据时：选用</a:t>
            </a:r>
            <a:r>
              <a:rPr lang="en-US" altLang="zh-CN" sz="2000" b="1" dirty="0" err="1">
                <a:ea typeface="楷体" pitchFamily="49" charset="-122"/>
              </a:rPr>
              <a:t>fscanf</a:t>
            </a:r>
            <a:r>
              <a:rPr lang="en-US" altLang="zh-CN" sz="2000" b="1" dirty="0">
                <a:ea typeface="楷体" pitchFamily="49" charset="-122"/>
              </a:rPr>
              <a:t>( )</a:t>
            </a:r>
            <a:r>
              <a:rPr lang="zh-CN" altLang="en-US" sz="2000" b="1" dirty="0">
                <a:ea typeface="楷体" pitchFamily="49" charset="-122"/>
              </a:rPr>
              <a:t>和</a:t>
            </a:r>
            <a:r>
              <a:rPr lang="en-US" altLang="zh-CN" sz="2000" b="1" dirty="0" err="1">
                <a:ea typeface="楷体" pitchFamily="49" charset="-122"/>
              </a:rPr>
              <a:t>fprintf</a:t>
            </a:r>
            <a:r>
              <a:rPr lang="en-US" altLang="zh-CN" sz="2000" b="1" dirty="0">
                <a:ea typeface="楷体" pitchFamily="49" charset="-122"/>
              </a:rPr>
              <a:t>( )</a:t>
            </a:r>
            <a:r>
              <a:rPr lang="zh-CN" altLang="en-US" sz="2000" b="1" dirty="0">
                <a:ea typeface="楷体" pitchFamily="49" charset="-122"/>
              </a:rPr>
              <a:t>函数。</a:t>
            </a:r>
          </a:p>
        </p:txBody>
      </p:sp>
      <p:sp>
        <p:nvSpPr>
          <p:cNvPr id="1100813" name="Rectangle 13"/>
          <p:cNvSpPr>
            <a:spLocks noChangeArrowheads="1"/>
          </p:cNvSpPr>
          <p:nvPr/>
        </p:nvSpPr>
        <p:spPr bwMode="auto">
          <a:xfrm>
            <a:off x="1218958" y="3670962"/>
            <a:ext cx="10277642" cy="2314031"/>
          </a:xfrm>
          <a:prstGeom prst="rect">
            <a:avLst/>
          </a:prstGeom>
          <a:noFill/>
          <a:ln>
            <a:noFill/>
            <a:headEnd/>
            <a:tailEnd/>
          </a:ln>
          <a:effectLst/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>
              <a:lnSpc>
                <a:spcPts val="3200"/>
              </a:lnSpc>
              <a:tabLst>
                <a:tab pos="457200" algn="l"/>
              </a:tabLst>
            </a:pPr>
            <a:r>
              <a:rPr lang="zh-CN" altLang="en-US" b="1" u="sng" dirty="0">
                <a:solidFill>
                  <a:srgbClr val="C0192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对使用文件类型的要求：</a:t>
            </a:r>
            <a:endParaRPr lang="en-US" altLang="zh-CN" b="1" u="sng" dirty="0">
              <a:solidFill>
                <a:srgbClr val="C0192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tabLst>
                <a:tab pos="457200" algn="l"/>
              </a:tabLst>
            </a:pPr>
            <a:endParaRPr lang="zh-CN" altLang="en-US" sz="1000" b="1" u="sng" dirty="0">
              <a:solidFill>
                <a:srgbClr val="C0192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ts val="3200"/>
              </a:lnSpc>
              <a:buClr>
                <a:schemeClr val="accent2">
                  <a:lumMod val="50000"/>
                </a:schemeClr>
              </a:buClr>
              <a:buFont typeface="Wingdings" pitchFamily="2" charset="2"/>
              <a:buChar char="Ø"/>
              <a:tabLst>
                <a:tab pos="457200" algn="l"/>
              </a:tabLst>
            </a:pPr>
            <a:r>
              <a:rPr lang="zh-CN" altLang="en-US" sz="2000" b="1" dirty="0">
                <a:solidFill>
                  <a:schemeClr val="accent2"/>
                </a:solidFill>
                <a:ea typeface="楷体_GB2312" pitchFamily="49" charset="-122"/>
              </a:rPr>
              <a:t> </a:t>
            </a:r>
            <a:r>
              <a:rPr lang="en-US" altLang="zh-CN" sz="2000" b="1" dirty="0" err="1">
                <a:solidFill>
                  <a:srgbClr val="002060"/>
                </a:solidFill>
                <a:ea typeface="楷体" pitchFamily="49" charset="-122"/>
              </a:rPr>
              <a:t>fgetc</a:t>
            </a:r>
            <a:r>
              <a:rPr lang="en-US" altLang="zh-CN" sz="2000" b="1" dirty="0">
                <a:solidFill>
                  <a:srgbClr val="002060"/>
                </a:solidFill>
                <a:ea typeface="楷体" pitchFamily="49" charset="-122"/>
              </a:rPr>
              <a:t>( )</a:t>
            </a:r>
            <a:r>
              <a:rPr lang="zh-CN" altLang="en-US" sz="2000" b="1" dirty="0">
                <a:solidFill>
                  <a:srgbClr val="002060"/>
                </a:solidFill>
                <a:ea typeface="楷体" pitchFamily="49" charset="-122"/>
              </a:rPr>
              <a:t>和</a:t>
            </a:r>
            <a:r>
              <a:rPr lang="en-US" altLang="zh-CN" sz="2000" b="1" dirty="0" err="1">
                <a:solidFill>
                  <a:srgbClr val="002060"/>
                </a:solidFill>
                <a:ea typeface="楷体" pitchFamily="49" charset="-122"/>
              </a:rPr>
              <a:t>fputc</a:t>
            </a:r>
            <a:r>
              <a:rPr lang="en-US" altLang="zh-CN" sz="2000" b="1" dirty="0">
                <a:solidFill>
                  <a:srgbClr val="002060"/>
                </a:solidFill>
                <a:ea typeface="楷体" pitchFamily="49" charset="-122"/>
              </a:rPr>
              <a:t>( )</a:t>
            </a:r>
            <a:r>
              <a:rPr lang="zh-CN" altLang="en-US" sz="2000" b="1" dirty="0">
                <a:solidFill>
                  <a:srgbClr val="002060"/>
                </a:solidFill>
                <a:ea typeface="楷体" pitchFamily="49" charset="-122"/>
              </a:rPr>
              <a:t>：</a:t>
            </a:r>
            <a:r>
              <a:rPr lang="zh-CN" altLang="en-US" sz="2000" b="1" dirty="0">
                <a:ea typeface="楷体" pitchFamily="49" charset="-122"/>
              </a:rPr>
              <a:t>主要对文本文件进行读写，但也可对二进制文件进行读写；</a:t>
            </a:r>
          </a:p>
          <a:p>
            <a:pPr>
              <a:lnSpc>
                <a:spcPts val="3200"/>
              </a:lnSpc>
              <a:buClr>
                <a:schemeClr val="accent2">
                  <a:lumMod val="50000"/>
                </a:schemeClr>
              </a:buClr>
              <a:buFont typeface="Wingdings" pitchFamily="2" charset="2"/>
              <a:buChar char="Ø"/>
              <a:tabLst>
                <a:tab pos="457200" algn="l"/>
              </a:tabLst>
            </a:pPr>
            <a:r>
              <a:rPr lang="zh-CN" altLang="en-US" sz="2000" b="1" dirty="0">
                <a:solidFill>
                  <a:schemeClr val="accent2"/>
                </a:solidFill>
                <a:ea typeface="楷体" pitchFamily="49" charset="-122"/>
              </a:rPr>
              <a:t> </a:t>
            </a:r>
            <a:r>
              <a:rPr lang="en-US" altLang="zh-CN" sz="2000" b="1" dirty="0" err="1">
                <a:solidFill>
                  <a:srgbClr val="002060"/>
                </a:solidFill>
                <a:ea typeface="楷体" pitchFamily="49" charset="-122"/>
              </a:rPr>
              <a:t>fgets</a:t>
            </a:r>
            <a:r>
              <a:rPr lang="en-US" altLang="zh-CN" sz="2000" b="1" dirty="0">
                <a:solidFill>
                  <a:srgbClr val="002060"/>
                </a:solidFill>
                <a:ea typeface="楷体" pitchFamily="49" charset="-122"/>
              </a:rPr>
              <a:t>( )</a:t>
            </a:r>
            <a:r>
              <a:rPr lang="zh-CN" altLang="en-US" sz="2000" b="1" dirty="0">
                <a:solidFill>
                  <a:srgbClr val="002060"/>
                </a:solidFill>
                <a:ea typeface="楷体" pitchFamily="49" charset="-122"/>
              </a:rPr>
              <a:t>和</a:t>
            </a:r>
            <a:r>
              <a:rPr lang="en-US" altLang="zh-CN" sz="2000" b="1" dirty="0" err="1">
                <a:solidFill>
                  <a:srgbClr val="002060"/>
                </a:solidFill>
                <a:ea typeface="楷体" pitchFamily="49" charset="-122"/>
              </a:rPr>
              <a:t>fputs</a:t>
            </a:r>
            <a:r>
              <a:rPr lang="en-US" altLang="zh-CN" sz="2000" b="1" dirty="0">
                <a:solidFill>
                  <a:srgbClr val="002060"/>
                </a:solidFill>
                <a:ea typeface="楷体" pitchFamily="49" charset="-122"/>
              </a:rPr>
              <a:t>( )</a:t>
            </a:r>
            <a:r>
              <a:rPr lang="zh-CN" altLang="en-US" sz="2000" b="1" dirty="0">
                <a:solidFill>
                  <a:srgbClr val="002060"/>
                </a:solidFill>
                <a:ea typeface="楷体" pitchFamily="49" charset="-122"/>
              </a:rPr>
              <a:t>：</a:t>
            </a:r>
            <a:r>
              <a:rPr lang="zh-CN" altLang="en-US" sz="2000" b="1" dirty="0">
                <a:ea typeface="楷体" pitchFamily="49" charset="-122"/>
              </a:rPr>
              <a:t>主要对文本文件进行读写，对二进制文件操作无意义；</a:t>
            </a:r>
          </a:p>
          <a:p>
            <a:pPr>
              <a:lnSpc>
                <a:spcPts val="3200"/>
              </a:lnSpc>
              <a:buClr>
                <a:schemeClr val="accent2">
                  <a:lumMod val="50000"/>
                </a:schemeClr>
              </a:buClr>
              <a:buFont typeface="Wingdings" pitchFamily="2" charset="2"/>
              <a:buChar char="Ø"/>
              <a:tabLst>
                <a:tab pos="457200" algn="l"/>
              </a:tabLst>
            </a:pPr>
            <a:r>
              <a:rPr lang="zh-CN" altLang="en-US" sz="2000" b="1" dirty="0">
                <a:solidFill>
                  <a:schemeClr val="accent2"/>
                </a:solidFill>
                <a:ea typeface="楷体" pitchFamily="49" charset="-122"/>
              </a:rPr>
              <a:t> </a:t>
            </a:r>
            <a:r>
              <a:rPr lang="en-US" altLang="zh-CN" sz="2000" b="1" dirty="0" err="1">
                <a:solidFill>
                  <a:srgbClr val="002060"/>
                </a:solidFill>
                <a:ea typeface="楷体" pitchFamily="49" charset="-122"/>
              </a:rPr>
              <a:t>fread</a:t>
            </a:r>
            <a:r>
              <a:rPr lang="en-US" altLang="zh-CN" sz="2000" b="1" dirty="0">
                <a:solidFill>
                  <a:srgbClr val="002060"/>
                </a:solidFill>
                <a:ea typeface="楷体" pitchFamily="49" charset="-122"/>
              </a:rPr>
              <a:t>( )</a:t>
            </a:r>
            <a:r>
              <a:rPr lang="zh-CN" altLang="en-US" sz="2000" b="1" dirty="0">
                <a:solidFill>
                  <a:srgbClr val="002060"/>
                </a:solidFill>
                <a:ea typeface="楷体" pitchFamily="49" charset="-122"/>
              </a:rPr>
              <a:t>和</a:t>
            </a:r>
            <a:r>
              <a:rPr lang="en-US" altLang="zh-CN" sz="2000" b="1" dirty="0" err="1">
                <a:solidFill>
                  <a:srgbClr val="002060"/>
                </a:solidFill>
                <a:ea typeface="楷体" pitchFamily="49" charset="-122"/>
              </a:rPr>
              <a:t>fwrite</a:t>
            </a:r>
            <a:r>
              <a:rPr lang="en-US" altLang="zh-CN" sz="2000" b="1" dirty="0">
                <a:solidFill>
                  <a:srgbClr val="002060"/>
                </a:solidFill>
                <a:ea typeface="楷体" pitchFamily="49" charset="-122"/>
              </a:rPr>
              <a:t>( )</a:t>
            </a:r>
            <a:r>
              <a:rPr lang="zh-CN" altLang="en-US" sz="2000" b="1" dirty="0">
                <a:solidFill>
                  <a:srgbClr val="002060"/>
                </a:solidFill>
                <a:ea typeface="楷体" pitchFamily="49" charset="-122"/>
              </a:rPr>
              <a:t>：</a:t>
            </a:r>
            <a:r>
              <a:rPr lang="zh-CN" altLang="en-US" sz="2000" b="1" dirty="0">
                <a:ea typeface="楷体" pitchFamily="49" charset="-122"/>
              </a:rPr>
              <a:t>主要对二进制文件进行读写，但也可对文本文件进行读写；</a:t>
            </a:r>
          </a:p>
          <a:p>
            <a:pPr>
              <a:lnSpc>
                <a:spcPts val="3200"/>
              </a:lnSpc>
              <a:buClr>
                <a:schemeClr val="accent2">
                  <a:lumMod val="50000"/>
                </a:schemeClr>
              </a:buClr>
              <a:buFont typeface="Wingdings" pitchFamily="2" charset="2"/>
              <a:buChar char="Ø"/>
              <a:tabLst>
                <a:tab pos="457200" algn="l"/>
              </a:tabLst>
            </a:pPr>
            <a:r>
              <a:rPr lang="zh-CN" altLang="en-US" sz="2000" b="1" dirty="0">
                <a:solidFill>
                  <a:schemeClr val="accent2"/>
                </a:solidFill>
                <a:ea typeface="楷体" pitchFamily="49" charset="-122"/>
              </a:rPr>
              <a:t> </a:t>
            </a:r>
            <a:r>
              <a:rPr lang="en-US" altLang="zh-CN" sz="2000" b="1" dirty="0" err="1">
                <a:solidFill>
                  <a:srgbClr val="002060"/>
                </a:solidFill>
                <a:ea typeface="楷体" pitchFamily="49" charset="-122"/>
              </a:rPr>
              <a:t>fscanf</a:t>
            </a:r>
            <a:r>
              <a:rPr lang="en-US" altLang="zh-CN" sz="2000" b="1" dirty="0">
                <a:solidFill>
                  <a:srgbClr val="002060"/>
                </a:solidFill>
                <a:ea typeface="楷体" pitchFamily="49" charset="-122"/>
              </a:rPr>
              <a:t>( )</a:t>
            </a:r>
            <a:r>
              <a:rPr lang="zh-CN" altLang="en-US" sz="2000" b="1" dirty="0">
                <a:solidFill>
                  <a:srgbClr val="002060"/>
                </a:solidFill>
                <a:ea typeface="楷体" pitchFamily="49" charset="-122"/>
              </a:rPr>
              <a:t>和</a:t>
            </a:r>
            <a:r>
              <a:rPr lang="en-US" altLang="zh-CN" sz="2000" b="1" dirty="0" err="1">
                <a:solidFill>
                  <a:srgbClr val="002060"/>
                </a:solidFill>
                <a:ea typeface="楷体" pitchFamily="49" charset="-122"/>
              </a:rPr>
              <a:t>fprintf</a:t>
            </a:r>
            <a:r>
              <a:rPr lang="en-US" altLang="zh-CN" sz="2000" b="1" dirty="0">
                <a:solidFill>
                  <a:srgbClr val="002060"/>
                </a:solidFill>
                <a:ea typeface="楷体" pitchFamily="49" charset="-122"/>
              </a:rPr>
              <a:t>( )</a:t>
            </a:r>
            <a:r>
              <a:rPr lang="zh-CN" altLang="en-US" sz="2000" b="1" dirty="0">
                <a:solidFill>
                  <a:srgbClr val="002060"/>
                </a:solidFill>
                <a:ea typeface="楷体" pitchFamily="49" charset="-122"/>
              </a:rPr>
              <a:t>：</a:t>
            </a:r>
            <a:r>
              <a:rPr lang="zh-CN" altLang="en-US" sz="2000" b="1" dirty="0">
                <a:ea typeface="楷体" pitchFamily="49" charset="-122"/>
              </a:rPr>
              <a:t>主要对文本文件进行读写，对二进制文件操作无意义。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F0A3132F-AEB9-4AFA-8691-8DFC6E1FF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12.5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文件的打开、读写和关闭 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008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008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0812" grpId="0" animBg="1"/>
      <p:bldP spid="110081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856" name="Rectangle 8"/>
          <p:cNvSpPr>
            <a:spLocks noChangeArrowheads="1"/>
          </p:cNvSpPr>
          <p:nvPr/>
        </p:nvSpPr>
        <p:spPr bwMode="auto">
          <a:xfrm>
            <a:off x="1201117" y="896971"/>
            <a:ext cx="259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lvl="1">
              <a:buFont typeface="Wingdings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几个概念</a:t>
            </a:r>
          </a:p>
        </p:txBody>
      </p:sp>
      <p:sp>
        <p:nvSpPr>
          <p:cNvPr id="1102857" name="Rectangle 9"/>
          <p:cNvSpPr>
            <a:spLocks noChangeArrowheads="1"/>
          </p:cNvSpPr>
          <p:nvPr/>
        </p:nvSpPr>
        <p:spPr bwMode="auto">
          <a:xfrm>
            <a:off x="983431" y="1316072"/>
            <a:ext cx="806489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vl="1">
              <a:buClr>
                <a:schemeClr val="accent2">
                  <a:lumMod val="50000"/>
                </a:schemeClr>
              </a:buClr>
              <a:buFont typeface="Wingdings" pitchFamily="2" charset="2"/>
              <a:buChar char="l"/>
            </a:pP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文件位置指针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-----</a:t>
            </a:r>
            <a:r>
              <a:rPr lang="zh-CN" altLang="en-US" b="1" dirty="0">
                <a:latin typeface="+mn-lt"/>
                <a:ea typeface="楷体" pitchFamily="49" charset="-122"/>
              </a:rPr>
              <a:t>指向当前读写位置的指针</a:t>
            </a:r>
          </a:p>
          <a:p>
            <a:pPr lvl="1">
              <a:buClr>
                <a:schemeClr val="accent2">
                  <a:lumMod val="50000"/>
                </a:schemeClr>
              </a:buClr>
              <a:buFont typeface="Wingdings" pitchFamily="2" charset="2"/>
              <a:buChar char="l"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读写方式</a:t>
            </a:r>
          </a:p>
        </p:txBody>
      </p:sp>
      <p:sp>
        <p:nvSpPr>
          <p:cNvPr id="1102858" name="Rectangle 10"/>
          <p:cNvSpPr>
            <a:spLocks noChangeArrowheads="1"/>
          </p:cNvSpPr>
          <p:nvPr/>
        </p:nvSpPr>
        <p:spPr bwMode="auto">
          <a:xfrm>
            <a:off x="1847999" y="2093947"/>
            <a:ext cx="727233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b="1" dirty="0">
                <a:latin typeface="+mn-lt"/>
                <a:ea typeface="楷体" pitchFamily="49" charset="-122"/>
              </a:rPr>
              <a:t>顺序读写：位置指针按字节位置顺序移动</a:t>
            </a:r>
          </a:p>
          <a:p>
            <a:r>
              <a:rPr lang="zh-CN" altLang="en-US" b="1" dirty="0">
                <a:latin typeface="+mn-lt"/>
                <a:ea typeface="楷体" pitchFamily="49" charset="-122"/>
              </a:rPr>
              <a:t>随机读写：位置指针按需要移动到任意位置</a:t>
            </a:r>
          </a:p>
        </p:txBody>
      </p:sp>
      <p:sp>
        <p:nvSpPr>
          <p:cNvPr id="1102859" name="Rectangle 11"/>
          <p:cNvSpPr>
            <a:spLocks noChangeArrowheads="1"/>
          </p:cNvSpPr>
          <p:nvPr/>
        </p:nvSpPr>
        <p:spPr bwMode="auto">
          <a:xfrm>
            <a:off x="1224503" y="2925473"/>
            <a:ext cx="18002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 typeface="Wingdings" pitchFamily="2" charset="2"/>
              <a:buChar char="Ø"/>
              <a:tabLst>
                <a:tab pos="496888" algn="l"/>
              </a:tabLst>
            </a:pPr>
            <a:r>
              <a:rPr lang="en-US" altLang="zh-CN" b="1" dirty="0">
                <a:solidFill>
                  <a:srgbClr val="C00000"/>
                </a:solidFill>
                <a:ea typeface="楷体_GB2312" pitchFamily="49" charset="-122"/>
              </a:rPr>
              <a:t> rewind</a:t>
            </a:r>
          </a:p>
        </p:txBody>
      </p:sp>
      <p:sp>
        <p:nvSpPr>
          <p:cNvPr id="1102860" name="Rectangle 12"/>
          <p:cNvSpPr>
            <a:spLocks noChangeArrowheads="1"/>
          </p:cNvSpPr>
          <p:nvPr/>
        </p:nvSpPr>
        <p:spPr bwMode="auto">
          <a:xfrm>
            <a:off x="1466233" y="3342985"/>
            <a:ext cx="21605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C00000"/>
              </a:buClr>
              <a:buFont typeface="Wingdings" pitchFamily="2" charset="2"/>
              <a:buChar char="l"/>
            </a:pPr>
            <a:r>
              <a:rPr lang="en-US" altLang="zh-CN" b="1" dirty="0">
                <a:latin typeface="+mn-lt"/>
                <a:ea typeface="楷体" pitchFamily="49" charset="-122"/>
              </a:rPr>
              <a:t> </a:t>
            </a:r>
            <a:r>
              <a:rPr lang="zh-CN" altLang="zh-CN" b="1" dirty="0">
                <a:latin typeface="+mn-lt"/>
                <a:ea typeface="楷体" pitchFamily="49" charset="-122"/>
              </a:rPr>
              <a:t>函数原形：         </a:t>
            </a:r>
            <a:endParaRPr lang="zh-CN" altLang="en-US" b="1" dirty="0">
              <a:solidFill>
                <a:srgbClr val="D60093"/>
              </a:solidFill>
              <a:latin typeface="+mn-lt"/>
              <a:ea typeface="楷体" pitchFamily="49" charset="-122"/>
            </a:endParaRPr>
          </a:p>
        </p:txBody>
      </p:sp>
      <p:sp>
        <p:nvSpPr>
          <p:cNvPr id="1102861" name="Text Box 13"/>
          <p:cNvSpPr txBox="1">
            <a:spLocks noChangeArrowheads="1"/>
          </p:cNvSpPr>
          <p:nvPr/>
        </p:nvSpPr>
        <p:spPr bwMode="auto">
          <a:xfrm>
            <a:off x="3406378" y="3371279"/>
            <a:ext cx="7395763" cy="431800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en-US" altLang="zh-CN" sz="2000" b="1"/>
              <a:t>void rewind (FILE *filepointer);</a:t>
            </a:r>
          </a:p>
        </p:txBody>
      </p:sp>
      <p:sp>
        <p:nvSpPr>
          <p:cNvPr id="1102862" name="Rectangle 14"/>
          <p:cNvSpPr>
            <a:spLocks noChangeArrowheads="1"/>
          </p:cNvSpPr>
          <p:nvPr/>
        </p:nvSpPr>
        <p:spPr bwMode="auto">
          <a:xfrm>
            <a:off x="1466233" y="3893849"/>
            <a:ext cx="1039040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buClr>
                <a:srgbClr val="C00000"/>
              </a:buClr>
              <a:buFont typeface="Wingdings" pitchFamily="2" charset="2"/>
              <a:buChar char="l"/>
            </a:pPr>
            <a:r>
              <a:rPr lang="en-US" altLang="zh-CN" b="1" dirty="0"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latin typeface="+mn-lt"/>
                <a:ea typeface="楷体" pitchFamily="49" charset="-122"/>
              </a:rPr>
              <a:t>功能：将</a:t>
            </a:r>
            <a:r>
              <a:rPr lang="en-US" altLang="zh-CN" b="1" dirty="0" err="1">
                <a:latin typeface="+mn-lt"/>
                <a:ea typeface="楷体" pitchFamily="49" charset="-122"/>
              </a:rPr>
              <a:t>filepointer</a:t>
            </a:r>
            <a:r>
              <a:rPr lang="zh-CN" altLang="en-US" b="1" dirty="0">
                <a:latin typeface="+mn-lt"/>
                <a:ea typeface="楷体" pitchFamily="49" charset="-122"/>
              </a:rPr>
              <a:t>所指向的文件的位置指针重新置回到文件的开头。</a:t>
            </a:r>
            <a:r>
              <a:rPr lang="zh-CN" altLang="en-US" dirty="0">
                <a:latin typeface="+mn-lt"/>
                <a:ea typeface="楷体" pitchFamily="49" charset="-122"/>
              </a:rPr>
              <a:t> </a:t>
            </a:r>
            <a:endParaRPr lang="zh-CN" altLang="en-US" b="1" dirty="0">
              <a:latin typeface="+mn-lt"/>
              <a:ea typeface="楷体" pitchFamily="49" charset="-122"/>
            </a:endParaRPr>
          </a:p>
          <a:p>
            <a:pPr>
              <a:buClr>
                <a:srgbClr val="C00000"/>
              </a:buClr>
              <a:buFont typeface="Wingdings" pitchFamily="2" charset="2"/>
              <a:buChar char="l"/>
            </a:pPr>
            <a:r>
              <a:rPr lang="zh-CN" altLang="en-US" b="1" dirty="0">
                <a:latin typeface="+mn-lt"/>
                <a:ea typeface="楷体" pitchFamily="49" charset="-122"/>
              </a:rPr>
              <a:t> 返值：无</a:t>
            </a:r>
          </a:p>
        </p:txBody>
      </p:sp>
      <p:grpSp>
        <p:nvGrpSpPr>
          <p:cNvPr id="1102889" name="Group 41"/>
          <p:cNvGrpSpPr>
            <a:grpSpLocks/>
          </p:cNvGrpSpPr>
          <p:nvPr/>
        </p:nvGrpSpPr>
        <p:grpSpPr bwMode="auto">
          <a:xfrm>
            <a:off x="1768674" y="4665836"/>
            <a:ext cx="3500437" cy="1873250"/>
            <a:chOff x="359" y="2976"/>
            <a:chExt cx="2205" cy="1180"/>
          </a:xfrm>
        </p:grpSpPr>
        <p:grpSp>
          <p:nvGrpSpPr>
            <p:cNvPr id="1102886" name="Group 38"/>
            <p:cNvGrpSpPr>
              <a:grpSpLocks/>
            </p:cNvGrpSpPr>
            <p:nvPr/>
          </p:nvGrpSpPr>
          <p:grpSpPr bwMode="auto">
            <a:xfrm>
              <a:off x="359" y="2976"/>
              <a:ext cx="2205" cy="1180"/>
              <a:chOff x="539" y="2976"/>
              <a:chExt cx="2205" cy="1180"/>
            </a:xfrm>
          </p:grpSpPr>
          <p:sp>
            <p:nvSpPr>
              <p:cNvPr id="1102865" name="Text Box 17"/>
              <p:cNvSpPr txBox="1">
                <a:spLocks noChangeArrowheads="1"/>
              </p:cNvSpPr>
              <p:nvPr/>
            </p:nvSpPr>
            <p:spPr bwMode="auto">
              <a:xfrm>
                <a:off x="539" y="3087"/>
                <a:ext cx="317" cy="10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rgbClr val="C00000"/>
                    </a:solidFill>
                    <a:latin typeface="+mn-lt"/>
                    <a:ea typeface="楷体" pitchFamily="49" charset="-122"/>
                  </a:rPr>
                  <a:t>文件指针</a:t>
                </a:r>
                <a:r>
                  <a:rPr lang="en-US" altLang="zh-CN" sz="2000" b="1" dirty="0" err="1">
                    <a:solidFill>
                      <a:srgbClr val="C00000"/>
                    </a:solidFill>
                    <a:latin typeface="+mn-lt"/>
                    <a:ea typeface="楷体" pitchFamily="49" charset="-122"/>
                  </a:rPr>
                  <a:t>fp</a:t>
                </a:r>
                <a:endParaRPr lang="en-US" altLang="zh-CN" sz="2000" b="1" dirty="0">
                  <a:solidFill>
                    <a:srgbClr val="C00000"/>
                  </a:solidFill>
                  <a:latin typeface="+mn-lt"/>
                  <a:ea typeface="楷体" pitchFamily="49" charset="-122"/>
                </a:endParaRPr>
              </a:p>
            </p:txBody>
          </p:sp>
          <p:sp>
            <p:nvSpPr>
              <p:cNvPr id="1102863" name="AutoShape 15"/>
              <p:cNvSpPr>
                <a:spLocks noChangeArrowheads="1"/>
              </p:cNvSpPr>
              <p:nvPr/>
            </p:nvSpPr>
            <p:spPr bwMode="auto">
              <a:xfrm>
                <a:off x="839" y="2976"/>
                <a:ext cx="1905" cy="1180"/>
              </a:xfrm>
              <a:prstGeom prst="foldedCorner">
                <a:avLst>
                  <a:gd name="adj" fmla="val 12500"/>
                </a:avLst>
              </a:prstGeom>
              <a:gradFill rotWithShape="1">
                <a:gsLst>
                  <a:gs pos="0">
                    <a:srgbClr val="CFCFD1"/>
                  </a:gs>
                  <a:gs pos="100000">
                    <a:schemeClr val="bg1"/>
                  </a:gs>
                </a:gsLst>
                <a:lin ang="5400000" scaled="1"/>
              </a:gradFill>
              <a:ln w="19050">
                <a:solidFill>
                  <a:schemeClr val="tx1"/>
                </a:solidFill>
                <a:round/>
                <a:headEnd/>
                <a:tailEnd/>
              </a:ln>
              <a:effectLst>
                <a:outerShdw blurRad="50800" dist="106680" dir="2700000" algn="tl" rotWithShape="0">
                  <a:prstClr val="black">
                    <a:alpha val="43000"/>
                  </a:prstClr>
                </a:outerShdw>
              </a:effectLst>
            </p:spPr>
            <p:txBody>
              <a:bodyPr wrap="none"/>
              <a:lstStyle/>
              <a:p>
                <a:pPr marL="457200" indent="-457200" algn="ctr">
                  <a:buFontTx/>
                  <a:buAutoNum type="arabicPlain" startAt="21"/>
                </a:pPr>
                <a:r>
                  <a:rPr lang="en-US" altLang="zh-CN" b="1" dirty="0"/>
                  <a:t>33  2C  20  20  39</a:t>
                </a:r>
              </a:p>
              <a:p>
                <a:pPr marL="457200" indent="-457200" algn="ctr">
                  <a:buFontTx/>
                  <a:buAutoNum type="arabicPlain" startAt="21"/>
                </a:pPr>
                <a:endParaRPr lang="en-US" altLang="zh-CN" b="1" dirty="0"/>
              </a:p>
              <a:p>
                <a:pPr marL="457200" indent="-457200" algn="ctr"/>
                <a:r>
                  <a:rPr lang="en-US" altLang="zh-CN" b="1" dirty="0"/>
                  <a:t>20  30  36  61  45  47</a:t>
                </a:r>
              </a:p>
            </p:txBody>
          </p:sp>
        </p:grpSp>
        <p:sp>
          <p:nvSpPr>
            <p:cNvPr id="1102864" name="Line 16"/>
            <p:cNvSpPr>
              <a:spLocks noChangeShapeType="1"/>
            </p:cNvSpPr>
            <p:nvPr/>
          </p:nvSpPr>
          <p:spPr bwMode="auto">
            <a:xfrm>
              <a:off x="387" y="3113"/>
              <a:ext cx="272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02870" name="Group 22"/>
            <p:cNvGrpSpPr>
              <a:grpSpLocks/>
            </p:cNvGrpSpPr>
            <p:nvPr/>
          </p:nvGrpSpPr>
          <p:grpSpPr bwMode="auto">
            <a:xfrm>
              <a:off x="1194" y="3657"/>
              <a:ext cx="1271" cy="278"/>
              <a:chOff x="1338" y="3657"/>
              <a:chExt cx="1271" cy="278"/>
            </a:xfrm>
          </p:grpSpPr>
          <p:grpSp>
            <p:nvGrpSpPr>
              <p:cNvPr id="1102868" name="Group 20"/>
              <p:cNvGrpSpPr>
                <a:grpSpLocks/>
              </p:cNvGrpSpPr>
              <p:nvPr/>
            </p:nvGrpSpPr>
            <p:grpSpPr bwMode="auto">
              <a:xfrm>
                <a:off x="1338" y="3657"/>
                <a:ext cx="453" cy="181"/>
                <a:chOff x="1338" y="3657"/>
                <a:chExt cx="453" cy="181"/>
              </a:xfrm>
            </p:grpSpPr>
            <p:sp>
              <p:nvSpPr>
                <p:cNvPr id="1102866" name="Line 18"/>
                <p:cNvSpPr>
                  <a:spLocks noChangeShapeType="1"/>
                </p:cNvSpPr>
                <p:nvPr/>
              </p:nvSpPr>
              <p:spPr bwMode="auto">
                <a:xfrm flipV="1">
                  <a:off x="1338" y="3657"/>
                  <a:ext cx="0" cy="181"/>
                </a:xfrm>
                <a:prstGeom prst="line">
                  <a:avLst/>
                </a:prstGeom>
                <a:noFill/>
                <a:ln w="28575">
                  <a:solidFill>
                    <a:srgbClr val="002060"/>
                  </a:solidFill>
                  <a:prstDash val="sysDot"/>
                  <a:round/>
                  <a:headEnd/>
                  <a:tailEnd type="stealth" w="lg" len="lg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02867" name="Line 19"/>
                <p:cNvSpPr>
                  <a:spLocks noChangeShapeType="1"/>
                </p:cNvSpPr>
                <p:nvPr/>
              </p:nvSpPr>
              <p:spPr bwMode="auto">
                <a:xfrm>
                  <a:off x="1338" y="3838"/>
                  <a:ext cx="453" cy="0"/>
                </a:xfrm>
                <a:prstGeom prst="line">
                  <a:avLst/>
                </a:prstGeom>
                <a:noFill/>
                <a:ln w="28575">
                  <a:solidFill>
                    <a:srgbClr val="002060"/>
                  </a:solidFill>
                  <a:prstDash val="sysDot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102869" name="Text Box 21"/>
              <p:cNvSpPr txBox="1">
                <a:spLocks noChangeArrowheads="1"/>
              </p:cNvSpPr>
              <p:nvPr/>
            </p:nvSpPr>
            <p:spPr bwMode="auto">
              <a:xfrm>
                <a:off x="1747" y="3685"/>
                <a:ext cx="862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 b="1">
                    <a:solidFill>
                      <a:srgbClr val="002060"/>
                    </a:solidFill>
                    <a:latin typeface="+mn-lt"/>
                    <a:ea typeface="楷体" pitchFamily="49" charset="-122"/>
                  </a:rPr>
                  <a:t>位置指针</a:t>
                </a:r>
              </a:p>
            </p:txBody>
          </p:sp>
        </p:grpSp>
      </p:grpSp>
      <p:grpSp>
        <p:nvGrpSpPr>
          <p:cNvPr id="1102883" name="Group 35"/>
          <p:cNvGrpSpPr>
            <a:grpSpLocks/>
          </p:cNvGrpSpPr>
          <p:nvPr/>
        </p:nvGrpSpPr>
        <p:grpSpPr bwMode="auto">
          <a:xfrm>
            <a:off x="6628010" y="4653136"/>
            <a:ext cx="3500438" cy="1873250"/>
            <a:chOff x="3420" y="2968"/>
            <a:chExt cx="2205" cy="1180"/>
          </a:xfrm>
        </p:grpSpPr>
        <p:sp>
          <p:nvSpPr>
            <p:cNvPr id="1102874" name="Text Box 26"/>
            <p:cNvSpPr txBox="1">
              <a:spLocks noChangeArrowheads="1"/>
            </p:cNvSpPr>
            <p:nvPr/>
          </p:nvSpPr>
          <p:spPr bwMode="auto">
            <a:xfrm>
              <a:off x="3420" y="3079"/>
              <a:ext cx="317" cy="10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文件指针</a:t>
              </a:r>
              <a:r>
                <a:rPr lang="en-US" altLang="zh-CN" sz="2000" b="1" dirty="0" err="1">
                  <a:solidFill>
                    <a:srgbClr val="C00000"/>
                  </a:solidFill>
                  <a:latin typeface="+mn-lt"/>
                  <a:ea typeface="楷体" pitchFamily="49" charset="-122"/>
                </a:rPr>
                <a:t>fp</a:t>
              </a:r>
              <a:endParaRPr lang="en-US" altLang="zh-CN" sz="2000" b="1" dirty="0">
                <a:solidFill>
                  <a:srgbClr val="C00000"/>
                </a:solidFill>
                <a:latin typeface="+mn-lt"/>
                <a:ea typeface="楷体" pitchFamily="49" charset="-122"/>
              </a:endParaRPr>
            </a:p>
          </p:txBody>
        </p:sp>
        <p:sp>
          <p:nvSpPr>
            <p:cNvPr id="1102876" name="AutoShape 28"/>
            <p:cNvSpPr>
              <a:spLocks noChangeArrowheads="1"/>
            </p:cNvSpPr>
            <p:nvPr/>
          </p:nvSpPr>
          <p:spPr bwMode="auto">
            <a:xfrm>
              <a:off x="3720" y="2968"/>
              <a:ext cx="1905" cy="1180"/>
            </a:xfrm>
            <a:prstGeom prst="foldedCorner">
              <a:avLst>
                <a:gd name="adj" fmla="val 12500"/>
              </a:avLst>
            </a:prstGeom>
            <a:gradFill rotWithShape="1">
              <a:gsLst>
                <a:gs pos="0">
                  <a:srgbClr val="CFCFD1"/>
                </a:gs>
                <a:gs pos="100000">
                  <a:schemeClr val="bg1"/>
                </a:gs>
              </a:gsLst>
              <a:lin ang="5400000" scaled="1"/>
            </a:gradFill>
            <a:ln w="19050">
              <a:solidFill>
                <a:schemeClr val="tx1"/>
              </a:solidFill>
              <a:round/>
              <a:headEnd/>
              <a:tailEnd/>
            </a:ln>
            <a:effectLst>
              <a:outerShdw blurRad="50800" dist="106680" dir="2700000" algn="tl" rotWithShape="0">
                <a:prstClr val="black">
                  <a:alpha val="43000"/>
                </a:prstClr>
              </a:outerShdw>
            </a:effectLst>
          </p:spPr>
          <p:txBody>
            <a:bodyPr wrap="none"/>
            <a:lstStyle/>
            <a:p>
              <a:pPr marL="457200" indent="-457200" algn="ctr">
                <a:buFontTx/>
                <a:buAutoNum type="arabicPlain" startAt="21"/>
              </a:pPr>
              <a:r>
                <a:rPr lang="en-US" altLang="zh-CN" b="1"/>
                <a:t>33  2C  20  20  39</a:t>
              </a:r>
            </a:p>
            <a:p>
              <a:pPr marL="457200" indent="-457200" algn="ctr">
                <a:buFontTx/>
                <a:buAutoNum type="arabicPlain" startAt="21"/>
              </a:pPr>
              <a:endParaRPr lang="en-US" altLang="zh-CN" b="1"/>
            </a:p>
            <a:p>
              <a:pPr marL="457200" indent="-457200" algn="ctr"/>
              <a:r>
                <a:rPr lang="en-US" altLang="zh-CN" b="1"/>
                <a:t>20  30  36  61  45  47</a:t>
              </a:r>
            </a:p>
          </p:txBody>
        </p:sp>
        <p:sp>
          <p:nvSpPr>
            <p:cNvPr id="1102877" name="Line 29"/>
            <p:cNvSpPr>
              <a:spLocks noChangeShapeType="1"/>
            </p:cNvSpPr>
            <p:nvPr/>
          </p:nvSpPr>
          <p:spPr bwMode="auto">
            <a:xfrm>
              <a:off x="3448" y="3105"/>
              <a:ext cx="272" cy="0"/>
            </a:xfrm>
            <a:prstGeom prst="line">
              <a:avLst/>
            </a:prstGeom>
            <a:noFill/>
            <a:ln w="28575">
              <a:solidFill>
                <a:srgbClr val="C0192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02878" name="Group 30"/>
            <p:cNvGrpSpPr>
              <a:grpSpLocks/>
            </p:cNvGrpSpPr>
            <p:nvPr/>
          </p:nvGrpSpPr>
          <p:grpSpPr bwMode="auto">
            <a:xfrm>
              <a:off x="3913" y="3226"/>
              <a:ext cx="1271" cy="278"/>
              <a:chOff x="1338" y="3657"/>
              <a:chExt cx="1271" cy="278"/>
            </a:xfrm>
          </p:grpSpPr>
          <p:grpSp>
            <p:nvGrpSpPr>
              <p:cNvPr id="1102879" name="Group 31"/>
              <p:cNvGrpSpPr>
                <a:grpSpLocks/>
              </p:cNvGrpSpPr>
              <p:nvPr/>
            </p:nvGrpSpPr>
            <p:grpSpPr bwMode="auto">
              <a:xfrm>
                <a:off x="1338" y="3657"/>
                <a:ext cx="453" cy="181"/>
                <a:chOff x="1338" y="3657"/>
                <a:chExt cx="453" cy="181"/>
              </a:xfrm>
            </p:grpSpPr>
            <p:sp>
              <p:nvSpPr>
                <p:cNvPr id="1102880" name="Line 32"/>
                <p:cNvSpPr>
                  <a:spLocks noChangeShapeType="1"/>
                </p:cNvSpPr>
                <p:nvPr/>
              </p:nvSpPr>
              <p:spPr bwMode="auto">
                <a:xfrm flipV="1">
                  <a:off x="1338" y="3657"/>
                  <a:ext cx="0" cy="181"/>
                </a:xfrm>
                <a:prstGeom prst="line">
                  <a:avLst/>
                </a:prstGeom>
                <a:noFill/>
                <a:ln w="28575">
                  <a:solidFill>
                    <a:srgbClr val="002060"/>
                  </a:solidFill>
                  <a:prstDash val="sysDot"/>
                  <a:round/>
                  <a:headEnd/>
                  <a:tailEnd type="stealth" w="lg" len="lg"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02881" name="Line 33"/>
                <p:cNvSpPr>
                  <a:spLocks noChangeShapeType="1"/>
                </p:cNvSpPr>
                <p:nvPr/>
              </p:nvSpPr>
              <p:spPr bwMode="auto">
                <a:xfrm>
                  <a:off x="1338" y="3838"/>
                  <a:ext cx="453" cy="0"/>
                </a:xfrm>
                <a:prstGeom prst="line">
                  <a:avLst/>
                </a:prstGeom>
                <a:noFill/>
                <a:ln w="28575">
                  <a:solidFill>
                    <a:srgbClr val="002060"/>
                  </a:solidFill>
                  <a:prstDash val="sysDot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102882" name="Text Box 34"/>
              <p:cNvSpPr txBox="1">
                <a:spLocks noChangeArrowheads="1"/>
              </p:cNvSpPr>
              <p:nvPr/>
            </p:nvSpPr>
            <p:spPr bwMode="auto">
              <a:xfrm>
                <a:off x="1747" y="3685"/>
                <a:ext cx="862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rgbClr val="002060"/>
                    </a:solidFill>
                    <a:latin typeface="+mn-lt"/>
                    <a:ea typeface="楷体" pitchFamily="49" charset="-122"/>
                  </a:rPr>
                  <a:t>位置指针</a:t>
                </a:r>
              </a:p>
            </p:txBody>
          </p:sp>
        </p:grpSp>
      </p:grpSp>
      <p:grpSp>
        <p:nvGrpSpPr>
          <p:cNvPr id="1102888" name="Group 40"/>
          <p:cNvGrpSpPr>
            <a:grpSpLocks/>
          </p:cNvGrpSpPr>
          <p:nvPr/>
        </p:nvGrpSpPr>
        <p:grpSpPr bwMode="auto">
          <a:xfrm>
            <a:off x="5338961" y="5056362"/>
            <a:ext cx="1439863" cy="619125"/>
            <a:chOff x="2608" y="3222"/>
            <a:chExt cx="907" cy="390"/>
          </a:xfrm>
        </p:grpSpPr>
        <p:sp>
          <p:nvSpPr>
            <p:cNvPr id="1102884" name="AutoShape 36"/>
            <p:cNvSpPr>
              <a:spLocks noChangeArrowheads="1"/>
            </p:cNvSpPr>
            <p:nvPr/>
          </p:nvSpPr>
          <p:spPr bwMode="auto">
            <a:xfrm>
              <a:off x="2628" y="3475"/>
              <a:ext cx="842" cy="137"/>
            </a:xfrm>
            <a:custGeom>
              <a:avLst/>
              <a:gdLst>
                <a:gd name="G0" fmla="+- 16200 0 0"/>
                <a:gd name="G1" fmla="+- 5400 0 0"/>
                <a:gd name="G2" fmla="+- 21600 0 5400"/>
                <a:gd name="G3" fmla="+- 10800 0 5400"/>
                <a:gd name="G4" fmla="+- 21600 0 16200"/>
                <a:gd name="G5" fmla="*/ G4 G3 10800"/>
                <a:gd name="G6" fmla="+- 21600 0 G5"/>
                <a:gd name="T0" fmla="*/ 16200 w 21600"/>
                <a:gd name="T1" fmla="*/ 0 h 21600"/>
                <a:gd name="T2" fmla="*/ 0 w 21600"/>
                <a:gd name="T3" fmla="*/ 10800 h 21600"/>
                <a:gd name="T4" fmla="*/ 16200 w 21600"/>
                <a:gd name="T5" fmla="*/ 21600 h 21600"/>
                <a:gd name="T6" fmla="*/ 21600 w 21600"/>
                <a:gd name="T7" fmla="*/ 10800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3375 w 21600"/>
                <a:gd name="T13" fmla="*/ G1 h 21600"/>
                <a:gd name="T14" fmla="*/ G6 w 21600"/>
                <a:gd name="T15" fmla="*/ G2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</a:path>
                <a:path w="21600" h="21600"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</a:path>
                <a:path w="21600" h="21600"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gradFill rotWithShape="1">
              <a:gsLst>
                <a:gs pos="0">
                  <a:srgbClr val="F0E5B7"/>
                </a:gs>
                <a:gs pos="100000">
                  <a:srgbClr val="FFCC99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1102885" name="Text Box 37"/>
            <p:cNvSpPr txBox="1">
              <a:spLocks noChangeArrowheads="1"/>
            </p:cNvSpPr>
            <p:nvPr/>
          </p:nvSpPr>
          <p:spPr bwMode="auto">
            <a:xfrm>
              <a:off x="2608" y="3222"/>
              <a:ext cx="90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7030A0"/>
                  </a:solidFill>
                </a:rPr>
                <a:t>rewind(</a:t>
              </a:r>
              <a:r>
                <a:rPr lang="en-US" altLang="zh-CN" sz="2000" b="1" dirty="0" err="1">
                  <a:solidFill>
                    <a:srgbClr val="7030A0"/>
                  </a:solidFill>
                </a:rPr>
                <a:t>fp</a:t>
              </a:r>
              <a:r>
                <a:rPr lang="en-US" altLang="zh-CN" sz="2000" b="1" dirty="0">
                  <a:solidFill>
                    <a:srgbClr val="7030A0"/>
                  </a:solidFill>
                </a:rPr>
                <a:t>)</a:t>
              </a:r>
            </a:p>
          </p:txBody>
        </p:sp>
      </p:grpSp>
      <p:sp>
        <p:nvSpPr>
          <p:cNvPr id="35" name="Rectangle 4">
            <a:extLst>
              <a:ext uri="{FF2B5EF4-FFF2-40B4-BE49-F238E27FC236}">
                <a16:creationId xmlns:a16="http://schemas.microsoft.com/office/drawing/2014/main" id="{BD4E692A-AD7F-4F47-8056-110287F9B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12.6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文件的定位读写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028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028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1028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1028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1028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028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028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11028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11028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11028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11028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3" dur="500"/>
                                        <p:tgtEl>
                                          <p:spTgt spid="11028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8" dur="500"/>
                                        <p:tgtEl>
                                          <p:spTgt spid="11028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11028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2856" grpId="0"/>
      <p:bldP spid="1102858" grpId="0"/>
      <p:bldP spid="1102859" grpId="0"/>
      <p:bldP spid="1102860" grpId="0"/>
      <p:bldP spid="110286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905" name="Rectangle 9"/>
          <p:cNvSpPr>
            <a:spLocks noChangeArrowheads="1"/>
          </p:cNvSpPr>
          <p:nvPr/>
        </p:nvSpPr>
        <p:spPr bwMode="auto">
          <a:xfrm>
            <a:off x="1201588" y="1052224"/>
            <a:ext cx="18002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 typeface="Wingdings" pitchFamily="2" charset="2"/>
              <a:buChar char="Ø"/>
              <a:tabLst>
                <a:tab pos="496888" algn="l"/>
              </a:tabLst>
            </a:pPr>
            <a:r>
              <a:rPr lang="en-US" altLang="zh-CN" b="1" dirty="0">
                <a:solidFill>
                  <a:srgbClr val="C00000"/>
                </a:solidFill>
                <a:ea typeface="楷体_GB2312" pitchFamily="49" charset="-122"/>
              </a:rPr>
              <a:t> </a:t>
            </a:r>
            <a:r>
              <a:rPr lang="en-US" altLang="zh-CN" b="1" dirty="0" err="1">
                <a:solidFill>
                  <a:srgbClr val="C00000"/>
                </a:solidFill>
                <a:ea typeface="楷体_GB2312" pitchFamily="49" charset="-122"/>
              </a:rPr>
              <a:t>fseek</a:t>
            </a:r>
            <a:endParaRPr lang="en-US" altLang="zh-CN" b="1" dirty="0">
              <a:solidFill>
                <a:srgbClr val="C00000"/>
              </a:solidFill>
              <a:ea typeface="楷体_GB2312" pitchFamily="49" charset="-122"/>
            </a:endParaRPr>
          </a:p>
        </p:txBody>
      </p:sp>
      <p:sp>
        <p:nvSpPr>
          <p:cNvPr id="1104906" name="Rectangle 10"/>
          <p:cNvSpPr>
            <a:spLocks noChangeArrowheads="1"/>
          </p:cNvSpPr>
          <p:nvPr/>
        </p:nvSpPr>
        <p:spPr bwMode="auto">
          <a:xfrm>
            <a:off x="1531787" y="1469737"/>
            <a:ext cx="21605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C00000"/>
              </a:buClr>
              <a:buFont typeface="Wingdings" pitchFamily="2" charset="2"/>
              <a:buChar char="l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函数原形：         </a:t>
            </a:r>
            <a:endParaRPr lang="zh-CN" altLang="en-US" b="1" dirty="0"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104907" name="Text Box 11"/>
          <p:cNvSpPr txBox="1">
            <a:spLocks noChangeArrowheads="1"/>
          </p:cNvSpPr>
          <p:nvPr/>
        </p:nvSpPr>
        <p:spPr bwMode="auto">
          <a:xfrm>
            <a:off x="2017857" y="1969931"/>
            <a:ext cx="8879944" cy="431800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int  fseek(FILE *filepointer, long offset, int whence)</a:t>
            </a:r>
          </a:p>
        </p:txBody>
      </p:sp>
      <p:sp>
        <p:nvSpPr>
          <p:cNvPr id="1104908" name="Rectangle 12"/>
          <p:cNvSpPr>
            <a:spLocks noChangeArrowheads="1"/>
          </p:cNvSpPr>
          <p:nvPr/>
        </p:nvSpPr>
        <p:spPr bwMode="auto">
          <a:xfrm>
            <a:off x="1535187" y="2614325"/>
            <a:ext cx="7885113" cy="8788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ts val="3200"/>
              </a:lnSpc>
              <a:buClr>
                <a:srgbClr val="C00000"/>
              </a:buClr>
              <a:buFont typeface="Wingdings" pitchFamily="2" charset="2"/>
              <a:buChar char="l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功能：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改变文件位置指针的位置</a:t>
            </a:r>
            <a:endParaRPr lang="zh-CN" altLang="en-US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  <a:p>
            <a:pPr>
              <a:lnSpc>
                <a:spcPts val="3200"/>
              </a:lnSpc>
              <a:buClr>
                <a:srgbClr val="C00000"/>
              </a:buClr>
              <a:buFont typeface="Wingdings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返值：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成功，返回0；失败，返回非0值</a:t>
            </a:r>
            <a:endParaRPr lang="zh-CN" altLang="en-US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104931" name="AutoShape 35"/>
          <p:cNvSpPr>
            <a:spLocks noChangeArrowheads="1"/>
          </p:cNvSpPr>
          <p:nvPr/>
        </p:nvSpPr>
        <p:spPr bwMode="auto">
          <a:xfrm>
            <a:off x="4499833" y="3185862"/>
            <a:ext cx="1222375" cy="415925"/>
          </a:xfrm>
          <a:prstGeom prst="wedgeRectCallout">
            <a:avLst>
              <a:gd name="adj1" fmla="val 64792"/>
              <a:gd name="adj2" fmla="val -258014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none" lIns="90000" tIns="46800" rIns="90000" bIns="46800" anchor="ctr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文件指针</a:t>
            </a:r>
          </a:p>
        </p:txBody>
      </p:sp>
      <p:sp>
        <p:nvSpPr>
          <p:cNvPr id="1104932" name="AutoShape 36"/>
          <p:cNvSpPr>
            <a:spLocks noChangeArrowheads="1"/>
          </p:cNvSpPr>
          <p:nvPr/>
        </p:nvSpPr>
        <p:spPr bwMode="auto">
          <a:xfrm>
            <a:off x="4952057" y="2980457"/>
            <a:ext cx="5040312" cy="1025525"/>
          </a:xfrm>
          <a:prstGeom prst="wedgeRectCallout">
            <a:avLst>
              <a:gd name="adj1" fmla="val -361"/>
              <a:gd name="adj2" fmla="val -116097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lIns="90000" tIns="46800" rIns="90000" bIns="46800" anchor="ctr">
            <a:spAutoFit/>
          </a:bodyPr>
          <a:lstStyle/>
          <a:p>
            <a:r>
              <a:rPr lang="zh-CN" altLang="zh-CN" sz="20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位移量（以起始点为基点,移动的字节数)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&gt; 0    </a:t>
            </a:r>
            <a:r>
              <a:rPr lang="zh-CN" altLang="en-US" sz="20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向文件尾方向移动</a:t>
            </a:r>
          </a:p>
          <a:p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&lt; 0    </a:t>
            </a:r>
            <a:r>
              <a:rPr lang="zh-CN" altLang="en-US" sz="2000" b="1" dirty="0">
                <a:solidFill>
                  <a:srgbClr val="C01920"/>
                </a:solidFill>
                <a:latin typeface="+mn-lt"/>
                <a:ea typeface="楷体" pitchFamily="49" charset="-122"/>
              </a:rPr>
              <a:t>向文件头方向移动</a:t>
            </a:r>
          </a:p>
        </p:txBody>
      </p:sp>
      <p:sp>
        <p:nvSpPr>
          <p:cNvPr id="1104933" name="AutoShape 37"/>
          <p:cNvSpPr>
            <a:spLocks noChangeArrowheads="1"/>
          </p:cNvSpPr>
          <p:nvPr/>
        </p:nvSpPr>
        <p:spPr bwMode="auto">
          <a:xfrm>
            <a:off x="7269842" y="2936625"/>
            <a:ext cx="4029895" cy="1330325"/>
          </a:xfrm>
          <a:prstGeom prst="wedgeRectCallout">
            <a:avLst>
              <a:gd name="adj1" fmla="val -12362"/>
              <a:gd name="adj2" fmla="val -98209"/>
            </a:avLst>
          </a:prstGeom>
          <a:gradFill rotWithShape="1"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1905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lIns="90000" tIns="46800" rIns="90000" bIns="46800" anchor="ctr">
            <a:spAutoFit/>
          </a:bodyPr>
          <a:lstStyle/>
          <a:p>
            <a:r>
              <a:rPr lang="zh-CN" altLang="zh-CN" sz="20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起始点</a:t>
            </a:r>
          </a:p>
          <a:p>
            <a:r>
              <a:rPr lang="zh-CN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文件开始              </a:t>
            </a:r>
            <a:r>
              <a:rPr lang="en-US" altLang="zh-CN" sz="20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SEEK_SET     0</a:t>
            </a:r>
          </a:p>
          <a:p>
            <a:r>
              <a:rPr lang="zh-CN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文件当前位置      </a:t>
            </a:r>
            <a:r>
              <a:rPr lang="en-US" altLang="zh-CN" sz="20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SEEK_CUR    1</a:t>
            </a:r>
          </a:p>
          <a:p>
            <a:r>
              <a:rPr lang="zh-CN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文件末尾              </a:t>
            </a:r>
            <a:r>
              <a:rPr lang="en-US" altLang="zh-CN" sz="2000" b="1" dirty="0">
                <a:solidFill>
                  <a:srgbClr val="C00000"/>
                </a:solidFill>
                <a:latin typeface="+mn-lt"/>
                <a:ea typeface="楷体" pitchFamily="49" charset="-122"/>
              </a:rPr>
              <a:t>SEEK_END    2</a:t>
            </a:r>
          </a:p>
        </p:txBody>
      </p:sp>
      <p:sp>
        <p:nvSpPr>
          <p:cNvPr id="1104934" name="Rectangle 38"/>
          <p:cNvSpPr>
            <a:spLocks noChangeArrowheads="1"/>
          </p:cNvSpPr>
          <p:nvPr/>
        </p:nvSpPr>
        <p:spPr bwMode="auto">
          <a:xfrm>
            <a:off x="1199456" y="3868325"/>
            <a:ext cx="18002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buFont typeface="Wingdings" pitchFamily="2" charset="2"/>
              <a:buChar char="Ø"/>
              <a:tabLst>
                <a:tab pos="496888" algn="l"/>
              </a:tabLst>
            </a:pPr>
            <a:r>
              <a:rPr lang="en-US" altLang="zh-CN" b="1" dirty="0">
                <a:solidFill>
                  <a:srgbClr val="C00000"/>
                </a:solidFill>
                <a:ea typeface="楷体_GB2312" pitchFamily="49" charset="-122"/>
              </a:rPr>
              <a:t> </a:t>
            </a:r>
            <a:r>
              <a:rPr lang="en-US" altLang="zh-CN" b="1" dirty="0" err="1">
                <a:solidFill>
                  <a:srgbClr val="C00000"/>
                </a:solidFill>
                <a:ea typeface="楷体_GB2312" pitchFamily="49" charset="-122"/>
              </a:rPr>
              <a:t>ftell</a:t>
            </a:r>
            <a:endParaRPr lang="en-US" altLang="zh-CN" b="1" dirty="0">
              <a:solidFill>
                <a:srgbClr val="C00000"/>
              </a:solidFill>
              <a:ea typeface="楷体_GB2312" pitchFamily="49" charset="-122"/>
            </a:endParaRPr>
          </a:p>
        </p:txBody>
      </p:sp>
      <p:sp>
        <p:nvSpPr>
          <p:cNvPr id="1104935" name="Rectangle 39"/>
          <p:cNvSpPr>
            <a:spLocks noChangeArrowheads="1"/>
          </p:cNvSpPr>
          <p:nvPr/>
        </p:nvSpPr>
        <p:spPr bwMode="auto">
          <a:xfrm>
            <a:off x="1533376" y="4285837"/>
            <a:ext cx="21605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Clr>
                <a:srgbClr val="C00000"/>
              </a:buClr>
              <a:buFont typeface="Wingdings" pitchFamily="2" charset="2"/>
              <a:buChar char="l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函数原形：         </a:t>
            </a:r>
            <a:endParaRPr lang="zh-CN" altLang="en-US" b="1" dirty="0">
              <a:effectLst>
                <a:outerShdw blurRad="38100" dist="38100" dir="2700000" algn="tl">
                  <a:srgbClr val="000000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104936" name="Text Box 40"/>
          <p:cNvSpPr txBox="1">
            <a:spLocks noChangeArrowheads="1"/>
          </p:cNvSpPr>
          <p:nvPr/>
        </p:nvSpPr>
        <p:spPr bwMode="auto">
          <a:xfrm>
            <a:off x="2014428" y="4865440"/>
            <a:ext cx="8883367" cy="431800"/>
          </a:xfrm>
          <a:prstGeom prst="rect">
            <a:avLst/>
          </a:prstGeom>
          <a:gradFill rotWithShape="1"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5400000" scaled="1"/>
          </a:gra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ctr"/>
            <a:r>
              <a:rPr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long  ftell (FILE *filepointer)</a:t>
            </a:r>
          </a:p>
        </p:txBody>
      </p:sp>
      <p:sp>
        <p:nvSpPr>
          <p:cNvPr id="1104937" name="Rectangle 41"/>
          <p:cNvSpPr>
            <a:spLocks noChangeArrowheads="1"/>
          </p:cNvSpPr>
          <p:nvPr/>
        </p:nvSpPr>
        <p:spPr bwMode="auto">
          <a:xfrm>
            <a:off x="1535246" y="5430425"/>
            <a:ext cx="10291699" cy="8788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buClr>
                <a:srgbClr val="C00000"/>
              </a:buClr>
              <a:buFont typeface="Wingdings" pitchFamily="2" charset="2"/>
              <a:buChar char="l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功能：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返回位置指针当前位置(用相对文件开头的位移量表示)</a:t>
            </a:r>
          </a:p>
          <a:p>
            <a:pPr>
              <a:lnSpc>
                <a:spcPts val="3200"/>
              </a:lnSpc>
              <a:buClr>
                <a:srgbClr val="C00000"/>
              </a:buClr>
              <a:buFont typeface="Wingdings" pitchFamily="2" charset="2"/>
              <a:buChar char="l"/>
            </a:pP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 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返值：</a:t>
            </a:r>
            <a:r>
              <a:rPr lang="zh-CN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成功，返回当前位置指针位置；失败，返回-1</a:t>
            </a:r>
            <a:r>
              <a:rPr lang="en-US" altLang="zh-CN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L</a:t>
            </a:r>
            <a:r>
              <a:rPr lang="zh-CN" altLang="en-US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n-lt"/>
                <a:ea typeface="楷体" pitchFamily="49" charset="-122"/>
              </a:rPr>
              <a:t>。</a:t>
            </a:r>
            <a:endParaRPr lang="en-US" altLang="zh-CN" b="1" dirty="0">
              <a:effectLst>
                <a:outerShdw blurRad="38100" dist="38100" dir="2700000" algn="tl">
                  <a:srgbClr val="FFFFFF"/>
                </a:outerShdw>
              </a:effectLst>
              <a:latin typeface="+mn-lt"/>
              <a:ea typeface="楷体" pitchFamily="49" charset="-122"/>
            </a:endParaRP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AF1B2E8E-2DA3-4285-83F5-21F1AAB25F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12.6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文件的定位读写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049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049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1049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1049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1049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1049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1049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04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1049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0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1049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0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049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049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3" dur="500"/>
                                        <p:tgtEl>
                                          <p:spTgt spid="11049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11049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11049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7" dur="500"/>
                                        <p:tgtEl>
                                          <p:spTgt spid="11049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4905" grpId="0"/>
      <p:bldP spid="1104906" grpId="0"/>
      <p:bldP spid="1104907" grpId="0" animBg="1"/>
      <p:bldP spid="1104931" grpId="0" animBg="1" autoUpdateAnimBg="0"/>
      <p:bldP spid="1104932" grpId="0" animBg="1" autoUpdateAnimBg="0"/>
      <p:bldP spid="1104933" grpId="0" animBg="1" autoUpdateAnimBg="0"/>
      <p:bldP spid="1104934" grpId="0"/>
      <p:bldP spid="1104935" grpId="0"/>
      <p:bldP spid="110493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949" name="Rectangle 5"/>
          <p:cNvSpPr>
            <a:spLocks noChangeArrowheads="1"/>
          </p:cNvSpPr>
          <p:nvPr/>
        </p:nvSpPr>
        <p:spPr bwMode="auto">
          <a:xfrm>
            <a:off x="407368" y="849723"/>
            <a:ext cx="1120911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【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8】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磁盘文件上有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个学生数据，要求读入第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学生数据并显示。 </a:t>
            </a:r>
          </a:p>
        </p:txBody>
      </p:sp>
      <p:sp>
        <p:nvSpPr>
          <p:cNvPr id="1106950" name="Rectangle 6" descr="信纸"/>
          <p:cNvSpPr>
            <a:spLocks noChangeArrowheads="1"/>
          </p:cNvSpPr>
          <p:nvPr/>
        </p:nvSpPr>
        <p:spPr bwMode="auto">
          <a:xfrm>
            <a:off x="668648" y="1401294"/>
            <a:ext cx="6311900" cy="43973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#include &lt;</a:t>
            </a:r>
            <a:r>
              <a:rPr lang="en-US" altLang="zh-CN" sz="2000" b="1" dirty="0" err="1"/>
              <a:t>stdio.h</a:t>
            </a:r>
            <a:r>
              <a:rPr lang="en-US" altLang="zh-CN" sz="2000" b="1" dirty="0"/>
              <a:t>&gt;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#include &lt;</a:t>
            </a:r>
            <a:r>
              <a:rPr lang="en-US" altLang="zh-CN" sz="2000" b="1" dirty="0" err="1"/>
              <a:t>stdlib.h</a:t>
            </a:r>
            <a:r>
              <a:rPr lang="en-US" altLang="zh-CN" sz="2000" b="1" dirty="0"/>
              <a:t>&gt;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#include &lt;</a:t>
            </a:r>
            <a:r>
              <a:rPr lang="en-US" altLang="zh-CN" sz="2000" b="1" dirty="0" err="1"/>
              <a:t>memory.h</a:t>
            </a:r>
            <a:r>
              <a:rPr lang="en-US" altLang="zh-CN" sz="2000" b="1" dirty="0"/>
              <a:t>&gt;</a:t>
            </a:r>
          </a:p>
          <a:p>
            <a:pPr marL="457200" indent="-457200">
              <a:tabLst>
                <a:tab pos="914400" algn="l"/>
              </a:tabLst>
            </a:pPr>
            <a:endParaRPr lang="en-US" altLang="zh-CN" sz="2000" b="1" dirty="0"/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struct </a:t>
            </a:r>
            <a:r>
              <a:rPr lang="en-US" altLang="zh-CN" sz="2000" b="1" dirty="0" err="1"/>
              <a:t>student_info</a:t>
            </a:r>
            <a:endParaRPr lang="en-US" altLang="zh-CN" sz="2000" b="1" dirty="0"/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{  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char no[9];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char name[10];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char sex;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int  age;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char depart[15];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} </a:t>
            </a:r>
            <a:r>
              <a:rPr lang="en-US" altLang="zh-CN" sz="2000" b="1" dirty="0" err="1"/>
              <a:t>stu</a:t>
            </a:r>
            <a:r>
              <a:rPr lang="en-US" altLang="zh-CN" sz="2000" b="1" dirty="0"/>
              <a:t>[3] = { {"0001", "</a:t>
            </a:r>
            <a:r>
              <a:rPr lang="en-US" altLang="zh-CN" sz="2000" b="1" dirty="0" err="1"/>
              <a:t>WangFei</a:t>
            </a:r>
            <a:r>
              <a:rPr lang="en-US" altLang="zh-CN" sz="2000" b="1" dirty="0"/>
              <a:t>", 'M', 18, "Computer"},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                 {"0002", "</a:t>
            </a:r>
            <a:r>
              <a:rPr lang="en-US" altLang="zh-CN" sz="2000" b="1" dirty="0" err="1"/>
              <a:t>ZhangMin</a:t>
            </a:r>
            <a:r>
              <a:rPr lang="en-US" altLang="zh-CN" sz="2000" b="1" dirty="0"/>
              <a:t>", 'M', 19, "Math"},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/>
              <a:t>                   {"0003", "</a:t>
            </a:r>
            <a:r>
              <a:rPr lang="en-US" altLang="zh-CN" sz="2000" b="1" dirty="0" err="1"/>
              <a:t>LiYan</a:t>
            </a:r>
            <a:r>
              <a:rPr lang="en-US" altLang="zh-CN" sz="2000" b="1" dirty="0"/>
              <a:t>", 'F', 19, "English"} };</a:t>
            </a:r>
          </a:p>
        </p:txBody>
      </p:sp>
      <p:sp>
        <p:nvSpPr>
          <p:cNvPr id="1106952" name="Rectangle 8" descr="信纸"/>
          <p:cNvSpPr>
            <a:spLocks noChangeArrowheads="1"/>
          </p:cNvSpPr>
          <p:nvPr/>
        </p:nvSpPr>
        <p:spPr bwMode="auto">
          <a:xfrm>
            <a:off x="6672064" y="759817"/>
            <a:ext cx="5303837" cy="43973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 err="1">
                <a:solidFill>
                  <a:srgbClr val="CC0066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66"/>
                </a:solidFill>
                <a:ea typeface="楷体_GB2312" pitchFamily="49" charset="-122"/>
              </a:rPr>
              <a:t> main ( )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{ 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int</a:t>
            </a:r>
            <a:r>
              <a:rPr lang="en-US" altLang="zh-CN" sz="2000" b="1" dirty="0">
                <a:ea typeface="楷体_GB2312" pitchFamily="49" charset="-122"/>
              </a:rPr>
              <a:t> 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FILE *</a:t>
            </a:r>
            <a:r>
              <a:rPr lang="en-US" altLang="zh-CN" sz="2000" b="1" dirty="0" err="1">
                <a:ea typeface="楷体_GB2312" pitchFamily="49" charset="-122"/>
              </a:rPr>
              <a:t>fp</a:t>
            </a:r>
            <a:r>
              <a:rPr lang="en-US" altLang="zh-CN" sz="2000" b="1" dirty="0">
                <a:ea typeface="楷体_GB2312" pitchFamily="49" charset="-122"/>
              </a:rPr>
              <a:t>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ea typeface="楷体_GB2312" pitchFamily="49" charset="-122"/>
              </a:rPr>
              <a:t>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以读写方式打开二进制文件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fp</a:t>
            </a:r>
            <a:r>
              <a:rPr lang="en-US" altLang="zh-CN" sz="2000" b="1" dirty="0">
                <a:ea typeface="楷体_GB2312" pitchFamily="49" charset="-122"/>
              </a:rPr>
              <a:t> = </a:t>
            </a:r>
            <a:r>
              <a:rPr lang="en-US" altLang="zh-CN" sz="2000" b="1" dirty="0" err="1">
                <a:ea typeface="楷体_GB2312" pitchFamily="49" charset="-122"/>
              </a:rPr>
              <a:t>fopen</a:t>
            </a:r>
            <a:r>
              <a:rPr lang="en-US" altLang="zh-CN" sz="2000" b="1" dirty="0">
                <a:ea typeface="楷体_GB2312" pitchFamily="49" charset="-122"/>
              </a:rPr>
              <a:t> ("student.dat", "</a:t>
            </a:r>
            <a:r>
              <a:rPr lang="en-US" altLang="zh-CN" sz="2000" b="1" dirty="0" err="1">
                <a:ea typeface="楷体_GB2312" pitchFamily="49" charset="-122"/>
              </a:rPr>
              <a:t>wb</a:t>
            </a:r>
            <a:r>
              <a:rPr lang="en-US" altLang="zh-CN" sz="2000" b="1" dirty="0">
                <a:ea typeface="楷体_GB2312" pitchFamily="49" charset="-122"/>
              </a:rPr>
              <a:t>+");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if (</a:t>
            </a:r>
            <a:r>
              <a:rPr lang="en-US" altLang="zh-CN" sz="2000" b="1" dirty="0" err="1">
                <a:ea typeface="楷体_GB2312" pitchFamily="49" charset="-122"/>
              </a:rPr>
              <a:t>fp</a:t>
            </a:r>
            <a:r>
              <a:rPr lang="en-US" altLang="zh-CN" sz="2000" b="1" dirty="0">
                <a:ea typeface="楷体_GB2312" pitchFamily="49" charset="-122"/>
              </a:rPr>
              <a:t> = = NULL)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打开失败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>
                <a:ea typeface="楷体_GB2312" pitchFamily="49" charset="-122"/>
              </a:rPr>
              <a:t>{ 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("can't create file: student.dat\n");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exit (0); 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}</a:t>
            </a:r>
          </a:p>
          <a:p>
            <a:pPr marL="457200" indent="-457200">
              <a:tabLst>
                <a:tab pos="914400" algn="l"/>
              </a:tabLst>
            </a:pPr>
            <a:endParaRPr lang="en-US" altLang="zh-CN" sz="2000" b="1" dirty="0">
              <a:ea typeface="楷体_GB2312" pitchFamily="49" charset="-122"/>
            </a:endParaRP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ea typeface="楷体_GB2312" pitchFamily="49" charset="-122"/>
              </a:rPr>
              <a:t>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将学生信息写入到文件中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fwrite</a:t>
            </a:r>
            <a:r>
              <a:rPr lang="en-US" altLang="zh-CN" sz="2000" b="1" dirty="0">
                <a:ea typeface="楷体_GB2312" pitchFamily="49" charset="-122"/>
              </a:rPr>
              <a:t> (</a:t>
            </a:r>
            <a:r>
              <a:rPr lang="en-US" altLang="zh-CN" sz="2000" b="1" dirty="0" err="1">
                <a:ea typeface="楷体_GB2312" pitchFamily="49" charset="-122"/>
              </a:rPr>
              <a:t>stu</a:t>
            </a:r>
            <a:r>
              <a:rPr lang="en-US" altLang="zh-CN" sz="2000" b="1" dirty="0">
                <a:ea typeface="楷体_GB2312" pitchFamily="49" charset="-122"/>
              </a:rPr>
              <a:t>, </a:t>
            </a:r>
            <a:r>
              <a:rPr lang="en-US" altLang="zh-CN" sz="2000" b="1" dirty="0" err="1">
                <a:ea typeface="楷体_GB2312" pitchFamily="49" charset="-122"/>
              </a:rPr>
              <a:t>sizeof</a:t>
            </a:r>
            <a:r>
              <a:rPr lang="en-US" altLang="zh-CN" sz="2000" b="1" dirty="0">
                <a:ea typeface="楷体_GB2312" pitchFamily="49" charset="-122"/>
              </a:rPr>
              <a:t>(</a:t>
            </a:r>
            <a:r>
              <a:rPr lang="en-US" altLang="zh-CN" sz="2000" b="1" dirty="0" err="1">
                <a:ea typeface="楷体_GB2312" pitchFamily="49" charset="-122"/>
              </a:rPr>
              <a:t>struct</a:t>
            </a:r>
            <a:r>
              <a:rPr lang="en-US" altLang="zh-CN" sz="2000" b="1" dirty="0">
                <a:ea typeface="楷体_GB2312" pitchFamily="49" charset="-122"/>
              </a:rPr>
              <a:t> </a:t>
            </a:r>
            <a:r>
              <a:rPr lang="en-US" altLang="zh-CN" sz="2000" b="1" dirty="0" err="1">
                <a:ea typeface="楷体_GB2312" pitchFamily="49" charset="-122"/>
              </a:rPr>
              <a:t>student_info</a:t>
            </a:r>
            <a:r>
              <a:rPr lang="en-US" altLang="zh-CN" sz="2000" b="1" dirty="0">
                <a:ea typeface="楷体_GB2312" pitchFamily="49" charset="-122"/>
              </a:rPr>
              <a:t>), 3, </a:t>
            </a:r>
            <a:r>
              <a:rPr lang="en-US" altLang="zh-CN" sz="2000" b="1" dirty="0" err="1">
                <a:ea typeface="楷体_GB2312" pitchFamily="49" charset="-122"/>
              </a:rPr>
              <a:t>fp</a:t>
            </a:r>
            <a:r>
              <a:rPr lang="en-US" altLang="zh-CN" sz="2000" b="1" dirty="0">
                <a:ea typeface="楷体_GB2312" pitchFamily="49" charset="-122"/>
              </a:rPr>
              <a:t>); </a:t>
            </a:r>
          </a:p>
        </p:txBody>
      </p:sp>
      <p:sp>
        <p:nvSpPr>
          <p:cNvPr id="1106953" name="Rectangle 9" descr="信纸"/>
          <p:cNvSpPr>
            <a:spLocks noChangeArrowheads="1"/>
          </p:cNvSpPr>
          <p:nvPr/>
        </p:nvSpPr>
        <p:spPr bwMode="auto">
          <a:xfrm>
            <a:off x="911424" y="1824201"/>
            <a:ext cx="7200900" cy="4770537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/>
              </a:gs>
            </a:gsLst>
            <a:lin ang="54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pPr marL="457200" indent="-457200">
              <a:tabLst>
                <a:tab pos="914400" algn="l"/>
              </a:tabLst>
            </a:pPr>
            <a:r>
              <a:rPr lang="en-US" altLang="zh-CN" dirty="0">
                <a:solidFill>
                  <a:srgbClr val="C00000"/>
                </a:solidFill>
              </a:rPr>
              <a:t>  </a:t>
            </a:r>
            <a:r>
              <a:rPr lang="en-US" altLang="zh-CN" sz="2000" b="1" dirty="0">
                <a:solidFill>
                  <a:srgbClr val="C00000"/>
                </a:solidFill>
                <a:ea typeface="楷体_GB2312" pitchFamily="49" charset="-122"/>
              </a:rPr>
              <a:t>rewind (</a:t>
            </a:r>
            <a:r>
              <a:rPr lang="en-US" altLang="zh-CN" sz="2000" b="1" dirty="0" err="1">
                <a:solidFill>
                  <a:srgbClr val="C00000"/>
                </a:solidFill>
                <a:ea typeface="楷体_GB2312" pitchFamily="49" charset="-122"/>
              </a:rPr>
              <a:t>fp</a:t>
            </a:r>
            <a:r>
              <a:rPr lang="en-US" altLang="zh-CN" sz="2000" b="1" dirty="0">
                <a:solidFill>
                  <a:srgbClr val="C00000"/>
                </a:solidFill>
                <a:ea typeface="楷体_GB2312" pitchFamily="49" charset="-122"/>
              </a:rPr>
              <a:t>); 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将文件位置指针置回到文件头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memset</a:t>
            </a:r>
            <a:r>
              <a:rPr lang="en-US" altLang="zh-CN" sz="2000" b="1" dirty="0">
                <a:ea typeface="楷体_GB2312" pitchFamily="49" charset="-122"/>
              </a:rPr>
              <a:t> (</a:t>
            </a:r>
            <a:r>
              <a:rPr lang="en-US" altLang="zh-CN" sz="2000" b="1" dirty="0" err="1">
                <a:ea typeface="楷体_GB2312" pitchFamily="49" charset="-122"/>
              </a:rPr>
              <a:t>stu</a:t>
            </a:r>
            <a:r>
              <a:rPr lang="en-US" altLang="zh-CN" sz="2000" b="1" dirty="0">
                <a:ea typeface="楷体_GB2312" pitchFamily="49" charset="-122"/>
              </a:rPr>
              <a:t>, 0, 3*</a:t>
            </a:r>
            <a:r>
              <a:rPr lang="en-US" altLang="zh-CN" sz="2000" b="1" dirty="0" err="1">
                <a:ea typeface="楷体_GB2312" pitchFamily="49" charset="-122"/>
              </a:rPr>
              <a:t>sizeof</a:t>
            </a:r>
            <a:r>
              <a:rPr lang="en-US" altLang="zh-CN" sz="2000" b="1" dirty="0">
                <a:ea typeface="楷体_GB2312" pitchFamily="49" charset="-122"/>
              </a:rPr>
              <a:t>(</a:t>
            </a:r>
            <a:r>
              <a:rPr lang="en-US" altLang="zh-CN" sz="2000" b="1" dirty="0" err="1">
                <a:ea typeface="楷体_GB2312" pitchFamily="49" charset="-122"/>
              </a:rPr>
              <a:t>struct</a:t>
            </a:r>
            <a:r>
              <a:rPr lang="en-US" altLang="zh-CN" sz="2000" b="1" dirty="0">
                <a:ea typeface="楷体_GB2312" pitchFamily="49" charset="-122"/>
              </a:rPr>
              <a:t> </a:t>
            </a:r>
            <a:r>
              <a:rPr lang="en-US" altLang="zh-CN" sz="2000" b="1" dirty="0" err="1">
                <a:ea typeface="楷体_GB2312" pitchFamily="49" charset="-122"/>
              </a:rPr>
              <a:t>student_info</a:t>
            </a:r>
            <a:r>
              <a:rPr lang="en-US" altLang="zh-CN" sz="2000" b="1" dirty="0">
                <a:ea typeface="楷体_GB2312" pitchFamily="49" charset="-122"/>
              </a:rPr>
              <a:t>));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清除学生信息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solidFill>
                  <a:schemeClr val="accent2"/>
                </a:solidFill>
                <a:latin typeface="+mn-lt"/>
                <a:ea typeface="楷体" pitchFamily="49" charset="-122"/>
              </a:rPr>
              <a:t>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读第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1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和第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3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个学生的信息到结构数组</a:t>
            </a:r>
            <a:r>
              <a:rPr lang="en-US" altLang="zh-CN" sz="2000" b="1" dirty="0" err="1">
                <a:solidFill>
                  <a:srgbClr val="002060"/>
                </a:solidFill>
                <a:latin typeface="+mn-lt"/>
                <a:ea typeface="楷体" pitchFamily="49" charset="-122"/>
              </a:rPr>
              <a:t>stu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中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>
                <a:ea typeface="楷体_GB2312" pitchFamily="49" charset="-122"/>
              </a:rPr>
              <a:t>for (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 = 0; 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 &lt; 3; 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 += 2)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{ 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latin typeface="+mn-lt"/>
                <a:ea typeface="楷体" pitchFamily="49" charset="-122"/>
              </a:rPr>
              <a:t> 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文件位置指针定位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solidFill>
                  <a:srgbClr val="C00000"/>
                </a:solidFill>
                <a:ea typeface="楷体_GB2312" pitchFamily="49" charset="-122"/>
              </a:rPr>
              <a:t>    </a:t>
            </a:r>
            <a:r>
              <a:rPr lang="en-US" altLang="zh-CN" sz="2000" b="1" dirty="0" err="1">
                <a:solidFill>
                  <a:srgbClr val="C00000"/>
                </a:solidFill>
                <a:ea typeface="楷体_GB2312" pitchFamily="49" charset="-122"/>
              </a:rPr>
              <a:t>fseek</a:t>
            </a:r>
            <a:r>
              <a:rPr lang="en-US" altLang="zh-CN" sz="2000" b="1" dirty="0">
                <a:solidFill>
                  <a:srgbClr val="C00000"/>
                </a:solidFill>
                <a:ea typeface="楷体_GB2312" pitchFamily="49" charset="-122"/>
              </a:rPr>
              <a:t> (</a:t>
            </a:r>
            <a:r>
              <a:rPr lang="en-US" altLang="zh-CN" sz="2000" b="1" dirty="0" err="1">
                <a:solidFill>
                  <a:srgbClr val="C00000"/>
                </a:solidFill>
                <a:ea typeface="楷体_GB2312" pitchFamily="49" charset="-122"/>
              </a:rPr>
              <a:t>fp</a:t>
            </a:r>
            <a:r>
              <a:rPr lang="en-US" altLang="zh-CN" sz="2000" b="1" dirty="0">
                <a:solidFill>
                  <a:srgbClr val="C00000"/>
                </a:solidFill>
                <a:ea typeface="楷体_GB2312" pitchFamily="49" charset="-122"/>
              </a:rPr>
              <a:t>, </a:t>
            </a:r>
            <a:r>
              <a:rPr lang="en-US" altLang="zh-CN" sz="2000" b="1" dirty="0" err="1">
                <a:solidFill>
                  <a:srgbClr val="C00000"/>
                </a:solidFill>
                <a:ea typeface="楷体_GB2312" pitchFamily="49" charset="-122"/>
              </a:rPr>
              <a:t>i</a:t>
            </a:r>
            <a:r>
              <a:rPr lang="en-US" altLang="zh-CN" sz="2000" b="1" dirty="0">
                <a:solidFill>
                  <a:srgbClr val="C00000"/>
                </a:solidFill>
                <a:ea typeface="楷体_GB2312" pitchFamily="49" charset="-122"/>
              </a:rPr>
              <a:t>*</a:t>
            </a:r>
            <a:r>
              <a:rPr lang="en-US" altLang="zh-CN" sz="2000" b="1" dirty="0" err="1">
                <a:solidFill>
                  <a:srgbClr val="C00000"/>
                </a:solidFill>
                <a:ea typeface="楷体_GB2312" pitchFamily="49" charset="-122"/>
              </a:rPr>
              <a:t>sizeof</a:t>
            </a:r>
            <a:r>
              <a:rPr lang="en-US" altLang="zh-CN" sz="2000" b="1" dirty="0">
                <a:solidFill>
                  <a:srgbClr val="C00000"/>
                </a:solidFill>
                <a:ea typeface="楷体_GB2312" pitchFamily="49" charset="-122"/>
              </a:rPr>
              <a:t>(</a:t>
            </a:r>
            <a:r>
              <a:rPr lang="en-US" altLang="zh-CN" sz="2000" b="1" dirty="0" err="1">
                <a:solidFill>
                  <a:srgbClr val="C00000"/>
                </a:solidFill>
                <a:ea typeface="楷体_GB2312" pitchFamily="49" charset="-122"/>
              </a:rPr>
              <a:t>struct</a:t>
            </a:r>
            <a:r>
              <a:rPr lang="en-US" altLang="zh-CN" sz="2000" b="1" dirty="0">
                <a:solidFill>
                  <a:srgbClr val="C00000"/>
                </a:solidFill>
                <a:ea typeface="楷体_GB2312" pitchFamily="49" charset="-122"/>
              </a:rPr>
              <a:t> </a:t>
            </a:r>
            <a:r>
              <a:rPr lang="en-US" altLang="zh-CN" sz="2000" b="1" dirty="0" err="1">
                <a:solidFill>
                  <a:srgbClr val="C00000"/>
                </a:solidFill>
                <a:ea typeface="楷体_GB2312" pitchFamily="49" charset="-122"/>
              </a:rPr>
              <a:t>student_info</a:t>
            </a:r>
            <a:r>
              <a:rPr lang="en-US" altLang="zh-CN" sz="2000" b="1" dirty="0">
                <a:solidFill>
                  <a:srgbClr val="C00000"/>
                </a:solidFill>
                <a:ea typeface="楷体_GB2312" pitchFamily="49" charset="-122"/>
              </a:rPr>
              <a:t>), SEEK_SET);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ea typeface="楷体_GB2312" pitchFamily="49" charset="-122"/>
              </a:rPr>
              <a:t> 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读取一个学生的信息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 </a:t>
            </a:r>
            <a:r>
              <a:rPr lang="en-US" altLang="zh-CN" sz="2000" b="1" dirty="0" err="1">
                <a:ea typeface="楷体_GB2312" pitchFamily="49" charset="-122"/>
              </a:rPr>
              <a:t>fread</a:t>
            </a:r>
            <a:r>
              <a:rPr lang="en-US" altLang="zh-CN" sz="2000" b="1" dirty="0">
                <a:ea typeface="楷体_GB2312" pitchFamily="49" charset="-122"/>
              </a:rPr>
              <a:t> (&amp;</a:t>
            </a:r>
            <a:r>
              <a:rPr lang="en-US" altLang="zh-CN" sz="2000" b="1" dirty="0" err="1">
                <a:ea typeface="楷体_GB2312" pitchFamily="49" charset="-122"/>
              </a:rPr>
              <a:t>stu</a:t>
            </a:r>
            <a:r>
              <a:rPr lang="en-US" altLang="zh-CN" sz="2000" b="1" dirty="0">
                <a:ea typeface="楷体_GB2312" pitchFamily="49" charset="-122"/>
              </a:rPr>
              <a:t>[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], </a:t>
            </a:r>
            <a:r>
              <a:rPr lang="en-US" altLang="zh-CN" sz="2000" b="1" dirty="0" err="1">
                <a:ea typeface="楷体_GB2312" pitchFamily="49" charset="-122"/>
              </a:rPr>
              <a:t>sizeof</a:t>
            </a:r>
            <a:r>
              <a:rPr lang="en-US" altLang="zh-CN" sz="2000" b="1" dirty="0">
                <a:ea typeface="楷体_GB2312" pitchFamily="49" charset="-122"/>
              </a:rPr>
              <a:t>(</a:t>
            </a:r>
            <a:r>
              <a:rPr lang="en-US" altLang="zh-CN" sz="2000" b="1" dirty="0" err="1">
                <a:ea typeface="楷体_GB2312" pitchFamily="49" charset="-122"/>
              </a:rPr>
              <a:t>struct</a:t>
            </a:r>
            <a:r>
              <a:rPr lang="en-US" altLang="zh-CN" sz="2000" b="1" dirty="0">
                <a:ea typeface="楷体_GB2312" pitchFamily="49" charset="-122"/>
              </a:rPr>
              <a:t> </a:t>
            </a:r>
            <a:r>
              <a:rPr lang="en-US" altLang="zh-CN" sz="2000" b="1" dirty="0" err="1">
                <a:ea typeface="楷体_GB2312" pitchFamily="49" charset="-122"/>
              </a:rPr>
              <a:t>student_info</a:t>
            </a:r>
            <a:r>
              <a:rPr lang="en-US" altLang="zh-CN" sz="2000" b="1" dirty="0">
                <a:ea typeface="楷体_GB2312" pitchFamily="49" charset="-122"/>
              </a:rPr>
              <a:t>), 1, </a:t>
            </a:r>
            <a:r>
              <a:rPr lang="en-US" altLang="zh-CN" sz="2000" b="1" dirty="0" err="1">
                <a:ea typeface="楷体_GB2312" pitchFamily="49" charset="-122"/>
              </a:rPr>
              <a:t>fp</a:t>
            </a:r>
            <a:r>
              <a:rPr lang="en-US" altLang="zh-CN" sz="2000" b="1" dirty="0">
                <a:ea typeface="楷体_GB2312" pitchFamily="49" charset="-122"/>
              </a:rPr>
              <a:t>);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("%12s%14s%5c%5d%15s\n", </a:t>
            </a:r>
            <a:r>
              <a:rPr lang="en-US" altLang="zh-CN" sz="2000" b="1" dirty="0" err="1">
                <a:ea typeface="楷体_GB2312" pitchFamily="49" charset="-122"/>
              </a:rPr>
              <a:t>stu</a:t>
            </a:r>
            <a:r>
              <a:rPr lang="en-US" altLang="zh-CN" sz="2000" b="1" dirty="0">
                <a:ea typeface="楷体_GB2312" pitchFamily="49" charset="-122"/>
              </a:rPr>
              <a:t>[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].no, </a:t>
            </a:r>
            <a:r>
              <a:rPr lang="en-US" altLang="zh-CN" sz="2000" b="1" dirty="0" err="1">
                <a:ea typeface="楷体_GB2312" pitchFamily="49" charset="-122"/>
              </a:rPr>
              <a:t>stu</a:t>
            </a:r>
            <a:r>
              <a:rPr lang="en-US" altLang="zh-CN" sz="2000" b="1" dirty="0">
                <a:ea typeface="楷体_GB2312" pitchFamily="49" charset="-122"/>
              </a:rPr>
              <a:t>[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].name,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                             </a:t>
            </a:r>
            <a:r>
              <a:rPr lang="en-US" altLang="zh-CN" sz="2000" b="1" dirty="0" err="1">
                <a:ea typeface="楷体_GB2312" pitchFamily="49" charset="-122"/>
              </a:rPr>
              <a:t>stu</a:t>
            </a:r>
            <a:r>
              <a:rPr lang="en-US" altLang="zh-CN" sz="2000" b="1" dirty="0">
                <a:ea typeface="楷体_GB2312" pitchFamily="49" charset="-122"/>
              </a:rPr>
              <a:t>[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].sex, </a:t>
            </a:r>
            <a:r>
              <a:rPr lang="en-US" altLang="zh-CN" sz="2000" b="1" dirty="0" err="1">
                <a:ea typeface="楷体_GB2312" pitchFamily="49" charset="-122"/>
              </a:rPr>
              <a:t>stu</a:t>
            </a:r>
            <a:r>
              <a:rPr lang="en-US" altLang="zh-CN" sz="2000" b="1" dirty="0">
                <a:ea typeface="楷体_GB2312" pitchFamily="49" charset="-122"/>
              </a:rPr>
              <a:t>[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].age, </a:t>
            </a:r>
            <a:r>
              <a:rPr lang="en-US" altLang="zh-CN" sz="2000" b="1" dirty="0" err="1">
                <a:ea typeface="楷体_GB2312" pitchFamily="49" charset="-122"/>
              </a:rPr>
              <a:t>stu</a:t>
            </a:r>
            <a:r>
              <a:rPr lang="en-US" altLang="zh-CN" sz="2000" b="1" dirty="0">
                <a:ea typeface="楷体_GB2312" pitchFamily="49" charset="-122"/>
              </a:rPr>
              <a:t>[</a:t>
            </a:r>
            <a:r>
              <a:rPr lang="en-US" altLang="zh-CN" sz="2000" b="1" dirty="0" err="1">
                <a:ea typeface="楷体_GB2312" pitchFamily="49" charset="-122"/>
              </a:rPr>
              <a:t>i</a:t>
            </a:r>
            <a:r>
              <a:rPr lang="en-US" altLang="zh-CN" sz="2000" b="1" dirty="0">
                <a:ea typeface="楷体_GB2312" pitchFamily="49" charset="-122"/>
              </a:rPr>
              <a:t>].depart);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}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fclose</a:t>
            </a:r>
            <a:r>
              <a:rPr lang="en-US" altLang="zh-CN" sz="2000" b="1" dirty="0">
                <a:ea typeface="楷体_GB2312" pitchFamily="49" charset="-122"/>
              </a:rPr>
              <a:t> (</a:t>
            </a:r>
            <a:r>
              <a:rPr lang="en-US" altLang="zh-CN" sz="2000" b="1" dirty="0" err="1">
                <a:ea typeface="楷体_GB2312" pitchFamily="49" charset="-122"/>
              </a:rPr>
              <a:t>fp</a:t>
            </a:r>
            <a:r>
              <a:rPr lang="en-US" altLang="zh-CN" sz="2000" b="1" dirty="0">
                <a:ea typeface="楷体_GB2312" pitchFamily="49" charset="-122"/>
              </a:rPr>
              <a:t>);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关闭文件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return 0;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}</a:t>
            </a:r>
          </a:p>
        </p:txBody>
      </p:sp>
      <p:sp>
        <p:nvSpPr>
          <p:cNvPr id="1106954" name="Text Box 10"/>
          <p:cNvSpPr txBox="1">
            <a:spLocks noChangeArrowheads="1"/>
          </p:cNvSpPr>
          <p:nvPr/>
        </p:nvSpPr>
        <p:spPr bwMode="auto">
          <a:xfrm>
            <a:off x="6815881" y="5445224"/>
            <a:ext cx="5184775" cy="1079500"/>
          </a:xfrm>
          <a:prstGeom prst="rect">
            <a:avLst/>
          </a:prstGeom>
          <a:solidFill>
            <a:srgbClr val="FFFFFF"/>
          </a:solidFill>
          <a:ln w="38100">
            <a:solidFill>
              <a:srgbClr val="C0192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/>
          <a:lstStyle/>
          <a:p>
            <a:pPr algn="just"/>
            <a:r>
              <a:rPr lang="zh-CN" altLang="en-US" sz="2000" b="1" dirty="0">
                <a:solidFill>
                  <a:srgbClr val="C00000"/>
                </a:solidFill>
                <a:latin typeface="隶书" pitchFamily="49" charset="-122"/>
                <a:ea typeface="隶书" pitchFamily="49" charset="-122"/>
              </a:rPr>
              <a:t>运行结果：</a:t>
            </a:r>
          </a:p>
          <a:p>
            <a:pPr algn="just"/>
            <a:r>
              <a:rPr lang="en-US" altLang="zh-CN" sz="2000" b="1" dirty="0">
                <a:solidFill>
                  <a:srgbClr val="002060"/>
                </a:solidFill>
              </a:rPr>
              <a:t>0001   </a:t>
            </a:r>
            <a:r>
              <a:rPr lang="en-US" altLang="zh-CN" sz="2000" b="1" dirty="0" err="1">
                <a:solidFill>
                  <a:srgbClr val="002060"/>
                </a:solidFill>
              </a:rPr>
              <a:t>WangFei</a:t>
            </a:r>
            <a:r>
              <a:rPr lang="en-US" altLang="zh-CN" sz="2000" b="1" dirty="0">
                <a:solidFill>
                  <a:srgbClr val="002060"/>
                </a:solidFill>
              </a:rPr>
              <a:t>    M     18      Computer</a:t>
            </a:r>
          </a:p>
          <a:p>
            <a:pPr algn="just"/>
            <a:r>
              <a:rPr lang="en-US" altLang="zh-CN" sz="2000" b="1" dirty="0">
                <a:solidFill>
                  <a:srgbClr val="002060"/>
                </a:solidFill>
              </a:rPr>
              <a:t>0003        </a:t>
            </a:r>
            <a:r>
              <a:rPr lang="en-US" altLang="zh-CN" sz="2000" b="1" dirty="0" err="1">
                <a:solidFill>
                  <a:srgbClr val="002060"/>
                </a:solidFill>
              </a:rPr>
              <a:t>LiYan</a:t>
            </a:r>
            <a:r>
              <a:rPr lang="en-US" altLang="zh-CN" sz="2000" b="1" dirty="0">
                <a:solidFill>
                  <a:srgbClr val="002060"/>
                </a:solidFill>
              </a:rPr>
              <a:t>    F      19           English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C6AAEF94-71E4-421B-835C-42DD07562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12.6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文件的定位读写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069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069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1069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1069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6950" grpId="0" animBg="1"/>
      <p:bldP spid="1106952" grpId="0" animBg="1"/>
      <p:bldP spid="1106953" grpId="0" animBg="1"/>
      <p:bldP spid="110695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997" name="Rectangle 5"/>
          <p:cNvSpPr>
            <a:spLocks noChangeArrowheads="1"/>
          </p:cNvSpPr>
          <p:nvPr/>
        </p:nvSpPr>
        <p:spPr bwMode="auto">
          <a:xfrm>
            <a:off x="839416" y="908720"/>
            <a:ext cx="4296346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9】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求文件的长度。</a:t>
            </a:r>
          </a:p>
        </p:txBody>
      </p:sp>
      <p:sp>
        <p:nvSpPr>
          <p:cNvPr id="1108998" name="Rectangle 6" descr="信纸"/>
          <p:cNvSpPr>
            <a:spLocks noChangeArrowheads="1"/>
          </p:cNvSpPr>
          <p:nvPr/>
        </p:nvSpPr>
        <p:spPr bwMode="auto">
          <a:xfrm>
            <a:off x="602382" y="1501740"/>
            <a:ext cx="5230812" cy="34829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a typeface="楷体_GB2312" pitchFamily="49" charset="-122"/>
              </a:rPr>
              <a:t>stdio.h</a:t>
            </a:r>
            <a:r>
              <a:rPr lang="en-US" altLang="zh-CN" sz="2000" b="1" dirty="0">
                <a:ea typeface="楷体_GB2312" pitchFamily="49" charset="-122"/>
              </a:rPr>
              <a:t>&gt;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a typeface="楷体_GB2312" pitchFamily="49" charset="-122"/>
              </a:rPr>
              <a:t>stdlib.h</a:t>
            </a:r>
            <a:r>
              <a:rPr lang="en-US" altLang="zh-CN" sz="2000" b="1" dirty="0">
                <a:ea typeface="楷体_GB2312" pitchFamily="49" charset="-122"/>
              </a:rPr>
              <a:t>&gt;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 main (</a:t>
            </a:r>
            <a:r>
              <a:rPr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 </a:t>
            </a:r>
            <a:r>
              <a:rPr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argc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, char *</a:t>
            </a:r>
            <a:r>
              <a:rPr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argv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[ ])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{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FILE *</a:t>
            </a:r>
            <a:r>
              <a:rPr lang="en-US" altLang="zh-CN" sz="2000" b="1" dirty="0" err="1">
                <a:ea typeface="楷体_GB2312" pitchFamily="49" charset="-122"/>
              </a:rPr>
              <a:t>fp</a:t>
            </a:r>
            <a:r>
              <a:rPr lang="en-US" altLang="zh-CN" sz="2000" b="1" dirty="0">
                <a:ea typeface="楷体_GB2312" pitchFamily="49" charset="-122"/>
              </a:rPr>
              <a:t>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long length;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if (</a:t>
            </a:r>
            <a:r>
              <a:rPr lang="en-US" altLang="zh-CN" sz="2000" b="1" dirty="0" err="1">
                <a:ea typeface="楷体_GB2312" pitchFamily="49" charset="-122"/>
              </a:rPr>
              <a:t>argc</a:t>
            </a:r>
            <a:r>
              <a:rPr lang="en-US" altLang="zh-CN" sz="2000" b="1" dirty="0">
                <a:ea typeface="楷体_GB2312" pitchFamily="49" charset="-122"/>
              </a:rPr>
              <a:t> != 2)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命令行参数有误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>
                <a:ea typeface="楷体_GB2312" pitchFamily="49" charset="-122"/>
              </a:rPr>
              <a:t>{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</a:t>
            </a:r>
            <a:r>
              <a:rPr lang="en-US" altLang="zh-CN" sz="2000" b="1" dirty="0" err="1">
                <a:ea typeface="楷体_GB2312" pitchFamily="49" charset="-122"/>
              </a:rPr>
              <a:t>Useage</a:t>
            </a:r>
            <a:r>
              <a:rPr lang="en-US" altLang="zh-CN" sz="2000" b="1" dirty="0">
                <a:ea typeface="楷体_GB2312" pitchFamily="49" charset="-122"/>
              </a:rPr>
              <a:t>: 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执行文件名  </a:t>
            </a:r>
            <a:r>
              <a:rPr lang="en-US" altLang="zh-CN" sz="2000" b="1" dirty="0">
                <a:ea typeface="楷体_GB2312" pitchFamily="49" charset="-122"/>
              </a:rPr>
              <a:t>filename\n");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exit (0);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}</a:t>
            </a:r>
          </a:p>
        </p:txBody>
      </p:sp>
      <p:sp>
        <p:nvSpPr>
          <p:cNvPr id="1109002" name="Rectangle 10" descr="信纸"/>
          <p:cNvSpPr>
            <a:spLocks noChangeArrowheads="1"/>
          </p:cNvSpPr>
          <p:nvPr/>
        </p:nvSpPr>
        <p:spPr bwMode="auto">
          <a:xfrm>
            <a:off x="6064987" y="1501740"/>
            <a:ext cx="5976937" cy="4708981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fp</a:t>
            </a:r>
            <a:r>
              <a:rPr lang="en-US" altLang="zh-CN" sz="2000" b="1" dirty="0">
                <a:ea typeface="楷体_GB2312" pitchFamily="49" charset="-122"/>
              </a:rPr>
              <a:t> = </a:t>
            </a:r>
            <a:r>
              <a:rPr lang="en-US" altLang="zh-CN" sz="2000" b="1" dirty="0" err="1">
                <a:ea typeface="楷体_GB2312" pitchFamily="49" charset="-122"/>
              </a:rPr>
              <a:t>fopen</a:t>
            </a:r>
            <a:r>
              <a:rPr lang="en-US" altLang="zh-CN" sz="2000" b="1" dirty="0">
                <a:ea typeface="楷体_GB2312" pitchFamily="49" charset="-122"/>
              </a:rPr>
              <a:t> (</a:t>
            </a:r>
            <a:r>
              <a:rPr lang="en-US" altLang="zh-CN" sz="2000" b="1" dirty="0" err="1">
                <a:ea typeface="楷体_GB2312" pitchFamily="49" charset="-122"/>
              </a:rPr>
              <a:t>argv</a:t>
            </a:r>
            <a:r>
              <a:rPr lang="en-US" altLang="zh-CN" sz="2000" b="1" dirty="0">
                <a:ea typeface="楷体_GB2312" pitchFamily="49" charset="-122"/>
              </a:rPr>
              <a:t>[1], "</a:t>
            </a:r>
            <a:r>
              <a:rPr lang="en-US" altLang="zh-CN" sz="2000" b="1" dirty="0" err="1">
                <a:ea typeface="楷体_GB2312" pitchFamily="49" charset="-122"/>
              </a:rPr>
              <a:t>rb</a:t>
            </a:r>
            <a:r>
              <a:rPr lang="en-US" altLang="zh-CN" sz="2000" b="1" dirty="0">
                <a:ea typeface="楷体_GB2312" pitchFamily="49" charset="-122"/>
              </a:rPr>
              <a:t>");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以读的方式打开文件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>
                <a:ea typeface="楷体_GB2312" pitchFamily="49" charset="-122"/>
              </a:rPr>
              <a:t>if (</a:t>
            </a:r>
            <a:r>
              <a:rPr lang="en-US" altLang="zh-CN" sz="2000" b="1" dirty="0" err="1">
                <a:ea typeface="楷体_GB2312" pitchFamily="49" charset="-122"/>
              </a:rPr>
              <a:t>fp</a:t>
            </a:r>
            <a:r>
              <a:rPr lang="en-US" altLang="zh-CN" sz="2000" b="1" dirty="0">
                <a:ea typeface="楷体_GB2312" pitchFamily="49" charset="-122"/>
              </a:rPr>
              <a:t> = = NULL)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打开文件失败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>
                <a:ea typeface="楷体_GB2312" pitchFamily="49" charset="-122"/>
              </a:rPr>
              <a:t>{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("file not found!\n");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exit (0);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}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文件位置指针指向文件尾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fseek</a:t>
            </a:r>
            <a:r>
              <a:rPr lang="en-US" altLang="zh-CN" sz="2000" b="1" dirty="0">
                <a:ea typeface="楷体_GB2312" pitchFamily="49" charset="-122"/>
              </a:rPr>
              <a:t> (</a:t>
            </a:r>
            <a:r>
              <a:rPr lang="en-US" altLang="zh-CN" sz="2000" b="1" dirty="0" err="1">
                <a:ea typeface="楷体_GB2312" pitchFamily="49" charset="-122"/>
              </a:rPr>
              <a:t>fp</a:t>
            </a:r>
            <a:r>
              <a:rPr lang="en-US" altLang="zh-CN" sz="2000" b="1" dirty="0">
                <a:ea typeface="楷体_GB2312" pitchFamily="49" charset="-122"/>
              </a:rPr>
              <a:t>, 0L, SEEK_END);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ea typeface="楷体_GB2312" pitchFamily="49" charset="-122"/>
              </a:rPr>
              <a:t>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取文件位置指针当前的位置，即文件的长度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>
                <a:ea typeface="楷体_GB2312" pitchFamily="49" charset="-122"/>
              </a:rPr>
              <a:t>length = </a:t>
            </a:r>
            <a:r>
              <a:rPr lang="en-US" altLang="zh-CN" sz="2000" b="1" dirty="0" err="1">
                <a:ea typeface="楷体_GB2312" pitchFamily="49" charset="-122"/>
              </a:rPr>
              <a:t>ftell</a:t>
            </a:r>
            <a:r>
              <a:rPr lang="en-US" altLang="zh-CN" sz="2000" b="1" dirty="0">
                <a:ea typeface="楷体_GB2312" pitchFamily="49" charset="-122"/>
              </a:rPr>
              <a:t> (</a:t>
            </a:r>
            <a:r>
              <a:rPr lang="en-US" altLang="zh-CN" sz="2000" b="1" dirty="0" err="1">
                <a:ea typeface="楷体_GB2312" pitchFamily="49" charset="-122"/>
              </a:rPr>
              <a:t>fp</a:t>
            </a:r>
            <a:r>
              <a:rPr lang="en-US" altLang="zh-CN" sz="2000" b="1" dirty="0">
                <a:ea typeface="楷体_GB2312" pitchFamily="49" charset="-122"/>
              </a:rPr>
              <a:t>);         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chemeClr val="accent2"/>
                </a:solidFill>
                <a:ea typeface="楷体_GB2312" pitchFamily="49" charset="-122"/>
              </a:rPr>
              <a:t>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显示文件长度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("Length of File is %ld bytes\n", length);  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fclose</a:t>
            </a:r>
            <a:r>
              <a:rPr lang="en-US" altLang="zh-CN" sz="2000" b="1" dirty="0">
                <a:ea typeface="楷体_GB2312" pitchFamily="49" charset="-122"/>
              </a:rPr>
              <a:t> (</a:t>
            </a:r>
            <a:r>
              <a:rPr lang="en-US" altLang="zh-CN" sz="2000" b="1" dirty="0" err="1">
                <a:ea typeface="楷体_GB2312" pitchFamily="49" charset="-122"/>
              </a:rPr>
              <a:t>fp</a:t>
            </a:r>
            <a:r>
              <a:rPr lang="en-US" altLang="zh-CN" sz="2000" b="1" dirty="0">
                <a:ea typeface="楷体_GB2312" pitchFamily="49" charset="-122"/>
              </a:rPr>
              <a:t>);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关闭文件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return 0;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EF7A96C9-ED59-484D-84EC-9EB0BD86C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12.6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文件的定位读写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089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090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8998" grpId="0" animBg="1"/>
      <p:bldP spid="110900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049" name="Rectangle 9"/>
          <p:cNvSpPr>
            <a:spLocks noChangeArrowheads="1"/>
          </p:cNvSpPr>
          <p:nvPr/>
        </p:nvSpPr>
        <p:spPr bwMode="auto">
          <a:xfrm>
            <a:off x="971702" y="1317025"/>
            <a:ext cx="10248596" cy="1066254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marL="0" lvl="1">
              <a:lnSpc>
                <a:spcPts val="2600"/>
              </a:lnSpc>
              <a:tabLst>
                <a:tab pos="457200" algn="l"/>
              </a:tabLst>
            </a:pPr>
            <a:r>
              <a:rPr lang="en-US" altLang="zh-CN" sz="2000" b="1" dirty="0">
                <a:ea typeface="楷体" pitchFamily="49" charset="-122"/>
              </a:rPr>
              <a:t>    </a:t>
            </a:r>
            <a:r>
              <a:rPr lang="zh-CN" altLang="en-US" sz="2000" b="1" u="sng" dirty="0">
                <a:solidFill>
                  <a:srgbClr val="CC0000"/>
                </a:solidFill>
                <a:ea typeface="楷体" pitchFamily="49" charset="-122"/>
              </a:rPr>
              <a:t>文件的加密方法：</a:t>
            </a:r>
            <a:r>
              <a:rPr lang="zh-CN" altLang="en-US" sz="2000" b="1" dirty="0">
                <a:ea typeface="楷体" pitchFamily="49" charset="-122"/>
              </a:rPr>
              <a:t>最初将</a:t>
            </a:r>
            <a:r>
              <a:rPr lang="en-US" altLang="zh-CN" sz="2000" b="1" dirty="0">
                <a:ea typeface="楷体" pitchFamily="49" charset="-122"/>
              </a:rPr>
              <a:t>KEY</a:t>
            </a:r>
            <a:r>
              <a:rPr lang="zh-CN" altLang="en-US" sz="2000" b="1" dirty="0">
                <a:ea typeface="楷体" pitchFamily="49" charset="-122"/>
              </a:rPr>
              <a:t>的值与文件中的第一个字节进行异或操作写入文件中，文件后面的字节值是将前一个字节值（原始字节值）与其进行异或而成，直到文件结束为止。解密的方法与加密的方法是一样的，因为</a:t>
            </a:r>
            <a:r>
              <a:rPr lang="en-US" altLang="zh-CN" sz="2000" b="1" dirty="0" err="1">
                <a:ea typeface="楷体" pitchFamily="49" charset="-122"/>
              </a:rPr>
              <a:t>ch^k^k</a:t>
            </a:r>
            <a:r>
              <a:rPr lang="zh-CN" altLang="en-US" sz="2000" b="1" dirty="0">
                <a:ea typeface="楷体" pitchFamily="49" charset="-122"/>
              </a:rPr>
              <a:t>等于</a:t>
            </a:r>
            <a:r>
              <a:rPr lang="en-US" altLang="zh-CN" sz="2000" b="1" dirty="0" err="1">
                <a:ea typeface="楷体" pitchFamily="49" charset="-122"/>
              </a:rPr>
              <a:t>ch</a:t>
            </a:r>
            <a:r>
              <a:rPr lang="en-US" altLang="zh-CN" sz="2000" b="1" dirty="0">
                <a:ea typeface="楷体" pitchFamily="49" charset="-122"/>
              </a:rPr>
              <a:t> </a:t>
            </a:r>
            <a:r>
              <a:rPr lang="zh-CN" altLang="en-US" sz="2000" b="1" dirty="0">
                <a:ea typeface="楷体" pitchFamily="49" charset="-122"/>
              </a:rPr>
              <a:t>。</a:t>
            </a:r>
            <a:endParaRPr lang="en-US" altLang="zh-CN" sz="2000" b="1" dirty="0">
              <a:ea typeface="楷体" pitchFamily="49" charset="-122"/>
            </a:endParaRPr>
          </a:p>
        </p:txBody>
      </p:sp>
      <p:sp>
        <p:nvSpPr>
          <p:cNvPr id="1111046" name="Rectangle 6" descr="信纸"/>
          <p:cNvSpPr>
            <a:spLocks noChangeArrowheads="1"/>
          </p:cNvSpPr>
          <p:nvPr/>
        </p:nvSpPr>
        <p:spPr bwMode="auto">
          <a:xfrm>
            <a:off x="710926" y="2460444"/>
            <a:ext cx="5616575" cy="4092575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62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#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include</a:t>
            </a:r>
            <a:r>
              <a:rPr lang="en-US" altLang="zh-CN" sz="2000" b="1" dirty="0">
                <a:ea typeface="楷体_GB2312" pitchFamily="49" charset="-122"/>
              </a:rPr>
              <a:t> &lt;</a:t>
            </a:r>
            <a:r>
              <a:rPr lang="en-US" altLang="zh-CN" sz="2000" b="1" dirty="0" err="1">
                <a:ea typeface="楷体_GB2312" pitchFamily="49" charset="-122"/>
              </a:rPr>
              <a:t>stdio.h</a:t>
            </a:r>
            <a:r>
              <a:rPr lang="en-US" altLang="zh-CN" sz="2000" b="1" dirty="0">
                <a:ea typeface="楷体_GB2312" pitchFamily="49" charset="-122"/>
              </a:rPr>
              <a:t>&gt;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#include &lt;</a:t>
            </a:r>
            <a:r>
              <a:rPr lang="en-US" altLang="zh-CN" sz="2000" b="1" dirty="0" err="1">
                <a:ea typeface="楷体_GB2312" pitchFamily="49" charset="-122"/>
              </a:rPr>
              <a:t>stdlib.h</a:t>
            </a:r>
            <a:r>
              <a:rPr lang="en-US" altLang="zh-CN" sz="2000" b="1" dirty="0">
                <a:ea typeface="楷体_GB2312" pitchFamily="49" charset="-122"/>
              </a:rPr>
              <a:t>&gt;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#define  KEY  0xFA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 main (</a:t>
            </a:r>
            <a:r>
              <a:rPr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 </a:t>
            </a:r>
            <a:r>
              <a:rPr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argc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, char *</a:t>
            </a:r>
            <a:r>
              <a:rPr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argv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[ ])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{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FILE *</a:t>
            </a:r>
            <a:r>
              <a:rPr lang="en-US" altLang="zh-CN" sz="2000" b="1" dirty="0" err="1">
                <a:ea typeface="楷体_GB2312" pitchFamily="49" charset="-122"/>
              </a:rPr>
              <a:t>fpr</a:t>
            </a:r>
            <a:r>
              <a:rPr lang="en-US" altLang="zh-CN" sz="2000" b="1" dirty="0">
                <a:ea typeface="楷体_GB2312" pitchFamily="49" charset="-122"/>
              </a:rPr>
              <a:t>, *</a:t>
            </a:r>
            <a:r>
              <a:rPr lang="en-US" altLang="zh-CN" sz="2000" b="1" dirty="0" err="1">
                <a:ea typeface="楷体_GB2312" pitchFamily="49" charset="-122"/>
              </a:rPr>
              <a:t>fpw</a:t>
            </a:r>
            <a:r>
              <a:rPr lang="en-US" altLang="zh-CN" sz="2000" b="1" dirty="0">
                <a:ea typeface="楷体_GB2312" pitchFamily="49" charset="-122"/>
              </a:rPr>
              <a:t>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char </a:t>
            </a:r>
            <a:r>
              <a:rPr lang="en-US" altLang="zh-CN" sz="2000" b="1" dirty="0" err="1">
                <a:ea typeface="楷体_GB2312" pitchFamily="49" charset="-122"/>
              </a:rPr>
              <a:t>ch</a:t>
            </a:r>
            <a:r>
              <a:rPr lang="en-US" altLang="zh-CN" sz="2000" b="1" dirty="0">
                <a:ea typeface="楷体_GB2312" pitchFamily="49" charset="-122"/>
              </a:rPr>
              <a:t>, k = (char)KEY;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solidFill>
                  <a:srgbClr val="002060"/>
                </a:solidFill>
                <a:ea typeface="楷体_GB2312" pitchFamily="49" charset="-122"/>
              </a:rPr>
              <a:t>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命令行参数有误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>
                <a:ea typeface="楷体_GB2312" pitchFamily="49" charset="-122"/>
              </a:rPr>
              <a:t>if (</a:t>
            </a:r>
            <a:r>
              <a:rPr lang="en-US" altLang="zh-CN" sz="2000" b="1" dirty="0" err="1">
                <a:ea typeface="楷体_GB2312" pitchFamily="49" charset="-122"/>
              </a:rPr>
              <a:t>argc</a:t>
            </a:r>
            <a:r>
              <a:rPr lang="en-US" altLang="zh-CN" sz="2000" b="1" dirty="0">
                <a:ea typeface="楷体_GB2312" pitchFamily="49" charset="-122"/>
              </a:rPr>
              <a:t> != 3 || *</a:t>
            </a:r>
            <a:r>
              <a:rPr lang="en-US" altLang="zh-CN" sz="2000" b="1" dirty="0" err="1">
                <a:ea typeface="楷体_GB2312" pitchFamily="49" charset="-122"/>
              </a:rPr>
              <a:t>argv</a:t>
            </a:r>
            <a:r>
              <a:rPr lang="en-US" altLang="zh-CN" sz="2000" b="1" dirty="0">
                <a:ea typeface="楷体_GB2312" pitchFamily="49" charset="-122"/>
              </a:rPr>
              <a:t>[2] != '+' &amp;&amp; *</a:t>
            </a:r>
            <a:r>
              <a:rPr lang="en-US" altLang="zh-CN" sz="2000" b="1" dirty="0" err="1">
                <a:ea typeface="楷体_GB2312" pitchFamily="49" charset="-122"/>
              </a:rPr>
              <a:t>argv</a:t>
            </a:r>
            <a:r>
              <a:rPr lang="en-US" altLang="zh-CN" sz="2000" b="1" dirty="0">
                <a:ea typeface="楷体_GB2312" pitchFamily="49" charset="-122"/>
              </a:rPr>
              <a:t>[2] != '-')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{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</a:t>
            </a:r>
            <a:r>
              <a:rPr lang="en-US" altLang="zh-CN" sz="2000" b="1" dirty="0" err="1">
                <a:ea typeface="楷体_GB2312" pitchFamily="49" charset="-122"/>
              </a:rPr>
              <a:t>Useage</a:t>
            </a:r>
            <a:r>
              <a:rPr lang="en-US" altLang="zh-CN" sz="2000" b="1" dirty="0">
                <a:ea typeface="楷体_GB2312" pitchFamily="49" charset="-122"/>
              </a:rPr>
              <a:t>: </a:t>
            </a:r>
            <a:r>
              <a:rPr lang="zh-CN" altLang="en-US" sz="2000" b="1" dirty="0">
                <a:latin typeface="+mn-lt"/>
                <a:ea typeface="楷体" pitchFamily="49" charset="-122"/>
              </a:rPr>
              <a:t>执行文件名</a:t>
            </a:r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>
                <a:ea typeface="楷体_GB2312" pitchFamily="49" charset="-122"/>
              </a:rPr>
              <a:t>filename +/-\n");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exit (0);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}</a:t>
            </a:r>
          </a:p>
        </p:txBody>
      </p:sp>
      <p:sp>
        <p:nvSpPr>
          <p:cNvPr id="1111045" name="Rectangle 5"/>
          <p:cNvSpPr>
            <a:spLocks noChangeArrowheads="1"/>
          </p:cNvSpPr>
          <p:nvPr/>
        </p:nvSpPr>
        <p:spPr bwMode="auto">
          <a:xfrm>
            <a:off x="862534" y="809600"/>
            <a:ext cx="400933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【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10】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文件加密</a:t>
            </a:r>
            <a:r>
              <a:rPr lang="en-US" altLang="zh-CN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解密。</a:t>
            </a:r>
          </a:p>
        </p:txBody>
      </p:sp>
      <p:sp>
        <p:nvSpPr>
          <p:cNvPr id="1111048" name="Rectangle 8" descr="信纸"/>
          <p:cNvSpPr>
            <a:spLocks noChangeArrowheads="1"/>
          </p:cNvSpPr>
          <p:nvPr/>
        </p:nvSpPr>
        <p:spPr bwMode="auto">
          <a:xfrm>
            <a:off x="5447010" y="120402"/>
            <a:ext cx="6624638" cy="6617196"/>
          </a:xfrm>
          <a:prstGeom prst="rect">
            <a:avLst/>
          </a:prstGeom>
          <a:gradFill>
            <a:gsLst>
              <a:gs pos="0">
                <a:srgbClr val="CFCFD1"/>
              </a:gs>
              <a:gs pos="100000">
                <a:schemeClr val="bg1">
                  <a:lumMod val="95000"/>
                </a:schemeClr>
              </a:gs>
            </a:gsLst>
            <a:lin ang="16200000" scaled="1"/>
          </a:gradFill>
          <a:ln w="38100">
            <a:solidFill>
              <a:srgbClr val="00206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anchor="ctr">
            <a:spAutoFit/>
          </a:bodyPr>
          <a:lstStyle/>
          <a:p>
            <a:pPr marL="457200" indent="-457200">
              <a:tabLst>
                <a:tab pos="914400" algn="l"/>
              </a:tabLst>
            </a:pPr>
            <a:r>
              <a:rPr lang="en-US" altLang="zh-CN" dirty="0"/>
              <a:t>  </a:t>
            </a:r>
            <a:r>
              <a:rPr lang="en-US" altLang="zh-CN" sz="2000" b="1" dirty="0" err="1">
                <a:ea typeface="楷体_GB2312" pitchFamily="49" charset="-122"/>
              </a:rPr>
              <a:t>fpr</a:t>
            </a:r>
            <a:r>
              <a:rPr lang="en-US" altLang="zh-CN" sz="2000" b="1" dirty="0">
                <a:ea typeface="楷体_GB2312" pitchFamily="49" charset="-122"/>
              </a:rPr>
              <a:t> = </a:t>
            </a:r>
            <a:r>
              <a:rPr lang="en-US" altLang="zh-CN" sz="2000" b="1" dirty="0" err="1">
                <a:ea typeface="楷体_GB2312" pitchFamily="49" charset="-122"/>
              </a:rPr>
              <a:t>fopen</a:t>
            </a:r>
            <a:r>
              <a:rPr lang="en-US" altLang="zh-CN" sz="2000" b="1" dirty="0">
                <a:ea typeface="楷体_GB2312" pitchFamily="49" charset="-122"/>
              </a:rPr>
              <a:t> (</a:t>
            </a:r>
            <a:r>
              <a:rPr lang="en-US" altLang="zh-CN" sz="2000" b="1" dirty="0" err="1">
                <a:ea typeface="楷体_GB2312" pitchFamily="49" charset="-122"/>
              </a:rPr>
              <a:t>argv</a:t>
            </a:r>
            <a:r>
              <a:rPr lang="en-US" altLang="zh-CN" sz="2000" b="1" dirty="0">
                <a:ea typeface="楷体_GB2312" pitchFamily="49" charset="-122"/>
              </a:rPr>
              <a:t>[1], "</a:t>
            </a:r>
            <a:r>
              <a:rPr lang="en-US" altLang="zh-CN" sz="2000" b="1" dirty="0" err="1">
                <a:ea typeface="楷体_GB2312" pitchFamily="49" charset="-122"/>
              </a:rPr>
              <a:t>rb</a:t>
            </a:r>
            <a:r>
              <a:rPr lang="en-US" altLang="zh-CN" sz="2000" b="1" dirty="0">
                <a:ea typeface="楷体_GB2312" pitchFamily="49" charset="-122"/>
              </a:rPr>
              <a:t>");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以读的方式打开文件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>
                <a:ea typeface="楷体_GB2312" pitchFamily="49" charset="-122"/>
              </a:rPr>
              <a:t>if (</a:t>
            </a:r>
            <a:r>
              <a:rPr lang="en-US" altLang="zh-CN" sz="2000" b="1" dirty="0" err="1">
                <a:ea typeface="楷体_GB2312" pitchFamily="49" charset="-122"/>
              </a:rPr>
              <a:t>fpr</a:t>
            </a:r>
            <a:r>
              <a:rPr lang="en-US" altLang="zh-CN" sz="2000" b="1" dirty="0">
                <a:ea typeface="楷体_GB2312" pitchFamily="49" charset="-122"/>
              </a:rPr>
              <a:t> == NULL)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打开文件失败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>
                <a:ea typeface="楷体_GB2312" pitchFamily="49" charset="-122"/>
              </a:rPr>
              <a:t>{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("file: %s not found!\n", </a:t>
            </a:r>
            <a:r>
              <a:rPr lang="en-US" altLang="zh-CN" sz="2000" b="1" dirty="0" err="1">
                <a:ea typeface="楷体_GB2312" pitchFamily="49" charset="-122"/>
              </a:rPr>
              <a:t>argv</a:t>
            </a:r>
            <a:r>
              <a:rPr lang="en-US" altLang="zh-CN" sz="2000" b="1" dirty="0">
                <a:ea typeface="楷体_GB2312" pitchFamily="49" charset="-122"/>
              </a:rPr>
              <a:t>[1]);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exit (0);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}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fpw</a:t>
            </a:r>
            <a:r>
              <a:rPr lang="en-US" altLang="zh-CN" sz="2000" b="1" dirty="0">
                <a:ea typeface="楷体_GB2312" pitchFamily="49" charset="-122"/>
              </a:rPr>
              <a:t> = </a:t>
            </a:r>
            <a:r>
              <a:rPr lang="en-US" altLang="zh-CN" sz="2000" b="1" dirty="0" err="1">
                <a:ea typeface="楷体_GB2312" pitchFamily="49" charset="-122"/>
              </a:rPr>
              <a:t>fopen</a:t>
            </a:r>
            <a:r>
              <a:rPr lang="en-US" altLang="zh-CN" sz="2000" b="1" dirty="0">
                <a:ea typeface="楷体_GB2312" pitchFamily="49" charset="-122"/>
              </a:rPr>
              <a:t> (</a:t>
            </a:r>
            <a:r>
              <a:rPr lang="en-US" altLang="zh-CN" sz="2000" b="1" dirty="0" err="1">
                <a:ea typeface="楷体_GB2312" pitchFamily="49" charset="-122"/>
              </a:rPr>
              <a:t>argv</a:t>
            </a:r>
            <a:r>
              <a:rPr lang="en-US" altLang="zh-CN" sz="2000" b="1" dirty="0">
                <a:ea typeface="楷体_GB2312" pitchFamily="49" charset="-122"/>
              </a:rPr>
              <a:t>[1], "</a:t>
            </a:r>
            <a:r>
              <a:rPr lang="en-US" altLang="zh-CN" sz="2000" b="1" dirty="0" err="1">
                <a:ea typeface="楷体_GB2312" pitchFamily="49" charset="-122"/>
              </a:rPr>
              <a:t>rb</a:t>
            </a:r>
            <a:r>
              <a:rPr lang="en-US" altLang="zh-CN" sz="2000" b="1" dirty="0">
                <a:ea typeface="楷体_GB2312" pitchFamily="49" charset="-122"/>
              </a:rPr>
              <a:t>+");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以读写的方式打开文件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>
                <a:ea typeface="楷体_GB2312" pitchFamily="49" charset="-122"/>
              </a:rPr>
              <a:t>if (</a:t>
            </a:r>
            <a:r>
              <a:rPr lang="en-US" altLang="zh-CN" sz="2000" b="1" dirty="0" err="1">
                <a:ea typeface="楷体_GB2312" pitchFamily="49" charset="-122"/>
              </a:rPr>
              <a:t>fpw</a:t>
            </a:r>
            <a:r>
              <a:rPr lang="en-US" altLang="zh-CN" sz="2000" b="1" dirty="0">
                <a:ea typeface="楷体_GB2312" pitchFamily="49" charset="-122"/>
              </a:rPr>
              <a:t> == NULL)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打开文件失败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>
                <a:ea typeface="楷体_GB2312" pitchFamily="49" charset="-122"/>
              </a:rPr>
              <a:t>{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</a:t>
            </a:r>
            <a:r>
              <a:rPr lang="en-US" altLang="zh-CN" sz="2000" b="1" dirty="0" err="1">
                <a:ea typeface="楷体_GB2312" pitchFamily="49" charset="-122"/>
              </a:rPr>
              <a:t>printf</a:t>
            </a:r>
            <a:r>
              <a:rPr lang="en-US" altLang="zh-CN" sz="2000" b="1" dirty="0">
                <a:ea typeface="楷体_GB2312" pitchFamily="49" charset="-122"/>
              </a:rPr>
              <a:t> ("file: %s not found!\n", </a:t>
            </a:r>
            <a:r>
              <a:rPr lang="en-US" altLang="zh-CN" sz="2000" b="1" dirty="0" err="1">
                <a:ea typeface="楷体_GB2312" pitchFamily="49" charset="-122"/>
              </a:rPr>
              <a:t>argv</a:t>
            </a:r>
            <a:r>
              <a:rPr lang="en-US" altLang="zh-CN" sz="2000" b="1" dirty="0">
                <a:ea typeface="楷体_GB2312" pitchFamily="49" charset="-122"/>
              </a:rPr>
              <a:t>[1]);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exit (0);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}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while ((</a:t>
            </a:r>
            <a:r>
              <a:rPr lang="en-US" altLang="zh-CN" sz="2000" b="1" dirty="0" err="1">
                <a:ea typeface="楷体_GB2312" pitchFamily="49" charset="-122"/>
              </a:rPr>
              <a:t>ch</a:t>
            </a:r>
            <a:r>
              <a:rPr lang="en-US" altLang="zh-CN" sz="2000" b="1" dirty="0">
                <a:ea typeface="楷体_GB2312" pitchFamily="49" charset="-122"/>
              </a:rPr>
              <a:t> = </a:t>
            </a:r>
            <a:r>
              <a:rPr lang="en-US" altLang="zh-CN" sz="2000" b="1" dirty="0" err="1">
                <a:ea typeface="楷体_GB2312" pitchFamily="49" charset="-122"/>
              </a:rPr>
              <a:t>fgetc</a:t>
            </a:r>
            <a:r>
              <a:rPr lang="en-US" altLang="zh-CN" sz="2000" b="1" dirty="0">
                <a:ea typeface="楷体_GB2312" pitchFamily="49" charset="-122"/>
              </a:rPr>
              <a:t>(</a:t>
            </a:r>
            <a:r>
              <a:rPr lang="en-US" altLang="zh-CN" sz="2000" b="1" dirty="0" err="1">
                <a:ea typeface="楷体_GB2312" pitchFamily="49" charset="-122"/>
              </a:rPr>
              <a:t>fpr</a:t>
            </a:r>
            <a:r>
              <a:rPr lang="en-US" altLang="zh-CN" sz="2000" b="1" dirty="0">
                <a:ea typeface="楷体_GB2312" pitchFamily="49" charset="-122"/>
              </a:rPr>
              <a:t>)) != EOF)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{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</a:t>
            </a:r>
            <a:r>
              <a:rPr lang="en-US" altLang="zh-CN" sz="2000" b="1" dirty="0" err="1">
                <a:ea typeface="楷体_GB2312" pitchFamily="49" charset="-122"/>
              </a:rPr>
              <a:t>fputc</a:t>
            </a:r>
            <a:r>
              <a:rPr lang="en-US" altLang="zh-CN" sz="2000" b="1" dirty="0">
                <a:ea typeface="楷体_GB2312" pitchFamily="49" charset="-122"/>
              </a:rPr>
              <a:t> (</a:t>
            </a:r>
            <a:r>
              <a:rPr lang="en-US" altLang="zh-CN" sz="2000" b="1" dirty="0" err="1">
                <a:ea typeface="楷体_GB2312" pitchFamily="49" charset="-122"/>
              </a:rPr>
              <a:t>ch^k</a:t>
            </a:r>
            <a:r>
              <a:rPr lang="en-US" altLang="zh-CN" sz="2000" b="1" dirty="0">
                <a:ea typeface="楷体_GB2312" pitchFamily="49" charset="-122"/>
              </a:rPr>
              <a:t>, </a:t>
            </a:r>
            <a:r>
              <a:rPr lang="en-US" altLang="zh-CN" sz="2000" b="1" dirty="0" err="1">
                <a:ea typeface="楷体_GB2312" pitchFamily="49" charset="-122"/>
              </a:rPr>
              <a:t>fpw</a:t>
            </a:r>
            <a:r>
              <a:rPr lang="en-US" altLang="zh-CN" sz="2000" b="1" dirty="0">
                <a:ea typeface="楷体_GB2312" pitchFamily="49" charset="-122"/>
              </a:rPr>
              <a:t>);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  k = (*</a:t>
            </a:r>
            <a:r>
              <a:rPr lang="en-US" altLang="zh-CN" sz="2000" b="1" dirty="0" err="1">
                <a:ea typeface="楷体_GB2312" pitchFamily="49" charset="-122"/>
              </a:rPr>
              <a:t>argv</a:t>
            </a:r>
            <a:r>
              <a:rPr lang="en-US" altLang="zh-CN" sz="2000" b="1" dirty="0">
                <a:ea typeface="楷体_GB2312" pitchFamily="49" charset="-122"/>
              </a:rPr>
              <a:t>[2] == '+') ? </a:t>
            </a:r>
            <a:r>
              <a:rPr lang="en-US" altLang="zh-CN" sz="2000" b="1" dirty="0" err="1">
                <a:ea typeface="楷体_GB2312" pitchFamily="49" charset="-122"/>
              </a:rPr>
              <a:t>ch</a:t>
            </a:r>
            <a:r>
              <a:rPr lang="en-US" altLang="zh-CN" sz="2000" b="1" dirty="0">
                <a:ea typeface="楷体_GB2312" pitchFamily="49" charset="-122"/>
              </a:rPr>
              <a:t> : </a:t>
            </a:r>
            <a:r>
              <a:rPr lang="en-US" altLang="zh-CN" sz="2000" b="1" dirty="0" err="1">
                <a:ea typeface="楷体_GB2312" pitchFamily="49" charset="-122"/>
              </a:rPr>
              <a:t>ch^k</a:t>
            </a:r>
            <a:r>
              <a:rPr lang="en-US" altLang="zh-CN" sz="2000" b="1" dirty="0">
                <a:ea typeface="楷体_GB2312" pitchFamily="49" charset="-122"/>
              </a:rPr>
              <a:t>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}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fclose</a:t>
            </a:r>
            <a:r>
              <a:rPr lang="en-US" altLang="zh-CN" sz="2000" b="1" dirty="0">
                <a:ea typeface="楷体_GB2312" pitchFamily="49" charset="-122"/>
              </a:rPr>
              <a:t> (</a:t>
            </a:r>
            <a:r>
              <a:rPr lang="en-US" altLang="zh-CN" sz="2000" b="1" dirty="0" err="1">
                <a:ea typeface="楷体_GB2312" pitchFamily="49" charset="-122"/>
              </a:rPr>
              <a:t>fpr</a:t>
            </a:r>
            <a:r>
              <a:rPr lang="en-US" altLang="zh-CN" sz="2000" b="1" dirty="0">
                <a:ea typeface="楷体_GB2312" pitchFamily="49" charset="-122"/>
              </a:rPr>
              <a:t>); 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关闭文件</a:t>
            </a:r>
          </a:p>
          <a:p>
            <a:pPr marL="457200" indent="-457200">
              <a:tabLst>
                <a:tab pos="914400" algn="l"/>
              </a:tabLst>
            </a:pPr>
            <a:r>
              <a:rPr lang="zh-CN" altLang="en-US" sz="2000" b="1" dirty="0">
                <a:ea typeface="楷体_GB2312" pitchFamily="49" charset="-122"/>
              </a:rPr>
              <a:t>  </a:t>
            </a:r>
            <a:r>
              <a:rPr lang="en-US" altLang="zh-CN" sz="2000" b="1" dirty="0" err="1">
                <a:ea typeface="楷体_GB2312" pitchFamily="49" charset="-122"/>
              </a:rPr>
              <a:t>fclose</a:t>
            </a:r>
            <a:r>
              <a:rPr lang="en-US" altLang="zh-CN" sz="2000" b="1" dirty="0">
                <a:ea typeface="楷体_GB2312" pitchFamily="49" charset="-122"/>
              </a:rPr>
              <a:t> (</a:t>
            </a:r>
            <a:r>
              <a:rPr lang="en-US" altLang="zh-CN" sz="2000" b="1" dirty="0" err="1">
                <a:ea typeface="楷体_GB2312" pitchFamily="49" charset="-122"/>
              </a:rPr>
              <a:t>fpw</a:t>
            </a:r>
            <a:r>
              <a:rPr lang="en-US" altLang="zh-CN" sz="2000" b="1" dirty="0">
                <a:ea typeface="楷体_GB2312" pitchFamily="49" charset="-122"/>
              </a:rPr>
              <a:t>);   </a:t>
            </a:r>
            <a:r>
              <a:rPr lang="en-US" altLang="zh-CN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//</a:t>
            </a:r>
            <a:r>
              <a:rPr lang="zh-CN" altLang="en-US" sz="2000" b="1" dirty="0">
                <a:solidFill>
                  <a:srgbClr val="002060"/>
                </a:solidFill>
                <a:latin typeface="+mn-lt"/>
                <a:ea typeface="楷体" pitchFamily="49" charset="-122"/>
              </a:rPr>
              <a:t>关闭文件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  return 0;</a:t>
            </a:r>
          </a:p>
          <a:p>
            <a:pPr marL="457200" indent="-457200">
              <a:tabLst>
                <a:tab pos="914400" algn="l"/>
              </a:tabLst>
            </a:pPr>
            <a:r>
              <a:rPr lang="en-US" altLang="zh-CN" sz="2000" b="1" dirty="0">
                <a:ea typeface="楷体_GB2312" pitchFamily="49" charset="-122"/>
              </a:rPr>
              <a:t>}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AC8861FF-D86A-4F2B-BCA3-FB3652E10C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12.6 </a:t>
            </a:r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文件的定位读写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110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110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1110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1049" grpId="0" animBg="1"/>
      <p:bldP spid="1111046" grpId="0" animBg="1"/>
      <p:bldP spid="111104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094" name="Rectangle 6"/>
          <p:cNvSpPr>
            <a:spLocks noChangeArrowheads="1"/>
          </p:cNvSpPr>
          <p:nvPr/>
        </p:nvSpPr>
        <p:spPr bwMode="auto">
          <a:xfrm>
            <a:off x="1055688" y="928152"/>
            <a:ext cx="10080626" cy="4731360"/>
          </a:xfrm>
          <a:prstGeom prst="rect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3500000" scaled="1"/>
            <a:tileRect/>
          </a:gradFill>
          <a:ln w="38100">
            <a:solidFill>
              <a:srgbClr val="C00000"/>
            </a:solidFill>
            <a:miter lim="800000"/>
            <a:headEnd/>
            <a:tailEnd/>
          </a:ln>
          <a:effectLst>
            <a:outerShdw blurRad="50800" dist="106680" dir="2700000" algn="tl" rotWithShape="0">
              <a:prstClr val="black">
                <a:alpha val="43000"/>
              </a:prstClr>
            </a:outerShdw>
          </a:effectLst>
          <a:scene3d>
            <a:camera prst="orthographicFront"/>
            <a:lightRig rig="threePt" dir="t"/>
          </a:scene3d>
          <a:sp3d>
            <a:bevelT w="114300" prst="hardEdge"/>
          </a:sp3d>
        </p:spPr>
        <p:txBody>
          <a:bodyPr wrap="square" anchor="ctr">
            <a:spAutoFit/>
          </a:bodyPr>
          <a:lstStyle/>
          <a:p>
            <a:pPr marL="342900" indent="-342900">
              <a:lnSpc>
                <a:spcPts val="2800"/>
              </a:lnSpc>
              <a:buClr>
                <a:srgbClr val="C00000"/>
              </a:buClr>
              <a:buFont typeface="Wingdings" panose="05000000000000000000" pitchFamily="2" charset="2"/>
              <a:buChar char="l"/>
              <a:tabLst>
                <a:tab pos="2286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Ｃ系统把文件当作一个“流”，按字节进行处理。 </a:t>
            </a:r>
            <a:endParaRPr lang="en-US" altLang="zh-CN" sz="2000" b="1" dirty="0">
              <a:effectLst>
                <a:outerShdw blurRad="38100" dist="38100" dir="2700000" algn="tl">
                  <a:srgbClr val="FFFFFF"/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lnSpc>
                <a:spcPts val="2800"/>
              </a:lnSpc>
              <a:buClr>
                <a:srgbClr val="C00000"/>
              </a:buClr>
              <a:buFont typeface="Wingdings" panose="05000000000000000000" pitchFamily="2" charset="2"/>
              <a:buChar char="l"/>
              <a:tabLst>
                <a:tab pos="2286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Ｃ文件按编码方式分为二进制文件和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ASCII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文件。</a:t>
            </a:r>
            <a:endParaRPr lang="en-US" altLang="zh-CN" sz="2000" b="1" dirty="0">
              <a:effectLst>
                <a:outerShdw blurRad="38100" dist="38100" dir="2700000" algn="tl">
                  <a:srgbClr val="FFFFFF"/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lnSpc>
                <a:spcPts val="2800"/>
              </a:lnSpc>
              <a:buClr>
                <a:srgbClr val="C00000"/>
              </a:buClr>
              <a:buFont typeface="Wingdings" panose="05000000000000000000" pitchFamily="2" charset="2"/>
              <a:buChar char="l"/>
              <a:tabLst>
                <a:tab pos="2286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Ｃ语言中，用文件指针标识文件，当一个文件被 打开时， 可取得该文件指针。</a:t>
            </a:r>
            <a:endParaRPr lang="en-US" altLang="zh-CN" sz="2000" b="1" dirty="0">
              <a:effectLst>
                <a:outerShdw blurRad="38100" dist="38100" dir="2700000" algn="tl">
                  <a:srgbClr val="FFFFFF"/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lnSpc>
                <a:spcPts val="2800"/>
              </a:lnSpc>
              <a:buClr>
                <a:srgbClr val="C00000"/>
              </a:buClr>
              <a:buFont typeface="Wingdings" panose="05000000000000000000" pitchFamily="2" charset="2"/>
              <a:buChar char="l"/>
              <a:tabLst>
                <a:tab pos="2286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Ｃ语言在对文件进行操作时，必须遵从“打开（创建）──读写──关闭”的操作流程，即首先调用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fopen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函数打开文件，然后调用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fgetc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fputc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fgets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fputs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fread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fwrite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fprintf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fscanf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等函数进行数据读写，最后调用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fclose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函数关闭文件。</a:t>
            </a:r>
            <a:endParaRPr lang="en-US" altLang="zh-CN" sz="2000" b="1" dirty="0">
              <a:effectLst>
                <a:outerShdw blurRad="38100" dist="38100" dir="2700000" algn="tl">
                  <a:srgbClr val="FFFFFF"/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lnSpc>
                <a:spcPts val="2800"/>
              </a:lnSpc>
              <a:buClr>
                <a:srgbClr val="C00000"/>
              </a:buClr>
              <a:buFont typeface="Wingdings" panose="05000000000000000000" pitchFamily="2" charset="2"/>
              <a:buChar char="l"/>
              <a:tabLst>
                <a:tab pos="2286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对文件操作要养成一个好的习惯：打开文件时，一定要检查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fopen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函数返回的文件指针是否是</a:t>
            </a:r>
            <a:r>
              <a:rPr lang="en-US" altLang="zh-CN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NULL</a:t>
            </a: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。如果不做文件指针合法性检查，一旦文件打开失败，就会造成野指针操作，严重时会导致系统崩溃。</a:t>
            </a:r>
            <a:endParaRPr lang="en-US" altLang="zh-CN" sz="2000" b="1" dirty="0">
              <a:effectLst>
                <a:outerShdw blurRad="38100" dist="38100" dir="2700000" algn="tl">
                  <a:srgbClr val="FFFFFF"/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lnSpc>
                <a:spcPts val="2800"/>
              </a:lnSpc>
              <a:buClr>
                <a:srgbClr val="C00000"/>
              </a:buClr>
              <a:buFont typeface="Wingdings" panose="05000000000000000000" pitchFamily="2" charset="2"/>
              <a:buChar char="l"/>
              <a:tabLst>
                <a:tab pos="2286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文件可按只读、只写、读写、追加四种操作方式打开，同时还必须指定文件的类型是二进制文件还是文本文件。</a:t>
            </a:r>
            <a:endParaRPr lang="en-US" altLang="zh-CN" sz="2000" b="1" dirty="0">
              <a:effectLst>
                <a:outerShdw blurRad="38100" dist="38100" dir="2700000" algn="tl">
                  <a:srgbClr val="FFFFFF"/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lnSpc>
                <a:spcPts val="2800"/>
              </a:lnSpc>
              <a:buClr>
                <a:srgbClr val="C00000"/>
              </a:buClr>
              <a:buFont typeface="Wingdings" panose="05000000000000000000" pitchFamily="2" charset="2"/>
              <a:buChar char="l"/>
              <a:tabLst>
                <a:tab pos="2286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文件可按字节，字符串，数据块为单位读写，文件也可按指定的格式进行读写。</a:t>
            </a:r>
            <a:endParaRPr lang="en-US" altLang="zh-CN" sz="2000" b="1" dirty="0">
              <a:effectLst>
                <a:outerShdw blurRad="38100" dist="38100" dir="2700000" algn="tl">
                  <a:srgbClr val="FFFFFF"/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342900" indent="-342900">
              <a:lnSpc>
                <a:spcPts val="2800"/>
              </a:lnSpc>
              <a:buClr>
                <a:srgbClr val="C00000"/>
              </a:buClr>
              <a:buFont typeface="Wingdings" panose="05000000000000000000" pitchFamily="2" charset="2"/>
              <a:buChar char="l"/>
              <a:tabLst>
                <a:tab pos="228600" algn="l"/>
              </a:tabLst>
            </a:pPr>
            <a:r>
              <a:rPr lang="zh-CN" alt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文件内部的位置指针可指示当前的读写位置，移动该指针可以对文件实现随机读写。</a:t>
            </a:r>
          </a:p>
        </p:txBody>
      </p:sp>
      <p:sp>
        <p:nvSpPr>
          <p:cNvPr id="1113095" name="Rectangle 7"/>
          <p:cNvSpPr>
            <a:spLocks noChangeArrowheads="1"/>
          </p:cNvSpPr>
          <p:nvPr/>
        </p:nvSpPr>
        <p:spPr bwMode="auto">
          <a:xfrm>
            <a:off x="1055688" y="6097215"/>
            <a:ext cx="7921625" cy="461665"/>
          </a:xfrm>
          <a:prstGeom prst="rect">
            <a:avLst/>
          </a:prstGeom>
          <a:solidFill>
            <a:srgbClr val="C00000"/>
          </a:solidFill>
          <a:ln w="2857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习题</a:t>
            </a:r>
            <a:r>
              <a:rPr lang="en-US" altLang="zh-CN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12</a:t>
            </a:r>
            <a:r>
              <a:rPr lang="zh-CN" altLang="en-US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：</a:t>
            </a:r>
            <a:r>
              <a:rPr lang="en-US" altLang="zh-CN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1</a:t>
            </a:r>
            <a:r>
              <a:rPr lang="zh-CN" altLang="en-US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、</a:t>
            </a:r>
            <a:r>
              <a:rPr lang="en-US" altLang="zh-CN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2</a:t>
            </a:r>
            <a:r>
              <a:rPr lang="zh-CN" altLang="en-US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、</a:t>
            </a:r>
            <a:r>
              <a:rPr lang="en-US" altLang="zh-CN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3</a:t>
            </a:r>
            <a:r>
              <a:rPr lang="zh-CN" altLang="en-US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（</a:t>
            </a:r>
            <a:r>
              <a:rPr lang="en-US" altLang="zh-CN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2</a:t>
            </a:r>
            <a:r>
              <a:rPr lang="zh-CN" altLang="en-US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、</a:t>
            </a:r>
            <a:r>
              <a:rPr lang="en-US" altLang="zh-CN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3</a:t>
            </a:r>
            <a:r>
              <a:rPr lang="zh-CN" altLang="en-US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、</a:t>
            </a:r>
            <a:r>
              <a:rPr lang="en-US" altLang="zh-CN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4</a:t>
            </a:r>
            <a:r>
              <a:rPr lang="zh-CN" altLang="en-US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）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C1B675F4-5B99-4FF4-A8E0-1B91E5588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92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zh-CN" altLang="en-US" sz="3200" b="1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ˎ̥"/>
              </a:rPr>
              <a:t>本章小结</a:t>
            </a:r>
          </a:p>
        </p:txBody>
      </p:sp>
    </p:spTree>
  </p:cSld>
  <p:clrMapOvr>
    <a:masterClrMapping/>
  </p:clrMapOvr>
  <p:transition>
    <p:cover/>
    <p:sndAc>
      <p:stSnd>
        <p:snd r:embed="rId3" name="CAMER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130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11130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3094" grpId="0" animBg="1"/>
      <p:bldP spid="111309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图示&#10;&#10;描述已自动生成">
            <a:extLst>
              <a:ext uri="{FF2B5EF4-FFF2-40B4-BE49-F238E27FC236}">
                <a16:creationId xmlns:a16="http://schemas.microsoft.com/office/drawing/2014/main" id="{6786D2E8-A965-4475-ABFD-4583DDBBFEB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576" y="1241757"/>
            <a:ext cx="7776864" cy="437448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6D1ECF0-97FF-4328-931A-88315164A5A3}"/>
              </a:ext>
            </a:extLst>
          </p:cNvPr>
          <p:cNvSpPr txBox="1"/>
          <p:nvPr/>
        </p:nvSpPr>
        <p:spPr>
          <a:xfrm>
            <a:off x="1883532" y="5877272"/>
            <a:ext cx="8424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本课件版权归清华大学出版社所有，仅提供教师教学使用，其他用途一律视为侵权</a:t>
            </a:r>
          </a:p>
        </p:txBody>
      </p:sp>
    </p:spTree>
    <p:extLst>
      <p:ext uri="{BB962C8B-B14F-4D97-AF65-F5344CB8AC3E}">
        <p14:creationId xmlns:p14="http://schemas.microsoft.com/office/powerpoint/2010/main" val="251817966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22636</TotalTime>
  <Words>19182</Words>
  <Application>Microsoft Office PowerPoint</Application>
  <PresentationFormat>宽屏</PresentationFormat>
  <Paragraphs>2410</Paragraphs>
  <Slides>41</Slides>
  <Notes>38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49" baseType="lpstr">
      <vt:lpstr>楷体</vt:lpstr>
      <vt:lpstr>楷体_GB2312</vt:lpstr>
      <vt:lpstr>隶书</vt:lpstr>
      <vt:lpstr>思源黑体 CN Heavy</vt:lpstr>
      <vt:lpstr>宋体</vt:lpstr>
      <vt:lpstr>Times New Roman</vt:lpstr>
      <vt:lpstr>Wingdings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software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yanweimin</dc:creator>
  <cp:lastModifiedBy>A83381</cp:lastModifiedBy>
  <cp:revision>1662</cp:revision>
  <dcterms:created xsi:type="dcterms:W3CDTF">1999-05-31T10:27:02Z</dcterms:created>
  <dcterms:modified xsi:type="dcterms:W3CDTF">2022-06-13T02:15:29Z</dcterms:modified>
</cp:coreProperties>
</file>