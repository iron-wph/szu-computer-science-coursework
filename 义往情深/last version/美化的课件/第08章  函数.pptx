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5"/>
  </p:notesMasterIdLst>
  <p:sldIdLst>
    <p:sldId id="818" r:id="rId2"/>
    <p:sldId id="593" r:id="rId3"/>
    <p:sldId id="872" r:id="rId4"/>
    <p:sldId id="765" r:id="rId5"/>
    <p:sldId id="824" r:id="rId6"/>
    <p:sldId id="766" r:id="rId7"/>
    <p:sldId id="769" r:id="rId8"/>
    <p:sldId id="770" r:id="rId9"/>
    <p:sldId id="771" r:id="rId10"/>
    <p:sldId id="873" r:id="rId11"/>
    <p:sldId id="772" r:id="rId12"/>
    <p:sldId id="773" r:id="rId13"/>
    <p:sldId id="774" r:id="rId14"/>
    <p:sldId id="775" r:id="rId15"/>
    <p:sldId id="776" r:id="rId16"/>
    <p:sldId id="777" r:id="rId17"/>
    <p:sldId id="778" r:id="rId18"/>
    <p:sldId id="779" r:id="rId19"/>
    <p:sldId id="780" r:id="rId20"/>
    <p:sldId id="781" r:id="rId21"/>
    <p:sldId id="782" r:id="rId22"/>
    <p:sldId id="783" r:id="rId23"/>
    <p:sldId id="784" r:id="rId24"/>
    <p:sldId id="785" r:id="rId25"/>
    <p:sldId id="786" r:id="rId26"/>
    <p:sldId id="787" r:id="rId27"/>
    <p:sldId id="788" r:id="rId28"/>
    <p:sldId id="789" r:id="rId29"/>
    <p:sldId id="790" r:id="rId30"/>
    <p:sldId id="791" r:id="rId31"/>
    <p:sldId id="792" r:id="rId32"/>
    <p:sldId id="793" r:id="rId33"/>
    <p:sldId id="794" r:id="rId34"/>
    <p:sldId id="795" r:id="rId35"/>
    <p:sldId id="796" r:id="rId36"/>
    <p:sldId id="797" r:id="rId37"/>
    <p:sldId id="798" r:id="rId38"/>
    <p:sldId id="831" r:id="rId39"/>
    <p:sldId id="830" r:id="rId40"/>
    <p:sldId id="799" r:id="rId41"/>
    <p:sldId id="800" r:id="rId42"/>
    <p:sldId id="801" r:id="rId43"/>
    <p:sldId id="802" r:id="rId44"/>
    <p:sldId id="803" r:id="rId45"/>
    <p:sldId id="804" r:id="rId46"/>
    <p:sldId id="805" r:id="rId47"/>
    <p:sldId id="806" r:id="rId48"/>
    <p:sldId id="807" r:id="rId49"/>
    <p:sldId id="808" r:id="rId50"/>
    <p:sldId id="809" r:id="rId51"/>
    <p:sldId id="833" r:id="rId52"/>
    <p:sldId id="810" r:id="rId53"/>
    <p:sldId id="811" r:id="rId54"/>
    <p:sldId id="812" r:id="rId55"/>
    <p:sldId id="813" r:id="rId56"/>
    <p:sldId id="814" r:id="rId57"/>
    <p:sldId id="815" r:id="rId58"/>
    <p:sldId id="816" r:id="rId59"/>
    <p:sldId id="817" r:id="rId60"/>
    <p:sldId id="834" r:id="rId61"/>
    <p:sldId id="835" r:id="rId62"/>
    <p:sldId id="856" r:id="rId63"/>
    <p:sldId id="857" r:id="rId64"/>
    <p:sldId id="859" r:id="rId65"/>
    <p:sldId id="860" r:id="rId66"/>
    <p:sldId id="820" r:id="rId67"/>
    <p:sldId id="821" r:id="rId68"/>
    <p:sldId id="832" r:id="rId69"/>
    <p:sldId id="861" r:id="rId70"/>
    <p:sldId id="836" r:id="rId71"/>
    <p:sldId id="837" r:id="rId72"/>
    <p:sldId id="838" r:id="rId73"/>
    <p:sldId id="839" r:id="rId74"/>
    <p:sldId id="840" r:id="rId75"/>
    <p:sldId id="841" r:id="rId76"/>
    <p:sldId id="842" r:id="rId77"/>
    <p:sldId id="843" r:id="rId78"/>
    <p:sldId id="844" r:id="rId79"/>
    <p:sldId id="845" r:id="rId80"/>
    <p:sldId id="846" r:id="rId81"/>
    <p:sldId id="847" r:id="rId82"/>
    <p:sldId id="848" r:id="rId83"/>
    <p:sldId id="849" r:id="rId84"/>
    <p:sldId id="850" r:id="rId85"/>
    <p:sldId id="852" r:id="rId86"/>
    <p:sldId id="851" r:id="rId87"/>
    <p:sldId id="853" r:id="rId88"/>
    <p:sldId id="854" r:id="rId89"/>
    <p:sldId id="862" r:id="rId90"/>
    <p:sldId id="863" r:id="rId91"/>
    <p:sldId id="864" r:id="rId92"/>
    <p:sldId id="865" r:id="rId93"/>
    <p:sldId id="825" r:id="rId94"/>
    <p:sldId id="826" r:id="rId95"/>
    <p:sldId id="866" r:id="rId96"/>
    <p:sldId id="867" r:id="rId97"/>
    <p:sldId id="868" r:id="rId98"/>
    <p:sldId id="869" r:id="rId99"/>
    <p:sldId id="870" r:id="rId100"/>
    <p:sldId id="871" r:id="rId101"/>
    <p:sldId id="827" r:id="rId102"/>
    <p:sldId id="828" r:id="rId103"/>
    <p:sldId id="819" r:id="rId104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85" userDrawn="1">
          <p15:clr>
            <a:srgbClr val="A4A3A4"/>
          </p15:clr>
        </p15:guide>
        <p15:guide id="4" pos="982" userDrawn="1">
          <p15:clr>
            <a:srgbClr val="A4A3A4"/>
          </p15:clr>
        </p15:guide>
        <p15:guide id="5" pos="7197" userDrawn="1">
          <p15:clr>
            <a:srgbClr val="A4A3A4"/>
          </p15:clr>
        </p15:guide>
        <p15:guide id="6" pos="574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EDFC4"/>
    <a:srgbClr val="C01920"/>
    <a:srgbClr val="CFCFD1"/>
    <a:srgbClr val="CF0D9E"/>
    <a:srgbClr val="F0E5B7"/>
    <a:srgbClr val="BD6368"/>
    <a:srgbClr val="DDFAED"/>
    <a:srgbClr val="BAA1B9"/>
    <a:srgbClr val="9CF7FF"/>
    <a:srgbClr val="0909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17" autoAdjust="0"/>
    <p:restoredTop sz="87221" autoAdjust="0"/>
  </p:normalViewPr>
  <p:slideViewPr>
    <p:cSldViewPr>
      <p:cViewPr varScale="1">
        <p:scale>
          <a:sx n="72" d="100"/>
          <a:sy n="72" d="100"/>
        </p:scale>
        <p:origin x="1186" y="48"/>
      </p:cViewPr>
      <p:guideLst>
        <p:guide pos="3885"/>
        <p:guide pos="982"/>
        <p:guide pos="7197"/>
        <p:guide pos="574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viewProps" Target="view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theme" Target="theme/theme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ableStyles" Target="tableStyle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2539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2539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539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539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2539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776E37FF-4EAF-470E-BD31-3D917444AAAA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6E37FF-4EAF-470E-BD31-3D917444AAAA}" type="slidenum">
              <a:rPr lang="en-US" altLang="zh-CN" smtClean="0"/>
              <a:pPr/>
              <a:t>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731230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6E37FF-4EAF-470E-BD31-3D917444AAAA}" type="slidenum">
              <a:rPr lang="en-US" altLang="zh-CN" smtClean="0"/>
              <a:pPr/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13545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6E37FF-4EAF-470E-BD31-3D917444AAAA}" type="slidenum">
              <a:rPr lang="en-US" altLang="zh-CN" smtClean="0"/>
              <a:pPr/>
              <a:t>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103685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5938BE8-531F-4030-B1F1-4ED38DC7F3CE}" type="slidenum">
              <a:rPr lang="en-US" altLang="zh-CN"/>
              <a:pPr/>
              <a:t>6</a:t>
            </a:fld>
            <a:endParaRPr lang="en-US" altLang="zh-CN"/>
          </a:p>
        </p:txBody>
      </p:sp>
      <p:sp>
        <p:nvSpPr>
          <p:cNvPr id="959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59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8486642-9806-41FB-A1D6-AFF5712577CD}" type="slidenum">
              <a:rPr lang="en-US" altLang="zh-CN"/>
              <a:pPr/>
              <a:t>7</a:t>
            </a:fld>
            <a:endParaRPr lang="en-US" altLang="zh-CN"/>
          </a:p>
        </p:txBody>
      </p:sp>
      <p:sp>
        <p:nvSpPr>
          <p:cNvPr id="1026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6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009DE49-5438-49CD-9395-A13CE6D7F0EC}" type="slidenum">
              <a:rPr lang="en-US" altLang="zh-CN"/>
              <a:pPr/>
              <a:t>8</a:t>
            </a:fld>
            <a:endParaRPr lang="en-US" altLang="zh-CN"/>
          </a:p>
        </p:txBody>
      </p:sp>
      <p:sp>
        <p:nvSpPr>
          <p:cNvPr id="1030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30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1A9B09E-BB6D-4F99-B036-7C2B5DCD56CF}" type="slidenum">
              <a:rPr lang="en-US" altLang="zh-CN"/>
              <a:pPr/>
              <a:t>9</a:t>
            </a:fld>
            <a:endParaRPr lang="en-US" altLang="zh-CN"/>
          </a:p>
        </p:txBody>
      </p:sp>
      <p:sp>
        <p:nvSpPr>
          <p:cNvPr id="1032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32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1A9B09E-BB6D-4F99-B036-7C2B5DCD56CF}" type="slidenum">
              <a:rPr lang="en-US" altLang="zh-CN"/>
              <a:pPr/>
              <a:t>10</a:t>
            </a:fld>
            <a:endParaRPr lang="en-US" altLang="zh-CN"/>
          </a:p>
        </p:txBody>
      </p:sp>
      <p:sp>
        <p:nvSpPr>
          <p:cNvPr id="1032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32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648535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30904AB-7837-4A6E-8715-5D76AF5BF023}" type="slidenum">
              <a:rPr lang="en-US" altLang="zh-CN"/>
              <a:pPr/>
              <a:t>11</a:t>
            </a:fld>
            <a:endParaRPr lang="en-US" altLang="zh-CN"/>
          </a:p>
        </p:txBody>
      </p:sp>
      <p:sp>
        <p:nvSpPr>
          <p:cNvPr id="1034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34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E1FEB32-0C74-432B-8B4F-A04D85AD0252}" type="slidenum">
              <a:rPr lang="en-US" altLang="zh-CN"/>
              <a:pPr/>
              <a:t>12</a:t>
            </a:fld>
            <a:endParaRPr lang="en-US" altLang="zh-CN"/>
          </a:p>
        </p:txBody>
      </p:sp>
      <p:sp>
        <p:nvSpPr>
          <p:cNvPr id="1036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36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995566C-812E-4BC8-AD0C-AF594C282578}" type="slidenum">
              <a:rPr lang="en-US" altLang="zh-CN"/>
              <a:pPr/>
              <a:t>13</a:t>
            </a:fld>
            <a:endParaRPr lang="en-US" altLang="zh-CN"/>
          </a:p>
        </p:txBody>
      </p:sp>
      <p:sp>
        <p:nvSpPr>
          <p:cNvPr id="1038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38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A0F3130-4238-4506-84E6-5E6780887583}" type="slidenum">
              <a:rPr lang="en-US" altLang="zh-CN"/>
              <a:pPr/>
              <a:t>14</a:t>
            </a:fld>
            <a:endParaRPr lang="en-US" altLang="zh-CN"/>
          </a:p>
        </p:txBody>
      </p:sp>
      <p:sp>
        <p:nvSpPr>
          <p:cNvPr id="1040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40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5F63F94-DA95-4D72-B313-CBAF2B853ACC}" type="slidenum">
              <a:rPr lang="en-US" altLang="zh-CN"/>
              <a:pPr/>
              <a:t>15</a:t>
            </a:fld>
            <a:endParaRPr lang="en-US" altLang="zh-CN"/>
          </a:p>
        </p:txBody>
      </p:sp>
      <p:sp>
        <p:nvSpPr>
          <p:cNvPr id="1042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42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589102A-6E35-48AF-9CA4-CCA23B0D4694}" type="slidenum">
              <a:rPr lang="en-US" altLang="zh-CN"/>
              <a:pPr/>
              <a:t>16</a:t>
            </a:fld>
            <a:endParaRPr lang="en-US" altLang="zh-CN"/>
          </a:p>
        </p:txBody>
      </p:sp>
      <p:sp>
        <p:nvSpPr>
          <p:cNvPr id="1044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44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C32B4C1-5911-4429-96EA-C5724E60B0CA}" type="slidenum">
              <a:rPr lang="en-US" altLang="zh-CN"/>
              <a:pPr/>
              <a:t>17</a:t>
            </a:fld>
            <a:endParaRPr lang="en-US" altLang="zh-CN"/>
          </a:p>
        </p:txBody>
      </p:sp>
      <p:sp>
        <p:nvSpPr>
          <p:cNvPr id="1046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46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A3933A3-65B1-4AC1-8D3B-914387A378A5}" type="slidenum">
              <a:rPr lang="en-US" altLang="zh-CN"/>
              <a:pPr/>
              <a:t>18</a:t>
            </a:fld>
            <a:endParaRPr lang="en-US" altLang="zh-CN"/>
          </a:p>
        </p:txBody>
      </p:sp>
      <p:sp>
        <p:nvSpPr>
          <p:cNvPr id="1048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48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AF1D85-BE8F-4EB8-934B-EC93DBCEBCAA}" type="slidenum">
              <a:rPr lang="en-US" altLang="zh-CN"/>
              <a:pPr/>
              <a:t>19</a:t>
            </a:fld>
            <a:endParaRPr lang="en-US" altLang="zh-CN"/>
          </a:p>
        </p:txBody>
      </p:sp>
      <p:sp>
        <p:nvSpPr>
          <p:cNvPr id="1050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50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9BD0D-60E7-453D-901D-7800B45482EF}" type="slidenum">
              <a:rPr lang="en-US" altLang="zh-CN"/>
              <a:pPr/>
              <a:t>22</a:t>
            </a:fld>
            <a:endParaRPr lang="en-US" altLang="zh-CN"/>
          </a:p>
        </p:txBody>
      </p:sp>
      <p:sp>
        <p:nvSpPr>
          <p:cNvPr id="1054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54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5FA2DAB-19C2-42A7-9E50-4A375AC0B3D4}" type="slidenum">
              <a:rPr lang="en-US" altLang="zh-CN"/>
              <a:pPr/>
              <a:t>24</a:t>
            </a:fld>
            <a:endParaRPr lang="en-US" altLang="zh-CN"/>
          </a:p>
        </p:txBody>
      </p:sp>
      <p:sp>
        <p:nvSpPr>
          <p:cNvPr id="1057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57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2E038D5-33A4-4118-9168-B06234D9960C}" type="slidenum">
              <a:rPr lang="en-US" altLang="zh-CN"/>
              <a:pPr/>
              <a:t>27</a:t>
            </a:fld>
            <a:endParaRPr lang="en-US" altLang="zh-CN"/>
          </a:p>
        </p:txBody>
      </p:sp>
      <p:sp>
        <p:nvSpPr>
          <p:cNvPr id="1061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61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961B903-4B70-4C87-8D29-05146E07AF2C}" type="slidenum">
              <a:rPr lang="en-US" altLang="zh-CN"/>
              <a:pPr/>
              <a:t>28</a:t>
            </a:fld>
            <a:endParaRPr lang="en-US" altLang="zh-CN"/>
          </a:p>
        </p:txBody>
      </p:sp>
      <p:sp>
        <p:nvSpPr>
          <p:cNvPr id="1063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63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76BD14C-31EF-494E-B458-07B49F661C11}" type="slidenum">
              <a:rPr lang="en-US" altLang="zh-CN"/>
              <a:pPr/>
              <a:t>29</a:t>
            </a:fld>
            <a:endParaRPr lang="en-US" altLang="zh-CN"/>
          </a:p>
        </p:txBody>
      </p:sp>
      <p:sp>
        <p:nvSpPr>
          <p:cNvPr id="1065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65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21C4F22-E42C-4342-8D8A-A741442279B1}" type="slidenum">
              <a:rPr lang="en-US" altLang="zh-CN"/>
              <a:pPr/>
              <a:t>30</a:t>
            </a:fld>
            <a:endParaRPr lang="en-US" altLang="zh-CN"/>
          </a:p>
        </p:txBody>
      </p:sp>
      <p:sp>
        <p:nvSpPr>
          <p:cNvPr id="1068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68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76DE1D-199F-4CB7-BABC-91C78171521B}" type="slidenum">
              <a:rPr lang="en-US" altLang="zh-CN"/>
              <a:pPr/>
              <a:t>31</a:t>
            </a:fld>
            <a:endParaRPr lang="en-US" altLang="zh-CN"/>
          </a:p>
        </p:txBody>
      </p:sp>
      <p:sp>
        <p:nvSpPr>
          <p:cNvPr id="1070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70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B41C8C9-8EE5-4488-BDA2-7136183A4A57}" type="slidenum">
              <a:rPr lang="en-US" altLang="zh-CN"/>
              <a:pPr/>
              <a:t>32</a:t>
            </a:fld>
            <a:endParaRPr lang="en-US" altLang="zh-CN"/>
          </a:p>
        </p:txBody>
      </p:sp>
      <p:sp>
        <p:nvSpPr>
          <p:cNvPr id="1072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72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DC46C54-CCF4-4A1E-B464-379FD3B2B1EE}" type="slidenum">
              <a:rPr lang="en-US" altLang="zh-CN"/>
              <a:pPr/>
              <a:t>33</a:t>
            </a:fld>
            <a:endParaRPr lang="en-US" altLang="zh-CN"/>
          </a:p>
        </p:txBody>
      </p:sp>
      <p:sp>
        <p:nvSpPr>
          <p:cNvPr id="1074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74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2705853-54DA-4FBB-A0F4-0671261FF5E3}" type="slidenum">
              <a:rPr lang="en-US" altLang="zh-CN"/>
              <a:pPr/>
              <a:t>34</a:t>
            </a:fld>
            <a:endParaRPr lang="en-US" altLang="zh-CN"/>
          </a:p>
        </p:txBody>
      </p:sp>
      <p:sp>
        <p:nvSpPr>
          <p:cNvPr id="1076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76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DA99B00-AFEA-471E-BD51-7D14D855FD90}" type="slidenum">
              <a:rPr lang="en-US" altLang="zh-CN"/>
              <a:pPr/>
              <a:t>35</a:t>
            </a:fld>
            <a:endParaRPr lang="en-US" altLang="zh-CN"/>
          </a:p>
        </p:txBody>
      </p:sp>
      <p:sp>
        <p:nvSpPr>
          <p:cNvPr id="1078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78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ECCDFF3-0E7A-454F-9358-16DE199F6126}" type="slidenum">
              <a:rPr lang="en-US" altLang="zh-CN"/>
              <a:pPr/>
              <a:t>36</a:t>
            </a:fld>
            <a:endParaRPr lang="en-US" altLang="zh-CN"/>
          </a:p>
        </p:txBody>
      </p:sp>
      <p:sp>
        <p:nvSpPr>
          <p:cNvPr id="1080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80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AD5B520-7064-4799-8074-328497A3D6BE}" type="slidenum">
              <a:rPr lang="en-US" altLang="zh-CN"/>
              <a:pPr/>
              <a:t>37</a:t>
            </a:fld>
            <a:endParaRPr lang="en-US" altLang="zh-CN"/>
          </a:p>
        </p:txBody>
      </p:sp>
      <p:sp>
        <p:nvSpPr>
          <p:cNvPr id="1082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82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8390E10-029D-40B1-B7DA-DF5E22209245}" type="slidenum">
              <a:rPr lang="en-US" altLang="zh-CN"/>
              <a:pPr/>
              <a:t>38</a:t>
            </a:fld>
            <a:endParaRPr lang="en-US" altLang="zh-CN"/>
          </a:p>
        </p:txBody>
      </p:sp>
      <p:sp>
        <p:nvSpPr>
          <p:cNvPr id="1128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28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8EC5C7F-B62C-47B9-8D72-DA6FD087F866}" type="slidenum">
              <a:rPr lang="en-US" altLang="zh-CN"/>
              <a:pPr/>
              <a:t>39</a:t>
            </a:fld>
            <a:endParaRPr lang="en-US" altLang="zh-CN"/>
          </a:p>
        </p:txBody>
      </p:sp>
      <p:sp>
        <p:nvSpPr>
          <p:cNvPr id="1126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26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38353E3-4037-4403-A8B7-28BB90661ACB}" type="slidenum">
              <a:rPr lang="en-US" altLang="zh-CN"/>
              <a:pPr/>
              <a:t>40</a:t>
            </a:fld>
            <a:endParaRPr lang="en-US" altLang="zh-CN"/>
          </a:p>
        </p:txBody>
      </p:sp>
      <p:sp>
        <p:nvSpPr>
          <p:cNvPr id="1084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84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 dirty="0"/>
              <a:t>1946</a:t>
            </a:r>
            <a:r>
              <a:rPr lang="zh-CN" altLang="en-US" dirty="0"/>
              <a:t>年，第一台电子计算机问世，应用领域迅速扩大，软硬件飞速发展，程序设计语言相继问世。</a:t>
            </a:r>
          </a:p>
          <a:p>
            <a:r>
              <a:rPr lang="zh-CN" altLang="en-US" dirty="0"/>
              <a:t>程序设计语言</a:t>
            </a:r>
            <a:r>
              <a:rPr lang="en-US" altLang="zh-CN" dirty="0"/>
              <a:t>:</a:t>
            </a:r>
            <a:r>
              <a:rPr lang="zh-CN" altLang="en-US" dirty="0"/>
              <a:t>将自然语言形式化为有格式的语言</a:t>
            </a:r>
          </a:p>
          <a:p>
            <a:r>
              <a:rPr lang="en-US" altLang="zh-CN" dirty="0"/>
              <a:t>1</a:t>
            </a:r>
            <a:r>
              <a:rPr lang="zh-CN" altLang="en-US" dirty="0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 dirty="0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 dirty="0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 dirty="0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 dirty="0"/>
              <a:t>将在</a:t>
            </a:r>
            <a:r>
              <a:rPr lang="en-US" altLang="zh-CN" dirty="0"/>
              <a:t>《</a:t>
            </a:r>
            <a:r>
              <a:rPr lang="zh-CN" altLang="en-US" dirty="0"/>
              <a:t>计算机组成</a:t>
            </a:r>
            <a:r>
              <a:rPr lang="en-US" altLang="zh-CN" dirty="0"/>
              <a:t>》</a:t>
            </a:r>
            <a:r>
              <a:rPr lang="zh-CN" altLang="en-US" dirty="0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 dirty="0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 dirty="0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 dirty="0"/>
              <a:t>指令是不可分割的最小功能单元</a:t>
            </a:r>
          </a:p>
          <a:p>
            <a:r>
              <a:rPr lang="zh-CN" altLang="en-US" dirty="0"/>
              <a:t>定义：一种</a:t>
            </a:r>
            <a:r>
              <a:rPr lang="en-US" altLang="zh-CN" dirty="0"/>
              <a:t>CPU</a:t>
            </a:r>
            <a:r>
              <a:rPr lang="zh-CN" altLang="en-US" dirty="0"/>
              <a:t>的指令系统，由该</a:t>
            </a:r>
            <a:r>
              <a:rPr lang="en-US" altLang="zh-CN" dirty="0"/>
              <a:t>CPU</a:t>
            </a:r>
            <a:r>
              <a:rPr lang="zh-CN" altLang="en-US" dirty="0"/>
              <a:t>可识别的</a:t>
            </a:r>
            <a:r>
              <a:rPr lang="en-US" altLang="zh-CN" dirty="0"/>
              <a:t>0</a:t>
            </a:r>
            <a:r>
              <a:rPr lang="zh-CN" altLang="en-US" dirty="0"/>
              <a:t>、</a:t>
            </a:r>
            <a:r>
              <a:rPr lang="en-US" altLang="zh-CN" dirty="0"/>
              <a:t>1</a:t>
            </a:r>
            <a:r>
              <a:rPr lang="zh-CN" altLang="en-US" dirty="0"/>
              <a:t>序列构成的指令码组成。</a:t>
            </a:r>
          </a:p>
          <a:p>
            <a:r>
              <a:rPr lang="zh-CN" altLang="en-US" dirty="0"/>
              <a:t>特点：</a:t>
            </a:r>
          </a:p>
          <a:p>
            <a:r>
              <a:rPr lang="zh-CN" altLang="en-US" dirty="0"/>
              <a:t>执行效率高</a:t>
            </a:r>
          </a:p>
          <a:p>
            <a:r>
              <a:rPr lang="zh-CN" altLang="en-US" dirty="0"/>
              <a:t>不直观，不易查错，生产效率低。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。汇编语言</a:t>
            </a:r>
          </a:p>
          <a:p>
            <a:r>
              <a:rPr lang="zh-CN" altLang="en-US" dirty="0"/>
              <a:t>定义：用助记符号描述的指令系统</a:t>
            </a:r>
          </a:p>
          <a:p>
            <a:r>
              <a:rPr lang="zh-CN" altLang="en-US" dirty="0"/>
              <a:t>特点：</a:t>
            </a:r>
          </a:p>
          <a:p>
            <a:r>
              <a:rPr lang="zh-CN" altLang="en-US" dirty="0"/>
              <a:t>生产效率高，质量好，执行效率较高；</a:t>
            </a:r>
          </a:p>
          <a:p>
            <a:r>
              <a:rPr lang="zh-CN" altLang="en-US" dirty="0"/>
              <a:t>要经汇编程序汇编成目标程序（机器语言）才能执行，依赖硬件。</a:t>
            </a:r>
          </a:p>
          <a:p>
            <a:r>
              <a:rPr lang="zh-CN" altLang="en-US" dirty="0"/>
              <a:t>（面向机器的语言</a:t>
            </a:r>
            <a:r>
              <a:rPr lang="en-US" altLang="zh-CN" dirty="0"/>
              <a:t>----</a:t>
            </a:r>
            <a:r>
              <a:rPr lang="zh-CN" altLang="en-US" dirty="0"/>
              <a:t>依</a:t>
            </a:r>
            <a:r>
              <a:rPr lang="en-US" altLang="zh-CN" dirty="0"/>
              <a:t>CPU</a:t>
            </a:r>
            <a:r>
              <a:rPr lang="zh-CN" altLang="en-US" dirty="0"/>
              <a:t>不同而异）</a:t>
            </a:r>
          </a:p>
          <a:p>
            <a:r>
              <a:rPr lang="en-US" altLang="zh-CN" dirty="0"/>
              <a:t>3</a:t>
            </a:r>
            <a:r>
              <a:rPr lang="zh-CN" altLang="en-US" dirty="0"/>
              <a:t>。高级语言</a:t>
            </a:r>
          </a:p>
          <a:p>
            <a:r>
              <a:rPr lang="zh-CN" altLang="en-US" dirty="0"/>
              <a:t>特点：</a:t>
            </a:r>
          </a:p>
          <a:p>
            <a:r>
              <a:rPr lang="zh-CN" altLang="en-US" dirty="0"/>
              <a:t>编程效率高，不必考虑硬件；</a:t>
            </a:r>
          </a:p>
          <a:p>
            <a:r>
              <a:rPr lang="zh-CN" altLang="en-US" dirty="0"/>
              <a:t>执行效率低，要经编译、连接后才能执行。</a:t>
            </a:r>
          </a:p>
          <a:p>
            <a:r>
              <a:rPr lang="zh-CN" altLang="en-US" dirty="0"/>
              <a:t>面向过程的程序设计语言</a:t>
            </a:r>
          </a:p>
          <a:p>
            <a:r>
              <a:rPr lang="zh-CN" altLang="en-US" dirty="0"/>
              <a:t>认为解题过程是数据被加工的过程</a:t>
            </a:r>
          </a:p>
          <a:p>
            <a:r>
              <a:rPr lang="zh-CN" altLang="en-US" dirty="0"/>
              <a:t>程序</a:t>
            </a:r>
            <a:r>
              <a:rPr lang="en-US" altLang="zh-CN" dirty="0"/>
              <a:t>=</a:t>
            </a:r>
            <a:r>
              <a:rPr lang="zh-CN" altLang="en-US" dirty="0"/>
              <a:t>数据结构</a:t>
            </a:r>
            <a:r>
              <a:rPr lang="en-US" altLang="zh-CN" dirty="0"/>
              <a:t>+</a:t>
            </a:r>
            <a:r>
              <a:rPr lang="zh-CN" altLang="en-US" dirty="0"/>
              <a:t>算法</a:t>
            </a:r>
          </a:p>
          <a:p>
            <a:r>
              <a:rPr lang="en-US" altLang="zh-CN" dirty="0"/>
              <a:t>C</a:t>
            </a:r>
            <a:r>
              <a:rPr lang="zh-CN" altLang="en-US" dirty="0"/>
              <a:t>语言是面向过程的高级语言</a:t>
            </a:r>
          </a:p>
          <a:p>
            <a:r>
              <a:rPr lang="zh-CN" altLang="en-US" dirty="0"/>
              <a:t>           面向对象的程序设计语言</a:t>
            </a:r>
          </a:p>
          <a:p>
            <a:r>
              <a:rPr lang="zh-CN" altLang="en-US" dirty="0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 dirty="0"/>
              <a:t>特点：比面向过程的语言更清晰、易懂，适宜编更大规模程序，是程序设计的主流</a:t>
            </a:r>
          </a:p>
          <a:p>
            <a:endParaRPr lang="zh-CN" altLang="en-US" dirty="0"/>
          </a:p>
          <a:p>
            <a:r>
              <a:rPr lang="zh-CN" altLang="en-US" dirty="0"/>
              <a:t>程序设计语言基本成分：</a:t>
            </a:r>
          </a:p>
          <a:p>
            <a:r>
              <a:rPr lang="zh-CN" altLang="en-US" dirty="0"/>
              <a:t>。数据成分</a:t>
            </a:r>
          </a:p>
          <a:p>
            <a:r>
              <a:rPr lang="zh-CN" altLang="en-US" dirty="0"/>
              <a:t>。运算成分</a:t>
            </a:r>
          </a:p>
          <a:p>
            <a:r>
              <a:rPr lang="zh-CN" altLang="en-US" dirty="0"/>
              <a:t>。控制成分</a:t>
            </a:r>
          </a:p>
          <a:p>
            <a:r>
              <a:rPr lang="zh-CN" altLang="en-US" dirty="0"/>
              <a:t>。传输成分	</a:t>
            </a:r>
          </a:p>
          <a:p>
            <a:endParaRPr lang="zh-CN" altLang="en-US" dirty="0"/>
          </a:p>
          <a:p>
            <a:r>
              <a:rPr lang="zh-CN" altLang="en-US" dirty="0"/>
              <a:t>程序设计语言定义：用于书写计算机程序的语言。通常指实现高级语言。</a:t>
            </a:r>
          </a:p>
          <a:p>
            <a:r>
              <a:rPr lang="zh-CN" altLang="en-US" dirty="0"/>
              <a:t>语言的基础是一组记号与一组规则。</a:t>
            </a:r>
          </a:p>
          <a:p>
            <a:r>
              <a:rPr lang="zh-CN" altLang="en-US" dirty="0"/>
              <a:t>程序设计语言包括：</a:t>
            </a:r>
          </a:p>
          <a:p>
            <a:r>
              <a:rPr lang="zh-CN" altLang="en-US" dirty="0"/>
              <a:t>语法：记号的组合规则</a:t>
            </a:r>
          </a:p>
          <a:p>
            <a:r>
              <a:rPr lang="zh-CN" altLang="en-US" dirty="0"/>
              <a:t>语义：记号的特定意义</a:t>
            </a:r>
          </a:p>
          <a:p>
            <a:r>
              <a:rPr lang="zh-CN" altLang="en-US" dirty="0"/>
              <a:t>语用：程序与使用者的关系</a:t>
            </a:r>
          </a:p>
          <a:p>
            <a:endParaRPr lang="zh-CN" altLang="en-US" dirty="0"/>
          </a:p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BB66D85-95EE-4AF3-9929-F45AB9E92E3F}" type="slidenum">
              <a:rPr lang="en-US" altLang="zh-CN"/>
              <a:pPr/>
              <a:t>41</a:t>
            </a:fld>
            <a:endParaRPr lang="en-US" altLang="zh-CN"/>
          </a:p>
        </p:txBody>
      </p:sp>
      <p:sp>
        <p:nvSpPr>
          <p:cNvPr id="1086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86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D6C6C8E-92E6-4FCC-8E7B-F10E9026FF18}" type="slidenum">
              <a:rPr lang="en-US" altLang="zh-CN"/>
              <a:pPr/>
              <a:t>42</a:t>
            </a:fld>
            <a:endParaRPr lang="en-US" altLang="zh-CN"/>
          </a:p>
        </p:txBody>
      </p:sp>
      <p:sp>
        <p:nvSpPr>
          <p:cNvPr id="1088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88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D957167-DF14-469F-B537-F3FB397848CC}" type="slidenum">
              <a:rPr lang="en-US" altLang="zh-CN"/>
              <a:pPr/>
              <a:t>43</a:t>
            </a:fld>
            <a:endParaRPr lang="en-US" altLang="zh-CN"/>
          </a:p>
        </p:txBody>
      </p:sp>
      <p:sp>
        <p:nvSpPr>
          <p:cNvPr id="1090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90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8A4F381-BBC8-48F9-BB2E-C969B0ADE259}" type="slidenum">
              <a:rPr lang="en-US" altLang="zh-CN"/>
              <a:pPr/>
              <a:t>44</a:t>
            </a:fld>
            <a:endParaRPr lang="en-US" altLang="zh-CN"/>
          </a:p>
        </p:txBody>
      </p:sp>
      <p:sp>
        <p:nvSpPr>
          <p:cNvPr id="1092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92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88FD785-8A0B-4214-998E-1FB632E87917}" type="slidenum">
              <a:rPr lang="en-US" altLang="zh-CN"/>
              <a:pPr/>
              <a:t>45</a:t>
            </a:fld>
            <a:endParaRPr lang="en-US" altLang="zh-CN"/>
          </a:p>
        </p:txBody>
      </p:sp>
      <p:sp>
        <p:nvSpPr>
          <p:cNvPr id="1094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94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753BE39-54D5-4F19-945C-C4AE09688EE9}" type="slidenum">
              <a:rPr lang="en-US" altLang="zh-CN"/>
              <a:pPr/>
              <a:t>46</a:t>
            </a:fld>
            <a:endParaRPr lang="en-US" altLang="zh-CN"/>
          </a:p>
        </p:txBody>
      </p:sp>
      <p:sp>
        <p:nvSpPr>
          <p:cNvPr id="1098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98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6E37FF-4EAF-470E-BD31-3D917444AAAA}" type="slidenum">
              <a:rPr lang="en-US" altLang="zh-CN" smtClean="0"/>
              <a:pPr/>
              <a:t>53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5011804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6E37FF-4EAF-470E-BD31-3D917444AAAA}" type="slidenum">
              <a:rPr lang="en-US" altLang="zh-CN" smtClean="0"/>
              <a:pPr/>
              <a:t>80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1151445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6E37FF-4EAF-470E-BD31-3D917444AAAA}" type="slidenum">
              <a:rPr lang="en-US" altLang="zh-CN" smtClean="0"/>
              <a:pPr/>
              <a:t>103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6997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C1EF2924-3E1E-4CB4-8EF2-15D5D1C0B5A9}"/>
              </a:ext>
            </a:extLst>
          </p:cNvPr>
          <p:cNvSpPr/>
          <p:nvPr userDrawn="1"/>
        </p:nvSpPr>
        <p:spPr>
          <a:xfrm>
            <a:off x="1136072" y="295564"/>
            <a:ext cx="11055928" cy="550402"/>
          </a:xfrm>
          <a:prstGeom prst="rect">
            <a:avLst/>
          </a:prstGeom>
          <a:gradFill>
            <a:gsLst>
              <a:gs pos="100000">
                <a:srgbClr val="D7000F"/>
              </a:gs>
              <a:gs pos="0">
                <a:srgbClr val="D7000F"/>
              </a:gs>
            </a:gsLst>
            <a:lin ang="24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lt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4B418866-4D2D-43B4-A4C7-A19B50828F83}"/>
              </a:ext>
            </a:extLst>
          </p:cNvPr>
          <p:cNvGrpSpPr/>
          <p:nvPr userDrawn="1"/>
        </p:nvGrpSpPr>
        <p:grpSpPr>
          <a:xfrm>
            <a:off x="0" y="-18269"/>
            <a:ext cx="1136073" cy="864235"/>
            <a:chOff x="0" y="-18269"/>
            <a:chExt cx="1136073" cy="864235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B57A01DE-1CE0-473F-BFBC-953845BD515E}"/>
                </a:ext>
              </a:extLst>
            </p:cNvPr>
            <p:cNvSpPr/>
            <p:nvPr/>
          </p:nvSpPr>
          <p:spPr>
            <a:xfrm>
              <a:off x="0" y="551919"/>
              <a:ext cx="1136072" cy="294047"/>
            </a:xfrm>
            <a:prstGeom prst="rect">
              <a:avLst/>
            </a:prstGeom>
            <a:solidFill>
              <a:srgbClr val="D7000F">
                <a:alpha val="48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96E742AE-2026-40D4-B7D4-325185E7DA57}"/>
                </a:ext>
              </a:extLst>
            </p:cNvPr>
            <p:cNvSpPr/>
            <p:nvPr/>
          </p:nvSpPr>
          <p:spPr>
            <a:xfrm>
              <a:off x="323274" y="300434"/>
              <a:ext cx="364736" cy="545532"/>
            </a:xfrm>
            <a:prstGeom prst="rect">
              <a:avLst/>
            </a:prstGeom>
            <a:solidFill>
              <a:srgbClr val="D7000F">
                <a:alpha val="48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645C1E27-5297-46D4-8389-5A37CA1DD237}"/>
                </a:ext>
              </a:extLst>
            </p:cNvPr>
            <p:cNvSpPr/>
            <p:nvPr/>
          </p:nvSpPr>
          <p:spPr>
            <a:xfrm>
              <a:off x="688011" y="-18269"/>
              <a:ext cx="448062" cy="570187"/>
            </a:xfrm>
            <a:prstGeom prst="rect">
              <a:avLst/>
            </a:prstGeom>
            <a:solidFill>
              <a:srgbClr val="D7000F">
                <a:alpha val="48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9E82ED21-678D-45D4-8A9D-D1F391FA6F5F}"/>
                </a:ext>
              </a:extLst>
            </p:cNvPr>
            <p:cNvSpPr/>
            <p:nvPr/>
          </p:nvSpPr>
          <p:spPr>
            <a:xfrm>
              <a:off x="688010" y="295565"/>
              <a:ext cx="448062" cy="256354"/>
            </a:xfrm>
            <a:prstGeom prst="rect">
              <a:avLst/>
            </a:prstGeom>
            <a:solidFill>
              <a:srgbClr val="D7000F">
                <a:alpha val="48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71B67A05-980D-4B85-BFA9-BB6839BE7D54}"/>
                </a:ext>
              </a:extLst>
            </p:cNvPr>
            <p:cNvSpPr/>
            <p:nvPr/>
          </p:nvSpPr>
          <p:spPr>
            <a:xfrm>
              <a:off x="688010" y="551918"/>
              <a:ext cx="448061" cy="294047"/>
            </a:xfrm>
            <a:prstGeom prst="rect">
              <a:avLst/>
            </a:prstGeom>
            <a:solidFill>
              <a:srgbClr val="D7000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A07852E5-18ED-4342-8617-434AF51E6693}"/>
              </a:ext>
            </a:extLst>
          </p:cNvPr>
          <p:cNvSpPr/>
          <p:nvPr userDrawn="1"/>
        </p:nvSpPr>
        <p:spPr>
          <a:xfrm>
            <a:off x="-14483" y="6631260"/>
            <a:ext cx="9112302" cy="70030"/>
          </a:xfrm>
          <a:prstGeom prst="rect">
            <a:avLst/>
          </a:prstGeom>
          <a:gradFill>
            <a:gsLst>
              <a:gs pos="100000">
                <a:srgbClr val="D7000F">
                  <a:alpha val="20000"/>
                </a:srgbClr>
              </a:gs>
              <a:gs pos="64000">
                <a:srgbClr val="D7000F">
                  <a:alpha val="50000"/>
                </a:srgbClr>
              </a:gs>
              <a:gs pos="31000">
                <a:srgbClr val="D7000F">
                  <a:alpha val="60000"/>
                </a:srgbClr>
              </a:gs>
              <a:gs pos="0">
                <a:srgbClr val="D7000F"/>
              </a:gs>
            </a:gsLst>
            <a:lin ang="24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lt"/>
            </a:endParaRPr>
          </a:p>
        </p:txBody>
      </p:sp>
      <p:pic>
        <p:nvPicPr>
          <p:cNvPr id="16" name="图片 15" descr="文本&#10;&#10;描述已自动生成">
            <a:extLst>
              <a:ext uri="{FF2B5EF4-FFF2-40B4-BE49-F238E27FC236}">
                <a16:creationId xmlns:a16="http://schemas.microsoft.com/office/drawing/2014/main" id="{FE70EF5C-ACA0-4A13-89C1-BD7D5AB87B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4352" y="6144751"/>
            <a:ext cx="2641353" cy="973017"/>
          </a:xfrm>
          <a:prstGeom prst="rect">
            <a:avLst/>
          </a:prstGeom>
        </p:spPr>
      </p:pic>
    </p:spTree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115888"/>
            <a:ext cx="103632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C4CA0FDB-3C96-4F80-8C31-ADBD4276175E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0284EC08-A8D8-44C4-8645-6C1DB1686F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032792" y="3021330"/>
            <a:ext cx="371475" cy="3429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03B68388-6482-47AA-B23D-54697538AC93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C0192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zo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1234118"/>
      </p:ext>
    </p:extLst>
  </p:cSld>
  <p:clrMapOvr>
    <a:masterClrMapping/>
  </p:clrMapOvr>
  <p:transition>
    <p:zo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54A6AB-2253-454B-9B69-DDC28CECC3C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0312431"/>
      </p:ext>
    </p:extLst>
  </p:cSld>
  <p:clrMapOvr>
    <a:masterClrMapping/>
  </p:clrMapOvr>
  <p:transition>
    <p:zo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5BC307-0E07-482C-BB08-A2C38A4179A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6380906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B56CF960-5613-4363-9E14-14A8BF1EBB1E}"/>
              </a:ext>
            </a:extLst>
          </p:cNvPr>
          <p:cNvSpPr/>
          <p:nvPr userDrawn="1"/>
        </p:nvSpPr>
        <p:spPr>
          <a:xfrm>
            <a:off x="1136072" y="295564"/>
            <a:ext cx="11055928" cy="550402"/>
          </a:xfrm>
          <a:prstGeom prst="rect">
            <a:avLst/>
          </a:prstGeom>
          <a:gradFill>
            <a:gsLst>
              <a:gs pos="100000">
                <a:srgbClr val="D7000F"/>
              </a:gs>
              <a:gs pos="0">
                <a:srgbClr val="D7000F"/>
              </a:gs>
            </a:gsLst>
            <a:lin ang="24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lt"/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7B1461C2-7D0D-4E3C-8B47-25DCF9B20DC6}"/>
              </a:ext>
            </a:extLst>
          </p:cNvPr>
          <p:cNvGrpSpPr/>
          <p:nvPr userDrawn="1"/>
        </p:nvGrpSpPr>
        <p:grpSpPr>
          <a:xfrm>
            <a:off x="0" y="-18269"/>
            <a:ext cx="1136073" cy="864235"/>
            <a:chOff x="0" y="-18269"/>
            <a:chExt cx="1136073" cy="864235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968FD0F2-33A1-43B7-94AC-D1A0FC81FA0B}"/>
                </a:ext>
              </a:extLst>
            </p:cNvPr>
            <p:cNvSpPr/>
            <p:nvPr/>
          </p:nvSpPr>
          <p:spPr>
            <a:xfrm>
              <a:off x="0" y="551919"/>
              <a:ext cx="1136072" cy="294047"/>
            </a:xfrm>
            <a:prstGeom prst="rect">
              <a:avLst/>
            </a:prstGeom>
            <a:solidFill>
              <a:srgbClr val="D7000F">
                <a:alpha val="48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63006E15-5CC6-4E2B-974F-5505320A49A0}"/>
                </a:ext>
              </a:extLst>
            </p:cNvPr>
            <p:cNvSpPr/>
            <p:nvPr/>
          </p:nvSpPr>
          <p:spPr>
            <a:xfrm>
              <a:off x="323274" y="300434"/>
              <a:ext cx="364736" cy="545532"/>
            </a:xfrm>
            <a:prstGeom prst="rect">
              <a:avLst/>
            </a:prstGeom>
            <a:solidFill>
              <a:srgbClr val="D7000F">
                <a:alpha val="48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E4DFBFD1-EA9E-4E6B-BEDE-0C3408961645}"/>
                </a:ext>
              </a:extLst>
            </p:cNvPr>
            <p:cNvSpPr/>
            <p:nvPr/>
          </p:nvSpPr>
          <p:spPr>
            <a:xfrm>
              <a:off x="688011" y="-18269"/>
              <a:ext cx="448062" cy="570187"/>
            </a:xfrm>
            <a:prstGeom prst="rect">
              <a:avLst/>
            </a:prstGeom>
            <a:solidFill>
              <a:srgbClr val="D7000F">
                <a:alpha val="48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0F4E1A74-684B-41DA-B988-56C6439CBC73}"/>
                </a:ext>
              </a:extLst>
            </p:cNvPr>
            <p:cNvSpPr/>
            <p:nvPr/>
          </p:nvSpPr>
          <p:spPr>
            <a:xfrm>
              <a:off x="688010" y="295565"/>
              <a:ext cx="448062" cy="256354"/>
            </a:xfrm>
            <a:prstGeom prst="rect">
              <a:avLst/>
            </a:prstGeom>
            <a:solidFill>
              <a:srgbClr val="D7000F">
                <a:alpha val="48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17248F34-2C9B-45E0-A8F0-6337A327BFF4}"/>
                </a:ext>
              </a:extLst>
            </p:cNvPr>
            <p:cNvSpPr/>
            <p:nvPr/>
          </p:nvSpPr>
          <p:spPr>
            <a:xfrm>
              <a:off x="688010" y="551918"/>
              <a:ext cx="448061" cy="294047"/>
            </a:xfrm>
            <a:prstGeom prst="rect">
              <a:avLst/>
            </a:prstGeom>
            <a:solidFill>
              <a:srgbClr val="D7000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id="{968F4294-188D-4257-9B6F-6E7514261A97}"/>
              </a:ext>
            </a:extLst>
          </p:cNvPr>
          <p:cNvSpPr/>
          <p:nvPr userDrawn="1"/>
        </p:nvSpPr>
        <p:spPr>
          <a:xfrm>
            <a:off x="-14483" y="6631260"/>
            <a:ext cx="9112302" cy="70030"/>
          </a:xfrm>
          <a:prstGeom prst="rect">
            <a:avLst/>
          </a:prstGeom>
          <a:gradFill>
            <a:gsLst>
              <a:gs pos="100000">
                <a:srgbClr val="D7000F">
                  <a:alpha val="20000"/>
                </a:srgbClr>
              </a:gs>
              <a:gs pos="64000">
                <a:srgbClr val="D7000F">
                  <a:alpha val="50000"/>
                </a:srgbClr>
              </a:gs>
              <a:gs pos="31000">
                <a:srgbClr val="D7000F">
                  <a:alpha val="60000"/>
                </a:srgbClr>
              </a:gs>
              <a:gs pos="0">
                <a:srgbClr val="D7000F"/>
              </a:gs>
            </a:gsLst>
            <a:lin ang="24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lt"/>
            </a:endParaRPr>
          </a:p>
        </p:txBody>
      </p:sp>
      <p:pic>
        <p:nvPicPr>
          <p:cNvPr id="29" name="图片 28" descr="文本&#10;&#10;描述已自动生成">
            <a:extLst>
              <a:ext uri="{FF2B5EF4-FFF2-40B4-BE49-F238E27FC236}">
                <a16:creationId xmlns:a16="http://schemas.microsoft.com/office/drawing/2014/main" id="{BC7FD4F5-F6C5-40DA-A03E-06C55AE51873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4352" y="6144751"/>
            <a:ext cx="2641353" cy="97301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>
    <p:zoom/>
  </p:transition>
  <p:txStyles>
    <p:titleStyle>
      <a:lvl1pPr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Times New Roman" pitchFamily="18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Times New Roman" pitchFamily="18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Times New Roman" pitchFamily="18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 b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 b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 b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 b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 b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 b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 b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 b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 b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3.wav"/><Relationship Id="rId4" Type="http://schemas.openxmlformats.org/officeDocument/2006/relationships/audio" Target="../media/audio2.wav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2.wav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2.wav"/><Relationship Id="rId4" Type="http://schemas.openxmlformats.org/officeDocument/2006/relationships/audio" Target="../media/audio4.wav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3.wav"/><Relationship Id="rId4" Type="http://schemas.openxmlformats.org/officeDocument/2006/relationships/audio" Target="../media/audio4.wav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2.wav"/><Relationship Id="rId4" Type="http://schemas.openxmlformats.org/officeDocument/2006/relationships/audio" Target="../media/audio4.wav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4.wav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audio" Target="../media/audio2.wav"/><Relationship Id="rId5" Type="http://schemas.openxmlformats.org/officeDocument/2006/relationships/audio" Target="../media/audio3.wav"/><Relationship Id="rId4" Type="http://schemas.openxmlformats.org/officeDocument/2006/relationships/audio" Target="../media/audio4.wav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audio" Target="../media/audio2.wav"/><Relationship Id="rId5" Type="http://schemas.openxmlformats.org/officeDocument/2006/relationships/audio" Target="../media/audio3.wav"/><Relationship Id="rId4" Type="http://schemas.openxmlformats.org/officeDocument/2006/relationships/audio" Target="../media/audio4.wav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audio" Target="../media/audio2.wav"/><Relationship Id="rId5" Type="http://schemas.openxmlformats.org/officeDocument/2006/relationships/audio" Target="../media/audio3.wav"/><Relationship Id="rId4" Type="http://schemas.openxmlformats.org/officeDocument/2006/relationships/audio" Target="../media/audio4.wav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2.wav"/><Relationship Id="rId4" Type="http://schemas.openxmlformats.org/officeDocument/2006/relationships/audio" Target="../media/audio4.wav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audio" Target="../media/audio5.wav"/><Relationship Id="rId5" Type="http://schemas.openxmlformats.org/officeDocument/2006/relationships/audio" Target="../media/audio3.wav"/><Relationship Id="rId4" Type="http://schemas.openxmlformats.org/officeDocument/2006/relationships/audio" Target="../media/audio4.wav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3.wav"/><Relationship Id="rId4" Type="http://schemas.openxmlformats.org/officeDocument/2006/relationships/audio" Target="../media/audio4.wav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audio" Target="../media/audio2.wav"/><Relationship Id="rId5" Type="http://schemas.openxmlformats.org/officeDocument/2006/relationships/audio" Target="../media/audio3.wav"/><Relationship Id="rId4" Type="http://schemas.openxmlformats.org/officeDocument/2006/relationships/audio" Target="../media/audio4.wav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4.wav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2.wav"/><Relationship Id="rId4" Type="http://schemas.openxmlformats.org/officeDocument/2006/relationships/audio" Target="../media/audio4.wav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6.wav"/><Relationship Id="rId4" Type="http://schemas.openxmlformats.org/officeDocument/2006/relationships/audio" Target="../media/audio4.wav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6.wav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4.wav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3.wav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4.wav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2.wav"/><Relationship Id="rId4" Type="http://schemas.openxmlformats.org/officeDocument/2006/relationships/audio" Target="../media/audio4.wav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audio" Target="../media/audio7.wav"/><Relationship Id="rId5" Type="http://schemas.openxmlformats.org/officeDocument/2006/relationships/audio" Target="../media/audio3.wav"/><Relationship Id="rId4" Type="http://schemas.openxmlformats.org/officeDocument/2006/relationships/audio" Target="../media/audio4.wav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audio" Target="../media/audio7.wav"/><Relationship Id="rId5" Type="http://schemas.openxmlformats.org/officeDocument/2006/relationships/audio" Target="../media/audio3.wav"/><Relationship Id="rId4" Type="http://schemas.openxmlformats.org/officeDocument/2006/relationships/audio" Target="../media/audio4.wav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audio" Target="../media/audio2.wav"/><Relationship Id="rId5" Type="http://schemas.openxmlformats.org/officeDocument/2006/relationships/audio" Target="../media/audio3.wav"/><Relationship Id="rId4" Type="http://schemas.openxmlformats.org/officeDocument/2006/relationships/audio" Target="../media/audio4.wav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audio" Target="../media/audio7.wav"/><Relationship Id="rId5" Type="http://schemas.openxmlformats.org/officeDocument/2006/relationships/audio" Target="../media/audio3.wav"/><Relationship Id="rId4" Type="http://schemas.openxmlformats.org/officeDocument/2006/relationships/audio" Target="../media/audio4.wav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audio" Target="../media/audio7.wav"/><Relationship Id="rId5" Type="http://schemas.openxmlformats.org/officeDocument/2006/relationships/audio" Target="../media/audio3.wav"/><Relationship Id="rId4" Type="http://schemas.openxmlformats.org/officeDocument/2006/relationships/audio" Target="../media/audio4.wav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2.wav"/><Relationship Id="rId4" Type="http://schemas.openxmlformats.org/officeDocument/2006/relationships/audio" Target="../media/audio4.wav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audio" Target="../media/audio7.wav"/><Relationship Id="rId5" Type="http://schemas.openxmlformats.org/officeDocument/2006/relationships/audio" Target="../media/audio3.wav"/><Relationship Id="rId4" Type="http://schemas.openxmlformats.org/officeDocument/2006/relationships/audio" Target="../media/audio4.wav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audio" Target="../media/audio2.wav"/><Relationship Id="rId5" Type="http://schemas.openxmlformats.org/officeDocument/2006/relationships/audio" Target="../media/audio3.wav"/><Relationship Id="rId4" Type="http://schemas.openxmlformats.org/officeDocument/2006/relationships/audio" Target="../media/audio4.wav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audio" Target="../media/audio2.wav"/><Relationship Id="rId5" Type="http://schemas.openxmlformats.org/officeDocument/2006/relationships/audio" Target="../media/audio3.wav"/><Relationship Id="rId4" Type="http://schemas.openxmlformats.org/officeDocument/2006/relationships/audio" Target="../media/audio4.wav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2.wav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4.wav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audio" Target="../media/audio2.wav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audio" Target="../media/audio7.wav"/><Relationship Id="rId5" Type="http://schemas.openxmlformats.org/officeDocument/2006/relationships/audio" Target="../media/audio3.wav"/><Relationship Id="rId4" Type="http://schemas.openxmlformats.org/officeDocument/2006/relationships/audio" Target="../media/audio4.wav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2.wav"/><Relationship Id="rId4" Type="http://schemas.openxmlformats.org/officeDocument/2006/relationships/audio" Target="../media/audio4.wav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4.wav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audio" Target="../media/audio7.wav"/><Relationship Id="rId5" Type="http://schemas.openxmlformats.org/officeDocument/2006/relationships/audio" Target="../media/audio3.wav"/><Relationship Id="rId4" Type="http://schemas.openxmlformats.org/officeDocument/2006/relationships/audio" Target="../media/audio4.wav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audio" Target="../media/audio2.wav"/><Relationship Id="rId5" Type="http://schemas.openxmlformats.org/officeDocument/2006/relationships/audio" Target="../media/audio3.wav"/><Relationship Id="rId4" Type="http://schemas.openxmlformats.org/officeDocument/2006/relationships/audio" Target="../media/audio4.wav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audio" Target="../media/audio7.wav"/><Relationship Id="rId5" Type="http://schemas.openxmlformats.org/officeDocument/2006/relationships/audio" Target="../media/audio3.wav"/><Relationship Id="rId4" Type="http://schemas.openxmlformats.org/officeDocument/2006/relationships/audio" Target="../media/audio4.wav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4.wav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audio" Target="../media/audio6.wav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3.wav"/><Relationship Id="rId4" Type="http://schemas.openxmlformats.org/officeDocument/2006/relationships/audio" Target="../media/audio1.wav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2.wav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3.wav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wmf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audio" Target="../media/audio7.wav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audio" Target="../media/audio3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19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6990" name="组合 466989">
            <a:extLst>
              <a:ext uri="{FF2B5EF4-FFF2-40B4-BE49-F238E27FC236}">
                <a16:creationId xmlns:a16="http://schemas.microsoft.com/office/drawing/2014/main" id="{90DA2393-20F0-4F22-A673-37EFCBE3CBB7}"/>
              </a:ext>
            </a:extLst>
          </p:cNvPr>
          <p:cNvGrpSpPr/>
          <p:nvPr/>
        </p:nvGrpSpPr>
        <p:grpSpPr>
          <a:xfrm>
            <a:off x="2734933" y="1239143"/>
            <a:ext cx="5668582" cy="6031728"/>
            <a:chOff x="1319586" y="1051455"/>
            <a:chExt cx="5668582" cy="5256585"/>
          </a:xfrm>
          <a:noFill/>
        </p:grpSpPr>
        <p:grpSp>
          <p:nvGrpSpPr>
            <p:cNvPr id="466988" name="组合 466987">
              <a:extLst>
                <a:ext uri="{FF2B5EF4-FFF2-40B4-BE49-F238E27FC236}">
                  <a16:creationId xmlns:a16="http://schemas.microsoft.com/office/drawing/2014/main" id="{47849CA3-A394-49F2-AD5A-D3DDF8E5D932}"/>
                </a:ext>
              </a:extLst>
            </p:cNvPr>
            <p:cNvGrpSpPr/>
            <p:nvPr/>
          </p:nvGrpSpPr>
          <p:grpSpPr>
            <a:xfrm>
              <a:off x="1319586" y="1232940"/>
              <a:ext cx="4837921" cy="4232797"/>
              <a:chOff x="4426431" y="860338"/>
              <a:chExt cx="4837921" cy="4232797"/>
            </a:xfrm>
            <a:grpFill/>
          </p:grpSpPr>
          <p:sp>
            <p:nvSpPr>
              <p:cNvPr id="56" name="矩形: 圆顶角 55">
                <a:extLst>
                  <a:ext uri="{FF2B5EF4-FFF2-40B4-BE49-F238E27FC236}">
                    <a16:creationId xmlns:a16="http://schemas.microsoft.com/office/drawing/2014/main" id="{34E73DA9-BC8D-436A-A664-0989F146C2E5}"/>
                  </a:ext>
                </a:extLst>
              </p:cNvPr>
              <p:cNvSpPr/>
              <p:nvPr/>
            </p:nvSpPr>
            <p:spPr bwMode="auto">
              <a:xfrm rot="16200000">
                <a:off x="6101055" y="1929838"/>
                <a:ext cx="2867104" cy="3459490"/>
              </a:xfrm>
              <a:custGeom>
                <a:avLst/>
                <a:gdLst>
                  <a:gd name="connsiteX0" fmla="*/ 477860 w 2867104"/>
                  <a:gd name="connsiteY0" fmla="*/ 0 h 3459490"/>
                  <a:gd name="connsiteX1" fmla="*/ 2389244 w 2867104"/>
                  <a:gd name="connsiteY1" fmla="*/ 0 h 3459490"/>
                  <a:gd name="connsiteX2" fmla="*/ 2867104 w 2867104"/>
                  <a:gd name="connsiteY2" fmla="*/ 477860 h 3459490"/>
                  <a:gd name="connsiteX3" fmla="*/ 2867104 w 2867104"/>
                  <a:gd name="connsiteY3" fmla="*/ 3459490 h 3459490"/>
                  <a:gd name="connsiteX4" fmla="*/ 2867104 w 2867104"/>
                  <a:gd name="connsiteY4" fmla="*/ 3459490 h 3459490"/>
                  <a:gd name="connsiteX5" fmla="*/ 0 w 2867104"/>
                  <a:gd name="connsiteY5" fmla="*/ 3459490 h 3459490"/>
                  <a:gd name="connsiteX6" fmla="*/ 0 w 2867104"/>
                  <a:gd name="connsiteY6" fmla="*/ 3459490 h 3459490"/>
                  <a:gd name="connsiteX7" fmla="*/ 0 w 2867104"/>
                  <a:gd name="connsiteY7" fmla="*/ 477860 h 3459490"/>
                  <a:gd name="connsiteX8" fmla="*/ 477860 w 2867104"/>
                  <a:gd name="connsiteY8" fmla="*/ 0 h 3459490"/>
                  <a:gd name="connsiteX0" fmla="*/ 6578915 w 8968159"/>
                  <a:gd name="connsiteY0" fmla="*/ 1929838 h 5389328"/>
                  <a:gd name="connsiteX1" fmla="*/ 0 w 8968159"/>
                  <a:gd name="connsiteY1" fmla="*/ 0 h 5389328"/>
                  <a:gd name="connsiteX2" fmla="*/ 8490299 w 8968159"/>
                  <a:gd name="connsiteY2" fmla="*/ 1929838 h 5389328"/>
                  <a:gd name="connsiteX3" fmla="*/ 8968159 w 8968159"/>
                  <a:gd name="connsiteY3" fmla="*/ 2407698 h 5389328"/>
                  <a:gd name="connsiteX4" fmla="*/ 8968159 w 8968159"/>
                  <a:gd name="connsiteY4" fmla="*/ 5389328 h 5389328"/>
                  <a:gd name="connsiteX5" fmla="*/ 8968159 w 8968159"/>
                  <a:gd name="connsiteY5" fmla="*/ 5389328 h 5389328"/>
                  <a:gd name="connsiteX6" fmla="*/ 6101055 w 8968159"/>
                  <a:gd name="connsiteY6" fmla="*/ 5389328 h 5389328"/>
                  <a:gd name="connsiteX7" fmla="*/ 6101055 w 8968159"/>
                  <a:gd name="connsiteY7" fmla="*/ 5389328 h 5389328"/>
                  <a:gd name="connsiteX8" fmla="*/ 6101055 w 8968159"/>
                  <a:gd name="connsiteY8" fmla="*/ 2407698 h 5389328"/>
                  <a:gd name="connsiteX9" fmla="*/ 6578915 w 8968159"/>
                  <a:gd name="connsiteY9" fmla="*/ 1929838 h 5389328"/>
                  <a:gd name="connsiteX0" fmla="*/ 477860 w 2867104"/>
                  <a:gd name="connsiteY0" fmla="*/ 0 h 3459490"/>
                  <a:gd name="connsiteX1" fmla="*/ 2389244 w 2867104"/>
                  <a:gd name="connsiteY1" fmla="*/ 0 h 3459490"/>
                  <a:gd name="connsiteX2" fmla="*/ 2867104 w 2867104"/>
                  <a:gd name="connsiteY2" fmla="*/ 477860 h 3459490"/>
                  <a:gd name="connsiteX3" fmla="*/ 2867104 w 2867104"/>
                  <a:gd name="connsiteY3" fmla="*/ 3459490 h 3459490"/>
                  <a:gd name="connsiteX4" fmla="*/ 2867104 w 2867104"/>
                  <a:gd name="connsiteY4" fmla="*/ 3459490 h 3459490"/>
                  <a:gd name="connsiteX5" fmla="*/ 0 w 2867104"/>
                  <a:gd name="connsiteY5" fmla="*/ 3459490 h 3459490"/>
                  <a:gd name="connsiteX6" fmla="*/ 0 w 2867104"/>
                  <a:gd name="connsiteY6" fmla="*/ 3459490 h 3459490"/>
                  <a:gd name="connsiteX7" fmla="*/ 0 w 2867104"/>
                  <a:gd name="connsiteY7" fmla="*/ 477860 h 3459490"/>
                  <a:gd name="connsiteX8" fmla="*/ 477860 w 2867104"/>
                  <a:gd name="connsiteY8" fmla="*/ 0 h 34594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67104" h="3459490">
                    <a:moveTo>
                      <a:pt x="477860" y="0"/>
                    </a:moveTo>
                    <a:lnTo>
                      <a:pt x="2389244" y="0"/>
                    </a:lnTo>
                    <a:cubicBezTo>
                      <a:pt x="2653159" y="0"/>
                      <a:pt x="2867104" y="213945"/>
                      <a:pt x="2867104" y="477860"/>
                    </a:cubicBezTo>
                    <a:lnTo>
                      <a:pt x="2867104" y="3459490"/>
                    </a:lnTo>
                    <a:lnTo>
                      <a:pt x="2867104" y="3459490"/>
                    </a:lnTo>
                    <a:lnTo>
                      <a:pt x="0" y="3459490"/>
                    </a:lnTo>
                    <a:lnTo>
                      <a:pt x="0" y="3459490"/>
                    </a:lnTo>
                    <a:lnTo>
                      <a:pt x="0" y="477860"/>
                    </a:lnTo>
                    <a:cubicBezTo>
                      <a:pt x="0" y="213945"/>
                      <a:pt x="213945" y="0"/>
                      <a:pt x="477860" y="0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466958" name="任意多边形: 形状 466957">
                <a:extLst>
                  <a:ext uri="{FF2B5EF4-FFF2-40B4-BE49-F238E27FC236}">
                    <a16:creationId xmlns:a16="http://schemas.microsoft.com/office/drawing/2014/main" id="{62D9AFFB-BF60-4B90-91C5-D6F2AB5FA62F}"/>
                  </a:ext>
                </a:extLst>
              </p:cNvPr>
              <p:cNvSpPr/>
              <p:nvPr/>
            </p:nvSpPr>
            <p:spPr bwMode="auto">
              <a:xfrm>
                <a:off x="5760395" y="2181976"/>
                <a:ext cx="3459491" cy="2867104"/>
              </a:xfrm>
              <a:custGeom>
                <a:avLst/>
                <a:gdLst>
                  <a:gd name="connsiteX0" fmla="*/ 0 w 3459491"/>
                  <a:gd name="connsiteY0" fmla="*/ 2389244 h 2867104"/>
                  <a:gd name="connsiteX1" fmla="*/ 13 w 3459491"/>
                  <a:gd name="connsiteY1" fmla="*/ 477860 h 2867104"/>
                  <a:gd name="connsiteX2" fmla="*/ 477860 w 3459491"/>
                  <a:gd name="connsiteY2" fmla="*/ 0 h 2867104"/>
                  <a:gd name="connsiteX3" fmla="*/ 3459491 w 3459491"/>
                  <a:gd name="connsiteY3" fmla="*/ 0 h 2867104"/>
                  <a:gd name="connsiteX4" fmla="*/ 3459491 w 3459491"/>
                  <a:gd name="connsiteY4" fmla="*/ 0 h 2867104"/>
                  <a:gd name="connsiteX5" fmla="*/ 3459491 w 3459491"/>
                  <a:gd name="connsiteY5" fmla="*/ 2867104 h 2867104"/>
                  <a:gd name="connsiteX6" fmla="*/ 3459491 w 3459491"/>
                  <a:gd name="connsiteY6" fmla="*/ 2867104 h 2867104"/>
                  <a:gd name="connsiteX7" fmla="*/ 477860 w 3459491"/>
                  <a:gd name="connsiteY7" fmla="*/ 2867104 h 2867104"/>
                  <a:gd name="connsiteX8" fmla="*/ 0 w 3459491"/>
                  <a:gd name="connsiteY8" fmla="*/ 2389244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1" h="2867104">
                    <a:moveTo>
                      <a:pt x="0" y="2389244"/>
                    </a:moveTo>
                    <a:lnTo>
                      <a:pt x="13" y="477860"/>
                    </a:lnTo>
                    <a:cubicBezTo>
                      <a:pt x="0" y="213945"/>
                      <a:pt x="213946" y="0"/>
                      <a:pt x="477860" y="0"/>
                    </a:cubicBezTo>
                    <a:lnTo>
                      <a:pt x="3459491" y="0"/>
                    </a:lnTo>
                    <a:lnTo>
                      <a:pt x="3459491" y="0"/>
                    </a:lnTo>
                    <a:lnTo>
                      <a:pt x="3459491" y="2867104"/>
                    </a:lnTo>
                    <a:lnTo>
                      <a:pt x="3459491" y="2867104"/>
                    </a:lnTo>
                    <a:lnTo>
                      <a:pt x="477860" y="2867104"/>
                    </a:lnTo>
                    <a:cubicBezTo>
                      <a:pt x="213946" y="2867104"/>
                      <a:pt x="0" y="2653159"/>
                      <a:pt x="0" y="2389244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59" name="任意多边形: 形状 466958">
                <a:extLst>
                  <a:ext uri="{FF2B5EF4-FFF2-40B4-BE49-F238E27FC236}">
                    <a16:creationId xmlns:a16="http://schemas.microsoft.com/office/drawing/2014/main" id="{494EA9CB-8869-4422-B197-F5480FE45B0A}"/>
                  </a:ext>
                </a:extLst>
              </p:cNvPr>
              <p:cNvSpPr/>
              <p:nvPr/>
            </p:nvSpPr>
            <p:spPr bwMode="auto">
              <a:xfrm>
                <a:off x="5715931" y="2137922"/>
                <a:ext cx="3459490" cy="2867104"/>
              </a:xfrm>
              <a:custGeom>
                <a:avLst/>
                <a:gdLst>
                  <a:gd name="connsiteX0" fmla="*/ 0 w 3459490"/>
                  <a:gd name="connsiteY0" fmla="*/ 2389244 h 2867104"/>
                  <a:gd name="connsiteX1" fmla="*/ 13 w 3459490"/>
                  <a:gd name="connsiteY1" fmla="*/ 477860 h 2867104"/>
                  <a:gd name="connsiteX2" fmla="*/ 477860 w 3459490"/>
                  <a:gd name="connsiteY2" fmla="*/ 0 h 2867104"/>
                  <a:gd name="connsiteX3" fmla="*/ 3459490 w 3459490"/>
                  <a:gd name="connsiteY3" fmla="*/ 0 h 2867104"/>
                  <a:gd name="connsiteX4" fmla="*/ 3459490 w 3459490"/>
                  <a:gd name="connsiteY4" fmla="*/ 0 h 2867104"/>
                  <a:gd name="connsiteX5" fmla="*/ 3459490 w 3459490"/>
                  <a:gd name="connsiteY5" fmla="*/ 2867104 h 2867104"/>
                  <a:gd name="connsiteX6" fmla="*/ 3459490 w 3459490"/>
                  <a:gd name="connsiteY6" fmla="*/ 2867104 h 2867104"/>
                  <a:gd name="connsiteX7" fmla="*/ 477860 w 3459490"/>
                  <a:gd name="connsiteY7" fmla="*/ 2867104 h 2867104"/>
                  <a:gd name="connsiteX8" fmla="*/ 0 w 3459490"/>
                  <a:gd name="connsiteY8" fmla="*/ 2389244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0" h="2867104">
                    <a:moveTo>
                      <a:pt x="0" y="2389244"/>
                    </a:moveTo>
                    <a:lnTo>
                      <a:pt x="13" y="477860"/>
                    </a:lnTo>
                    <a:cubicBezTo>
                      <a:pt x="0" y="213945"/>
                      <a:pt x="213945" y="0"/>
                      <a:pt x="477860" y="0"/>
                    </a:cubicBezTo>
                    <a:lnTo>
                      <a:pt x="3459490" y="0"/>
                    </a:lnTo>
                    <a:lnTo>
                      <a:pt x="3459490" y="0"/>
                    </a:lnTo>
                    <a:lnTo>
                      <a:pt x="3459490" y="2867104"/>
                    </a:lnTo>
                    <a:lnTo>
                      <a:pt x="3459490" y="2867104"/>
                    </a:lnTo>
                    <a:lnTo>
                      <a:pt x="477860" y="2867104"/>
                    </a:lnTo>
                    <a:cubicBezTo>
                      <a:pt x="213945" y="2867104"/>
                      <a:pt x="0" y="2653159"/>
                      <a:pt x="0" y="2389244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60" name="任意多边形: 形状 466959">
                <a:extLst>
                  <a:ext uri="{FF2B5EF4-FFF2-40B4-BE49-F238E27FC236}">
                    <a16:creationId xmlns:a16="http://schemas.microsoft.com/office/drawing/2014/main" id="{B042FD86-A0B7-4149-8398-29E8B2039CA8}"/>
                  </a:ext>
                </a:extLst>
              </p:cNvPr>
              <p:cNvSpPr/>
              <p:nvPr/>
            </p:nvSpPr>
            <p:spPr bwMode="auto">
              <a:xfrm>
                <a:off x="5671464" y="2093867"/>
                <a:ext cx="3459491" cy="2867104"/>
              </a:xfrm>
              <a:custGeom>
                <a:avLst/>
                <a:gdLst>
                  <a:gd name="connsiteX0" fmla="*/ 0 w 3459491"/>
                  <a:gd name="connsiteY0" fmla="*/ 2389244 h 2867104"/>
                  <a:gd name="connsiteX1" fmla="*/ 13 w 3459491"/>
                  <a:gd name="connsiteY1" fmla="*/ 477860 h 2867104"/>
                  <a:gd name="connsiteX2" fmla="*/ 477860 w 3459491"/>
                  <a:gd name="connsiteY2" fmla="*/ 0 h 2867104"/>
                  <a:gd name="connsiteX3" fmla="*/ 3459491 w 3459491"/>
                  <a:gd name="connsiteY3" fmla="*/ 0 h 2867104"/>
                  <a:gd name="connsiteX4" fmla="*/ 3459491 w 3459491"/>
                  <a:gd name="connsiteY4" fmla="*/ 0 h 2867104"/>
                  <a:gd name="connsiteX5" fmla="*/ 3459491 w 3459491"/>
                  <a:gd name="connsiteY5" fmla="*/ 2867104 h 2867104"/>
                  <a:gd name="connsiteX6" fmla="*/ 3459491 w 3459491"/>
                  <a:gd name="connsiteY6" fmla="*/ 2867104 h 2867104"/>
                  <a:gd name="connsiteX7" fmla="*/ 477860 w 3459491"/>
                  <a:gd name="connsiteY7" fmla="*/ 2867104 h 2867104"/>
                  <a:gd name="connsiteX8" fmla="*/ 0 w 3459491"/>
                  <a:gd name="connsiteY8" fmla="*/ 2389244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1" h="2867104">
                    <a:moveTo>
                      <a:pt x="0" y="2389244"/>
                    </a:moveTo>
                    <a:lnTo>
                      <a:pt x="13" y="477860"/>
                    </a:lnTo>
                    <a:cubicBezTo>
                      <a:pt x="0" y="213945"/>
                      <a:pt x="213946" y="0"/>
                      <a:pt x="477860" y="0"/>
                    </a:cubicBezTo>
                    <a:lnTo>
                      <a:pt x="3459491" y="0"/>
                    </a:lnTo>
                    <a:lnTo>
                      <a:pt x="3459491" y="0"/>
                    </a:lnTo>
                    <a:lnTo>
                      <a:pt x="3459491" y="2867104"/>
                    </a:lnTo>
                    <a:lnTo>
                      <a:pt x="3459491" y="2867104"/>
                    </a:lnTo>
                    <a:lnTo>
                      <a:pt x="477860" y="2867104"/>
                    </a:lnTo>
                    <a:cubicBezTo>
                      <a:pt x="213946" y="2867104"/>
                      <a:pt x="0" y="2653159"/>
                      <a:pt x="0" y="2389244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61" name="任意多边形: 形状 466960">
                <a:extLst>
                  <a:ext uri="{FF2B5EF4-FFF2-40B4-BE49-F238E27FC236}">
                    <a16:creationId xmlns:a16="http://schemas.microsoft.com/office/drawing/2014/main" id="{33E40499-0A00-469C-B532-5C731717B7DC}"/>
                  </a:ext>
                </a:extLst>
              </p:cNvPr>
              <p:cNvSpPr/>
              <p:nvPr/>
            </p:nvSpPr>
            <p:spPr bwMode="auto">
              <a:xfrm>
                <a:off x="5627000" y="2049811"/>
                <a:ext cx="3459490" cy="2867105"/>
              </a:xfrm>
              <a:custGeom>
                <a:avLst/>
                <a:gdLst>
                  <a:gd name="connsiteX0" fmla="*/ 0 w 3459490"/>
                  <a:gd name="connsiteY0" fmla="*/ 2389245 h 2867105"/>
                  <a:gd name="connsiteX1" fmla="*/ 13 w 3459490"/>
                  <a:gd name="connsiteY1" fmla="*/ 477860 h 2867105"/>
                  <a:gd name="connsiteX2" fmla="*/ 477860 w 3459490"/>
                  <a:gd name="connsiteY2" fmla="*/ 0 h 2867105"/>
                  <a:gd name="connsiteX3" fmla="*/ 3459490 w 3459490"/>
                  <a:gd name="connsiteY3" fmla="*/ 0 h 2867105"/>
                  <a:gd name="connsiteX4" fmla="*/ 3459490 w 3459490"/>
                  <a:gd name="connsiteY4" fmla="*/ 0 h 2867105"/>
                  <a:gd name="connsiteX5" fmla="*/ 3459490 w 3459490"/>
                  <a:gd name="connsiteY5" fmla="*/ 2867105 h 2867105"/>
                  <a:gd name="connsiteX6" fmla="*/ 3459490 w 3459490"/>
                  <a:gd name="connsiteY6" fmla="*/ 2867105 h 2867105"/>
                  <a:gd name="connsiteX7" fmla="*/ 477860 w 3459490"/>
                  <a:gd name="connsiteY7" fmla="*/ 2867105 h 2867105"/>
                  <a:gd name="connsiteX8" fmla="*/ 0 w 3459490"/>
                  <a:gd name="connsiteY8" fmla="*/ 2389245 h 28671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0" h="2867105">
                    <a:moveTo>
                      <a:pt x="0" y="2389245"/>
                    </a:moveTo>
                    <a:lnTo>
                      <a:pt x="13" y="477860"/>
                    </a:lnTo>
                    <a:cubicBezTo>
                      <a:pt x="0" y="213946"/>
                      <a:pt x="213945" y="0"/>
                      <a:pt x="477860" y="0"/>
                    </a:cubicBezTo>
                    <a:lnTo>
                      <a:pt x="3459490" y="0"/>
                    </a:lnTo>
                    <a:lnTo>
                      <a:pt x="3459490" y="0"/>
                    </a:lnTo>
                    <a:lnTo>
                      <a:pt x="3459490" y="2867105"/>
                    </a:lnTo>
                    <a:lnTo>
                      <a:pt x="3459490" y="2867105"/>
                    </a:lnTo>
                    <a:lnTo>
                      <a:pt x="477860" y="2867105"/>
                    </a:lnTo>
                    <a:cubicBezTo>
                      <a:pt x="213945" y="2867105"/>
                      <a:pt x="0" y="2653160"/>
                      <a:pt x="0" y="2389245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62" name="任意多边形: 形状 466961">
                <a:extLst>
                  <a:ext uri="{FF2B5EF4-FFF2-40B4-BE49-F238E27FC236}">
                    <a16:creationId xmlns:a16="http://schemas.microsoft.com/office/drawing/2014/main" id="{D083F042-0879-45F3-A207-BF0D2EC1AD9C}"/>
                  </a:ext>
                </a:extLst>
              </p:cNvPr>
              <p:cNvSpPr/>
              <p:nvPr/>
            </p:nvSpPr>
            <p:spPr bwMode="auto">
              <a:xfrm>
                <a:off x="5582533" y="2005758"/>
                <a:ext cx="3459491" cy="2867104"/>
              </a:xfrm>
              <a:custGeom>
                <a:avLst/>
                <a:gdLst>
                  <a:gd name="connsiteX0" fmla="*/ 0 w 3459491"/>
                  <a:gd name="connsiteY0" fmla="*/ 2389244 h 2867104"/>
                  <a:gd name="connsiteX1" fmla="*/ 13 w 3459491"/>
                  <a:gd name="connsiteY1" fmla="*/ 477860 h 2867104"/>
                  <a:gd name="connsiteX2" fmla="*/ 477860 w 3459491"/>
                  <a:gd name="connsiteY2" fmla="*/ 0 h 2867104"/>
                  <a:gd name="connsiteX3" fmla="*/ 3459491 w 3459491"/>
                  <a:gd name="connsiteY3" fmla="*/ 0 h 2867104"/>
                  <a:gd name="connsiteX4" fmla="*/ 3459491 w 3459491"/>
                  <a:gd name="connsiteY4" fmla="*/ 0 h 2867104"/>
                  <a:gd name="connsiteX5" fmla="*/ 3459491 w 3459491"/>
                  <a:gd name="connsiteY5" fmla="*/ 2867104 h 2867104"/>
                  <a:gd name="connsiteX6" fmla="*/ 3459491 w 3459491"/>
                  <a:gd name="connsiteY6" fmla="*/ 2867104 h 2867104"/>
                  <a:gd name="connsiteX7" fmla="*/ 477860 w 3459491"/>
                  <a:gd name="connsiteY7" fmla="*/ 2867104 h 2867104"/>
                  <a:gd name="connsiteX8" fmla="*/ 0 w 3459491"/>
                  <a:gd name="connsiteY8" fmla="*/ 2389244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1" h="2867104">
                    <a:moveTo>
                      <a:pt x="0" y="2389244"/>
                    </a:moveTo>
                    <a:lnTo>
                      <a:pt x="13" y="477860"/>
                    </a:lnTo>
                    <a:cubicBezTo>
                      <a:pt x="0" y="213945"/>
                      <a:pt x="213946" y="0"/>
                      <a:pt x="477860" y="0"/>
                    </a:cubicBezTo>
                    <a:lnTo>
                      <a:pt x="3459491" y="0"/>
                    </a:lnTo>
                    <a:lnTo>
                      <a:pt x="3459491" y="0"/>
                    </a:lnTo>
                    <a:lnTo>
                      <a:pt x="3459491" y="2867104"/>
                    </a:lnTo>
                    <a:lnTo>
                      <a:pt x="3459491" y="2867104"/>
                    </a:lnTo>
                    <a:lnTo>
                      <a:pt x="477860" y="2867104"/>
                    </a:lnTo>
                    <a:cubicBezTo>
                      <a:pt x="213946" y="2867104"/>
                      <a:pt x="0" y="2653159"/>
                      <a:pt x="0" y="2389244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63" name="任意多边形: 形状 466962">
                <a:extLst>
                  <a:ext uri="{FF2B5EF4-FFF2-40B4-BE49-F238E27FC236}">
                    <a16:creationId xmlns:a16="http://schemas.microsoft.com/office/drawing/2014/main" id="{CA88892A-146D-4C2E-B891-97B3AF4A4C42}"/>
                  </a:ext>
                </a:extLst>
              </p:cNvPr>
              <p:cNvSpPr/>
              <p:nvPr/>
            </p:nvSpPr>
            <p:spPr bwMode="auto">
              <a:xfrm>
                <a:off x="5538069" y="1961703"/>
                <a:ext cx="3459490" cy="2867104"/>
              </a:xfrm>
              <a:custGeom>
                <a:avLst/>
                <a:gdLst>
                  <a:gd name="connsiteX0" fmla="*/ 0 w 3459490"/>
                  <a:gd name="connsiteY0" fmla="*/ 2389244 h 2867104"/>
                  <a:gd name="connsiteX1" fmla="*/ 13 w 3459490"/>
                  <a:gd name="connsiteY1" fmla="*/ 477860 h 2867104"/>
                  <a:gd name="connsiteX2" fmla="*/ 477860 w 3459490"/>
                  <a:gd name="connsiteY2" fmla="*/ 0 h 2867104"/>
                  <a:gd name="connsiteX3" fmla="*/ 3459490 w 3459490"/>
                  <a:gd name="connsiteY3" fmla="*/ 0 h 2867104"/>
                  <a:gd name="connsiteX4" fmla="*/ 3459490 w 3459490"/>
                  <a:gd name="connsiteY4" fmla="*/ 0 h 2867104"/>
                  <a:gd name="connsiteX5" fmla="*/ 3459490 w 3459490"/>
                  <a:gd name="connsiteY5" fmla="*/ 2867104 h 2867104"/>
                  <a:gd name="connsiteX6" fmla="*/ 3459490 w 3459490"/>
                  <a:gd name="connsiteY6" fmla="*/ 2867104 h 2867104"/>
                  <a:gd name="connsiteX7" fmla="*/ 477860 w 3459490"/>
                  <a:gd name="connsiteY7" fmla="*/ 2867104 h 2867104"/>
                  <a:gd name="connsiteX8" fmla="*/ 0 w 3459490"/>
                  <a:gd name="connsiteY8" fmla="*/ 2389244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0" h="2867104">
                    <a:moveTo>
                      <a:pt x="0" y="2389244"/>
                    </a:moveTo>
                    <a:lnTo>
                      <a:pt x="13" y="477860"/>
                    </a:lnTo>
                    <a:cubicBezTo>
                      <a:pt x="0" y="213945"/>
                      <a:pt x="213945" y="0"/>
                      <a:pt x="477860" y="0"/>
                    </a:cubicBezTo>
                    <a:lnTo>
                      <a:pt x="3459490" y="0"/>
                    </a:lnTo>
                    <a:lnTo>
                      <a:pt x="3459490" y="0"/>
                    </a:lnTo>
                    <a:lnTo>
                      <a:pt x="3459490" y="2867104"/>
                    </a:lnTo>
                    <a:lnTo>
                      <a:pt x="3459490" y="2867104"/>
                    </a:lnTo>
                    <a:lnTo>
                      <a:pt x="477860" y="2867104"/>
                    </a:lnTo>
                    <a:cubicBezTo>
                      <a:pt x="213945" y="2867104"/>
                      <a:pt x="0" y="2653160"/>
                      <a:pt x="0" y="2389244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64" name="任意多边形: 形状 466963">
                <a:extLst>
                  <a:ext uri="{FF2B5EF4-FFF2-40B4-BE49-F238E27FC236}">
                    <a16:creationId xmlns:a16="http://schemas.microsoft.com/office/drawing/2014/main" id="{FB28D25E-670E-47ED-8799-2BB2C1A45443}"/>
                  </a:ext>
                </a:extLst>
              </p:cNvPr>
              <p:cNvSpPr/>
              <p:nvPr/>
            </p:nvSpPr>
            <p:spPr bwMode="auto">
              <a:xfrm>
                <a:off x="5493602" y="1917649"/>
                <a:ext cx="3459491" cy="2867104"/>
              </a:xfrm>
              <a:custGeom>
                <a:avLst/>
                <a:gdLst>
                  <a:gd name="connsiteX0" fmla="*/ 0 w 3459491"/>
                  <a:gd name="connsiteY0" fmla="*/ 2389244 h 2867104"/>
                  <a:gd name="connsiteX1" fmla="*/ 13 w 3459491"/>
                  <a:gd name="connsiteY1" fmla="*/ 477860 h 2867104"/>
                  <a:gd name="connsiteX2" fmla="*/ 477860 w 3459491"/>
                  <a:gd name="connsiteY2" fmla="*/ 0 h 2867104"/>
                  <a:gd name="connsiteX3" fmla="*/ 3459491 w 3459491"/>
                  <a:gd name="connsiteY3" fmla="*/ 0 h 2867104"/>
                  <a:gd name="connsiteX4" fmla="*/ 3459491 w 3459491"/>
                  <a:gd name="connsiteY4" fmla="*/ 0 h 2867104"/>
                  <a:gd name="connsiteX5" fmla="*/ 3459491 w 3459491"/>
                  <a:gd name="connsiteY5" fmla="*/ 2867104 h 2867104"/>
                  <a:gd name="connsiteX6" fmla="*/ 3459491 w 3459491"/>
                  <a:gd name="connsiteY6" fmla="*/ 2867104 h 2867104"/>
                  <a:gd name="connsiteX7" fmla="*/ 477860 w 3459491"/>
                  <a:gd name="connsiteY7" fmla="*/ 2867104 h 2867104"/>
                  <a:gd name="connsiteX8" fmla="*/ 0 w 3459491"/>
                  <a:gd name="connsiteY8" fmla="*/ 2389244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1" h="2867104">
                    <a:moveTo>
                      <a:pt x="0" y="2389244"/>
                    </a:moveTo>
                    <a:lnTo>
                      <a:pt x="13" y="477860"/>
                    </a:lnTo>
                    <a:cubicBezTo>
                      <a:pt x="0" y="213945"/>
                      <a:pt x="213946" y="0"/>
                      <a:pt x="477860" y="0"/>
                    </a:cubicBezTo>
                    <a:lnTo>
                      <a:pt x="3459491" y="0"/>
                    </a:lnTo>
                    <a:lnTo>
                      <a:pt x="3459491" y="0"/>
                    </a:lnTo>
                    <a:lnTo>
                      <a:pt x="3459491" y="2867104"/>
                    </a:lnTo>
                    <a:lnTo>
                      <a:pt x="3459491" y="2867104"/>
                    </a:lnTo>
                    <a:lnTo>
                      <a:pt x="477860" y="2867104"/>
                    </a:lnTo>
                    <a:cubicBezTo>
                      <a:pt x="213946" y="2867104"/>
                      <a:pt x="0" y="2653159"/>
                      <a:pt x="0" y="2389244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65" name="任意多边形: 形状 466964">
                <a:extLst>
                  <a:ext uri="{FF2B5EF4-FFF2-40B4-BE49-F238E27FC236}">
                    <a16:creationId xmlns:a16="http://schemas.microsoft.com/office/drawing/2014/main" id="{1FD4C06D-70F0-4FF2-BEAD-6E88DD6FDC13}"/>
                  </a:ext>
                </a:extLst>
              </p:cNvPr>
              <p:cNvSpPr/>
              <p:nvPr/>
            </p:nvSpPr>
            <p:spPr bwMode="auto">
              <a:xfrm>
                <a:off x="5449138" y="1873594"/>
                <a:ext cx="3459490" cy="2867104"/>
              </a:xfrm>
              <a:custGeom>
                <a:avLst/>
                <a:gdLst>
                  <a:gd name="connsiteX0" fmla="*/ 0 w 3459490"/>
                  <a:gd name="connsiteY0" fmla="*/ 2389244 h 2867104"/>
                  <a:gd name="connsiteX1" fmla="*/ 13 w 3459490"/>
                  <a:gd name="connsiteY1" fmla="*/ 477860 h 2867104"/>
                  <a:gd name="connsiteX2" fmla="*/ 477860 w 3459490"/>
                  <a:gd name="connsiteY2" fmla="*/ 0 h 2867104"/>
                  <a:gd name="connsiteX3" fmla="*/ 3459490 w 3459490"/>
                  <a:gd name="connsiteY3" fmla="*/ 0 h 2867104"/>
                  <a:gd name="connsiteX4" fmla="*/ 3459490 w 3459490"/>
                  <a:gd name="connsiteY4" fmla="*/ 0 h 2867104"/>
                  <a:gd name="connsiteX5" fmla="*/ 3459490 w 3459490"/>
                  <a:gd name="connsiteY5" fmla="*/ 2867104 h 2867104"/>
                  <a:gd name="connsiteX6" fmla="*/ 3459490 w 3459490"/>
                  <a:gd name="connsiteY6" fmla="*/ 2867104 h 2867104"/>
                  <a:gd name="connsiteX7" fmla="*/ 477860 w 3459490"/>
                  <a:gd name="connsiteY7" fmla="*/ 2867104 h 2867104"/>
                  <a:gd name="connsiteX8" fmla="*/ 0 w 3459490"/>
                  <a:gd name="connsiteY8" fmla="*/ 2389244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0" h="2867104">
                    <a:moveTo>
                      <a:pt x="0" y="2389244"/>
                    </a:moveTo>
                    <a:lnTo>
                      <a:pt x="13" y="477860"/>
                    </a:lnTo>
                    <a:cubicBezTo>
                      <a:pt x="0" y="213945"/>
                      <a:pt x="213945" y="0"/>
                      <a:pt x="477860" y="0"/>
                    </a:cubicBezTo>
                    <a:lnTo>
                      <a:pt x="3459490" y="0"/>
                    </a:lnTo>
                    <a:lnTo>
                      <a:pt x="3459490" y="0"/>
                    </a:lnTo>
                    <a:lnTo>
                      <a:pt x="3459490" y="2867104"/>
                    </a:lnTo>
                    <a:lnTo>
                      <a:pt x="3459490" y="2867104"/>
                    </a:lnTo>
                    <a:lnTo>
                      <a:pt x="477860" y="2867104"/>
                    </a:lnTo>
                    <a:cubicBezTo>
                      <a:pt x="213945" y="2867104"/>
                      <a:pt x="0" y="2653159"/>
                      <a:pt x="0" y="2389244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66" name="任意多边形: 形状 466965">
                <a:extLst>
                  <a:ext uri="{FF2B5EF4-FFF2-40B4-BE49-F238E27FC236}">
                    <a16:creationId xmlns:a16="http://schemas.microsoft.com/office/drawing/2014/main" id="{9EE30DBB-6592-4438-82EB-D778B287E33D}"/>
                  </a:ext>
                </a:extLst>
              </p:cNvPr>
              <p:cNvSpPr/>
              <p:nvPr/>
            </p:nvSpPr>
            <p:spPr bwMode="auto">
              <a:xfrm>
                <a:off x="5404671" y="1829539"/>
                <a:ext cx="3459491" cy="2867104"/>
              </a:xfrm>
              <a:custGeom>
                <a:avLst/>
                <a:gdLst>
                  <a:gd name="connsiteX0" fmla="*/ 0 w 3459491"/>
                  <a:gd name="connsiteY0" fmla="*/ 2389245 h 2867104"/>
                  <a:gd name="connsiteX1" fmla="*/ 13 w 3459491"/>
                  <a:gd name="connsiteY1" fmla="*/ 477860 h 2867104"/>
                  <a:gd name="connsiteX2" fmla="*/ 477860 w 3459491"/>
                  <a:gd name="connsiteY2" fmla="*/ 0 h 2867104"/>
                  <a:gd name="connsiteX3" fmla="*/ 3459491 w 3459491"/>
                  <a:gd name="connsiteY3" fmla="*/ 0 h 2867104"/>
                  <a:gd name="connsiteX4" fmla="*/ 3459491 w 3459491"/>
                  <a:gd name="connsiteY4" fmla="*/ 0 h 2867104"/>
                  <a:gd name="connsiteX5" fmla="*/ 3459491 w 3459491"/>
                  <a:gd name="connsiteY5" fmla="*/ 2867104 h 2867104"/>
                  <a:gd name="connsiteX6" fmla="*/ 3459491 w 3459491"/>
                  <a:gd name="connsiteY6" fmla="*/ 2867104 h 2867104"/>
                  <a:gd name="connsiteX7" fmla="*/ 477860 w 3459491"/>
                  <a:gd name="connsiteY7" fmla="*/ 2867104 h 2867104"/>
                  <a:gd name="connsiteX8" fmla="*/ 0 w 3459491"/>
                  <a:gd name="connsiteY8" fmla="*/ 2389245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1" h="2867104">
                    <a:moveTo>
                      <a:pt x="0" y="2389245"/>
                    </a:moveTo>
                    <a:lnTo>
                      <a:pt x="13" y="477860"/>
                    </a:lnTo>
                    <a:cubicBezTo>
                      <a:pt x="0" y="213946"/>
                      <a:pt x="213946" y="0"/>
                      <a:pt x="477860" y="0"/>
                    </a:cubicBezTo>
                    <a:lnTo>
                      <a:pt x="3459491" y="0"/>
                    </a:lnTo>
                    <a:lnTo>
                      <a:pt x="3459491" y="0"/>
                    </a:lnTo>
                    <a:lnTo>
                      <a:pt x="3459491" y="2867104"/>
                    </a:lnTo>
                    <a:lnTo>
                      <a:pt x="3459491" y="2867104"/>
                    </a:lnTo>
                    <a:lnTo>
                      <a:pt x="477860" y="2867104"/>
                    </a:lnTo>
                    <a:cubicBezTo>
                      <a:pt x="213946" y="2867104"/>
                      <a:pt x="0" y="2653159"/>
                      <a:pt x="0" y="2389245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67" name="任意多边形: 形状 466966">
                <a:extLst>
                  <a:ext uri="{FF2B5EF4-FFF2-40B4-BE49-F238E27FC236}">
                    <a16:creationId xmlns:a16="http://schemas.microsoft.com/office/drawing/2014/main" id="{0EA352E2-0DF8-42FC-9D07-EB8EE1456A5A}"/>
                  </a:ext>
                </a:extLst>
              </p:cNvPr>
              <p:cNvSpPr/>
              <p:nvPr/>
            </p:nvSpPr>
            <p:spPr bwMode="auto">
              <a:xfrm>
                <a:off x="5360207" y="1785485"/>
                <a:ext cx="3459490" cy="2867104"/>
              </a:xfrm>
              <a:custGeom>
                <a:avLst/>
                <a:gdLst>
                  <a:gd name="connsiteX0" fmla="*/ 0 w 3459490"/>
                  <a:gd name="connsiteY0" fmla="*/ 2389244 h 2867104"/>
                  <a:gd name="connsiteX1" fmla="*/ 13 w 3459490"/>
                  <a:gd name="connsiteY1" fmla="*/ 477860 h 2867104"/>
                  <a:gd name="connsiteX2" fmla="*/ 477860 w 3459490"/>
                  <a:gd name="connsiteY2" fmla="*/ 0 h 2867104"/>
                  <a:gd name="connsiteX3" fmla="*/ 3459490 w 3459490"/>
                  <a:gd name="connsiteY3" fmla="*/ 0 h 2867104"/>
                  <a:gd name="connsiteX4" fmla="*/ 3459490 w 3459490"/>
                  <a:gd name="connsiteY4" fmla="*/ 0 h 2867104"/>
                  <a:gd name="connsiteX5" fmla="*/ 3459490 w 3459490"/>
                  <a:gd name="connsiteY5" fmla="*/ 2867104 h 2867104"/>
                  <a:gd name="connsiteX6" fmla="*/ 3459490 w 3459490"/>
                  <a:gd name="connsiteY6" fmla="*/ 2867104 h 2867104"/>
                  <a:gd name="connsiteX7" fmla="*/ 477860 w 3459490"/>
                  <a:gd name="connsiteY7" fmla="*/ 2867104 h 2867104"/>
                  <a:gd name="connsiteX8" fmla="*/ 0 w 3459490"/>
                  <a:gd name="connsiteY8" fmla="*/ 2389244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0" h="2867104">
                    <a:moveTo>
                      <a:pt x="0" y="2389244"/>
                    </a:moveTo>
                    <a:lnTo>
                      <a:pt x="13" y="477860"/>
                    </a:lnTo>
                    <a:cubicBezTo>
                      <a:pt x="0" y="213945"/>
                      <a:pt x="213945" y="0"/>
                      <a:pt x="477860" y="0"/>
                    </a:cubicBezTo>
                    <a:lnTo>
                      <a:pt x="3459490" y="0"/>
                    </a:lnTo>
                    <a:lnTo>
                      <a:pt x="3459490" y="0"/>
                    </a:lnTo>
                    <a:lnTo>
                      <a:pt x="3459490" y="2867104"/>
                    </a:lnTo>
                    <a:lnTo>
                      <a:pt x="3459490" y="2867104"/>
                    </a:lnTo>
                    <a:lnTo>
                      <a:pt x="477860" y="2867104"/>
                    </a:lnTo>
                    <a:cubicBezTo>
                      <a:pt x="213945" y="2867104"/>
                      <a:pt x="0" y="2653159"/>
                      <a:pt x="0" y="2389244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68" name="任意多边形: 形状 466967">
                <a:extLst>
                  <a:ext uri="{FF2B5EF4-FFF2-40B4-BE49-F238E27FC236}">
                    <a16:creationId xmlns:a16="http://schemas.microsoft.com/office/drawing/2014/main" id="{54588078-9E32-4766-A8B8-140045943AA9}"/>
                  </a:ext>
                </a:extLst>
              </p:cNvPr>
              <p:cNvSpPr/>
              <p:nvPr/>
            </p:nvSpPr>
            <p:spPr bwMode="auto">
              <a:xfrm>
                <a:off x="5315740" y="1741430"/>
                <a:ext cx="3459491" cy="2867104"/>
              </a:xfrm>
              <a:custGeom>
                <a:avLst/>
                <a:gdLst>
                  <a:gd name="connsiteX0" fmla="*/ 0 w 3459491"/>
                  <a:gd name="connsiteY0" fmla="*/ 2389244 h 2867104"/>
                  <a:gd name="connsiteX1" fmla="*/ 13 w 3459491"/>
                  <a:gd name="connsiteY1" fmla="*/ 477860 h 2867104"/>
                  <a:gd name="connsiteX2" fmla="*/ 477860 w 3459491"/>
                  <a:gd name="connsiteY2" fmla="*/ 0 h 2867104"/>
                  <a:gd name="connsiteX3" fmla="*/ 3459491 w 3459491"/>
                  <a:gd name="connsiteY3" fmla="*/ 0 h 2867104"/>
                  <a:gd name="connsiteX4" fmla="*/ 3459491 w 3459491"/>
                  <a:gd name="connsiteY4" fmla="*/ 0 h 2867104"/>
                  <a:gd name="connsiteX5" fmla="*/ 3459491 w 3459491"/>
                  <a:gd name="connsiteY5" fmla="*/ 2867104 h 2867104"/>
                  <a:gd name="connsiteX6" fmla="*/ 3459491 w 3459491"/>
                  <a:gd name="connsiteY6" fmla="*/ 2867104 h 2867104"/>
                  <a:gd name="connsiteX7" fmla="*/ 477860 w 3459491"/>
                  <a:gd name="connsiteY7" fmla="*/ 2867104 h 2867104"/>
                  <a:gd name="connsiteX8" fmla="*/ 0 w 3459491"/>
                  <a:gd name="connsiteY8" fmla="*/ 2389244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1" h="2867104">
                    <a:moveTo>
                      <a:pt x="0" y="2389244"/>
                    </a:moveTo>
                    <a:lnTo>
                      <a:pt x="13" y="477860"/>
                    </a:lnTo>
                    <a:cubicBezTo>
                      <a:pt x="0" y="213945"/>
                      <a:pt x="213946" y="0"/>
                      <a:pt x="477860" y="0"/>
                    </a:cubicBezTo>
                    <a:lnTo>
                      <a:pt x="3459491" y="0"/>
                    </a:lnTo>
                    <a:lnTo>
                      <a:pt x="3459491" y="0"/>
                    </a:lnTo>
                    <a:lnTo>
                      <a:pt x="3459491" y="2867104"/>
                    </a:lnTo>
                    <a:lnTo>
                      <a:pt x="3459491" y="2867104"/>
                    </a:lnTo>
                    <a:lnTo>
                      <a:pt x="477860" y="2867104"/>
                    </a:lnTo>
                    <a:cubicBezTo>
                      <a:pt x="213946" y="2867104"/>
                      <a:pt x="0" y="2653160"/>
                      <a:pt x="0" y="2389244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69" name="任意多边形: 形状 466968">
                <a:extLst>
                  <a:ext uri="{FF2B5EF4-FFF2-40B4-BE49-F238E27FC236}">
                    <a16:creationId xmlns:a16="http://schemas.microsoft.com/office/drawing/2014/main" id="{FA514FA6-74F9-48BB-980B-7B8312E21653}"/>
                  </a:ext>
                </a:extLst>
              </p:cNvPr>
              <p:cNvSpPr/>
              <p:nvPr/>
            </p:nvSpPr>
            <p:spPr bwMode="auto">
              <a:xfrm>
                <a:off x="5271276" y="1697376"/>
                <a:ext cx="3459490" cy="2867104"/>
              </a:xfrm>
              <a:custGeom>
                <a:avLst/>
                <a:gdLst>
                  <a:gd name="connsiteX0" fmla="*/ 0 w 3459490"/>
                  <a:gd name="connsiteY0" fmla="*/ 2389244 h 2867104"/>
                  <a:gd name="connsiteX1" fmla="*/ 13 w 3459490"/>
                  <a:gd name="connsiteY1" fmla="*/ 477860 h 2867104"/>
                  <a:gd name="connsiteX2" fmla="*/ 477860 w 3459490"/>
                  <a:gd name="connsiteY2" fmla="*/ 0 h 2867104"/>
                  <a:gd name="connsiteX3" fmla="*/ 3459490 w 3459490"/>
                  <a:gd name="connsiteY3" fmla="*/ 0 h 2867104"/>
                  <a:gd name="connsiteX4" fmla="*/ 3459490 w 3459490"/>
                  <a:gd name="connsiteY4" fmla="*/ 0 h 2867104"/>
                  <a:gd name="connsiteX5" fmla="*/ 3459490 w 3459490"/>
                  <a:gd name="connsiteY5" fmla="*/ 2867104 h 2867104"/>
                  <a:gd name="connsiteX6" fmla="*/ 3459490 w 3459490"/>
                  <a:gd name="connsiteY6" fmla="*/ 2867104 h 2867104"/>
                  <a:gd name="connsiteX7" fmla="*/ 477860 w 3459490"/>
                  <a:gd name="connsiteY7" fmla="*/ 2867104 h 2867104"/>
                  <a:gd name="connsiteX8" fmla="*/ 0 w 3459490"/>
                  <a:gd name="connsiteY8" fmla="*/ 2389244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0" h="2867104">
                    <a:moveTo>
                      <a:pt x="0" y="2389244"/>
                    </a:moveTo>
                    <a:lnTo>
                      <a:pt x="13" y="477860"/>
                    </a:lnTo>
                    <a:cubicBezTo>
                      <a:pt x="0" y="213945"/>
                      <a:pt x="213945" y="0"/>
                      <a:pt x="477860" y="0"/>
                    </a:cubicBezTo>
                    <a:lnTo>
                      <a:pt x="3459490" y="0"/>
                    </a:lnTo>
                    <a:lnTo>
                      <a:pt x="3459490" y="0"/>
                    </a:lnTo>
                    <a:lnTo>
                      <a:pt x="3459490" y="2867104"/>
                    </a:lnTo>
                    <a:lnTo>
                      <a:pt x="3459490" y="2867104"/>
                    </a:lnTo>
                    <a:lnTo>
                      <a:pt x="477860" y="2867104"/>
                    </a:lnTo>
                    <a:cubicBezTo>
                      <a:pt x="213945" y="2867104"/>
                      <a:pt x="0" y="2653159"/>
                      <a:pt x="0" y="2389244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70" name="任意多边形: 形状 466969">
                <a:extLst>
                  <a:ext uri="{FF2B5EF4-FFF2-40B4-BE49-F238E27FC236}">
                    <a16:creationId xmlns:a16="http://schemas.microsoft.com/office/drawing/2014/main" id="{88F1D9B7-AF83-4DDD-A889-D50E3162BDDC}"/>
                  </a:ext>
                </a:extLst>
              </p:cNvPr>
              <p:cNvSpPr/>
              <p:nvPr/>
            </p:nvSpPr>
            <p:spPr bwMode="auto">
              <a:xfrm>
                <a:off x="5226809" y="1653321"/>
                <a:ext cx="3459491" cy="2867104"/>
              </a:xfrm>
              <a:custGeom>
                <a:avLst/>
                <a:gdLst>
                  <a:gd name="connsiteX0" fmla="*/ 0 w 3459491"/>
                  <a:gd name="connsiteY0" fmla="*/ 2389244 h 2867104"/>
                  <a:gd name="connsiteX1" fmla="*/ 13 w 3459491"/>
                  <a:gd name="connsiteY1" fmla="*/ 477860 h 2867104"/>
                  <a:gd name="connsiteX2" fmla="*/ 477860 w 3459491"/>
                  <a:gd name="connsiteY2" fmla="*/ 0 h 2867104"/>
                  <a:gd name="connsiteX3" fmla="*/ 3459491 w 3459491"/>
                  <a:gd name="connsiteY3" fmla="*/ 0 h 2867104"/>
                  <a:gd name="connsiteX4" fmla="*/ 3459491 w 3459491"/>
                  <a:gd name="connsiteY4" fmla="*/ 0 h 2867104"/>
                  <a:gd name="connsiteX5" fmla="*/ 3459491 w 3459491"/>
                  <a:gd name="connsiteY5" fmla="*/ 2867104 h 2867104"/>
                  <a:gd name="connsiteX6" fmla="*/ 3459491 w 3459491"/>
                  <a:gd name="connsiteY6" fmla="*/ 2867104 h 2867104"/>
                  <a:gd name="connsiteX7" fmla="*/ 477860 w 3459491"/>
                  <a:gd name="connsiteY7" fmla="*/ 2867104 h 2867104"/>
                  <a:gd name="connsiteX8" fmla="*/ 0 w 3459491"/>
                  <a:gd name="connsiteY8" fmla="*/ 2389244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1" h="2867104">
                    <a:moveTo>
                      <a:pt x="0" y="2389244"/>
                    </a:moveTo>
                    <a:lnTo>
                      <a:pt x="13" y="477860"/>
                    </a:lnTo>
                    <a:cubicBezTo>
                      <a:pt x="0" y="213945"/>
                      <a:pt x="213945" y="0"/>
                      <a:pt x="477860" y="0"/>
                    </a:cubicBezTo>
                    <a:lnTo>
                      <a:pt x="3459491" y="0"/>
                    </a:lnTo>
                    <a:lnTo>
                      <a:pt x="3459491" y="0"/>
                    </a:lnTo>
                    <a:lnTo>
                      <a:pt x="3459491" y="2867104"/>
                    </a:lnTo>
                    <a:lnTo>
                      <a:pt x="3459491" y="2867104"/>
                    </a:lnTo>
                    <a:lnTo>
                      <a:pt x="477860" y="2867104"/>
                    </a:lnTo>
                    <a:cubicBezTo>
                      <a:pt x="213945" y="2867104"/>
                      <a:pt x="0" y="2653159"/>
                      <a:pt x="0" y="2389244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71" name="任意多边形: 形状 466970">
                <a:extLst>
                  <a:ext uri="{FF2B5EF4-FFF2-40B4-BE49-F238E27FC236}">
                    <a16:creationId xmlns:a16="http://schemas.microsoft.com/office/drawing/2014/main" id="{DF343671-04EE-41F9-A774-7D9F2E1E3811}"/>
                  </a:ext>
                </a:extLst>
              </p:cNvPr>
              <p:cNvSpPr/>
              <p:nvPr/>
            </p:nvSpPr>
            <p:spPr bwMode="auto">
              <a:xfrm>
                <a:off x="5182345" y="1609266"/>
                <a:ext cx="3459490" cy="2867104"/>
              </a:xfrm>
              <a:custGeom>
                <a:avLst/>
                <a:gdLst>
                  <a:gd name="connsiteX0" fmla="*/ 0 w 3459490"/>
                  <a:gd name="connsiteY0" fmla="*/ 2389245 h 2867104"/>
                  <a:gd name="connsiteX1" fmla="*/ 13 w 3459490"/>
                  <a:gd name="connsiteY1" fmla="*/ 477860 h 2867104"/>
                  <a:gd name="connsiteX2" fmla="*/ 477860 w 3459490"/>
                  <a:gd name="connsiteY2" fmla="*/ 0 h 2867104"/>
                  <a:gd name="connsiteX3" fmla="*/ 3459490 w 3459490"/>
                  <a:gd name="connsiteY3" fmla="*/ 0 h 2867104"/>
                  <a:gd name="connsiteX4" fmla="*/ 3459490 w 3459490"/>
                  <a:gd name="connsiteY4" fmla="*/ 0 h 2867104"/>
                  <a:gd name="connsiteX5" fmla="*/ 3459490 w 3459490"/>
                  <a:gd name="connsiteY5" fmla="*/ 2867104 h 2867104"/>
                  <a:gd name="connsiteX6" fmla="*/ 3459490 w 3459490"/>
                  <a:gd name="connsiteY6" fmla="*/ 2867104 h 2867104"/>
                  <a:gd name="connsiteX7" fmla="*/ 477860 w 3459490"/>
                  <a:gd name="connsiteY7" fmla="*/ 2867104 h 2867104"/>
                  <a:gd name="connsiteX8" fmla="*/ 0 w 3459490"/>
                  <a:gd name="connsiteY8" fmla="*/ 2389245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0" h="2867104">
                    <a:moveTo>
                      <a:pt x="0" y="2389245"/>
                    </a:moveTo>
                    <a:lnTo>
                      <a:pt x="13" y="477860"/>
                    </a:lnTo>
                    <a:cubicBezTo>
                      <a:pt x="0" y="213945"/>
                      <a:pt x="213945" y="0"/>
                      <a:pt x="477860" y="0"/>
                    </a:cubicBezTo>
                    <a:lnTo>
                      <a:pt x="3459490" y="0"/>
                    </a:lnTo>
                    <a:lnTo>
                      <a:pt x="3459490" y="0"/>
                    </a:lnTo>
                    <a:lnTo>
                      <a:pt x="3459490" y="2867104"/>
                    </a:lnTo>
                    <a:lnTo>
                      <a:pt x="3459490" y="2867104"/>
                    </a:lnTo>
                    <a:lnTo>
                      <a:pt x="477860" y="2867104"/>
                    </a:lnTo>
                    <a:cubicBezTo>
                      <a:pt x="213945" y="2867104"/>
                      <a:pt x="0" y="2653159"/>
                      <a:pt x="0" y="2389245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72" name="任意多边形: 形状 466971">
                <a:extLst>
                  <a:ext uri="{FF2B5EF4-FFF2-40B4-BE49-F238E27FC236}">
                    <a16:creationId xmlns:a16="http://schemas.microsoft.com/office/drawing/2014/main" id="{41D25F15-C331-4651-A2D6-E86049B272DB}"/>
                  </a:ext>
                </a:extLst>
              </p:cNvPr>
              <p:cNvSpPr/>
              <p:nvPr/>
            </p:nvSpPr>
            <p:spPr bwMode="auto">
              <a:xfrm>
                <a:off x="5137878" y="1565212"/>
                <a:ext cx="3459491" cy="2867104"/>
              </a:xfrm>
              <a:custGeom>
                <a:avLst/>
                <a:gdLst>
                  <a:gd name="connsiteX0" fmla="*/ 0 w 3459491"/>
                  <a:gd name="connsiteY0" fmla="*/ 2389244 h 2867104"/>
                  <a:gd name="connsiteX1" fmla="*/ 13 w 3459491"/>
                  <a:gd name="connsiteY1" fmla="*/ 477860 h 2867104"/>
                  <a:gd name="connsiteX2" fmla="*/ 477860 w 3459491"/>
                  <a:gd name="connsiteY2" fmla="*/ 0 h 2867104"/>
                  <a:gd name="connsiteX3" fmla="*/ 3459491 w 3459491"/>
                  <a:gd name="connsiteY3" fmla="*/ 0 h 2867104"/>
                  <a:gd name="connsiteX4" fmla="*/ 3459491 w 3459491"/>
                  <a:gd name="connsiteY4" fmla="*/ 0 h 2867104"/>
                  <a:gd name="connsiteX5" fmla="*/ 3459491 w 3459491"/>
                  <a:gd name="connsiteY5" fmla="*/ 2867104 h 2867104"/>
                  <a:gd name="connsiteX6" fmla="*/ 3459491 w 3459491"/>
                  <a:gd name="connsiteY6" fmla="*/ 2867104 h 2867104"/>
                  <a:gd name="connsiteX7" fmla="*/ 477860 w 3459491"/>
                  <a:gd name="connsiteY7" fmla="*/ 2867104 h 2867104"/>
                  <a:gd name="connsiteX8" fmla="*/ 0 w 3459491"/>
                  <a:gd name="connsiteY8" fmla="*/ 2389244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1" h="2867104">
                    <a:moveTo>
                      <a:pt x="0" y="2389244"/>
                    </a:moveTo>
                    <a:lnTo>
                      <a:pt x="13" y="477860"/>
                    </a:lnTo>
                    <a:cubicBezTo>
                      <a:pt x="0" y="213945"/>
                      <a:pt x="213945" y="0"/>
                      <a:pt x="477860" y="0"/>
                    </a:cubicBezTo>
                    <a:lnTo>
                      <a:pt x="3459491" y="0"/>
                    </a:lnTo>
                    <a:lnTo>
                      <a:pt x="3459491" y="0"/>
                    </a:lnTo>
                    <a:lnTo>
                      <a:pt x="3459491" y="2867104"/>
                    </a:lnTo>
                    <a:lnTo>
                      <a:pt x="3459491" y="2867104"/>
                    </a:lnTo>
                    <a:lnTo>
                      <a:pt x="477860" y="2867104"/>
                    </a:lnTo>
                    <a:cubicBezTo>
                      <a:pt x="213945" y="2867104"/>
                      <a:pt x="0" y="2653159"/>
                      <a:pt x="0" y="2389244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73" name="任意多边形: 形状 466972">
                <a:extLst>
                  <a:ext uri="{FF2B5EF4-FFF2-40B4-BE49-F238E27FC236}">
                    <a16:creationId xmlns:a16="http://schemas.microsoft.com/office/drawing/2014/main" id="{CD9EBE19-3D53-4D07-9B5F-0CF948C1BCB1}"/>
                  </a:ext>
                </a:extLst>
              </p:cNvPr>
              <p:cNvSpPr/>
              <p:nvPr/>
            </p:nvSpPr>
            <p:spPr bwMode="auto">
              <a:xfrm>
                <a:off x="5093414" y="1521157"/>
                <a:ext cx="3459490" cy="2867104"/>
              </a:xfrm>
              <a:custGeom>
                <a:avLst/>
                <a:gdLst>
                  <a:gd name="connsiteX0" fmla="*/ 0 w 3459490"/>
                  <a:gd name="connsiteY0" fmla="*/ 2389244 h 2867104"/>
                  <a:gd name="connsiteX1" fmla="*/ 13 w 3459490"/>
                  <a:gd name="connsiteY1" fmla="*/ 477860 h 2867104"/>
                  <a:gd name="connsiteX2" fmla="*/ 477860 w 3459490"/>
                  <a:gd name="connsiteY2" fmla="*/ 0 h 2867104"/>
                  <a:gd name="connsiteX3" fmla="*/ 3459490 w 3459490"/>
                  <a:gd name="connsiteY3" fmla="*/ 0 h 2867104"/>
                  <a:gd name="connsiteX4" fmla="*/ 3459490 w 3459490"/>
                  <a:gd name="connsiteY4" fmla="*/ 0 h 2867104"/>
                  <a:gd name="connsiteX5" fmla="*/ 3459490 w 3459490"/>
                  <a:gd name="connsiteY5" fmla="*/ 2867104 h 2867104"/>
                  <a:gd name="connsiteX6" fmla="*/ 3459490 w 3459490"/>
                  <a:gd name="connsiteY6" fmla="*/ 2867104 h 2867104"/>
                  <a:gd name="connsiteX7" fmla="*/ 477860 w 3459490"/>
                  <a:gd name="connsiteY7" fmla="*/ 2867104 h 2867104"/>
                  <a:gd name="connsiteX8" fmla="*/ 0 w 3459490"/>
                  <a:gd name="connsiteY8" fmla="*/ 2389244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0" h="2867104">
                    <a:moveTo>
                      <a:pt x="0" y="2389244"/>
                    </a:moveTo>
                    <a:lnTo>
                      <a:pt x="13" y="477860"/>
                    </a:lnTo>
                    <a:cubicBezTo>
                      <a:pt x="0" y="213945"/>
                      <a:pt x="213945" y="0"/>
                      <a:pt x="477860" y="0"/>
                    </a:cubicBezTo>
                    <a:lnTo>
                      <a:pt x="3459490" y="0"/>
                    </a:lnTo>
                    <a:lnTo>
                      <a:pt x="3459490" y="0"/>
                    </a:lnTo>
                    <a:lnTo>
                      <a:pt x="3459490" y="2867104"/>
                    </a:lnTo>
                    <a:lnTo>
                      <a:pt x="3459490" y="2867104"/>
                    </a:lnTo>
                    <a:lnTo>
                      <a:pt x="477860" y="2867104"/>
                    </a:lnTo>
                    <a:cubicBezTo>
                      <a:pt x="213945" y="2867104"/>
                      <a:pt x="0" y="2653160"/>
                      <a:pt x="0" y="2389244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74" name="任意多边形: 形状 466973">
                <a:extLst>
                  <a:ext uri="{FF2B5EF4-FFF2-40B4-BE49-F238E27FC236}">
                    <a16:creationId xmlns:a16="http://schemas.microsoft.com/office/drawing/2014/main" id="{B7DF68E3-54CC-455F-A067-6F4658E8A900}"/>
                  </a:ext>
                </a:extLst>
              </p:cNvPr>
              <p:cNvSpPr/>
              <p:nvPr/>
            </p:nvSpPr>
            <p:spPr bwMode="auto">
              <a:xfrm>
                <a:off x="5048948" y="1477103"/>
                <a:ext cx="3459490" cy="2867104"/>
              </a:xfrm>
              <a:custGeom>
                <a:avLst/>
                <a:gdLst>
                  <a:gd name="connsiteX0" fmla="*/ 0 w 3459490"/>
                  <a:gd name="connsiteY0" fmla="*/ 2389244 h 2867104"/>
                  <a:gd name="connsiteX1" fmla="*/ 13 w 3459490"/>
                  <a:gd name="connsiteY1" fmla="*/ 477860 h 2867104"/>
                  <a:gd name="connsiteX2" fmla="*/ 477860 w 3459490"/>
                  <a:gd name="connsiteY2" fmla="*/ 0 h 2867104"/>
                  <a:gd name="connsiteX3" fmla="*/ 3459490 w 3459490"/>
                  <a:gd name="connsiteY3" fmla="*/ 0 h 2867104"/>
                  <a:gd name="connsiteX4" fmla="*/ 3459490 w 3459490"/>
                  <a:gd name="connsiteY4" fmla="*/ 0 h 2867104"/>
                  <a:gd name="connsiteX5" fmla="*/ 3459490 w 3459490"/>
                  <a:gd name="connsiteY5" fmla="*/ 2867104 h 2867104"/>
                  <a:gd name="connsiteX6" fmla="*/ 3459490 w 3459490"/>
                  <a:gd name="connsiteY6" fmla="*/ 2867104 h 2867104"/>
                  <a:gd name="connsiteX7" fmla="*/ 477860 w 3459490"/>
                  <a:gd name="connsiteY7" fmla="*/ 2867104 h 2867104"/>
                  <a:gd name="connsiteX8" fmla="*/ 0 w 3459490"/>
                  <a:gd name="connsiteY8" fmla="*/ 2389244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0" h="2867104">
                    <a:moveTo>
                      <a:pt x="0" y="2389244"/>
                    </a:moveTo>
                    <a:lnTo>
                      <a:pt x="13" y="477860"/>
                    </a:lnTo>
                    <a:cubicBezTo>
                      <a:pt x="0" y="213945"/>
                      <a:pt x="213945" y="0"/>
                      <a:pt x="477860" y="0"/>
                    </a:cubicBezTo>
                    <a:lnTo>
                      <a:pt x="3459490" y="0"/>
                    </a:lnTo>
                    <a:lnTo>
                      <a:pt x="3459490" y="0"/>
                    </a:lnTo>
                    <a:lnTo>
                      <a:pt x="3459490" y="2867104"/>
                    </a:lnTo>
                    <a:lnTo>
                      <a:pt x="3459490" y="2867104"/>
                    </a:lnTo>
                    <a:lnTo>
                      <a:pt x="477860" y="2867104"/>
                    </a:lnTo>
                    <a:cubicBezTo>
                      <a:pt x="213945" y="2867104"/>
                      <a:pt x="0" y="2653159"/>
                      <a:pt x="0" y="2389244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75" name="任意多边形: 形状 466974">
                <a:extLst>
                  <a:ext uri="{FF2B5EF4-FFF2-40B4-BE49-F238E27FC236}">
                    <a16:creationId xmlns:a16="http://schemas.microsoft.com/office/drawing/2014/main" id="{54BB5C2B-8F60-4B1F-A5D7-444F44D5EB80}"/>
                  </a:ext>
                </a:extLst>
              </p:cNvPr>
              <p:cNvSpPr/>
              <p:nvPr/>
            </p:nvSpPr>
            <p:spPr bwMode="auto">
              <a:xfrm>
                <a:off x="5004483" y="1433048"/>
                <a:ext cx="3459490" cy="2867104"/>
              </a:xfrm>
              <a:custGeom>
                <a:avLst/>
                <a:gdLst>
                  <a:gd name="connsiteX0" fmla="*/ 0 w 3459490"/>
                  <a:gd name="connsiteY0" fmla="*/ 2389244 h 2867104"/>
                  <a:gd name="connsiteX1" fmla="*/ 13 w 3459490"/>
                  <a:gd name="connsiteY1" fmla="*/ 477860 h 2867104"/>
                  <a:gd name="connsiteX2" fmla="*/ 477859 w 3459490"/>
                  <a:gd name="connsiteY2" fmla="*/ 0 h 2867104"/>
                  <a:gd name="connsiteX3" fmla="*/ 3459490 w 3459490"/>
                  <a:gd name="connsiteY3" fmla="*/ 0 h 2867104"/>
                  <a:gd name="connsiteX4" fmla="*/ 3459490 w 3459490"/>
                  <a:gd name="connsiteY4" fmla="*/ 0 h 2867104"/>
                  <a:gd name="connsiteX5" fmla="*/ 3459490 w 3459490"/>
                  <a:gd name="connsiteY5" fmla="*/ 2867104 h 2867104"/>
                  <a:gd name="connsiteX6" fmla="*/ 3459490 w 3459490"/>
                  <a:gd name="connsiteY6" fmla="*/ 2867104 h 2867104"/>
                  <a:gd name="connsiteX7" fmla="*/ 477859 w 3459490"/>
                  <a:gd name="connsiteY7" fmla="*/ 2867104 h 2867104"/>
                  <a:gd name="connsiteX8" fmla="*/ 0 w 3459490"/>
                  <a:gd name="connsiteY8" fmla="*/ 2389244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0" h="2867104">
                    <a:moveTo>
                      <a:pt x="0" y="2389244"/>
                    </a:moveTo>
                    <a:lnTo>
                      <a:pt x="13" y="477860"/>
                    </a:lnTo>
                    <a:cubicBezTo>
                      <a:pt x="0" y="213945"/>
                      <a:pt x="213945" y="0"/>
                      <a:pt x="477859" y="0"/>
                    </a:cubicBezTo>
                    <a:lnTo>
                      <a:pt x="3459490" y="0"/>
                    </a:lnTo>
                    <a:lnTo>
                      <a:pt x="3459490" y="0"/>
                    </a:lnTo>
                    <a:lnTo>
                      <a:pt x="3459490" y="2867104"/>
                    </a:lnTo>
                    <a:lnTo>
                      <a:pt x="3459490" y="2867104"/>
                    </a:lnTo>
                    <a:lnTo>
                      <a:pt x="477859" y="2867104"/>
                    </a:lnTo>
                    <a:cubicBezTo>
                      <a:pt x="213945" y="2867104"/>
                      <a:pt x="0" y="2653159"/>
                      <a:pt x="0" y="2389244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76" name="任意多边形: 形状 466975">
                <a:extLst>
                  <a:ext uri="{FF2B5EF4-FFF2-40B4-BE49-F238E27FC236}">
                    <a16:creationId xmlns:a16="http://schemas.microsoft.com/office/drawing/2014/main" id="{217B73B5-1C97-4293-8FB1-7F526507A90A}"/>
                  </a:ext>
                </a:extLst>
              </p:cNvPr>
              <p:cNvSpPr/>
              <p:nvPr/>
            </p:nvSpPr>
            <p:spPr bwMode="auto">
              <a:xfrm>
                <a:off x="4960017" y="1388993"/>
                <a:ext cx="3459490" cy="2867104"/>
              </a:xfrm>
              <a:custGeom>
                <a:avLst/>
                <a:gdLst>
                  <a:gd name="connsiteX0" fmla="*/ 0 w 3459490"/>
                  <a:gd name="connsiteY0" fmla="*/ 2389244 h 2867104"/>
                  <a:gd name="connsiteX1" fmla="*/ 13 w 3459490"/>
                  <a:gd name="connsiteY1" fmla="*/ 477860 h 2867104"/>
                  <a:gd name="connsiteX2" fmla="*/ 477860 w 3459490"/>
                  <a:gd name="connsiteY2" fmla="*/ 0 h 2867104"/>
                  <a:gd name="connsiteX3" fmla="*/ 3459490 w 3459490"/>
                  <a:gd name="connsiteY3" fmla="*/ 0 h 2867104"/>
                  <a:gd name="connsiteX4" fmla="*/ 3459490 w 3459490"/>
                  <a:gd name="connsiteY4" fmla="*/ 0 h 2867104"/>
                  <a:gd name="connsiteX5" fmla="*/ 3459490 w 3459490"/>
                  <a:gd name="connsiteY5" fmla="*/ 2867104 h 2867104"/>
                  <a:gd name="connsiteX6" fmla="*/ 3459490 w 3459490"/>
                  <a:gd name="connsiteY6" fmla="*/ 2867104 h 2867104"/>
                  <a:gd name="connsiteX7" fmla="*/ 477860 w 3459490"/>
                  <a:gd name="connsiteY7" fmla="*/ 2867104 h 2867104"/>
                  <a:gd name="connsiteX8" fmla="*/ 0 w 3459490"/>
                  <a:gd name="connsiteY8" fmla="*/ 2389244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0" h="2867104">
                    <a:moveTo>
                      <a:pt x="0" y="2389244"/>
                    </a:moveTo>
                    <a:lnTo>
                      <a:pt x="13" y="477860"/>
                    </a:lnTo>
                    <a:cubicBezTo>
                      <a:pt x="0" y="213945"/>
                      <a:pt x="213945" y="0"/>
                      <a:pt x="477860" y="0"/>
                    </a:cubicBezTo>
                    <a:lnTo>
                      <a:pt x="3459490" y="0"/>
                    </a:lnTo>
                    <a:lnTo>
                      <a:pt x="3459490" y="0"/>
                    </a:lnTo>
                    <a:lnTo>
                      <a:pt x="3459490" y="2867104"/>
                    </a:lnTo>
                    <a:lnTo>
                      <a:pt x="3459490" y="2867104"/>
                    </a:lnTo>
                    <a:lnTo>
                      <a:pt x="477860" y="2867104"/>
                    </a:lnTo>
                    <a:cubicBezTo>
                      <a:pt x="213945" y="2867104"/>
                      <a:pt x="0" y="2653159"/>
                      <a:pt x="0" y="2389244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77" name="任意多边形: 形状 466976">
                <a:extLst>
                  <a:ext uri="{FF2B5EF4-FFF2-40B4-BE49-F238E27FC236}">
                    <a16:creationId xmlns:a16="http://schemas.microsoft.com/office/drawing/2014/main" id="{C984FC97-6EC5-4A31-BB5E-5DC882D064D5}"/>
                  </a:ext>
                </a:extLst>
              </p:cNvPr>
              <p:cNvSpPr/>
              <p:nvPr/>
            </p:nvSpPr>
            <p:spPr bwMode="auto">
              <a:xfrm>
                <a:off x="4915552" y="1344939"/>
                <a:ext cx="3459490" cy="2867104"/>
              </a:xfrm>
              <a:custGeom>
                <a:avLst/>
                <a:gdLst>
                  <a:gd name="connsiteX0" fmla="*/ 0 w 3459490"/>
                  <a:gd name="connsiteY0" fmla="*/ 2389244 h 2867104"/>
                  <a:gd name="connsiteX1" fmla="*/ 13 w 3459490"/>
                  <a:gd name="connsiteY1" fmla="*/ 477860 h 2867104"/>
                  <a:gd name="connsiteX2" fmla="*/ 477859 w 3459490"/>
                  <a:gd name="connsiteY2" fmla="*/ 0 h 2867104"/>
                  <a:gd name="connsiteX3" fmla="*/ 3459490 w 3459490"/>
                  <a:gd name="connsiteY3" fmla="*/ 0 h 2867104"/>
                  <a:gd name="connsiteX4" fmla="*/ 3459490 w 3459490"/>
                  <a:gd name="connsiteY4" fmla="*/ 0 h 2867104"/>
                  <a:gd name="connsiteX5" fmla="*/ 3459490 w 3459490"/>
                  <a:gd name="connsiteY5" fmla="*/ 2867104 h 2867104"/>
                  <a:gd name="connsiteX6" fmla="*/ 3459490 w 3459490"/>
                  <a:gd name="connsiteY6" fmla="*/ 2867104 h 2867104"/>
                  <a:gd name="connsiteX7" fmla="*/ 477859 w 3459490"/>
                  <a:gd name="connsiteY7" fmla="*/ 2867104 h 2867104"/>
                  <a:gd name="connsiteX8" fmla="*/ 0 w 3459490"/>
                  <a:gd name="connsiteY8" fmla="*/ 2389244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0" h="2867104">
                    <a:moveTo>
                      <a:pt x="0" y="2389244"/>
                    </a:moveTo>
                    <a:lnTo>
                      <a:pt x="13" y="477860"/>
                    </a:lnTo>
                    <a:cubicBezTo>
                      <a:pt x="0" y="213945"/>
                      <a:pt x="213945" y="0"/>
                      <a:pt x="477859" y="0"/>
                    </a:cubicBezTo>
                    <a:lnTo>
                      <a:pt x="3459490" y="0"/>
                    </a:lnTo>
                    <a:lnTo>
                      <a:pt x="3459490" y="0"/>
                    </a:lnTo>
                    <a:lnTo>
                      <a:pt x="3459490" y="2867104"/>
                    </a:lnTo>
                    <a:lnTo>
                      <a:pt x="3459490" y="2867104"/>
                    </a:lnTo>
                    <a:lnTo>
                      <a:pt x="477859" y="2867104"/>
                    </a:lnTo>
                    <a:cubicBezTo>
                      <a:pt x="213945" y="2867104"/>
                      <a:pt x="0" y="2653159"/>
                      <a:pt x="0" y="2389244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78" name="任意多边形: 形状 466977">
                <a:extLst>
                  <a:ext uri="{FF2B5EF4-FFF2-40B4-BE49-F238E27FC236}">
                    <a16:creationId xmlns:a16="http://schemas.microsoft.com/office/drawing/2014/main" id="{9D5B62FE-4C38-49BA-96B9-F2F2C6C5195B}"/>
                  </a:ext>
                </a:extLst>
              </p:cNvPr>
              <p:cNvSpPr/>
              <p:nvPr/>
            </p:nvSpPr>
            <p:spPr bwMode="auto">
              <a:xfrm>
                <a:off x="4871086" y="1300884"/>
                <a:ext cx="3459490" cy="2867104"/>
              </a:xfrm>
              <a:custGeom>
                <a:avLst/>
                <a:gdLst>
                  <a:gd name="connsiteX0" fmla="*/ 0 w 3459490"/>
                  <a:gd name="connsiteY0" fmla="*/ 2389244 h 2867104"/>
                  <a:gd name="connsiteX1" fmla="*/ 13 w 3459490"/>
                  <a:gd name="connsiteY1" fmla="*/ 477860 h 2867104"/>
                  <a:gd name="connsiteX2" fmla="*/ 477860 w 3459490"/>
                  <a:gd name="connsiteY2" fmla="*/ 0 h 2867104"/>
                  <a:gd name="connsiteX3" fmla="*/ 3459490 w 3459490"/>
                  <a:gd name="connsiteY3" fmla="*/ 0 h 2867104"/>
                  <a:gd name="connsiteX4" fmla="*/ 3459490 w 3459490"/>
                  <a:gd name="connsiteY4" fmla="*/ 0 h 2867104"/>
                  <a:gd name="connsiteX5" fmla="*/ 3459490 w 3459490"/>
                  <a:gd name="connsiteY5" fmla="*/ 2867104 h 2867104"/>
                  <a:gd name="connsiteX6" fmla="*/ 3459490 w 3459490"/>
                  <a:gd name="connsiteY6" fmla="*/ 2867104 h 2867104"/>
                  <a:gd name="connsiteX7" fmla="*/ 477860 w 3459490"/>
                  <a:gd name="connsiteY7" fmla="*/ 2867104 h 2867104"/>
                  <a:gd name="connsiteX8" fmla="*/ 0 w 3459490"/>
                  <a:gd name="connsiteY8" fmla="*/ 2389244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0" h="2867104">
                    <a:moveTo>
                      <a:pt x="0" y="2389244"/>
                    </a:moveTo>
                    <a:lnTo>
                      <a:pt x="13" y="477860"/>
                    </a:lnTo>
                    <a:cubicBezTo>
                      <a:pt x="0" y="213945"/>
                      <a:pt x="213945" y="0"/>
                      <a:pt x="477860" y="0"/>
                    </a:cubicBezTo>
                    <a:lnTo>
                      <a:pt x="3459490" y="0"/>
                    </a:lnTo>
                    <a:lnTo>
                      <a:pt x="3459490" y="0"/>
                    </a:lnTo>
                    <a:lnTo>
                      <a:pt x="3459490" y="2867104"/>
                    </a:lnTo>
                    <a:lnTo>
                      <a:pt x="3459490" y="2867104"/>
                    </a:lnTo>
                    <a:lnTo>
                      <a:pt x="477860" y="2867104"/>
                    </a:lnTo>
                    <a:cubicBezTo>
                      <a:pt x="213945" y="2867104"/>
                      <a:pt x="0" y="2653159"/>
                      <a:pt x="0" y="2389244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79" name="任意多边形: 形状 466978">
                <a:extLst>
                  <a:ext uri="{FF2B5EF4-FFF2-40B4-BE49-F238E27FC236}">
                    <a16:creationId xmlns:a16="http://schemas.microsoft.com/office/drawing/2014/main" id="{43FB0229-74A2-4B10-A1C8-9D916F26FC12}"/>
                  </a:ext>
                </a:extLst>
              </p:cNvPr>
              <p:cNvSpPr/>
              <p:nvPr/>
            </p:nvSpPr>
            <p:spPr bwMode="auto">
              <a:xfrm>
                <a:off x="4826621" y="1256828"/>
                <a:ext cx="3459490" cy="2867105"/>
              </a:xfrm>
              <a:custGeom>
                <a:avLst/>
                <a:gdLst>
                  <a:gd name="connsiteX0" fmla="*/ 0 w 3459490"/>
                  <a:gd name="connsiteY0" fmla="*/ 2389245 h 2867105"/>
                  <a:gd name="connsiteX1" fmla="*/ 13 w 3459490"/>
                  <a:gd name="connsiteY1" fmla="*/ 477860 h 2867105"/>
                  <a:gd name="connsiteX2" fmla="*/ 477859 w 3459490"/>
                  <a:gd name="connsiteY2" fmla="*/ 0 h 2867105"/>
                  <a:gd name="connsiteX3" fmla="*/ 3459490 w 3459490"/>
                  <a:gd name="connsiteY3" fmla="*/ 0 h 2867105"/>
                  <a:gd name="connsiteX4" fmla="*/ 3459490 w 3459490"/>
                  <a:gd name="connsiteY4" fmla="*/ 0 h 2867105"/>
                  <a:gd name="connsiteX5" fmla="*/ 3459490 w 3459490"/>
                  <a:gd name="connsiteY5" fmla="*/ 2867105 h 2867105"/>
                  <a:gd name="connsiteX6" fmla="*/ 3459490 w 3459490"/>
                  <a:gd name="connsiteY6" fmla="*/ 2867105 h 2867105"/>
                  <a:gd name="connsiteX7" fmla="*/ 477859 w 3459490"/>
                  <a:gd name="connsiteY7" fmla="*/ 2867105 h 2867105"/>
                  <a:gd name="connsiteX8" fmla="*/ 0 w 3459490"/>
                  <a:gd name="connsiteY8" fmla="*/ 2389245 h 28671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0" h="2867105">
                    <a:moveTo>
                      <a:pt x="0" y="2389245"/>
                    </a:moveTo>
                    <a:lnTo>
                      <a:pt x="13" y="477860"/>
                    </a:lnTo>
                    <a:cubicBezTo>
                      <a:pt x="0" y="213946"/>
                      <a:pt x="213945" y="0"/>
                      <a:pt x="477859" y="0"/>
                    </a:cubicBezTo>
                    <a:lnTo>
                      <a:pt x="3459490" y="0"/>
                    </a:lnTo>
                    <a:lnTo>
                      <a:pt x="3459490" y="0"/>
                    </a:lnTo>
                    <a:lnTo>
                      <a:pt x="3459490" y="2867105"/>
                    </a:lnTo>
                    <a:lnTo>
                      <a:pt x="3459490" y="2867105"/>
                    </a:lnTo>
                    <a:lnTo>
                      <a:pt x="477859" y="2867105"/>
                    </a:lnTo>
                    <a:cubicBezTo>
                      <a:pt x="213945" y="2867105"/>
                      <a:pt x="0" y="2653160"/>
                      <a:pt x="0" y="2389245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80" name="任意多边形: 形状 466979">
                <a:extLst>
                  <a:ext uri="{FF2B5EF4-FFF2-40B4-BE49-F238E27FC236}">
                    <a16:creationId xmlns:a16="http://schemas.microsoft.com/office/drawing/2014/main" id="{74B8460D-B7FE-49A3-8239-29C31B3A2EEA}"/>
                  </a:ext>
                </a:extLst>
              </p:cNvPr>
              <p:cNvSpPr/>
              <p:nvPr/>
            </p:nvSpPr>
            <p:spPr bwMode="auto">
              <a:xfrm>
                <a:off x="4782155" y="1212775"/>
                <a:ext cx="3459490" cy="2867104"/>
              </a:xfrm>
              <a:custGeom>
                <a:avLst/>
                <a:gdLst>
                  <a:gd name="connsiteX0" fmla="*/ 0 w 3459490"/>
                  <a:gd name="connsiteY0" fmla="*/ 2389244 h 2867104"/>
                  <a:gd name="connsiteX1" fmla="*/ 13 w 3459490"/>
                  <a:gd name="connsiteY1" fmla="*/ 477860 h 2867104"/>
                  <a:gd name="connsiteX2" fmla="*/ 477860 w 3459490"/>
                  <a:gd name="connsiteY2" fmla="*/ 0 h 2867104"/>
                  <a:gd name="connsiteX3" fmla="*/ 3459490 w 3459490"/>
                  <a:gd name="connsiteY3" fmla="*/ 0 h 2867104"/>
                  <a:gd name="connsiteX4" fmla="*/ 3459490 w 3459490"/>
                  <a:gd name="connsiteY4" fmla="*/ 0 h 2867104"/>
                  <a:gd name="connsiteX5" fmla="*/ 3459490 w 3459490"/>
                  <a:gd name="connsiteY5" fmla="*/ 2867104 h 2867104"/>
                  <a:gd name="connsiteX6" fmla="*/ 3459490 w 3459490"/>
                  <a:gd name="connsiteY6" fmla="*/ 2867104 h 2867104"/>
                  <a:gd name="connsiteX7" fmla="*/ 477860 w 3459490"/>
                  <a:gd name="connsiteY7" fmla="*/ 2867104 h 2867104"/>
                  <a:gd name="connsiteX8" fmla="*/ 0 w 3459490"/>
                  <a:gd name="connsiteY8" fmla="*/ 2389244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0" h="2867104">
                    <a:moveTo>
                      <a:pt x="0" y="2389244"/>
                    </a:moveTo>
                    <a:lnTo>
                      <a:pt x="13" y="477860"/>
                    </a:lnTo>
                    <a:cubicBezTo>
                      <a:pt x="0" y="213945"/>
                      <a:pt x="213945" y="0"/>
                      <a:pt x="477860" y="0"/>
                    </a:cubicBezTo>
                    <a:lnTo>
                      <a:pt x="3459490" y="0"/>
                    </a:lnTo>
                    <a:lnTo>
                      <a:pt x="3459490" y="0"/>
                    </a:lnTo>
                    <a:lnTo>
                      <a:pt x="3459490" y="2867104"/>
                    </a:lnTo>
                    <a:lnTo>
                      <a:pt x="3459490" y="2867104"/>
                    </a:lnTo>
                    <a:lnTo>
                      <a:pt x="477860" y="2867104"/>
                    </a:lnTo>
                    <a:cubicBezTo>
                      <a:pt x="213945" y="2867104"/>
                      <a:pt x="0" y="2653159"/>
                      <a:pt x="0" y="2389244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81" name="任意多边形: 形状 466980">
                <a:extLst>
                  <a:ext uri="{FF2B5EF4-FFF2-40B4-BE49-F238E27FC236}">
                    <a16:creationId xmlns:a16="http://schemas.microsoft.com/office/drawing/2014/main" id="{D9A89519-E16F-43C0-B72E-D6C34AD80221}"/>
                  </a:ext>
                </a:extLst>
              </p:cNvPr>
              <p:cNvSpPr/>
              <p:nvPr/>
            </p:nvSpPr>
            <p:spPr bwMode="auto">
              <a:xfrm>
                <a:off x="4737689" y="1168720"/>
                <a:ext cx="3459490" cy="2867104"/>
              </a:xfrm>
              <a:custGeom>
                <a:avLst/>
                <a:gdLst>
                  <a:gd name="connsiteX0" fmla="*/ 0 w 3459490"/>
                  <a:gd name="connsiteY0" fmla="*/ 2389244 h 2867104"/>
                  <a:gd name="connsiteX1" fmla="*/ 13 w 3459490"/>
                  <a:gd name="connsiteY1" fmla="*/ 477860 h 2867104"/>
                  <a:gd name="connsiteX2" fmla="*/ 477860 w 3459490"/>
                  <a:gd name="connsiteY2" fmla="*/ 0 h 2867104"/>
                  <a:gd name="connsiteX3" fmla="*/ 3459490 w 3459490"/>
                  <a:gd name="connsiteY3" fmla="*/ 0 h 2867104"/>
                  <a:gd name="connsiteX4" fmla="*/ 3459490 w 3459490"/>
                  <a:gd name="connsiteY4" fmla="*/ 0 h 2867104"/>
                  <a:gd name="connsiteX5" fmla="*/ 3459490 w 3459490"/>
                  <a:gd name="connsiteY5" fmla="*/ 2867104 h 2867104"/>
                  <a:gd name="connsiteX6" fmla="*/ 3459490 w 3459490"/>
                  <a:gd name="connsiteY6" fmla="*/ 2867104 h 2867104"/>
                  <a:gd name="connsiteX7" fmla="*/ 477860 w 3459490"/>
                  <a:gd name="connsiteY7" fmla="*/ 2867104 h 2867104"/>
                  <a:gd name="connsiteX8" fmla="*/ 0 w 3459490"/>
                  <a:gd name="connsiteY8" fmla="*/ 2389244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0" h="2867104">
                    <a:moveTo>
                      <a:pt x="0" y="2389244"/>
                    </a:moveTo>
                    <a:lnTo>
                      <a:pt x="13" y="477860"/>
                    </a:lnTo>
                    <a:cubicBezTo>
                      <a:pt x="0" y="213945"/>
                      <a:pt x="213946" y="0"/>
                      <a:pt x="477860" y="0"/>
                    </a:cubicBezTo>
                    <a:lnTo>
                      <a:pt x="3459490" y="0"/>
                    </a:lnTo>
                    <a:lnTo>
                      <a:pt x="3459490" y="0"/>
                    </a:lnTo>
                    <a:lnTo>
                      <a:pt x="3459490" y="2867104"/>
                    </a:lnTo>
                    <a:lnTo>
                      <a:pt x="3459490" y="2867104"/>
                    </a:lnTo>
                    <a:lnTo>
                      <a:pt x="477860" y="2867104"/>
                    </a:lnTo>
                    <a:cubicBezTo>
                      <a:pt x="213946" y="2867104"/>
                      <a:pt x="0" y="2653160"/>
                      <a:pt x="0" y="2389244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82" name="任意多边形: 形状 466981">
                <a:extLst>
                  <a:ext uri="{FF2B5EF4-FFF2-40B4-BE49-F238E27FC236}">
                    <a16:creationId xmlns:a16="http://schemas.microsoft.com/office/drawing/2014/main" id="{18A2A0EB-78C6-45EA-93B2-7A2AC5915417}"/>
                  </a:ext>
                </a:extLst>
              </p:cNvPr>
              <p:cNvSpPr/>
              <p:nvPr/>
            </p:nvSpPr>
            <p:spPr bwMode="auto">
              <a:xfrm>
                <a:off x="4693224" y="1124666"/>
                <a:ext cx="3459490" cy="2867104"/>
              </a:xfrm>
              <a:custGeom>
                <a:avLst/>
                <a:gdLst>
                  <a:gd name="connsiteX0" fmla="*/ 0 w 3459490"/>
                  <a:gd name="connsiteY0" fmla="*/ 2389244 h 2867104"/>
                  <a:gd name="connsiteX1" fmla="*/ 13 w 3459490"/>
                  <a:gd name="connsiteY1" fmla="*/ 477860 h 2867104"/>
                  <a:gd name="connsiteX2" fmla="*/ 477860 w 3459490"/>
                  <a:gd name="connsiteY2" fmla="*/ 0 h 2867104"/>
                  <a:gd name="connsiteX3" fmla="*/ 3459490 w 3459490"/>
                  <a:gd name="connsiteY3" fmla="*/ 0 h 2867104"/>
                  <a:gd name="connsiteX4" fmla="*/ 3459490 w 3459490"/>
                  <a:gd name="connsiteY4" fmla="*/ 0 h 2867104"/>
                  <a:gd name="connsiteX5" fmla="*/ 3459490 w 3459490"/>
                  <a:gd name="connsiteY5" fmla="*/ 2867104 h 2867104"/>
                  <a:gd name="connsiteX6" fmla="*/ 3459490 w 3459490"/>
                  <a:gd name="connsiteY6" fmla="*/ 2867104 h 2867104"/>
                  <a:gd name="connsiteX7" fmla="*/ 477860 w 3459490"/>
                  <a:gd name="connsiteY7" fmla="*/ 2867104 h 2867104"/>
                  <a:gd name="connsiteX8" fmla="*/ 0 w 3459490"/>
                  <a:gd name="connsiteY8" fmla="*/ 2389244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0" h="2867104">
                    <a:moveTo>
                      <a:pt x="0" y="2389244"/>
                    </a:moveTo>
                    <a:lnTo>
                      <a:pt x="13" y="477860"/>
                    </a:lnTo>
                    <a:cubicBezTo>
                      <a:pt x="0" y="213945"/>
                      <a:pt x="213945" y="0"/>
                      <a:pt x="477860" y="0"/>
                    </a:cubicBezTo>
                    <a:lnTo>
                      <a:pt x="3459490" y="0"/>
                    </a:lnTo>
                    <a:lnTo>
                      <a:pt x="3459490" y="0"/>
                    </a:lnTo>
                    <a:lnTo>
                      <a:pt x="3459490" y="2867104"/>
                    </a:lnTo>
                    <a:lnTo>
                      <a:pt x="3459490" y="2867104"/>
                    </a:lnTo>
                    <a:lnTo>
                      <a:pt x="477860" y="2867104"/>
                    </a:lnTo>
                    <a:cubicBezTo>
                      <a:pt x="213945" y="2867104"/>
                      <a:pt x="0" y="2653159"/>
                      <a:pt x="0" y="2389244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83" name="任意多边形: 形状 466982">
                <a:extLst>
                  <a:ext uri="{FF2B5EF4-FFF2-40B4-BE49-F238E27FC236}">
                    <a16:creationId xmlns:a16="http://schemas.microsoft.com/office/drawing/2014/main" id="{06E5EC0C-4EE8-4A28-9FCA-6356264408B1}"/>
                  </a:ext>
                </a:extLst>
              </p:cNvPr>
              <p:cNvSpPr/>
              <p:nvPr/>
            </p:nvSpPr>
            <p:spPr bwMode="auto">
              <a:xfrm>
                <a:off x="4648758" y="1080611"/>
                <a:ext cx="3459490" cy="2867104"/>
              </a:xfrm>
              <a:custGeom>
                <a:avLst/>
                <a:gdLst>
                  <a:gd name="connsiteX0" fmla="*/ 0 w 3459490"/>
                  <a:gd name="connsiteY0" fmla="*/ 2389244 h 2867104"/>
                  <a:gd name="connsiteX1" fmla="*/ 13 w 3459490"/>
                  <a:gd name="connsiteY1" fmla="*/ 477860 h 2867104"/>
                  <a:gd name="connsiteX2" fmla="*/ 477860 w 3459490"/>
                  <a:gd name="connsiteY2" fmla="*/ 0 h 2867104"/>
                  <a:gd name="connsiteX3" fmla="*/ 3459490 w 3459490"/>
                  <a:gd name="connsiteY3" fmla="*/ 0 h 2867104"/>
                  <a:gd name="connsiteX4" fmla="*/ 3459490 w 3459490"/>
                  <a:gd name="connsiteY4" fmla="*/ 0 h 2867104"/>
                  <a:gd name="connsiteX5" fmla="*/ 3459490 w 3459490"/>
                  <a:gd name="connsiteY5" fmla="*/ 2867104 h 2867104"/>
                  <a:gd name="connsiteX6" fmla="*/ 3459490 w 3459490"/>
                  <a:gd name="connsiteY6" fmla="*/ 2867104 h 2867104"/>
                  <a:gd name="connsiteX7" fmla="*/ 477860 w 3459490"/>
                  <a:gd name="connsiteY7" fmla="*/ 2867104 h 2867104"/>
                  <a:gd name="connsiteX8" fmla="*/ 0 w 3459490"/>
                  <a:gd name="connsiteY8" fmla="*/ 2389244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0" h="2867104">
                    <a:moveTo>
                      <a:pt x="0" y="2389244"/>
                    </a:moveTo>
                    <a:lnTo>
                      <a:pt x="13" y="477860"/>
                    </a:lnTo>
                    <a:cubicBezTo>
                      <a:pt x="0" y="213945"/>
                      <a:pt x="213946" y="0"/>
                      <a:pt x="477860" y="0"/>
                    </a:cubicBezTo>
                    <a:lnTo>
                      <a:pt x="3459490" y="0"/>
                    </a:lnTo>
                    <a:lnTo>
                      <a:pt x="3459490" y="0"/>
                    </a:lnTo>
                    <a:lnTo>
                      <a:pt x="3459490" y="2867104"/>
                    </a:lnTo>
                    <a:lnTo>
                      <a:pt x="3459490" y="2867104"/>
                    </a:lnTo>
                    <a:lnTo>
                      <a:pt x="477860" y="2867104"/>
                    </a:lnTo>
                    <a:cubicBezTo>
                      <a:pt x="213946" y="2867104"/>
                      <a:pt x="0" y="2653159"/>
                      <a:pt x="0" y="2389244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84" name="任意多边形: 形状 466983">
                <a:extLst>
                  <a:ext uri="{FF2B5EF4-FFF2-40B4-BE49-F238E27FC236}">
                    <a16:creationId xmlns:a16="http://schemas.microsoft.com/office/drawing/2014/main" id="{AB0FA968-42CB-494C-91E6-B313DCDF189D}"/>
                  </a:ext>
                </a:extLst>
              </p:cNvPr>
              <p:cNvSpPr/>
              <p:nvPr/>
            </p:nvSpPr>
            <p:spPr bwMode="auto">
              <a:xfrm>
                <a:off x="4604293" y="1036556"/>
                <a:ext cx="3459490" cy="2867104"/>
              </a:xfrm>
              <a:custGeom>
                <a:avLst/>
                <a:gdLst>
                  <a:gd name="connsiteX0" fmla="*/ 0 w 3459490"/>
                  <a:gd name="connsiteY0" fmla="*/ 2389245 h 2867104"/>
                  <a:gd name="connsiteX1" fmla="*/ 13 w 3459490"/>
                  <a:gd name="connsiteY1" fmla="*/ 477860 h 2867104"/>
                  <a:gd name="connsiteX2" fmla="*/ 477860 w 3459490"/>
                  <a:gd name="connsiteY2" fmla="*/ 0 h 2867104"/>
                  <a:gd name="connsiteX3" fmla="*/ 3459490 w 3459490"/>
                  <a:gd name="connsiteY3" fmla="*/ 0 h 2867104"/>
                  <a:gd name="connsiteX4" fmla="*/ 3459490 w 3459490"/>
                  <a:gd name="connsiteY4" fmla="*/ 0 h 2867104"/>
                  <a:gd name="connsiteX5" fmla="*/ 3459490 w 3459490"/>
                  <a:gd name="connsiteY5" fmla="*/ 2867104 h 2867104"/>
                  <a:gd name="connsiteX6" fmla="*/ 3459490 w 3459490"/>
                  <a:gd name="connsiteY6" fmla="*/ 2867104 h 2867104"/>
                  <a:gd name="connsiteX7" fmla="*/ 477860 w 3459490"/>
                  <a:gd name="connsiteY7" fmla="*/ 2867104 h 2867104"/>
                  <a:gd name="connsiteX8" fmla="*/ 0 w 3459490"/>
                  <a:gd name="connsiteY8" fmla="*/ 2389245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0" h="2867104">
                    <a:moveTo>
                      <a:pt x="0" y="2389245"/>
                    </a:moveTo>
                    <a:lnTo>
                      <a:pt x="13" y="477860"/>
                    </a:lnTo>
                    <a:cubicBezTo>
                      <a:pt x="0" y="213945"/>
                      <a:pt x="213945" y="0"/>
                      <a:pt x="477860" y="0"/>
                    </a:cubicBezTo>
                    <a:lnTo>
                      <a:pt x="3459490" y="0"/>
                    </a:lnTo>
                    <a:lnTo>
                      <a:pt x="3459490" y="0"/>
                    </a:lnTo>
                    <a:lnTo>
                      <a:pt x="3459490" y="2867104"/>
                    </a:lnTo>
                    <a:lnTo>
                      <a:pt x="3459490" y="2867104"/>
                    </a:lnTo>
                    <a:lnTo>
                      <a:pt x="477860" y="2867104"/>
                    </a:lnTo>
                    <a:cubicBezTo>
                      <a:pt x="213945" y="2867104"/>
                      <a:pt x="0" y="2653159"/>
                      <a:pt x="0" y="2389245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85" name="任意多边形: 形状 466984">
                <a:extLst>
                  <a:ext uri="{FF2B5EF4-FFF2-40B4-BE49-F238E27FC236}">
                    <a16:creationId xmlns:a16="http://schemas.microsoft.com/office/drawing/2014/main" id="{10BBF3E6-C74F-4CBB-B883-1E7A1C20184B}"/>
                  </a:ext>
                </a:extLst>
              </p:cNvPr>
              <p:cNvSpPr/>
              <p:nvPr/>
            </p:nvSpPr>
            <p:spPr bwMode="auto">
              <a:xfrm>
                <a:off x="4559827" y="992502"/>
                <a:ext cx="3459490" cy="2867104"/>
              </a:xfrm>
              <a:custGeom>
                <a:avLst/>
                <a:gdLst>
                  <a:gd name="connsiteX0" fmla="*/ 0 w 3459490"/>
                  <a:gd name="connsiteY0" fmla="*/ 2389244 h 2867104"/>
                  <a:gd name="connsiteX1" fmla="*/ 13 w 3459490"/>
                  <a:gd name="connsiteY1" fmla="*/ 477860 h 2867104"/>
                  <a:gd name="connsiteX2" fmla="*/ 477860 w 3459490"/>
                  <a:gd name="connsiteY2" fmla="*/ 0 h 2867104"/>
                  <a:gd name="connsiteX3" fmla="*/ 3459490 w 3459490"/>
                  <a:gd name="connsiteY3" fmla="*/ 0 h 2867104"/>
                  <a:gd name="connsiteX4" fmla="*/ 3459490 w 3459490"/>
                  <a:gd name="connsiteY4" fmla="*/ 0 h 2867104"/>
                  <a:gd name="connsiteX5" fmla="*/ 3459490 w 3459490"/>
                  <a:gd name="connsiteY5" fmla="*/ 2867104 h 2867104"/>
                  <a:gd name="connsiteX6" fmla="*/ 3459490 w 3459490"/>
                  <a:gd name="connsiteY6" fmla="*/ 2867104 h 2867104"/>
                  <a:gd name="connsiteX7" fmla="*/ 477860 w 3459490"/>
                  <a:gd name="connsiteY7" fmla="*/ 2867104 h 2867104"/>
                  <a:gd name="connsiteX8" fmla="*/ 0 w 3459490"/>
                  <a:gd name="connsiteY8" fmla="*/ 2389244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0" h="2867104">
                    <a:moveTo>
                      <a:pt x="0" y="2389244"/>
                    </a:moveTo>
                    <a:lnTo>
                      <a:pt x="13" y="477860"/>
                    </a:lnTo>
                    <a:cubicBezTo>
                      <a:pt x="0" y="213945"/>
                      <a:pt x="213946" y="0"/>
                      <a:pt x="477860" y="0"/>
                    </a:cubicBezTo>
                    <a:lnTo>
                      <a:pt x="3459490" y="0"/>
                    </a:lnTo>
                    <a:lnTo>
                      <a:pt x="3459490" y="0"/>
                    </a:lnTo>
                    <a:lnTo>
                      <a:pt x="3459490" y="2867104"/>
                    </a:lnTo>
                    <a:lnTo>
                      <a:pt x="3459490" y="2867104"/>
                    </a:lnTo>
                    <a:lnTo>
                      <a:pt x="477860" y="2867104"/>
                    </a:lnTo>
                    <a:cubicBezTo>
                      <a:pt x="213946" y="2867104"/>
                      <a:pt x="0" y="2653159"/>
                      <a:pt x="0" y="2389244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86" name="任意多边形: 形状 466985">
                <a:extLst>
                  <a:ext uri="{FF2B5EF4-FFF2-40B4-BE49-F238E27FC236}">
                    <a16:creationId xmlns:a16="http://schemas.microsoft.com/office/drawing/2014/main" id="{E8951B63-EE6B-43B4-B8F3-9211148B64D9}"/>
                  </a:ext>
                </a:extLst>
              </p:cNvPr>
              <p:cNvSpPr/>
              <p:nvPr/>
            </p:nvSpPr>
            <p:spPr bwMode="auto">
              <a:xfrm>
                <a:off x="4515362" y="948447"/>
                <a:ext cx="3459490" cy="2867104"/>
              </a:xfrm>
              <a:custGeom>
                <a:avLst/>
                <a:gdLst>
                  <a:gd name="connsiteX0" fmla="*/ 0 w 3459490"/>
                  <a:gd name="connsiteY0" fmla="*/ 2389244 h 2867104"/>
                  <a:gd name="connsiteX1" fmla="*/ 13 w 3459490"/>
                  <a:gd name="connsiteY1" fmla="*/ 477860 h 2867104"/>
                  <a:gd name="connsiteX2" fmla="*/ 477860 w 3459490"/>
                  <a:gd name="connsiteY2" fmla="*/ 0 h 2867104"/>
                  <a:gd name="connsiteX3" fmla="*/ 3459490 w 3459490"/>
                  <a:gd name="connsiteY3" fmla="*/ 0 h 2867104"/>
                  <a:gd name="connsiteX4" fmla="*/ 3459490 w 3459490"/>
                  <a:gd name="connsiteY4" fmla="*/ 0 h 2867104"/>
                  <a:gd name="connsiteX5" fmla="*/ 3459490 w 3459490"/>
                  <a:gd name="connsiteY5" fmla="*/ 2867104 h 2867104"/>
                  <a:gd name="connsiteX6" fmla="*/ 3459490 w 3459490"/>
                  <a:gd name="connsiteY6" fmla="*/ 2867104 h 2867104"/>
                  <a:gd name="connsiteX7" fmla="*/ 477860 w 3459490"/>
                  <a:gd name="connsiteY7" fmla="*/ 2867104 h 2867104"/>
                  <a:gd name="connsiteX8" fmla="*/ 0 w 3459490"/>
                  <a:gd name="connsiteY8" fmla="*/ 2389244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0" h="2867104">
                    <a:moveTo>
                      <a:pt x="0" y="2389244"/>
                    </a:moveTo>
                    <a:lnTo>
                      <a:pt x="13" y="477860"/>
                    </a:lnTo>
                    <a:cubicBezTo>
                      <a:pt x="0" y="213945"/>
                      <a:pt x="213945" y="0"/>
                      <a:pt x="477860" y="0"/>
                    </a:cubicBezTo>
                    <a:lnTo>
                      <a:pt x="3459490" y="0"/>
                    </a:lnTo>
                    <a:lnTo>
                      <a:pt x="3459490" y="0"/>
                    </a:lnTo>
                    <a:lnTo>
                      <a:pt x="3459490" y="2867104"/>
                    </a:lnTo>
                    <a:lnTo>
                      <a:pt x="3459490" y="2867104"/>
                    </a:lnTo>
                    <a:lnTo>
                      <a:pt x="477860" y="2867104"/>
                    </a:lnTo>
                    <a:cubicBezTo>
                      <a:pt x="213945" y="2867104"/>
                      <a:pt x="0" y="2653160"/>
                      <a:pt x="0" y="2389244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87" name="任意多边形: 形状 466986">
                <a:extLst>
                  <a:ext uri="{FF2B5EF4-FFF2-40B4-BE49-F238E27FC236}">
                    <a16:creationId xmlns:a16="http://schemas.microsoft.com/office/drawing/2014/main" id="{BA473FBB-4A3A-4D61-966F-B1BD2B2157EB}"/>
                  </a:ext>
                </a:extLst>
              </p:cNvPr>
              <p:cNvSpPr/>
              <p:nvPr/>
            </p:nvSpPr>
            <p:spPr bwMode="auto">
              <a:xfrm>
                <a:off x="4470896" y="904393"/>
                <a:ext cx="3459490" cy="2867104"/>
              </a:xfrm>
              <a:custGeom>
                <a:avLst/>
                <a:gdLst>
                  <a:gd name="connsiteX0" fmla="*/ 0 w 3459490"/>
                  <a:gd name="connsiteY0" fmla="*/ 2389244 h 2867104"/>
                  <a:gd name="connsiteX1" fmla="*/ 13 w 3459490"/>
                  <a:gd name="connsiteY1" fmla="*/ 477860 h 2867104"/>
                  <a:gd name="connsiteX2" fmla="*/ 477860 w 3459490"/>
                  <a:gd name="connsiteY2" fmla="*/ 0 h 2867104"/>
                  <a:gd name="connsiteX3" fmla="*/ 3459490 w 3459490"/>
                  <a:gd name="connsiteY3" fmla="*/ 0 h 2867104"/>
                  <a:gd name="connsiteX4" fmla="*/ 3459490 w 3459490"/>
                  <a:gd name="connsiteY4" fmla="*/ 0 h 2867104"/>
                  <a:gd name="connsiteX5" fmla="*/ 3459490 w 3459490"/>
                  <a:gd name="connsiteY5" fmla="*/ 2867104 h 2867104"/>
                  <a:gd name="connsiteX6" fmla="*/ 3459490 w 3459490"/>
                  <a:gd name="connsiteY6" fmla="*/ 2867104 h 2867104"/>
                  <a:gd name="connsiteX7" fmla="*/ 477860 w 3459490"/>
                  <a:gd name="connsiteY7" fmla="*/ 2867104 h 2867104"/>
                  <a:gd name="connsiteX8" fmla="*/ 0 w 3459490"/>
                  <a:gd name="connsiteY8" fmla="*/ 2389244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0" h="2867104">
                    <a:moveTo>
                      <a:pt x="0" y="2389244"/>
                    </a:moveTo>
                    <a:lnTo>
                      <a:pt x="13" y="477860"/>
                    </a:lnTo>
                    <a:cubicBezTo>
                      <a:pt x="0" y="213945"/>
                      <a:pt x="213946" y="0"/>
                      <a:pt x="477860" y="0"/>
                    </a:cubicBezTo>
                    <a:lnTo>
                      <a:pt x="3459490" y="0"/>
                    </a:lnTo>
                    <a:lnTo>
                      <a:pt x="3459490" y="0"/>
                    </a:lnTo>
                    <a:lnTo>
                      <a:pt x="3459490" y="2867104"/>
                    </a:lnTo>
                    <a:lnTo>
                      <a:pt x="3459490" y="2867104"/>
                    </a:lnTo>
                    <a:lnTo>
                      <a:pt x="477860" y="2867104"/>
                    </a:lnTo>
                    <a:cubicBezTo>
                      <a:pt x="213946" y="2867104"/>
                      <a:pt x="0" y="2653159"/>
                      <a:pt x="0" y="2389244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1" name="矩形: 圆顶角 20">
                <a:extLst>
                  <a:ext uri="{FF2B5EF4-FFF2-40B4-BE49-F238E27FC236}">
                    <a16:creationId xmlns:a16="http://schemas.microsoft.com/office/drawing/2014/main" id="{12987477-6EDB-49EE-B6FF-2369D8E2EDAC}"/>
                  </a:ext>
                </a:extLst>
              </p:cNvPr>
              <p:cNvSpPr/>
              <p:nvPr/>
            </p:nvSpPr>
            <p:spPr bwMode="auto">
              <a:xfrm rot="16200000">
                <a:off x="4722624" y="564145"/>
                <a:ext cx="2867104" cy="3459490"/>
              </a:xfrm>
              <a:custGeom>
                <a:avLst/>
                <a:gdLst>
                  <a:gd name="connsiteX0" fmla="*/ 477860 w 2867104"/>
                  <a:gd name="connsiteY0" fmla="*/ 0 h 3459490"/>
                  <a:gd name="connsiteX1" fmla="*/ 2389244 w 2867104"/>
                  <a:gd name="connsiteY1" fmla="*/ 0 h 3459490"/>
                  <a:gd name="connsiteX2" fmla="*/ 2867104 w 2867104"/>
                  <a:gd name="connsiteY2" fmla="*/ 477860 h 3459490"/>
                  <a:gd name="connsiteX3" fmla="*/ 2867104 w 2867104"/>
                  <a:gd name="connsiteY3" fmla="*/ 3459490 h 3459490"/>
                  <a:gd name="connsiteX4" fmla="*/ 2867104 w 2867104"/>
                  <a:gd name="connsiteY4" fmla="*/ 3459490 h 3459490"/>
                  <a:gd name="connsiteX5" fmla="*/ 0 w 2867104"/>
                  <a:gd name="connsiteY5" fmla="*/ 3459490 h 3459490"/>
                  <a:gd name="connsiteX6" fmla="*/ 0 w 2867104"/>
                  <a:gd name="connsiteY6" fmla="*/ 3459490 h 3459490"/>
                  <a:gd name="connsiteX7" fmla="*/ 0 w 2867104"/>
                  <a:gd name="connsiteY7" fmla="*/ 477860 h 3459490"/>
                  <a:gd name="connsiteX8" fmla="*/ 477860 w 2867104"/>
                  <a:gd name="connsiteY8" fmla="*/ 0 h 3459490"/>
                  <a:gd name="connsiteX0" fmla="*/ 5200483 w 7589727"/>
                  <a:gd name="connsiteY0" fmla="*/ 564145 h 4023635"/>
                  <a:gd name="connsiteX1" fmla="*/ 0 w 7589727"/>
                  <a:gd name="connsiteY1" fmla="*/ 0 h 4023635"/>
                  <a:gd name="connsiteX2" fmla="*/ 7111867 w 7589727"/>
                  <a:gd name="connsiteY2" fmla="*/ 564145 h 4023635"/>
                  <a:gd name="connsiteX3" fmla="*/ 7589727 w 7589727"/>
                  <a:gd name="connsiteY3" fmla="*/ 1042005 h 4023635"/>
                  <a:gd name="connsiteX4" fmla="*/ 7589727 w 7589727"/>
                  <a:gd name="connsiteY4" fmla="*/ 4023635 h 4023635"/>
                  <a:gd name="connsiteX5" fmla="*/ 7589727 w 7589727"/>
                  <a:gd name="connsiteY5" fmla="*/ 4023635 h 4023635"/>
                  <a:gd name="connsiteX6" fmla="*/ 4722623 w 7589727"/>
                  <a:gd name="connsiteY6" fmla="*/ 4023635 h 4023635"/>
                  <a:gd name="connsiteX7" fmla="*/ 4722623 w 7589727"/>
                  <a:gd name="connsiteY7" fmla="*/ 4023635 h 4023635"/>
                  <a:gd name="connsiteX8" fmla="*/ 4722623 w 7589727"/>
                  <a:gd name="connsiteY8" fmla="*/ 1042005 h 4023635"/>
                  <a:gd name="connsiteX9" fmla="*/ 5200483 w 7589727"/>
                  <a:gd name="connsiteY9" fmla="*/ 564145 h 4023635"/>
                  <a:gd name="connsiteX0" fmla="*/ 477860 w 2867104"/>
                  <a:gd name="connsiteY0" fmla="*/ 0 h 3459490"/>
                  <a:gd name="connsiteX1" fmla="*/ 2389244 w 2867104"/>
                  <a:gd name="connsiteY1" fmla="*/ 0 h 3459490"/>
                  <a:gd name="connsiteX2" fmla="*/ 2867104 w 2867104"/>
                  <a:gd name="connsiteY2" fmla="*/ 477860 h 3459490"/>
                  <a:gd name="connsiteX3" fmla="*/ 2867104 w 2867104"/>
                  <a:gd name="connsiteY3" fmla="*/ 3459490 h 3459490"/>
                  <a:gd name="connsiteX4" fmla="*/ 2867104 w 2867104"/>
                  <a:gd name="connsiteY4" fmla="*/ 3459490 h 3459490"/>
                  <a:gd name="connsiteX5" fmla="*/ 0 w 2867104"/>
                  <a:gd name="connsiteY5" fmla="*/ 3459490 h 3459490"/>
                  <a:gd name="connsiteX6" fmla="*/ 0 w 2867104"/>
                  <a:gd name="connsiteY6" fmla="*/ 3459490 h 3459490"/>
                  <a:gd name="connsiteX7" fmla="*/ 0 w 2867104"/>
                  <a:gd name="connsiteY7" fmla="*/ 477860 h 3459490"/>
                  <a:gd name="connsiteX8" fmla="*/ 477860 w 2867104"/>
                  <a:gd name="connsiteY8" fmla="*/ 0 h 34594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67104" h="3459490">
                    <a:moveTo>
                      <a:pt x="477860" y="0"/>
                    </a:moveTo>
                    <a:lnTo>
                      <a:pt x="2389244" y="0"/>
                    </a:lnTo>
                    <a:cubicBezTo>
                      <a:pt x="2653159" y="0"/>
                      <a:pt x="2867104" y="213945"/>
                      <a:pt x="2867104" y="477860"/>
                    </a:cubicBezTo>
                    <a:lnTo>
                      <a:pt x="2867104" y="3459490"/>
                    </a:lnTo>
                    <a:lnTo>
                      <a:pt x="2867104" y="3459490"/>
                    </a:lnTo>
                    <a:lnTo>
                      <a:pt x="0" y="3459490"/>
                    </a:lnTo>
                    <a:lnTo>
                      <a:pt x="0" y="3459490"/>
                    </a:lnTo>
                    <a:lnTo>
                      <a:pt x="0" y="477860"/>
                    </a:lnTo>
                    <a:cubicBezTo>
                      <a:pt x="0" y="213945"/>
                      <a:pt x="213945" y="0"/>
                      <a:pt x="477860" y="0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466989" name="平行四边形 466988">
              <a:extLst>
                <a:ext uri="{FF2B5EF4-FFF2-40B4-BE49-F238E27FC236}">
                  <a16:creationId xmlns:a16="http://schemas.microsoft.com/office/drawing/2014/main" id="{F9B55C15-0562-4D84-BA64-F86954A0BEF2}"/>
                </a:ext>
              </a:extLst>
            </p:cNvPr>
            <p:cNvSpPr/>
            <p:nvPr/>
          </p:nvSpPr>
          <p:spPr bwMode="auto">
            <a:xfrm rot="5400000">
              <a:off x="3245809" y="2565681"/>
              <a:ext cx="5256585" cy="2228133"/>
            </a:xfrm>
            <a:prstGeom prst="parallelogram">
              <a:avLst>
                <a:gd name="adj" fmla="val 96622"/>
              </a:avLst>
            </a:prstGeom>
            <a:solidFill>
              <a:srgbClr val="C0192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  <p:sp>
        <p:nvSpPr>
          <p:cNvPr id="466949" name="Rectangle 5"/>
          <p:cNvSpPr>
            <a:spLocks noChangeArrowheads="1"/>
          </p:cNvSpPr>
          <p:nvPr/>
        </p:nvSpPr>
        <p:spPr bwMode="auto">
          <a:xfrm>
            <a:off x="3938093" y="3004278"/>
            <a:ext cx="5758307" cy="92333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程序设计教程</a:t>
            </a:r>
            <a:r>
              <a:rPr lang="zh-CN" altLang="en-US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（第</a:t>
            </a:r>
            <a:r>
              <a:rPr lang="en-US" altLang="zh-CN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3</a:t>
            </a:r>
            <a:r>
              <a:rPr lang="zh-CN" altLang="en-US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版）</a:t>
            </a:r>
          </a:p>
        </p:txBody>
      </p:sp>
      <p:sp>
        <p:nvSpPr>
          <p:cNvPr id="24" name="Rectangle 5">
            <a:extLst>
              <a:ext uri="{FF2B5EF4-FFF2-40B4-BE49-F238E27FC236}">
                <a16:creationId xmlns:a16="http://schemas.microsoft.com/office/drawing/2014/main" id="{B5E1C75A-58F7-488D-A75F-78F2A3EA65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8322" y="1412776"/>
            <a:ext cx="2989921" cy="144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>
            <a:spAutoFit/>
          </a:bodyPr>
          <a:lstStyle/>
          <a:p>
            <a:pPr algn="ctr"/>
            <a:r>
              <a:rPr lang="en-US" altLang="zh-CN" sz="88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C</a:t>
            </a:r>
            <a:r>
              <a:rPr lang="zh-CN" altLang="en-US" sz="80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语言</a:t>
            </a:r>
          </a:p>
        </p:txBody>
      </p:sp>
      <p:pic>
        <p:nvPicPr>
          <p:cNvPr id="15" name="图片 14" descr="图片包含 游戏机&#10;&#10;描述已自动生成">
            <a:extLst>
              <a:ext uri="{FF2B5EF4-FFF2-40B4-BE49-F238E27FC236}">
                <a16:creationId xmlns:a16="http://schemas.microsoft.com/office/drawing/2014/main" id="{88B313E9-A6E8-4A29-8FCB-633A40EB26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0049" y="2708920"/>
            <a:ext cx="1415626" cy="4200157"/>
          </a:xfrm>
          <a:prstGeom prst="rect">
            <a:avLst/>
          </a:prstGeom>
        </p:spPr>
      </p:pic>
      <p:sp>
        <p:nvSpPr>
          <p:cNvPr id="18" name="Rectangle 5">
            <a:extLst>
              <a:ext uri="{FF2B5EF4-FFF2-40B4-BE49-F238E27FC236}">
                <a16:creationId xmlns:a16="http://schemas.microsoft.com/office/drawing/2014/main" id="{2F7A13F8-9190-4D44-8ACC-DC3AF3AE47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917" y="4072560"/>
            <a:ext cx="7105483" cy="584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第</a:t>
            </a:r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8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章  函   数</a:t>
            </a:r>
          </a:p>
        </p:txBody>
      </p:sp>
      <p:sp>
        <p:nvSpPr>
          <p:cNvPr id="145" name="文本框 144">
            <a:extLst>
              <a:ext uri="{FF2B5EF4-FFF2-40B4-BE49-F238E27FC236}">
                <a16:creationId xmlns:a16="http://schemas.microsoft.com/office/drawing/2014/main" id="{1E13812E-B2A6-4F2D-AC3F-19B02AAE7E42}"/>
              </a:ext>
            </a:extLst>
          </p:cNvPr>
          <p:cNvSpPr txBox="1"/>
          <p:nvPr/>
        </p:nvSpPr>
        <p:spPr>
          <a:xfrm>
            <a:off x="4748092" y="5157192"/>
            <a:ext cx="26503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24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制作人：王敬华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E65F837-AE8E-4CDF-9162-627DDF4D37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104" y="5942946"/>
            <a:ext cx="919896" cy="915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556308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669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669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669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6949" grpId="0"/>
      <p:bldP spid="24" grpId="0"/>
      <p:bldP spid="1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4">
            <a:extLst>
              <a:ext uri="{FF2B5EF4-FFF2-40B4-BE49-F238E27FC236}">
                <a16:creationId xmlns:a16="http://schemas.microsoft.com/office/drawing/2014/main" id="{FB891A25-926A-4525-8FD9-AF7F17D21F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第</a:t>
            </a:r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章：函  数 </a:t>
            </a: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3366E962-D97C-47E7-AD39-066F7D8101EF}"/>
              </a:ext>
            </a:extLst>
          </p:cNvPr>
          <p:cNvGrpSpPr/>
          <p:nvPr/>
        </p:nvGrpSpPr>
        <p:grpSpPr>
          <a:xfrm>
            <a:off x="695325" y="967906"/>
            <a:ext cx="3267000" cy="630931"/>
            <a:chOff x="695400" y="1059424"/>
            <a:chExt cx="3267000" cy="630931"/>
          </a:xfrm>
        </p:grpSpPr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75B19A7D-4C0C-473B-81BD-526F79EAF2BB}"/>
                </a:ext>
              </a:extLst>
            </p:cNvPr>
            <p:cNvGrpSpPr/>
            <p:nvPr/>
          </p:nvGrpSpPr>
          <p:grpSpPr>
            <a:xfrm>
              <a:off x="695400" y="1059424"/>
              <a:ext cx="833819" cy="557612"/>
              <a:chOff x="695400" y="1059424"/>
              <a:chExt cx="833819" cy="557612"/>
            </a:xfrm>
          </p:grpSpPr>
          <p:sp>
            <p:nvSpPr>
              <p:cNvPr id="35" name="菱形 34">
                <a:extLst>
                  <a:ext uri="{FF2B5EF4-FFF2-40B4-BE49-F238E27FC236}">
                    <a16:creationId xmlns:a16="http://schemas.microsoft.com/office/drawing/2014/main" id="{8CA39714-838C-47B8-80FE-DDE38B15E1BC}"/>
                  </a:ext>
                </a:extLst>
              </p:cNvPr>
              <p:cNvSpPr/>
              <p:nvPr/>
            </p:nvSpPr>
            <p:spPr bwMode="auto">
              <a:xfrm>
                <a:off x="695400" y="1059424"/>
                <a:ext cx="557612" cy="557612"/>
              </a:xfrm>
              <a:prstGeom prst="diamond">
                <a:avLst/>
              </a:prstGeom>
              <a:solidFill>
                <a:srgbClr val="D7000F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36" name="菱形 35">
                <a:extLst>
                  <a:ext uri="{FF2B5EF4-FFF2-40B4-BE49-F238E27FC236}">
                    <a16:creationId xmlns:a16="http://schemas.microsoft.com/office/drawing/2014/main" id="{4626E672-179B-473C-86B0-BCFA40D4F7FA}"/>
                  </a:ext>
                </a:extLst>
              </p:cNvPr>
              <p:cNvSpPr/>
              <p:nvPr/>
            </p:nvSpPr>
            <p:spPr bwMode="auto">
              <a:xfrm>
                <a:off x="1006681" y="1094498"/>
                <a:ext cx="522538" cy="522538"/>
              </a:xfrm>
              <a:prstGeom prst="diamond">
                <a:avLst/>
              </a:prstGeom>
              <a:solidFill>
                <a:srgbClr val="CFCFD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34" name="Text Box 5">
              <a:extLst>
                <a:ext uri="{FF2B5EF4-FFF2-40B4-BE49-F238E27FC236}">
                  <a16:creationId xmlns:a16="http://schemas.microsoft.com/office/drawing/2014/main" id="{492B3353-0131-4723-B831-1343EDDCBE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2725" y="1167135"/>
              <a:ext cx="2459675" cy="523220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buClr>
                  <a:srgbClr val="D7000F"/>
                </a:buClr>
                <a:tabLst>
                  <a:tab pos="177800" algn="l"/>
                </a:tabLst>
              </a:pPr>
              <a:r>
                <a:rPr kumimoji="0" lang="zh-CN" altLang="en-US" sz="2800" b="1" dirty="0">
                  <a:solidFill>
                    <a:srgbClr val="D7000F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学习的意义</a:t>
              </a:r>
            </a:p>
          </p:txBody>
        </p:sp>
      </p:grpSp>
      <p:sp>
        <p:nvSpPr>
          <p:cNvPr id="62" name="Rectangle 37">
            <a:extLst>
              <a:ext uri="{FF2B5EF4-FFF2-40B4-BE49-F238E27FC236}">
                <a16:creationId xmlns:a16="http://schemas.microsoft.com/office/drawing/2014/main" id="{733860A7-E9D5-45CF-B11A-14B140D56E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2937" y="1976641"/>
            <a:ext cx="10027068" cy="3108543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r>
              <a:rPr lang="zh-CN" altLang="en-US" sz="2800" b="1" dirty="0">
                <a:solidFill>
                  <a:srgbClr val="C01920"/>
                </a:solidFill>
                <a:ea typeface="楷体" pitchFamily="49" charset="-122"/>
              </a:rPr>
              <a:t>模块化程序设计方法：</a:t>
            </a:r>
            <a:endParaRPr lang="en-US" altLang="zh-CN" sz="2800" b="1" dirty="0">
              <a:solidFill>
                <a:srgbClr val="C01920"/>
              </a:solidFill>
              <a:ea typeface="楷体" pitchFamily="49" charset="-122"/>
            </a:endParaRPr>
          </a:p>
          <a:p>
            <a:endParaRPr lang="zh-CN" altLang="en-US" b="1" dirty="0">
              <a:solidFill>
                <a:srgbClr val="C01920"/>
              </a:solidFill>
              <a:ea typeface="楷体" pitchFamily="49" charset="-122"/>
            </a:endParaRPr>
          </a:p>
          <a:p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        人们在求解某个复杂问题时，通常采用</a:t>
            </a:r>
            <a:r>
              <a:rPr lang="zh-CN" alt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逐步分解、分而治之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的方法，也就是将一个大问题分解成若干个比较容易求解的小问题，然后分别求解。程序员在设计一个复杂的应用程序时，往往也是把整个程序划分成若干个功能较为单一的程序模块，然后分别予以实现，最后再把所有的程序模块象达积木一样装配起来，这种在程序设计中分而治之的策略，被称为模块化程序设计方法。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4">
            <a:extLst>
              <a:ext uri="{FF2B5EF4-FFF2-40B4-BE49-F238E27FC236}">
                <a16:creationId xmlns:a16="http://schemas.microsoft.com/office/drawing/2014/main" id="{FB891A25-926A-4525-8FD9-AF7F17D21F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第</a:t>
            </a:r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章：函  数 </a:t>
            </a: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3366E962-D97C-47E7-AD39-066F7D8101EF}"/>
              </a:ext>
            </a:extLst>
          </p:cNvPr>
          <p:cNvGrpSpPr/>
          <p:nvPr/>
        </p:nvGrpSpPr>
        <p:grpSpPr>
          <a:xfrm>
            <a:off x="695325" y="967906"/>
            <a:ext cx="3267000" cy="630931"/>
            <a:chOff x="695400" y="1059424"/>
            <a:chExt cx="3267000" cy="630931"/>
          </a:xfrm>
        </p:grpSpPr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75B19A7D-4C0C-473B-81BD-526F79EAF2BB}"/>
                </a:ext>
              </a:extLst>
            </p:cNvPr>
            <p:cNvGrpSpPr/>
            <p:nvPr/>
          </p:nvGrpSpPr>
          <p:grpSpPr>
            <a:xfrm>
              <a:off x="695400" y="1059424"/>
              <a:ext cx="833819" cy="557612"/>
              <a:chOff x="695400" y="1059424"/>
              <a:chExt cx="833819" cy="557612"/>
            </a:xfrm>
          </p:grpSpPr>
          <p:sp>
            <p:nvSpPr>
              <p:cNvPr id="35" name="菱形 34">
                <a:extLst>
                  <a:ext uri="{FF2B5EF4-FFF2-40B4-BE49-F238E27FC236}">
                    <a16:creationId xmlns:a16="http://schemas.microsoft.com/office/drawing/2014/main" id="{8CA39714-838C-47B8-80FE-DDE38B15E1BC}"/>
                  </a:ext>
                </a:extLst>
              </p:cNvPr>
              <p:cNvSpPr/>
              <p:nvPr/>
            </p:nvSpPr>
            <p:spPr bwMode="auto">
              <a:xfrm>
                <a:off x="695400" y="1059424"/>
                <a:ext cx="557612" cy="557612"/>
              </a:xfrm>
              <a:prstGeom prst="diamond">
                <a:avLst/>
              </a:prstGeom>
              <a:solidFill>
                <a:srgbClr val="D7000F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36" name="菱形 35">
                <a:extLst>
                  <a:ext uri="{FF2B5EF4-FFF2-40B4-BE49-F238E27FC236}">
                    <a16:creationId xmlns:a16="http://schemas.microsoft.com/office/drawing/2014/main" id="{4626E672-179B-473C-86B0-BCFA40D4F7FA}"/>
                  </a:ext>
                </a:extLst>
              </p:cNvPr>
              <p:cNvSpPr/>
              <p:nvPr/>
            </p:nvSpPr>
            <p:spPr bwMode="auto">
              <a:xfrm>
                <a:off x="1006681" y="1094498"/>
                <a:ext cx="522538" cy="522538"/>
              </a:xfrm>
              <a:prstGeom prst="diamond">
                <a:avLst/>
              </a:prstGeom>
              <a:solidFill>
                <a:srgbClr val="CFCFD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34" name="Text Box 5">
              <a:extLst>
                <a:ext uri="{FF2B5EF4-FFF2-40B4-BE49-F238E27FC236}">
                  <a16:creationId xmlns:a16="http://schemas.microsoft.com/office/drawing/2014/main" id="{492B3353-0131-4723-B831-1343EDDCBE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2725" y="1167135"/>
              <a:ext cx="2459675" cy="523220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buClr>
                  <a:srgbClr val="D7000F"/>
                </a:buClr>
                <a:tabLst>
                  <a:tab pos="177800" algn="l"/>
                </a:tabLst>
              </a:pPr>
              <a:r>
                <a:rPr kumimoji="0" lang="zh-CN" altLang="en-US" sz="2800" b="1" dirty="0">
                  <a:solidFill>
                    <a:srgbClr val="D7000F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学习的意义</a:t>
              </a:r>
            </a:p>
          </p:txBody>
        </p:sp>
      </p:grpSp>
      <p:sp>
        <p:nvSpPr>
          <p:cNvPr id="9" name="Text Box 13">
            <a:extLst>
              <a:ext uri="{FF2B5EF4-FFF2-40B4-BE49-F238E27FC236}">
                <a16:creationId xmlns:a16="http://schemas.microsoft.com/office/drawing/2014/main" id="{FB2FA91B-9EA6-4FE1-AB42-C5C8DC58FE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5760" y="4572843"/>
            <a:ext cx="576263" cy="1569660"/>
          </a:xfrm>
          <a:prstGeom prst="rect">
            <a:avLst/>
          </a:prstGeom>
          <a:solidFill>
            <a:srgbClr val="BEDFC4"/>
          </a:solidFill>
          <a:ln w="9525">
            <a:noFill/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BEDFC4"/>
            </a:extrusionClr>
          </a:sp3d>
        </p:spPr>
        <p:txBody>
          <a:bodyPr>
            <a:spAutoFit/>
            <a:flatTx/>
          </a:bodyPr>
          <a:lstStyle/>
          <a:p>
            <a:pPr algn="ctr">
              <a:spcBef>
                <a:spcPct val="50000"/>
              </a:spcBef>
            </a:pPr>
            <a:r>
              <a:rPr lang="zh-CN" altLang="en-US" b="1" dirty="0">
                <a:solidFill>
                  <a:schemeClr val="bg1"/>
                </a:solidFill>
                <a:latin typeface="+mn-lt"/>
                <a:ea typeface="楷体" pitchFamily="49" charset="-122"/>
              </a:rPr>
              <a:t>子模块</a:t>
            </a:r>
            <a:r>
              <a:rPr lang="en-US" altLang="zh-CN" b="1" dirty="0">
                <a:solidFill>
                  <a:schemeClr val="bg1"/>
                </a:solidFill>
                <a:latin typeface="+mn-lt"/>
                <a:ea typeface="楷体" pitchFamily="49" charset="-122"/>
              </a:rPr>
              <a:t>1</a:t>
            </a:r>
          </a:p>
        </p:txBody>
      </p:sp>
      <p:sp>
        <p:nvSpPr>
          <p:cNvPr id="10" name="Text Box 14">
            <a:extLst>
              <a:ext uri="{FF2B5EF4-FFF2-40B4-BE49-F238E27FC236}">
                <a16:creationId xmlns:a16="http://schemas.microsoft.com/office/drawing/2014/main" id="{0CE65483-8487-467F-97CF-FC1E931C0F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5422" y="4585543"/>
            <a:ext cx="576262" cy="1569660"/>
          </a:xfrm>
          <a:prstGeom prst="rect">
            <a:avLst/>
          </a:prstGeom>
          <a:solidFill>
            <a:srgbClr val="BEDFC4"/>
          </a:solidFill>
          <a:ln w="9525">
            <a:noFill/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BEDFC4"/>
            </a:extrusionClr>
          </a:sp3d>
        </p:spPr>
        <p:txBody>
          <a:bodyPr>
            <a:spAutoFit/>
            <a:flatTx/>
          </a:bodyPr>
          <a:lstStyle/>
          <a:p>
            <a:pPr algn="ctr">
              <a:spcBef>
                <a:spcPct val="50000"/>
              </a:spcBef>
            </a:pPr>
            <a:r>
              <a:rPr lang="zh-CN" altLang="en-US" b="1" dirty="0">
                <a:solidFill>
                  <a:schemeClr val="bg1"/>
                </a:solidFill>
                <a:latin typeface="+mn-lt"/>
                <a:ea typeface="楷体" pitchFamily="49" charset="-122"/>
              </a:rPr>
              <a:t>子模块</a:t>
            </a:r>
            <a:r>
              <a:rPr lang="en-US" altLang="zh-CN" b="1" dirty="0">
                <a:solidFill>
                  <a:schemeClr val="bg1"/>
                </a:solidFill>
                <a:latin typeface="+mn-lt"/>
                <a:ea typeface="楷体" pitchFamily="49" charset="-122"/>
              </a:rPr>
              <a:t>2</a:t>
            </a:r>
          </a:p>
        </p:txBody>
      </p:sp>
      <p:sp>
        <p:nvSpPr>
          <p:cNvPr id="11" name="Text Box 15">
            <a:extLst>
              <a:ext uri="{FF2B5EF4-FFF2-40B4-BE49-F238E27FC236}">
                <a16:creationId xmlns:a16="http://schemas.microsoft.com/office/drawing/2014/main" id="{9AC46E6B-C976-4699-BE9D-740D9C886B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0885" y="4542681"/>
            <a:ext cx="576263" cy="1569660"/>
          </a:xfrm>
          <a:prstGeom prst="rect">
            <a:avLst/>
          </a:prstGeom>
          <a:solidFill>
            <a:srgbClr val="BEDFC4"/>
          </a:solidFill>
          <a:ln w="9525">
            <a:noFill/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BEDFC4"/>
            </a:extrusionClr>
          </a:sp3d>
        </p:spPr>
        <p:txBody>
          <a:bodyPr>
            <a:spAutoFit/>
            <a:flatTx/>
          </a:bodyPr>
          <a:lstStyle/>
          <a:p>
            <a:pPr algn="ctr">
              <a:spcBef>
                <a:spcPct val="50000"/>
              </a:spcBef>
            </a:pPr>
            <a:r>
              <a:rPr lang="zh-CN" altLang="en-US" b="1" dirty="0">
                <a:solidFill>
                  <a:schemeClr val="bg1"/>
                </a:solidFill>
                <a:latin typeface="+mn-lt"/>
                <a:ea typeface="楷体" pitchFamily="49" charset="-122"/>
              </a:rPr>
              <a:t>子模块</a:t>
            </a:r>
            <a:r>
              <a:rPr lang="en-US" altLang="zh-CN" b="1" dirty="0">
                <a:solidFill>
                  <a:schemeClr val="bg1"/>
                </a:solidFill>
                <a:latin typeface="+mn-lt"/>
                <a:ea typeface="楷体" pitchFamily="49" charset="-122"/>
              </a:rPr>
              <a:t>n</a:t>
            </a:r>
          </a:p>
        </p:txBody>
      </p:sp>
      <p:grpSp>
        <p:nvGrpSpPr>
          <p:cNvPr id="12" name="Group 34">
            <a:extLst>
              <a:ext uri="{FF2B5EF4-FFF2-40B4-BE49-F238E27FC236}">
                <a16:creationId xmlns:a16="http://schemas.microsoft.com/office/drawing/2014/main" id="{19145BDA-EBE1-48FE-A068-D0DC40A1EC7E}"/>
              </a:ext>
            </a:extLst>
          </p:cNvPr>
          <p:cNvGrpSpPr>
            <a:grpSpLocks/>
          </p:cNvGrpSpPr>
          <p:nvPr/>
        </p:nvGrpSpPr>
        <p:grpSpPr bwMode="auto">
          <a:xfrm>
            <a:off x="4253259" y="3512394"/>
            <a:ext cx="2897188" cy="1076325"/>
            <a:chOff x="2018" y="1986"/>
            <a:chExt cx="1825" cy="678"/>
          </a:xfrm>
        </p:grpSpPr>
        <p:sp>
          <p:nvSpPr>
            <p:cNvPr id="13" name="Line 28">
              <a:extLst>
                <a:ext uri="{FF2B5EF4-FFF2-40B4-BE49-F238E27FC236}">
                  <a16:creationId xmlns:a16="http://schemas.microsoft.com/office/drawing/2014/main" id="{03F1B3FD-F354-4F9A-96FC-48E75718A1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9" y="2346"/>
              <a:ext cx="0" cy="318"/>
            </a:xfrm>
            <a:prstGeom prst="line">
              <a:avLst/>
            </a:prstGeom>
            <a:noFill/>
            <a:ln w="9525">
              <a:solidFill>
                <a:srgbClr val="BEDFC4"/>
              </a:solidFill>
              <a:round/>
              <a:headEnd/>
              <a:tailEnd type="stealth" w="lg" len="lg"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BEDFC4"/>
              </a:extrusionClr>
            </a:sp3d>
          </p:spPr>
          <p:txBody>
            <a:bodyPr>
              <a:flatTx/>
            </a:bodyPr>
            <a:lstStyle/>
            <a:p>
              <a:endParaRPr lang="zh-CN" altLang="en-US"/>
            </a:p>
          </p:txBody>
        </p:sp>
        <p:sp>
          <p:nvSpPr>
            <p:cNvPr id="14" name="Line 27">
              <a:extLst>
                <a:ext uri="{FF2B5EF4-FFF2-40B4-BE49-F238E27FC236}">
                  <a16:creationId xmlns:a16="http://schemas.microsoft.com/office/drawing/2014/main" id="{90CB6B12-55E6-48E6-8B8F-62DF3F1DFC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7" y="2330"/>
              <a:ext cx="0" cy="318"/>
            </a:xfrm>
            <a:prstGeom prst="line">
              <a:avLst/>
            </a:prstGeom>
            <a:noFill/>
            <a:ln w="9525">
              <a:solidFill>
                <a:srgbClr val="BEDFC4"/>
              </a:solidFill>
              <a:round/>
              <a:headEnd/>
              <a:tailEnd type="stealth" w="lg" len="lg"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BEDFC4"/>
              </a:extrusionClr>
            </a:sp3d>
          </p:spPr>
          <p:txBody>
            <a:bodyPr>
              <a:flatTx/>
            </a:bodyPr>
            <a:lstStyle/>
            <a:p>
              <a:endParaRPr lang="zh-CN" altLang="en-US"/>
            </a:p>
          </p:txBody>
        </p:sp>
        <p:sp>
          <p:nvSpPr>
            <p:cNvPr id="15" name="Line 26">
              <a:extLst>
                <a:ext uri="{FF2B5EF4-FFF2-40B4-BE49-F238E27FC236}">
                  <a16:creationId xmlns:a16="http://schemas.microsoft.com/office/drawing/2014/main" id="{2F128FCC-6D2D-4D59-8DEF-132ABE580B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8" y="2331"/>
              <a:ext cx="1815" cy="0"/>
            </a:xfrm>
            <a:prstGeom prst="line">
              <a:avLst/>
            </a:prstGeom>
            <a:noFill/>
            <a:ln w="9525">
              <a:solidFill>
                <a:srgbClr val="BEDFC4"/>
              </a:solidFill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BEDFC4"/>
              </a:extrusionClr>
            </a:sp3d>
          </p:spPr>
          <p:txBody>
            <a:bodyPr>
              <a:flatTx/>
            </a:bodyPr>
            <a:lstStyle/>
            <a:p>
              <a:endParaRPr lang="zh-CN" altLang="en-US"/>
            </a:p>
          </p:txBody>
        </p:sp>
        <p:sp>
          <p:nvSpPr>
            <p:cNvPr id="16" name="Line 25">
              <a:extLst>
                <a:ext uri="{FF2B5EF4-FFF2-40B4-BE49-F238E27FC236}">
                  <a16:creationId xmlns:a16="http://schemas.microsoft.com/office/drawing/2014/main" id="{DD24EC5C-4CF7-42EA-B71E-C2BF788D2C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1" y="1986"/>
              <a:ext cx="0" cy="318"/>
            </a:xfrm>
            <a:prstGeom prst="line">
              <a:avLst/>
            </a:prstGeom>
            <a:noFill/>
            <a:ln w="9525">
              <a:solidFill>
                <a:srgbClr val="BEDFC4"/>
              </a:solidFill>
              <a:round/>
              <a:headEnd/>
              <a:tailEnd type="stealth" w="lg" len="lg"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BEDFC4"/>
              </a:extrusionClr>
            </a:sp3d>
          </p:spPr>
          <p:txBody>
            <a:bodyPr>
              <a:flatTx/>
            </a:bodyPr>
            <a:lstStyle/>
            <a:p>
              <a:endParaRPr lang="zh-CN" altLang="en-US"/>
            </a:p>
          </p:txBody>
        </p:sp>
        <p:sp>
          <p:nvSpPr>
            <p:cNvPr id="17" name="Line 29">
              <a:extLst>
                <a:ext uri="{FF2B5EF4-FFF2-40B4-BE49-F238E27FC236}">
                  <a16:creationId xmlns:a16="http://schemas.microsoft.com/office/drawing/2014/main" id="{0D286F02-E9B6-49B5-9FE1-551D091F39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3" y="2330"/>
              <a:ext cx="0" cy="318"/>
            </a:xfrm>
            <a:prstGeom prst="line">
              <a:avLst/>
            </a:prstGeom>
            <a:noFill/>
            <a:ln w="9525">
              <a:solidFill>
                <a:srgbClr val="BEDFC4"/>
              </a:solidFill>
              <a:round/>
              <a:headEnd/>
              <a:tailEnd type="stealth" w="lg" len="lg"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BEDFC4"/>
              </a:extrusionClr>
            </a:sp3d>
          </p:spPr>
          <p:txBody>
            <a:bodyPr>
              <a:flatTx/>
            </a:bodyPr>
            <a:lstStyle/>
            <a:p>
              <a:endParaRPr lang="zh-CN" altLang="en-US"/>
            </a:p>
          </p:txBody>
        </p:sp>
      </p:grpSp>
      <p:sp>
        <p:nvSpPr>
          <p:cNvPr id="18" name="Text Box 10">
            <a:extLst>
              <a:ext uri="{FF2B5EF4-FFF2-40B4-BE49-F238E27FC236}">
                <a16:creationId xmlns:a16="http://schemas.microsoft.com/office/drawing/2014/main" id="{DDCD2D20-E0A7-4E22-94EA-0E02A491E9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2182" y="3039318"/>
            <a:ext cx="1800225" cy="457200"/>
          </a:xfrm>
          <a:prstGeom prst="rect">
            <a:avLst/>
          </a:prstGeom>
          <a:solidFill>
            <a:srgbClr val="BD6368"/>
          </a:solidFill>
          <a:ln w="9525">
            <a:noFill/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BD6368"/>
            </a:extrusionClr>
          </a:sp3d>
        </p:spPr>
        <p:txBody>
          <a:bodyPr>
            <a:spAutoFit/>
            <a:flatTx/>
          </a:bodyPr>
          <a:lstStyle/>
          <a:p>
            <a:pPr algn="ctr">
              <a:spcBef>
                <a:spcPct val="50000"/>
              </a:spcBef>
            </a:pPr>
            <a:r>
              <a:rPr lang="zh-CN" altLang="en-US" b="1" dirty="0">
                <a:solidFill>
                  <a:schemeClr val="bg1"/>
                </a:solidFill>
                <a:latin typeface="+mn-lt"/>
                <a:ea typeface="楷体" pitchFamily="49" charset="-122"/>
              </a:rPr>
              <a:t>功能模块</a:t>
            </a:r>
            <a:r>
              <a:rPr lang="en-US" altLang="zh-CN" b="1" dirty="0">
                <a:solidFill>
                  <a:schemeClr val="bg1"/>
                </a:solidFill>
                <a:latin typeface="+mn-lt"/>
                <a:ea typeface="楷体" pitchFamily="49" charset="-122"/>
              </a:rPr>
              <a:t>1</a:t>
            </a:r>
          </a:p>
        </p:txBody>
      </p:sp>
      <p:sp>
        <p:nvSpPr>
          <p:cNvPr id="19" name="Text Box 11">
            <a:extLst>
              <a:ext uri="{FF2B5EF4-FFF2-40B4-BE49-F238E27FC236}">
                <a16:creationId xmlns:a16="http://schemas.microsoft.com/office/drawing/2014/main" id="{D7A3C602-38D4-4018-ABB1-A2EA54A5C5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5369" y="3042493"/>
            <a:ext cx="1871662" cy="457200"/>
          </a:xfrm>
          <a:prstGeom prst="rect">
            <a:avLst/>
          </a:prstGeom>
          <a:solidFill>
            <a:srgbClr val="BEDFC4"/>
          </a:solidFill>
          <a:ln w="9525">
            <a:noFill/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BEDFC4"/>
            </a:extrusionClr>
          </a:sp3d>
        </p:spPr>
        <p:txBody>
          <a:bodyPr>
            <a:spAutoFit/>
            <a:flatTx/>
          </a:bodyPr>
          <a:lstStyle/>
          <a:p>
            <a:pPr algn="ctr">
              <a:spcBef>
                <a:spcPct val="50000"/>
              </a:spcBef>
            </a:pPr>
            <a:r>
              <a:rPr lang="zh-CN" altLang="en-US" b="1" dirty="0">
                <a:solidFill>
                  <a:schemeClr val="bg1"/>
                </a:solidFill>
                <a:latin typeface="+mn-lt"/>
                <a:ea typeface="楷体" pitchFamily="49" charset="-122"/>
              </a:rPr>
              <a:t>功能模块</a:t>
            </a:r>
            <a:r>
              <a:rPr lang="en-US" altLang="zh-CN" b="1" dirty="0">
                <a:solidFill>
                  <a:schemeClr val="bg1"/>
                </a:solidFill>
                <a:latin typeface="+mn-lt"/>
                <a:ea typeface="楷体" pitchFamily="49" charset="-122"/>
              </a:rPr>
              <a:t>2</a:t>
            </a:r>
          </a:p>
        </p:txBody>
      </p:sp>
      <p:sp>
        <p:nvSpPr>
          <p:cNvPr id="20" name="Text Box 12">
            <a:extLst>
              <a:ext uri="{FF2B5EF4-FFF2-40B4-BE49-F238E27FC236}">
                <a16:creationId xmlns:a16="http://schemas.microsoft.com/office/drawing/2014/main" id="{BABF9C0F-3F83-4351-B845-F9313F2756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9919" y="3039318"/>
            <a:ext cx="1655762" cy="457200"/>
          </a:xfrm>
          <a:prstGeom prst="rect">
            <a:avLst/>
          </a:prstGeom>
          <a:solidFill>
            <a:srgbClr val="BAA1B9"/>
          </a:solidFill>
          <a:ln w="9525">
            <a:noFill/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BAA1B9"/>
            </a:extrusionClr>
          </a:sp3d>
        </p:spPr>
        <p:txBody>
          <a:bodyPr>
            <a:spAutoFit/>
            <a:flatTx/>
          </a:bodyPr>
          <a:lstStyle/>
          <a:p>
            <a:pPr algn="ctr">
              <a:spcBef>
                <a:spcPct val="50000"/>
              </a:spcBef>
            </a:pPr>
            <a:r>
              <a:rPr lang="zh-CN" altLang="en-US" b="1" dirty="0">
                <a:solidFill>
                  <a:schemeClr val="bg1"/>
                </a:solidFill>
                <a:latin typeface="+mn-lt"/>
                <a:ea typeface="楷体" pitchFamily="49" charset="-122"/>
              </a:rPr>
              <a:t>功能模块</a:t>
            </a:r>
            <a:r>
              <a:rPr lang="en-US" altLang="zh-CN" b="1" dirty="0">
                <a:solidFill>
                  <a:schemeClr val="bg1"/>
                </a:solidFill>
                <a:latin typeface="+mn-lt"/>
                <a:ea typeface="楷体" pitchFamily="49" charset="-122"/>
              </a:rPr>
              <a:t>n</a:t>
            </a:r>
          </a:p>
        </p:txBody>
      </p:sp>
      <p:sp>
        <p:nvSpPr>
          <p:cNvPr id="21" name="Text Box 17">
            <a:extLst>
              <a:ext uri="{FF2B5EF4-FFF2-40B4-BE49-F238E27FC236}">
                <a16:creationId xmlns:a16="http://schemas.microsoft.com/office/drawing/2014/main" id="{2417064D-8F8E-44DE-8877-DED249D3EA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2957" y="2785318"/>
            <a:ext cx="165576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/>
              <a:t>……</a:t>
            </a:r>
          </a:p>
        </p:txBody>
      </p:sp>
      <p:sp>
        <p:nvSpPr>
          <p:cNvPr id="22" name="Text Box 18">
            <a:extLst>
              <a:ext uri="{FF2B5EF4-FFF2-40B4-BE49-F238E27FC236}">
                <a16:creationId xmlns:a16="http://schemas.microsoft.com/office/drawing/2014/main" id="{0F4C802A-D473-402A-BA18-77E9485F0E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5522" y="4771282"/>
            <a:ext cx="1655762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dirty="0"/>
              <a:t>……</a:t>
            </a:r>
          </a:p>
        </p:txBody>
      </p:sp>
      <p:grpSp>
        <p:nvGrpSpPr>
          <p:cNvPr id="23" name="Group 33">
            <a:extLst>
              <a:ext uri="{FF2B5EF4-FFF2-40B4-BE49-F238E27FC236}">
                <a16:creationId xmlns:a16="http://schemas.microsoft.com/office/drawing/2014/main" id="{7946709B-9025-4F09-A264-66FCF636721E}"/>
              </a:ext>
            </a:extLst>
          </p:cNvPr>
          <p:cNvGrpSpPr>
            <a:grpSpLocks/>
          </p:cNvGrpSpPr>
          <p:nvPr/>
        </p:nvGrpSpPr>
        <p:grpSpPr bwMode="auto">
          <a:xfrm>
            <a:off x="2710681" y="1988394"/>
            <a:ext cx="6210300" cy="1038225"/>
            <a:chOff x="884" y="1026"/>
            <a:chExt cx="3912" cy="654"/>
          </a:xfrm>
        </p:grpSpPr>
        <p:sp>
          <p:nvSpPr>
            <p:cNvPr id="24" name="Line 21">
              <a:extLst>
                <a:ext uri="{FF2B5EF4-FFF2-40B4-BE49-F238E27FC236}">
                  <a16:creationId xmlns:a16="http://schemas.microsoft.com/office/drawing/2014/main" id="{FE0C616A-8657-4A75-97EF-6EA4BD2EF6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9" y="1361"/>
              <a:ext cx="0" cy="318"/>
            </a:xfrm>
            <a:prstGeom prst="line">
              <a:avLst/>
            </a:prstGeom>
            <a:noFill/>
            <a:ln w="9525">
              <a:solidFill>
                <a:srgbClr val="F0E5B7"/>
              </a:solidFill>
              <a:round/>
              <a:headEnd/>
              <a:tailEnd type="stealth" w="lg" len="lg"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0E5B7"/>
              </a:extrusionClr>
            </a:sp3d>
          </p:spPr>
          <p:txBody>
            <a:bodyPr>
              <a:flatTx/>
            </a:bodyPr>
            <a:lstStyle/>
            <a:p>
              <a:endParaRPr lang="zh-CN" altLang="en-US"/>
            </a:p>
          </p:txBody>
        </p:sp>
        <p:sp>
          <p:nvSpPr>
            <p:cNvPr id="25" name="Line 22">
              <a:extLst>
                <a:ext uri="{FF2B5EF4-FFF2-40B4-BE49-F238E27FC236}">
                  <a16:creationId xmlns:a16="http://schemas.microsoft.com/office/drawing/2014/main" id="{9EA48A9B-4BE6-42D2-B9BB-A16D49D4D1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1362"/>
              <a:ext cx="0" cy="318"/>
            </a:xfrm>
            <a:prstGeom prst="line">
              <a:avLst/>
            </a:prstGeom>
            <a:noFill/>
            <a:ln w="9525">
              <a:solidFill>
                <a:srgbClr val="F0E5B7"/>
              </a:solidFill>
              <a:round/>
              <a:headEnd/>
              <a:tailEnd type="stealth" w="lg" len="lg"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0E5B7"/>
              </a:extrusionClr>
            </a:sp3d>
          </p:spPr>
          <p:txBody>
            <a:bodyPr>
              <a:flatTx/>
            </a:bodyPr>
            <a:lstStyle/>
            <a:p>
              <a:endParaRPr lang="zh-CN" altLang="en-US"/>
            </a:p>
          </p:txBody>
        </p:sp>
        <p:sp>
          <p:nvSpPr>
            <p:cNvPr id="26" name="Line 23">
              <a:extLst>
                <a:ext uri="{FF2B5EF4-FFF2-40B4-BE49-F238E27FC236}">
                  <a16:creationId xmlns:a16="http://schemas.microsoft.com/office/drawing/2014/main" id="{EFE0B3B8-537E-46ED-8159-C9D018A4FC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96" y="1352"/>
              <a:ext cx="0" cy="318"/>
            </a:xfrm>
            <a:prstGeom prst="line">
              <a:avLst/>
            </a:prstGeom>
            <a:noFill/>
            <a:ln w="9525">
              <a:solidFill>
                <a:srgbClr val="F0E5B7"/>
              </a:solidFill>
              <a:round/>
              <a:headEnd/>
              <a:tailEnd type="stealth" w="lg" len="lg"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0E5B7"/>
              </a:extrusionClr>
            </a:sp3d>
          </p:spPr>
          <p:txBody>
            <a:bodyPr>
              <a:flatTx/>
            </a:bodyPr>
            <a:lstStyle/>
            <a:p>
              <a:endParaRPr lang="zh-CN" altLang="en-US"/>
            </a:p>
          </p:txBody>
        </p:sp>
        <p:sp>
          <p:nvSpPr>
            <p:cNvPr id="27" name="Line 19">
              <a:extLst>
                <a:ext uri="{FF2B5EF4-FFF2-40B4-BE49-F238E27FC236}">
                  <a16:creationId xmlns:a16="http://schemas.microsoft.com/office/drawing/2014/main" id="{5A850946-5F5B-42C0-A4D6-A8DF2D6C00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4" y="1359"/>
              <a:ext cx="3901" cy="0"/>
            </a:xfrm>
            <a:prstGeom prst="line">
              <a:avLst/>
            </a:prstGeom>
            <a:noFill/>
            <a:ln w="9525">
              <a:solidFill>
                <a:srgbClr val="F0E5B7"/>
              </a:solidFill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0E5B7"/>
              </a:extrusionClr>
            </a:sp3d>
          </p:spPr>
          <p:txBody>
            <a:bodyPr>
              <a:flatTx/>
            </a:bodyPr>
            <a:lstStyle/>
            <a:p>
              <a:endParaRPr lang="zh-CN" altLang="en-US"/>
            </a:p>
          </p:txBody>
        </p:sp>
        <p:sp>
          <p:nvSpPr>
            <p:cNvPr id="28" name="Line 20">
              <a:extLst>
                <a:ext uri="{FF2B5EF4-FFF2-40B4-BE49-F238E27FC236}">
                  <a16:creationId xmlns:a16="http://schemas.microsoft.com/office/drawing/2014/main" id="{2401AA62-0233-43FC-B0E2-CF5EE3DAC8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0" y="1026"/>
              <a:ext cx="0" cy="318"/>
            </a:xfrm>
            <a:prstGeom prst="line">
              <a:avLst/>
            </a:prstGeom>
            <a:noFill/>
            <a:ln w="9525">
              <a:solidFill>
                <a:srgbClr val="F0E5B7"/>
              </a:solidFill>
              <a:round/>
              <a:headEnd/>
              <a:tailEnd type="stealth" w="lg" len="lg"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0E5B7"/>
              </a:extrusionClr>
            </a:sp3d>
          </p:spPr>
          <p:txBody>
            <a:bodyPr>
              <a:flatTx/>
            </a:bodyPr>
            <a:lstStyle/>
            <a:p>
              <a:endParaRPr lang="zh-CN" altLang="en-US"/>
            </a:p>
          </p:txBody>
        </p:sp>
      </p:grpSp>
      <p:sp>
        <p:nvSpPr>
          <p:cNvPr id="29" name="Text Box 30">
            <a:extLst>
              <a:ext uri="{FF2B5EF4-FFF2-40B4-BE49-F238E27FC236}">
                <a16:creationId xmlns:a16="http://schemas.microsoft.com/office/drawing/2014/main" id="{A4466A53-EFDA-435E-B875-AFD12FD3FC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0319" y="3440957"/>
            <a:ext cx="1655762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/>
              <a:t>……</a:t>
            </a:r>
          </a:p>
        </p:txBody>
      </p:sp>
      <p:sp>
        <p:nvSpPr>
          <p:cNvPr id="30" name="Text Box 31">
            <a:extLst>
              <a:ext uri="{FF2B5EF4-FFF2-40B4-BE49-F238E27FC236}">
                <a16:creationId xmlns:a16="http://schemas.microsoft.com/office/drawing/2014/main" id="{1F0D2CB0-5450-4720-9F11-1767E6DF8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2982" y="3402857"/>
            <a:ext cx="1655763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/>
              <a:t>……</a:t>
            </a:r>
          </a:p>
        </p:txBody>
      </p:sp>
      <p:sp>
        <p:nvSpPr>
          <p:cNvPr id="37" name="Text Box 8">
            <a:extLst>
              <a:ext uri="{FF2B5EF4-FFF2-40B4-BE49-F238E27FC236}">
                <a16:creationId xmlns:a16="http://schemas.microsoft.com/office/drawing/2014/main" id="{3789E9F3-F197-4F03-9310-B273C3E0D5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0907" y="1535956"/>
            <a:ext cx="2232025" cy="457200"/>
          </a:xfrm>
          <a:prstGeom prst="rect">
            <a:avLst/>
          </a:prstGeom>
          <a:solidFill>
            <a:srgbClr val="C01920"/>
          </a:solidFill>
          <a:ln w="9525">
            <a:noFill/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C01920"/>
            </a:extrusionClr>
          </a:sp3d>
        </p:spPr>
        <p:txBody>
          <a:bodyPr>
            <a:spAutoFit/>
            <a:flatTx/>
          </a:bodyPr>
          <a:lstStyle/>
          <a:p>
            <a:pPr algn="ctr">
              <a:spcBef>
                <a:spcPct val="50000"/>
              </a:spcBef>
            </a:pPr>
            <a:r>
              <a:rPr lang="zh-CN" altLang="en-US" b="1" dirty="0">
                <a:solidFill>
                  <a:schemeClr val="bg1"/>
                </a:solidFill>
                <a:latin typeface="+mn-lt"/>
                <a:ea typeface="楷体" pitchFamily="49" charset="-122"/>
              </a:rPr>
              <a:t>软件项目</a:t>
            </a:r>
          </a:p>
        </p:txBody>
      </p:sp>
      <p:sp>
        <p:nvSpPr>
          <p:cNvPr id="38" name="AutoShape 35">
            <a:extLst>
              <a:ext uri="{FF2B5EF4-FFF2-40B4-BE49-F238E27FC236}">
                <a16:creationId xmlns:a16="http://schemas.microsoft.com/office/drawing/2014/main" id="{1DE003C9-5A89-48DD-AAEF-DB7AAE6A84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1619" y="4070118"/>
            <a:ext cx="1871662" cy="576262"/>
          </a:xfrm>
          <a:prstGeom prst="wedgeRoundRectCallout">
            <a:avLst>
              <a:gd name="adj1" fmla="val 110332"/>
              <a:gd name="adj2" fmla="val -141314"/>
              <a:gd name="adj3" fmla="val 16667"/>
            </a:avLst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28575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pPr algn="ctr"/>
            <a:r>
              <a:rPr lang="en-US" altLang="zh-CN" b="1">
                <a:solidFill>
                  <a:srgbClr val="C00000"/>
                </a:solidFill>
                <a:latin typeface="隶书" pitchFamily="49" charset="-122"/>
                <a:ea typeface="隶书" pitchFamily="49" charset="-122"/>
              </a:rPr>
              <a:t>C</a:t>
            </a:r>
            <a:r>
              <a:rPr lang="zh-CN" altLang="en-US" b="1">
                <a:solidFill>
                  <a:srgbClr val="C00000"/>
                </a:solidFill>
                <a:latin typeface="隶书" pitchFamily="49" charset="-122"/>
                <a:ea typeface="隶书" pitchFamily="49" charset="-122"/>
              </a:rPr>
              <a:t>语言程序</a:t>
            </a:r>
          </a:p>
        </p:txBody>
      </p:sp>
      <p:sp>
        <p:nvSpPr>
          <p:cNvPr id="39" name="AutoShape 36">
            <a:extLst>
              <a:ext uri="{FF2B5EF4-FFF2-40B4-BE49-F238E27FC236}">
                <a16:creationId xmlns:a16="http://schemas.microsoft.com/office/drawing/2014/main" id="{B210035F-FE3C-4B0B-920C-44EC73F048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6894" y="6165106"/>
            <a:ext cx="1871662" cy="576262"/>
          </a:xfrm>
          <a:prstGeom prst="wedgeRoundRectCallout">
            <a:avLst>
              <a:gd name="adj1" fmla="val -70694"/>
              <a:gd name="adj2" fmla="val -195454"/>
              <a:gd name="adj3" fmla="val 16667"/>
            </a:avLst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28575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pPr algn="ctr"/>
            <a:r>
              <a:rPr lang="en-US" altLang="zh-CN" b="1">
                <a:solidFill>
                  <a:srgbClr val="C00000"/>
                </a:solidFill>
                <a:latin typeface="隶书" pitchFamily="49" charset="-122"/>
                <a:ea typeface="隶书" pitchFamily="49" charset="-122"/>
              </a:rPr>
              <a:t>C</a:t>
            </a:r>
            <a:r>
              <a:rPr lang="zh-CN" altLang="en-US" b="1">
                <a:solidFill>
                  <a:srgbClr val="C00000"/>
                </a:solidFill>
                <a:latin typeface="隶书" pitchFamily="49" charset="-122"/>
                <a:ea typeface="隶书" pitchFamily="49" charset="-122"/>
              </a:rPr>
              <a:t>语言函数</a:t>
            </a:r>
          </a:p>
        </p:txBody>
      </p:sp>
      <p:sp>
        <p:nvSpPr>
          <p:cNvPr id="40" name="AutoShape 37">
            <a:extLst>
              <a:ext uri="{FF2B5EF4-FFF2-40B4-BE49-F238E27FC236}">
                <a16:creationId xmlns:a16="http://schemas.microsoft.com/office/drawing/2014/main" id="{E3819C1F-8A94-4327-BA91-C183958213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8831" y="548531"/>
            <a:ext cx="3168650" cy="1079500"/>
          </a:xfrm>
          <a:prstGeom prst="cloudCallout">
            <a:avLst>
              <a:gd name="adj1" fmla="val -60773"/>
              <a:gd name="adj2" fmla="val 122500"/>
            </a:avLst>
          </a:prstGeom>
          <a:gradFill rotWithShape="1">
            <a:gsLst>
              <a:gs pos="0">
                <a:srgbClr val="CFCFD1"/>
              </a:gs>
              <a:gs pos="85000">
                <a:schemeClr val="bg1">
                  <a:lumMod val="95000"/>
                </a:schemeClr>
              </a:gs>
            </a:gsLst>
            <a:lin ang="5400000" scaled="1"/>
          </a:gradFill>
          <a:ln w="22225">
            <a:solidFill>
              <a:srgbClr val="C00000"/>
            </a:solidFill>
            <a:round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pPr algn="ctr"/>
            <a:r>
              <a:rPr lang="zh-CN" altLang="en-US" sz="2800" b="1">
                <a:solidFill>
                  <a:srgbClr val="C00000"/>
                </a:solidFill>
                <a:ea typeface="隶书" pitchFamily="49" charset="-122"/>
              </a:rPr>
              <a:t>达积木</a:t>
            </a:r>
          </a:p>
        </p:txBody>
      </p:sp>
    </p:spTree>
    <p:extLst>
      <p:ext uri="{BB962C8B-B14F-4D97-AF65-F5344CB8AC3E}">
        <p14:creationId xmlns:p14="http://schemas.microsoft.com/office/powerpoint/2010/main" val="141276226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500"/>
                            </p:stCondLst>
                            <p:childTnLst>
                              <p:par>
                                <p:cTn id="4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0"/>
                            </p:stCondLst>
                            <p:childTnLst>
                              <p:par>
                                <p:cTn id="4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500"/>
                            </p:stCondLst>
                            <p:childTnLst>
                              <p:par>
                                <p:cTn id="5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6000"/>
                            </p:stCondLst>
                            <p:childTnLst>
                              <p:par>
                                <p:cTn id="5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6500"/>
                            </p:stCondLst>
                            <p:childTnLst>
                              <p:par>
                                <p:cTn id="5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8" grpId="0" animBg="1"/>
      <p:bldP spid="19" grpId="0" animBg="1"/>
      <p:bldP spid="20" grpId="0" animBg="1"/>
      <p:bldP spid="21" grpId="0"/>
      <p:bldP spid="22" grpId="0"/>
      <p:bldP spid="29" grpId="0"/>
      <p:bldP spid="30" grpId="0"/>
      <p:bldP spid="37" grpId="0" animBg="1"/>
      <p:bldP spid="38" grpId="0" animBg="1"/>
      <p:bldP spid="39" grpId="0" animBg="1"/>
      <p:bldP spid="4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AF424D5E-7560-49F9-BA30-7E00984F6F2E}"/>
              </a:ext>
            </a:extLst>
          </p:cNvPr>
          <p:cNvGrpSpPr/>
          <p:nvPr/>
        </p:nvGrpSpPr>
        <p:grpSpPr>
          <a:xfrm>
            <a:off x="695325" y="967906"/>
            <a:ext cx="3267000" cy="630931"/>
            <a:chOff x="695400" y="1059424"/>
            <a:chExt cx="3267000" cy="630931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B2F82333-1E65-440C-BCEA-23E06CF5E4E2}"/>
                </a:ext>
              </a:extLst>
            </p:cNvPr>
            <p:cNvGrpSpPr/>
            <p:nvPr/>
          </p:nvGrpSpPr>
          <p:grpSpPr>
            <a:xfrm>
              <a:off x="695400" y="1059424"/>
              <a:ext cx="833819" cy="557612"/>
              <a:chOff x="695400" y="1059424"/>
              <a:chExt cx="833819" cy="557612"/>
            </a:xfrm>
          </p:grpSpPr>
          <p:sp>
            <p:nvSpPr>
              <p:cNvPr id="13" name="菱形 12">
                <a:extLst>
                  <a:ext uri="{FF2B5EF4-FFF2-40B4-BE49-F238E27FC236}">
                    <a16:creationId xmlns:a16="http://schemas.microsoft.com/office/drawing/2014/main" id="{69186249-A15F-4374-9B33-DDE0DD6DCFA5}"/>
                  </a:ext>
                </a:extLst>
              </p:cNvPr>
              <p:cNvSpPr/>
              <p:nvPr/>
            </p:nvSpPr>
            <p:spPr bwMode="auto">
              <a:xfrm>
                <a:off x="695400" y="1059424"/>
                <a:ext cx="557612" cy="557612"/>
              </a:xfrm>
              <a:prstGeom prst="diamond">
                <a:avLst/>
              </a:prstGeom>
              <a:solidFill>
                <a:srgbClr val="D7000F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4" name="菱形 13">
                <a:extLst>
                  <a:ext uri="{FF2B5EF4-FFF2-40B4-BE49-F238E27FC236}">
                    <a16:creationId xmlns:a16="http://schemas.microsoft.com/office/drawing/2014/main" id="{949AB383-0030-46A2-9530-82C9CB03F8A1}"/>
                  </a:ext>
                </a:extLst>
              </p:cNvPr>
              <p:cNvSpPr/>
              <p:nvPr/>
            </p:nvSpPr>
            <p:spPr bwMode="auto">
              <a:xfrm>
                <a:off x="1006681" y="1094498"/>
                <a:ext cx="522538" cy="522538"/>
              </a:xfrm>
              <a:prstGeom prst="diamond">
                <a:avLst/>
              </a:prstGeom>
              <a:solidFill>
                <a:srgbClr val="CFCFD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12" name="Text Box 5">
              <a:extLst>
                <a:ext uri="{FF2B5EF4-FFF2-40B4-BE49-F238E27FC236}">
                  <a16:creationId xmlns:a16="http://schemas.microsoft.com/office/drawing/2014/main" id="{2545C299-61AD-4395-A069-D9C87DA3D9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2725" y="1167135"/>
              <a:ext cx="2459675" cy="523220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buClr>
                  <a:srgbClr val="D7000F"/>
                </a:buClr>
                <a:tabLst>
                  <a:tab pos="177800" algn="l"/>
                </a:tabLst>
              </a:pPr>
              <a:r>
                <a:rPr kumimoji="0" lang="zh-CN" altLang="en-US" sz="2800" b="1" dirty="0">
                  <a:solidFill>
                    <a:srgbClr val="D7000F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学习的意义</a:t>
              </a: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EF1D102B-95DD-4D24-AB08-07B1DF0A97A7}"/>
              </a:ext>
            </a:extLst>
          </p:cNvPr>
          <p:cNvGrpSpPr/>
          <p:nvPr/>
        </p:nvGrpSpPr>
        <p:grpSpPr>
          <a:xfrm>
            <a:off x="6096000" y="967906"/>
            <a:ext cx="3267000" cy="630931"/>
            <a:chOff x="695400" y="1059424"/>
            <a:chExt cx="3267000" cy="630931"/>
          </a:xfrm>
        </p:grpSpPr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E98CABEB-3DEC-4BD3-9BD3-89FEE2FC0D13}"/>
                </a:ext>
              </a:extLst>
            </p:cNvPr>
            <p:cNvGrpSpPr/>
            <p:nvPr/>
          </p:nvGrpSpPr>
          <p:grpSpPr>
            <a:xfrm>
              <a:off x="695400" y="1059424"/>
              <a:ext cx="833819" cy="557612"/>
              <a:chOff x="695400" y="1059424"/>
              <a:chExt cx="833819" cy="557612"/>
            </a:xfrm>
          </p:grpSpPr>
          <p:sp>
            <p:nvSpPr>
              <p:cNvPr id="18" name="菱形 17">
                <a:extLst>
                  <a:ext uri="{FF2B5EF4-FFF2-40B4-BE49-F238E27FC236}">
                    <a16:creationId xmlns:a16="http://schemas.microsoft.com/office/drawing/2014/main" id="{B450AC3A-7AF7-4A46-AE46-D6F26D8E1E17}"/>
                  </a:ext>
                </a:extLst>
              </p:cNvPr>
              <p:cNvSpPr/>
              <p:nvPr/>
            </p:nvSpPr>
            <p:spPr bwMode="auto">
              <a:xfrm>
                <a:off x="695400" y="1059424"/>
                <a:ext cx="557612" cy="557612"/>
              </a:xfrm>
              <a:prstGeom prst="diamond">
                <a:avLst/>
              </a:prstGeom>
              <a:solidFill>
                <a:srgbClr val="D7000F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9" name="菱形 18">
                <a:extLst>
                  <a:ext uri="{FF2B5EF4-FFF2-40B4-BE49-F238E27FC236}">
                    <a16:creationId xmlns:a16="http://schemas.microsoft.com/office/drawing/2014/main" id="{D72FBB29-0C69-4462-BFAD-2C8AB84549B8}"/>
                  </a:ext>
                </a:extLst>
              </p:cNvPr>
              <p:cNvSpPr/>
              <p:nvPr/>
            </p:nvSpPr>
            <p:spPr bwMode="auto">
              <a:xfrm>
                <a:off x="1006681" y="1094498"/>
                <a:ext cx="522538" cy="522538"/>
              </a:xfrm>
              <a:prstGeom prst="diamond">
                <a:avLst/>
              </a:prstGeom>
              <a:solidFill>
                <a:srgbClr val="CFCFD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17" name="Text Box 5">
              <a:extLst>
                <a:ext uri="{FF2B5EF4-FFF2-40B4-BE49-F238E27FC236}">
                  <a16:creationId xmlns:a16="http://schemas.microsoft.com/office/drawing/2014/main" id="{EB7E7251-BA54-4DBA-9E12-7AD419F1D1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2725" y="1167135"/>
              <a:ext cx="2459675" cy="523220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buClr>
                  <a:srgbClr val="D7000F"/>
                </a:buClr>
                <a:tabLst>
                  <a:tab pos="177800" algn="l"/>
                </a:tabLst>
              </a:pPr>
              <a:r>
                <a:rPr kumimoji="0" lang="zh-CN" altLang="en-US" sz="2800" b="1" dirty="0">
                  <a:solidFill>
                    <a:srgbClr val="D7000F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学习目标</a:t>
              </a:r>
            </a:p>
          </p:txBody>
        </p:sp>
      </p:grpSp>
      <p:sp>
        <p:nvSpPr>
          <p:cNvPr id="23" name="Rectangle 32">
            <a:extLst>
              <a:ext uri="{FF2B5EF4-FFF2-40B4-BE49-F238E27FC236}">
                <a16:creationId xmlns:a16="http://schemas.microsoft.com/office/drawing/2014/main" id="{340AD1B1-5BC7-47BC-888C-0145BA648D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384" y="2036666"/>
            <a:ext cx="5289969" cy="4154984"/>
          </a:xfrm>
          <a:prstGeom prst="rect">
            <a:avLst/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6200000" scaled="1"/>
            <a:tileRect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pPr>
              <a:buClr>
                <a:srgbClr val="C00000"/>
              </a:buClr>
              <a:buFont typeface="Wingdings" pitchFamily="2" charset="2"/>
              <a:buChar char="Ø"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使用函数，不仅可以实现程序的模块化，程序设计得简单和直观，提高了程序的易读性和可维护性。</a:t>
            </a:r>
          </a:p>
          <a:p>
            <a:pPr>
              <a:buClr>
                <a:srgbClr val="C00000"/>
              </a:buClr>
              <a:buFont typeface="Wingdings" pitchFamily="2" charset="2"/>
              <a:buChar char="Ø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编写自定义函数库。把一些常用的或某些特定功能的程序制作成自己的函数库，以供随时调用，这样可以大大减轻日后编写代码的工作量。</a:t>
            </a:r>
          </a:p>
          <a:p>
            <a:pPr>
              <a:buClr>
                <a:srgbClr val="C00000"/>
              </a:buClr>
              <a:buFont typeface="Wingdings" pitchFamily="2" charset="2"/>
              <a:buChar char="Ø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通过对函数的学习，掌握模块化程序设计的理念，为将来进行团队合作，协同完成大型应用软件奠定一定的基础。</a:t>
            </a:r>
            <a:r>
              <a:rPr lang="zh-CN" altLang="en-US" dirty="0"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24" name="Rectangle 34">
            <a:extLst>
              <a:ext uri="{FF2B5EF4-FFF2-40B4-BE49-F238E27FC236}">
                <a16:creationId xmlns:a16="http://schemas.microsoft.com/office/drawing/2014/main" id="{78558A7F-F8D3-4012-94AD-EB8438E7AE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5721" y="2036666"/>
            <a:ext cx="5296819" cy="4154400"/>
          </a:xfrm>
          <a:prstGeom prst="rect">
            <a:avLst/>
          </a:prstGeom>
          <a:gradFill flip="none" rotWithShape="1">
            <a:gsLst>
              <a:gs pos="0">
                <a:schemeClr val="bg1">
                  <a:shade val="30000"/>
                  <a:satMod val="115000"/>
                </a:schemeClr>
              </a:gs>
              <a:gs pos="50000">
                <a:schemeClr val="bg1">
                  <a:shade val="67500"/>
                  <a:satMod val="115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3500000" scaled="1"/>
            <a:tileRect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>
              <a:buClr>
                <a:srgbClr val="C01920"/>
              </a:buClr>
              <a:buFont typeface="Wingdings" pitchFamily="2" charset="2"/>
              <a:buChar char="Ø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正确理解函数在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C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语言程序设计中的作用和地位；</a:t>
            </a:r>
          </a:p>
          <a:p>
            <a:pPr marL="457200" indent="-457200">
              <a:buClr>
                <a:srgbClr val="C01920"/>
              </a:buClr>
              <a:buFont typeface="Wingdings" pitchFamily="2" charset="2"/>
              <a:buChar char="Ø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理解函数、形参、实参、作用域、生存期的概念；</a:t>
            </a:r>
          </a:p>
          <a:p>
            <a:pPr marL="457200" indent="-457200">
              <a:buClr>
                <a:srgbClr val="C01920"/>
              </a:buClr>
              <a:buFont typeface="Wingdings" pitchFamily="2" charset="2"/>
              <a:buChar char="Ø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掌握各种函数的定义、原型声明和调用的方法；</a:t>
            </a:r>
          </a:p>
          <a:p>
            <a:pPr marL="457200" indent="-457200">
              <a:buClr>
                <a:srgbClr val="C01920"/>
              </a:buClr>
              <a:buFont typeface="Wingdings" pitchFamily="2" charset="2"/>
              <a:buChar char="Ø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理解全局变量、局部变量、静态变量、静态函数的作用域和生存期；</a:t>
            </a:r>
          </a:p>
          <a:p>
            <a:pPr marL="457200" indent="-457200">
              <a:buClr>
                <a:srgbClr val="C01920"/>
              </a:buClr>
              <a:buFont typeface="Wingdings" pitchFamily="2" charset="2"/>
              <a:buChar char="Ø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掌握递归函数的编写规则；</a:t>
            </a:r>
          </a:p>
          <a:p>
            <a:pPr marL="457200" indent="-457200">
              <a:buClr>
                <a:srgbClr val="C01920"/>
              </a:buClr>
              <a:buFont typeface="Wingdings" pitchFamily="2" charset="2"/>
              <a:buChar char="Ø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掌握利用工程管理程序的方法；</a:t>
            </a:r>
            <a:r>
              <a:rPr lang="zh-CN" altLang="en-US" dirty="0"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25" name="Rectangle 4">
            <a:extLst>
              <a:ext uri="{FF2B5EF4-FFF2-40B4-BE49-F238E27FC236}">
                <a16:creationId xmlns:a16="http://schemas.microsoft.com/office/drawing/2014/main" id="{7407B9FC-EE34-4340-A38D-F968240B9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第</a:t>
            </a:r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章：函  数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4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932" name="Rectangle 44"/>
          <p:cNvSpPr>
            <a:spLocks noChangeArrowheads="1"/>
          </p:cNvSpPr>
          <p:nvPr/>
        </p:nvSpPr>
        <p:spPr bwMode="auto">
          <a:xfrm>
            <a:off x="3506798" y="1598837"/>
            <a:ext cx="4752528" cy="4876800"/>
          </a:xfrm>
          <a:prstGeom prst="rect">
            <a:avLst/>
          </a:prstGeom>
          <a:gradFill flip="none" rotWithShape="1">
            <a:gsLst>
              <a:gs pos="0">
                <a:schemeClr val="bg1">
                  <a:shade val="30000"/>
                  <a:satMod val="115000"/>
                </a:schemeClr>
              </a:gs>
              <a:gs pos="50000">
                <a:schemeClr val="bg1">
                  <a:shade val="67500"/>
                  <a:satMod val="115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3500000" scaled="1"/>
            <a:tileRect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342900" indent="-342900">
              <a:buClr>
                <a:srgbClr val="C01920"/>
              </a:buClr>
              <a:buFont typeface="Wingdings" panose="05000000000000000000" pitchFamily="2" charset="2"/>
              <a:buChar char="ü"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函数概述</a:t>
            </a:r>
          </a:p>
          <a:p>
            <a:pPr marL="342900" indent="-342900">
              <a:buClr>
                <a:srgbClr val="C01920"/>
              </a:buClr>
              <a:buFont typeface="Wingdings" panose="05000000000000000000" pitchFamily="2" charset="2"/>
              <a:buChar char="ü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函数的定义与调用</a:t>
            </a:r>
          </a:p>
          <a:p>
            <a:pPr marL="703263" indent="-342900">
              <a:buClr>
                <a:srgbClr val="C0192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无参数无返回值的函数</a:t>
            </a:r>
          </a:p>
          <a:p>
            <a:pPr marL="703263" indent="-342900">
              <a:buClr>
                <a:srgbClr val="C0192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无参数有返回值的函数</a:t>
            </a:r>
          </a:p>
          <a:p>
            <a:pPr marL="703263" indent="-342900">
              <a:buClr>
                <a:srgbClr val="C0192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带参数无返回值的函数</a:t>
            </a:r>
          </a:p>
          <a:p>
            <a:pPr marL="703263" indent="-342900">
              <a:buClr>
                <a:srgbClr val="C0192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带参数有返回值的函数</a:t>
            </a:r>
          </a:p>
          <a:p>
            <a:pPr marL="342900" indent="-342900">
              <a:buClr>
                <a:srgbClr val="C01920"/>
              </a:buClr>
              <a:buFont typeface="Wingdings" panose="05000000000000000000" pitchFamily="2" charset="2"/>
              <a:buChar char="ü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函数参数传递的传递方式</a:t>
            </a:r>
          </a:p>
          <a:p>
            <a:pPr marL="342900" indent="-342900">
              <a:buClr>
                <a:srgbClr val="C01920"/>
              </a:buClr>
              <a:buFont typeface="Wingdings" panose="05000000000000000000" pitchFamily="2" charset="2"/>
              <a:buChar char="ü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变量的作用域和生存期</a:t>
            </a:r>
          </a:p>
          <a:p>
            <a:pPr marL="342900" indent="-342900">
              <a:buClr>
                <a:srgbClr val="C01920"/>
              </a:buClr>
              <a:buFont typeface="Wingdings" panose="05000000000000000000" pitchFamily="2" charset="2"/>
              <a:buChar char="ü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变量的存储类型</a:t>
            </a:r>
          </a:p>
          <a:p>
            <a:pPr marL="342900" indent="-342900">
              <a:buClr>
                <a:srgbClr val="C01920"/>
              </a:buClr>
              <a:buFont typeface="Wingdings" panose="05000000000000000000" pitchFamily="2" charset="2"/>
              <a:buChar char="ü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函数的嵌套和递归调用</a:t>
            </a:r>
          </a:p>
          <a:p>
            <a:pPr marL="342900" indent="-342900">
              <a:buClr>
                <a:srgbClr val="C01920"/>
              </a:buClr>
              <a:buFont typeface="Wingdings" panose="05000000000000000000" pitchFamily="2" charset="2"/>
              <a:buChar char="ü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函数的作用域</a:t>
            </a:r>
          </a:p>
          <a:p>
            <a:pPr marL="342900" indent="-342900">
              <a:buClr>
                <a:srgbClr val="C01920"/>
              </a:buClr>
              <a:buFont typeface="Wingdings" panose="05000000000000000000" pitchFamily="2" charset="2"/>
              <a:buChar char="ü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函数应用综合举例</a:t>
            </a:r>
          </a:p>
          <a:p>
            <a:pPr marL="342900" indent="-342900">
              <a:buClr>
                <a:srgbClr val="C01920"/>
              </a:buClr>
              <a:buFont typeface="Wingdings" panose="05000000000000000000" pitchFamily="2" charset="2"/>
              <a:buChar char="ü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本章小结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8B8245C1-8562-46B7-A62B-C868C496AA8E}"/>
              </a:ext>
            </a:extLst>
          </p:cNvPr>
          <p:cNvGrpSpPr/>
          <p:nvPr/>
        </p:nvGrpSpPr>
        <p:grpSpPr>
          <a:xfrm>
            <a:off x="695325" y="967906"/>
            <a:ext cx="3267000" cy="630931"/>
            <a:chOff x="695400" y="1059424"/>
            <a:chExt cx="3267000" cy="630931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CF97B2D5-980D-42E5-A991-997622E9AE48}"/>
                </a:ext>
              </a:extLst>
            </p:cNvPr>
            <p:cNvGrpSpPr/>
            <p:nvPr/>
          </p:nvGrpSpPr>
          <p:grpSpPr>
            <a:xfrm>
              <a:off x="695400" y="1059424"/>
              <a:ext cx="833819" cy="557612"/>
              <a:chOff x="695400" y="1059424"/>
              <a:chExt cx="833819" cy="557612"/>
            </a:xfrm>
          </p:grpSpPr>
          <p:sp>
            <p:nvSpPr>
              <p:cNvPr id="10" name="菱形 9">
                <a:extLst>
                  <a:ext uri="{FF2B5EF4-FFF2-40B4-BE49-F238E27FC236}">
                    <a16:creationId xmlns:a16="http://schemas.microsoft.com/office/drawing/2014/main" id="{C8107938-2B64-4DE4-9D59-F62A23475BFB}"/>
                  </a:ext>
                </a:extLst>
              </p:cNvPr>
              <p:cNvSpPr/>
              <p:nvPr/>
            </p:nvSpPr>
            <p:spPr bwMode="auto">
              <a:xfrm>
                <a:off x="695400" y="1059424"/>
                <a:ext cx="557612" cy="557612"/>
              </a:xfrm>
              <a:prstGeom prst="diamond">
                <a:avLst/>
              </a:prstGeom>
              <a:solidFill>
                <a:srgbClr val="D7000F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1" name="菱形 10">
                <a:extLst>
                  <a:ext uri="{FF2B5EF4-FFF2-40B4-BE49-F238E27FC236}">
                    <a16:creationId xmlns:a16="http://schemas.microsoft.com/office/drawing/2014/main" id="{E150F01B-E984-43DB-A8C7-3DDFF1010C02}"/>
                  </a:ext>
                </a:extLst>
              </p:cNvPr>
              <p:cNvSpPr/>
              <p:nvPr/>
            </p:nvSpPr>
            <p:spPr bwMode="auto">
              <a:xfrm>
                <a:off x="1006681" y="1094498"/>
                <a:ext cx="522538" cy="522538"/>
              </a:xfrm>
              <a:prstGeom prst="diamond">
                <a:avLst/>
              </a:prstGeom>
              <a:solidFill>
                <a:srgbClr val="CFCFD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9" name="Text Box 5">
              <a:extLst>
                <a:ext uri="{FF2B5EF4-FFF2-40B4-BE49-F238E27FC236}">
                  <a16:creationId xmlns:a16="http://schemas.microsoft.com/office/drawing/2014/main" id="{801AB000-DF20-4276-B948-B6C60D5D34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2725" y="1167135"/>
              <a:ext cx="2459675" cy="523220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buClr>
                  <a:srgbClr val="D7000F"/>
                </a:buClr>
                <a:tabLst>
                  <a:tab pos="177800" algn="l"/>
                </a:tabLst>
              </a:pPr>
              <a:r>
                <a:rPr kumimoji="0" lang="zh-CN" altLang="en-US" sz="2800" b="1" dirty="0">
                  <a:solidFill>
                    <a:srgbClr val="D7000F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学习内容</a:t>
              </a:r>
            </a:p>
          </p:txBody>
        </p:sp>
      </p:grpSp>
      <p:sp>
        <p:nvSpPr>
          <p:cNvPr id="12" name="Rectangle 4">
            <a:extLst>
              <a:ext uri="{FF2B5EF4-FFF2-40B4-BE49-F238E27FC236}">
                <a16:creationId xmlns:a16="http://schemas.microsoft.com/office/drawing/2014/main" id="{7104435B-6F8E-419A-A41A-08CC447679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第</a:t>
            </a:r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章：函  数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6779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793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496" name="Rectangle 32"/>
          <p:cNvSpPr>
            <a:spLocks noChangeArrowheads="1"/>
          </p:cNvSpPr>
          <p:nvPr/>
        </p:nvSpPr>
        <p:spPr bwMode="auto">
          <a:xfrm>
            <a:off x="997024" y="883568"/>
            <a:ext cx="25282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1</a:t>
            </a:r>
            <a:r>
              <a:rPr lang="zh-CN" altLang="en-US" sz="2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、函数的概念</a:t>
            </a:r>
          </a:p>
        </p:txBody>
      </p:sp>
      <p:sp>
        <p:nvSpPr>
          <p:cNvPr id="958513" name="Rectangle 49"/>
          <p:cNvSpPr>
            <a:spLocks noChangeArrowheads="1"/>
          </p:cNvSpPr>
          <p:nvPr/>
        </p:nvSpPr>
        <p:spPr bwMode="auto">
          <a:xfrm>
            <a:off x="789260" y="1383159"/>
            <a:ext cx="112834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   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函数其实就是一段可以重复调用的、功能相对独立完整的程序段。 </a:t>
            </a:r>
          </a:p>
        </p:txBody>
      </p:sp>
      <p:sp>
        <p:nvSpPr>
          <p:cNvPr id="958514" name="Text Box 50"/>
          <p:cNvSpPr txBox="1">
            <a:spLocks noChangeArrowheads="1"/>
          </p:cNvSpPr>
          <p:nvPr/>
        </p:nvSpPr>
        <p:spPr bwMode="auto">
          <a:xfrm>
            <a:off x="1298650" y="1838432"/>
            <a:ext cx="6183103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buClr>
                <a:srgbClr val="C01920"/>
              </a:buClr>
              <a:buFont typeface="Wingdings" pitchFamily="2" charset="2"/>
              <a:buChar char="&amp;"/>
            </a:pP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 C</a:t>
            </a:r>
            <a:r>
              <a:rPr lang="zh-CN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是</a:t>
            </a:r>
            <a:r>
              <a:rPr lang="zh-CN" altLang="zh-CN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函数式</a:t>
            </a:r>
            <a:r>
              <a:rPr lang="zh-CN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语言</a:t>
            </a:r>
          </a:p>
          <a:p>
            <a:pPr>
              <a:buClr>
                <a:srgbClr val="C01920"/>
              </a:buClr>
              <a:buFont typeface="Wingdings" pitchFamily="2" charset="2"/>
              <a:buChar char="&amp;"/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必须有且只能有一个名为</a:t>
            </a:r>
            <a:r>
              <a:rPr lang="en-US" altLang="zh-CN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main</a:t>
            </a:r>
            <a:r>
              <a:rPr lang="zh-CN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的主函数</a:t>
            </a:r>
          </a:p>
          <a:p>
            <a:pPr>
              <a:buClr>
                <a:srgbClr val="C01920"/>
              </a:buClr>
              <a:buFont typeface="Wingdings" pitchFamily="2" charset="2"/>
              <a:buChar char="&amp;"/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程序的执行总是</a:t>
            </a:r>
            <a:r>
              <a:rPr lang="zh-CN" altLang="zh-CN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从</a:t>
            </a:r>
            <a:r>
              <a:rPr lang="en-US" altLang="zh-CN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main</a:t>
            </a:r>
            <a:r>
              <a:rPr lang="zh-CN" altLang="zh-CN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函数开始，在</a:t>
            </a:r>
            <a:r>
              <a:rPr lang="en-US" altLang="zh-CN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main</a:t>
            </a:r>
            <a:r>
              <a:rPr lang="zh-CN" altLang="zh-CN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中结束</a:t>
            </a:r>
          </a:p>
          <a:p>
            <a:pPr>
              <a:buClr>
                <a:srgbClr val="C01920"/>
              </a:buClr>
              <a:buFont typeface="Wingdings" pitchFamily="2" charset="2"/>
              <a:buChar char="&amp;"/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函数</a:t>
            </a:r>
            <a:r>
              <a:rPr lang="zh-CN" altLang="zh-CN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不能嵌套定义,可以</a:t>
            </a:r>
            <a:r>
              <a:rPr lang="zh-CN" altLang="en-US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嵌套</a:t>
            </a:r>
            <a:r>
              <a:rPr lang="zh-CN" altLang="zh-CN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调用</a:t>
            </a:r>
            <a:endParaRPr lang="zh-CN" altLang="en-US" sz="2000" b="1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58515" name="Rectangle 51"/>
          <p:cNvSpPr>
            <a:spLocks noChangeArrowheads="1"/>
          </p:cNvSpPr>
          <p:nvPr/>
        </p:nvSpPr>
        <p:spPr bwMode="auto">
          <a:xfrm>
            <a:off x="1009724" y="3284984"/>
            <a:ext cx="25282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2</a:t>
            </a:r>
            <a:r>
              <a:rPr lang="zh-CN" altLang="en-US" sz="2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、函数的分类</a:t>
            </a:r>
          </a:p>
        </p:txBody>
      </p:sp>
      <p:sp>
        <p:nvSpPr>
          <p:cNvPr id="958516" name="Rectangle 52"/>
          <p:cNvSpPr>
            <a:spLocks noChangeArrowheads="1"/>
          </p:cNvSpPr>
          <p:nvPr/>
        </p:nvSpPr>
        <p:spPr bwMode="auto">
          <a:xfrm>
            <a:off x="1295474" y="3762375"/>
            <a:ext cx="71294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rgbClr val="C01920"/>
              </a:buClr>
              <a:buFont typeface="Wingdings" pitchFamily="2" charset="2"/>
              <a:buChar char="Ø"/>
            </a:pP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从用户角度</a:t>
            </a:r>
          </a:p>
        </p:txBody>
      </p:sp>
      <p:sp>
        <p:nvSpPr>
          <p:cNvPr id="958517" name="Rectangle 53"/>
          <p:cNvSpPr>
            <a:spLocks noChangeArrowheads="1"/>
          </p:cNvSpPr>
          <p:nvPr/>
        </p:nvSpPr>
        <p:spPr bwMode="auto">
          <a:xfrm>
            <a:off x="1716162" y="4108451"/>
            <a:ext cx="669607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rgbClr val="002060"/>
              </a:buClr>
              <a:buFont typeface="Wingdings" pitchFamily="2" charset="2"/>
              <a:buChar char="l"/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标准函数（库函数）：由系统提供</a:t>
            </a:r>
          </a:p>
          <a:p>
            <a:pPr>
              <a:buClr>
                <a:srgbClr val="002060"/>
              </a:buClr>
              <a:buFont typeface="Wingdings" pitchFamily="2" charset="2"/>
              <a:buChar char="l"/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用户自定义函数</a:t>
            </a:r>
          </a:p>
        </p:txBody>
      </p:sp>
      <p:sp>
        <p:nvSpPr>
          <p:cNvPr id="958518" name="Rectangle 54"/>
          <p:cNvSpPr>
            <a:spLocks noChangeArrowheads="1"/>
          </p:cNvSpPr>
          <p:nvPr/>
        </p:nvSpPr>
        <p:spPr bwMode="auto">
          <a:xfrm>
            <a:off x="1271464" y="4821238"/>
            <a:ext cx="71294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rgbClr val="C01920"/>
              </a:buClr>
              <a:buFont typeface="Wingdings" pitchFamily="2" charset="2"/>
              <a:buChar char="Ø"/>
            </a:pP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从函数形式</a:t>
            </a:r>
          </a:p>
        </p:txBody>
      </p:sp>
      <p:sp>
        <p:nvSpPr>
          <p:cNvPr id="958519" name="Rectangle 55"/>
          <p:cNvSpPr>
            <a:spLocks noChangeArrowheads="1"/>
          </p:cNvSpPr>
          <p:nvPr/>
        </p:nvSpPr>
        <p:spPr bwMode="auto">
          <a:xfrm>
            <a:off x="1728862" y="5202238"/>
            <a:ext cx="6696075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rgbClr val="002060"/>
              </a:buClr>
              <a:buFont typeface="Wingdings" pitchFamily="2" charset="2"/>
              <a:buChar char="l"/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无参数无返回值</a:t>
            </a:r>
          </a:p>
          <a:p>
            <a:pPr>
              <a:buClr>
                <a:srgbClr val="002060"/>
              </a:buClr>
              <a:buFont typeface="Wingdings" pitchFamily="2" charset="2"/>
              <a:buChar char="l"/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无参数有返回值</a:t>
            </a:r>
          </a:p>
          <a:p>
            <a:pPr>
              <a:buClr>
                <a:srgbClr val="002060"/>
              </a:buClr>
              <a:buFont typeface="Wingdings" pitchFamily="2" charset="2"/>
              <a:buChar char="l"/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有参数无返回值</a:t>
            </a:r>
          </a:p>
          <a:p>
            <a:pPr>
              <a:buClr>
                <a:srgbClr val="002060"/>
              </a:buClr>
              <a:buFont typeface="Wingdings" pitchFamily="2" charset="2"/>
              <a:buChar char="l"/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有参数有返回值</a:t>
            </a:r>
          </a:p>
        </p:txBody>
      </p:sp>
      <p:sp>
        <p:nvSpPr>
          <p:cNvPr id="958520" name="Text Box 56"/>
          <p:cNvSpPr txBox="1">
            <a:spLocks noChangeArrowheads="1"/>
          </p:cNvSpPr>
          <p:nvPr/>
        </p:nvSpPr>
        <p:spPr bwMode="auto">
          <a:xfrm>
            <a:off x="4727848" y="4638675"/>
            <a:ext cx="7190197" cy="1955800"/>
          </a:xfrm>
          <a:prstGeom prst="rect">
            <a:avLst/>
          </a:prstGeom>
          <a:gradFill rotWithShape="1">
            <a:gsLst>
              <a:gs pos="0">
                <a:srgbClr val="CFCFD1"/>
              </a:gs>
              <a:gs pos="9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en-US" b="1" u="sng" dirty="0">
                <a:solidFill>
                  <a:srgbClr val="C00000"/>
                </a:solidFill>
                <a:latin typeface="隶书" pitchFamily="49" charset="-122"/>
                <a:ea typeface="隶书" pitchFamily="49" charset="-122"/>
              </a:rPr>
              <a:t>使用库函数应注意：</a:t>
            </a:r>
          </a:p>
          <a:p>
            <a:r>
              <a:rPr lang="zh-CN" altLang="en-US" b="1" dirty="0">
                <a:latin typeface="隶书" pitchFamily="49" charset="-122"/>
                <a:ea typeface="隶书" pitchFamily="49" charset="-122"/>
              </a:rPr>
              <a:t>  </a:t>
            </a:r>
            <a:r>
              <a:rPr lang="en-US" altLang="zh-CN" b="1" dirty="0">
                <a:latin typeface="隶书" pitchFamily="49" charset="-122"/>
                <a:ea typeface="隶书" pitchFamily="49" charset="-122"/>
              </a:rPr>
              <a:t>1</a:t>
            </a:r>
            <a:r>
              <a:rPr lang="zh-CN" altLang="en-US" b="1" dirty="0">
                <a:latin typeface="隶书" pitchFamily="49" charset="-122"/>
                <a:ea typeface="隶书" pitchFamily="49" charset="-122"/>
              </a:rPr>
              <a:t>、函数功能</a:t>
            </a:r>
          </a:p>
          <a:p>
            <a:r>
              <a:rPr lang="zh-CN" altLang="en-US" b="1" dirty="0">
                <a:latin typeface="隶书" pitchFamily="49" charset="-122"/>
                <a:ea typeface="隶书" pitchFamily="49" charset="-122"/>
              </a:rPr>
              <a:t>  </a:t>
            </a:r>
            <a:r>
              <a:rPr lang="en-US" altLang="zh-CN" b="1" dirty="0">
                <a:latin typeface="隶书" pitchFamily="49" charset="-122"/>
                <a:ea typeface="隶书" pitchFamily="49" charset="-122"/>
              </a:rPr>
              <a:t>2</a:t>
            </a:r>
            <a:r>
              <a:rPr lang="zh-CN" altLang="en-US" b="1" dirty="0">
                <a:latin typeface="隶书" pitchFamily="49" charset="-122"/>
                <a:ea typeface="隶书" pitchFamily="49" charset="-122"/>
              </a:rPr>
              <a:t>、函数参数的数目和顺序，及各参数意义和类型</a:t>
            </a:r>
          </a:p>
          <a:p>
            <a:r>
              <a:rPr lang="zh-CN" altLang="en-US" b="1" dirty="0">
                <a:latin typeface="隶书" pitchFamily="49" charset="-122"/>
                <a:ea typeface="隶书" pitchFamily="49" charset="-122"/>
              </a:rPr>
              <a:t>  </a:t>
            </a:r>
            <a:r>
              <a:rPr lang="en-US" altLang="zh-CN" b="1" dirty="0">
                <a:latin typeface="隶书" pitchFamily="49" charset="-122"/>
                <a:ea typeface="隶书" pitchFamily="49" charset="-122"/>
              </a:rPr>
              <a:t>3</a:t>
            </a:r>
            <a:r>
              <a:rPr lang="zh-CN" altLang="en-US" b="1" dirty="0">
                <a:latin typeface="隶书" pitchFamily="49" charset="-122"/>
                <a:ea typeface="隶书" pitchFamily="49" charset="-122"/>
              </a:rPr>
              <a:t>、函数返回值意义和类型</a:t>
            </a:r>
          </a:p>
          <a:p>
            <a:r>
              <a:rPr lang="zh-CN" altLang="en-US" b="1" dirty="0">
                <a:latin typeface="隶书" pitchFamily="49" charset="-122"/>
                <a:ea typeface="隶书" pitchFamily="49" charset="-122"/>
              </a:rPr>
              <a:t>  </a:t>
            </a:r>
            <a:r>
              <a:rPr lang="en-US" altLang="zh-CN" b="1" dirty="0">
                <a:latin typeface="隶书" pitchFamily="49" charset="-122"/>
                <a:ea typeface="隶书" pitchFamily="49" charset="-122"/>
              </a:rPr>
              <a:t>4</a:t>
            </a:r>
            <a:r>
              <a:rPr lang="zh-CN" altLang="en-US" b="1" dirty="0">
                <a:latin typeface="隶书" pitchFamily="49" charset="-122"/>
                <a:ea typeface="隶书" pitchFamily="49" charset="-122"/>
              </a:rPr>
              <a:t>、需要使用的包含文件</a:t>
            </a:r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62C734F9-9E9C-4C57-8BF0-DAACFBE02A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8.1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函数概述 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584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584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9585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5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9585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5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9585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5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9585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5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9585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585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585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585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9585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585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9585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585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9585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9585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9585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8" dur="500"/>
                                        <p:tgtEl>
                                          <p:spTgt spid="9585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8496" grpId="0"/>
      <p:bldP spid="958513" grpId="0"/>
      <p:bldP spid="958514" grpId="0" build="p" autoUpdateAnimBg="0"/>
      <p:bldP spid="958515" grpId="0"/>
      <p:bldP spid="958516" grpId="0"/>
      <p:bldP spid="958517" grpId="0"/>
      <p:bldP spid="958518" grpId="0"/>
      <p:bldP spid="958519" grpId="0"/>
      <p:bldP spid="958520" grpId="0" animBg="1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027" name="Rectangle 3"/>
          <p:cNvSpPr>
            <a:spLocks noChangeArrowheads="1"/>
          </p:cNvSpPr>
          <p:nvPr/>
        </p:nvSpPr>
        <p:spPr bwMode="auto">
          <a:xfrm>
            <a:off x="809585" y="811560"/>
            <a:ext cx="4787245" cy="52322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2800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、无参数无返回值的函数</a:t>
            </a:r>
          </a:p>
        </p:txBody>
      </p:sp>
      <p:sp>
        <p:nvSpPr>
          <p:cNvPr id="1025031" name="Rectangle 7"/>
          <p:cNvSpPr>
            <a:spLocks noChangeArrowheads="1"/>
          </p:cNvSpPr>
          <p:nvPr/>
        </p:nvSpPr>
        <p:spPr bwMode="auto">
          <a:xfrm>
            <a:off x="1166839" y="1340768"/>
            <a:ext cx="2492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altLang="zh-CN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定义格式 </a:t>
            </a:r>
          </a:p>
        </p:txBody>
      </p:sp>
      <p:sp>
        <p:nvSpPr>
          <p:cNvPr id="1025040" name="Text Box 16"/>
          <p:cNvSpPr txBox="1">
            <a:spLocks noChangeArrowheads="1"/>
          </p:cNvSpPr>
          <p:nvPr/>
        </p:nvSpPr>
        <p:spPr bwMode="auto">
          <a:xfrm>
            <a:off x="4218682" y="1687514"/>
            <a:ext cx="3743325" cy="1944687"/>
          </a:xfrm>
          <a:prstGeom prst="rect">
            <a:avLst/>
          </a:prstGeom>
          <a:gradFill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>
            <a:defPPr>
              <a:defRPr lang="zh-CN"/>
            </a:defPPr>
            <a:lvl1pPr algn="ctr">
              <a:defRPr b="1">
                <a:latin typeface="+mn-lt"/>
                <a:ea typeface="楷体" pitchFamily="49" charset="-122"/>
              </a:defRPr>
            </a:lvl1pPr>
          </a:lstStyle>
          <a:p>
            <a:pPr algn="l"/>
            <a:r>
              <a:rPr lang="en-US" altLang="zh-CN" dirty="0"/>
              <a:t>void  </a:t>
            </a:r>
            <a:r>
              <a:rPr lang="zh-CN" altLang="en-US" dirty="0"/>
              <a:t>函数名 </a:t>
            </a:r>
            <a:r>
              <a:rPr lang="en-US" altLang="zh-CN" dirty="0"/>
              <a:t>(void)</a:t>
            </a:r>
          </a:p>
          <a:p>
            <a:pPr algn="l"/>
            <a:r>
              <a:rPr lang="en-US" altLang="zh-CN" dirty="0"/>
              <a:t>{</a:t>
            </a:r>
          </a:p>
          <a:p>
            <a:pPr algn="l"/>
            <a:r>
              <a:rPr lang="en-US" altLang="zh-CN" dirty="0"/>
              <a:t>    </a:t>
            </a:r>
            <a:r>
              <a:rPr lang="zh-CN" altLang="en-US" dirty="0"/>
              <a:t>变量声明部分</a:t>
            </a:r>
          </a:p>
          <a:p>
            <a:pPr algn="l"/>
            <a:r>
              <a:rPr lang="zh-CN" altLang="en-US" dirty="0"/>
              <a:t>    执行部分</a:t>
            </a:r>
          </a:p>
          <a:p>
            <a:pPr algn="l"/>
            <a:r>
              <a:rPr lang="en-US" altLang="zh-CN" dirty="0"/>
              <a:t>}</a:t>
            </a:r>
          </a:p>
        </p:txBody>
      </p:sp>
      <p:grpSp>
        <p:nvGrpSpPr>
          <p:cNvPr id="1025045" name="Group 21"/>
          <p:cNvGrpSpPr>
            <a:grpSpLocks/>
          </p:cNvGrpSpPr>
          <p:nvPr/>
        </p:nvGrpSpPr>
        <p:grpSpPr bwMode="auto">
          <a:xfrm>
            <a:off x="6531670" y="2593976"/>
            <a:ext cx="1152525" cy="569913"/>
            <a:chOff x="3195" y="1661"/>
            <a:chExt cx="726" cy="359"/>
          </a:xfrm>
        </p:grpSpPr>
        <p:sp>
          <p:nvSpPr>
            <p:cNvPr id="1025041" name="AutoShape 17"/>
            <p:cNvSpPr>
              <a:spLocks/>
            </p:cNvSpPr>
            <p:nvPr/>
          </p:nvSpPr>
          <p:spPr bwMode="auto">
            <a:xfrm>
              <a:off x="3195" y="1661"/>
              <a:ext cx="99" cy="359"/>
            </a:xfrm>
            <a:prstGeom prst="rightBrace">
              <a:avLst>
                <a:gd name="adj1" fmla="val 30219"/>
                <a:gd name="adj2" fmla="val 50000"/>
              </a:avLst>
            </a:prstGeom>
            <a:noFill/>
            <a:ln w="25400">
              <a:solidFill>
                <a:srgbClr val="C01920"/>
              </a:solidFill>
              <a:round/>
              <a:headEnd/>
              <a:tailEnd/>
            </a:ln>
            <a:effectLst>
              <a:outerShdw dist="35921" dir="2700000" algn="ctr" rotWithShape="0">
                <a:srgbClr val="808080"/>
              </a:outerShdw>
            </a:effectLst>
          </p:spPr>
          <p:txBody>
            <a:bodyPr/>
            <a:lstStyle/>
            <a:p>
              <a:endParaRPr lang="zh-CN" altLang="en-US">
                <a:solidFill>
                  <a:srgbClr val="C00000"/>
                </a:solidFill>
              </a:endParaRPr>
            </a:p>
          </p:txBody>
        </p:sp>
        <p:sp>
          <p:nvSpPr>
            <p:cNvPr id="1025042" name="Text Box 18"/>
            <p:cNvSpPr txBox="1">
              <a:spLocks noChangeArrowheads="1"/>
            </p:cNvSpPr>
            <p:nvPr/>
          </p:nvSpPr>
          <p:spPr bwMode="auto">
            <a:xfrm>
              <a:off x="3286" y="1661"/>
              <a:ext cx="635" cy="2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zh-CN" altLang="en-US" sz="2000" b="1" dirty="0">
                  <a:solidFill>
                    <a:srgbClr val="C00000"/>
                  </a:solidFill>
                  <a:latin typeface="楷体" pitchFamily="49" charset="-122"/>
                  <a:ea typeface="楷体" pitchFamily="49" charset="-122"/>
                </a:rPr>
                <a:t>函数体</a:t>
              </a:r>
            </a:p>
          </p:txBody>
        </p:sp>
      </p:grpSp>
      <p:sp>
        <p:nvSpPr>
          <p:cNvPr id="1025043" name="AutoShape 19"/>
          <p:cNvSpPr>
            <a:spLocks noChangeArrowheads="1"/>
          </p:cNvSpPr>
          <p:nvPr/>
        </p:nvSpPr>
        <p:spPr bwMode="auto">
          <a:xfrm>
            <a:off x="1775520" y="2217739"/>
            <a:ext cx="1944687" cy="1152525"/>
          </a:xfrm>
          <a:prstGeom prst="wedgeRoundRectCallout">
            <a:avLst>
              <a:gd name="adj1" fmla="val 79958"/>
              <a:gd name="adj2" fmla="val -73829"/>
              <a:gd name="adj3" fmla="val 16667"/>
            </a:avLst>
          </a:prstGeom>
          <a:gradFill rotWithShape="1">
            <a:gsLst>
              <a:gs pos="0">
                <a:srgbClr val="CFCFD1"/>
              </a:gs>
              <a:gs pos="100000">
                <a:srgbClr val="FFFFFF"/>
              </a:gs>
            </a:gsLst>
            <a:lin ang="5400000" scaled="1"/>
          </a:gradFill>
          <a:ln w="1905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pPr algn="just"/>
            <a:r>
              <a:rPr lang="zh-CN" altLang="en-US" sz="2000" b="1" dirty="0">
                <a:solidFill>
                  <a:srgbClr val="C00000"/>
                </a:solidFill>
                <a:ea typeface="隶书" pitchFamily="49" charset="-122"/>
              </a:rPr>
              <a:t>空类型，表明函数无返回值，不可省！</a:t>
            </a:r>
          </a:p>
        </p:txBody>
      </p:sp>
      <p:sp>
        <p:nvSpPr>
          <p:cNvPr id="1025044" name="AutoShape 20"/>
          <p:cNvSpPr>
            <a:spLocks noChangeArrowheads="1"/>
          </p:cNvSpPr>
          <p:nvPr/>
        </p:nvSpPr>
        <p:spPr bwMode="auto">
          <a:xfrm>
            <a:off x="7960420" y="2349501"/>
            <a:ext cx="1944687" cy="792163"/>
          </a:xfrm>
          <a:prstGeom prst="wedgeRoundRectCallout">
            <a:avLst>
              <a:gd name="adj1" fmla="val -125917"/>
              <a:gd name="adj2" fmla="val -83269"/>
              <a:gd name="adj3" fmla="val 16667"/>
            </a:avLst>
          </a:prstGeom>
          <a:gradFill rotWithShape="1">
            <a:gsLst>
              <a:gs pos="0">
                <a:srgbClr val="CFCFD1"/>
              </a:gs>
              <a:gs pos="100000">
                <a:srgbClr val="FFFFFF"/>
              </a:gs>
            </a:gsLst>
            <a:lin ang="5400000" scaled="1"/>
          </a:gradFill>
          <a:ln w="22225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pPr algn="just"/>
            <a:r>
              <a:rPr lang="zh-CN" altLang="en-US" sz="2000" b="1" dirty="0">
                <a:solidFill>
                  <a:srgbClr val="C00000"/>
                </a:solidFill>
                <a:ea typeface="隶书" pitchFamily="49" charset="-122"/>
              </a:rPr>
              <a:t>表明无参数，可缺省！</a:t>
            </a:r>
          </a:p>
        </p:txBody>
      </p:sp>
      <p:sp>
        <p:nvSpPr>
          <p:cNvPr id="1025046" name="AutoShape 22"/>
          <p:cNvSpPr>
            <a:spLocks noChangeArrowheads="1"/>
          </p:cNvSpPr>
          <p:nvPr/>
        </p:nvSpPr>
        <p:spPr bwMode="auto">
          <a:xfrm>
            <a:off x="6595170" y="536576"/>
            <a:ext cx="1944687" cy="792163"/>
          </a:xfrm>
          <a:prstGeom prst="wedgeRoundRectCallout">
            <a:avLst>
              <a:gd name="adj1" fmla="val -114329"/>
              <a:gd name="adj2" fmla="val 103907"/>
              <a:gd name="adj3" fmla="val 16667"/>
            </a:avLst>
          </a:prstGeom>
          <a:gradFill rotWithShape="1">
            <a:gsLst>
              <a:gs pos="0">
                <a:srgbClr val="CFCFD1"/>
              </a:gs>
              <a:gs pos="100000">
                <a:srgbClr val="FFFFFF"/>
              </a:gs>
            </a:gsLst>
            <a:lin ang="5400000" scaled="1"/>
          </a:gradFill>
          <a:ln w="22225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pPr algn="just"/>
            <a:r>
              <a:rPr lang="zh-CN" altLang="en-US" sz="2000" b="1" dirty="0">
                <a:solidFill>
                  <a:srgbClr val="C00000"/>
                </a:solidFill>
                <a:ea typeface="隶书" pitchFamily="49" charset="-122"/>
              </a:rPr>
              <a:t>必须为合法的标识符</a:t>
            </a:r>
          </a:p>
        </p:txBody>
      </p:sp>
      <p:sp>
        <p:nvSpPr>
          <p:cNvPr id="1025048" name="Rectangle 24"/>
          <p:cNvSpPr>
            <a:spLocks noChangeArrowheads="1"/>
          </p:cNvSpPr>
          <p:nvPr/>
        </p:nvSpPr>
        <p:spPr bwMode="auto">
          <a:xfrm>
            <a:off x="1154139" y="3646488"/>
            <a:ext cx="2492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altLang="zh-CN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函数用途 </a:t>
            </a:r>
          </a:p>
        </p:txBody>
      </p:sp>
      <p:sp>
        <p:nvSpPr>
          <p:cNvPr id="1025049" name="Rectangle 25"/>
          <p:cNvSpPr>
            <a:spLocks noChangeArrowheads="1"/>
          </p:cNvSpPr>
          <p:nvPr/>
        </p:nvSpPr>
        <p:spPr bwMode="auto">
          <a:xfrm>
            <a:off x="534750" y="4045378"/>
            <a:ext cx="11105866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   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此类函数用于完成某项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固定的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处理任务，执行完成后不向调用者返回函数值。它类似于其它语言的过程。 </a:t>
            </a:r>
          </a:p>
        </p:txBody>
      </p:sp>
      <p:sp>
        <p:nvSpPr>
          <p:cNvPr id="1025050" name="Rectangle 26"/>
          <p:cNvSpPr>
            <a:spLocks noChangeArrowheads="1"/>
          </p:cNvSpPr>
          <p:nvPr/>
        </p:nvSpPr>
        <p:spPr bwMode="auto">
          <a:xfrm>
            <a:off x="1141438" y="5030713"/>
            <a:ext cx="31543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altLang="zh-CN" b="1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b="1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函数的原型声明 </a:t>
            </a:r>
          </a:p>
        </p:txBody>
      </p:sp>
      <p:sp>
        <p:nvSpPr>
          <p:cNvPr id="1025051" name="Text Box 27"/>
          <p:cNvSpPr txBox="1">
            <a:spLocks noChangeArrowheads="1"/>
          </p:cNvSpPr>
          <p:nvPr/>
        </p:nvSpPr>
        <p:spPr bwMode="auto">
          <a:xfrm>
            <a:off x="4408448" y="5059015"/>
            <a:ext cx="6335713" cy="530225"/>
          </a:xfrm>
          <a:prstGeom prst="rect">
            <a:avLst/>
          </a:prstGeom>
          <a:gradFill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ctr"/>
            <a:r>
              <a:rPr lang="en-US" altLang="zh-CN" b="1" dirty="0">
                <a:latin typeface="+mn-lt"/>
                <a:ea typeface="楷体" pitchFamily="49" charset="-122"/>
              </a:rPr>
              <a:t>void  </a:t>
            </a:r>
            <a:r>
              <a:rPr lang="zh-CN" altLang="en-US" b="1" dirty="0">
                <a:latin typeface="+mn-lt"/>
                <a:ea typeface="楷体" pitchFamily="49" charset="-122"/>
              </a:rPr>
              <a:t>函数名</a:t>
            </a:r>
            <a:r>
              <a:rPr lang="en-US" altLang="zh-CN" b="1" dirty="0">
                <a:latin typeface="+mn-lt"/>
                <a:ea typeface="楷体" pitchFamily="49" charset="-122"/>
              </a:rPr>
              <a:t>( void )</a:t>
            </a:r>
            <a:r>
              <a:rPr lang="zh-CN" altLang="en-US" b="1" dirty="0">
                <a:latin typeface="+mn-lt"/>
                <a:ea typeface="楷体" pitchFamily="49" charset="-122"/>
              </a:rPr>
              <a:t>；   或    </a:t>
            </a:r>
            <a:r>
              <a:rPr lang="en-US" altLang="zh-CN" b="1" dirty="0">
                <a:latin typeface="+mn-lt"/>
                <a:ea typeface="楷体" pitchFamily="49" charset="-122"/>
              </a:rPr>
              <a:t>void  </a:t>
            </a:r>
            <a:r>
              <a:rPr lang="zh-CN" altLang="en-US" b="1" dirty="0">
                <a:latin typeface="+mn-lt"/>
                <a:ea typeface="楷体" pitchFamily="49" charset="-122"/>
              </a:rPr>
              <a:t>函数名</a:t>
            </a:r>
            <a:r>
              <a:rPr lang="en-US" altLang="zh-CN" b="1" dirty="0">
                <a:latin typeface="+mn-lt"/>
                <a:ea typeface="楷体" pitchFamily="49" charset="-122"/>
              </a:rPr>
              <a:t>(  )</a:t>
            </a:r>
            <a:r>
              <a:rPr lang="zh-CN" altLang="en-US" b="1" dirty="0">
                <a:latin typeface="+mn-lt"/>
                <a:ea typeface="楷体" pitchFamily="49" charset="-122"/>
              </a:rPr>
              <a:t>；</a:t>
            </a:r>
          </a:p>
        </p:txBody>
      </p:sp>
      <p:sp>
        <p:nvSpPr>
          <p:cNvPr id="1025052" name="Rectangle 28"/>
          <p:cNvSpPr>
            <a:spLocks noChangeArrowheads="1"/>
          </p:cNvSpPr>
          <p:nvPr/>
        </p:nvSpPr>
        <p:spPr bwMode="auto">
          <a:xfrm>
            <a:off x="534750" y="5805264"/>
            <a:ext cx="11033858" cy="46166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         C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语言规定，对函数调用之前必须对其原型加以声明，否则会出现编译错！ </a:t>
            </a:r>
          </a:p>
        </p:txBody>
      </p:sp>
      <p:sp>
        <p:nvSpPr>
          <p:cNvPr id="20" name="Rectangle 4">
            <a:extLst>
              <a:ext uri="{FF2B5EF4-FFF2-40B4-BE49-F238E27FC236}">
                <a16:creationId xmlns:a16="http://schemas.microsoft.com/office/drawing/2014/main" id="{475D9CB2-CE3C-481D-A44E-39B088898B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8.2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函数的定义和调用 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5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5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10250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10250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3" dur="500"/>
                                        <p:tgtEl>
                                          <p:spTgt spid="10250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10250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3" dur="500"/>
                                        <p:tgtEl>
                                          <p:spTgt spid="10250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0250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3" dur="500"/>
                                        <p:tgtEl>
                                          <p:spTgt spid="10250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500"/>
                                        <p:tgtEl>
                                          <p:spTgt spid="10250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3" dur="500"/>
                                        <p:tgtEl>
                                          <p:spTgt spid="10250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8" dur="500"/>
                                        <p:tgtEl>
                                          <p:spTgt spid="10250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3" dur="500"/>
                                        <p:tgtEl>
                                          <p:spTgt spid="10250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5027" grpId="0"/>
      <p:bldP spid="1025031" grpId="0"/>
      <p:bldP spid="1025040" grpId="0" animBg="1"/>
      <p:bldP spid="1025043" grpId="0" animBg="1"/>
      <p:bldP spid="1025044" grpId="0" animBg="1"/>
      <p:bldP spid="1025046" grpId="0" animBg="1"/>
      <p:bldP spid="1025048" grpId="0"/>
      <p:bldP spid="1025049" grpId="0"/>
      <p:bldP spid="1025050" grpId="0"/>
      <p:bldP spid="1025051" grpId="0" animBg="1"/>
      <p:bldP spid="102505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4">
            <a:extLst>
              <a:ext uri="{FF2B5EF4-FFF2-40B4-BE49-F238E27FC236}">
                <a16:creationId xmlns:a16="http://schemas.microsoft.com/office/drawing/2014/main" id="{580C986A-48E2-4AF3-A5AB-06913EBC9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8.2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函数的定义和调用 </a:t>
            </a:r>
          </a:p>
        </p:txBody>
      </p:sp>
      <p:sp>
        <p:nvSpPr>
          <p:cNvPr id="1029138" name="Text Box 18"/>
          <p:cNvSpPr txBox="1">
            <a:spLocks noChangeArrowheads="1"/>
          </p:cNvSpPr>
          <p:nvPr/>
        </p:nvSpPr>
        <p:spPr bwMode="auto">
          <a:xfrm>
            <a:off x="3897733" y="1378365"/>
            <a:ext cx="6335713" cy="530225"/>
          </a:xfrm>
          <a:prstGeom prst="rect">
            <a:avLst/>
          </a:prstGeom>
          <a:gradFill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>
            <a:defPPr>
              <a:defRPr lang="zh-CN"/>
            </a:defPPr>
            <a:lvl1pPr algn="ctr">
              <a:defRPr b="1">
                <a:latin typeface="+mn-lt"/>
                <a:ea typeface="楷体" pitchFamily="49" charset="-122"/>
              </a:defRPr>
            </a:lvl1pPr>
          </a:lstStyle>
          <a:p>
            <a:r>
              <a:rPr lang="zh-CN" altLang="en-US"/>
              <a:t>函数名</a:t>
            </a:r>
            <a:r>
              <a:rPr lang="en-US" altLang="zh-CN"/>
              <a:t>(  )</a:t>
            </a:r>
            <a:r>
              <a:rPr lang="zh-CN" altLang="en-US"/>
              <a:t>；</a:t>
            </a:r>
          </a:p>
        </p:txBody>
      </p:sp>
      <p:sp>
        <p:nvSpPr>
          <p:cNvPr id="1029140" name="Rectangle 20"/>
          <p:cNvSpPr>
            <a:spLocks noChangeArrowheads="1"/>
          </p:cNvSpPr>
          <p:nvPr/>
        </p:nvSpPr>
        <p:spPr bwMode="auto">
          <a:xfrm>
            <a:off x="720228" y="2331959"/>
            <a:ext cx="1095418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solidFill>
                  <a:srgbClr val="FF0066"/>
                </a:solidFill>
                <a:latin typeface="+mn-lt"/>
                <a:ea typeface="楷体" pitchFamily="49" charset="-122"/>
              </a:rPr>
              <a:t>         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注意：</a:t>
            </a:r>
            <a:r>
              <a:rPr lang="zh-CN" altLang="en-US" b="1" dirty="0">
                <a:latin typeface="+mn-lt"/>
                <a:ea typeface="楷体" pitchFamily="49" charset="-122"/>
              </a:rPr>
              <a:t>不能将这种函数调用赋值给任何变量，因为它没有返回值。调用时，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（ ）中间不能有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void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。</a:t>
            </a:r>
          </a:p>
        </p:txBody>
      </p:sp>
      <p:sp>
        <p:nvSpPr>
          <p:cNvPr id="1029141" name="Rectangle 21"/>
          <p:cNvSpPr>
            <a:spLocks noChangeArrowheads="1"/>
          </p:cNvSpPr>
          <p:nvPr/>
        </p:nvSpPr>
        <p:spPr bwMode="auto">
          <a:xfrm>
            <a:off x="1199456" y="3284984"/>
            <a:ext cx="2492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altLang="zh-CN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实例 </a:t>
            </a:r>
          </a:p>
        </p:txBody>
      </p:sp>
      <p:sp>
        <p:nvSpPr>
          <p:cNvPr id="1029152" name="Rectangle 32"/>
          <p:cNvSpPr>
            <a:spLocks noChangeArrowheads="1"/>
          </p:cNvSpPr>
          <p:nvPr/>
        </p:nvSpPr>
        <p:spPr bwMode="auto">
          <a:xfrm>
            <a:off x="8616280" y="4165708"/>
            <a:ext cx="3456384" cy="1384995"/>
          </a:xfrm>
          <a:prstGeom prst="rect">
            <a:avLst/>
          </a:prstGeom>
          <a:gradFill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  <a:ea typeface="隶书" pitchFamily="49" charset="-122"/>
              </a:rPr>
              <a:t>注意：</a:t>
            </a:r>
            <a:r>
              <a:rPr lang="zh-CN" altLang="en-US" sz="2800" dirty="0">
                <a:ea typeface="隶书" pitchFamily="49" charset="-122"/>
              </a:rPr>
              <a:t>对函数调用之前，必须要先声明或先定义，否则编译错</a:t>
            </a:r>
            <a:r>
              <a:rPr lang="en-US" altLang="zh-CN" sz="2800" dirty="0">
                <a:ea typeface="隶书" pitchFamily="49" charset="-122"/>
              </a:rPr>
              <a:t>!</a:t>
            </a: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B2E535CC-EF27-46C4-9BA7-01C90458E0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86" y="837555"/>
            <a:ext cx="4422318" cy="52322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2800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、无参数无返回值的函数</a:t>
            </a:r>
          </a:p>
        </p:txBody>
      </p:sp>
      <p:sp>
        <p:nvSpPr>
          <p:cNvPr id="20" name="Rectangle 7">
            <a:extLst>
              <a:ext uri="{FF2B5EF4-FFF2-40B4-BE49-F238E27FC236}">
                <a16:creationId xmlns:a16="http://schemas.microsoft.com/office/drawing/2014/main" id="{793C5725-FE1B-4DFE-B1D1-977DBF653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9456" y="1387624"/>
            <a:ext cx="2492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zh-CN" altLang="en-US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函数的调用 </a:t>
            </a:r>
          </a:p>
        </p:txBody>
      </p:sp>
      <p:sp>
        <p:nvSpPr>
          <p:cNvPr id="1029142" name="Rectangle 22" descr="信纸"/>
          <p:cNvSpPr>
            <a:spLocks noChangeArrowheads="1"/>
          </p:cNvSpPr>
          <p:nvPr/>
        </p:nvSpPr>
        <p:spPr bwMode="auto">
          <a:xfrm>
            <a:off x="1631504" y="185727"/>
            <a:ext cx="6486525" cy="6555641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anchor="ctr">
            <a:spAutoFit/>
          </a:bodyPr>
          <a:lstStyle/>
          <a:p>
            <a:pPr>
              <a:tabLst>
                <a:tab pos="8001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#include &lt;</a:t>
            </a:r>
            <a:r>
              <a:rPr lang="en-US" altLang="zh-CN" sz="2000" b="1" dirty="0" err="1">
                <a:ea typeface="楷体_GB2312" pitchFamily="49" charset="-122"/>
              </a:rPr>
              <a:t>stdio.h</a:t>
            </a:r>
            <a:r>
              <a:rPr lang="en-US" altLang="zh-CN" sz="2000" b="1" dirty="0">
                <a:ea typeface="楷体_GB2312" pitchFamily="49" charset="-122"/>
              </a:rPr>
              <a:t>&gt;</a:t>
            </a:r>
          </a:p>
          <a:p>
            <a:pPr>
              <a:tabLst>
                <a:tab pos="8001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#include &lt;</a:t>
            </a:r>
            <a:r>
              <a:rPr lang="en-US" altLang="zh-CN" sz="2000" b="1" dirty="0" err="1">
                <a:ea typeface="楷体_GB2312" pitchFamily="49" charset="-122"/>
              </a:rPr>
              <a:t>math.h</a:t>
            </a:r>
            <a:r>
              <a:rPr lang="en-US" altLang="zh-CN" sz="2000" b="1" dirty="0">
                <a:ea typeface="楷体_GB2312" pitchFamily="49" charset="-122"/>
              </a:rPr>
              <a:t>&gt;</a:t>
            </a:r>
          </a:p>
          <a:p>
            <a:pPr>
              <a:tabLst>
                <a:tab pos="800100" algn="l"/>
              </a:tabLst>
            </a:pPr>
            <a:r>
              <a:rPr lang="en-US" altLang="zh-CN" sz="2000" b="1" dirty="0">
                <a:solidFill>
                  <a:srgbClr val="7030A0"/>
                </a:solidFill>
                <a:ea typeface="楷体_GB2312" pitchFamily="49" charset="-122"/>
              </a:rPr>
              <a:t>void </a:t>
            </a:r>
            <a:r>
              <a:rPr lang="en-US" altLang="zh-CN" sz="2000" b="1" dirty="0" err="1">
                <a:solidFill>
                  <a:srgbClr val="7030A0"/>
                </a:solidFill>
                <a:ea typeface="楷体_GB2312" pitchFamily="49" charset="-122"/>
              </a:rPr>
              <a:t>showerror</a:t>
            </a:r>
            <a:r>
              <a:rPr lang="en-US" altLang="zh-CN" sz="2000" b="1" dirty="0">
                <a:solidFill>
                  <a:srgbClr val="7030A0"/>
                </a:solidFill>
                <a:ea typeface="楷体_GB2312" pitchFamily="49" charset="-122"/>
              </a:rPr>
              <a:t> ( );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声明</a:t>
            </a:r>
            <a:r>
              <a:rPr lang="en-US" altLang="zh-CN" sz="1800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showerror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函数的原型</a:t>
            </a:r>
          </a:p>
          <a:p>
            <a:pPr>
              <a:tabLst>
                <a:tab pos="800100" algn="l"/>
              </a:tabLst>
            </a:pPr>
            <a:endParaRPr lang="zh-CN" altLang="en-US" sz="2000" b="1" dirty="0">
              <a:solidFill>
                <a:schemeClr val="accent2"/>
              </a:solidFill>
              <a:ea typeface="楷体_GB2312" pitchFamily="49" charset="-122"/>
            </a:endParaRPr>
          </a:p>
          <a:p>
            <a:pPr>
              <a:tabLst>
                <a:tab pos="800100" algn="l"/>
              </a:tabLst>
            </a:pPr>
            <a:r>
              <a:rPr lang="en-US" altLang="zh-CN" sz="2000" b="1" dirty="0" err="1">
                <a:solidFill>
                  <a:srgbClr val="CC0000"/>
                </a:solidFill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 main (  )</a:t>
            </a:r>
          </a:p>
          <a:p>
            <a:pPr>
              <a:tabLst>
                <a:tab pos="8001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{</a:t>
            </a:r>
          </a:p>
          <a:p>
            <a:pPr>
              <a:tabLst>
                <a:tab pos="8001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 </a:t>
            </a:r>
            <a:r>
              <a:rPr lang="en-US" altLang="zh-CN" sz="2000" b="1" dirty="0" err="1">
                <a:ea typeface="楷体_GB2312" pitchFamily="49" charset="-122"/>
              </a:rPr>
              <a:t>int</a:t>
            </a:r>
            <a:r>
              <a:rPr lang="en-US" altLang="zh-CN" sz="2000" b="1" dirty="0">
                <a:ea typeface="楷体_GB2312" pitchFamily="49" charset="-122"/>
              </a:rPr>
              <a:t> a;</a:t>
            </a:r>
          </a:p>
          <a:p>
            <a:pPr>
              <a:tabLst>
                <a:tab pos="8001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 </a:t>
            </a:r>
            <a:r>
              <a:rPr lang="en-US" altLang="zh-CN" sz="2000" b="1" dirty="0" err="1">
                <a:ea typeface="楷体_GB2312" pitchFamily="49" charset="-122"/>
              </a:rPr>
              <a:t>scanf</a:t>
            </a:r>
            <a:r>
              <a:rPr lang="en-US" altLang="zh-CN" sz="2000" b="1" dirty="0">
                <a:ea typeface="楷体_GB2312" pitchFamily="49" charset="-122"/>
              </a:rPr>
              <a:t> ("%d", &amp;a);</a:t>
            </a:r>
          </a:p>
          <a:p>
            <a:pPr>
              <a:tabLst>
                <a:tab pos="8001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 while (a &lt; 0)</a:t>
            </a:r>
          </a:p>
          <a:p>
            <a:pPr>
              <a:tabLst>
                <a:tab pos="8001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 {</a:t>
            </a:r>
          </a:p>
          <a:p>
            <a:pPr>
              <a:tabLst>
                <a:tab pos="8001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   </a:t>
            </a:r>
            <a:r>
              <a:rPr lang="en-US" altLang="zh-CN" sz="2000" b="1" dirty="0" err="1">
                <a:ea typeface="楷体_GB2312" pitchFamily="49" charset="-122"/>
              </a:rPr>
              <a:t>showerror</a:t>
            </a:r>
            <a:r>
              <a:rPr lang="en-US" altLang="zh-CN" sz="2000" b="1" dirty="0">
                <a:ea typeface="楷体_GB2312" pitchFamily="49" charset="-122"/>
              </a:rPr>
              <a:t>( );                  </a:t>
            </a:r>
          </a:p>
          <a:p>
            <a:pPr>
              <a:tabLst>
                <a:tab pos="8001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   </a:t>
            </a:r>
            <a:r>
              <a:rPr lang="en-US" altLang="zh-CN" sz="2000" b="1" dirty="0" err="1">
                <a:ea typeface="楷体_GB2312" pitchFamily="49" charset="-122"/>
              </a:rPr>
              <a:t>scanf</a:t>
            </a:r>
            <a:r>
              <a:rPr lang="en-US" altLang="zh-CN" sz="2000" b="1" dirty="0">
                <a:ea typeface="楷体_GB2312" pitchFamily="49" charset="-122"/>
              </a:rPr>
              <a:t> ("%d", &amp;a);</a:t>
            </a:r>
          </a:p>
          <a:p>
            <a:pPr>
              <a:tabLst>
                <a:tab pos="8001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 }</a:t>
            </a:r>
          </a:p>
          <a:p>
            <a:pPr>
              <a:tabLst>
                <a:tab pos="8001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 </a:t>
            </a:r>
            <a:r>
              <a:rPr lang="en-US" altLang="zh-CN" sz="2000" b="1" dirty="0" err="1">
                <a:ea typeface="楷体_GB2312" pitchFamily="49" charset="-122"/>
              </a:rPr>
              <a:t>printf</a:t>
            </a:r>
            <a:r>
              <a:rPr lang="en-US" altLang="zh-CN" sz="2000" b="1" dirty="0">
                <a:ea typeface="楷体_GB2312" pitchFamily="49" charset="-122"/>
              </a:rPr>
              <a:t> ("</a:t>
            </a:r>
            <a:r>
              <a:rPr lang="en-US" altLang="zh-CN" sz="2000" b="1" dirty="0" err="1">
                <a:ea typeface="楷体_GB2312" pitchFamily="49" charset="-122"/>
              </a:rPr>
              <a:t>sqrt</a:t>
            </a:r>
            <a:r>
              <a:rPr lang="en-US" altLang="zh-CN" sz="2000" b="1" dirty="0">
                <a:ea typeface="楷体_GB2312" pitchFamily="49" charset="-122"/>
              </a:rPr>
              <a:t>(a) = %.2f\n", </a:t>
            </a:r>
            <a:r>
              <a:rPr lang="en-US" altLang="zh-CN" sz="2000" b="1" dirty="0" err="1">
                <a:ea typeface="楷体_GB2312" pitchFamily="49" charset="-122"/>
              </a:rPr>
              <a:t>sqrt</a:t>
            </a:r>
            <a:r>
              <a:rPr lang="en-US" altLang="zh-CN" sz="2000" b="1" dirty="0">
                <a:ea typeface="楷体_GB2312" pitchFamily="49" charset="-122"/>
              </a:rPr>
              <a:t>(a));</a:t>
            </a:r>
          </a:p>
          <a:p>
            <a:pPr>
              <a:tabLst>
                <a:tab pos="8001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 return 0;</a:t>
            </a:r>
          </a:p>
          <a:p>
            <a:pPr>
              <a:tabLst>
                <a:tab pos="8001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}</a:t>
            </a:r>
          </a:p>
          <a:p>
            <a:pPr>
              <a:tabLst>
                <a:tab pos="800100" algn="l"/>
              </a:tabLst>
            </a:pPr>
            <a:endParaRPr lang="en-US" altLang="zh-CN" sz="2000" b="1" dirty="0">
              <a:ea typeface="楷体_GB2312" pitchFamily="49" charset="-122"/>
            </a:endParaRPr>
          </a:p>
          <a:p>
            <a:pPr>
              <a:tabLst>
                <a:tab pos="800100" algn="l"/>
              </a:tabLst>
            </a:pPr>
            <a:r>
              <a:rPr lang="en-US" altLang="zh-CN" sz="2000" b="1" dirty="0">
                <a:solidFill>
                  <a:srgbClr val="7030A0"/>
                </a:solidFill>
                <a:ea typeface="楷体_GB2312" pitchFamily="49" charset="-122"/>
              </a:rPr>
              <a:t>void </a:t>
            </a:r>
            <a:r>
              <a:rPr lang="en-US" altLang="zh-CN" sz="2000" b="1" dirty="0" err="1">
                <a:solidFill>
                  <a:srgbClr val="7030A0"/>
                </a:solidFill>
                <a:ea typeface="楷体_GB2312" pitchFamily="49" charset="-122"/>
              </a:rPr>
              <a:t>showerror</a:t>
            </a:r>
            <a:r>
              <a:rPr lang="en-US" altLang="zh-CN" sz="2000" b="1" dirty="0">
                <a:solidFill>
                  <a:srgbClr val="7030A0"/>
                </a:solidFill>
                <a:ea typeface="楷体_GB2312" pitchFamily="49" charset="-122"/>
              </a:rPr>
              <a:t>( )             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函数的定义，无参数无返回值</a:t>
            </a:r>
          </a:p>
          <a:p>
            <a:pPr>
              <a:tabLst>
                <a:tab pos="8001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{</a:t>
            </a:r>
          </a:p>
          <a:p>
            <a:pPr>
              <a:tabLst>
                <a:tab pos="8001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</a:t>
            </a:r>
            <a:r>
              <a:rPr lang="en-US" altLang="zh-CN" sz="2000" b="1" dirty="0" err="1">
                <a:ea typeface="楷体_GB2312" pitchFamily="49" charset="-122"/>
              </a:rPr>
              <a:t>printf</a:t>
            </a:r>
            <a:r>
              <a:rPr lang="en-US" altLang="zh-CN" sz="2000" b="1" dirty="0">
                <a:ea typeface="楷体_GB2312" pitchFamily="49" charset="-122"/>
              </a:rPr>
              <a:t>("input error!\n");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函数体，没有声明变量</a:t>
            </a:r>
          </a:p>
          <a:p>
            <a:pPr>
              <a:tabLst>
                <a:tab pos="8001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}</a:t>
            </a:r>
          </a:p>
        </p:txBody>
      </p:sp>
      <p:grpSp>
        <p:nvGrpSpPr>
          <p:cNvPr id="1029148" name="Group 28"/>
          <p:cNvGrpSpPr>
            <a:grpSpLocks/>
          </p:cNvGrpSpPr>
          <p:nvPr/>
        </p:nvGrpSpPr>
        <p:grpSpPr bwMode="auto">
          <a:xfrm>
            <a:off x="3645345" y="3462074"/>
            <a:ext cx="4024312" cy="2304033"/>
            <a:chOff x="2449" y="2251"/>
            <a:chExt cx="2535" cy="1451"/>
          </a:xfrm>
        </p:grpSpPr>
        <p:sp>
          <p:nvSpPr>
            <p:cNvPr id="1029143" name="AutoShape 23"/>
            <p:cNvSpPr>
              <a:spLocks noChangeArrowheads="1"/>
            </p:cNvSpPr>
            <p:nvPr/>
          </p:nvSpPr>
          <p:spPr bwMode="auto">
            <a:xfrm>
              <a:off x="2449" y="2251"/>
              <a:ext cx="1478" cy="1451"/>
            </a:xfrm>
            <a:prstGeom prst="curvedLeftArrow">
              <a:avLst>
                <a:gd name="adj1" fmla="val 4319"/>
                <a:gd name="adj2" fmla="val 17727"/>
                <a:gd name="adj3" fmla="val 21785"/>
              </a:avLst>
            </a:prstGeom>
            <a:gradFill flip="none" rotWithShape="1">
              <a:gsLst>
                <a:gs pos="0">
                  <a:srgbClr val="BEDFC4"/>
                </a:gs>
                <a:gs pos="100000">
                  <a:srgbClr val="00FFFF">
                    <a:gamma/>
                    <a:shade val="72549"/>
                    <a:invGamma/>
                  </a:srgbClr>
                </a:gs>
              </a:gsLst>
              <a:lin ang="18900000" scaled="1"/>
              <a:tileRect/>
            </a:gradFill>
            <a:ln w="9525">
              <a:noFill/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029147" name="Rectangle 27"/>
            <p:cNvSpPr>
              <a:spLocks noChangeArrowheads="1"/>
            </p:cNvSpPr>
            <p:nvPr/>
          </p:nvSpPr>
          <p:spPr bwMode="auto">
            <a:xfrm>
              <a:off x="3931" y="2697"/>
              <a:ext cx="1053" cy="4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zh-CN" altLang="en-US" sz="1800" b="1" dirty="0">
                  <a:solidFill>
                    <a:srgbClr val="C01920"/>
                  </a:solidFill>
                  <a:latin typeface="+mn-lt"/>
                  <a:ea typeface="楷体" pitchFamily="49" charset="-122"/>
                </a:rPr>
                <a:t>调用</a:t>
              </a:r>
              <a:r>
                <a:rPr lang="en-US" altLang="zh-CN" sz="1800" b="1" dirty="0" err="1">
                  <a:solidFill>
                    <a:srgbClr val="C01920"/>
                  </a:solidFill>
                  <a:latin typeface="+mn-lt"/>
                  <a:ea typeface="楷体" pitchFamily="49" charset="-122"/>
                </a:rPr>
                <a:t>showerror</a:t>
              </a:r>
              <a:endParaRPr lang="en-US" altLang="zh-CN" sz="1800" b="1" dirty="0">
                <a:solidFill>
                  <a:srgbClr val="C01920"/>
                </a:solidFill>
                <a:latin typeface="+mn-lt"/>
                <a:ea typeface="楷体" pitchFamily="49" charset="-122"/>
              </a:endParaRPr>
            </a:p>
            <a:p>
              <a:r>
                <a:rPr lang="zh-CN" altLang="en-US" sz="1800" b="1" dirty="0">
                  <a:solidFill>
                    <a:srgbClr val="C01920"/>
                  </a:solidFill>
                  <a:latin typeface="+mn-lt"/>
                  <a:ea typeface="楷体" pitchFamily="49" charset="-122"/>
                </a:rPr>
                <a:t>函数</a:t>
              </a:r>
              <a:r>
                <a:rPr lang="zh-CN" altLang="en-US" sz="1800" dirty="0">
                  <a:solidFill>
                    <a:srgbClr val="C01920"/>
                  </a:solidFill>
                  <a:latin typeface="+mn-lt"/>
                  <a:ea typeface="楷体" pitchFamily="49" charset="-122"/>
                </a:rPr>
                <a:t> </a:t>
              </a:r>
            </a:p>
          </p:txBody>
        </p:sp>
      </p:grpSp>
      <p:grpSp>
        <p:nvGrpSpPr>
          <p:cNvPr id="1029150" name="Group 30"/>
          <p:cNvGrpSpPr>
            <a:grpSpLocks/>
          </p:cNvGrpSpPr>
          <p:nvPr/>
        </p:nvGrpSpPr>
        <p:grpSpPr bwMode="auto">
          <a:xfrm rot="259217">
            <a:off x="610753" y="3529227"/>
            <a:ext cx="1294545" cy="3065808"/>
            <a:chOff x="576" y="2359"/>
            <a:chExt cx="764" cy="1730"/>
          </a:xfrm>
        </p:grpSpPr>
        <p:sp>
          <p:nvSpPr>
            <p:cNvPr id="1029145" name="AutoShape 25"/>
            <p:cNvSpPr>
              <a:spLocks noChangeArrowheads="1"/>
            </p:cNvSpPr>
            <p:nvPr/>
          </p:nvSpPr>
          <p:spPr bwMode="auto">
            <a:xfrm rot="11052429">
              <a:off x="595" y="2359"/>
              <a:ext cx="745" cy="1730"/>
            </a:xfrm>
            <a:prstGeom prst="curvedLeftArrow">
              <a:avLst>
                <a:gd name="adj1" fmla="val 13095"/>
                <a:gd name="adj2" fmla="val 36475"/>
                <a:gd name="adj3" fmla="val 45462"/>
              </a:avLst>
            </a:prstGeom>
            <a:gradFill flip="none" rotWithShape="1">
              <a:gsLst>
                <a:gs pos="0">
                  <a:srgbClr val="BEDFC4"/>
                </a:gs>
                <a:gs pos="100000">
                  <a:srgbClr val="00FFFF">
                    <a:gamma/>
                    <a:shade val="84706"/>
                    <a:invGamma/>
                  </a:srgbClr>
                </a:gs>
              </a:gsLst>
              <a:lin ang="0" scaled="1"/>
              <a:tileRect/>
            </a:gradFill>
            <a:ln w="9525">
              <a:noFill/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9149" name="Text Box 29"/>
            <p:cNvSpPr txBox="1">
              <a:spLocks noChangeArrowheads="1"/>
            </p:cNvSpPr>
            <p:nvPr/>
          </p:nvSpPr>
          <p:spPr bwMode="auto">
            <a:xfrm rot="21340783">
              <a:off x="576" y="3123"/>
              <a:ext cx="453" cy="2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C01920"/>
                  </a:solidFill>
                  <a:latin typeface="楷体" pitchFamily="49" charset="-122"/>
                  <a:ea typeface="楷体" pitchFamily="49" charset="-122"/>
                </a:rPr>
                <a:t>返回</a:t>
              </a:r>
            </a:p>
          </p:txBody>
        </p:sp>
      </p:grp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10291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10291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10291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4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102914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1029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9" dur="500"/>
                                        <p:tgtEl>
                                          <p:spTgt spid="10291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10291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5" dur="500"/>
                                        <p:tgtEl>
                                          <p:spTgt spid="10291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8" dur="500"/>
                                        <p:tgtEl>
                                          <p:spTgt spid="10291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1" dur="500"/>
                                        <p:tgtEl>
                                          <p:spTgt spid="10291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4" dur="500"/>
                                        <p:tgtEl>
                                          <p:spTgt spid="10291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7" dur="500"/>
                                        <p:tgtEl>
                                          <p:spTgt spid="10291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0" dur="500"/>
                                        <p:tgtEl>
                                          <p:spTgt spid="10291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4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3" dur="500"/>
                                        <p:tgtEl>
                                          <p:spTgt spid="102914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4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6" dur="500"/>
                                        <p:tgtEl>
                                          <p:spTgt spid="102914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4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9" dur="500"/>
                                        <p:tgtEl>
                                          <p:spTgt spid="102914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4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2" dur="500"/>
                                        <p:tgtEl>
                                          <p:spTgt spid="102914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4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5" dur="500"/>
                                        <p:tgtEl>
                                          <p:spTgt spid="102914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4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8" dur="500"/>
                                        <p:tgtEl>
                                          <p:spTgt spid="102914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4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1" dur="500"/>
                                        <p:tgtEl>
                                          <p:spTgt spid="102914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4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4" dur="500"/>
                                        <p:tgtEl>
                                          <p:spTgt spid="102914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4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7" dur="500"/>
                                        <p:tgtEl>
                                          <p:spTgt spid="102914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4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0" dur="500"/>
                                        <p:tgtEl>
                                          <p:spTgt spid="102914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4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5" dur="500"/>
                                        <p:tgtEl>
                                          <p:spTgt spid="102914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914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9" dur="500"/>
                                        <p:tgtEl>
                                          <p:spTgt spid="10291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03" dur="500"/>
                                        <p:tgtEl>
                                          <p:spTgt spid="10291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8" dur="500"/>
                                        <p:tgtEl>
                                          <p:spTgt spid="10291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9138" grpId="0" animBg="1"/>
      <p:bldP spid="1029140" grpId="0"/>
      <p:bldP spid="1029141" grpId="0"/>
      <p:bldP spid="1029152" grpId="0" animBg="1"/>
      <p:bldP spid="19" grpId="0"/>
      <p:bldP spid="20" grpId="0"/>
      <p:bldP spid="1029142" grpId="0" build="allAtOnce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186" name="Text Box 18"/>
          <p:cNvSpPr txBox="1">
            <a:spLocks noChangeArrowheads="1"/>
          </p:cNvSpPr>
          <p:nvPr/>
        </p:nvSpPr>
        <p:spPr bwMode="auto">
          <a:xfrm>
            <a:off x="2028031" y="2348880"/>
            <a:ext cx="8135938" cy="2376488"/>
          </a:xfrm>
          <a:prstGeom prst="rect">
            <a:avLst/>
          </a:prstGeom>
          <a:gradFill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just"/>
            <a:r>
              <a:rPr lang="zh-CN" altLang="en-US" b="1" dirty="0">
                <a:latin typeface="+mn-lt"/>
                <a:ea typeface="楷体" pitchFamily="49" charset="-122"/>
              </a:rPr>
              <a:t>文件包括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（如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include &lt;</a:t>
            </a:r>
            <a:r>
              <a:rPr lang="en-US" altLang="zh-CN" sz="2000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stdio.h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&gt;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等，用于标准库库函数原型声明）</a:t>
            </a:r>
          </a:p>
          <a:p>
            <a:pPr algn="just"/>
            <a:r>
              <a:rPr lang="zh-CN" altLang="en-US" b="1" dirty="0">
                <a:latin typeface="+mn-lt"/>
                <a:ea typeface="楷体" pitchFamily="49" charset="-122"/>
              </a:rPr>
              <a:t>常量定义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（根据需要而定，如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#define PI 3.1415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等）</a:t>
            </a:r>
          </a:p>
          <a:p>
            <a:pPr algn="just"/>
            <a:r>
              <a:rPr lang="zh-CN" altLang="en-US" b="1" dirty="0">
                <a:latin typeface="+mn-lt"/>
                <a:ea typeface="楷体" pitchFamily="49" charset="-122"/>
              </a:rPr>
              <a:t>变量定义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（根据需要而定）</a:t>
            </a:r>
          </a:p>
          <a:p>
            <a:pPr algn="just"/>
            <a:r>
              <a:rPr lang="zh-CN" altLang="en-US" b="1" dirty="0">
                <a:latin typeface="+mn-lt"/>
                <a:ea typeface="楷体" pitchFamily="49" charset="-122"/>
              </a:rPr>
              <a:t>用户自定义函数原型声明</a:t>
            </a:r>
          </a:p>
          <a:p>
            <a:pPr algn="just"/>
            <a:r>
              <a:rPr lang="en-US" altLang="zh-CN" b="1" dirty="0">
                <a:latin typeface="+mn-lt"/>
                <a:ea typeface="楷体" pitchFamily="49" charset="-122"/>
              </a:rPr>
              <a:t>main</a:t>
            </a:r>
            <a:r>
              <a:rPr lang="zh-CN" altLang="en-US" b="1" dirty="0">
                <a:latin typeface="+mn-lt"/>
                <a:ea typeface="楷体" pitchFamily="49" charset="-122"/>
              </a:rPr>
              <a:t>函数</a:t>
            </a:r>
          </a:p>
          <a:p>
            <a:pPr algn="just"/>
            <a:r>
              <a:rPr lang="zh-CN" altLang="en-US" b="1" dirty="0">
                <a:latin typeface="+mn-lt"/>
                <a:ea typeface="楷体" pitchFamily="49" charset="-122"/>
              </a:rPr>
              <a:t>用户自定义函数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D15E5415-6437-4C4D-BF1F-DDCBD86C3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86" y="837555"/>
            <a:ext cx="4422318" cy="52322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2800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、无参数无返回值的函数</a:t>
            </a:r>
          </a:p>
        </p:txBody>
      </p:sp>
      <p:sp>
        <p:nvSpPr>
          <p:cNvPr id="19" name="Rectangle 7">
            <a:extLst>
              <a:ext uri="{FF2B5EF4-FFF2-40B4-BE49-F238E27FC236}">
                <a16:creationId xmlns:a16="http://schemas.microsoft.com/office/drawing/2014/main" id="{4038F57E-6C5F-4DDB-8085-91FAB26BA6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9456" y="1556792"/>
            <a:ext cx="382962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zh-CN" altLang="en-US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编写</a:t>
            </a:r>
            <a:r>
              <a:rPr lang="en-US" altLang="zh-CN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程序的一般格式 </a:t>
            </a:r>
          </a:p>
        </p:txBody>
      </p:sp>
      <p:sp>
        <p:nvSpPr>
          <p:cNvPr id="20" name="Rectangle 4">
            <a:extLst>
              <a:ext uri="{FF2B5EF4-FFF2-40B4-BE49-F238E27FC236}">
                <a16:creationId xmlns:a16="http://schemas.microsoft.com/office/drawing/2014/main" id="{4D921DF2-29AA-4724-B5CD-130B5854BF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8.2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函数的定义和调用 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10311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1186" grpId="0" animBg="1"/>
      <p:bldP spid="18" grpId="0"/>
      <p:bldP spid="1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188" name="Rectangle 20"/>
          <p:cNvSpPr>
            <a:spLocks noChangeArrowheads="1"/>
          </p:cNvSpPr>
          <p:nvPr/>
        </p:nvSpPr>
        <p:spPr bwMode="auto">
          <a:xfrm>
            <a:off x="1483951" y="2276872"/>
            <a:ext cx="1282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Clr>
                <a:srgbClr val="C01920"/>
              </a:buClr>
              <a:buFont typeface="Wingdings" pitchFamily="2" charset="2"/>
              <a:buChar char="l"/>
            </a:pP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形式 </a:t>
            </a:r>
          </a:p>
        </p:txBody>
      </p:sp>
      <p:sp>
        <p:nvSpPr>
          <p:cNvPr id="1031189" name="Text Box 21"/>
          <p:cNvSpPr txBox="1">
            <a:spLocks noChangeArrowheads="1"/>
          </p:cNvSpPr>
          <p:nvPr/>
        </p:nvSpPr>
        <p:spPr bwMode="auto">
          <a:xfrm>
            <a:off x="3675278" y="2050740"/>
            <a:ext cx="5976937" cy="1225550"/>
          </a:xfrm>
          <a:prstGeom prst="rect">
            <a:avLst/>
          </a:prstGeom>
          <a:gradFill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>
            <a:defPPr>
              <a:defRPr lang="zh-CN"/>
            </a:defPPr>
            <a:lvl1pPr algn="ctr">
              <a:defRPr b="1">
                <a:latin typeface="+mn-lt"/>
                <a:ea typeface="楷体" pitchFamily="49" charset="-122"/>
              </a:defRPr>
            </a:lvl1pPr>
          </a:lstStyle>
          <a:p>
            <a:pPr algn="l"/>
            <a:r>
              <a:rPr lang="en-US" altLang="zh-CN" dirty="0"/>
              <a:t>  </a:t>
            </a:r>
            <a:r>
              <a:rPr lang="en-US" altLang="en-US" dirty="0"/>
              <a:t>①</a:t>
            </a:r>
            <a:r>
              <a:rPr lang="en-US" altLang="zh-CN" dirty="0"/>
              <a:t> return (</a:t>
            </a:r>
            <a:r>
              <a:rPr lang="zh-CN" altLang="en-US" dirty="0"/>
              <a:t>表达式</a:t>
            </a:r>
            <a:r>
              <a:rPr lang="en-US" altLang="zh-CN" dirty="0"/>
              <a:t>);    </a:t>
            </a:r>
            <a:r>
              <a:rPr lang="en-US" altLang="zh-CN" sz="1800" dirty="0">
                <a:solidFill>
                  <a:srgbClr val="002060"/>
                </a:solidFill>
              </a:rPr>
              <a:t>//</a:t>
            </a:r>
            <a:r>
              <a:rPr lang="zh-CN" altLang="en-US" sz="1800" dirty="0">
                <a:solidFill>
                  <a:srgbClr val="002060"/>
                </a:solidFill>
              </a:rPr>
              <a:t>有返回值</a:t>
            </a:r>
          </a:p>
          <a:p>
            <a:pPr algn="l"/>
            <a:r>
              <a:rPr lang="zh-CN" altLang="en-US" dirty="0"/>
              <a:t>  </a:t>
            </a:r>
            <a:r>
              <a:rPr lang="en-US" altLang="en-US" dirty="0"/>
              <a:t>②</a:t>
            </a:r>
            <a:r>
              <a:rPr lang="zh-CN" altLang="en-US" dirty="0"/>
              <a:t> </a:t>
            </a:r>
            <a:r>
              <a:rPr lang="en-US" altLang="zh-CN" dirty="0"/>
              <a:t>return   </a:t>
            </a:r>
            <a:r>
              <a:rPr lang="zh-CN" altLang="en-US" dirty="0"/>
              <a:t>表达式</a:t>
            </a:r>
            <a:r>
              <a:rPr lang="en-US" altLang="zh-CN" dirty="0"/>
              <a:t>;     </a:t>
            </a:r>
            <a:r>
              <a:rPr lang="en-US" altLang="zh-CN" sz="1800" dirty="0">
                <a:solidFill>
                  <a:srgbClr val="002060"/>
                </a:solidFill>
              </a:rPr>
              <a:t>//</a:t>
            </a:r>
            <a:r>
              <a:rPr lang="zh-CN" altLang="en-US" sz="1800" dirty="0">
                <a:solidFill>
                  <a:srgbClr val="002060"/>
                </a:solidFill>
              </a:rPr>
              <a:t>有返回值</a:t>
            </a:r>
          </a:p>
          <a:p>
            <a:pPr algn="l"/>
            <a:r>
              <a:rPr lang="zh-CN" altLang="en-US" dirty="0"/>
              <a:t>  </a:t>
            </a:r>
            <a:r>
              <a:rPr lang="en-US" altLang="en-US" dirty="0"/>
              <a:t>③</a:t>
            </a:r>
            <a:r>
              <a:rPr lang="zh-CN" altLang="en-US" dirty="0"/>
              <a:t> </a:t>
            </a:r>
            <a:r>
              <a:rPr lang="en-US" altLang="zh-CN" dirty="0"/>
              <a:t>return;                    </a:t>
            </a:r>
            <a:r>
              <a:rPr lang="en-US" altLang="zh-CN" sz="1800" dirty="0">
                <a:solidFill>
                  <a:srgbClr val="002060"/>
                </a:solidFill>
              </a:rPr>
              <a:t>//</a:t>
            </a:r>
            <a:r>
              <a:rPr lang="zh-CN" altLang="en-US" sz="1800" dirty="0">
                <a:solidFill>
                  <a:srgbClr val="002060"/>
                </a:solidFill>
              </a:rPr>
              <a:t>无返回值</a:t>
            </a:r>
          </a:p>
        </p:txBody>
      </p:sp>
      <p:sp>
        <p:nvSpPr>
          <p:cNvPr id="1031190" name="Rectangle 22"/>
          <p:cNvSpPr>
            <a:spLocks noChangeArrowheads="1"/>
          </p:cNvSpPr>
          <p:nvPr/>
        </p:nvSpPr>
        <p:spPr bwMode="auto">
          <a:xfrm>
            <a:off x="1182823" y="3791348"/>
            <a:ext cx="10961849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   </a:t>
            </a:r>
            <a:r>
              <a:rPr lang="zh-CN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使程序控制从被调用函数返回到调用函数中，如果有返回值，同时把返值带给调用函数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。</a:t>
            </a:r>
            <a:endParaRPr lang="zh-CN" altLang="zh-CN" b="1" dirty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楷体" pitchFamily="49" charset="-122"/>
            </a:endParaRPr>
          </a:p>
        </p:txBody>
      </p:sp>
      <p:sp>
        <p:nvSpPr>
          <p:cNvPr id="1031191" name="Rectangle 23"/>
          <p:cNvSpPr>
            <a:spLocks noChangeArrowheads="1"/>
          </p:cNvSpPr>
          <p:nvPr/>
        </p:nvSpPr>
        <p:spPr bwMode="auto">
          <a:xfrm>
            <a:off x="1487126" y="3430985"/>
            <a:ext cx="1282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Clr>
                <a:srgbClr val="C01920"/>
              </a:buClr>
              <a:buFont typeface="Wingdings" pitchFamily="2" charset="2"/>
              <a:buChar char="l"/>
            </a:pPr>
            <a:r>
              <a:rPr lang="en-US" altLang="zh-CN" b="1">
                <a:solidFill>
                  <a:srgbClr val="C01920"/>
                </a:solidFill>
                <a:latin typeface="+mn-lt"/>
                <a:ea typeface="楷体" pitchFamily="49" charset="-122"/>
              </a:rPr>
              <a:t> </a:t>
            </a:r>
            <a:r>
              <a:rPr lang="zh-CN" altLang="en-US" b="1">
                <a:solidFill>
                  <a:srgbClr val="C01920"/>
                </a:solidFill>
                <a:latin typeface="+mn-lt"/>
                <a:ea typeface="楷体" pitchFamily="49" charset="-122"/>
              </a:rPr>
              <a:t>功能 </a:t>
            </a:r>
          </a:p>
        </p:txBody>
      </p:sp>
      <p:sp>
        <p:nvSpPr>
          <p:cNvPr id="1031192" name="Rectangle 24"/>
          <p:cNvSpPr>
            <a:spLocks noChangeArrowheads="1"/>
          </p:cNvSpPr>
          <p:nvPr/>
        </p:nvSpPr>
        <p:spPr bwMode="auto">
          <a:xfrm>
            <a:off x="1517288" y="4845376"/>
            <a:ext cx="1282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Clr>
                <a:srgbClr val="C01920"/>
              </a:buClr>
              <a:buFont typeface="Wingdings" pitchFamily="2" charset="2"/>
              <a:buChar char="l"/>
            </a:pP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说明 </a:t>
            </a:r>
          </a:p>
        </p:txBody>
      </p:sp>
      <p:sp>
        <p:nvSpPr>
          <p:cNvPr id="1031193" name="Rectangle 25"/>
          <p:cNvSpPr>
            <a:spLocks noChangeArrowheads="1"/>
          </p:cNvSpPr>
          <p:nvPr/>
        </p:nvSpPr>
        <p:spPr bwMode="auto">
          <a:xfrm>
            <a:off x="1147848" y="5190291"/>
            <a:ext cx="10996824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  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函数中可以有多个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return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语句。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在无返回值的函数中，</a:t>
            </a: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return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语句的形式只能是第③种形式。</a:t>
            </a:r>
            <a:r>
              <a:rPr lang="zh-CN" altLang="en-US" dirty="0">
                <a:solidFill>
                  <a:srgbClr val="C01920"/>
                </a:solidFill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031194" name="Rectangle 26" descr="信纸"/>
          <p:cNvSpPr>
            <a:spLocks noChangeArrowheads="1"/>
          </p:cNvSpPr>
          <p:nvPr/>
        </p:nvSpPr>
        <p:spPr bwMode="auto">
          <a:xfrm>
            <a:off x="2155491" y="2797239"/>
            <a:ext cx="6486525" cy="3781425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anchor="ctr">
            <a:spAutoFit/>
          </a:bodyPr>
          <a:lstStyle/>
          <a:p>
            <a:pPr>
              <a:tabLst>
                <a:tab pos="800100" algn="l"/>
              </a:tabLst>
            </a:pPr>
            <a:r>
              <a:rPr lang="zh-CN" altLang="en-US" b="1" dirty="0">
                <a:solidFill>
                  <a:srgbClr val="C01920"/>
                </a:solidFill>
                <a:latin typeface="隶书" pitchFamily="49" charset="-122"/>
                <a:ea typeface="隶书" pitchFamily="49" charset="-122"/>
              </a:rPr>
              <a:t>例如：</a:t>
            </a:r>
          </a:p>
          <a:p>
            <a:pPr>
              <a:tabLst>
                <a:tab pos="800100" algn="l"/>
              </a:tabLst>
            </a:pPr>
            <a:r>
              <a:rPr lang="en-US" altLang="zh-CN" b="1" dirty="0">
                <a:solidFill>
                  <a:srgbClr val="CC0000"/>
                </a:solidFill>
              </a:rPr>
              <a:t>void </a:t>
            </a:r>
            <a:r>
              <a:rPr lang="en-US" altLang="zh-CN" b="1" dirty="0" err="1">
                <a:solidFill>
                  <a:srgbClr val="CC0000"/>
                </a:solidFill>
              </a:rPr>
              <a:t>showyes</a:t>
            </a:r>
            <a:r>
              <a:rPr lang="en-US" altLang="zh-CN" b="1" dirty="0">
                <a:solidFill>
                  <a:srgbClr val="CC0000"/>
                </a:solidFill>
              </a:rPr>
              <a:t> ( )</a:t>
            </a:r>
          </a:p>
          <a:p>
            <a:pPr>
              <a:tabLst>
                <a:tab pos="800100" algn="l"/>
              </a:tabLst>
            </a:pPr>
            <a:r>
              <a:rPr lang="en-US" altLang="zh-CN" b="1" dirty="0"/>
              <a:t>{</a:t>
            </a:r>
          </a:p>
          <a:p>
            <a:pPr>
              <a:tabLst>
                <a:tab pos="800100" algn="l"/>
              </a:tabLst>
            </a:pPr>
            <a:r>
              <a:rPr lang="en-US" altLang="zh-CN" b="1" dirty="0"/>
              <a:t>  char key;</a:t>
            </a:r>
          </a:p>
          <a:p>
            <a:pPr>
              <a:tabLst>
                <a:tab pos="800100" algn="l"/>
              </a:tabLst>
            </a:pPr>
            <a:r>
              <a:rPr lang="en-US" altLang="zh-CN" b="1" dirty="0"/>
              <a:t>  </a:t>
            </a:r>
          </a:p>
          <a:p>
            <a:pPr>
              <a:tabLst>
                <a:tab pos="800100" algn="l"/>
              </a:tabLst>
            </a:pPr>
            <a:r>
              <a:rPr lang="en-US" altLang="zh-CN" b="1" dirty="0"/>
              <a:t>  key = </a:t>
            </a:r>
            <a:r>
              <a:rPr lang="en-US" altLang="zh-CN" b="1" dirty="0" err="1"/>
              <a:t>getch</a:t>
            </a:r>
            <a:r>
              <a:rPr lang="en-US" altLang="zh-CN" b="1" dirty="0"/>
              <a:t> ( );</a:t>
            </a:r>
          </a:p>
          <a:p>
            <a:pPr>
              <a:tabLst>
                <a:tab pos="800100" algn="l"/>
              </a:tabLst>
            </a:pPr>
            <a:r>
              <a:rPr lang="en-US" altLang="zh-CN" b="1" dirty="0"/>
              <a:t>  if (</a:t>
            </a:r>
            <a:r>
              <a:rPr lang="en-US" altLang="zh-CN" b="1" dirty="0" err="1"/>
              <a:t>toupper</a:t>
            </a:r>
            <a:r>
              <a:rPr lang="en-US" altLang="zh-CN" b="1" dirty="0"/>
              <a:t>(key) != 'Y')</a:t>
            </a:r>
          </a:p>
          <a:p>
            <a:pPr>
              <a:tabLst>
                <a:tab pos="800100" algn="l"/>
              </a:tabLst>
            </a:pPr>
            <a:r>
              <a:rPr lang="en-US" altLang="zh-CN" b="1" dirty="0"/>
              <a:t>      </a:t>
            </a:r>
            <a:r>
              <a:rPr lang="en-US" altLang="zh-CN" b="1" dirty="0">
                <a:solidFill>
                  <a:srgbClr val="C01920"/>
                </a:solidFill>
              </a:rPr>
              <a:t>return;</a:t>
            </a:r>
          </a:p>
          <a:p>
            <a:pPr>
              <a:tabLst>
                <a:tab pos="800100" algn="l"/>
              </a:tabLst>
            </a:pPr>
            <a:r>
              <a:rPr lang="en-US" altLang="zh-CN" b="1" dirty="0"/>
              <a:t>  </a:t>
            </a:r>
            <a:r>
              <a:rPr lang="en-US" altLang="zh-CN" b="1" dirty="0" err="1"/>
              <a:t>printf</a:t>
            </a:r>
            <a:r>
              <a:rPr lang="en-US" altLang="zh-CN" b="1" dirty="0"/>
              <a:t> ("YES! ");</a:t>
            </a:r>
          </a:p>
          <a:p>
            <a:pPr>
              <a:tabLst>
                <a:tab pos="800100" algn="l"/>
              </a:tabLst>
            </a:pPr>
            <a:r>
              <a:rPr lang="en-US" altLang="zh-CN" b="1" dirty="0"/>
              <a:t>}</a:t>
            </a:r>
          </a:p>
        </p:txBody>
      </p:sp>
      <p:sp>
        <p:nvSpPr>
          <p:cNvPr id="1031195" name="Rectangle 27"/>
          <p:cNvSpPr>
            <a:spLocks noChangeArrowheads="1"/>
          </p:cNvSpPr>
          <p:nvPr/>
        </p:nvSpPr>
        <p:spPr bwMode="auto">
          <a:xfrm>
            <a:off x="4963779" y="3157601"/>
            <a:ext cx="3457575" cy="1349375"/>
          </a:xfrm>
          <a:prstGeom prst="rect">
            <a:avLst/>
          </a:prstGeom>
          <a:solidFill>
            <a:srgbClr val="FFFFFF"/>
          </a:soli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anchor="ctr">
            <a:spAutoFit/>
          </a:bodyPr>
          <a:lstStyle/>
          <a:p>
            <a:r>
              <a:rPr lang="zh-CN" altLang="en-US" sz="2000" b="1" u="sng" dirty="0">
                <a:solidFill>
                  <a:srgbClr val="C01920"/>
                </a:solidFill>
                <a:ea typeface="隶书" pitchFamily="49" charset="-122"/>
              </a:rPr>
              <a:t>函数</a:t>
            </a:r>
            <a:r>
              <a:rPr lang="en-US" altLang="zh-CN" sz="2000" b="1" u="sng" dirty="0" err="1">
                <a:solidFill>
                  <a:srgbClr val="C01920"/>
                </a:solidFill>
                <a:ea typeface="隶书" pitchFamily="49" charset="-122"/>
              </a:rPr>
              <a:t>showyes</a:t>
            </a:r>
            <a:r>
              <a:rPr lang="zh-CN" altLang="en-US" sz="2000" b="1" u="sng" dirty="0">
                <a:solidFill>
                  <a:srgbClr val="C01920"/>
                </a:solidFill>
                <a:ea typeface="隶书" pitchFamily="49" charset="-122"/>
              </a:rPr>
              <a:t>的功能是：</a:t>
            </a:r>
            <a:r>
              <a:rPr lang="zh-CN" altLang="en-US" sz="2000" b="1" dirty="0">
                <a:solidFill>
                  <a:srgbClr val="C01920"/>
                </a:solidFill>
                <a:ea typeface="隶书" pitchFamily="49" charset="-122"/>
              </a:rPr>
              <a:t>   </a:t>
            </a:r>
          </a:p>
          <a:p>
            <a:r>
              <a:rPr lang="zh-CN" altLang="en-US" sz="2000" b="1" dirty="0">
                <a:solidFill>
                  <a:srgbClr val="002060"/>
                </a:solidFill>
                <a:ea typeface="隶书" pitchFamily="49" charset="-122"/>
              </a:rPr>
              <a:t>如果输入的字符不是</a:t>
            </a:r>
            <a:r>
              <a:rPr lang="en-US" altLang="zh-CN" sz="2000" b="1" dirty="0">
                <a:solidFill>
                  <a:srgbClr val="002060"/>
                </a:solidFill>
                <a:ea typeface="隶书" pitchFamily="49" charset="-122"/>
              </a:rPr>
              <a:t>'Y'</a:t>
            </a:r>
            <a:r>
              <a:rPr lang="zh-CN" altLang="en-US" sz="2000" b="1" dirty="0">
                <a:solidFill>
                  <a:srgbClr val="002060"/>
                </a:solidFill>
                <a:ea typeface="隶书" pitchFamily="49" charset="-122"/>
              </a:rPr>
              <a:t>或</a:t>
            </a:r>
            <a:r>
              <a:rPr lang="en-US" altLang="zh-CN" sz="2000" b="1" dirty="0">
                <a:solidFill>
                  <a:srgbClr val="002060"/>
                </a:solidFill>
                <a:ea typeface="隶书" pitchFamily="49" charset="-122"/>
              </a:rPr>
              <a:t>'y'</a:t>
            </a:r>
            <a:r>
              <a:rPr lang="zh-CN" altLang="en-US" sz="2000" b="1" dirty="0">
                <a:solidFill>
                  <a:srgbClr val="002060"/>
                </a:solidFill>
                <a:ea typeface="隶书" pitchFamily="49" charset="-122"/>
              </a:rPr>
              <a:t>，则什么都不输出，直接返回，否则，输出</a:t>
            </a:r>
            <a:r>
              <a:rPr lang="en-US" altLang="zh-CN" sz="2000" b="1" dirty="0">
                <a:solidFill>
                  <a:srgbClr val="002060"/>
                </a:solidFill>
                <a:ea typeface="隶书" pitchFamily="49" charset="-122"/>
              </a:rPr>
              <a:t>"YES! " </a:t>
            </a:r>
          </a:p>
        </p:txBody>
      </p:sp>
      <p:sp>
        <p:nvSpPr>
          <p:cNvPr id="1031196" name="AutoShape 28"/>
          <p:cNvSpPr>
            <a:spLocks noChangeArrowheads="1"/>
          </p:cNvSpPr>
          <p:nvPr/>
        </p:nvSpPr>
        <p:spPr bwMode="auto">
          <a:xfrm>
            <a:off x="5106654" y="5676963"/>
            <a:ext cx="3240087" cy="792162"/>
          </a:xfrm>
          <a:prstGeom prst="wedgeRoundRectCallout">
            <a:avLst>
              <a:gd name="adj1" fmla="val -98995"/>
              <a:gd name="adj2" fmla="val -85671"/>
              <a:gd name="adj3" fmla="val 16667"/>
            </a:avLst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  <a:tileRect/>
          </a:gradFill>
          <a:ln w="22225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just"/>
            <a:r>
              <a:rPr lang="zh-CN" altLang="en-US" sz="2000" b="1">
                <a:solidFill>
                  <a:srgbClr val="C01920"/>
                </a:solidFill>
                <a:latin typeface="隶书" pitchFamily="49" charset="-122"/>
                <a:ea typeface="隶书" pitchFamily="49" charset="-122"/>
              </a:rPr>
              <a:t>标准库函数，其功能是将小写字符转换成大写字符 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D15E5415-6437-4C4D-BF1F-DDCBD86C3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85" y="837555"/>
            <a:ext cx="4589169" cy="52322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2800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、无参数无返回值的函数</a:t>
            </a:r>
          </a:p>
        </p:txBody>
      </p:sp>
      <p:sp>
        <p:nvSpPr>
          <p:cNvPr id="19" name="Rectangle 7">
            <a:extLst>
              <a:ext uri="{FF2B5EF4-FFF2-40B4-BE49-F238E27FC236}">
                <a16:creationId xmlns:a16="http://schemas.microsoft.com/office/drawing/2014/main" id="{4038F57E-6C5F-4DDB-8085-91FAB26BA6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9456" y="1527175"/>
            <a:ext cx="382962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zh-CN" altLang="en-US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函数的返回 </a:t>
            </a:r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B1F435F3-CF90-45D4-BA65-6BA7CD0A7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8.2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函数的定义和调用 </a:t>
            </a:r>
          </a:p>
        </p:txBody>
      </p:sp>
    </p:spTree>
    <p:extLst>
      <p:ext uri="{BB962C8B-B14F-4D97-AF65-F5344CB8AC3E}">
        <p14:creationId xmlns:p14="http://schemas.microsoft.com/office/powerpoint/2010/main" val="4037566941"/>
      </p:ext>
    </p:extLst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10311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10311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10311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10311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103119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3" dur="500"/>
                                        <p:tgtEl>
                                          <p:spTgt spid="10311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8" dur="500"/>
                                        <p:tgtEl>
                                          <p:spTgt spid="10311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3" dur="500"/>
                                        <p:tgtEl>
                                          <p:spTgt spid="10311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8" dur="500"/>
                                        <p:tgtEl>
                                          <p:spTgt spid="10311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1188" grpId="0"/>
      <p:bldP spid="1031189" grpId="0" animBg="1"/>
      <p:bldP spid="1031190" grpId="0"/>
      <p:bldP spid="1031191" grpId="0"/>
      <p:bldP spid="1031192" grpId="0"/>
      <p:bldP spid="1031193" grpId="0"/>
      <p:bldP spid="1031194" grpId="0" animBg="1"/>
      <p:bldP spid="1031195" grpId="0" animBg="1"/>
      <p:bldP spid="1031196" grpId="0" animBg="1"/>
      <p:bldP spid="18" grpId="0"/>
      <p:bldP spid="1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224" name="Text Box 8"/>
          <p:cNvSpPr txBox="1">
            <a:spLocks noChangeArrowheads="1"/>
          </p:cNvSpPr>
          <p:nvPr/>
        </p:nvSpPr>
        <p:spPr bwMode="auto">
          <a:xfrm>
            <a:off x="5087888" y="1592029"/>
            <a:ext cx="5243513" cy="1944688"/>
          </a:xfrm>
          <a:prstGeom prst="rect">
            <a:avLst/>
          </a:prstGeom>
          <a:gradFill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>
            <a:defPPr>
              <a:defRPr lang="zh-CN"/>
            </a:defPPr>
            <a:lvl1pPr>
              <a:defRPr b="1">
                <a:latin typeface="+mn-lt"/>
                <a:ea typeface="楷体" pitchFamily="49" charset="-122"/>
              </a:defRPr>
            </a:lvl1pPr>
          </a:lstStyle>
          <a:p>
            <a:r>
              <a:rPr lang="zh-CN" altLang="en-US" dirty="0"/>
              <a:t>返回值类型符  函数名 </a:t>
            </a:r>
            <a:r>
              <a:rPr lang="en-US" altLang="zh-CN" dirty="0"/>
              <a:t>(void)</a:t>
            </a:r>
          </a:p>
          <a:p>
            <a:r>
              <a:rPr lang="en-US" altLang="zh-CN" dirty="0"/>
              <a:t>{</a:t>
            </a:r>
          </a:p>
          <a:p>
            <a:r>
              <a:rPr lang="en-US" altLang="zh-CN" dirty="0"/>
              <a:t>    </a:t>
            </a:r>
            <a:r>
              <a:rPr lang="zh-CN" altLang="en-US" dirty="0"/>
              <a:t>变量声明部分</a:t>
            </a:r>
          </a:p>
          <a:p>
            <a:r>
              <a:rPr lang="zh-CN" altLang="en-US" dirty="0"/>
              <a:t>    执行部分</a:t>
            </a:r>
          </a:p>
          <a:p>
            <a:r>
              <a:rPr lang="en-US" altLang="zh-CN" dirty="0"/>
              <a:t>}</a:t>
            </a:r>
          </a:p>
        </p:txBody>
      </p:sp>
      <p:grpSp>
        <p:nvGrpSpPr>
          <p:cNvPr id="1033225" name="Group 9"/>
          <p:cNvGrpSpPr>
            <a:grpSpLocks/>
          </p:cNvGrpSpPr>
          <p:nvPr/>
        </p:nvGrpSpPr>
        <p:grpSpPr bwMode="auto">
          <a:xfrm>
            <a:off x="7629476" y="2490555"/>
            <a:ext cx="1152525" cy="569913"/>
            <a:chOff x="3195" y="1661"/>
            <a:chExt cx="726" cy="359"/>
          </a:xfrm>
        </p:grpSpPr>
        <p:sp>
          <p:nvSpPr>
            <p:cNvPr id="1033226" name="AutoShape 10"/>
            <p:cNvSpPr>
              <a:spLocks/>
            </p:cNvSpPr>
            <p:nvPr/>
          </p:nvSpPr>
          <p:spPr bwMode="auto">
            <a:xfrm>
              <a:off x="3195" y="1661"/>
              <a:ext cx="99" cy="359"/>
            </a:xfrm>
            <a:prstGeom prst="rightBrace">
              <a:avLst>
                <a:gd name="adj1" fmla="val 30219"/>
                <a:gd name="adj2" fmla="val 50000"/>
              </a:avLst>
            </a:prstGeom>
            <a:noFill/>
            <a:ln w="25400">
              <a:solidFill>
                <a:srgbClr val="C01920"/>
              </a:solidFill>
              <a:round/>
              <a:headEnd/>
              <a:tailEnd/>
            </a:ln>
            <a:effectLst>
              <a:outerShdw dist="35921" dir="2700000" algn="ctr" rotWithShape="0">
                <a:srgbClr val="808080"/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3227" name="Text Box 11"/>
            <p:cNvSpPr txBox="1">
              <a:spLocks noChangeArrowheads="1"/>
            </p:cNvSpPr>
            <p:nvPr/>
          </p:nvSpPr>
          <p:spPr bwMode="auto">
            <a:xfrm>
              <a:off x="3286" y="1661"/>
              <a:ext cx="635" cy="2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zh-CN" altLang="en-US" sz="2000" b="1" dirty="0">
                  <a:solidFill>
                    <a:srgbClr val="C01920"/>
                  </a:solidFill>
                  <a:latin typeface="楷体" pitchFamily="49" charset="-122"/>
                  <a:ea typeface="楷体" pitchFamily="49" charset="-122"/>
                </a:rPr>
                <a:t>函数体</a:t>
              </a:r>
            </a:p>
          </p:txBody>
        </p:sp>
      </p:grpSp>
      <p:sp>
        <p:nvSpPr>
          <p:cNvPr id="1033228" name="AutoShape 12"/>
          <p:cNvSpPr>
            <a:spLocks noChangeArrowheads="1"/>
          </p:cNvSpPr>
          <p:nvPr/>
        </p:nvSpPr>
        <p:spPr bwMode="auto">
          <a:xfrm>
            <a:off x="2639962" y="2155593"/>
            <a:ext cx="2286000" cy="863674"/>
          </a:xfrm>
          <a:prstGeom prst="wedgeRoundRectCallout">
            <a:avLst>
              <a:gd name="adj1" fmla="val 66042"/>
              <a:gd name="adj2" fmla="val -63333"/>
              <a:gd name="adj3" fmla="val 16667"/>
            </a:avLst>
          </a:prstGeom>
          <a:gradFill rotWithShape="1">
            <a:gsLst>
              <a:gs pos="0">
                <a:srgbClr val="CFCFD1"/>
              </a:gs>
              <a:gs pos="100000">
                <a:srgbClr val="FFFFFF"/>
              </a:gs>
            </a:gsLst>
            <a:lin ang="5400000" scaled="1"/>
          </a:gradFill>
          <a:ln w="1905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pPr algn="just"/>
            <a:r>
              <a:rPr lang="zh-CN" altLang="en-US" sz="2000" b="1" dirty="0">
                <a:solidFill>
                  <a:srgbClr val="C00000"/>
                </a:solidFill>
                <a:ea typeface="隶书" pitchFamily="49" charset="-122"/>
              </a:rPr>
              <a:t>可以为除数组类型外的任何类型</a:t>
            </a:r>
          </a:p>
        </p:txBody>
      </p:sp>
      <p:sp>
        <p:nvSpPr>
          <p:cNvPr id="1033229" name="AutoShape 13"/>
          <p:cNvSpPr>
            <a:spLocks noChangeArrowheads="1"/>
          </p:cNvSpPr>
          <p:nvPr/>
        </p:nvSpPr>
        <p:spPr bwMode="auto">
          <a:xfrm>
            <a:off x="9120137" y="2600092"/>
            <a:ext cx="1944688" cy="792162"/>
          </a:xfrm>
          <a:prstGeom prst="wedgeRoundRectCallout">
            <a:avLst>
              <a:gd name="adj1" fmla="val -76042"/>
              <a:gd name="adj2" fmla="val -127153"/>
              <a:gd name="adj3" fmla="val 16667"/>
            </a:avLst>
          </a:prstGeom>
          <a:gradFill rotWithShape="1">
            <a:gsLst>
              <a:gs pos="0">
                <a:srgbClr val="CFCFD1"/>
              </a:gs>
              <a:gs pos="100000">
                <a:srgbClr val="FFFFFF"/>
              </a:gs>
            </a:gsLst>
            <a:lin ang="5400000" scaled="1"/>
          </a:gradFill>
          <a:ln w="1905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pPr algn="just"/>
            <a:r>
              <a:rPr lang="zh-CN" altLang="en-US" sz="2000" b="1" dirty="0">
                <a:solidFill>
                  <a:srgbClr val="C00000"/>
                </a:solidFill>
                <a:ea typeface="隶书" pitchFamily="49" charset="-122"/>
              </a:rPr>
              <a:t>表明无参数，可缺省！</a:t>
            </a:r>
          </a:p>
        </p:txBody>
      </p:sp>
      <p:sp>
        <p:nvSpPr>
          <p:cNvPr id="1033230" name="AutoShape 14"/>
          <p:cNvSpPr>
            <a:spLocks noChangeArrowheads="1"/>
          </p:cNvSpPr>
          <p:nvPr/>
        </p:nvSpPr>
        <p:spPr bwMode="auto">
          <a:xfrm>
            <a:off x="8616901" y="671280"/>
            <a:ext cx="1944687" cy="792163"/>
          </a:xfrm>
          <a:prstGeom prst="wedgeRoundRectCallout">
            <a:avLst>
              <a:gd name="adj1" fmla="val -102898"/>
              <a:gd name="adj2" fmla="val 75852"/>
              <a:gd name="adj3" fmla="val 16667"/>
            </a:avLst>
          </a:prstGeom>
          <a:gradFill rotWithShape="1">
            <a:gsLst>
              <a:gs pos="0">
                <a:srgbClr val="CFCFD1"/>
              </a:gs>
              <a:gs pos="100000">
                <a:srgbClr val="FFFFFF"/>
              </a:gs>
            </a:gsLst>
            <a:lin ang="5400000" scaled="1"/>
          </a:gradFill>
          <a:ln w="1905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pPr algn="just"/>
            <a:r>
              <a:rPr lang="zh-CN" altLang="en-US" sz="2000" b="1">
                <a:solidFill>
                  <a:srgbClr val="C00000"/>
                </a:solidFill>
                <a:ea typeface="隶书" pitchFamily="49" charset="-122"/>
              </a:rPr>
              <a:t>必须为合法的标识符</a:t>
            </a:r>
          </a:p>
        </p:txBody>
      </p:sp>
      <p:sp>
        <p:nvSpPr>
          <p:cNvPr id="1033231" name="Rectangle 15"/>
          <p:cNvSpPr>
            <a:spLocks noChangeArrowheads="1"/>
          </p:cNvSpPr>
          <p:nvPr/>
        </p:nvSpPr>
        <p:spPr bwMode="auto">
          <a:xfrm>
            <a:off x="1266787" y="3501008"/>
            <a:ext cx="2492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altLang="zh-CN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函数用途 </a:t>
            </a:r>
          </a:p>
        </p:txBody>
      </p:sp>
      <p:sp>
        <p:nvSpPr>
          <p:cNvPr id="1033232" name="Rectangle 16"/>
          <p:cNvSpPr>
            <a:spLocks noChangeArrowheads="1"/>
          </p:cNvSpPr>
          <p:nvPr/>
        </p:nvSpPr>
        <p:spPr bwMode="auto">
          <a:xfrm>
            <a:off x="822286" y="4084564"/>
            <a:ext cx="108183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隶书" pitchFamily="49" charset="-122"/>
                <a:ea typeface="隶书" pitchFamily="49" charset="-122"/>
              </a:rPr>
              <a:t>   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此类函数用于完成某项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固定的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处理任务，执行完成后向调用者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返回函数值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。 </a:t>
            </a:r>
          </a:p>
        </p:txBody>
      </p:sp>
      <p:sp>
        <p:nvSpPr>
          <p:cNvPr id="1033233" name="Rectangle 17"/>
          <p:cNvSpPr>
            <a:spLocks noChangeArrowheads="1"/>
          </p:cNvSpPr>
          <p:nvPr/>
        </p:nvSpPr>
        <p:spPr bwMode="auto">
          <a:xfrm>
            <a:off x="1254086" y="4620245"/>
            <a:ext cx="31543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altLang="zh-CN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函数的原型声明 </a:t>
            </a:r>
          </a:p>
        </p:txBody>
      </p:sp>
      <p:sp>
        <p:nvSpPr>
          <p:cNvPr id="1033234" name="Text Box 18"/>
          <p:cNvSpPr txBox="1">
            <a:spLocks noChangeArrowheads="1"/>
          </p:cNvSpPr>
          <p:nvPr/>
        </p:nvSpPr>
        <p:spPr bwMode="auto">
          <a:xfrm>
            <a:off x="1327111" y="5161583"/>
            <a:ext cx="5560977" cy="1289050"/>
          </a:xfrm>
          <a:prstGeom prst="rect">
            <a:avLst/>
          </a:prstGeom>
          <a:gradFill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>
            <a:defPPr>
              <a:defRPr lang="zh-CN"/>
            </a:defPPr>
            <a:lvl1pPr algn="ctr">
              <a:defRPr b="1">
                <a:latin typeface="+mn-lt"/>
                <a:ea typeface="楷体" pitchFamily="49" charset="-122"/>
              </a:defRPr>
            </a:lvl1pPr>
          </a:lstStyle>
          <a:p>
            <a:r>
              <a:rPr lang="zh-CN" altLang="en-US" dirty="0"/>
              <a:t>返回值类型符  函数名</a:t>
            </a:r>
            <a:r>
              <a:rPr lang="en-US" altLang="zh-CN" dirty="0"/>
              <a:t>( void )</a:t>
            </a:r>
            <a:r>
              <a:rPr lang="zh-CN" altLang="en-US" dirty="0"/>
              <a:t>；   </a:t>
            </a:r>
            <a:endParaRPr lang="en-US" altLang="zh-CN" dirty="0"/>
          </a:p>
          <a:p>
            <a:r>
              <a:rPr lang="zh-CN" altLang="en-US" dirty="0">
                <a:solidFill>
                  <a:srgbClr val="C01920"/>
                </a:solidFill>
              </a:rPr>
              <a:t>或  </a:t>
            </a:r>
            <a:r>
              <a:rPr lang="zh-CN" altLang="en-US" dirty="0"/>
              <a:t>  </a:t>
            </a:r>
            <a:endParaRPr lang="en-US" altLang="zh-CN" dirty="0"/>
          </a:p>
          <a:p>
            <a:r>
              <a:rPr lang="zh-CN" altLang="en-US" dirty="0"/>
              <a:t>返回值类型符  函数名</a:t>
            </a:r>
            <a:r>
              <a:rPr lang="en-US" altLang="zh-CN" dirty="0"/>
              <a:t>(    )</a:t>
            </a:r>
            <a:r>
              <a:rPr lang="zh-CN" altLang="en-US" dirty="0"/>
              <a:t>；</a:t>
            </a:r>
          </a:p>
        </p:txBody>
      </p:sp>
      <p:sp>
        <p:nvSpPr>
          <p:cNvPr id="18" name="矩形 17"/>
          <p:cNvSpPr/>
          <p:nvPr/>
        </p:nvSpPr>
        <p:spPr>
          <a:xfrm>
            <a:off x="7248128" y="4764261"/>
            <a:ext cx="4660442" cy="1938992"/>
          </a:xfrm>
          <a:prstGeom prst="rect">
            <a:avLst/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  <a:tileRect/>
          </a:gradFill>
          <a:ln w="38100">
            <a:solidFill>
              <a:srgbClr val="C0192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1920"/>
                </a:solidFill>
                <a:latin typeface="+mn-lt"/>
                <a:ea typeface="隶书" pitchFamily="49" charset="-122"/>
              </a:rPr>
              <a:t>注意：</a:t>
            </a:r>
            <a:r>
              <a:rPr lang="zh-CN" altLang="zh-CN" b="1" dirty="0">
                <a:solidFill>
                  <a:srgbClr val="002060"/>
                </a:solidFill>
                <a:latin typeface="+mn-lt"/>
                <a:ea typeface="隶书" pitchFamily="49" charset="-122"/>
              </a:rPr>
              <a:t>函数返回值类型符在</a:t>
            </a:r>
            <a:r>
              <a:rPr lang="en-US" altLang="zh-CN" b="1" dirty="0">
                <a:solidFill>
                  <a:srgbClr val="002060"/>
                </a:solidFill>
                <a:latin typeface="+mn-lt"/>
                <a:ea typeface="隶书" pitchFamily="49" charset="-122"/>
              </a:rPr>
              <a:t>VC6.0</a:t>
            </a:r>
            <a:r>
              <a:rPr lang="zh-CN" altLang="zh-CN" b="1" dirty="0">
                <a:solidFill>
                  <a:srgbClr val="002060"/>
                </a:solidFill>
                <a:latin typeface="+mn-lt"/>
                <a:ea typeface="隶书" pitchFamily="49" charset="-122"/>
              </a:rPr>
              <a:t>下可以缺省，其默认为</a:t>
            </a:r>
            <a:r>
              <a:rPr lang="en-US" altLang="zh-CN" b="1" dirty="0" err="1">
                <a:solidFill>
                  <a:srgbClr val="002060"/>
                </a:solidFill>
                <a:latin typeface="+mn-lt"/>
                <a:ea typeface="隶书" pitchFamily="49" charset="-122"/>
              </a:rPr>
              <a:t>int</a:t>
            </a:r>
            <a:r>
              <a:rPr lang="zh-CN" altLang="zh-CN" b="1" dirty="0">
                <a:solidFill>
                  <a:srgbClr val="002060"/>
                </a:solidFill>
                <a:latin typeface="+mn-lt"/>
                <a:ea typeface="隶书" pitchFamily="49" charset="-122"/>
              </a:rPr>
              <a:t>型，但在</a:t>
            </a:r>
            <a:r>
              <a:rPr lang="en-US" altLang="zh-CN" b="1" dirty="0">
                <a:solidFill>
                  <a:srgbClr val="002060"/>
                </a:solidFill>
                <a:latin typeface="+mn-lt"/>
                <a:ea typeface="隶书" pitchFamily="49" charset="-122"/>
              </a:rPr>
              <a:t>VC2010</a:t>
            </a:r>
            <a:r>
              <a:rPr lang="zh-CN" altLang="zh-CN" b="1" dirty="0">
                <a:solidFill>
                  <a:srgbClr val="002060"/>
                </a:solidFill>
                <a:latin typeface="+mn-lt"/>
                <a:ea typeface="隶书" pitchFamily="49" charset="-122"/>
              </a:rPr>
              <a:t>、</a:t>
            </a:r>
            <a:r>
              <a:rPr lang="en-US" altLang="zh-CN" b="1" dirty="0">
                <a:solidFill>
                  <a:srgbClr val="002060"/>
                </a:solidFill>
                <a:latin typeface="+mn-lt"/>
                <a:ea typeface="隶书" pitchFamily="49" charset="-122"/>
              </a:rPr>
              <a:t>CB17.12</a:t>
            </a:r>
            <a:r>
              <a:rPr lang="zh-CN" altLang="zh-CN" b="1" dirty="0">
                <a:solidFill>
                  <a:srgbClr val="002060"/>
                </a:solidFill>
                <a:latin typeface="+mn-lt"/>
                <a:ea typeface="隶书" pitchFamily="49" charset="-122"/>
              </a:rPr>
              <a:t>下不可缺省，必须指定返回值类型，否则编译错。</a:t>
            </a:r>
            <a:endParaRPr lang="zh-CN" altLang="en-US" b="1" dirty="0">
              <a:solidFill>
                <a:srgbClr val="002060"/>
              </a:solidFill>
              <a:latin typeface="+mn-lt"/>
              <a:ea typeface="隶书" pitchFamily="49" charset="-122"/>
            </a:endParaRPr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55871274-1E02-4859-8999-4D86410F70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85" y="837555"/>
            <a:ext cx="4589169" cy="52322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2800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、无参数有返回值的函数</a:t>
            </a:r>
          </a:p>
        </p:txBody>
      </p:sp>
      <p:sp>
        <p:nvSpPr>
          <p:cNvPr id="21" name="Rectangle 7">
            <a:extLst>
              <a:ext uri="{FF2B5EF4-FFF2-40B4-BE49-F238E27FC236}">
                <a16:creationId xmlns:a16="http://schemas.microsoft.com/office/drawing/2014/main" id="{A7141C56-D628-4820-B240-1FF8B507B4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9456" y="1527175"/>
            <a:ext cx="382962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zh-CN" altLang="en-US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定义格式</a:t>
            </a:r>
          </a:p>
        </p:txBody>
      </p:sp>
      <p:sp>
        <p:nvSpPr>
          <p:cNvPr id="22" name="Rectangle 4">
            <a:extLst>
              <a:ext uri="{FF2B5EF4-FFF2-40B4-BE49-F238E27FC236}">
                <a16:creationId xmlns:a16="http://schemas.microsoft.com/office/drawing/2014/main" id="{ABAEF636-D553-492F-A452-A4F6C3D140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8.2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函数的定义和调用 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10332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3" dur="500"/>
                                        <p:tgtEl>
                                          <p:spTgt spid="10332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10332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3" dur="500"/>
                                        <p:tgtEl>
                                          <p:spTgt spid="10332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0332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3" dur="500"/>
                                        <p:tgtEl>
                                          <p:spTgt spid="10332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500"/>
                                        <p:tgtEl>
                                          <p:spTgt spid="10332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3" dur="500"/>
                                        <p:tgtEl>
                                          <p:spTgt spid="10332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8" dur="500"/>
                                        <p:tgtEl>
                                          <p:spTgt spid="10332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3224" grpId="0" animBg="1"/>
      <p:bldP spid="1033228" grpId="0" animBg="1"/>
      <p:bldP spid="1033229" grpId="0" animBg="1"/>
      <p:bldP spid="1033230" grpId="0" animBg="1"/>
      <p:bldP spid="1033231" grpId="0"/>
      <p:bldP spid="1033232" grpId="0"/>
      <p:bldP spid="1033233" grpId="0"/>
      <p:bldP spid="1033234" grpId="0" animBg="1"/>
      <p:bldP spid="18" grpId="0" animBg="1"/>
      <p:bldP spid="20" grpId="0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281" name="Text Box 17"/>
          <p:cNvSpPr txBox="1">
            <a:spLocks noChangeArrowheads="1"/>
          </p:cNvSpPr>
          <p:nvPr/>
        </p:nvSpPr>
        <p:spPr bwMode="auto">
          <a:xfrm>
            <a:off x="3741412" y="1580415"/>
            <a:ext cx="7345363" cy="503237"/>
          </a:xfrm>
          <a:prstGeom prst="rect">
            <a:avLst/>
          </a:prstGeom>
          <a:gradFill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>
            <a:defPPr>
              <a:defRPr lang="zh-CN"/>
            </a:defPPr>
            <a:lvl1pPr algn="ctr">
              <a:defRPr b="1">
                <a:latin typeface="+mn-lt"/>
                <a:ea typeface="楷体" pitchFamily="49" charset="-122"/>
              </a:defRPr>
            </a:lvl1pPr>
          </a:lstStyle>
          <a:p>
            <a:r>
              <a:rPr lang="en-US" altLang="zh-CN" dirty="0"/>
              <a:t>             </a:t>
            </a:r>
            <a:r>
              <a:rPr lang="zh-CN" altLang="en-US" dirty="0"/>
              <a:t>函数名</a:t>
            </a:r>
            <a:r>
              <a:rPr lang="en-US" altLang="zh-CN" dirty="0"/>
              <a:t>( void )</a:t>
            </a:r>
            <a:r>
              <a:rPr lang="zh-CN" altLang="en-US" dirty="0"/>
              <a:t>； </a:t>
            </a:r>
            <a:r>
              <a:rPr lang="zh-CN" altLang="en-US" dirty="0">
                <a:solidFill>
                  <a:srgbClr val="C01920"/>
                </a:solidFill>
              </a:rPr>
              <a:t>或</a:t>
            </a:r>
            <a:r>
              <a:rPr lang="zh-CN" altLang="en-US" dirty="0"/>
              <a:t>   变量 </a:t>
            </a:r>
            <a:r>
              <a:rPr lang="en-US" altLang="zh-CN" dirty="0"/>
              <a:t>= </a:t>
            </a:r>
            <a:r>
              <a:rPr lang="zh-CN" altLang="en-US" dirty="0"/>
              <a:t>函数名</a:t>
            </a:r>
            <a:r>
              <a:rPr lang="en-US" altLang="zh-CN" dirty="0"/>
              <a:t>(    )</a:t>
            </a:r>
            <a:r>
              <a:rPr lang="zh-CN" altLang="en-US" dirty="0"/>
              <a:t>；</a:t>
            </a:r>
          </a:p>
        </p:txBody>
      </p:sp>
      <p:sp>
        <p:nvSpPr>
          <p:cNvPr id="1035282" name="Rectangle 18"/>
          <p:cNvSpPr>
            <a:spLocks noChangeArrowheads="1"/>
          </p:cNvSpPr>
          <p:nvPr/>
        </p:nvSpPr>
        <p:spPr bwMode="auto">
          <a:xfrm>
            <a:off x="1257794" y="2708920"/>
            <a:ext cx="2492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altLang="zh-CN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实例 </a:t>
            </a:r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48C8E9EE-FDCC-4EF2-8CD0-02C9EBD4BA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85" y="837555"/>
            <a:ext cx="4589169" cy="52322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2800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、无参数有返回值的函数</a:t>
            </a:r>
          </a:p>
        </p:txBody>
      </p:sp>
      <p:sp>
        <p:nvSpPr>
          <p:cNvPr id="22" name="Rectangle 7">
            <a:extLst>
              <a:ext uri="{FF2B5EF4-FFF2-40B4-BE49-F238E27FC236}">
                <a16:creationId xmlns:a16="http://schemas.microsoft.com/office/drawing/2014/main" id="{CCDB033D-C09B-4AA8-844C-C73DFB5116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9456" y="1527175"/>
            <a:ext cx="382962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zh-CN" altLang="en-US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函数的调用 </a:t>
            </a:r>
          </a:p>
        </p:txBody>
      </p:sp>
      <p:sp>
        <p:nvSpPr>
          <p:cNvPr id="1035283" name="Rectangle 19" descr="信纸"/>
          <p:cNvSpPr>
            <a:spLocks noChangeArrowheads="1"/>
          </p:cNvSpPr>
          <p:nvPr/>
        </p:nvSpPr>
        <p:spPr bwMode="auto">
          <a:xfrm>
            <a:off x="1703512" y="1489215"/>
            <a:ext cx="4464050" cy="5016758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anchor="ctr">
            <a:spAutoFit/>
          </a:bodyPr>
          <a:lstStyle/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/>
              <a:t>#include &lt;</a:t>
            </a:r>
            <a:r>
              <a:rPr lang="en-US" altLang="zh-CN" sz="2000" b="1" dirty="0" err="1"/>
              <a:t>stdio.h</a:t>
            </a:r>
            <a:r>
              <a:rPr lang="en-US" altLang="zh-CN" sz="2000" b="1" dirty="0"/>
              <a:t>&gt;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/>
              <a:t>#include &lt;</a:t>
            </a:r>
            <a:r>
              <a:rPr lang="en-US" altLang="zh-CN" sz="2000" b="1" dirty="0" err="1"/>
              <a:t>conio.h</a:t>
            </a:r>
            <a:r>
              <a:rPr lang="en-US" altLang="zh-CN" sz="2000" b="1" dirty="0"/>
              <a:t>&gt;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/>
              <a:t>#include &lt;</a:t>
            </a:r>
            <a:r>
              <a:rPr lang="en-US" altLang="zh-CN" sz="2000" b="1" dirty="0" err="1"/>
              <a:t>ctype.h</a:t>
            </a:r>
            <a:r>
              <a:rPr lang="en-US" altLang="zh-CN" sz="2000" b="1" dirty="0"/>
              <a:t>&gt;</a:t>
            </a:r>
          </a:p>
          <a:p>
            <a:pPr marL="457200" indent="-457200">
              <a:tabLst>
                <a:tab pos="800100" algn="l"/>
              </a:tabLst>
            </a:pPr>
            <a:endParaRPr lang="en-US" altLang="zh-CN" sz="2000" b="1" dirty="0"/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 err="1"/>
              <a:t>int</a:t>
            </a:r>
            <a:r>
              <a:rPr lang="en-US" altLang="zh-CN" sz="2000" b="1" dirty="0"/>
              <a:t> sum ( );     </a:t>
            </a:r>
          </a:p>
          <a:p>
            <a:pPr marL="457200" indent="-457200">
              <a:tabLst>
                <a:tab pos="800100" algn="l"/>
              </a:tabLst>
            </a:pPr>
            <a:endParaRPr lang="en-US" altLang="zh-CN" sz="2000" b="1" dirty="0"/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 err="1">
                <a:solidFill>
                  <a:srgbClr val="CC0000"/>
                </a:solidFill>
              </a:rPr>
              <a:t>int</a:t>
            </a:r>
            <a:r>
              <a:rPr lang="en-US" altLang="zh-CN" sz="2000" b="1" dirty="0">
                <a:solidFill>
                  <a:srgbClr val="CC0000"/>
                </a:solidFill>
              </a:rPr>
              <a:t> main ( )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/>
              <a:t>{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/>
              <a:t>  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tot;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/>
              <a:t>  tot = sum ( ); 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/>
              <a:t>  if (tot == -1)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/>
              <a:t>      </a:t>
            </a:r>
            <a:r>
              <a:rPr lang="en-US" altLang="zh-CN" sz="2000" b="1" dirty="0" err="1"/>
              <a:t>printf</a:t>
            </a:r>
            <a:r>
              <a:rPr lang="en-US" altLang="zh-CN" sz="2000" b="1" dirty="0"/>
              <a:t> ("\</a:t>
            </a:r>
            <a:r>
              <a:rPr lang="en-US" altLang="zh-CN" sz="2000" b="1" dirty="0" err="1"/>
              <a:t>nnot</a:t>
            </a:r>
            <a:r>
              <a:rPr lang="en-US" altLang="zh-CN" sz="2000" b="1" dirty="0"/>
              <a:t> select!\n");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/>
              <a:t>  else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/>
              <a:t>      </a:t>
            </a:r>
            <a:r>
              <a:rPr lang="en-US" altLang="zh-CN" sz="2000" b="1" dirty="0" err="1"/>
              <a:t>printf</a:t>
            </a:r>
            <a:r>
              <a:rPr lang="en-US" altLang="zh-CN" sz="2000" b="1" dirty="0"/>
              <a:t> ("\</a:t>
            </a:r>
            <a:r>
              <a:rPr lang="en-US" altLang="zh-CN" sz="2000" b="1" dirty="0" err="1"/>
              <a:t>nthe</a:t>
            </a:r>
            <a:r>
              <a:rPr lang="en-US" altLang="zh-CN" sz="2000" b="1" dirty="0"/>
              <a:t> result is : %d\n", tot);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/>
              <a:t>  return 0;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/>
              <a:t>}</a:t>
            </a:r>
          </a:p>
        </p:txBody>
      </p:sp>
      <p:sp>
        <p:nvSpPr>
          <p:cNvPr id="1035284" name="Rectangle 20" descr="信纸"/>
          <p:cNvSpPr>
            <a:spLocks noChangeArrowheads="1"/>
          </p:cNvSpPr>
          <p:nvPr/>
        </p:nvSpPr>
        <p:spPr bwMode="auto">
          <a:xfrm>
            <a:off x="6384279" y="1479276"/>
            <a:ext cx="5040313" cy="3787775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anchor="ctr">
            <a:spAutoFit/>
          </a:bodyPr>
          <a:lstStyle/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solidFill>
                  <a:srgbClr val="009999"/>
                </a:solidFill>
              </a:rPr>
              <a:t>int sum ( ) 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solidFill>
                  <a:srgbClr val="009999"/>
                </a:solidFill>
              </a:rPr>
              <a:t>{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solidFill>
                  <a:srgbClr val="009999"/>
                </a:solidFill>
              </a:rPr>
              <a:t>  int </a:t>
            </a:r>
            <a:r>
              <a:rPr lang="en-US" altLang="zh-CN" sz="2000" b="1" dirty="0" err="1">
                <a:solidFill>
                  <a:srgbClr val="009999"/>
                </a:solidFill>
              </a:rPr>
              <a:t>i</a:t>
            </a:r>
            <a:r>
              <a:rPr lang="en-US" altLang="zh-CN" sz="2000" b="1" dirty="0">
                <a:solidFill>
                  <a:srgbClr val="009999"/>
                </a:solidFill>
              </a:rPr>
              <a:t>, tot = 0;   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solidFill>
                  <a:srgbClr val="009999"/>
                </a:solidFill>
              </a:rPr>
              <a:t>  char key;</a:t>
            </a:r>
          </a:p>
          <a:p>
            <a:pPr marL="457200" indent="-457200">
              <a:tabLst>
                <a:tab pos="800100" algn="l"/>
              </a:tabLst>
            </a:pPr>
            <a:endParaRPr lang="en-US" altLang="zh-CN" sz="2000" b="1" dirty="0">
              <a:solidFill>
                <a:srgbClr val="009999"/>
              </a:solidFill>
            </a:endParaRP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solidFill>
                  <a:srgbClr val="009999"/>
                </a:solidFill>
              </a:rPr>
              <a:t>  key = </a:t>
            </a:r>
            <a:r>
              <a:rPr lang="en-US" altLang="zh-CN" sz="2000" b="1" dirty="0" err="1">
                <a:solidFill>
                  <a:srgbClr val="009999"/>
                </a:solidFill>
              </a:rPr>
              <a:t>getche</a:t>
            </a:r>
            <a:r>
              <a:rPr lang="en-US" altLang="zh-CN" sz="2000" b="1" dirty="0">
                <a:solidFill>
                  <a:srgbClr val="009999"/>
                </a:solidFill>
              </a:rPr>
              <a:t> ( );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solidFill>
                  <a:srgbClr val="009999"/>
                </a:solidFill>
              </a:rPr>
              <a:t>  if (key != '0' &amp;&amp; key != '1')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solidFill>
                  <a:srgbClr val="009999"/>
                </a:solidFill>
              </a:rPr>
              <a:t>       </a:t>
            </a:r>
            <a:r>
              <a:rPr lang="en-US" altLang="zh-CN" sz="2000" b="1" dirty="0">
                <a:solidFill>
                  <a:srgbClr val="C01920"/>
                </a:solidFill>
              </a:rPr>
              <a:t>return (-1); 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solidFill>
                  <a:srgbClr val="009999"/>
                </a:solidFill>
              </a:rPr>
              <a:t>  for (</a:t>
            </a:r>
            <a:r>
              <a:rPr lang="en-US" altLang="zh-CN" sz="2000" b="1" dirty="0" err="1">
                <a:solidFill>
                  <a:srgbClr val="009999"/>
                </a:solidFill>
              </a:rPr>
              <a:t>i</a:t>
            </a:r>
            <a:r>
              <a:rPr lang="en-US" altLang="zh-CN" sz="2000" b="1" dirty="0">
                <a:solidFill>
                  <a:srgbClr val="009999"/>
                </a:solidFill>
              </a:rPr>
              <a:t> = (key == '0') ? 2 : 1; </a:t>
            </a:r>
            <a:r>
              <a:rPr lang="en-US" altLang="zh-CN" sz="2000" b="1" dirty="0" err="1">
                <a:solidFill>
                  <a:srgbClr val="009999"/>
                </a:solidFill>
              </a:rPr>
              <a:t>i</a:t>
            </a:r>
            <a:r>
              <a:rPr lang="en-US" altLang="zh-CN" sz="2000" b="1" dirty="0">
                <a:solidFill>
                  <a:srgbClr val="009999"/>
                </a:solidFill>
              </a:rPr>
              <a:t> &lt;= 100; </a:t>
            </a:r>
            <a:r>
              <a:rPr lang="en-US" altLang="zh-CN" sz="2000" b="1" dirty="0" err="1">
                <a:solidFill>
                  <a:srgbClr val="009999"/>
                </a:solidFill>
              </a:rPr>
              <a:t>i</a:t>
            </a:r>
            <a:r>
              <a:rPr lang="en-US" altLang="zh-CN" sz="2000" b="1" dirty="0">
                <a:solidFill>
                  <a:srgbClr val="009999"/>
                </a:solidFill>
              </a:rPr>
              <a:t> += 2)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solidFill>
                  <a:srgbClr val="009999"/>
                </a:solidFill>
              </a:rPr>
              <a:t>        tot += </a:t>
            </a:r>
            <a:r>
              <a:rPr lang="en-US" altLang="zh-CN" sz="2000" b="1" dirty="0" err="1">
                <a:solidFill>
                  <a:srgbClr val="009999"/>
                </a:solidFill>
              </a:rPr>
              <a:t>i</a:t>
            </a:r>
            <a:r>
              <a:rPr lang="en-US" altLang="zh-CN" sz="2000" b="1" dirty="0">
                <a:solidFill>
                  <a:srgbClr val="009999"/>
                </a:solidFill>
              </a:rPr>
              <a:t>;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solidFill>
                  <a:srgbClr val="009999"/>
                </a:solidFill>
              </a:rPr>
              <a:t>  </a:t>
            </a:r>
            <a:r>
              <a:rPr lang="en-US" altLang="zh-CN" sz="2000" b="1" dirty="0">
                <a:solidFill>
                  <a:srgbClr val="C01920"/>
                </a:solidFill>
              </a:rPr>
              <a:t>return ( tot );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solidFill>
                  <a:srgbClr val="009999"/>
                </a:solidFill>
              </a:rPr>
              <a:t>}</a:t>
            </a:r>
          </a:p>
        </p:txBody>
      </p:sp>
      <p:sp>
        <p:nvSpPr>
          <p:cNvPr id="1035285" name="Rectangle 21"/>
          <p:cNvSpPr>
            <a:spLocks noChangeArrowheads="1"/>
          </p:cNvSpPr>
          <p:nvPr/>
        </p:nvSpPr>
        <p:spPr bwMode="auto">
          <a:xfrm>
            <a:off x="1762249" y="2749773"/>
            <a:ext cx="1366838" cy="431800"/>
          </a:xfrm>
          <a:prstGeom prst="rect">
            <a:avLst/>
          </a:prstGeom>
          <a:noFill/>
          <a:ln w="28575">
            <a:solidFill>
              <a:srgbClr val="C0192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5286" name="AutoShape 22"/>
          <p:cNvSpPr>
            <a:spLocks/>
          </p:cNvSpPr>
          <p:nvPr/>
        </p:nvSpPr>
        <p:spPr bwMode="auto">
          <a:xfrm>
            <a:off x="3420268" y="2485929"/>
            <a:ext cx="1368425" cy="647700"/>
          </a:xfrm>
          <a:prstGeom prst="borderCallout2">
            <a:avLst>
              <a:gd name="adj1" fmla="val 17648"/>
              <a:gd name="adj2" fmla="val -5569"/>
              <a:gd name="adj3" fmla="val 17648"/>
              <a:gd name="adj4" fmla="val -12991"/>
              <a:gd name="adj5" fmla="val 44606"/>
              <a:gd name="adj6" fmla="val -20648"/>
            </a:avLst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pPr algn="ctr"/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声明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sum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函数的原型</a:t>
            </a:r>
            <a:r>
              <a:rPr lang="zh-CN" altLang="en-US" sz="1800" dirty="0">
                <a:solidFill>
                  <a:srgbClr val="002060"/>
                </a:solidFill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035287" name="Rectangle 23"/>
          <p:cNvSpPr>
            <a:spLocks noChangeArrowheads="1"/>
          </p:cNvSpPr>
          <p:nvPr/>
        </p:nvSpPr>
        <p:spPr bwMode="auto">
          <a:xfrm>
            <a:off x="2431004" y="4271545"/>
            <a:ext cx="936625" cy="360363"/>
          </a:xfrm>
          <a:prstGeom prst="rect">
            <a:avLst/>
          </a:prstGeom>
          <a:noFill/>
          <a:ln w="28575">
            <a:solidFill>
              <a:srgbClr val="C0192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5288" name="AutoShape 24"/>
          <p:cNvSpPr>
            <a:spLocks/>
          </p:cNvSpPr>
          <p:nvPr/>
        </p:nvSpPr>
        <p:spPr bwMode="auto">
          <a:xfrm>
            <a:off x="3467642" y="3493669"/>
            <a:ext cx="1368425" cy="647700"/>
          </a:xfrm>
          <a:prstGeom prst="borderCallout2">
            <a:avLst>
              <a:gd name="adj1" fmla="val 17648"/>
              <a:gd name="adj2" fmla="val -5569"/>
              <a:gd name="adj3" fmla="val 17648"/>
              <a:gd name="adj4" fmla="val -25986"/>
              <a:gd name="adj5" fmla="val 117157"/>
              <a:gd name="adj6" fmla="val -46981"/>
            </a:avLst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pPr algn="ctr"/>
            <a:r>
              <a:rPr lang="zh-CN" altLang="en-US" sz="1800" b="1">
                <a:solidFill>
                  <a:srgbClr val="002060"/>
                </a:solidFill>
                <a:latin typeface="+mn-lt"/>
                <a:ea typeface="楷体" pitchFamily="49" charset="-122"/>
              </a:rPr>
              <a:t>调用</a:t>
            </a:r>
            <a:r>
              <a:rPr lang="en-US" altLang="zh-CN" sz="1800" b="1">
                <a:solidFill>
                  <a:srgbClr val="002060"/>
                </a:solidFill>
                <a:latin typeface="+mn-lt"/>
                <a:ea typeface="楷体" pitchFamily="49" charset="-122"/>
              </a:rPr>
              <a:t>sum</a:t>
            </a:r>
          </a:p>
          <a:p>
            <a:pPr algn="ctr"/>
            <a:r>
              <a:rPr lang="zh-CN" altLang="en-US" sz="1800" b="1">
                <a:solidFill>
                  <a:srgbClr val="002060"/>
                </a:solidFill>
                <a:latin typeface="+mn-lt"/>
                <a:ea typeface="楷体" pitchFamily="49" charset="-122"/>
              </a:rPr>
              <a:t>函数</a:t>
            </a:r>
            <a:endParaRPr lang="zh-CN" altLang="en-US" sz="1800">
              <a:solidFill>
                <a:srgbClr val="002060"/>
              </a:solidFill>
              <a:latin typeface="+mn-lt"/>
              <a:ea typeface="楷体" pitchFamily="49" charset="-122"/>
            </a:endParaRPr>
          </a:p>
        </p:txBody>
      </p:sp>
      <p:sp>
        <p:nvSpPr>
          <p:cNvPr id="1035289" name="AutoShape 25"/>
          <p:cNvSpPr>
            <a:spLocks/>
          </p:cNvSpPr>
          <p:nvPr/>
        </p:nvSpPr>
        <p:spPr bwMode="auto">
          <a:xfrm>
            <a:off x="9192567" y="4366938"/>
            <a:ext cx="1944687" cy="792162"/>
          </a:xfrm>
          <a:prstGeom prst="borderCallout2">
            <a:avLst>
              <a:gd name="adj1" fmla="val 14431"/>
              <a:gd name="adj2" fmla="val -3917"/>
              <a:gd name="adj3" fmla="val 14431"/>
              <a:gd name="adj4" fmla="val -60162"/>
              <a:gd name="adj5" fmla="val -310019"/>
              <a:gd name="adj6" fmla="val -117880"/>
            </a:avLst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r>
              <a:rPr lang="zh-CN" altLang="en-US" sz="1800" b="1">
                <a:solidFill>
                  <a:srgbClr val="002060"/>
                </a:solidFill>
                <a:latin typeface="+mn-lt"/>
                <a:ea typeface="楷体" pitchFamily="49" charset="-122"/>
              </a:rPr>
              <a:t>函数的定义，无参数有返回值</a:t>
            </a:r>
            <a:r>
              <a:rPr lang="zh-CN" altLang="en-US">
                <a:solidFill>
                  <a:srgbClr val="002060"/>
                </a:solidFill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035290" name="Oval 26"/>
          <p:cNvSpPr>
            <a:spLocks noChangeArrowheads="1"/>
          </p:cNvSpPr>
          <p:nvPr/>
        </p:nvSpPr>
        <p:spPr bwMode="auto">
          <a:xfrm>
            <a:off x="6384279" y="1530075"/>
            <a:ext cx="1368425" cy="388938"/>
          </a:xfrm>
          <a:prstGeom prst="ellipse">
            <a:avLst/>
          </a:prstGeom>
          <a:noFill/>
          <a:ln w="28575">
            <a:solidFill>
              <a:srgbClr val="C0192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5291" name="Rectangle 27"/>
          <p:cNvSpPr>
            <a:spLocks noChangeArrowheads="1"/>
          </p:cNvSpPr>
          <p:nvPr/>
        </p:nvSpPr>
        <p:spPr bwMode="auto">
          <a:xfrm>
            <a:off x="6600178" y="2207939"/>
            <a:ext cx="1441450" cy="574675"/>
          </a:xfrm>
          <a:prstGeom prst="rect">
            <a:avLst/>
          </a:prstGeom>
          <a:noFill/>
          <a:ln w="28575">
            <a:solidFill>
              <a:srgbClr val="C0192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5292" name="AutoShape 28"/>
          <p:cNvSpPr>
            <a:spLocks/>
          </p:cNvSpPr>
          <p:nvPr/>
        </p:nvSpPr>
        <p:spPr bwMode="auto">
          <a:xfrm>
            <a:off x="9192567" y="1847575"/>
            <a:ext cx="1584325" cy="431800"/>
          </a:xfrm>
          <a:prstGeom prst="borderCallout2">
            <a:avLst>
              <a:gd name="adj1" fmla="val 26472"/>
              <a:gd name="adj2" fmla="val -4810"/>
              <a:gd name="adj3" fmla="val 26472"/>
              <a:gd name="adj4" fmla="val -38074"/>
              <a:gd name="adj5" fmla="val 158824"/>
              <a:gd name="adj6" fmla="val -72343"/>
            </a:avLst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pPr algn="ctr"/>
            <a:r>
              <a:rPr lang="zh-CN" altLang="en-US" sz="1800" b="1">
                <a:solidFill>
                  <a:srgbClr val="002060"/>
                </a:solidFill>
                <a:latin typeface="+mn-lt"/>
                <a:ea typeface="楷体" pitchFamily="49" charset="-122"/>
              </a:rPr>
              <a:t>变量声明部分</a:t>
            </a:r>
            <a:endParaRPr lang="zh-CN" altLang="en-US" sz="1800">
              <a:solidFill>
                <a:srgbClr val="002060"/>
              </a:solidFill>
              <a:latin typeface="+mn-lt"/>
              <a:ea typeface="楷体" pitchFamily="49" charset="-122"/>
            </a:endParaRPr>
          </a:p>
        </p:txBody>
      </p:sp>
      <p:sp>
        <p:nvSpPr>
          <p:cNvPr id="1035293" name="Rectangle 29"/>
          <p:cNvSpPr>
            <a:spLocks noChangeArrowheads="1"/>
          </p:cNvSpPr>
          <p:nvPr/>
        </p:nvSpPr>
        <p:spPr bwMode="auto">
          <a:xfrm>
            <a:off x="6384279" y="5386571"/>
            <a:ext cx="5040313" cy="1138773"/>
          </a:xfrm>
          <a:prstGeom prst="rect">
            <a:avLst/>
          </a:prstGeom>
          <a:solidFill>
            <a:srgbClr val="FFFFFF"/>
          </a:soli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sz="2000" b="1" u="sng" dirty="0">
                <a:solidFill>
                  <a:srgbClr val="C01920"/>
                </a:solidFill>
                <a:latin typeface="+mn-lt"/>
                <a:ea typeface="隶书" pitchFamily="49" charset="-122"/>
              </a:rPr>
              <a:t>函数</a:t>
            </a:r>
            <a:r>
              <a:rPr lang="en-US" altLang="zh-CN" sz="2000" b="1" u="sng" dirty="0">
                <a:solidFill>
                  <a:srgbClr val="C01920"/>
                </a:solidFill>
                <a:latin typeface="+mn-lt"/>
                <a:ea typeface="隶书" pitchFamily="49" charset="-122"/>
              </a:rPr>
              <a:t>sum</a:t>
            </a:r>
            <a:r>
              <a:rPr lang="zh-CN" altLang="en-US" sz="2000" b="1" u="sng" dirty="0">
                <a:solidFill>
                  <a:srgbClr val="C01920"/>
                </a:solidFill>
                <a:latin typeface="+mn-lt"/>
                <a:ea typeface="隶书" pitchFamily="49" charset="-122"/>
              </a:rPr>
              <a:t>的功能是：</a:t>
            </a:r>
            <a:r>
              <a:rPr lang="zh-CN" altLang="en-US" sz="2000" b="1" dirty="0">
                <a:solidFill>
                  <a:srgbClr val="C01920"/>
                </a:solidFill>
                <a:latin typeface="+mn-lt"/>
                <a:ea typeface="隶书" pitchFamily="49" charset="-122"/>
              </a:rPr>
              <a:t>   </a:t>
            </a:r>
          </a:p>
          <a:p>
            <a:r>
              <a:rPr lang="zh-CN" altLang="en-US" sz="2000" b="1" dirty="0">
                <a:solidFill>
                  <a:srgbClr val="002060"/>
                </a:solidFill>
                <a:latin typeface="+mn-lt"/>
                <a:ea typeface="隶书" pitchFamily="49" charset="-122"/>
              </a:rPr>
              <a:t>输入‘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隶书" pitchFamily="49" charset="-122"/>
              </a:rPr>
              <a:t>0’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隶书" pitchFamily="49" charset="-122"/>
              </a:rPr>
              <a:t>：计算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隶书" pitchFamily="49" charset="-122"/>
              </a:rPr>
              <a:t>1</a:t>
            </a:r>
            <a:r>
              <a:rPr lang="zh-CN" altLang="en-US" b="1" dirty="0">
                <a:solidFill>
                  <a:srgbClr val="002060"/>
                </a:solidFill>
                <a:latin typeface="+mn-lt"/>
              </a:rPr>
              <a:t>～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隶书" pitchFamily="49" charset="-122"/>
              </a:rPr>
              <a:t>100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隶书" pitchFamily="49" charset="-122"/>
              </a:rPr>
              <a:t>之间所有偶数之和</a:t>
            </a:r>
            <a:r>
              <a:rPr lang="zh-CN" altLang="en-US" sz="2000" dirty="0">
                <a:solidFill>
                  <a:srgbClr val="002060"/>
                </a:solidFill>
                <a:latin typeface="+mn-lt"/>
                <a:ea typeface="隶书" pitchFamily="49" charset="-122"/>
              </a:rPr>
              <a:t> 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隶书" pitchFamily="49" charset="-122"/>
              </a:rPr>
              <a:t> </a:t>
            </a:r>
          </a:p>
          <a:p>
            <a:r>
              <a:rPr lang="zh-CN" altLang="en-US" sz="2000" b="1" dirty="0">
                <a:solidFill>
                  <a:srgbClr val="002060"/>
                </a:solidFill>
                <a:latin typeface="+mn-lt"/>
                <a:ea typeface="隶书" pitchFamily="49" charset="-122"/>
              </a:rPr>
              <a:t>输入‘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隶书" pitchFamily="49" charset="-122"/>
              </a:rPr>
              <a:t>1’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隶书" pitchFamily="49" charset="-122"/>
              </a:rPr>
              <a:t>：计算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隶书" pitchFamily="49" charset="-122"/>
              </a:rPr>
              <a:t>1</a:t>
            </a:r>
            <a:r>
              <a:rPr lang="zh-CN" altLang="en-US" b="1" dirty="0">
                <a:solidFill>
                  <a:srgbClr val="002060"/>
                </a:solidFill>
                <a:latin typeface="+mn-lt"/>
              </a:rPr>
              <a:t>～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隶书" pitchFamily="49" charset="-122"/>
              </a:rPr>
              <a:t>100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隶书" pitchFamily="49" charset="-122"/>
              </a:rPr>
              <a:t>之间所有奇数之和</a:t>
            </a:r>
          </a:p>
        </p:txBody>
      </p:sp>
      <p:sp>
        <p:nvSpPr>
          <p:cNvPr id="23" name="Rectangle 4">
            <a:extLst>
              <a:ext uri="{FF2B5EF4-FFF2-40B4-BE49-F238E27FC236}">
                <a16:creationId xmlns:a16="http://schemas.microsoft.com/office/drawing/2014/main" id="{4E52B8ED-57CD-4B50-BB39-741C91D59E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8.2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函数的定义和调用 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103528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10352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10352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10352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8" dur="500"/>
                                        <p:tgtEl>
                                          <p:spTgt spid="10352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2" dur="500"/>
                                        <p:tgtEl>
                                          <p:spTgt spid="10352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10352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1" dur="500"/>
                                        <p:tgtEl>
                                          <p:spTgt spid="10352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6" dur="500"/>
                                        <p:tgtEl>
                                          <p:spTgt spid="10352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0" dur="500"/>
                                        <p:tgtEl>
                                          <p:spTgt spid="10352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5" dur="500"/>
                                        <p:tgtEl>
                                          <p:spTgt spid="10352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9" dur="500"/>
                                        <p:tgtEl>
                                          <p:spTgt spid="103529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4" dur="500"/>
                                        <p:tgtEl>
                                          <p:spTgt spid="10352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5281" grpId="0" animBg="1"/>
      <p:bldP spid="1035282" grpId="0"/>
      <p:bldP spid="21" grpId="0"/>
      <p:bldP spid="22" grpId="0"/>
      <p:bldP spid="1035283" grpId="0" animBg="1"/>
      <p:bldP spid="1035284" grpId="0" animBg="1"/>
      <p:bldP spid="1035285" grpId="0" animBg="1"/>
      <p:bldP spid="1035286" grpId="0" animBg="1"/>
      <p:bldP spid="1035287" grpId="0" animBg="1"/>
      <p:bldP spid="1035288" grpId="0" animBg="1"/>
      <p:bldP spid="1035289" grpId="0" animBg="1"/>
      <p:bldP spid="1035290" grpId="0" animBg="1"/>
      <p:bldP spid="1035291" grpId="0" animBg="1"/>
      <p:bldP spid="1035292" grpId="0" animBg="1"/>
      <p:bldP spid="103529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333" name="Rectangle 21"/>
          <p:cNvSpPr>
            <a:spLocks noChangeArrowheads="1"/>
          </p:cNvSpPr>
          <p:nvPr/>
        </p:nvSpPr>
        <p:spPr bwMode="auto">
          <a:xfrm>
            <a:off x="1609191" y="3472150"/>
            <a:ext cx="1008112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buClr>
                <a:srgbClr val="C01920"/>
              </a:buClr>
              <a:buFont typeface="Wingdings" pitchFamily="2" charset="2"/>
              <a:buChar char="ü"/>
              <a:tabLst>
                <a:tab pos="533400" algn="l"/>
              </a:tabLst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表达式的值即是函数的返回值；</a:t>
            </a:r>
          </a:p>
          <a:p>
            <a:pPr>
              <a:buClr>
                <a:srgbClr val="C01920"/>
              </a:buClr>
              <a:buFont typeface="Wingdings" pitchFamily="2" charset="2"/>
              <a:buChar char="ü"/>
              <a:tabLst>
                <a:tab pos="533400" algn="l"/>
              </a:tabLst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函数体中一般都包含</a:t>
            </a: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return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（表达式）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语句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,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如果没有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,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函数也会返回一个值。这个值是不可预知的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,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将会使程序可能犯有逻辑错； </a:t>
            </a:r>
          </a:p>
          <a:p>
            <a:pPr>
              <a:buClr>
                <a:srgbClr val="C01920"/>
              </a:buClr>
              <a:buFont typeface="Wingdings" pitchFamily="2" charset="2"/>
              <a:buChar char="ü"/>
              <a:tabLst>
                <a:tab pos="533400" algn="l"/>
              </a:tabLst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一般情况下，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表达式值的类型应与函数返回值类型一致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； </a:t>
            </a:r>
          </a:p>
          <a:p>
            <a:pPr>
              <a:buClr>
                <a:srgbClr val="C01920"/>
              </a:buClr>
              <a:buFont typeface="Wingdings" pitchFamily="2" charset="2"/>
              <a:buChar char="ü"/>
              <a:tabLst>
                <a:tab pos="533400" algn="l"/>
              </a:tabLst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当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return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（表达式）语句中的表达式的类型与函数的返回值类型不一致时，编译器将对表达式进行强制类型转换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,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将表达式的值强制转换成函数返回值类型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,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然后返回给调用者。 </a:t>
            </a:r>
          </a:p>
        </p:txBody>
      </p:sp>
      <p:sp>
        <p:nvSpPr>
          <p:cNvPr id="1037334" name="Rectangle 22"/>
          <p:cNvSpPr>
            <a:spLocks noChangeArrowheads="1"/>
          </p:cNvSpPr>
          <p:nvPr/>
        </p:nvSpPr>
        <p:spPr bwMode="auto">
          <a:xfrm>
            <a:off x="1485057" y="2146474"/>
            <a:ext cx="1282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Clr>
                <a:srgbClr val="C01920"/>
              </a:buClr>
              <a:buFont typeface="Wingdings" pitchFamily="2" charset="2"/>
              <a:buChar char="l"/>
            </a:pP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格式 </a:t>
            </a:r>
          </a:p>
        </p:txBody>
      </p:sp>
      <p:sp>
        <p:nvSpPr>
          <p:cNvPr id="1037335" name="Text Box 23"/>
          <p:cNvSpPr txBox="1">
            <a:spLocks noChangeArrowheads="1"/>
          </p:cNvSpPr>
          <p:nvPr/>
        </p:nvSpPr>
        <p:spPr bwMode="auto">
          <a:xfrm>
            <a:off x="3359696" y="2133675"/>
            <a:ext cx="5976938" cy="503237"/>
          </a:xfrm>
          <a:prstGeom prst="rect">
            <a:avLst/>
          </a:prstGeom>
          <a:gradFill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>
            <a:defPPr>
              <a:defRPr lang="zh-CN"/>
            </a:defPPr>
            <a:lvl1pPr algn="ctr">
              <a:defRPr b="1">
                <a:latin typeface="+mn-lt"/>
                <a:ea typeface="楷体" pitchFamily="49" charset="-122"/>
              </a:defRPr>
            </a:lvl1pPr>
          </a:lstStyle>
          <a:p>
            <a:r>
              <a:rPr lang="en-US" altLang="zh-CN" dirty="0"/>
              <a:t> return (</a:t>
            </a:r>
            <a:r>
              <a:rPr lang="zh-CN" altLang="en-US" dirty="0"/>
              <a:t>表达式</a:t>
            </a:r>
            <a:r>
              <a:rPr lang="en-US" altLang="zh-CN" dirty="0"/>
              <a:t>);    </a:t>
            </a:r>
            <a:r>
              <a:rPr lang="zh-CN" altLang="en-US" dirty="0">
                <a:solidFill>
                  <a:srgbClr val="C01920"/>
                </a:solidFill>
              </a:rPr>
              <a:t>或</a:t>
            </a:r>
            <a:r>
              <a:rPr lang="zh-CN" altLang="en-US" dirty="0"/>
              <a:t>     </a:t>
            </a:r>
            <a:r>
              <a:rPr lang="en-US" altLang="zh-CN" dirty="0"/>
              <a:t>return   </a:t>
            </a:r>
            <a:r>
              <a:rPr lang="zh-CN" altLang="en-US" dirty="0"/>
              <a:t>表达式</a:t>
            </a:r>
            <a:r>
              <a:rPr lang="en-US" altLang="zh-CN" dirty="0"/>
              <a:t>;     </a:t>
            </a:r>
          </a:p>
        </p:txBody>
      </p:sp>
      <p:sp>
        <p:nvSpPr>
          <p:cNvPr id="1037336" name="Rectangle 24"/>
          <p:cNvSpPr>
            <a:spLocks noChangeArrowheads="1"/>
          </p:cNvSpPr>
          <p:nvPr/>
        </p:nvSpPr>
        <p:spPr bwMode="auto">
          <a:xfrm>
            <a:off x="1500932" y="2924944"/>
            <a:ext cx="1282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Clr>
                <a:srgbClr val="C01920"/>
              </a:buClr>
              <a:buFont typeface="Wingdings" pitchFamily="2" charset="2"/>
              <a:buChar char="l"/>
            </a:pP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说明 </a:t>
            </a: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1BF3861E-C338-4698-B12F-392CF0A4AA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85" y="837555"/>
            <a:ext cx="4589169" cy="52322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2800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、无参数有返回值的函数</a:t>
            </a:r>
          </a:p>
        </p:txBody>
      </p:sp>
      <p:sp>
        <p:nvSpPr>
          <p:cNvPr id="20" name="Rectangle 7">
            <a:extLst>
              <a:ext uri="{FF2B5EF4-FFF2-40B4-BE49-F238E27FC236}">
                <a16:creationId xmlns:a16="http://schemas.microsoft.com/office/drawing/2014/main" id="{8155C713-C691-447E-A2F6-A8C43723D2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9456" y="1527175"/>
            <a:ext cx="382962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zh-CN" altLang="en-US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函数的返回 </a:t>
            </a:r>
          </a:p>
        </p:txBody>
      </p:sp>
      <p:grpSp>
        <p:nvGrpSpPr>
          <p:cNvPr id="1037341" name="Group 29"/>
          <p:cNvGrpSpPr>
            <a:grpSpLocks/>
          </p:cNvGrpSpPr>
          <p:nvPr/>
        </p:nvGrpSpPr>
        <p:grpSpPr bwMode="auto">
          <a:xfrm>
            <a:off x="1830484" y="1360775"/>
            <a:ext cx="8531032" cy="5006975"/>
            <a:chOff x="-3924" y="2064"/>
            <a:chExt cx="3765" cy="3154"/>
          </a:xfrm>
          <a:gradFill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</p:grpSpPr>
        <p:sp>
          <p:nvSpPr>
            <p:cNvPr id="1037337" name="Rectangle 25" descr="信纸"/>
            <p:cNvSpPr>
              <a:spLocks noChangeArrowheads="1"/>
            </p:cNvSpPr>
            <p:nvPr/>
          </p:nvSpPr>
          <p:spPr bwMode="auto">
            <a:xfrm>
              <a:off x="-3924" y="2064"/>
              <a:ext cx="3765" cy="3154"/>
            </a:xfrm>
            <a:prstGeom prst="rect">
              <a:avLst/>
            </a:prstGeom>
            <a:grpFill/>
            <a:ln w="38100">
              <a:solidFill>
                <a:srgbClr val="002060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anchor="ctr">
              <a:spAutoFit/>
            </a:bodyPr>
            <a:lstStyle/>
            <a:p>
              <a:pPr marL="457200" indent="-457200">
                <a:tabLst>
                  <a:tab pos="800100" algn="l"/>
                </a:tabLst>
              </a:pPr>
              <a:r>
                <a:rPr lang="en-US" altLang="zh-CN" sz="2000" b="1" dirty="0"/>
                <a:t>#include &lt;</a:t>
              </a:r>
              <a:r>
                <a:rPr lang="en-US" altLang="zh-CN" sz="2000" b="1" dirty="0" err="1"/>
                <a:t>stdio.h</a:t>
              </a:r>
              <a:r>
                <a:rPr lang="en-US" altLang="zh-CN" sz="2000" b="1" dirty="0"/>
                <a:t>&gt;</a:t>
              </a:r>
            </a:p>
            <a:p>
              <a:pPr marL="457200" indent="-457200">
                <a:tabLst>
                  <a:tab pos="800100" algn="l"/>
                </a:tabLst>
              </a:pPr>
              <a:r>
                <a:rPr lang="en-US" altLang="zh-CN" sz="2000" b="1" dirty="0"/>
                <a:t>int sum ( );     </a:t>
              </a:r>
            </a:p>
            <a:p>
              <a:pPr marL="457200" indent="-457200">
                <a:tabLst>
                  <a:tab pos="800100" algn="l"/>
                </a:tabLst>
              </a:pPr>
              <a:endParaRPr lang="en-US" altLang="zh-CN" sz="2000" b="1" dirty="0"/>
            </a:p>
            <a:p>
              <a:pPr marL="457200" indent="-457200">
                <a:tabLst>
                  <a:tab pos="800100" algn="l"/>
                </a:tabLst>
              </a:pPr>
              <a:r>
                <a:rPr lang="en-US" altLang="zh-CN" sz="2000" b="1" dirty="0">
                  <a:solidFill>
                    <a:srgbClr val="CC0000"/>
                  </a:solidFill>
                </a:rPr>
                <a:t>void main ( )</a:t>
              </a:r>
            </a:p>
            <a:p>
              <a:pPr marL="457200" indent="-457200">
                <a:tabLst>
                  <a:tab pos="800100" algn="l"/>
                </a:tabLst>
              </a:pPr>
              <a:r>
                <a:rPr lang="en-US" altLang="zh-CN" sz="2000" b="1" dirty="0"/>
                <a:t>{</a:t>
              </a:r>
            </a:p>
            <a:p>
              <a:pPr marL="457200" indent="-457200">
                <a:tabLst>
                  <a:tab pos="800100" algn="l"/>
                </a:tabLst>
              </a:pPr>
              <a:r>
                <a:rPr lang="en-US" altLang="zh-CN" sz="2000" b="1" dirty="0"/>
                <a:t>  int x;</a:t>
              </a:r>
            </a:p>
            <a:p>
              <a:pPr marL="457200" indent="-457200">
                <a:tabLst>
                  <a:tab pos="800100" algn="l"/>
                </a:tabLst>
              </a:pPr>
              <a:r>
                <a:rPr lang="en-US" altLang="zh-CN" sz="2000" b="1" dirty="0"/>
                <a:t>  x = sum ( ); </a:t>
              </a:r>
            </a:p>
            <a:p>
              <a:pPr marL="457200" indent="-457200">
                <a:tabLst>
                  <a:tab pos="800100" algn="l"/>
                </a:tabLst>
              </a:pPr>
              <a:r>
                <a:rPr lang="en-US" altLang="zh-CN" sz="2000" b="1" dirty="0"/>
                <a:t>  </a:t>
              </a:r>
              <a:r>
                <a:rPr lang="en-US" altLang="zh-CN" sz="2000" b="1" dirty="0" err="1"/>
                <a:t>printf</a:t>
              </a:r>
              <a:r>
                <a:rPr lang="en-US" altLang="zh-CN" sz="2000" b="1" dirty="0"/>
                <a:t> ("x = %d\n", x);</a:t>
              </a:r>
            </a:p>
            <a:p>
              <a:pPr marL="457200" indent="-457200">
                <a:tabLst>
                  <a:tab pos="800100" algn="l"/>
                </a:tabLst>
              </a:pPr>
              <a:r>
                <a:rPr lang="en-US" altLang="zh-CN" sz="2000" b="1" dirty="0"/>
                <a:t>}</a:t>
              </a:r>
            </a:p>
            <a:p>
              <a:pPr marL="457200" indent="-457200">
                <a:tabLst>
                  <a:tab pos="800100" algn="l"/>
                </a:tabLst>
              </a:pPr>
              <a:endParaRPr lang="en-US" altLang="zh-CN" sz="2000" b="1" dirty="0"/>
            </a:p>
            <a:p>
              <a:pPr marL="457200" indent="-457200">
                <a:tabLst>
                  <a:tab pos="800100" algn="l"/>
                </a:tabLst>
              </a:pPr>
              <a:r>
                <a:rPr lang="en-US" altLang="zh-CN" sz="2000" b="1" dirty="0">
                  <a:solidFill>
                    <a:srgbClr val="C01920"/>
                  </a:solidFill>
                </a:rPr>
                <a:t>int sum ( )</a:t>
              </a:r>
            </a:p>
            <a:p>
              <a:pPr marL="457200" indent="-457200">
                <a:tabLst>
                  <a:tab pos="800100" algn="l"/>
                </a:tabLst>
              </a:pPr>
              <a:r>
                <a:rPr lang="en-US" altLang="zh-CN" sz="2000" b="1" dirty="0"/>
                <a:t>{</a:t>
              </a:r>
            </a:p>
            <a:p>
              <a:pPr marL="457200" indent="-457200">
                <a:tabLst>
                  <a:tab pos="800100" algn="l"/>
                </a:tabLst>
              </a:pPr>
              <a:r>
                <a:rPr lang="en-US" altLang="zh-CN" sz="2000" b="1" dirty="0"/>
                <a:t>   int </a:t>
              </a:r>
              <a:r>
                <a:rPr lang="en-US" altLang="zh-CN" sz="2000" b="1" dirty="0" err="1"/>
                <a:t>i</a:t>
              </a:r>
              <a:r>
                <a:rPr lang="en-US" altLang="zh-CN" sz="2000" b="1" dirty="0"/>
                <a:t>, tot = 0;</a:t>
              </a:r>
            </a:p>
            <a:p>
              <a:pPr marL="457200" indent="-457200">
                <a:tabLst>
                  <a:tab pos="800100" algn="l"/>
                </a:tabLst>
              </a:pPr>
              <a:r>
                <a:rPr lang="en-US" altLang="zh-CN" sz="2000" b="1" dirty="0"/>
                <a:t>   for (</a:t>
              </a:r>
              <a:r>
                <a:rPr lang="en-US" altLang="zh-CN" sz="2000" b="1" dirty="0" err="1"/>
                <a:t>i</a:t>
              </a:r>
              <a:r>
                <a:rPr lang="en-US" altLang="zh-CN" sz="2000" b="1" dirty="0"/>
                <a:t> = 1; </a:t>
              </a:r>
              <a:r>
                <a:rPr lang="en-US" altLang="zh-CN" sz="2000" b="1" dirty="0" err="1"/>
                <a:t>i</a:t>
              </a:r>
              <a:r>
                <a:rPr lang="en-US" altLang="zh-CN" sz="2000" b="1" dirty="0"/>
                <a:t> &lt;= 100; </a:t>
              </a:r>
              <a:r>
                <a:rPr lang="en-US" altLang="zh-CN" sz="2000" b="1" dirty="0" err="1"/>
                <a:t>i</a:t>
              </a:r>
              <a:r>
                <a:rPr lang="en-US" altLang="zh-CN" sz="2000" b="1" dirty="0"/>
                <a:t> ++)</a:t>
              </a:r>
            </a:p>
            <a:p>
              <a:pPr marL="457200" indent="-457200">
                <a:tabLst>
                  <a:tab pos="800100" algn="l"/>
                </a:tabLst>
              </a:pPr>
              <a:r>
                <a:rPr lang="en-US" altLang="zh-CN" sz="2000" b="1" dirty="0"/>
                <a:t>       tot += </a:t>
              </a:r>
              <a:r>
                <a:rPr lang="en-US" altLang="zh-CN" sz="2000" b="1" dirty="0" err="1"/>
                <a:t>i</a:t>
              </a:r>
              <a:r>
                <a:rPr lang="en-US" altLang="zh-CN" sz="2000" b="1" dirty="0"/>
                <a:t>; </a:t>
              </a:r>
            </a:p>
            <a:p>
              <a:pPr marL="457200" indent="-457200">
                <a:tabLst>
                  <a:tab pos="800100" algn="l"/>
                </a:tabLst>
              </a:pPr>
              <a:r>
                <a:rPr lang="en-US" altLang="zh-CN" sz="2000" b="1" dirty="0"/>
                <a:t>}</a:t>
              </a:r>
            </a:p>
          </p:txBody>
        </p:sp>
        <p:sp>
          <p:nvSpPr>
            <p:cNvPr id="1037338" name="AutoShape 26"/>
            <p:cNvSpPr>
              <a:spLocks noChangeArrowheads="1"/>
            </p:cNvSpPr>
            <p:nvPr/>
          </p:nvSpPr>
          <p:spPr bwMode="auto">
            <a:xfrm>
              <a:off x="-2835" y="2205"/>
              <a:ext cx="2585" cy="1497"/>
            </a:xfrm>
            <a:prstGeom prst="irregularSeal1">
              <a:avLst/>
            </a:prstGeom>
            <a:grpFill/>
            <a:ln w="28575">
              <a:solidFill>
                <a:srgbClr val="C01920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wrap="none" anchor="ctr"/>
            <a:lstStyle/>
            <a:p>
              <a:pPr algn="ctr"/>
              <a:r>
                <a:rPr lang="zh-CN" altLang="en-US" sz="18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因</a:t>
              </a:r>
              <a:r>
                <a:rPr lang="en-US" altLang="zh-CN" sz="18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sum</a:t>
              </a:r>
              <a:r>
                <a:rPr lang="zh-CN" altLang="en-US" sz="18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函数无</a:t>
              </a:r>
              <a:r>
                <a:rPr lang="en-US" altLang="zh-CN" sz="18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return</a:t>
              </a:r>
              <a:r>
                <a:rPr lang="zh-CN" altLang="en-US" sz="18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语句，</a:t>
              </a:r>
            </a:p>
            <a:p>
              <a:pPr algn="ctr"/>
              <a:r>
                <a:rPr lang="en-US" altLang="zh-CN" sz="18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x</a:t>
              </a:r>
              <a:r>
                <a:rPr lang="zh-CN" altLang="en-US" sz="18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的值将是无法预知的！</a:t>
              </a:r>
            </a:p>
          </p:txBody>
        </p:sp>
        <p:sp>
          <p:nvSpPr>
            <p:cNvPr id="1037340" name="AutoShape 28"/>
            <p:cNvSpPr>
              <a:spLocks/>
            </p:cNvSpPr>
            <p:nvPr/>
          </p:nvSpPr>
          <p:spPr bwMode="auto">
            <a:xfrm>
              <a:off x="-1837" y="4382"/>
              <a:ext cx="1224" cy="408"/>
            </a:xfrm>
            <a:prstGeom prst="borderCallout2">
              <a:avLst>
                <a:gd name="adj1" fmla="val 17648"/>
                <a:gd name="adj2" fmla="val -3921"/>
                <a:gd name="adj3" fmla="val 17648"/>
                <a:gd name="adj4" fmla="val -75329"/>
                <a:gd name="adj5" fmla="val 153921"/>
                <a:gd name="adj6" fmla="val -148694"/>
              </a:avLst>
            </a:prstGeom>
            <a:grpFill/>
            <a:ln w="19050">
              <a:solidFill>
                <a:srgbClr val="C01920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  <a:scene3d>
              <a:camera prst="orthographicFront"/>
              <a:lightRig rig="threePt" dir="t"/>
            </a:scene3d>
            <a:sp3d/>
          </p:spPr>
          <p:txBody>
            <a:bodyPr/>
            <a:lstStyle/>
            <a:p>
              <a:pPr algn="ctr"/>
              <a:r>
                <a:rPr lang="zh-CN" altLang="en-US" sz="18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应加上</a:t>
              </a:r>
            </a:p>
            <a:p>
              <a:pPr algn="ctr"/>
              <a:r>
                <a:rPr lang="en-US" altLang="zh-CN" sz="1800" b="1" dirty="0">
                  <a:solidFill>
                    <a:srgbClr val="C01920"/>
                  </a:solidFill>
                  <a:latin typeface="+mn-lt"/>
                  <a:ea typeface="楷体" pitchFamily="49" charset="-122"/>
                </a:rPr>
                <a:t>return tot</a:t>
              </a:r>
              <a:r>
                <a:rPr lang="en-US" altLang="zh-CN" sz="18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; </a:t>
              </a:r>
              <a:r>
                <a:rPr lang="zh-CN" altLang="en-US" sz="18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语句</a:t>
              </a:r>
              <a:endParaRPr lang="zh-CN" altLang="en-US" sz="1800" dirty="0">
                <a:solidFill>
                  <a:srgbClr val="002060"/>
                </a:solidFill>
                <a:latin typeface="+mn-lt"/>
                <a:ea typeface="楷体" pitchFamily="49" charset="-122"/>
              </a:endParaRPr>
            </a:p>
          </p:txBody>
        </p:sp>
      </p:grpSp>
      <p:sp>
        <p:nvSpPr>
          <p:cNvPr id="1037343" name="Rectangle 31" descr="信纸"/>
          <p:cNvSpPr>
            <a:spLocks noChangeArrowheads="1"/>
          </p:cNvSpPr>
          <p:nvPr/>
        </p:nvSpPr>
        <p:spPr bwMode="auto">
          <a:xfrm>
            <a:off x="3239260" y="4575175"/>
            <a:ext cx="5976937" cy="1958975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chemeClr val="accent1">
                <a:lumMod val="50000"/>
              </a:schemeClr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anchor="ctr">
            <a:spAutoFit/>
          </a:bodyPr>
          <a:lstStyle/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solidFill>
                  <a:srgbClr val="C01920"/>
                </a:solidFill>
              </a:rPr>
              <a:t>int </a:t>
            </a:r>
            <a:r>
              <a:rPr lang="en-US" altLang="zh-CN" sz="2000" b="1" dirty="0" err="1">
                <a:solidFill>
                  <a:srgbClr val="C01920"/>
                </a:solidFill>
              </a:rPr>
              <a:t>func</a:t>
            </a:r>
            <a:r>
              <a:rPr lang="en-US" altLang="zh-CN" sz="2000" b="1" dirty="0">
                <a:solidFill>
                  <a:srgbClr val="C01920"/>
                </a:solidFill>
              </a:rPr>
              <a:t> ( )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/>
              <a:t>{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/>
              <a:t>  float f = 5;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/>
              <a:t>  f = f / 2;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/>
              <a:t>  return ( f );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/>
              <a:t>}</a:t>
            </a:r>
          </a:p>
        </p:txBody>
      </p:sp>
      <p:sp>
        <p:nvSpPr>
          <p:cNvPr id="1037346" name="Rectangle 34"/>
          <p:cNvSpPr>
            <a:spLocks noChangeArrowheads="1"/>
          </p:cNvSpPr>
          <p:nvPr/>
        </p:nvSpPr>
        <p:spPr bwMode="auto">
          <a:xfrm>
            <a:off x="5976333" y="5557310"/>
            <a:ext cx="3025775" cy="400110"/>
          </a:xfrm>
          <a:prstGeom prst="rect">
            <a:avLst/>
          </a:prstGeom>
          <a:solidFill>
            <a:srgbClr val="FFFFFF"/>
          </a:soli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anchor="ctr">
            <a:spAutoFit/>
          </a:bodyPr>
          <a:lstStyle/>
          <a:p>
            <a:r>
              <a:rPr lang="zh-CN" altLang="en-US" sz="2000" b="1" dirty="0">
                <a:solidFill>
                  <a:srgbClr val="002060"/>
                </a:solidFill>
                <a:latin typeface="+mn-lt"/>
                <a:ea typeface="隶书" pitchFamily="49" charset="-122"/>
              </a:rPr>
              <a:t>函数将返回</a:t>
            </a:r>
            <a:r>
              <a:rPr lang="en-US" altLang="zh-CN" sz="2000" b="1" dirty="0">
                <a:solidFill>
                  <a:srgbClr val="C01920"/>
                </a:solidFill>
                <a:latin typeface="+mn-lt"/>
                <a:ea typeface="隶书" pitchFamily="49" charset="-122"/>
              </a:rPr>
              <a:t>2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隶书" pitchFamily="49" charset="-122"/>
              </a:rPr>
              <a:t>，而不是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隶书" pitchFamily="49" charset="-122"/>
              </a:rPr>
              <a:t>2.5 </a:t>
            </a:r>
          </a:p>
        </p:txBody>
      </p:sp>
      <p:sp>
        <p:nvSpPr>
          <p:cNvPr id="1037347" name="Rectangle 35"/>
          <p:cNvSpPr>
            <a:spLocks noChangeArrowheads="1"/>
          </p:cNvSpPr>
          <p:nvPr/>
        </p:nvSpPr>
        <p:spPr bwMode="auto">
          <a:xfrm>
            <a:off x="1558925" y="3492788"/>
            <a:ext cx="9361040" cy="984250"/>
          </a:xfrm>
          <a:prstGeom prst="rect">
            <a:avLst/>
          </a:prstGeom>
          <a:gradFill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  <a:ea typeface="隶书" pitchFamily="49" charset="-122"/>
              </a:rPr>
              <a:t>注意：</a:t>
            </a:r>
            <a:r>
              <a:rPr lang="zh-CN" altLang="en-US" sz="2800" dirty="0">
                <a:solidFill>
                  <a:srgbClr val="002060"/>
                </a:solidFill>
                <a:ea typeface="隶书" pitchFamily="49" charset="-122"/>
              </a:rPr>
              <a:t>如果不将函数调用赋值给任何变量，它的返回值将被丢弃</a:t>
            </a:r>
            <a:r>
              <a:rPr lang="en-US" altLang="zh-CN" sz="2800" dirty="0">
                <a:solidFill>
                  <a:srgbClr val="002060"/>
                </a:solidFill>
                <a:ea typeface="隶书" pitchFamily="49" charset="-122"/>
              </a:rPr>
              <a:t>! </a:t>
            </a:r>
          </a:p>
        </p:txBody>
      </p:sp>
      <p:sp>
        <p:nvSpPr>
          <p:cNvPr id="21" name="Rectangle 4">
            <a:extLst>
              <a:ext uri="{FF2B5EF4-FFF2-40B4-BE49-F238E27FC236}">
                <a16:creationId xmlns:a16="http://schemas.microsoft.com/office/drawing/2014/main" id="{E14C6EBE-769F-4624-B443-EBD13F0A7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8.2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函数的定义和调用 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10373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10373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10373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3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373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373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3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373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373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5" dur="500"/>
                                        <p:tgtEl>
                                          <p:spTgt spid="10373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37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3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373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0373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3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373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0373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10373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500"/>
                                        <p:tgtEl>
                                          <p:spTgt spid="10373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2" dur="500"/>
                                        <p:tgtEl>
                                          <p:spTgt spid="10373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7334" grpId="0"/>
      <p:bldP spid="1037335" grpId="0" animBg="1"/>
      <p:bldP spid="1037336" grpId="0"/>
      <p:bldP spid="19" grpId="0"/>
      <p:bldP spid="20" grpId="0"/>
      <p:bldP spid="1037343" grpId="0" animBg="1"/>
      <p:bldP spid="1037346" grpId="0" animBg="1"/>
      <p:bldP spid="103734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367" name="Text Box 7"/>
          <p:cNvSpPr txBox="1">
            <a:spLocks noChangeArrowheads="1"/>
          </p:cNvSpPr>
          <p:nvPr/>
        </p:nvSpPr>
        <p:spPr bwMode="auto">
          <a:xfrm>
            <a:off x="1327038" y="1994349"/>
            <a:ext cx="10097030" cy="1630668"/>
          </a:xfrm>
          <a:prstGeom prst="rect">
            <a:avLst/>
          </a:prstGeom>
          <a:gradFill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>
            <a:defPPr>
              <a:defRPr lang="zh-CN"/>
            </a:defPPr>
            <a:lvl1pPr>
              <a:defRPr b="1">
                <a:latin typeface="+mn-lt"/>
                <a:ea typeface="楷体" pitchFamily="49" charset="-122"/>
              </a:defRPr>
            </a:lvl1pPr>
          </a:lstStyle>
          <a:p>
            <a:r>
              <a:rPr lang="en-US" altLang="zh-CN" sz="2000" dirty="0"/>
              <a:t>void  </a:t>
            </a:r>
            <a:r>
              <a:rPr lang="zh-CN" altLang="en-US" sz="2000" dirty="0"/>
              <a:t>函数名 </a:t>
            </a:r>
            <a:r>
              <a:rPr lang="en-US" altLang="zh-CN" sz="2000" dirty="0"/>
              <a:t>(</a:t>
            </a:r>
            <a:r>
              <a:rPr lang="zh-CN" altLang="en-US" sz="2000" dirty="0"/>
              <a:t>类型符</a:t>
            </a:r>
            <a:r>
              <a:rPr lang="en-US" altLang="zh-CN" sz="2000" dirty="0"/>
              <a:t>1  </a:t>
            </a:r>
            <a:r>
              <a:rPr lang="zh-CN" altLang="en-US" sz="2000" dirty="0"/>
              <a:t>形参名</a:t>
            </a:r>
            <a:r>
              <a:rPr lang="en-US" altLang="zh-CN" sz="2000" dirty="0"/>
              <a:t>1, </a:t>
            </a:r>
            <a:r>
              <a:rPr lang="zh-CN" altLang="en-US" sz="2000" dirty="0"/>
              <a:t>类型符</a:t>
            </a:r>
            <a:r>
              <a:rPr lang="en-US" altLang="zh-CN" sz="2000" dirty="0"/>
              <a:t>2  </a:t>
            </a:r>
            <a:r>
              <a:rPr lang="zh-CN" altLang="en-US" sz="2000" dirty="0"/>
              <a:t>形参名</a:t>
            </a:r>
            <a:r>
              <a:rPr lang="en-US" altLang="zh-CN" sz="2000" dirty="0"/>
              <a:t>2, … , </a:t>
            </a:r>
            <a:r>
              <a:rPr lang="zh-CN" altLang="en-US" sz="2000" dirty="0"/>
              <a:t>类型符</a:t>
            </a:r>
            <a:r>
              <a:rPr lang="en-US" altLang="zh-CN" sz="2000" dirty="0"/>
              <a:t>n  </a:t>
            </a:r>
            <a:r>
              <a:rPr lang="zh-CN" altLang="en-US" sz="2000" dirty="0"/>
              <a:t>形参名</a:t>
            </a:r>
            <a:r>
              <a:rPr lang="en-US" altLang="zh-CN" sz="2000" dirty="0"/>
              <a:t>n )</a:t>
            </a:r>
          </a:p>
          <a:p>
            <a:r>
              <a:rPr lang="en-US" altLang="zh-CN" sz="2000" dirty="0"/>
              <a:t>{</a:t>
            </a:r>
          </a:p>
          <a:p>
            <a:r>
              <a:rPr lang="en-US" altLang="zh-CN" sz="2000" dirty="0"/>
              <a:t>    </a:t>
            </a:r>
            <a:r>
              <a:rPr lang="zh-CN" altLang="en-US" sz="2000" dirty="0"/>
              <a:t>变量声明部分</a:t>
            </a:r>
          </a:p>
          <a:p>
            <a:r>
              <a:rPr lang="zh-CN" altLang="en-US" sz="2000" dirty="0"/>
              <a:t>    执行部分</a:t>
            </a:r>
          </a:p>
          <a:p>
            <a:r>
              <a:rPr lang="en-US" altLang="zh-CN" sz="2000" dirty="0"/>
              <a:t>}</a:t>
            </a:r>
          </a:p>
        </p:txBody>
      </p:sp>
      <p:grpSp>
        <p:nvGrpSpPr>
          <p:cNvPr id="1039368" name="Group 8"/>
          <p:cNvGrpSpPr>
            <a:grpSpLocks/>
          </p:cNvGrpSpPr>
          <p:nvPr/>
        </p:nvGrpSpPr>
        <p:grpSpPr bwMode="auto">
          <a:xfrm>
            <a:off x="3271725" y="2769464"/>
            <a:ext cx="1152525" cy="569913"/>
            <a:chOff x="3195" y="1661"/>
            <a:chExt cx="726" cy="359"/>
          </a:xfrm>
        </p:grpSpPr>
        <p:sp>
          <p:nvSpPr>
            <p:cNvPr id="1039369" name="AutoShape 9"/>
            <p:cNvSpPr>
              <a:spLocks/>
            </p:cNvSpPr>
            <p:nvPr/>
          </p:nvSpPr>
          <p:spPr bwMode="auto">
            <a:xfrm>
              <a:off x="3195" y="1661"/>
              <a:ext cx="99" cy="359"/>
            </a:xfrm>
            <a:prstGeom prst="rightBrace">
              <a:avLst>
                <a:gd name="adj1" fmla="val 30219"/>
                <a:gd name="adj2" fmla="val 50000"/>
              </a:avLst>
            </a:prstGeom>
            <a:noFill/>
            <a:ln w="25400">
              <a:solidFill>
                <a:srgbClr val="C01920"/>
              </a:solidFill>
              <a:round/>
              <a:headEnd/>
              <a:tailEnd/>
            </a:ln>
            <a:effectLst>
              <a:outerShdw dist="35921" dir="2700000" algn="ctr" rotWithShape="0">
                <a:srgbClr val="808080"/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9370" name="Text Box 10"/>
            <p:cNvSpPr txBox="1">
              <a:spLocks noChangeArrowheads="1"/>
            </p:cNvSpPr>
            <p:nvPr/>
          </p:nvSpPr>
          <p:spPr bwMode="auto">
            <a:xfrm>
              <a:off x="3286" y="1661"/>
              <a:ext cx="635" cy="2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zh-CN" altLang="en-US" sz="2000" b="1" dirty="0">
                  <a:solidFill>
                    <a:srgbClr val="C01920"/>
                  </a:solidFill>
                  <a:latin typeface="楷体" pitchFamily="49" charset="-122"/>
                  <a:ea typeface="楷体" pitchFamily="49" charset="-122"/>
                </a:rPr>
                <a:t>函数体</a:t>
              </a:r>
            </a:p>
          </p:txBody>
        </p:sp>
      </p:grpSp>
      <p:sp>
        <p:nvSpPr>
          <p:cNvPr id="1039374" name="Rectangle 14"/>
          <p:cNvSpPr>
            <a:spLocks noChangeArrowheads="1"/>
          </p:cNvSpPr>
          <p:nvPr/>
        </p:nvSpPr>
        <p:spPr bwMode="auto">
          <a:xfrm>
            <a:off x="1109624" y="3717032"/>
            <a:ext cx="2492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altLang="zh-CN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函数用途 </a:t>
            </a:r>
          </a:p>
        </p:txBody>
      </p:sp>
      <p:sp>
        <p:nvSpPr>
          <p:cNvPr id="1039375" name="Rectangle 15"/>
          <p:cNvSpPr>
            <a:spLocks noChangeArrowheads="1"/>
          </p:cNvSpPr>
          <p:nvPr/>
        </p:nvSpPr>
        <p:spPr bwMode="auto">
          <a:xfrm>
            <a:off x="869245" y="4343792"/>
            <a:ext cx="10710456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   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此类型的函数主要是</a:t>
            </a:r>
            <a:r>
              <a:rPr lang="zh-CN" altLang="en-US" sz="20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根据形参的值来进行某种事务的处理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。灵活性上要比无形参的函数强，它更能体现调用函数与被调函数之间的数据联系。</a:t>
            </a:r>
            <a:r>
              <a:rPr lang="zh-CN" altLang="en-US" sz="2000" dirty="0"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039376" name="Rectangle 16"/>
          <p:cNvSpPr>
            <a:spLocks noChangeArrowheads="1"/>
          </p:cNvSpPr>
          <p:nvPr/>
        </p:nvSpPr>
        <p:spPr bwMode="auto">
          <a:xfrm>
            <a:off x="1096924" y="5085184"/>
            <a:ext cx="31543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altLang="zh-CN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函数的原型声明 </a:t>
            </a:r>
          </a:p>
        </p:txBody>
      </p:sp>
      <p:sp>
        <p:nvSpPr>
          <p:cNvPr id="1039377" name="Text Box 17"/>
          <p:cNvSpPr txBox="1">
            <a:spLocks noChangeArrowheads="1"/>
          </p:cNvSpPr>
          <p:nvPr/>
        </p:nvSpPr>
        <p:spPr bwMode="auto">
          <a:xfrm>
            <a:off x="1192733" y="5597947"/>
            <a:ext cx="10232505" cy="1096963"/>
          </a:xfrm>
          <a:prstGeom prst="rect">
            <a:avLst/>
          </a:prstGeom>
          <a:gradFill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>
            <a:defPPr>
              <a:defRPr lang="zh-CN"/>
            </a:defPPr>
            <a:lvl1pPr algn="ctr">
              <a:defRPr b="1">
                <a:latin typeface="+mn-lt"/>
                <a:ea typeface="楷体" pitchFamily="49" charset="-122"/>
              </a:defRPr>
            </a:lvl1pPr>
          </a:lstStyle>
          <a:p>
            <a:pPr algn="l"/>
            <a:r>
              <a:rPr lang="en-US" altLang="zh-CN" sz="2000" dirty="0"/>
              <a:t>void  </a:t>
            </a:r>
            <a:r>
              <a:rPr lang="zh-CN" altLang="en-US" sz="2000" dirty="0"/>
              <a:t>函数名</a:t>
            </a:r>
            <a:r>
              <a:rPr lang="en-US" altLang="zh-CN" sz="2000" dirty="0"/>
              <a:t>(</a:t>
            </a:r>
            <a:r>
              <a:rPr lang="zh-CN" altLang="en-US" sz="2000" dirty="0"/>
              <a:t>类型符</a:t>
            </a:r>
            <a:r>
              <a:rPr lang="en-US" altLang="zh-CN" sz="2000" dirty="0"/>
              <a:t>1  </a:t>
            </a:r>
            <a:r>
              <a:rPr lang="zh-CN" altLang="en-US" sz="2000" dirty="0"/>
              <a:t>形参名</a:t>
            </a:r>
            <a:r>
              <a:rPr lang="en-US" altLang="zh-CN" sz="2000" dirty="0"/>
              <a:t>1, </a:t>
            </a:r>
            <a:r>
              <a:rPr lang="zh-CN" altLang="en-US" sz="2000" dirty="0"/>
              <a:t>类型符</a:t>
            </a:r>
            <a:r>
              <a:rPr lang="en-US" altLang="zh-CN" sz="2000" dirty="0"/>
              <a:t>2  </a:t>
            </a:r>
            <a:r>
              <a:rPr lang="zh-CN" altLang="en-US" sz="2000" dirty="0"/>
              <a:t>形参名</a:t>
            </a:r>
            <a:r>
              <a:rPr lang="en-US" altLang="zh-CN" sz="2000" dirty="0"/>
              <a:t>2, … , </a:t>
            </a:r>
            <a:r>
              <a:rPr lang="zh-CN" altLang="en-US" sz="2000" dirty="0"/>
              <a:t>类型符</a:t>
            </a:r>
            <a:r>
              <a:rPr lang="en-US" altLang="zh-CN" sz="2000" dirty="0"/>
              <a:t>n  </a:t>
            </a:r>
            <a:r>
              <a:rPr lang="zh-CN" altLang="en-US" sz="2000" dirty="0"/>
              <a:t>形参名</a:t>
            </a:r>
            <a:r>
              <a:rPr lang="en-US" altLang="zh-CN" sz="2000" dirty="0"/>
              <a:t>n )</a:t>
            </a:r>
            <a:r>
              <a:rPr lang="zh-CN" altLang="en-US" sz="2000" dirty="0"/>
              <a:t>；</a:t>
            </a:r>
          </a:p>
          <a:p>
            <a:pPr algn="l"/>
            <a:r>
              <a:rPr lang="zh-CN" altLang="en-US" sz="2000" dirty="0"/>
              <a:t>           </a:t>
            </a:r>
            <a:r>
              <a:rPr lang="zh-CN" altLang="en-US" sz="2000" dirty="0">
                <a:solidFill>
                  <a:srgbClr val="C01920"/>
                </a:solidFill>
              </a:rPr>
              <a:t> 或  </a:t>
            </a:r>
          </a:p>
          <a:p>
            <a:pPr algn="l"/>
            <a:r>
              <a:rPr lang="en-US" altLang="zh-CN" sz="2000" dirty="0"/>
              <a:t>void  </a:t>
            </a:r>
            <a:r>
              <a:rPr lang="zh-CN" altLang="en-US" sz="2000" dirty="0"/>
              <a:t>函数名</a:t>
            </a:r>
            <a:r>
              <a:rPr lang="en-US" altLang="zh-CN" sz="2000" dirty="0"/>
              <a:t>(</a:t>
            </a:r>
            <a:r>
              <a:rPr lang="zh-CN" altLang="en-US" sz="2000" dirty="0"/>
              <a:t>类型符</a:t>
            </a:r>
            <a:r>
              <a:rPr lang="en-US" altLang="zh-CN" sz="2000" dirty="0"/>
              <a:t>1 , </a:t>
            </a:r>
            <a:r>
              <a:rPr lang="zh-CN" altLang="en-US" sz="2000" dirty="0"/>
              <a:t>类型符</a:t>
            </a:r>
            <a:r>
              <a:rPr lang="en-US" altLang="zh-CN" sz="2000" dirty="0"/>
              <a:t>2 , … , </a:t>
            </a:r>
            <a:r>
              <a:rPr lang="zh-CN" altLang="en-US" sz="2000" dirty="0"/>
              <a:t>类型符</a:t>
            </a:r>
            <a:r>
              <a:rPr lang="en-US" altLang="zh-CN" sz="2000" dirty="0"/>
              <a:t>n )</a:t>
            </a:r>
            <a:r>
              <a:rPr lang="zh-CN" altLang="en-US" sz="2000" dirty="0"/>
              <a:t>；</a:t>
            </a:r>
          </a:p>
        </p:txBody>
      </p:sp>
      <p:grpSp>
        <p:nvGrpSpPr>
          <p:cNvPr id="1039380" name="Group 20"/>
          <p:cNvGrpSpPr>
            <a:grpSpLocks/>
          </p:cNvGrpSpPr>
          <p:nvPr/>
        </p:nvGrpSpPr>
        <p:grpSpPr bwMode="auto">
          <a:xfrm>
            <a:off x="3127261" y="2342012"/>
            <a:ext cx="6192838" cy="684212"/>
            <a:chOff x="1474" y="981"/>
            <a:chExt cx="3901" cy="431"/>
          </a:xfrm>
        </p:grpSpPr>
        <p:sp>
          <p:nvSpPr>
            <p:cNvPr id="1039378" name="AutoShape 18"/>
            <p:cNvSpPr>
              <a:spLocks/>
            </p:cNvSpPr>
            <p:nvPr/>
          </p:nvSpPr>
          <p:spPr bwMode="auto">
            <a:xfrm rot="-5400000">
              <a:off x="3334" y="-879"/>
              <a:ext cx="182" cy="3901"/>
            </a:xfrm>
            <a:prstGeom prst="leftBrace">
              <a:avLst>
                <a:gd name="adj1" fmla="val 178617"/>
                <a:gd name="adj2" fmla="val 50000"/>
              </a:avLst>
            </a:prstGeom>
            <a:noFill/>
            <a:ln w="22225">
              <a:solidFill>
                <a:srgbClr val="C01920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039379" name="Text Box 19"/>
            <p:cNvSpPr txBox="1">
              <a:spLocks noChangeArrowheads="1"/>
            </p:cNvSpPr>
            <p:nvPr/>
          </p:nvSpPr>
          <p:spPr bwMode="auto">
            <a:xfrm>
              <a:off x="3088" y="1162"/>
              <a:ext cx="81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solidFill>
                    <a:srgbClr val="C01920"/>
                  </a:solidFill>
                  <a:latin typeface="楷体" pitchFamily="49" charset="-122"/>
                  <a:ea typeface="楷体" pitchFamily="49" charset="-122"/>
                </a:rPr>
                <a:t>形参列表</a:t>
              </a:r>
            </a:p>
          </p:txBody>
        </p:sp>
      </p:grpSp>
      <p:sp>
        <p:nvSpPr>
          <p:cNvPr id="1039381" name="AutoShape 21"/>
          <p:cNvSpPr>
            <a:spLocks noChangeArrowheads="1"/>
          </p:cNvSpPr>
          <p:nvPr/>
        </p:nvSpPr>
        <p:spPr bwMode="auto">
          <a:xfrm>
            <a:off x="6080012" y="973587"/>
            <a:ext cx="3167063" cy="792162"/>
          </a:xfrm>
          <a:prstGeom prst="wedgeRoundRectCallout">
            <a:avLst>
              <a:gd name="adj1" fmla="val -86593"/>
              <a:gd name="adj2" fmla="val 93486"/>
              <a:gd name="adj3" fmla="val 16667"/>
            </a:avLst>
          </a:prstGeom>
          <a:gradFill rotWithShape="1">
            <a:gsLst>
              <a:gs pos="0">
                <a:srgbClr val="CFCFD1"/>
              </a:gs>
              <a:gs pos="100000">
                <a:srgbClr val="FFFFFF"/>
              </a:gs>
            </a:gsLst>
            <a:lin ang="5400000" scaled="1"/>
          </a:gradFill>
          <a:ln w="22225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pPr algn="just"/>
            <a:r>
              <a:rPr lang="zh-CN" altLang="en-US" sz="2000" b="1">
                <a:solidFill>
                  <a:srgbClr val="C00000"/>
                </a:solidFill>
                <a:ea typeface="隶书" pitchFamily="49" charset="-122"/>
              </a:rPr>
              <a:t>至少要有一项，形参之间要用逗号“，”分开 </a:t>
            </a:r>
          </a:p>
        </p:txBody>
      </p:sp>
      <p:sp>
        <p:nvSpPr>
          <p:cNvPr id="1039382" name="AutoShape 22"/>
          <p:cNvSpPr>
            <a:spLocks noChangeArrowheads="1"/>
          </p:cNvSpPr>
          <p:nvPr/>
        </p:nvSpPr>
        <p:spPr bwMode="auto">
          <a:xfrm>
            <a:off x="7664336" y="3071089"/>
            <a:ext cx="1873250" cy="504825"/>
          </a:xfrm>
          <a:prstGeom prst="wedgeRoundRectCallout">
            <a:avLst>
              <a:gd name="adj1" fmla="val -44491"/>
              <a:gd name="adj2" fmla="val -195282"/>
              <a:gd name="adj3" fmla="val 16667"/>
            </a:avLst>
          </a:prstGeom>
          <a:gradFill rotWithShape="1">
            <a:gsLst>
              <a:gs pos="0">
                <a:srgbClr val="CFCFD1"/>
              </a:gs>
              <a:gs pos="100000">
                <a:srgbClr val="FFFFFF"/>
              </a:gs>
            </a:gsLst>
            <a:lin ang="5400000" scaled="1"/>
          </a:gradFill>
          <a:ln w="22225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pPr algn="just"/>
            <a:r>
              <a:rPr lang="zh-CN" altLang="en-US" sz="2000" b="1">
                <a:solidFill>
                  <a:srgbClr val="C00000"/>
                </a:solidFill>
                <a:ea typeface="隶书" pitchFamily="49" charset="-122"/>
              </a:rPr>
              <a:t>指明形参类型 </a:t>
            </a:r>
          </a:p>
        </p:txBody>
      </p:sp>
      <p:sp>
        <p:nvSpPr>
          <p:cNvPr id="1039383" name="AutoShape 23"/>
          <p:cNvSpPr>
            <a:spLocks noChangeArrowheads="1"/>
          </p:cNvSpPr>
          <p:nvPr/>
        </p:nvSpPr>
        <p:spPr bwMode="auto">
          <a:xfrm>
            <a:off x="4089788" y="2924944"/>
            <a:ext cx="3300413" cy="1512888"/>
          </a:xfrm>
          <a:prstGeom prst="irregularSeal1">
            <a:avLst/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28575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 wrap="none" anchor="ctr"/>
          <a:lstStyle/>
          <a:p>
            <a:pPr algn="ctr"/>
            <a:r>
              <a:rPr lang="zh-CN" altLang="en-US" sz="2000" b="1" dirty="0">
                <a:solidFill>
                  <a:srgbClr val="002060"/>
                </a:solidFill>
                <a:latin typeface="隶书" pitchFamily="49" charset="-122"/>
                <a:ea typeface="隶书" pitchFamily="49" charset="-122"/>
              </a:rPr>
              <a:t>不允许对</a:t>
            </a:r>
          </a:p>
          <a:p>
            <a:pPr algn="ctr"/>
            <a:r>
              <a:rPr lang="zh-CN" altLang="en-US" sz="2000" b="1" dirty="0">
                <a:solidFill>
                  <a:srgbClr val="002060"/>
                </a:solidFill>
                <a:latin typeface="隶书" pitchFamily="49" charset="-122"/>
                <a:ea typeface="隶书" pitchFamily="49" charset="-122"/>
              </a:rPr>
              <a:t>形参赋初值 </a:t>
            </a: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A65D157C-A2FF-462E-B9F6-4672E52EE7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85" y="837555"/>
            <a:ext cx="4589169" cy="52322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2800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800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、有参数无返回值的函数</a:t>
            </a:r>
          </a:p>
        </p:txBody>
      </p:sp>
      <p:sp>
        <p:nvSpPr>
          <p:cNvPr id="23" name="Rectangle 7">
            <a:extLst>
              <a:ext uri="{FF2B5EF4-FFF2-40B4-BE49-F238E27FC236}">
                <a16:creationId xmlns:a16="http://schemas.microsoft.com/office/drawing/2014/main" id="{EC188D4D-C204-443D-A8A3-F6143DC14D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9456" y="1412776"/>
            <a:ext cx="382962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zh-CN" altLang="en-US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定义格式</a:t>
            </a:r>
          </a:p>
        </p:txBody>
      </p:sp>
      <p:sp>
        <p:nvSpPr>
          <p:cNvPr id="24" name="Rectangle 4">
            <a:extLst>
              <a:ext uri="{FF2B5EF4-FFF2-40B4-BE49-F238E27FC236}">
                <a16:creationId xmlns:a16="http://schemas.microsoft.com/office/drawing/2014/main" id="{7686CEA1-A24E-4A76-815D-9E5C89680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8.2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函数的定义和调用 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103936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10393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0393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3" dur="500"/>
                                        <p:tgtEl>
                                          <p:spTgt spid="103938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8" dur="500"/>
                                        <p:tgtEl>
                                          <p:spTgt spid="10393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3" dur="500"/>
                                        <p:tgtEl>
                                          <p:spTgt spid="10393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8" dur="500"/>
                                        <p:tgtEl>
                                          <p:spTgt spid="10393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500"/>
                                        <p:tgtEl>
                                          <p:spTgt spid="10393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8" dur="500"/>
                                        <p:tgtEl>
                                          <p:spTgt spid="10393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3" dur="500"/>
                                        <p:tgtEl>
                                          <p:spTgt spid="10393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9367" grpId="0" animBg="1"/>
      <p:bldP spid="1039374" grpId="0"/>
      <p:bldP spid="1039375" grpId="0"/>
      <p:bldP spid="1039376" grpId="0"/>
      <p:bldP spid="1039377" grpId="0" animBg="1"/>
      <p:bldP spid="1039381" grpId="0" animBg="1"/>
      <p:bldP spid="1039382" grpId="0" animBg="1"/>
      <p:bldP spid="1039383" grpId="0" animBg="1"/>
      <p:bldP spid="22" grpId="0"/>
      <p:bldP spid="2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422" name="Text Box 14"/>
          <p:cNvSpPr txBox="1">
            <a:spLocks noChangeArrowheads="1"/>
          </p:cNvSpPr>
          <p:nvPr/>
        </p:nvSpPr>
        <p:spPr bwMode="auto">
          <a:xfrm>
            <a:off x="1545016" y="1967607"/>
            <a:ext cx="9809002" cy="503237"/>
          </a:xfrm>
          <a:prstGeom prst="rect">
            <a:avLst/>
          </a:prstGeom>
          <a:gradFill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ctr"/>
            <a:r>
              <a:rPr lang="zh-CN" altLang="en-US" b="1" dirty="0">
                <a:latin typeface="+mn-lt"/>
                <a:ea typeface="楷体" pitchFamily="49" charset="-122"/>
              </a:rPr>
              <a:t>函数名</a:t>
            </a:r>
            <a:r>
              <a:rPr lang="en-US" altLang="zh-CN" b="1" dirty="0">
                <a:latin typeface="+mn-lt"/>
                <a:ea typeface="楷体" pitchFamily="49" charset="-122"/>
              </a:rPr>
              <a:t>( </a:t>
            </a:r>
            <a:r>
              <a:rPr lang="zh-CN" altLang="en-US" b="1" dirty="0">
                <a:latin typeface="+mn-lt"/>
                <a:ea typeface="楷体" pitchFamily="49" charset="-122"/>
              </a:rPr>
              <a:t>实参</a:t>
            </a:r>
            <a:r>
              <a:rPr lang="en-US" altLang="zh-CN" b="1" dirty="0">
                <a:latin typeface="+mn-lt"/>
                <a:ea typeface="楷体" pitchFamily="49" charset="-122"/>
              </a:rPr>
              <a:t>1</a:t>
            </a:r>
            <a:r>
              <a:rPr lang="zh-CN" altLang="en-US" b="1" dirty="0">
                <a:latin typeface="+mn-lt"/>
                <a:ea typeface="楷体" pitchFamily="49" charset="-122"/>
              </a:rPr>
              <a:t>，实参</a:t>
            </a:r>
            <a:r>
              <a:rPr lang="en-US" altLang="zh-CN" b="1" dirty="0">
                <a:latin typeface="+mn-lt"/>
                <a:ea typeface="楷体" pitchFamily="49" charset="-122"/>
              </a:rPr>
              <a:t>2</a:t>
            </a:r>
            <a:r>
              <a:rPr lang="zh-CN" altLang="en-US" b="1" dirty="0">
                <a:latin typeface="+mn-lt"/>
                <a:ea typeface="楷体" pitchFamily="49" charset="-122"/>
              </a:rPr>
              <a:t>，</a:t>
            </a:r>
            <a:r>
              <a:rPr lang="en-US" altLang="zh-CN" b="1" dirty="0">
                <a:latin typeface="+mn-lt"/>
                <a:ea typeface="楷体" pitchFamily="49" charset="-122"/>
              </a:rPr>
              <a:t>……</a:t>
            </a:r>
            <a:r>
              <a:rPr lang="zh-CN" altLang="en-US" b="1" dirty="0">
                <a:latin typeface="+mn-lt"/>
                <a:ea typeface="楷体" pitchFamily="49" charset="-122"/>
              </a:rPr>
              <a:t>，实参</a:t>
            </a:r>
            <a:r>
              <a:rPr lang="en-US" altLang="zh-CN" b="1" dirty="0">
                <a:latin typeface="+mn-lt"/>
                <a:ea typeface="楷体" pitchFamily="49" charset="-122"/>
              </a:rPr>
              <a:t>n )</a:t>
            </a:r>
            <a:r>
              <a:rPr lang="zh-CN" altLang="en-US" b="1" dirty="0">
                <a:latin typeface="+mn-lt"/>
                <a:ea typeface="楷体" pitchFamily="49" charset="-122"/>
              </a:rPr>
              <a:t>；</a:t>
            </a:r>
            <a:r>
              <a:rPr lang="zh-CN" altLang="en-US" dirty="0"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041429" name="AutoShape 21"/>
          <p:cNvSpPr>
            <a:spLocks noChangeArrowheads="1"/>
          </p:cNvSpPr>
          <p:nvPr/>
        </p:nvSpPr>
        <p:spPr bwMode="auto">
          <a:xfrm>
            <a:off x="6386309" y="1016694"/>
            <a:ext cx="3311525" cy="792163"/>
          </a:xfrm>
          <a:prstGeom prst="wedgeRoundRectCallout">
            <a:avLst>
              <a:gd name="adj1" fmla="val -86097"/>
              <a:gd name="adj2" fmla="val 79861"/>
              <a:gd name="adj3" fmla="val 16667"/>
            </a:avLst>
          </a:prstGeom>
          <a:gradFill rotWithShape="1">
            <a:gsLst>
              <a:gs pos="0">
                <a:srgbClr val="CFCFD1"/>
              </a:gs>
              <a:gs pos="100000">
                <a:srgbClr val="FFFFFF"/>
              </a:gs>
            </a:gsLst>
            <a:lin ang="5400000" scaled="1"/>
          </a:gradFill>
          <a:ln w="22225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pPr algn="just"/>
            <a:r>
              <a:rPr lang="zh-CN" altLang="en-US" sz="2000" b="1">
                <a:solidFill>
                  <a:srgbClr val="C00000"/>
                </a:solidFill>
                <a:ea typeface="隶书" pitchFamily="49" charset="-122"/>
              </a:rPr>
              <a:t>实参可以是常量、变量、表达式、函数等 </a:t>
            </a:r>
          </a:p>
        </p:txBody>
      </p:sp>
      <p:sp>
        <p:nvSpPr>
          <p:cNvPr id="1041430" name="Rectangle 22"/>
          <p:cNvSpPr>
            <a:spLocks noChangeArrowheads="1"/>
          </p:cNvSpPr>
          <p:nvPr/>
        </p:nvSpPr>
        <p:spPr bwMode="auto">
          <a:xfrm>
            <a:off x="907640" y="2629594"/>
            <a:ext cx="10517598" cy="4154984"/>
          </a:xfrm>
          <a:prstGeom prst="rect">
            <a:avLst/>
          </a:prstGeom>
          <a:gradFill flip="none" rotWithShape="1">
            <a:gsLst>
              <a:gs pos="0">
                <a:schemeClr val="bg1">
                  <a:shade val="30000"/>
                  <a:satMod val="115000"/>
                </a:schemeClr>
              </a:gs>
              <a:gs pos="50000">
                <a:schemeClr val="bg1">
                  <a:shade val="67500"/>
                  <a:satMod val="115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3500000" scaled="1"/>
            <a:tileRect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pPr>
              <a:tabLst>
                <a:tab pos="457200" algn="l"/>
              </a:tabLst>
            </a:pPr>
            <a:r>
              <a:rPr lang="zh-CN" altLang="en-US" b="1" u="sng" dirty="0">
                <a:ln w="1905"/>
                <a:solidFill>
                  <a:srgbClr val="C00000"/>
                </a:solidFill>
                <a:latin typeface="隶书" pitchFamily="49" charset="-122"/>
                <a:ea typeface="隶书" pitchFamily="49" charset="-122"/>
              </a:rPr>
              <a:t>注意事项：</a:t>
            </a:r>
            <a:endParaRPr lang="zh-CN" altLang="en-US" b="1" dirty="0">
              <a:ln w="1905"/>
              <a:solidFill>
                <a:srgbClr val="C00000"/>
              </a:solidFill>
              <a:latin typeface="隶书" pitchFamily="49" charset="-122"/>
              <a:ea typeface="隶书" pitchFamily="49" charset="-122"/>
            </a:endParaRPr>
          </a:p>
          <a:p>
            <a:pPr>
              <a:tabLst>
                <a:tab pos="457200" algn="l"/>
              </a:tabLst>
            </a:pPr>
            <a:r>
              <a:rPr lang="zh-CN" altLang="en-US" b="1" dirty="0">
                <a:ln w="1905"/>
                <a:latin typeface="+mn-lt"/>
                <a:ea typeface="楷体" pitchFamily="49" charset="-122"/>
              </a:rPr>
              <a:t>        </a:t>
            </a:r>
            <a:r>
              <a:rPr lang="en-US" altLang="zh-CN" b="1" dirty="0">
                <a:ln w="1905"/>
                <a:latin typeface="+mn-lt"/>
                <a:ea typeface="楷体" pitchFamily="49" charset="-122"/>
              </a:rPr>
              <a:t>(1) </a:t>
            </a:r>
            <a:r>
              <a:rPr lang="zh-CN" altLang="en-US" b="1" dirty="0">
                <a:ln w="1905"/>
                <a:latin typeface="+mn-lt"/>
                <a:ea typeface="楷体" pitchFamily="49" charset="-122"/>
              </a:rPr>
              <a:t>实参列表中的实参必须与函数定义时的形参</a:t>
            </a:r>
            <a:r>
              <a:rPr lang="zh-CN" altLang="en-US" b="1" dirty="0">
                <a:ln w="1905"/>
                <a:solidFill>
                  <a:srgbClr val="C01920"/>
                </a:solidFill>
                <a:latin typeface="+mn-lt"/>
                <a:ea typeface="楷体" pitchFamily="49" charset="-122"/>
              </a:rPr>
              <a:t>数量相同、类型相符</a:t>
            </a:r>
            <a:r>
              <a:rPr lang="zh-CN" altLang="en-US" b="1" dirty="0">
                <a:ln w="1905"/>
                <a:latin typeface="+mn-lt"/>
                <a:ea typeface="楷体" pitchFamily="49" charset="-122"/>
              </a:rPr>
              <a:t>。</a:t>
            </a:r>
          </a:p>
          <a:p>
            <a:pPr>
              <a:tabLst>
                <a:tab pos="457200" algn="l"/>
              </a:tabLst>
            </a:pPr>
            <a:r>
              <a:rPr lang="zh-CN" altLang="en-US" b="1" dirty="0">
                <a:ln w="1905"/>
                <a:latin typeface="+mn-lt"/>
                <a:ea typeface="楷体" pitchFamily="49" charset="-122"/>
              </a:rPr>
              <a:t>        </a:t>
            </a:r>
            <a:r>
              <a:rPr lang="en-US" altLang="zh-CN" b="1" dirty="0">
                <a:ln w="1905"/>
                <a:latin typeface="+mn-lt"/>
                <a:ea typeface="楷体" pitchFamily="49" charset="-122"/>
              </a:rPr>
              <a:t>(2) </a:t>
            </a:r>
            <a:r>
              <a:rPr lang="zh-CN" altLang="en-US" b="1" dirty="0">
                <a:ln w="1905"/>
                <a:latin typeface="+mn-lt"/>
                <a:ea typeface="楷体" pitchFamily="49" charset="-122"/>
              </a:rPr>
              <a:t>赋值对应关系：</a:t>
            </a:r>
          </a:p>
          <a:p>
            <a:pPr>
              <a:tabLst>
                <a:tab pos="457200" algn="l"/>
              </a:tabLst>
            </a:pPr>
            <a:r>
              <a:rPr lang="zh-CN" altLang="en-US" b="1" dirty="0">
                <a:ln w="1905"/>
                <a:solidFill>
                  <a:schemeClr val="accent1">
                    <a:lumMod val="50000"/>
                  </a:schemeClr>
                </a:solidFill>
                <a:latin typeface="+mn-lt"/>
                <a:ea typeface="楷体" pitchFamily="49" charset="-122"/>
              </a:rPr>
              <a:t>              实参</a:t>
            </a:r>
            <a:r>
              <a:rPr lang="en-US" altLang="zh-CN" b="1" dirty="0">
                <a:ln w="1905"/>
                <a:solidFill>
                  <a:schemeClr val="accent1">
                    <a:lumMod val="50000"/>
                  </a:schemeClr>
                </a:solidFill>
                <a:latin typeface="+mn-lt"/>
                <a:ea typeface="楷体" pitchFamily="49" charset="-122"/>
              </a:rPr>
              <a:t>1 -&gt; </a:t>
            </a:r>
            <a:r>
              <a:rPr lang="zh-CN" altLang="en-US" b="1" dirty="0">
                <a:ln w="1905"/>
                <a:solidFill>
                  <a:schemeClr val="accent1">
                    <a:lumMod val="50000"/>
                  </a:schemeClr>
                </a:solidFill>
                <a:latin typeface="+mn-lt"/>
                <a:ea typeface="楷体" pitchFamily="49" charset="-122"/>
              </a:rPr>
              <a:t>形参</a:t>
            </a:r>
            <a:r>
              <a:rPr lang="en-US" altLang="zh-CN" b="1" dirty="0">
                <a:ln w="1905"/>
                <a:solidFill>
                  <a:schemeClr val="accent1">
                    <a:lumMod val="50000"/>
                  </a:schemeClr>
                </a:solidFill>
                <a:latin typeface="+mn-lt"/>
                <a:ea typeface="楷体" pitchFamily="49" charset="-122"/>
              </a:rPr>
              <a:t>1</a:t>
            </a:r>
          </a:p>
          <a:p>
            <a:pPr>
              <a:tabLst>
                <a:tab pos="457200" algn="l"/>
              </a:tabLst>
            </a:pPr>
            <a:r>
              <a:rPr lang="en-US" altLang="zh-CN" b="1" dirty="0">
                <a:ln w="1905"/>
                <a:solidFill>
                  <a:schemeClr val="accent1">
                    <a:lumMod val="50000"/>
                  </a:schemeClr>
                </a:solidFill>
                <a:latin typeface="+mn-lt"/>
                <a:ea typeface="楷体" pitchFamily="49" charset="-122"/>
              </a:rPr>
              <a:t>              </a:t>
            </a:r>
            <a:r>
              <a:rPr lang="zh-CN" altLang="en-US" b="1" dirty="0">
                <a:ln w="1905"/>
                <a:solidFill>
                  <a:schemeClr val="accent1">
                    <a:lumMod val="50000"/>
                  </a:schemeClr>
                </a:solidFill>
                <a:latin typeface="+mn-lt"/>
                <a:ea typeface="楷体" pitchFamily="49" charset="-122"/>
              </a:rPr>
              <a:t>实参</a:t>
            </a:r>
            <a:r>
              <a:rPr lang="en-US" altLang="zh-CN" b="1" dirty="0">
                <a:ln w="1905"/>
                <a:solidFill>
                  <a:schemeClr val="accent1">
                    <a:lumMod val="50000"/>
                  </a:schemeClr>
                </a:solidFill>
                <a:latin typeface="+mn-lt"/>
                <a:ea typeface="楷体" pitchFamily="49" charset="-122"/>
              </a:rPr>
              <a:t>2 -&gt; </a:t>
            </a:r>
            <a:r>
              <a:rPr lang="zh-CN" altLang="en-US" b="1" dirty="0">
                <a:ln w="1905"/>
                <a:solidFill>
                  <a:schemeClr val="accent1">
                    <a:lumMod val="50000"/>
                  </a:schemeClr>
                </a:solidFill>
                <a:latin typeface="+mn-lt"/>
                <a:ea typeface="楷体" pitchFamily="49" charset="-122"/>
              </a:rPr>
              <a:t>形参</a:t>
            </a:r>
            <a:r>
              <a:rPr lang="en-US" altLang="zh-CN" b="1" dirty="0">
                <a:ln w="1905"/>
                <a:solidFill>
                  <a:schemeClr val="accent1">
                    <a:lumMod val="50000"/>
                  </a:schemeClr>
                </a:solidFill>
                <a:latin typeface="+mn-lt"/>
                <a:ea typeface="楷体" pitchFamily="49" charset="-122"/>
              </a:rPr>
              <a:t>2</a:t>
            </a:r>
          </a:p>
          <a:p>
            <a:pPr>
              <a:tabLst>
                <a:tab pos="457200" algn="l"/>
              </a:tabLst>
            </a:pPr>
            <a:r>
              <a:rPr lang="en-US" altLang="zh-CN" b="1" dirty="0">
                <a:ln w="1905"/>
                <a:solidFill>
                  <a:schemeClr val="accent1">
                    <a:lumMod val="50000"/>
                  </a:schemeClr>
                </a:solidFill>
                <a:latin typeface="+mn-lt"/>
                <a:ea typeface="楷体" pitchFamily="49" charset="-122"/>
              </a:rPr>
              <a:t>               ……</a:t>
            </a:r>
          </a:p>
          <a:p>
            <a:pPr>
              <a:tabLst>
                <a:tab pos="457200" algn="l"/>
              </a:tabLst>
            </a:pPr>
            <a:r>
              <a:rPr lang="en-US" altLang="zh-CN" b="1" dirty="0">
                <a:ln w="1905"/>
                <a:solidFill>
                  <a:schemeClr val="accent1">
                    <a:lumMod val="50000"/>
                  </a:schemeClr>
                </a:solidFill>
                <a:latin typeface="+mn-lt"/>
                <a:ea typeface="楷体" pitchFamily="49" charset="-122"/>
              </a:rPr>
              <a:t>              </a:t>
            </a:r>
            <a:r>
              <a:rPr lang="zh-CN" altLang="en-US" b="1" dirty="0">
                <a:ln w="1905"/>
                <a:solidFill>
                  <a:schemeClr val="accent1">
                    <a:lumMod val="50000"/>
                  </a:schemeClr>
                </a:solidFill>
                <a:latin typeface="+mn-lt"/>
                <a:ea typeface="楷体" pitchFamily="49" charset="-122"/>
              </a:rPr>
              <a:t>实参</a:t>
            </a:r>
            <a:r>
              <a:rPr lang="en-US" altLang="zh-CN" b="1" dirty="0">
                <a:ln w="1905"/>
                <a:solidFill>
                  <a:schemeClr val="accent1">
                    <a:lumMod val="50000"/>
                  </a:schemeClr>
                </a:solidFill>
                <a:latin typeface="+mn-lt"/>
                <a:ea typeface="楷体" pitchFamily="49" charset="-122"/>
              </a:rPr>
              <a:t>n -&gt; </a:t>
            </a:r>
            <a:r>
              <a:rPr lang="zh-CN" altLang="en-US" b="1" dirty="0">
                <a:ln w="1905"/>
                <a:solidFill>
                  <a:schemeClr val="accent1">
                    <a:lumMod val="50000"/>
                  </a:schemeClr>
                </a:solidFill>
                <a:latin typeface="+mn-lt"/>
                <a:ea typeface="楷体" pitchFamily="49" charset="-122"/>
              </a:rPr>
              <a:t>形参</a:t>
            </a:r>
            <a:r>
              <a:rPr lang="en-US" altLang="zh-CN" b="1" dirty="0">
                <a:ln w="1905"/>
                <a:solidFill>
                  <a:schemeClr val="accent1">
                    <a:lumMod val="50000"/>
                  </a:schemeClr>
                </a:solidFill>
                <a:latin typeface="+mn-lt"/>
                <a:ea typeface="楷体" pitchFamily="49" charset="-122"/>
              </a:rPr>
              <a:t>n</a:t>
            </a:r>
          </a:p>
          <a:p>
            <a:pPr>
              <a:tabLst>
                <a:tab pos="457200" algn="l"/>
              </a:tabLst>
            </a:pPr>
            <a:r>
              <a:rPr lang="en-US" altLang="zh-CN" b="1" dirty="0">
                <a:ln w="1905"/>
                <a:latin typeface="+mn-lt"/>
                <a:ea typeface="楷体" pitchFamily="49" charset="-122"/>
              </a:rPr>
              <a:t>         (3)</a:t>
            </a:r>
            <a:r>
              <a:rPr lang="zh-CN" altLang="en-US" b="1" dirty="0">
                <a:ln w="1905"/>
                <a:latin typeface="+mn-lt"/>
                <a:ea typeface="楷体" pitchFamily="49" charset="-122"/>
              </a:rPr>
              <a:t>实参表求值顺序（即实参赋值给形参的顺序）</a:t>
            </a:r>
          </a:p>
          <a:p>
            <a:pPr>
              <a:tabLst>
                <a:tab pos="457200" algn="l"/>
              </a:tabLst>
            </a:pPr>
            <a:r>
              <a:rPr lang="zh-CN" altLang="en-US" b="1" dirty="0">
                <a:ln w="1905"/>
                <a:latin typeface="+mn-lt"/>
                <a:ea typeface="楷体" pitchFamily="49" charset="-122"/>
              </a:rPr>
              <a:t>         因系统而定。</a:t>
            </a:r>
            <a:r>
              <a:rPr lang="en-US" altLang="zh-CN" b="1" dirty="0">
                <a:ln w="1905"/>
                <a:solidFill>
                  <a:srgbClr val="C01920"/>
                </a:solidFill>
                <a:latin typeface="+mn-lt"/>
                <a:ea typeface="楷体" pitchFamily="49" charset="-122"/>
              </a:rPr>
              <a:t>VC6.0</a:t>
            </a:r>
            <a:r>
              <a:rPr lang="zh-CN" altLang="zh-CN" b="1" dirty="0">
                <a:ln w="1905"/>
                <a:solidFill>
                  <a:srgbClr val="C01920"/>
                </a:solidFill>
                <a:latin typeface="+mn-lt"/>
                <a:ea typeface="楷体" pitchFamily="49" charset="-122"/>
              </a:rPr>
              <a:t>、</a:t>
            </a:r>
            <a:r>
              <a:rPr lang="en-US" altLang="zh-CN" b="1" dirty="0">
                <a:ln w="1905"/>
                <a:solidFill>
                  <a:srgbClr val="C01920"/>
                </a:solidFill>
                <a:latin typeface="+mn-lt"/>
                <a:ea typeface="楷体" pitchFamily="49" charset="-122"/>
              </a:rPr>
              <a:t>VC2010</a:t>
            </a:r>
            <a:r>
              <a:rPr lang="zh-CN" altLang="zh-CN" b="1" dirty="0">
                <a:ln w="1905"/>
                <a:solidFill>
                  <a:srgbClr val="C01920"/>
                </a:solidFill>
                <a:latin typeface="+mn-lt"/>
                <a:ea typeface="楷体" pitchFamily="49" charset="-122"/>
              </a:rPr>
              <a:t>和</a:t>
            </a:r>
            <a:r>
              <a:rPr lang="en-US" altLang="zh-CN" b="1" dirty="0">
                <a:ln w="1905"/>
                <a:solidFill>
                  <a:srgbClr val="C01920"/>
                </a:solidFill>
                <a:latin typeface="+mn-lt"/>
                <a:ea typeface="楷体" pitchFamily="49" charset="-122"/>
              </a:rPr>
              <a:t>CB17.12</a:t>
            </a:r>
            <a:r>
              <a:rPr lang="zh-CN" altLang="zh-CN" b="1" dirty="0">
                <a:ln w="1905"/>
                <a:solidFill>
                  <a:srgbClr val="C01920"/>
                </a:solidFill>
                <a:latin typeface="+mn-lt"/>
                <a:ea typeface="楷体" pitchFamily="49" charset="-122"/>
              </a:rPr>
              <a:t>均是自右向左</a:t>
            </a:r>
            <a:r>
              <a:rPr lang="zh-CN" altLang="zh-CN" b="1" dirty="0">
                <a:ln w="1905"/>
                <a:latin typeface="+mn-lt"/>
                <a:ea typeface="楷体" pitchFamily="49" charset="-122"/>
              </a:rPr>
              <a:t>，也就是说最右边的实参最先赋值给最右边的形参</a:t>
            </a:r>
            <a:r>
              <a:rPr lang="en-US" altLang="zh-CN" b="1" dirty="0">
                <a:ln w="1905"/>
                <a:latin typeface="+mn-lt"/>
                <a:ea typeface="楷体" pitchFamily="49" charset="-122"/>
              </a:rPr>
              <a:t>, </a:t>
            </a:r>
            <a:r>
              <a:rPr lang="zh-CN" altLang="zh-CN" b="1" dirty="0">
                <a:ln w="1905"/>
                <a:latin typeface="+mn-lt"/>
                <a:ea typeface="楷体" pitchFamily="49" charset="-122"/>
              </a:rPr>
              <a:t>最左边的实参最后赋值给最左边的形参。但</a:t>
            </a:r>
            <a:r>
              <a:rPr lang="en-US" altLang="zh-CN" b="1" dirty="0">
                <a:ln w="1905"/>
                <a:latin typeface="+mn-lt"/>
                <a:ea typeface="楷体" pitchFamily="49" charset="-122"/>
              </a:rPr>
              <a:t>VC6.0</a:t>
            </a:r>
            <a:r>
              <a:rPr lang="zh-CN" altLang="zh-CN" b="1" dirty="0">
                <a:ln w="1905"/>
                <a:latin typeface="+mn-lt"/>
                <a:ea typeface="楷体" pitchFamily="49" charset="-122"/>
              </a:rPr>
              <a:t>与</a:t>
            </a:r>
            <a:r>
              <a:rPr lang="en-US" altLang="zh-CN" b="1" dirty="0">
                <a:ln w="1905"/>
                <a:latin typeface="+mn-lt"/>
                <a:ea typeface="楷体" pitchFamily="49" charset="-122"/>
              </a:rPr>
              <a:t>VC2010</a:t>
            </a:r>
            <a:r>
              <a:rPr lang="zh-CN" altLang="zh-CN" b="1" dirty="0">
                <a:ln w="1905"/>
                <a:latin typeface="+mn-lt"/>
                <a:ea typeface="楷体" pitchFamily="49" charset="-122"/>
              </a:rPr>
              <a:t>和</a:t>
            </a:r>
            <a:r>
              <a:rPr lang="en-US" altLang="zh-CN" b="1" dirty="0">
                <a:ln w="1905"/>
                <a:latin typeface="+mn-lt"/>
                <a:ea typeface="楷体" pitchFamily="49" charset="-122"/>
              </a:rPr>
              <a:t>CB17.12</a:t>
            </a:r>
            <a:r>
              <a:rPr lang="zh-CN" altLang="zh-CN" b="1" dirty="0">
                <a:ln w="1905"/>
                <a:latin typeface="+mn-lt"/>
                <a:ea typeface="楷体" pitchFamily="49" charset="-122"/>
              </a:rPr>
              <a:t>在具体赋值时稍有不同，注意它们之间的区别。</a:t>
            </a:r>
            <a:endParaRPr lang="zh-CN" altLang="en-US" b="1" dirty="0">
              <a:ln w="1905"/>
              <a:latin typeface="+mn-lt"/>
              <a:ea typeface="楷体" pitchFamily="49" charset="-122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DE24CD80-56A0-4B0B-ABA8-0C665AB162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85" y="837555"/>
            <a:ext cx="4589169" cy="52322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2800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800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、有参数无返回值的函数</a:t>
            </a:r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8776FF81-0929-4866-9AE6-B8051E4548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9456" y="1412776"/>
            <a:ext cx="382962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zh-CN" altLang="en-US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函数调用</a:t>
            </a: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2AFA3A38-B3CE-40D6-B922-85BF752763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8.2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函数的定义和调用 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10414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500"/>
                                        <p:tgtEl>
                                          <p:spTgt spid="10414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10414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1422" grpId="0" animBg="1"/>
      <p:bldP spid="1041429" grpId="0" animBg="1"/>
      <p:bldP spid="1041430" grpId="0" animBg="1"/>
      <p:bldP spid="11" grpId="0"/>
      <p:bldP spid="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4">
            <a:extLst>
              <a:ext uri="{FF2B5EF4-FFF2-40B4-BE49-F238E27FC236}">
                <a16:creationId xmlns:a16="http://schemas.microsoft.com/office/drawing/2014/main" id="{8D600872-7B98-423A-B75A-51FEF675C2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8.2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函数的定义和调用 </a:t>
            </a:r>
          </a:p>
        </p:txBody>
      </p:sp>
      <p:sp>
        <p:nvSpPr>
          <p:cNvPr id="66" name="Rectangle 3">
            <a:extLst>
              <a:ext uri="{FF2B5EF4-FFF2-40B4-BE49-F238E27FC236}">
                <a16:creationId xmlns:a16="http://schemas.microsoft.com/office/drawing/2014/main" id="{D58A01F2-D3C9-4D37-997C-A77AB278E8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85" y="837555"/>
            <a:ext cx="4589169" cy="52322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2800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800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、有参数无返回值的函数</a:t>
            </a:r>
          </a:p>
        </p:txBody>
      </p:sp>
      <p:sp>
        <p:nvSpPr>
          <p:cNvPr id="1043466" name="Rectangle 10" descr="信纸"/>
          <p:cNvSpPr>
            <a:spLocks noChangeArrowheads="1"/>
          </p:cNvSpPr>
          <p:nvPr/>
        </p:nvSpPr>
        <p:spPr bwMode="auto">
          <a:xfrm>
            <a:off x="1126877" y="513382"/>
            <a:ext cx="6169006" cy="6247864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/>
              <a:t>#include &lt;</a:t>
            </a:r>
            <a:r>
              <a:rPr lang="en-US" altLang="zh-CN" sz="2000" b="1" dirty="0" err="1"/>
              <a:t>stdio.h</a:t>
            </a:r>
            <a:r>
              <a:rPr lang="en-US" altLang="zh-CN" sz="2000" b="1" dirty="0"/>
              <a:t>&gt;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/>
              <a:t>void compare (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a, 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b);     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 err="1">
                <a:solidFill>
                  <a:srgbClr val="CC0000"/>
                </a:solidFill>
              </a:rPr>
              <a:t>int</a:t>
            </a:r>
            <a:r>
              <a:rPr lang="en-US" altLang="zh-CN" sz="2000" b="1" dirty="0">
                <a:solidFill>
                  <a:srgbClr val="CC0000"/>
                </a:solidFill>
              </a:rPr>
              <a:t> main ( )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/>
              <a:t>{   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/>
              <a:t>    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</a:t>
            </a:r>
            <a:r>
              <a:rPr lang="en-US" altLang="zh-CN" sz="2000" b="1" dirty="0" err="1"/>
              <a:t>i</a:t>
            </a:r>
            <a:r>
              <a:rPr lang="en-US" altLang="zh-CN" sz="2000" b="1" dirty="0"/>
              <a:t> = 2;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/>
              <a:t>    compare ( </a:t>
            </a:r>
            <a:r>
              <a:rPr lang="en-US" altLang="zh-CN" sz="2000" b="1" dirty="0" err="1"/>
              <a:t>i</a:t>
            </a:r>
            <a:r>
              <a:rPr lang="en-US" altLang="zh-CN" sz="2000" b="1" dirty="0"/>
              <a:t>, </a:t>
            </a:r>
            <a:r>
              <a:rPr lang="en-US" altLang="zh-CN" sz="2000" b="1" dirty="0" err="1"/>
              <a:t>i</a:t>
            </a:r>
            <a:r>
              <a:rPr lang="en-US" altLang="zh-CN" sz="2000" b="1" dirty="0"/>
              <a:t>++ );           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/>
              <a:t>    </a:t>
            </a:r>
            <a:r>
              <a:rPr lang="en-US" altLang="zh-CN" sz="2000" b="1" dirty="0" err="1"/>
              <a:t>printf</a:t>
            </a:r>
            <a:r>
              <a:rPr lang="en-US" altLang="zh-CN" sz="2000" b="1" dirty="0"/>
              <a:t> ("</a:t>
            </a:r>
            <a:r>
              <a:rPr lang="en-US" altLang="zh-CN" sz="2000" b="1" dirty="0" err="1"/>
              <a:t>i</a:t>
            </a:r>
            <a:r>
              <a:rPr lang="en-US" altLang="zh-CN" sz="2000" b="1" dirty="0"/>
              <a:t> = %d\n", </a:t>
            </a:r>
            <a:r>
              <a:rPr lang="en-US" altLang="zh-CN" sz="2000" b="1" dirty="0" err="1"/>
              <a:t>i</a:t>
            </a:r>
            <a:r>
              <a:rPr lang="en-US" altLang="zh-CN" sz="2000" b="1" dirty="0"/>
              <a:t>);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/>
              <a:t>    return 0;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/>
              <a:t>}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solidFill>
                  <a:srgbClr val="008000"/>
                </a:solidFill>
              </a:rPr>
              <a:t>void compare ( </a:t>
            </a:r>
            <a:r>
              <a:rPr lang="en-US" altLang="zh-CN" sz="2000" b="1" dirty="0" err="1">
                <a:solidFill>
                  <a:srgbClr val="008000"/>
                </a:solidFill>
              </a:rPr>
              <a:t>int</a:t>
            </a:r>
            <a:r>
              <a:rPr lang="en-US" altLang="zh-CN" sz="2000" b="1" dirty="0">
                <a:solidFill>
                  <a:srgbClr val="008000"/>
                </a:solidFill>
              </a:rPr>
              <a:t> a, </a:t>
            </a:r>
            <a:r>
              <a:rPr lang="en-US" altLang="zh-CN" sz="2000" b="1" dirty="0" err="1">
                <a:solidFill>
                  <a:srgbClr val="008000"/>
                </a:solidFill>
              </a:rPr>
              <a:t>int</a:t>
            </a:r>
            <a:r>
              <a:rPr lang="en-US" altLang="zh-CN" sz="2000" b="1" dirty="0">
                <a:solidFill>
                  <a:srgbClr val="008000"/>
                </a:solidFill>
              </a:rPr>
              <a:t> b ) 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solidFill>
                  <a:srgbClr val="008000"/>
                </a:solidFill>
              </a:rPr>
              <a:t>{   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solidFill>
                  <a:srgbClr val="008000"/>
                </a:solidFill>
              </a:rPr>
              <a:t>    </a:t>
            </a:r>
            <a:r>
              <a:rPr lang="en-US" altLang="zh-CN" sz="2000" b="1" dirty="0" err="1">
                <a:solidFill>
                  <a:srgbClr val="008000"/>
                </a:solidFill>
              </a:rPr>
              <a:t>printf</a:t>
            </a:r>
            <a:r>
              <a:rPr lang="en-US" altLang="zh-CN" sz="2000" b="1" dirty="0">
                <a:solidFill>
                  <a:srgbClr val="008000"/>
                </a:solidFill>
              </a:rPr>
              <a:t> ("a = %d  b = %d\n", a, b);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solidFill>
                  <a:srgbClr val="008000"/>
                </a:solidFill>
              </a:rPr>
              <a:t>    if ( a &gt; b)  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solidFill>
                  <a:srgbClr val="008000"/>
                </a:solidFill>
              </a:rPr>
              <a:t>        </a:t>
            </a:r>
            <a:r>
              <a:rPr lang="en-US" altLang="zh-CN" sz="2000" b="1" dirty="0" err="1">
                <a:solidFill>
                  <a:srgbClr val="008000"/>
                </a:solidFill>
              </a:rPr>
              <a:t>printf</a:t>
            </a:r>
            <a:r>
              <a:rPr lang="en-US" altLang="zh-CN" sz="2000" b="1" dirty="0">
                <a:solidFill>
                  <a:srgbClr val="008000"/>
                </a:solidFill>
              </a:rPr>
              <a:t> ("a &gt; b\n");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solidFill>
                  <a:srgbClr val="008000"/>
                </a:solidFill>
              </a:rPr>
              <a:t>    else 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solidFill>
                  <a:srgbClr val="008000"/>
                </a:solidFill>
              </a:rPr>
              <a:t>      if (a == b)  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solidFill>
                  <a:srgbClr val="008000"/>
                </a:solidFill>
              </a:rPr>
              <a:t>          </a:t>
            </a:r>
            <a:r>
              <a:rPr lang="en-US" altLang="zh-CN" sz="2000" b="1" dirty="0" err="1">
                <a:solidFill>
                  <a:srgbClr val="008000"/>
                </a:solidFill>
              </a:rPr>
              <a:t>printf</a:t>
            </a:r>
            <a:r>
              <a:rPr lang="en-US" altLang="zh-CN" sz="2000" b="1" dirty="0">
                <a:solidFill>
                  <a:srgbClr val="008000"/>
                </a:solidFill>
              </a:rPr>
              <a:t> ("a = b\n");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solidFill>
                  <a:srgbClr val="008000"/>
                </a:solidFill>
              </a:rPr>
              <a:t>      else 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solidFill>
                  <a:srgbClr val="008000"/>
                </a:solidFill>
              </a:rPr>
              <a:t>          </a:t>
            </a:r>
            <a:r>
              <a:rPr lang="en-US" altLang="zh-CN" sz="2000" b="1" dirty="0" err="1">
                <a:solidFill>
                  <a:srgbClr val="008000"/>
                </a:solidFill>
              </a:rPr>
              <a:t>printf</a:t>
            </a:r>
            <a:r>
              <a:rPr lang="en-US" altLang="zh-CN" sz="2000" b="1" dirty="0">
                <a:solidFill>
                  <a:srgbClr val="008000"/>
                </a:solidFill>
              </a:rPr>
              <a:t> ("a &lt; b\n");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solidFill>
                  <a:srgbClr val="008000"/>
                </a:solidFill>
              </a:rPr>
              <a:t>}</a:t>
            </a:r>
          </a:p>
        </p:txBody>
      </p:sp>
      <p:sp>
        <p:nvSpPr>
          <p:cNvPr id="1043467" name="AutoShape 11"/>
          <p:cNvSpPr>
            <a:spLocks/>
          </p:cNvSpPr>
          <p:nvPr/>
        </p:nvSpPr>
        <p:spPr bwMode="auto">
          <a:xfrm>
            <a:off x="4335283" y="1476596"/>
            <a:ext cx="1368425" cy="360362"/>
          </a:xfrm>
          <a:prstGeom prst="borderCallout2">
            <a:avLst>
              <a:gd name="adj1" fmla="val 31718"/>
              <a:gd name="adj2" fmla="val -5569"/>
              <a:gd name="adj3" fmla="val 31718"/>
              <a:gd name="adj4" fmla="val -44315"/>
              <a:gd name="adj5" fmla="val 186343"/>
              <a:gd name="adj6" fmla="val -84338"/>
            </a:avLst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pPr algn="ctr"/>
            <a:r>
              <a:rPr lang="en-US" altLang="zh-CN" sz="1800" b="1">
                <a:solidFill>
                  <a:srgbClr val="002060"/>
                </a:solidFill>
                <a:latin typeface="+mn-lt"/>
                <a:ea typeface="楷体" pitchFamily="49" charset="-122"/>
              </a:rPr>
              <a:t>i</a:t>
            </a:r>
            <a:r>
              <a:rPr lang="zh-CN" altLang="en-US" sz="1800" b="1">
                <a:solidFill>
                  <a:srgbClr val="002060"/>
                </a:solidFill>
                <a:latin typeface="+mn-lt"/>
                <a:ea typeface="楷体" pitchFamily="49" charset="-122"/>
              </a:rPr>
              <a:t>为实参</a:t>
            </a:r>
            <a:r>
              <a:rPr lang="zh-CN" altLang="en-US" sz="1800">
                <a:solidFill>
                  <a:srgbClr val="002060"/>
                </a:solidFill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043468" name="Oval 12"/>
          <p:cNvSpPr>
            <a:spLocks noChangeArrowheads="1"/>
          </p:cNvSpPr>
          <p:nvPr/>
        </p:nvSpPr>
        <p:spPr bwMode="auto">
          <a:xfrm>
            <a:off x="2566739" y="2134580"/>
            <a:ext cx="720725" cy="287338"/>
          </a:xfrm>
          <a:prstGeom prst="ellipse">
            <a:avLst/>
          </a:prstGeom>
          <a:noFill/>
          <a:ln w="28575">
            <a:solidFill>
              <a:srgbClr val="C0192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3469" name="Oval 13"/>
          <p:cNvSpPr>
            <a:spLocks noChangeArrowheads="1"/>
          </p:cNvSpPr>
          <p:nvPr/>
        </p:nvSpPr>
        <p:spPr bwMode="auto">
          <a:xfrm>
            <a:off x="2855664" y="3273660"/>
            <a:ext cx="1223963" cy="431800"/>
          </a:xfrm>
          <a:prstGeom prst="ellipse">
            <a:avLst/>
          </a:prstGeom>
          <a:noFill/>
          <a:ln w="28575">
            <a:solidFill>
              <a:srgbClr val="C0192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3470" name="AutoShape 14"/>
          <p:cNvSpPr>
            <a:spLocks/>
          </p:cNvSpPr>
          <p:nvPr/>
        </p:nvSpPr>
        <p:spPr bwMode="auto">
          <a:xfrm>
            <a:off x="5035485" y="2728457"/>
            <a:ext cx="1368425" cy="360363"/>
          </a:xfrm>
          <a:prstGeom prst="borderCallout2">
            <a:avLst>
              <a:gd name="adj1" fmla="val 31718"/>
              <a:gd name="adj2" fmla="val -5569"/>
              <a:gd name="adj3" fmla="val 31718"/>
              <a:gd name="adj4" fmla="val -38861"/>
              <a:gd name="adj5" fmla="val 182380"/>
              <a:gd name="adj6" fmla="val -73204"/>
            </a:avLst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pPr algn="ctr"/>
            <a:r>
              <a:rPr lang="en-US" altLang="zh-CN" sz="1800" b="1">
                <a:solidFill>
                  <a:srgbClr val="002060"/>
                </a:solidFill>
                <a:latin typeface="+mn-lt"/>
                <a:ea typeface="楷体" pitchFamily="49" charset="-122"/>
              </a:rPr>
              <a:t>a</a:t>
            </a:r>
            <a:r>
              <a:rPr lang="zh-CN" altLang="en-US" sz="1800" b="1">
                <a:solidFill>
                  <a:srgbClr val="002060"/>
                </a:solidFill>
                <a:latin typeface="+mn-lt"/>
                <a:ea typeface="楷体" pitchFamily="49" charset="-122"/>
              </a:rPr>
              <a:t>、</a:t>
            </a:r>
            <a:r>
              <a:rPr lang="en-US" altLang="zh-CN" sz="1800" b="1">
                <a:solidFill>
                  <a:srgbClr val="002060"/>
                </a:solidFill>
                <a:latin typeface="+mn-lt"/>
                <a:ea typeface="楷体" pitchFamily="49" charset="-122"/>
              </a:rPr>
              <a:t>b</a:t>
            </a:r>
            <a:r>
              <a:rPr lang="zh-CN" altLang="en-US" sz="1800" b="1">
                <a:solidFill>
                  <a:srgbClr val="002060"/>
                </a:solidFill>
                <a:latin typeface="+mn-lt"/>
                <a:ea typeface="楷体" pitchFamily="49" charset="-122"/>
              </a:rPr>
              <a:t>为形参</a:t>
            </a:r>
            <a:r>
              <a:rPr lang="zh-CN" altLang="en-US" sz="1800">
                <a:solidFill>
                  <a:srgbClr val="002060"/>
                </a:solidFill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043471" name="Rectangle 15"/>
          <p:cNvSpPr>
            <a:spLocks noChangeArrowheads="1"/>
          </p:cNvSpPr>
          <p:nvPr/>
        </p:nvSpPr>
        <p:spPr bwMode="auto">
          <a:xfrm>
            <a:off x="1199901" y="903865"/>
            <a:ext cx="2951162" cy="360363"/>
          </a:xfrm>
          <a:prstGeom prst="rect">
            <a:avLst/>
          </a:prstGeom>
          <a:noFill/>
          <a:ln w="28575">
            <a:solidFill>
              <a:srgbClr val="00206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3472" name="AutoShape 16"/>
          <p:cNvSpPr>
            <a:spLocks/>
          </p:cNvSpPr>
          <p:nvPr/>
        </p:nvSpPr>
        <p:spPr bwMode="auto">
          <a:xfrm>
            <a:off x="5095919" y="723683"/>
            <a:ext cx="1368425" cy="360363"/>
          </a:xfrm>
          <a:prstGeom prst="borderCallout2">
            <a:avLst>
              <a:gd name="adj1" fmla="val 31718"/>
              <a:gd name="adj2" fmla="val -5569"/>
              <a:gd name="adj3" fmla="val 31718"/>
              <a:gd name="adj4" fmla="val -36310"/>
              <a:gd name="adj5" fmla="val 81940"/>
              <a:gd name="adj6" fmla="val -67981"/>
            </a:avLst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pPr algn="ctr"/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原型声明</a:t>
            </a:r>
            <a:r>
              <a:rPr lang="zh-CN" altLang="en-US" sz="1800" dirty="0">
                <a:solidFill>
                  <a:srgbClr val="002060"/>
                </a:solidFill>
                <a:latin typeface="+mn-lt"/>
                <a:ea typeface="楷体" pitchFamily="49" charset="-122"/>
              </a:rPr>
              <a:t> </a:t>
            </a:r>
          </a:p>
        </p:txBody>
      </p:sp>
      <p:grpSp>
        <p:nvGrpSpPr>
          <p:cNvPr id="1043475" name="Group 19"/>
          <p:cNvGrpSpPr>
            <a:grpSpLocks/>
          </p:cNvGrpSpPr>
          <p:nvPr/>
        </p:nvGrpSpPr>
        <p:grpSpPr bwMode="auto">
          <a:xfrm>
            <a:off x="7843015" y="958278"/>
            <a:ext cx="3562352" cy="1044575"/>
            <a:chOff x="3283" y="246"/>
            <a:chExt cx="2244" cy="658"/>
          </a:xfrm>
        </p:grpSpPr>
        <p:sp>
          <p:nvSpPr>
            <p:cNvPr id="1043473" name="Rectangle 17"/>
            <p:cNvSpPr>
              <a:spLocks noChangeArrowheads="1"/>
            </p:cNvSpPr>
            <p:nvPr/>
          </p:nvSpPr>
          <p:spPr bwMode="auto">
            <a:xfrm>
              <a:off x="3283" y="246"/>
              <a:ext cx="2178" cy="658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C01920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anchor="ctr">
              <a:spAutoFit/>
            </a:bodyPr>
            <a:lstStyle/>
            <a:p>
              <a:r>
                <a:rPr lang="en-US" altLang="zh-CN" sz="2000" b="1">
                  <a:solidFill>
                    <a:srgbClr val="00206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 = 3  b = 2</a:t>
              </a:r>
            </a:p>
            <a:p>
              <a:r>
                <a:rPr lang="en-US" altLang="zh-CN" sz="2000" b="1">
                  <a:solidFill>
                    <a:srgbClr val="00206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 &gt; b</a:t>
              </a:r>
            </a:p>
            <a:p>
              <a:r>
                <a:rPr lang="en-US" altLang="zh-CN" sz="2000" b="1">
                  <a:solidFill>
                    <a:srgbClr val="00206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i = 3</a:t>
              </a:r>
            </a:p>
          </p:txBody>
        </p:sp>
        <p:sp>
          <p:nvSpPr>
            <p:cNvPr id="1043474" name="Rectangle 18"/>
            <p:cNvSpPr>
              <a:spLocks noChangeArrowheads="1"/>
            </p:cNvSpPr>
            <p:nvPr/>
          </p:nvSpPr>
          <p:spPr bwMode="auto">
            <a:xfrm>
              <a:off x="3670" y="447"/>
              <a:ext cx="1857" cy="4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zh-CN" altLang="en-US" sz="2000" b="1" dirty="0">
                  <a:solidFill>
                    <a:srgbClr val="C01920"/>
                  </a:solidFill>
                  <a:ea typeface="隶书" pitchFamily="49" charset="-122"/>
                </a:rPr>
                <a:t>运行结果</a:t>
              </a:r>
              <a:endParaRPr lang="en-US" altLang="zh-CN" sz="2000" b="1" dirty="0">
                <a:solidFill>
                  <a:srgbClr val="C01920"/>
                </a:solidFill>
                <a:ea typeface="隶书" pitchFamily="49" charset="-122"/>
              </a:endParaRPr>
            </a:p>
            <a:p>
              <a:r>
                <a:rPr lang="en-US" altLang="zh-CN" sz="2000" b="1" dirty="0">
                  <a:solidFill>
                    <a:srgbClr val="7030A0"/>
                  </a:solidFill>
                  <a:ea typeface="隶书" pitchFamily="49" charset="-122"/>
                </a:rPr>
                <a:t>(</a:t>
              </a:r>
              <a:r>
                <a:rPr lang="zh-CN" altLang="en-US" sz="2000" b="1" dirty="0">
                  <a:solidFill>
                    <a:srgbClr val="7030A0"/>
                  </a:solidFill>
                  <a:ea typeface="隶书" pitchFamily="49" charset="-122"/>
                </a:rPr>
                <a:t>在</a:t>
              </a:r>
              <a:r>
                <a:rPr lang="en-US" altLang="zh-CN" sz="2000" b="1" dirty="0">
                  <a:solidFill>
                    <a:srgbClr val="7030A0"/>
                  </a:solidFill>
                  <a:ea typeface="隶书" pitchFamily="49" charset="-122"/>
                </a:rPr>
                <a:t>VC2010</a:t>
              </a:r>
              <a:r>
                <a:rPr lang="zh-CN" altLang="en-US" sz="2000" b="1" dirty="0">
                  <a:solidFill>
                    <a:srgbClr val="7030A0"/>
                  </a:solidFill>
                  <a:ea typeface="隶书" pitchFamily="49" charset="-122"/>
                </a:rPr>
                <a:t>或</a:t>
              </a:r>
              <a:r>
                <a:rPr lang="en-US" altLang="zh-CN" sz="2000" b="1" dirty="0">
                  <a:solidFill>
                    <a:srgbClr val="7030A0"/>
                  </a:solidFill>
                  <a:ea typeface="隶书" pitchFamily="49" charset="-122"/>
                </a:rPr>
                <a:t>CB17.12</a:t>
              </a:r>
              <a:r>
                <a:rPr lang="zh-CN" altLang="en-US" sz="2000" b="1" dirty="0">
                  <a:solidFill>
                    <a:srgbClr val="7030A0"/>
                  </a:solidFill>
                  <a:ea typeface="隶书" pitchFamily="49" charset="-122"/>
                </a:rPr>
                <a:t>下</a:t>
              </a:r>
              <a:r>
                <a:rPr lang="en-US" altLang="zh-CN" sz="2000" b="1" dirty="0">
                  <a:solidFill>
                    <a:srgbClr val="7030A0"/>
                  </a:solidFill>
                  <a:ea typeface="隶书" pitchFamily="49" charset="-122"/>
                </a:rPr>
                <a:t>)</a:t>
              </a:r>
            </a:p>
          </p:txBody>
        </p:sp>
      </p:grpSp>
      <p:grpSp>
        <p:nvGrpSpPr>
          <p:cNvPr id="1043476" name="Group 20"/>
          <p:cNvGrpSpPr>
            <a:grpSpLocks/>
          </p:cNvGrpSpPr>
          <p:nvPr/>
        </p:nvGrpSpPr>
        <p:grpSpPr bwMode="auto">
          <a:xfrm>
            <a:off x="7896645" y="3811589"/>
            <a:ext cx="3413125" cy="1044575"/>
            <a:chOff x="3443" y="349"/>
            <a:chExt cx="2150" cy="658"/>
          </a:xfrm>
        </p:grpSpPr>
        <p:sp>
          <p:nvSpPr>
            <p:cNvPr id="1043477" name="Rectangle 21"/>
            <p:cNvSpPr>
              <a:spLocks noChangeArrowheads="1"/>
            </p:cNvSpPr>
            <p:nvPr/>
          </p:nvSpPr>
          <p:spPr bwMode="auto">
            <a:xfrm>
              <a:off x="3443" y="349"/>
              <a:ext cx="2150" cy="658"/>
            </a:xfrm>
            <a:prstGeom prst="rect">
              <a:avLst/>
            </a:prstGeom>
            <a:gradFill>
              <a:gsLst>
                <a:gs pos="0">
                  <a:schemeClr val="bg1">
                    <a:shade val="30000"/>
                    <a:satMod val="115000"/>
                  </a:schemeClr>
                </a:gs>
                <a:gs pos="50000">
                  <a:schemeClr val="bg1">
                    <a:shade val="67500"/>
                    <a:satMod val="11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lin ang="13500000" scaled="1"/>
            </a:gradFill>
            <a:ln w="38100">
              <a:solidFill>
                <a:srgbClr val="C01920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wrap="square" anchor="ctr">
              <a:spAutoFit/>
            </a:bodyPr>
            <a:lstStyle/>
            <a:p>
              <a:r>
                <a:rPr lang="en-US" altLang="zh-CN" sz="2000" b="1">
                  <a:solidFill>
                    <a:srgbClr val="00206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 = 2  b = 2</a:t>
              </a:r>
            </a:p>
            <a:p>
              <a:r>
                <a:rPr lang="en-US" altLang="zh-CN" sz="2000" b="1">
                  <a:solidFill>
                    <a:srgbClr val="00206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 = b</a:t>
              </a:r>
            </a:p>
            <a:p>
              <a:r>
                <a:rPr lang="en-US" altLang="zh-CN" sz="2000" b="1">
                  <a:solidFill>
                    <a:srgbClr val="00206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i = 3</a:t>
              </a:r>
            </a:p>
          </p:txBody>
        </p:sp>
        <p:sp>
          <p:nvSpPr>
            <p:cNvPr id="1043478" name="Rectangle 22"/>
            <p:cNvSpPr>
              <a:spLocks noChangeArrowheads="1"/>
            </p:cNvSpPr>
            <p:nvPr/>
          </p:nvSpPr>
          <p:spPr bwMode="auto">
            <a:xfrm>
              <a:off x="3958" y="735"/>
              <a:ext cx="1635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zh-CN" altLang="en-US" sz="2000" b="1" dirty="0">
                  <a:solidFill>
                    <a:srgbClr val="C00000"/>
                  </a:solidFill>
                  <a:ea typeface="隶书" pitchFamily="49" charset="-122"/>
                </a:rPr>
                <a:t>运行结果</a:t>
              </a:r>
              <a:r>
                <a:rPr lang="en-US" altLang="zh-CN" sz="2000" b="1" dirty="0">
                  <a:solidFill>
                    <a:srgbClr val="7030A0"/>
                  </a:solidFill>
                  <a:ea typeface="隶书" pitchFamily="49" charset="-122"/>
                </a:rPr>
                <a:t>(</a:t>
              </a:r>
              <a:r>
                <a:rPr lang="zh-CN" altLang="en-US" sz="2000" b="1" dirty="0">
                  <a:solidFill>
                    <a:srgbClr val="7030A0"/>
                  </a:solidFill>
                  <a:ea typeface="隶书" pitchFamily="49" charset="-122"/>
                </a:rPr>
                <a:t>在</a:t>
              </a:r>
              <a:r>
                <a:rPr lang="en-US" altLang="zh-CN" sz="2000" b="1" dirty="0">
                  <a:solidFill>
                    <a:srgbClr val="7030A0"/>
                  </a:solidFill>
                  <a:ea typeface="隶书" pitchFamily="49" charset="-122"/>
                </a:rPr>
                <a:t>VC6.0</a:t>
              </a:r>
              <a:r>
                <a:rPr lang="zh-CN" altLang="en-US" sz="2000" b="1" dirty="0">
                  <a:solidFill>
                    <a:srgbClr val="7030A0"/>
                  </a:solidFill>
                  <a:ea typeface="隶书" pitchFamily="49" charset="-122"/>
                </a:rPr>
                <a:t>下</a:t>
              </a:r>
              <a:r>
                <a:rPr lang="en-US" altLang="zh-CN" sz="2000" b="1" dirty="0">
                  <a:solidFill>
                    <a:srgbClr val="7030A0"/>
                  </a:solidFill>
                  <a:ea typeface="隶书" pitchFamily="49" charset="-122"/>
                </a:rPr>
                <a:t>)</a:t>
              </a:r>
            </a:p>
          </p:txBody>
        </p:sp>
      </p:grpSp>
      <p:grpSp>
        <p:nvGrpSpPr>
          <p:cNvPr id="1043489" name="Group 33"/>
          <p:cNvGrpSpPr>
            <a:grpSpLocks/>
          </p:cNvGrpSpPr>
          <p:nvPr/>
        </p:nvGrpSpPr>
        <p:grpSpPr bwMode="auto">
          <a:xfrm>
            <a:off x="10976589" y="2569716"/>
            <a:ext cx="342900" cy="503237"/>
            <a:chOff x="5103" y="1597"/>
            <a:chExt cx="216" cy="317"/>
          </a:xfrm>
        </p:grpSpPr>
        <p:sp>
          <p:nvSpPr>
            <p:cNvPr id="1043487" name="Line 31"/>
            <p:cNvSpPr>
              <a:spLocks noChangeShapeType="1"/>
            </p:cNvSpPr>
            <p:nvPr/>
          </p:nvSpPr>
          <p:spPr bwMode="auto">
            <a:xfrm>
              <a:off x="5130" y="1597"/>
              <a:ext cx="0" cy="31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lg" len="lg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3488" name="Text Box 32"/>
            <p:cNvSpPr txBox="1">
              <a:spLocks noChangeArrowheads="1"/>
            </p:cNvSpPr>
            <p:nvPr/>
          </p:nvSpPr>
          <p:spPr bwMode="auto">
            <a:xfrm>
              <a:off x="5103" y="1607"/>
              <a:ext cx="21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①</a:t>
              </a:r>
            </a:p>
          </p:txBody>
        </p:sp>
      </p:grpSp>
      <p:grpSp>
        <p:nvGrpSpPr>
          <p:cNvPr id="1043493" name="Group 37"/>
          <p:cNvGrpSpPr>
            <a:grpSpLocks/>
          </p:cNvGrpSpPr>
          <p:nvPr/>
        </p:nvGrpSpPr>
        <p:grpSpPr bwMode="auto">
          <a:xfrm>
            <a:off x="7880965" y="2082353"/>
            <a:ext cx="3527425" cy="1490663"/>
            <a:chOff x="3324" y="1281"/>
            <a:chExt cx="2222" cy="939"/>
          </a:xfrm>
        </p:grpSpPr>
        <p:sp>
          <p:nvSpPr>
            <p:cNvPr id="1043479" name="Text Box 23"/>
            <p:cNvSpPr txBox="1">
              <a:spLocks noChangeArrowheads="1"/>
            </p:cNvSpPr>
            <p:nvPr/>
          </p:nvSpPr>
          <p:spPr bwMode="auto">
            <a:xfrm>
              <a:off x="3913" y="1298"/>
              <a:ext cx="22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i</a:t>
              </a:r>
            </a:p>
          </p:txBody>
        </p:sp>
        <p:sp>
          <p:nvSpPr>
            <p:cNvPr id="1043480" name="Text Box 24"/>
            <p:cNvSpPr txBox="1">
              <a:spLocks noChangeArrowheads="1"/>
            </p:cNvSpPr>
            <p:nvPr/>
          </p:nvSpPr>
          <p:spPr bwMode="auto">
            <a:xfrm>
              <a:off x="4094" y="1298"/>
              <a:ext cx="454" cy="300"/>
            </a:xfrm>
            <a:prstGeom prst="rect">
              <a:avLst/>
            </a:prstGeom>
            <a:solidFill>
              <a:srgbClr val="CCFFFF"/>
            </a:solidFill>
            <a:ln w="19050">
              <a:solidFill>
                <a:srgbClr val="0000FF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2</a:t>
              </a:r>
            </a:p>
          </p:txBody>
        </p:sp>
        <p:sp>
          <p:nvSpPr>
            <p:cNvPr id="1043481" name="Text Box 25"/>
            <p:cNvSpPr txBox="1">
              <a:spLocks noChangeArrowheads="1"/>
            </p:cNvSpPr>
            <p:nvPr/>
          </p:nvSpPr>
          <p:spPr bwMode="auto">
            <a:xfrm>
              <a:off x="4729" y="1298"/>
              <a:ext cx="40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i++</a:t>
              </a:r>
            </a:p>
          </p:txBody>
        </p:sp>
        <p:sp>
          <p:nvSpPr>
            <p:cNvPr id="1043482" name="Text Box 26"/>
            <p:cNvSpPr txBox="1">
              <a:spLocks noChangeArrowheads="1"/>
            </p:cNvSpPr>
            <p:nvPr/>
          </p:nvSpPr>
          <p:spPr bwMode="auto">
            <a:xfrm>
              <a:off x="5092" y="1298"/>
              <a:ext cx="454" cy="300"/>
            </a:xfrm>
            <a:prstGeom prst="rect">
              <a:avLst/>
            </a:prstGeom>
            <a:solidFill>
              <a:srgbClr val="CCFFFF"/>
            </a:solidFill>
            <a:ln w="19050">
              <a:solidFill>
                <a:srgbClr val="0000FF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2</a:t>
              </a:r>
            </a:p>
          </p:txBody>
        </p:sp>
        <p:sp>
          <p:nvSpPr>
            <p:cNvPr id="1043483" name="Text Box 27"/>
            <p:cNvSpPr txBox="1">
              <a:spLocks noChangeArrowheads="1"/>
            </p:cNvSpPr>
            <p:nvPr/>
          </p:nvSpPr>
          <p:spPr bwMode="auto">
            <a:xfrm>
              <a:off x="3905" y="1911"/>
              <a:ext cx="22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a</a:t>
              </a:r>
            </a:p>
          </p:txBody>
        </p:sp>
        <p:sp>
          <p:nvSpPr>
            <p:cNvPr id="1043484" name="Text Box 28"/>
            <p:cNvSpPr txBox="1">
              <a:spLocks noChangeArrowheads="1"/>
            </p:cNvSpPr>
            <p:nvPr/>
          </p:nvSpPr>
          <p:spPr bwMode="auto">
            <a:xfrm>
              <a:off x="4113" y="1920"/>
              <a:ext cx="454" cy="300"/>
            </a:xfrm>
            <a:prstGeom prst="rect">
              <a:avLst/>
            </a:prstGeom>
            <a:solidFill>
              <a:srgbClr val="CCFFFF"/>
            </a:solidFill>
            <a:ln w="19050">
              <a:solidFill>
                <a:srgbClr val="0000FF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endParaRPr lang="zh-CN" altLang="zh-CN" b="1"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  <p:sp>
          <p:nvSpPr>
            <p:cNvPr id="1043485" name="Text Box 29"/>
            <p:cNvSpPr txBox="1">
              <a:spLocks noChangeArrowheads="1"/>
            </p:cNvSpPr>
            <p:nvPr/>
          </p:nvSpPr>
          <p:spPr bwMode="auto">
            <a:xfrm>
              <a:off x="4878" y="1903"/>
              <a:ext cx="22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b</a:t>
              </a:r>
            </a:p>
          </p:txBody>
        </p:sp>
        <p:sp>
          <p:nvSpPr>
            <p:cNvPr id="1043486" name="Text Box 30"/>
            <p:cNvSpPr txBox="1">
              <a:spLocks noChangeArrowheads="1"/>
            </p:cNvSpPr>
            <p:nvPr/>
          </p:nvSpPr>
          <p:spPr bwMode="auto">
            <a:xfrm>
              <a:off x="5086" y="1912"/>
              <a:ext cx="454" cy="300"/>
            </a:xfrm>
            <a:prstGeom prst="rect">
              <a:avLst/>
            </a:prstGeom>
            <a:solidFill>
              <a:srgbClr val="CCFFFF"/>
            </a:solidFill>
            <a:ln w="19050">
              <a:solidFill>
                <a:srgbClr val="0000FF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endParaRPr lang="zh-CN" altLang="zh-CN" b="1"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  <p:sp>
          <p:nvSpPr>
            <p:cNvPr id="1043490" name="Text Box 34"/>
            <p:cNvSpPr txBox="1">
              <a:spLocks noChangeArrowheads="1"/>
            </p:cNvSpPr>
            <p:nvPr/>
          </p:nvSpPr>
          <p:spPr bwMode="auto">
            <a:xfrm>
              <a:off x="3324" y="1281"/>
              <a:ext cx="55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 dirty="0">
                  <a:ln w="1905"/>
                  <a:solidFill>
                    <a:srgbClr val="002060"/>
                  </a:solidFill>
                  <a:effectLst>
                    <a:innerShdw blurRad="69850" dist="43180" dir="5400000">
                      <a:srgbClr val="000000">
                        <a:alpha val="65000"/>
                      </a:srgbClr>
                    </a:innerShdw>
                  </a:effectLst>
                  <a:ea typeface="隶书" pitchFamily="49" charset="-122"/>
                </a:rPr>
                <a:t>实参</a:t>
              </a:r>
            </a:p>
          </p:txBody>
        </p:sp>
        <p:sp>
          <p:nvSpPr>
            <p:cNvPr id="1043492" name="Text Box 36"/>
            <p:cNvSpPr txBox="1">
              <a:spLocks noChangeArrowheads="1"/>
            </p:cNvSpPr>
            <p:nvPr/>
          </p:nvSpPr>
          <p:spPr bwMode="auto">
            <a:xfrm>
              <a:off x="3334" y="1912"/>
              <a:ext cx="55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 dirty="0">
                  <a:ln w="1905"/>
                  <a:solidFill>
                    <a:srgbClr val="002060"/>
                  </a:solidFill>
                  <a:effectLst>
                    <a:innerShdw blurRad="69850" dist="43180" dir="5400000">
                      <a:srgbClr val="000000">
                        <a:alpha val="65000"/>
                      </a:srgbClr>
                    </a:innerShdw>
                  </a:effectLst>
                  <a:ea typeface="隶书" pitchFamily="49" charset="-122"/>
                </a:rPr>
                <a:t>形参</a:t>
              </a:r>
            </a:p>
          </p:txBody>
        </p:sp>
      </p:grpSp>
      <p:sp>
        <p:nvSpPr>
          <p:cNvPr id="1043491" name="Text Box 35"/>
          <p:cNvSpPr txBox="1">
            <a:spLocks noChangeArrowheads="1"/>
          </p:cNvSpPr>
          <p:nvPr/>
        </p:nvSpPr>
        <p:spPr bwMode="auto">
          <a:xfrm>
            <a:off x="10676553" y="3074540"/>
            <a:ext cx="720725" cy="476250"/>
          </a:xfrm>
          <a:prstGeom prst="rect">
            <a:avLst/>
          </a:prstGeom>
          <a:solidFill>
            <a:srgbClr val="CCFFFF"/>
          </a:solidFill>
          <a:ln w="19050">
            <a:solidFill>
              <a:srgbClr val="00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</a:p>
        </p:txBody>
      </p:sp>
      <p:grpSp>
        <p:nvGrpSpPr>
          <p:cNvPr id="1043496" name="Group 40"/>
          <p:cNvGrpSpPr>
            <a:grpSpLocks/>
          </p:cNvGrpSpPr>
          <p:nvPr/>
        </p:nvGrpSpPr>
        <p:grpSpPr bwMode="auto">
          <a:xfrm>
            <a:off x="9839940" y="2528441"/>
            <a:ext cx="1120775" cy="503237"/>
            <a:chOff x="4558" y="1571"/>
            <a:chExt cx="706" cy="317"/>
          </a:xfrm>
        </p:grpSpPr>
        <p:sp>
          <p:nvSpPr>
            <p:cNvPr id="1043494" name="Line 38"/>
            <p:cNvSpPr>
              <a:spLocks noChangeShapeType="1"/>
            </p:cNvSpPr>
            <p:nvPr/>
          </p:nvSpPr>
          <p:spPr bwMode="auto">
            <a:xfrm flipH="1" flipV="1">
              <a:off x="4558" y="1616"/>
              <a:ext cx="545" cy="27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stealth" w="lg" len="lg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3495" name="Text Box 39"/>
            <p:cNvSpPr txBox="1">
              <a:spLocks noChangeArrowheads="1"/>
            </p:cNvSpPr>
            <p:nvPr/>
          </p:nvSpPr>
          <p:spPr bwMode="auto">
            <a:xfrm>
              <a:off x="4765" y="1571"/>
              <a:ext cx="49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② i+1</a:t>
              </a:r>
            </a:p>
          </p:txBody>
        </p:sp>
      </p:grpSp>
      <p:sp>
        <p:nvSpPr>
          <p:cNvPr id="1043497" name="Text Box 41"/>
          <p:cNvSpPr txBox="1">
            <a:spLocks noChangeArrowheads="1"/>
          </p:cNvSpPr>
          <p:nvPr/>
        </p:nvSpPr>
        <p:spPr bwMode="auto">
          <a:xfrm>
            <a:off x="9104928" y="2095052"/>
            <a:ext cx="720725" cy="476250"/>
          </a:xfrm>
          <a:prstGeom prst="rect">
            <a:avLst/>
          </a:prstGeom>
          <a:solidFill>
            <a:srgbClr val="CCFFFF"/>
          </a:solidFill>
          <a:ln w="19050">
            <a:solidFill>
              <a:srgbClr val="00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3</a:t>
            </a:r>
          </a:p>
        </p:txBody>
      </p:sp>
      <p:grpSp>
        <p:nvGrpSpPr>
          <p:cNvPr id="1043498" name="Group 42"/>
          <p:cNvGrpSpPr>
            <a:grpSpLocks/>
          </p:cNvGrpSpPr>
          <p:nvPr/>
        </p:nvGrpSpPr>
        <p:grpSpPr bwMode="auto">
          <a:xfrm>
            <a:off x="9393852" y="2585591"/>
            <a:ext cx="342900" cy="503237"/>
            <a:chOff x="5103" y="1597"/>
            <a:chExt cx="216" cy="317"/>
          </a:xfrm>
        </p:grpSpPr>
        <p:sp>
          <p:nvSpPr>
            <p:cNvPr id="1043499" name="Line 43"/>
            <p:cNvSpPr>
              <a:spLocks noChangeShapeType="1"/>
            </p:cNvSpPr>
            <p:nvPr/>
          </p:nvSpPr>
          <p:spPr bwMode="auto">
            <a:xfrm>
              <a:off x="5130" y="1597"/>
              <a:ext cx="0" cy="31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lg" len="lg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3500" name="Text Box 44"/>
            <p:cNvSpPr txBox="1">
              <a:spLocks noChangeArrowheads="1"/>
            </p:cNvSpPr>
            <p:nvPr/>
          </p:nvSpPr>
          <p:spPr bwMode="auto">
            <a:xfrm>
              <a:off x="5103" y="1607"/>
              <a:ext cx="21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1800" b="1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③</a:t>
              </a:r>
              <a:endParaRPr lang="en-US" altLang="zh-CN" sz="18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  <p:sp>
        <p:nvSpPr>
          <p:cNvPr id="1043501" name="Text Box 45"/>
          <p:cNvSpPr txBox="1">
            <a:spLocks noChangeArrowheads="1"/>
          </p:cNvSpPr>
          <p:nvPr/>
        </p:nvSpPr>
        <p:spPr bwMode="auto">
          <a:xfrm>
            <a:off x="9135090" y="3088827"/>
            <a:ext cx="720725" cy="476250"/>
          </a:xfrm>
          <a:prstGeom prst="rect">
            <a:avLst/>
          </a:prstGeom>
          <a:solidFill>
            <a:srgbClr val="CCFFFF"/>
          </a:solidFill>
          <a:ln w="19050">
            <a:solidFill>
              <a:srgbClr val="00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3</a:t>
            </a:r>
          </a:p>
        </p:txBody>
      </p:sp>
      <p:grpSp>
        <p:nvGrpSpPr>
          <p:cNvPr id="1043502" name="Group 46"/>
          <p:cNvGrpSpPr>
            <a:grpSpLocks/>
          </p:cNvGrpSpPr>
          <p:nvPr/>
        </p:nvGrpSpPr>
        <p:grpSpPr bwMode="auto">
          <a:xfrm>
            <a:off x="7752184" y="5027613"/>
            <a:ext cx="3527425" cy="1490662"/>
            <a:chOff x="3324" y="1281"/>
            <a:chExt cx="2222" cy="939"/>
          </a:xfrm>
        </p:grpSpPr>
        <p:sp>
          <p:nvSpPr>
            <p:cNvPr id="1043503" name="Text Box 47"/>
            <p:cNvSpPr txBox="1">
              <a:spLocks noChangeArrowheads="1"/>
            </p:cNvSpPr>
            <p:nvPr/>
          </p:nvSpPr>
          <p:spPr bwMode="auto">
            <a:xfrm>
              <a:off x="3913" y="1298"/>
              <a:ext cx="22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i</a:t>
              </a:r>
            </a:p>
          </p:txBody>
        </p:sp>
        <p:sp>
          <p:nvSpPr>
            <p:cNvPr id="1043504" name="Text Box 48"/>
            <p:cNvSpPr txBox="1">
              <a:spLocks noChangeArrowheads="1"/>
            </p:cNvSpPr>
            <p:nvPr/>
          </p:nvSpPr>
          <p:spPr bwMode="auto">
            <a:xfrm>
              <a:off x="4094" y="1298"/>
              <a:ext cx="454" cy="300"/>
            </a:xfrm>
            <a:prstGeom prst="rect">
              <a:avLst/>
            </a:prstGeom>
            <a:solidFill>
              <a:srgbClr val="CCFFFF"/>
            </a:solidFill>
            <a:ln w="19050">
              <a:solidFill>
                <a:srgbClr val="0000FF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2</a:t>
              </a:r>
            </a:p>
          </p:txBody>
        </p:sp>
        <p:sp>
          <p:nvSpPr>
            <p:cNvPr id="1043505" name="Text Box 49"/>
            <p:cNvSpPr txBox="1">
              <a:spLocks noChangeArrowheads="1"/>
            </p:cNvSpPr>
            <p:nvPr/>
          </p:nvSpPr>
          <p:spPr bwMode="auto">
            <a:xfrm>
              <a:off x="4729" y="1298"/>
              <a:ext cx="40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i++</a:t>
              </a:r>
            </a:p>
          </p:txBody>
        </p:sp>
        <p:sp>
          <p:nvSpPr>
            <p:cNvPr id="1043506" name="Text Box 50"/>
            <p:cNvSpPr txBox="1">
              <a:spLocks noChangeArrowheads="1"/>
            </p:cNvSpPr>
            <p:nvPr/>
          </p:nvSpPr>
          <p:spPr bwMode="auto">
            <a:xfrm>
              <a:off x="5092" y="1298"/>
              <a:ext cx="454" cy="300"/>
            </a:xfrm>
            <a:prstGeom prst="rect">
              <a:avLst/>
            </a:prstGeom>
            <a:solidFill>
              <a:srgbClr val="CCFFFF"/>
            </a:solidFill>
            <a:ln w="19050">
              <a:solidFill>
                <a:srgbClr val="0000FF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2</a:t>
              </a:r>
            </a:p>
          </p:txBody>
        </p:sp>
        <p:sp>
          <p:nvSpPr>
            <p:cNvPr id="1043507" name="Text Box 51"/>
            <p:cNvSpPr txBox="1">
              <a:spLocks noChangeArrowheads="1"/>
            </p:cNvSpPr>
            <p:nvPr/>
          </p:nvSpPr>
          <p:spPr bwMode="auto">
            <a:xfrm>
              <a:off x="3905" y="1911"/>
              <a:ext cx="22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a</a:t>
              </a:r>
            </a:p>
          </p:txBody>
        </p:sp>
        <p:sp>
          <p:nvSpPr>
            <p:cNvPr id="1043508" name="Text Box 52"/>
            <p:cNvSpPr txBox="1">
              <a:spLocks noChangeArrowheads="1"/>
            </p:cNvSpPr>
            <p:nvPr/>
          </p:nvSpPr>
          <p:spPr bwMode="auto">
            <a:xfrm>
              <a:off x="4113" y="1920"/>
              <a:ext cx="454" cy="300"/>
            </a:xfrm>
            <a:prstGeom prst="rect">
              <a:avLst/>
            </a:prstGeom>
            <a:solidFill>
              <a:srgbClr val="CCFFFF"/>
            </a:solidFill>
            <a:ln w="19050">
              <a:solidFill>
                <a:srgbClr val="0000FF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endParaRPr lang="zh-CN" altLang="zh-CN" b="1"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  <p:sp>
          <p:nvSpPr>
            <p:cNvPr id="1043509" name="Text Box 53"/>
            <p:cNvSpPr txBox="1">
              <a:spLocks noChangeArrowheads="1"/>
            </p:cNvSpPr>
            <p:nvPr/>
          </p:nvSpPr>
          <p:spPr bwMode="auto">
            <a:xfrm>
              <a:off x="4878" y="1903"/>
              <a:ext cx="22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b</a:t>
              </a:r>
            </a:p>
          </p:txBody>
        </p:sp>
        <p:sp>
          <p:nvSpPr>
            <p:cNvPr id="1043510" name="Text Box 54"/>
            <p:cNvSpPr txBox="1">
              <a:spLocks noChangeArrowheads="1"/>
            </p:cNvSpPr>
            <p:nvPr/>
          </p:nvSpPr>
          <p:spPr bwMode="auto">
            <a:xfrm>
              <a:off x="5086" y="1912"/>
              <a:ext cx="454" cy="300"/>
            </a:xfrm>
            <a:prstGeom prst="rect">
              <a:avLst/>
            </a:prstGeom>
            <a:solidFill>
              <a:srgbClr val="CCFFFF"/>
            </a:solidFill>
            <a:ln w="19050">
              <a:solidFill>
                <a:srgbClr val="0000FF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endParaRPr lang="zh-CN" altLang="zh-CN" b="1"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  <p:sp>
          <p:nvSpPr>
            <p:cNvPr id="1043511" name="Text Box 55"/>
            <p:cNvSpPr txBox="1">
              <a:spLocks noChangeArrowheads="1"/>
            </p:cNvSpPr>
            <p:nvPr/>
          </p:nvSpPr>
          <p:spPr bwMode="auto">
            <a:xfrm>
              <a:off x="3324" y="1281"/>
              <a:ext cx="55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 dirty="0">
                  <a:ln w="1905"/>
                  <a:solidFill>
                    <a:srgbClr val="002060"/>
                  </a:solidFill>
                  <a:effectLst>
                    <a:innerShdw blurRad="69850" dist="43180" dir="5400000">
                      <a:srgbClr val="000000">
                        <a:alpha val="65000"/>
                      </a:srgbClr>
                    </a:innerShdw>
                  </a:effectLst>
                  <a:ea typeface="隶书" pitchFamily="49" charset="-122"/>
                </a:rPr>
                <a:t>实参</a:t>
              </a:r>
            </a:p>
          </p:txBody>
        </p:sp>
        <p:sp>
          <p:nvSpPr>
            <p:cNvPr id="1043512" name="Text Box 56"/>
            <p:cNvSpPr txBox="1">
              <a:spLocks noChangeArrowheads="1"/>
            </p:cNvSpPr>
            <p:nvPr/>
          </p:nvSpPr>
          <p:spPr bwMode="auto">
            <a:xfrm>
              <a:off x="3334" y="1912"/>
              <a:ext cx="55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ln w="1905"/>
                  <a:solidFill>
                    <a:srgbClr val="002060"/>
                  </a:solidFill>
                  <a:effectLst>
                    <a:innerShdw blurRad="69850" dist="43180" dir="5400000">
                      <a:srgbClr val="000000">
                        <a:alpha val="65000"/>
                      </a:srgbClr>
                    </a:innerShdw>
                  </a:effectLst>
                  <a:ea typeface="隶书" pitchFamily="49" charset="-122"/>
                </a:rPr>
                <a:t>形参</a:t>
              </a:r>
            </a:p>
          </p:txBody>
        </p:sp>
      </p:grpSp>
      <p:grpSp>
        <p:nvGrpSpPr>
          <p:cNvPr id="1043513" name="Group 57"/>
          <p:cNvGrpSpPr>
            <a:grpSpLocks/>
          </p:cNvGrpSpPr>
          <p:nvPr/>
        </p:nvGrpSpPr>
        <p:grpSpPr bwMode="auto">
          <a:xfrm>
            <a:off x="10862096" y="5530850"/>
            <a:ext cx="342900" cy="503238"/>
            <a:chOff x="5103" y="1597"/>
            <a:chExt cx="216" cy="317"/>
          </a:xfrm>
        </p:grpSpPr>
        <p:sp>
          <p:nvSpPr>
            <p:cNvPr id="1043514" name="Line 58"/>
            <p:cNvSpPr>
              <a:spLocks noChangeShapeType="1"/>
            </p:cNvSpPr>
            <p:nvPr/>
          </p:nvSpPr>
          <p:spPr bwMode="auto">
            <a:xfrm>
              <a:off x="5130" y="1597"/>
              <a:ext cx="0" cy="31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lg" len="lg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3515" name="Text Box 59"/>
            <p:cNvSpPr txBox="1">
              <a:spLocks noChangeArrowheads="1"/>
            </p:cNvSpPr>
            <p:nvPr/>
          </p:nvSpPr>
          <p:spPr bwMode="auto">
            <a:xfrm>
              <a:off x="5103" y="1607"/>
              <a:ext cx="21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①</a:t>
              </a:r>
            </a:p>
          </p:txBody>
        </p:sp>
      </p:grpSp>
      <p:sp>
        <p:nvSpPr>
          <p:cNvPr id="1043516" name="Text Box 60"/>
          <p:cNvSpPr txBox="1">
            <a:spLocks noChangeArrowheads="1"/>
          </p:cNvSpPr>
          <p:nvPr/>
        </p:nvSpPr>
        <p:spPr bwMode="auto">
          <a:xfrm>
            <a:off x="10546184" y="6035675"/>
            <a:ext cx="720725" cy="476250"/>
          </a:xfrm>
          <a:prstGeom prst="rect">
            <a:avLst/>
          </a:prstGeom>
          <a:solidFill>
            <a:srgbClr val="CCFFFF"/>
          </a:solidFill>
          <a:ln w="19050">
            <a:solidFill>
              <a:srgbClr val="00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</a:p>
        </p:txBody>
      </p:sp>
      <p:grpSp>
        <p:nvGrpSpPr>
          <p:cNvPr id="1043517" name="Group 61"/>
          <p:cNvGrpSpPr>
            <a:grpSpLocks/>
          </p:cNvGrpSpPr>
          <p:nvPr/>
        </p:nvGrpSpPr>
        <p:grpSpPr bwMode="auto">
          <a:xfrm>
            <a:off x="9292058" y="5530850"/>
            <a:ext cx="342900" cy="503238"/>
            <a:chOff x="5103" y="1597"/>
            <a:chExt cx="216" cy="317"/>
          </a:xfrm>
        </p:grpSpPr>
        <p:sp>
          <p:nvSpPr>
            <p:cNvPr id="1043518" name="Line 62"/>
            <p:cNvSpPr>
              <a:spLocks noChangeShapeType="1"/>
            </p:cNvSpPr>
            <p:nvPr/>
          </p:nvSpPr>
          <p:spPr bwMode="auto">
            <a:xfrm>
              <a:off x="5130" y="1597"/>
              <a:ext cx="0" cy="31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lg" len="lg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3519" name="Text Box 63"/>
            <p:cNvSpPr txBox="1">
              <a:spLocks noChangeArrowheads="1"/>
            </p:cNvSpPr>
            <p:nvPr/>
          </p:nvSpPr>
          <p:spPr bwMode="auto">
            <a:xfrm>
              <a:off x="5103" y="1607"/>
              <a:ext cx="21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1800" b="1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②</a:t>
              </a:r>
              <a:endParaRPr lang="en-US" altLang="zh-CN" sz="18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  <p:sp>
        <p:nvSpPr>
          <p:cNvPr id="1043520" name="Text Box 64"/>
          <p:cNvSpPr txBox="1">
            <a:spLocks noChangeArrowheads="1"/>
          </p:cNvSpPr>
          <p:nvPr/>
        </p:nvSpPr>
        <p:spPr bwMode="auto">
          <a:xfrm>
            <a:off x="9004722" y="6037263"/>
            <a:ext cx="720725" cy="476250"/>
          </a:xfrm>
          <a:prstGeom prst="rect">
            <a:avLst/>
          </a:prstGeom>
          <a:solidFill>
            <a:srgbClr val="CCFFFF"/>
          </a:solidFill>
          <a:ln w="19050">
            <a:solidFill>
              <a:srgbClr val="00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</a:p>
        </p:txBody>
      </p:sp>
      <p:grpSp>
        <p:nvGrpSpPr>
          <p:cNvPr id="1043521" name="Group 65"/>
          <p:cNvGrpSpPr>
            <a:grpSpLocks/>
          </p:cNvGrpSpPr>
          <p:nvPr/>
        </p:nvGrpSpPr>
        <p:grpSpPr bwMode="auto">
          <a:xfrm rot="728620">
            <a:off x="9523834" y="5589589"/>
            <a:ext cx="1120775" cy="503237"/>
            <a:chOff x="4558" y="1571"/>
            <a:chExt cx="706" cy="317"/>
          </a:xfrm>
        </p:grpSpPr>
        <p:sp>
          <p:nvSpPr>
            <p:cNvPr id="1043522" name="Line 66"/>
            <p:cNvSpPr>
              <a:spLocks noChangeShapeType="1"/>
            </p:cNvSpPr>
            <p:nvPr/>
          </p:nvSpPr>
          <p:spPr bwMode="auto">
            <a:xfrm flipH="1" flipV="1">
              <a:off x="4558" y="1616"/>
              <a:ext cx="545" cy="27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stealth" w="lg" len="lg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3523" name="Text Box 67"/>
            <p:cNvSpPr txBox="1">
              <a:spLocks noChangeArrowheads="1"/>
            </p:cNvSpPr>
            <p:nvPr/>
          </p:nvSpPr>
          <p:spPr bwMode="auto">
            <a:xfrm>
              <a:off x="4765" y="1571"/>
              <a:ext cx="49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800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③</a:t>
              </a:r>
              <a:r>
                <a:rPr lang="en-US" altLang="zh-CN" sz="1800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i+1</a:t>
              </a:r>
            </a:p>
          </p:txBody>
        </p:sp>
      </p:grpSp>
      <p:sp>
        <p:nvSpPr>
          <p:cNvPr id="1043524" name="Text Box 68"/>
          <p:cNvSpPr txBox="1">
            <a:spLocks noChangeArrowheads="1"/>
          </p:cNvSpPr>
          <p:nvPr/>
        </p:nvSpPr>
        <p:spPr bwMode="auto">
          <a:xfrm>
            <a:off x="8961859" y="5056188"/>
            <a:ext cx="720725" cy="476250"/>
          </a:xfrm>
          <a:prstGeom prst="rect">
            <a:avLst/>
          </a:prstGeom>
          <a:solidFill>
            <a:srgbClr val="CCFFFF"/>
          </a:solidFill>
          <a:ln w="19050">
            <a:solidFill>
              <a:srgbClr val="0000FF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3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10434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500"/>
                                        <p:tgtEl>
                                          <p:spTgt spid="10434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2" dur="500"/>
                                        <p:tgtEl>
                                          <p:spTgt spid="10434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10434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1" dur="500"/>
                                        <p:tgtEl>
                                          <p:spTgt spid="104346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6" dur="500"/>
                                        <p:tgtEl>
                                          <p:spTgt spid="10434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0" dur="500"/>
                                        <p:tgtEl>
                                          <p:spTgt spid="104347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5" dur="500"/>
                                        <p:tgtEl>
                                          <p:spTgt spid="10434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0" dur="500"/>
                                        <p:tgtEl>
                                          <p:spTgt spid="10434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5" dur="500"/>
                                        <p:tgtEl>
                                          <p:spTgt spid="10434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9" dur="500"/>
                                        <p:tgtEl>
                                          <p:spTgt spid="10434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64" dur="500"/>
                                        <p:tgtEl>
                                          <p:spTgt spid="10434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8" dur="500"/>
                                        <p:tgtEl>
                                          <p:spTgt spid="10434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3" dur="500"/>
                                        <p:tgtEl>
                                          <p:spTgt spid="10434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7" dur="500"/>
                                        <p:tgtEl>
                                          <p:spTgt spid="104350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2" dur="500"/>
                                        <p:tgtEl>
                                          <p:spTgt spid="10434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7" dur="500"/>
                                        <p:tgtEl>
                                          <p:spTgt spid="10435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2" dur="500"/>
                                        <p:tgtEl>
                                          <p:spTgt spid="10435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6" dur="500"/>
                                        <p:tgtEl>
                                          <p:spTgt spid="10435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1" dur="500"/>
                                        <p:tgtEl>
                                          <p:spTgt spid="10435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5" dur="500"/>
                                        <p:tgtEl>
                                          <p:spTgt spid="10435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10" dur="500"/>
                                        <p:tgtEl>
                                          <p:spTgt spid="10435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500"/>
                            </p:stCondLst>
                            <p:childTnLst>
                              <p:par>
                                <p:cTn id="112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4" dur="500"/>
                                        <p:tgtEl>
                                          <p:spTgt spid="10435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/>
      <p:bldP spid="1043466" grpId="0" animBg="1"/>
      <p:bldP spid="1043467" grpId="0" animBg="1"/>
      <p:bldP spid="1043468" grpId="0" animBg="1"/>
      <p:bldP spid="1043469" grpId="0" animBg="1"/>
      <p:bldP spid="1043470" grpId="0" animBg="1"/>
      <p:bldP spid="1043471" grpId="0" animBg="1"/>
      <p:bldP spid="1043472" grpId="0" animBg="1"/>
      <p:bldP spid="1043491" grpId="0" animBg="1"/>
      <p:bldP spid="1043497" grpId="0" animBg="1"/>
      <p:bldP spid="1043501" grpId="0" animBg="1"/>
      <p:bldP spid="1043516" grpId="0" animBg="1"/>
      <p:bldP spid="1043520" grpId="0" animBg="1"/>
      <p:bldP spid="104352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511" name="Text Box 7"/>
          <p:cNvSpPr txBox="1">
            <a:spLocks noChangeArrowheads="1"/>
          </p:cNvSpPr>
          <p:nvPr/>
        </p:nvSpPr>
        <p:spPr bwMode="auto">
          <a:xfrm>
            <a:off x="1545048" y="1863498"/>
            <a:ext cx="9793015" cy="1715269"/>
          </a:xfrm>
          <a:prstGeom prst="rect">
            <a:avLst/>
          </a:prstGeom>
          <a:gradFill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>
            <a:defPPr>
              <a:defRPr lang="zh-CN"/>
            </a:defPPr>
            <a:lvl1pPr>
              <a:defRPr sz="2000" b="1">
                <a:latin typeface="+mn-lt"/>
                <a:ea typeface="楷体" pitchFamily="49" charset="-122"/>
              </a:defRPr>
            </a:lvl1pPr>
          </a:lstStyle>
          <a:p>
            <a:r>
              <a:rPr lang="zh-CN" altLang="en-US" dirty="0"/>
              <a:t>返回值类型符  函数</a:t>
            </a:r>
            <a:r>
              <a:rPr lang="zh-CN" altLang="en-US"/>
              <a:t>名 </a:t>
            </a:r>
            <a:r>
              <a:rPr lang="en-US" altLang="zh-CN" dirty="0"/>
              <a:t>(</a:t>
            </a:r>
            <a:r>
              <a:rPr lang="zh-CN" altLang="en-US"/>
              <a:t>类型符</a:t>
            </a:r>
            <a:r>
              <a:rPr lang="en-US" altLang="zh-CN" dirty="0"/>
              <a:t>1  </a:t>
            </a:r>
            <a:r>
              <a:rPr lang="zh-CN" altLang="en-US"/>
              <a:t>形参名</a:t>
            </a:r>
            <a:r>
              <a:rPr lang="en-US" altLang="zh-CN" dirty="0"/>
              <a:t>1, … … , </a:t>
            </a:r>
            <a:r>
              <a:rPr lang="zh-CN" altLang="en-US"/>
              <a:t>类型符</a:t>
            </a:r>
            <a:r>
              <a:rPr lang="en-US" altLang="zh-CN" dirty="0"/>
              <a:t>n  </a:t>
            </a:r>
            <a:r>
              <a:rPr lang="zh-CN" altLang="en-US"/>
              <a:t>形参名</a:t>
            </a:r>
            <a:r>
              <a:rPr lang="en-US" altLang="zh-CN"/>
              <a:t>n 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{</a:t>
            </a:r>
          </a:p>
          <a:p>
            <a:r>
              <a:rPr lang="en-US" altLang="zh-CN" dirty="0"/>
              <a:t>    </a:t>
            </a:r>
            <a:r>
              <a:rPr lang="zh-CN" altLang="en-US" dirty="0"/>
              <a:t>变量声明部分</a:t>
            </a:r>
          </a:p>
          <a:p>
            <a:r>
              <a:rPr lang="zh-CN" altLang="en-US" dirty="0"/>
              <a:t>    执行部分</a:t>
            </a:r>
          </a:p>
          <a:p>
            <a:r>
              <a:rPr lang="en-US" altLang="zh-CN" dirty="0"/>
              <a:t>}</a:t>
            </a:r>
          </a:p>
        </p:txBody>
      </p:sp>
      <p:grpSp>
        <p:nvGrpSpPr>
          <p:cNvPr id="1045512" name="Group 8"/>
          <p:cNvGrpSpPr>
            <a:grpSpLocks/>
          </p:cNvGrpSpPr>
          <p:nvPr/>
        </p:nvGrpSpPr>
        <p:grpSpPr bwMode="auto">
          <a:xfrm>
            <a:off x="3489736" y="2628673"/>
            <a:ext cx="1152525" cy="569913"/>
            <a:chOff x="3195" y="1661"/>
            <a:chExt cx="726" cy="359"/>
          </a:xfrm>
        </p:grpSpPr>
        <p:sp>
          <p:nvSpPr>
            <p:cNvPr id="1045513" name="AutoShape 9"/>
            <p:cNvSpPr>
              <a:spLocks/>
            </p:cNvSpPr>
            <p:nvPr/>
          </p:nvSpPr>
          <p:spPr bwMode="auto">
            <a:xfrm>
              <a:off x="3195" y="1661"/>
              <a:ext cx="99" cy="359"/>
            </a:xfrm>
            <a:prstGeom prst="rightBrace">
              <a:avLst>
                <a:gd name="adj1" fmla="val 30219"/>
                <a:gd name="adj2" fmla="val 50000"/>
              </a:avLst>
            </a:prstGeom>
            <a:noFill/>
            <a:ln w="25400">
              <a:solidFill>
                <a:srgbClr val="C01920"/>
              </a:solidFill>
              <a:round/>
              <a:headEnd/>
              <a:tailEnd/>
            </a:ln>
            <a:effectLst>
              <a:outerShdw dist="35921" dir="2700000" algn="ctr" rotWithShape="0">
                <a:srgbClr val="808080"/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5514" name="Text Box 10"/>
            <p:cNvSpPr txBox="1">
              <a:spLocks noChangeArrowheads="1"/>
            </p:cNvSpPr>
            <p:nvPr/>
          </p:nvSpPr>
          <p:spPr bwMode="auto">
            <a:xfrm>
              <a:off x="3286" y="1661"/>
              <a:ext cx="635" cy="2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zh-CN" altLang="en-US" sz="2000" b="1" dirty="0">
                  <a:solidFill>
                    <a:srgbClr val="C01920"/>
                  </a:solidFill>
                  <a:latin typeface="楷体" pitchFamily="49" charset="-122"/>
                  <a:ea typeface="楷体" pitchFamily="49" charset="-122"/>
                </a:rPr>
                <a:t>函数体</a:t>
              </a:r>
            </a:p>
          </p:txBody>
        </p:sp>
      </p:grpSp>
      <p:sp>
        <p:nvSpPr>
          <p:cNvPr id="1045515" name="Rectangle 11"/>
          <p:cNvSpPr>
            <a:spLocks noChangeArrowheads="1"/>
          </p:cNvSpPr>
          <p:nvPr/>
        </p:nvSpPr>
        <p:spPr bwMode="auto">
          <a:xfrm>
            <a:off x="1109624" y="3625953"/>
            <a:ext cx="2492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altLang="zh-CN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函数用途 </a:t>
            </a:r>
          </a:p>
        </p:txBody>
      </p:sp>
      <p:sp>
        <p:nvSpPr>
          <p:cNvPr id="1045516" name="Rectangle 12"/>
          <p:cNvSpPr>
            <a:spLocks noChangeArrowheads="1"/>
          </p:cNvSpPr>
          <p:nvPr/>
        </p:nvSpPr>
        <p:spPr bwMode="auto">
          <a:xfrm>
            <a:off x="965506" y="4152655"/>
            <a:ext cx="1053109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    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此类型的函数主要是</a:t>
            </a:r>
            <a:r>
              <a:rPr lang="zh-CN" altLang="en-US" sz="20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根据形参的值来进行某种事务的处理，同时可将处理后的结果值返回给调用函数</a:t>
            </a:r>
            <a:r>
              <a:rPr lang="zh-CN" altLang="en-US" sz="2000" dirty="0">
                <a:latin typeface="+mn-lt"/>
                <a:ea typeface="楷体" pitchFamily="49" charset="-122"/>
              </a:rPr>
              <a:t> 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。它最能体现调用函数与被调函数之间的数据联系。</a:t>
            </a:r>
            <a:r>
              <a:rPr lang="zh-CN" altLang="en-US" sz="2000" dirty="0"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045517" name="Rectangle 13"/>
          <p:cNvSpPr>
            <a:spLocks noChangeArrowheads="1"/>
          </p:cNvSpPr>
          <p:nvPr/>
        </p:nvSpPr>
        <p:spPr bwMode="auto">
          <a:xfrm>
            <a:off x="1096924" y="4941168"/>
            <a:ext cx="31543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altLang="zh-CN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函数的原型声明 </a:t>
            </a:r>
          </a:p>
        </p:txBody>
      </p:sp>
      <p:sp>
        <p:nvSpPr>
          <p:cNvPr id="1045518" name="Text Box 14"/>
          <p:cNvSpPr txBox="1">
            <a:spLocks noChangeArrowheads="1"/>
          </p:cNvSpPr>
          <p:nvPr/>
        </p:nvSpPr>
        <p:spPr bwMode="auto">
          <a:xfrm>
            <a:off x="1299619" y="5422814"/>
            <a:ext cx="9792152" cy="1096963"/>
          </a:xfrm>
          <a:prstGeom prst="rect">
            <a:avLst/>
          </a:prstGeom>
          <a:gradFill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>
            <a:defPPr>
              <a:defRPr lang="zh-CN"/>
            </a:defPPr>
            <a:lvl1pPr>
              <a:defRPr sz="2000" b="1">
                <a:latin typeface="+mn-lt"/>
                <a:ea typeface="楷体" pitchFamily="49" charset="-122"/>
              </a:defRPr>
            </a:lvl1pPr>
          </a:lstStyle>
          <a:p>
            <a:r>
              <a:rPr lang="zh-CN" altLang="en-US" dirty="0"/>
              <a:t>返回值类型符  函数名</a:t>
            </a:r>
            <a:r>
              <a:rPr lang="en-US" altLang="zh-CN" dirty="0"/>
              <a:t>(</a:t>
            </a:r>
            <a:r>
              <a:rPr lang="zh-CN" altLang="en-US" dirty="0"/>
              <a:t>类型符</a:t>
            </a:r>
            <a:r>
              <a:rPr lang="en-US" altLang="zh-CN" dirty="0"/>
              <a:t>1  </a:t>
            </a:r>
            <a:r>
              <a:rPr lang="zh-CN" altLang="en-US" dirty="0"/>
              <a:t>形参名</a:t>
            </a:r>
            <a:r>
              <a:rPr lang="en-US" altLang="zh-CN" dirty="0"/>
              <a:t>1,  …… , </a:t>
            </a:r>
            <a:r>
              <a:rPr lang="zh-CN" altLang="en-US" dirty="0"/>
              <a:t>类型符</a:t>
            </a:r>
            <a:r>
              <a:rPr lang="en-US" altLang="zh-CN" dirty="0"/>
              <a:t>n  </a:t>
            </a:r>
            <a:r>
              <a:rPr lang="zh-CN" altLang="en-US" dirty="0"/>
              <a:t>形参名</a:t>
            </a:r>
            <a:r>
              <a:rPr lang="en-US" altLang="zh-CN" dirty="0"/>
              <a:t>n )</a:t>
            </a:r>
            <a:r>
              <a:rPr lang="zh-CN" altLang="en-US" dirty="0"/>
              <a:t>；</a:t>
            </a:r>
          </a:p>
          <a:p>
            <a:r>
              <a:rPr lang="zh-CN" altLang="en-US" dirty="0">
                <a:solidFill>
                  <a:srgbClr val="C01920"/>
                </a:solidFill>
              </a:rPr>
              <a:t>                               或  </a:t>
            </a:r>
          </a:p>
          <a:p>
            <a:r>
              <a:rPr lang="zh-CN" altLang="en-US" dirty="0"/>
              <a:t>返回值类型符  函数名</a:t>
            </a:r>
            <a:r>
              <a:rPr lang="en-US" altLang="zh-CN" dirty="0"/>
              <a:t>(</a:t>
            </a:r>
            <a:r>
              <a:rPr lang="zh-CN" altLang="en-US" dirty="0"/>
              <a:t>类型符</a:t>
            </a:r>
            <a:r>
              <a:rPr lang="en-US" altLang="zh-CN" dirty="0"/>
              <a:t>1 , </a:t>
            </a:r>
            <a:r>
              <a:rPr lang="zh-CN" altLang="en-US" dirty="0"/>
              <a:t>类型符</a:t>
            </a:r>
            <a:r>
              <a:rPr lang="en-US" altLang="zh-CN" dirty="0"/>
              <a:t>2 , …… , </a:t>
            </a:r>
            <a:r>
              <a:rPr lang="zh-CN" altLang="en-US" dirty="0"/>
              <a:t>类型符</a:t>
            </a:r>
            <a:r>
              <a:rPr lang="en-US" altLang="zh-CN" dirty="0"/>
              <a:t>n )</a:t>
            </a:r>
            <a:r>
              <a:rPr lang="zh-CN" altLang="en-US" dirty="0"/>
              <a:t>；</a:t>
            </a:r>
          </a:p>
        </p:txBody>
      </p:sp>
      <p:grpSp>
        <p:nvGrpSpPr>
          <p:cNvPr id="1045525" name="Group 21"/>
          <p:cNvGrpSpPr>
            <a:grpSpLocks/>
          </p:cNvGrpSpPr>
          <p:nvPr/>
        </p:nvGrpSpPr>
        <p:grpSpPr bwMode="auto">
          <a:xfrm>
            <a:off x="4281897" y="2209572"/>
            <a:ext cx="4679950" cy="685800"/>
            <a:chOff x="2064" y="980"/>
            <a:chExt cx="2948" cy="432"/>
          </a:xfrm>
        </p:grpSpPr>
        <p:sp>
          <p:nvSpPr>
            <p:cNvPr id="1045520" name="AutoShape 16"/>
            <p:cNvSpPr>
              <a:spLocks/>
            </p:cNvSpPr>
            <p:nvPr/>
          </p:nvSpPr>
          <p:spPr bwMode="auto">
            <a:xfrm rot="-5400000">
              <a:off x="3447" y="-403"/>
              <a:ext cx="182" cy="2948"/>
            </a:xfrm>
            <a:prstGeom prst="leftBrace">
              <a:avLst>
                <a:gd name="adj1" fmla="val 134982"/>
                <a:gd name="adj2" fmla="val 50000"/>
              </a:avLst>
            </a:prstGeom>
            <a:noFill/>
            <a:ln w="22225">
              <a:solidFill>
                <a:srgbClr val="C01920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5521" name="Text Box 17"/>
            <p:cNvSpPr txBox="1">
              <a:spLocks noChangeArrowheads="1"/>
            </p:cNvSpPr>
            <p:nvPr/>
          </p:nvSpPr>
          <p:spPr bwMode="auto">
            <a:xfrm>
              <a:off x="3196" y="1162"/>
              <a:ext cx="81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solidFill>
                    <a:srgbClr val="C01920"/>
                  </a:solidFill>
                  <a:latin typeface="楷体" pitchFamily="49" charset="-122"/>
                  <a:ea typeface="楷体" pitchFamily="49" charset="-122"/>
                </a:rPr>
                <a:t>形参列表</a:t>
              </a:r>
            </a:p>
          </p:txBody>
        </p:sp>
      </p:grpSp>
      <p:sp>
        <p:nvSpPr>
          <p:cNvPr id="19" name="Rectangle 3">
            <a:extLst>
              <a:ext uri="{FF2B5EF4-FFF2-40B4-BE49-F238E27FC236}">
                <a16:creationId xmlns:a16="http://schemas.microsoft.com/office/drawing/2014/main" id="{52580E85-079D-4F29-9EB3-C2F0D19583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85" y="837555"/>
            <a:ext cx="4589169" cy="52322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2800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800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、有参数有返回值的函数</a:t>
            </a:r>
          </a:p>
        </p:txBody>
      </p:sp>
      <p:sp>
        <p:nvSpPr>
          <p:cNvPr id="20" name="Rectangle 7">
            <a:extLst>
              <a:ext uri="{FF2B5EF4-FFF2-40B4-BE49-F238E27FC236}">
                <a16:creationId xmlns:a16="http://schemas.microsoft.com/office/drawing/2014/main" id="{207FE5AA-F6F1-41F5-A0D7-E7B301C5D4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9456" y="1412776"/>
            <a:ext cx="382962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zh-CN" altLang="en-US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定义格式</a:t>
            </a:r>
          </a:p>
        </p:txBody>
      </p:sp>
      <p:sp>
        <p:nvSpPr>
          <p:cNvPr id="21" name="Rectangle 4">
            <a:extLst>
              <a:ext uri="{FF2B5EF4-FFF2-40B4-BE49-F238E27FC236}">
                <a16:creationId xmlns:a16="http://schemas.microsoft.com/office/drawing/2014/main" id="{CB1D55ED-3699-462D-B225-7C4D2F217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8.2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函数的定义和调用 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10455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10455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0455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10455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10455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3" dur="500"/>
                                        <p:tgtEl>
                                          <p:spTgt spid="10455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8" dur="500"/>
                                        <p:tgtEl>
                                          <p:spTgt spid="10455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5511" grpId="0" animBg="1"/>
      <p:bldP spid="1045515" grpId="0"/>
      <p:bldP spid="1045516" grpId="0"/>
      <p:bldP spid="1045517" grpId="0"/>
      <p:bldP spid="1045518" grpId="0" animBg="1"/>
      <p:bldP spid="19" grpId="0"/>
      <p:bldP spid="2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563" name="Rectangle 11" descr="信纸"/>
          <p:cNvSpPr>
            <a:spLocks noChangeArrowheads="1"/>
          </p:cNvSpPr>
          <p:nvPr/>
        </p:nvSpPr>
        <p:spPr bwMode="auto">
          <a:xfrm>
            <a:off x="1251709" y="2276872"/>
            <a:ext cx="9812843" cy="4401205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#include &lt;</a:t>
            </a:r>
            <a:r>
              <a:rPr lang="en-US" altLang="zh-CN" sz="2000" b="1" dirty="0" err="1">
                <a:ea typeface="楷体_GB2312" pitchFamily="49" charset="-122"/>
              </a:rPr>
              <a:t>stdio.h</a:t>
            </a:r>
            <a:r>
              <a:rPr lang="en-US" altLang="zh-CN" sz="2000" b="1" dirty="0">
                <a:ea typeface="楷体_GB2312" pitchFamily="49" charset="-122"/>
              </a:rPr>
              <a:t>&gt;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 err="1">
                <a:ea typeface="楷体_GB2312" pitchFamily="49" charset="-122"/>
              </a:rPr>
              <a:t>int</a:t>
            </a:r>
            <a:r>
              <a:rPr lang="en-US" altLang="zh-CN" sz="2000" b="1" dirty="0">
                <a:ea typeface="楷体_GB2312" pitchFamily="49" charset="-122"/>
              </a:rPr>
              <a:t> max (in t a, </a:t>
            </a:r>
            <a:r>
              <a:rPr lang="en-US" altLang="zh-CN" sz="2000" b="1" dirty="0" err="1">
                <a:ea typeface="楷体_GB2312" pitchFamily="49" charset="-122"/>
              </a:rPr>
              <a:t>int</a:t>
            </a:r>
            <a:r>
              <a:rPr lang="en-US" altLang="zh-CN" sz="2000" b="1" dirty="0">
                <a:ea typeface="楷体_GB2312" pitchFamily="49" charset="-122"/>
              </a:rPr>
              <a:t> b);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函数的原型声明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 err="1">
                <a:solidFill>
                  <a:srgbClr val="CC0000"/>
                </a:solidFill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 main ( )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{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</a:t>
            </a:r>
            <a:r>
              <a:rPr lang="en-US" altLang="zh-CN" sz="2000" b="1" dirty="0" err="1">
                <a:ea typeface="楷体_GB2312" pitchFamily="49" charset="-122"/>
              </a:rPr>
              <a:t>int</a:t>
            </a:r>
            <a:r>
              <a:rPr lang="en-US" altLang="zh-CN" sz="2000" b="1" dirty="0">
                <a:ea typeface="楷体_GB2312" pitchFamily="49" charset="-122"/>
              </a:rPr>
              <a:t> a, b, c;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</a:t>
            </a:r>
            <a:r>
              <a:rPr lang="en-US" altLang="zh-CN" sz="2000" b="1" dirty="0" err="1">
                <a:ea typeface="楷体_GB2312" pitchFamily="49" charset="-122"/>
              </a:rPr>
              <a:t>scanf</a:t>
            </a:r>
            <a:r>
              <a:rPr lang="en-US" altLang="zh-CN" sz="2000" b="1" dirty="0">
                <a:ea typeface="楷体_GB2312" pitchFamily="49" charset="-122"/>
              </a:rPr>
              <a:t> ("%</a:t>
            </a:r>
            <a:r>
              <a:rPr lang="en-US" altLang="zh-CN" sz="2000" b="1" dirty="0" err="1">
                <a:ea typeface="楷体_GB2312" pitchFamily="49" charset="-122"/>
              </a:rPr>
              <a:t>d%d</a:t>
            </a:r>
            <a:r>
              <a:rPr lang="en-US" altLang="zh-CN" sz="2000" b="1" dirty="0">
                <a:ea typeface="楷体_GB2312" pitchFamily="49" charset="-122"/>
              </a:rPr>
              <a:t>", &amp;a, &amp;b);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solidFill>
                  <a:srgbClr val="FF33CC"/>
                </a:solidFill>
                <a:ea typeface="楷体_GB2312" pitchFamily="49" charset="-122"/>
              </a:rPr>
              <a:t>  </a:t>
            </a:r>
            <a:r>
              <a:rPr lang="en-US" altLang="zh-CN" sz="2000" b="1" dirty="0">
                <a:solidFill>
                  <a:srgbClr val="FF3300"/>
                </a:solidFill>
                <a:ea typeface="楷体_GB2312" pitchFamily="49" charset="-122"/>
              </a:rPr>
              <a:t>c = max (a, b);</a:t>
            </a:r>
            <a:r>
              <a:rPr lang="en-US" altLang="zh-CN" sz="2000" b="1" dirty="0">
                <a:ea typeface="楷体_GB2312" pitchFamily="49" charset="-122"/>
              </a:rPr>
              <a:t>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函数调用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(a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、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b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为实参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)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</a:t>
            </a:r>
            <a:r>
              <a:rPr lang="en-US" altLang="zh-CN" sz="2000" b="1" dirty="0" err="1">
                <a:ea typeface="楷体_GB2312" pitchFamily="49" charset="-122"/>
              </a:rPr>
              <a:t>printf</a:t>
            </a:r>
            <a:r>
              <a:rPr lang="en-US" altLang="zh-CN" sz="2000" b="1" dirty="0">
                <a:ea typeface="楷体_GB2312" pitchFamily="49" charset="-122"/>
              </a:rPr>
              <a:t> ("the biggest number is : %d\n", c);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return 0;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}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 err="1">
                <a:solidFill>
                  <a:srgbClr val="008000"/>
                </a:solidFill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rgbClr val="008000"/>
                </a:solidFill>
                <a:ea typeface="楷体_GB2312" pitchFamily="49" charset="-122"/>
              </a:rPr>
              <a:t> max (</a:t>
            </a:r>
            <a:r>
              <a:rPr lang="en-US" altLang="zh-CN" sz="2000" b="1" dirty="0" err="1">
                <a:solidFill>
                  <a:srgbClr val="008000"/>
                </a:solidFill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rgbClr val="008000"/>
                </a:solidFill>
                <a:ea typeface="楷体_GB2312" pitchFamily="49" charset="-122"/>
              </a:rPr>
              <a:t> a, </a:t>
            </a:r>
            <a:r>
              <a:rPr lang="en-US" altLang="zh-CN" sz="2000" b="1" dirty="0" err="1">
                <a:solidFill>
                  <a:srgbClr val="008000"/>
                </a:solidFill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rgbClr val="008000"/>
                </a:solidFill>
                <a:ea typeface="楷体_GB2312" pitchFamily="49" charset="-122"/>
              </a:rPr>
              <a:t> b)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函数定义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(a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、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b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为形参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)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solidFill>
                  <a:srgbClr val="008000"/>
                </a:solidFill>
                <a:ea typeface="楷体_GB2312" pitchFamily="49" charset="-122"/>
              </a:rPr>
              <a:t>{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solidFill>
                  <a:srgbClr val="008000"/>
                </a:solidFill>
                <a:ea typeface="楷体_GB2312" pitchFamily="49" charset="-122"/>
              </a:rPr>
              <a:t>  return (a &gt; b ? a : b);</a:t>
            </a:r>
          </a:p>
          <a:p>
            <a:pPr marL="457200" indent="-457200">
              <a:tabLst>
                <a:tab pos="800100" algn="l"/>
              </a:tabLst>
            </a:pPr>
            <a:r>
              <a:rPr lang="en-US" altLang="zh-CN" sz="2000" b="1" dirty="0">
                <a:solidFill>
                  <a:srgbClr val="008000"/>
                </a:solidFill>
                <a:ea typeface="楷体_GB2312" pitchFamily="49" charset="-122"/>
              </a:rPr>
              <a:t>}</a:t>
            </a:r>
          </a:p>
        </p:txBody>
      </p:sp>
      <p:sp>
        <p:nvSpPr>
          <p:cNvPr id="1047564" name="Rectangle 12"/>
          <p:cNvSpPr>
            <a:spLocks noChangeArrowheads="1"/>
          </p:cNvSpPr>
          <p:nvPr/>
        </p:nvSpPr>
        <p:spPr bwMode="auto">
          <a:xfrm>
            <a:off x="7608168" y="5443288"/>
            <a:ext cx="3456384" cy="1015663"/>
          </a:xfrm>
          <a:prstGeom prst="rect">
            <a:avLst/>
          </a:prstGeom>
          <a:solidFill>
            <a:srgbClr val="FFFFFF"/>
          </a:soli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sz="2000" b="1" dirty="0">
                <a:solidFill>
                  <a:srgbClr val="C01920"/>
                </a:solidFill>
                <a:latin typeface="隶书" pitchFamily="49" charset="-122"/>
                <a:ea typeface="隶书" pitchFamily="49" charset="-122"/>
              </a:rPr>
              <a:t>运行结果：</a:t>
            </a:r>
          </a:p>
          <a:p>
            <a:r>
              <a:rPr lang="en-US" altLang="zh-CN" sz="2000" b="1" dirty="0"/>
              <a:t>5  9</a:t>
            </a:r>
            <a:r>
              <a:rPr lang="en-US" altLang="zh-CN" sz="2000" b="1" dirty="0">
                <a:latin typeface="+mj-ea"/>
                <a:ea typeface="+mj-ea"/>
              </a:rPr>
              <a:t>↙</a:t>
            </a:r>
          </a:p>
          <a:p>
            <a:r>
              <a:rPr lang="en-US" altLang="zh-CN" sz="2000" b="1" dirty="0">
                <a:solidFill>
                  <a:srgbClr val="002060"/>
                </a:solidFill>
              </a:rPr>
              <a:t>the biggest number is 9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228CA35-987A-4F73-B08D-54997656A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85" y="837555"/>
            <a:ext cx="4589169" cy="52322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2800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800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、有参数有返回值的函数</a:t>
            </a:r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DC0075D2-A038-4D4D-8A8F-D9E889AE13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9456" y="1412776"/>
            <a:ext cx="382962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zh-CN" altLang="en-US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函数调用</a:t>
            </a:r>
          </a:p>
        </p:txBody>
      </p:sp>
      <p:sp>
        <p:nvSpPr>
          <p:cNvPr id="1047559" name="Text Box 7"/>
          <p:cNvSpPr txBox="1">
            <a:spLocks noChangeArrowheads="1"/>
          </p:cNvSpPr>
          <p:nvPr/>
        </p:nvSpPr>
        <p:spPr bwMode="auto">
          <a:xfrm>
            <a:off x="3495755" y="1503135"/>
            <a:ext cx="8224826" cy="1097742"/>
          </a:xfrm>
          <a:prstGeom prst="rect">
            <a:avLst/>
          </a:prstGeom>
          <a:gradFill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>
            <a:defPPr>
              <a:defRPr lang="zh-CN"/>
            </a:defPPr>
            <a:lvl1pPr>
              <a:defRPr sz="2000" b="1">
                <a:latin typeface="+mn-lt"/>
                <a:ea typeface="楷体" pitchFamily="49" charset="-122"/>
              </a:defRPr>
            </a:lvl1pPr>
          </a:lstStyle>
          <a:p>
            <a:r>
              <a:rPr lang="zh-CN" altLang="en-US" dirty="0"/>
              <a:t>函数名</a:t>
            </a:r>
            <a:r>
              <a:rPr lang="en-US" altLang="zh-CN" dirty="0"/>
              <a:t>( </a:t>
            </a:r>
            <a:r>
              <a:rPr lang="zh-CN" altLang="en-US" dirty="0"/>
              <a:t>实参</a:t>
            </a:r>
            <a:r>
              <a:rPr lang="en-US" altLang="zh-CN" dirty="0"/>
              <a:t>1</a:t>
            </a:r>
            <a:r>
              <a:rPr lang="zh-CN" altLang="en-US" dirty="0"/>
              <a:t>，实参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……</a:t>
            </a:r>
            <a:r>
              <a:rPr lang="zh-CN" altLang="en-US" dirty="0"/>
              <a:t>，实参</a:t>
            </a:r>
            <a:r>
              <a:rPr lang="en-US" altLang="zh-CN" dirty="0"/>
              <a:t>n )</a:t>
            </a:r>
            <a:r>
              <a:rPr lang="zh-CN" altLang="en-US" dirty="0"/>
              <a:t>； </a:t>
            </a:r>
          </a:p>
          <a:p>
            <a:r>
              <a:rPr lang="zh-CN" altLang="en-US" dirty="0"/>
              <a:t>                            </a:t>
            </a:r>
            <a:r>
              <a:rPr lang="zh-CN" altLang="en-US" dirty="0">
                <a:solidFill>
                  <a:srgbClr val="C01920"/>
                </a:solidFill>
              </a:rPr>
              <a:t>或</a:t>
            </a:r>
          </a:p>
          <a:p>
            <a:r>
              <a:rPr lang="zh-CN" altLang="en-US" dirty="0"/>
              <a:t>变量名 </a:t>
            </a:r>
            <a:r>
              <a:rPr lang="en-US" altLang="zh-CN" dirty="0"/>
              <a:t>= </a:t>
            </a:r>
            <a:r>
              <a:rPr lang="zh-CN" altLang="en-US" dirty="0"/>
              <a:t>函数名</a:t>
            </a:r>
            <a:r>
              <a:rPr lang="en-US" altLang="zh-CN" dirty="0"/>
              <a:t>( </a:t>
            </a:r>
            <a:r>
              <a:rPr lang="zh-CN" altLang="en-US" dirty="0"/>
              <a:t>实参</a:t>
            </a:r>
            <a:r>
              <a:rPr lang="en-US" altLang="zh-CN" dirty="0"/>
              <a:t>1</a:t>
            </a:r>
            <a:r>
              <a:rPr lang="zh-CN" altLang="en-US" dirty="0"/>
              <a:t>，实参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……</a:t>
            </a:r>
            <a:r>
              <a:rPr lang="zh-CN" altLang="en-US" dirty="0"/>
              <a:t>，实参</a:t>
            </a:r>
            <a:r>
              <a:rPr lang="en-US" altLang="zh-CN" dirty="0"/>
              <a:t>n )</a:t>
            </a:r>
            <a:r>
              <a:rPr lang="zh-CN" altLang="en-US" dirty="0"/>
              <a:t>；</a:t>
            </a: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BA5B9A42-DE3D-468B-8E59-7F8A815DB0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8.2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函数的定义和调用 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10475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10475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10475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7563" grpId="0" animBg="1"/>
      <p:bldP spid="1047564" grpId="0" animBg="1"/>
      <p:bldP spid="11" grpId="0"/>
      <p:bldP spid="12" grpId="0"/>
      <p:bldP spid="104755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11" name="Rectangle 11"/>
          <p:cNvSpPr>
            <a:spLocks noChangeArrowheads="1"/>
          </p:cNvSpPr>
          <p:nvPr/>
        </p:nvSpPr>
        <p:spPr bwMode="auto">
          <a:xfrm>
            <a:off x="1533694" y="1936572"/>
            <a:ext cx="6842125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 typeface="Wingdings" pitchFamily="2" charset="2"/>
              <a:buChar char="l"/>
            </a:pP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函数语句：</a:t>
            </a:r>
          </a:p>
          <a:p>
            <a:r>
              <a:rPr lang="zh-CN" altLang="en-US" b="1" dirty="0">
                <a:solidFill>
                  <a:srgbClr val="FF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楷体" pitchFamily="49" charset="-122"/>
              </a:rPr>
              <a:t>   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例：</a:t>
            </a:r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printstar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( );</a:t>
            </a:r>
          </a:p>
          <a:p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       </a:t>
            </a:r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printf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(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"</a:t>
            </a:r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Hello,World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!\n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"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);</a:t>
            </a:r>
          </a:p>
          <a:p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楷体" pitchFamily="49" charset="-122"/>
            </a:endParaRPr>
          </a:p>
          <a:p>
            <a:pPr marL="342900" indent="-342900">
              <a:buFont typeface="Wingdings" pitchFamily="2" charset="2"/>
              <a:buChar char="l"/>
            </a:pP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函数表达式：</a:t>
            </a:r>
          </a:p>
          <a:p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例</a:t>
            </a: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:   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m = max (a, b) * 2;</a:t>
            </a:r>
          </a:p>
          <a:p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楷体" pitchFamily="49" charset="-122"/>
            </a:endParaRPr>
          </a:p>
          <a:p>
            <a:pPr marL="342900" indent="-342900">
              <a:buFont typeface="Wingdings" pitchFamily="2" charset="2"/>
              <a:buChar char="l"/>
            </a:pP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函数参数：</a:t>
            </a:r>
          </a:p>
          <a:p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例</a:t>
            </a: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:  </a:t>
            </a:r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printf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(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"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%d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"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, max(</a:t>
            </a:r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a,b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));</a:t>
            </a:r>
          </a:p>
          <a:p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      m = max (a, max(</a:t>
            </a:r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b,c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));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EC553392-8033-4261-8A04-257B5669D2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85" y="837555"/>
            <a:ext cx="5070391" cy="52322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2800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2800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、函数调用和函数说明小结</a:t>
            </a: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949B4F28-3701-4CA9-9320-F4DF84B5AD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9456" y="1412776"/>
            <a:ext cx="382962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zh-CN" altLang="en-US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函数调用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E43267F2-1013-4EAB-B8F6-CEE5C2A76E1D}"/>
              </a:ext>
            </a:extLst>
          </p:cNvPr>
          <p:cNvSpPr txBox="1">
            <a:spLocks noChangeArrowheads="1"/>
          </p:cNvSpPr>
          <p:nvPr/>
        </p:nvSpPr>
        <p:spPr>
          <a:xfrm>
            <a:off x="5591944" y="1997960"/>
            <a:ext cx="5735961" cy="2871200"/>
          </a:xfr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3200" b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+mn-ea"/>
              </a:defRPr>
            </a:lvl9pPr>
          </a:lstStyle>
          <a:p>
            <a:pPr lvl="2">
              <a:buClr>
                <a:srgbClr val="C01920"/>
              </a:buClr>
              <a:buFont typeface="Wingdings" pitchFamily="2" charset="2"/>
              <a:buChar char="l"/>
            </a:pPr>
            <a:r>
              <a:rPr lang="zh-CN" altLang="en-US" kern="0" dirty="0">
                <a:solidFill>
                  <a:srgbClr val="C01920"/>
                </a:solidFill>
                <a:effectLst/>
                <a:ea typeface="楷体" pitchFamily="49" charset="-122"/>
              </a:rPr>
              <a:t> 对被调用函数要求：</a:t>
            </a:r>
            <a:endParaRPr lang="en-US" altLang="zh-CN" kern="0" dirty="0">
              <a:solidFill>
                <a:srgbClr val="C01920"/>
              </a:solidFill>
              <a:effectLst/>
              <a:ea typeface="楷体" pitchFamily="49" charset="-122"/>
            </a:endParaRPr>
          </a:p>
          <a:p>
            <a:pPr lvl="2">
              <a:buClr>
                <a:srgbClr val="C01920"/>
              </a:buClr>
              <a:buFont typeface="Wingdings" pitchFamily="2" charset="2"/>
              <a:buChar char="l"/>
            </a:pPr>
            <a:endParaRPr lang="zh-CN" altLang="en-US" kern="0" dirty="0">
              <a:solidFill>
                <a:srgbClr val="C01920"/>
              </a:solidFill>
              <a:effectLst/>
              <a:ea typeface="楷体" pitchFamily="49" charset="-122"/>
            </a:endParaRPr>
          </a:p>
          <a:p>
            <a:pPr lvl="3">
              <a:buClr>
                <a:srgbClr val="CC0000"/>
              </a:buClr>
              <a:buFont typeface="Wingdings" pitchFamily="2" charset="2"/>
              <a:buChar char="ü"/>
            </a:pPr>
            <a:r>
              <a:rPr lang="zh-CN" altLang="en-US" kern="0" dirty="0">
                <a:ea typeface="楷体" pitchFamily="49" charset="-122"/>
              </a:rPr>
              <a:t>必须是</a:t>
            </a:r>
            <a:r>
              <a:rPr lang="zh-CN" altLang="en-US" kern="0" dirty="0">
                <a:solidFill>
                  <a:srgbClr val="C01920"/>
                </a:solidFill>
                <a:effectLst/>
                <a:ea typeface="楷体" pitchFamily="49" charset="-122"/>
              </a:rPr>
              <a:t>已存在</a:t>
            </a:r>
            <a:r>
              <a:rPr lang="zh-CN" altLang="en-US" kern="0" dirty="0">
                <a:ea typeface="楷体" pitchFamily="49" charset="-122"/>
              </a:rPr>
              <a:t>的函数</a:t>
            </a:r>
            <a:endParaRPr lang="en-US" altLang="zh-CN" kern="0" dirty="0">
              <a:ea typeface="楷体" pitchFamily="49" charset="-122"/>
            </a:endParaRPr>
          </a:p>
          <a:p>
            <a:pPr lvl="3">
              <a:buClr>
                <a:srgbClr val="CC0000"/>
              </a:buClr>
              <a:buFont typeface="Wingdings" pitchFamily="2" charset="2"/>
              <a:buChar char="ü"/>
            </a:pPr>
            <a:endParaRPr lang="zh-CN" altLang="en-US" kern="0" dirty="0">
              <a:ea typeface="楷体" pitchFamily="49" charset="-122"/>
            </a:endParaRPr>
          </a:p>
          <a:p>
            <a:pPr lvl="3">
              <a:buClr>
                <a:srgbClr val="CC0000"/>
              </a:buClr>
              <a:buFont typeface="Wingdings" pitchFamily="2" charset="2"/>
              <a:buChar char="ü"/>
            </a:pPr>
            <a:r>
              <a:rPr lang="zh-CN" altLang="en-US" kern="0" dirty="0">
                <a:ea typeface="楷体" pitchFamily="49" charset="-122"/>
              </a:rPr>
              <a:t>库函数</a:t>
            </a:r>
            <a:r>
              <a:rPr lang="en-US" altLang="zh-CN" kern="0" dirty="0">
                <a:ea typeface="楷体" pitchFamily="49" charset="-122"/>
              </a:rPr>
              <a:t>:  </a:t>
            </a:r>
            <a:r>
              <a:rPr lang="en-US" altLang="zh-CN" kern="0" dirty="0">
                <a:solidFill>
                  <a:srgbClr val="002060"/>
                </a:solidFill>
                <a:effectLst/>
                <a:ea typeface="楷体" pitchFamily="49" charset="-122"/>
              </a:rPr>
              <a:t>#include &lt;*.h&gt;</a:t>
            </a:r>
          </a:p>
          <a:p>
            <a:pPr lvl="3">
              <a:buClr>
                <a:srgbClr val="CC0000"/>
              </a:buClr>
              <a:buFont typeface="Wingdings" pitchFamily="2" charset="2"/>
              <a:buChar char="ü"/>
            </a:pPr>
            <a:endParaRPr lang="en-US" altLang="zh-CN" kern="0" dirty="0">
              <a:ea typeface="楷体" pitchFamily="49" charset="-122"/>
            </a:endParaRPr>
          </a:p>
          <a:p>
            <a:pPr lvl="3">
              <a:buClr>
                <a:srgbClr val="CC0000"/>
              </a:buClr>
              <a:buFont typeface="Wingdings" pitchFamily="2" charset="2"/>
              <a:buChar char="ü"/>
            </a:pPr>
            <a:r>
              <a:rPr lang="zh-CN" altLang="zh-CN" kern="0" dirty="0">
                <a:ea typeface="楷体" pitchFamily="49" charset="-122"/>
              </a:rPr>
              <a:t>用户自定义函数: </a:t>
            </a:r>
            <a:r>
              <a:rPr lang="zh-CN" altLang="zh-CN" kern="0" dirty="0">
                <a:solidFill>
                  <a:srgbClr val="002060"/>
                </a:solidFill>
                <a:effectLst/>
                <a:ea typeface="楷体" pitchFamily="49" charset="-122"/>
              </a:rPr>
              <a:t>函数类型说明</a:t>
            </a:r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27A17EF4-9F8D-4D6A-857A-297778EE1C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5074" y="1417944"/>
            <a:ext cx="382962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zh-CN" altLang="en-US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函数说明</a:t>
            </a: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1F137C6F-0E01-4F79-B4FA-09DC90C05E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8.2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函数的定义和调用 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49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49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49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49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49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49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49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49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49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49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496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496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0496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0496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496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0496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 build="p" bldLvl="5" autoUpdateAnimBg="0"/>
      <p:bldP spid="1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650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515937" y="1826022"/>
            <a:ext cx="10909301" cy="6315075"/>
          </a:xfrm>
        </p:spPr>
        <p:txBody>
          <a:bodyPr/>
          <a:lstStyle/>
          <a:p>
            <a:pPr lvl="2">
              <a:buClr>
                <a:srgbClr val="C01920"/>
              </a:buClr>
              <a:buFont typeface="Wingdings" pitchFamily="2" charset="2"/>
              <a:buChar char="l"/>
            </a:pPr>
            <a:r>
              <a:rPr lang="zh-CN" altLang="en-US" dirty="0">
                <a:solidFill>
                  <a:srgbClr val="C01920"/>
                </a:solidFill>
                <a:effectLst/>
                <a:ea typeface="楷体" pitchFamily="49" charset="-122"/>
              </a:rPr>
              <a:t>函数说明</a:t>
            </a:r>
          </a:p>
          <a:p>
            <a:pPr lvl="3">
              <a:buClr>
                <a:srgbClr val="CC0000"/>
              </a:buClr>
              <a:buFont typeface="Wingdings" pitchFamily="2" charset="2"/>
              <a:buChar char="ü"/>
            </a:pPr>
            <a:r>
              <a:rPr lang="zh-CN" altLang="en-US" dirty="0">
                <a:effectLst/>
                <a:ea typeface="楷体" pitchFamily="49" charset="-122"/>
              </a:rPr>
              <a:t>一般形式：   </a:t>
            </a:r>
            <a:r>
              <a:rPr lang="zh-CN" altLang="en-US" dirty="0">
                <a:solidFill>
                  <a:srgbClr val="C01920"/>
                </a:solidFill>
                <a:effectLst/>
                <a:ea typeface="楷体" pitchFamily="49" charset="-122"/>
              </a:rPr>
              <a:t>函数类型    函数名</a:t>
            </a:r>
            <a:r>
              <a:rPr lang="en-US" altLang="zh-CN" dirty="0">
                <a:solidFill>
                  <a:srgbClr val="C01920"/>
                </a:solidFill>
                <a:effectLst/>
                <a:ea typeface="楷体" pitchFamily="49" charset="-122"/>
              </a:rPr>
              <a:t>(</a:t>
            </a:r>
            <a:r>
              <a:rPr lang="zh-CN" altLang="en-US" dirty="0">
                <a:solidFill>
                  <a:srgbClr val="C01920"/>
                </a:solidFill>
                <a:effectLst/>
                <a:ea typeface="楷体" pitchFamily="49" charset="-122"/>
              </a:rPr>
              <a:t>形参类型  </a:t>
            </a:r>
            <a:r>
              <a:rPr lang="en-US" altLang="zh-CN" dirty="0">
                <a:solidFill>
                  <a:srgbClr val="C01920"/>
                </a:solidFill>
                <a:effectLst/>
                <a:ea typeface="楷体" pitchFamily="49" charset="-122"/>
              </a:rPr>
              <a:t>[</a:t>
            </a:r>
            <a:r>
              <a:rPr lang="zh-CN" altLang="en-US" dirty="0">
                <a:solidFill>
                  <a:srgbClr val="C01920"/>
                </a:solidFill>
                <a:effectLst/>
                <a:ea typeface="楷体" pitchFamily="49" charset="-122"/>
              </a:rPr>
              <a:t>形参名</a:t>
            </a:r>
            <a:r>
              <a:rPr lang="en-US" altLang="zh-CN" dirty="0">
                <a:solidFill>
                  <a:srgbClr val="C01920"/>
                </a:solidFill>
                <a:effectLst/>
                <a:ea typeface="楷体" pitchFamily="49" charset="-122"/>
              </a:rPr>
              <a:t>],….. );</a:t>
            </a:r>
          </a:p>
          <a:p>
            <a:pPr lvl="3">
              <a:buClr>
                <a:srgbClr val="CC0000"/>
              </a:buClr>
              <a:buFont typeface="Wingdings" pitchFamily="2" charset="2"/>
              <a:buNone/>
            </a:pPr>
            <a:r>
              <a:rPr lang="en-US" altLang="zh-CN" dirty="0">
                <a:solidFill>
                  <a:srgbClr val="0000FF"/>
                </a:solidFill>
                <a:effectLst/>
                <a:ea typeface="楷体" pitchFamily="49" charset="-122"/>
              </a:rPr>
              <a:t>          </a:t>
            </a:r>
            <a:r>
              <a:rPr lang="zh-CN" altLang="en-US" dirty="0">
                <a:effectLst/>
                <a:ea typeface="楷体" pitchFamily="49" charset="-122"/>
              </a:rPr>
              <a:t>或             </a:t>
            </a:r>
            <a:r>
              <a:rPr lang="zh-CN" altLang="en-US" dirty="0">
                <a:solidFill>
                  <a:srgbClr val="002060"/>
                </a:solidFill>
                <a:effectLst/>
                <a:ea typeface="楷体" pitchFamily="49" charset="-122"/>
              </a:rPr>
              <a:t>函数类型    函数名</a:t>
            </a:r>
            <a:r>
              <a:rPr lang="en-US" altLang="zh-CN" dirty="0">
                <a:solidFill>
                  <a:srgbClr val="002060"/>
                </a:solidFill>
                <a:effectLst/>
                <a:ea typeface="楷体" pitchFamily="49" charset="-122"/>
              </a:rPr>
              <a:t>(   );</a:t>
            </a:r>
          </a:p>
          <a:p>
            <a:pPr lvl="3">
              <a:buClr>
                <a:srgbClr val="CC0000"/>
              </a:buClr>
              <a:buFont typeface="Wingdings" pitchFamily="2" charset="2"/>
              <a:buChar char="ü"/>
            </a:pPr>
            <a:r>
              <a:rPr lang="zh-CN" altLang="en-US" dirty="0">
                <a:effectLst/>
                <a:ea typeface="楷体" pitchFamily="49" charset="-122"/>
              </a:rPr>
              <a:t>作用：告诉编译系统</a:t>
            </a:r>
            <a:r>
              <a:rPr lang="zh-CN" altLang="en-US" dirty="0">
                <a:effectLst/>
                <a:ea typeface="楷体" pitchFamily="49" charset="-122"/>
                <a:sym typeface="Symbol" pitchFamily="18" charset="2"/>
              </a:rPr>
              <a:t>函数类型、参数个数及类型，以便检验</a:t>
            </a:r>
          </a:p>
          <a:p>
            <a:pPr lvl="3">
              <a:buClr>
                <a:srgbClr val="CC0000"/>
              </a:buClr>
              <a:buFont typeface="Wingdings" pitchFamily="2" charset="2"/>
              <a:buChar char="ü"/>
            </a:pPr>
            <a:r>
              <a:rPr lang="zh-CN" altLang="en-US" dirty="0">
                <a:solidFill>
                  <a:srgbClr val="C01920"/>
                </a:solidFill>
                <a:effectLst/>
                <a:ea typeface="楷体" pitchFamily="49" charset="-122"/>
                <a:sym typeface="Symbol" pitchFamily="18" charset="2"/>
              </a:rPr>
              <a:t>函数定义</a:t>
            </a:r>
            <a:r>
              <a:rPr lang="zh-CN" altLang="en-US" dirty="0">
                <a:effectLst/>
                <a:ea typeface="楷体" pitchFamily="49" charset="-122"/>
                <a:sym typeface="Symbol" pitchFamily="18" charset="2"/>
              </a:rPr>
              <a:t>与</a:t>
            </a:r>
            <a:r>
              <a:rPr lang="zh-CN" altLang="en-US" dirty="0">
                <a:solidFill>
                  <a:srgbClr val="002060"/>
                </a:solidFill>
                <a:effectLst/>
                <a:ea typeface="楷体" pitchFamily="49" charset="-122"/>
                <a:sym typeface="Symbol" pitchFamily="18" charset="2"/>
              </a:rPr>
              <a:t>函数说明</a:t>
            </a:r>
            <a:r>
              <a:rPr lang="zh-CN" altLang="en-US" dirty="0">
                <a:effectLst/>
                <a:ea typeface="楷体" pitchFamily="49" charset="-122"/>
                <a:sym typeface="Symbol" pitchFamily="18" charset="2"/>
              </a:rPr>
              <a:t>不同</a:t>
            </a:r>
          </a:p>
          <a:p>
            <a:pPr lvl="3">
              <a:buClr>
                <a:srgbClr val="CC0000"/>
              </a:buClr>
              <a:buFont typeface="Wingdings" pitchFamily="2" charset="2"/>
              <a:buChar char="ü"/>
            </a:pPr>
            <a:r>
              <a:rPr lang="zh-CN" altLang="en-US" dirty="0">
                <a:effectLst/>
                <a:ea typeface="楷体" pitchFamily="49" charset="-122"/>
              </a:rPr>
              <a:t>函数说明位置：</a:t>
            </a:r>
            <a:r>
              <a:rPr lang="zh-CN" altLang="en-US" dirty="0">
                <a:solidFill>
                  <a:srgbClr val="990033"/>
                </a:solidFill>
                <a:effectLst/>
                <a:ea typeface="楷体" pitchFamily="49" charset="-122"/>
              </a:rPr>
              <a:t>程序的数据说明部分（函数内或外）</a:t>
            </a:r>
          </a:p>
          <a:p>
            <a:pPr lvl="3">
              <a:buClr>
                <a:srgbClr val="CC0000"/>
              </a:buClr>
              <a:buFont typeface="Wingdings" pitchFamily="2" charset="2"/>
              <a:buChar char="ü"/>
            </a:pPr>
            <a:r>
              <a:rPr lang="zh-CN" altLang="zh-CN" dirty="0">
                <a:effectLst/>
                <a:ea typeface="楷体" pitchFamily="49" charset="-122"/>
              </a:rPr>
              <a:t>下列情况下，可不作函数说明</a:t>
            </a:r>
          </a:p>
          <a:p>
            <a:pPr lvl="4">
              <a:buFont typeface="Wingdings" pitchFamily="2" charset="2"/>
              <a:buChar char="u"/>
            </a:pPr>
            <a:r>
              <a:rPr lang="zh-CN" altLang="en-US" dirty="0">
                <a:solidFill>
                  <a:srgbClr val="002060"/>
                </a:solidFill>
                <a:effectLst/>
                <a:ea typeface="楷体" pitchFamily="49" charset="-122"/>
              </a:rPr>
              <a:t> 若函数返值是</a:t>
            </a:r>
            <a:r>
              <a:rPr lang="en-US" altLang="zh-CN" dirty="0">
                <a:solidFill>
                  <a:srgbClr val="002060"/>
                </a:solidFill>
                <a:effectLst/>
                <a:ea typeface="楷体" pitchFamily="49" charset="-122"/>
              </a:rPr>
              <a:t>char</a:t>
            </a:r>
            <a:r>
              <a:rPr lang="zh-CN" altLang="zh-CN" dirty="0">
                <a:solidFill>
                  <a:srgbClr val="002060"/>
                </a:solidFill>
                <a:effectLst/>
                <a:ea typeface="楷体" pitchFamily="49" charset="-122"/>
              </a:rPr>
              <a:t>或</a:t>
            </a:r>
            <a:r>
              <a:rPr lang="en-US" altLang="zh-CN" dirty="0" err="1">
                <a:solidFill>
                  <a:srgbClr val="002060"/>
                </a:solidFill>
                <a:effectLst/>
                <a:ea typeface="楷体" pitchFamily="49" charset="-122"/>
              </a:rPr>
              <a:t>int</a:t>
            </a:r>
            <a:r>
              <a:rPr lang="zh-CN" altLang="zh-CN" dirty="0">
                <a:solidFill>
                  <a:srgbClr val="002060"/>
                </a:solidFill>
                <a:effectLst/>
                <a:ea typeface="楷体" pitchFamily="49" charset="-122"/>
              </a:rPr>
              <a:t>型</a:t>
            </a:r>
            <a:r>
              <a:rPr lang="zh-CN" altLang="zh-CN" dirty="0">
                <a:effectLst/>
                <a:ea typeface="楷体" pitchFamily="49" charset="-122"/>
              </a:rPr>
              <a:t>，</a:t>
            </a:r>
            <a:r>
              <a:rPr lang="zh-CN" altLang="en-US" dirty="0">
                <a:effectLst/>
                <a:ea typeface="楷体" pitchFamily="49" charset="-122"/>
              </a:rPr>
              <a:t>某些</a:t>
            </a:r>
            <a:r>
              <a:rPr lang="zh-CN" altLang="zh-CN" dirty="0">
                <a:effectLst/>
                <a:ea typeface="楷体" pitchFamily="49" charset="-122"/>
              </a:rPr>
              <a:t>系统自动按</a:t>
            </a:r>
            <a:r>
              <a:rPr lang="en-US" altLang="zh-CN" dirty="0" err="1">
                <a:effectLst/>
                <a:ea typeface="楷体" pitchFamily="49" charset="-122"/>
              </a:rPr>
              <a:t>int</a:t>
            </a:r>
            <a:r>
              <a:rPr lang="zh-CN" altLang="zh-CN" dirty="0">
                <a:effectLst/>
                <a:ea typeface="楷体" pitchFamily="49" charset="-122"/>
              </a:rPr>
              <a:t>型处理</a:t>
            </a:r>
          </a:p>
          <a:p>
            <a:pPr lvl="4">
              <a:buFont typeface="Wingdings" pitchFamily="2" charset="2"/>
              <a:buChar char="u"/>
            </a:pPr>
            <a:r>
              <a:rPr lang="zh-CN" altLang="en-US" dirty="0">
                <a:solidFill>
                  <a:srgbClr val="002060"/>
                </a:solidFill>
                <a:effectLst/>
                <a:ea typeface="楷体" pitchFamily="49" charset="-122"/>
              </a:rPr>
              <a:t> </a:t>
            </a:r>
            <a:r>
              <a:rPr lang="zh-CN" altLang="zh-CN" dirty="0">
                <a:solidFill>
                  <a:srgbClr val="002060"/>
                </a:solidFill>
                <a:effectLst/>
                <a:ea typeface="楷体" pitchFamily="49" charset="-122"/>
              </a:rPr>
              <a:t>被调用函数定义出现在主调函数之前</a:t>
            </a:r>
          </a:p>
          <a:p>
            <a:pPr lvl="3">
              <a:buClr>
                <a:srgbClr val="CC0000"/>
              </a:buClr>
              <a:buFont typeface="Wingdings" pitchFamily="2" charset="2"/>
              <a:buChar char="ü"/>
            </a:pPr>
            <a:r>
              <a:rPr lang="zh-CN" altLang="en-US" dirty="0">
                <a:effectLst/>
                <a:ea typeface="楷体" pitchFamily="49" charset="-122"/>
              </a:rPr>
              <a:t>有些系统</a:t>
            </a:r>
            <a:r>
              <a:rPr lang="en-US" altLang="zh-CN" dirty="0">
                <a:effectLst/>
                <a:ea typeface="楷体" pitchFamily="49" charset="-122"/>
              </a:rPr>
              <a:t>(</a:t>
            </a:r>
            <a:r>
              <a:rPr lang="zh-CN" altLang="en-US" dirty="0">
                <a:effectLst/>
                <a:ea typeface="楷体" pitchFamily="49" charset="-122"/>
              </a:rPr>
              <a:t>如</a:t>
            </a:r>
            <a:r>
              <a:rPr lang="en-US" altLang="zh-CN" dirty="0">
                <a:effectLst/>
                <a:ea typeface="楷体" pitchFamily="49" charset="-122"/>
              </a:rPr>
              <a:t>VC</a:t>
            </a:r>
            <a:r>
              <a:rPr lang="zh-CN" altLang="en-US" dirty="0">
                <a:effectLst/>
                <a:ea typeface="楷体" pitchFamily="49" charset="-122"/>
              </a:rPr>
              <a:t>、</a:t>
            </a:r>
            <a:r>
              <a:rPr lang="en-US" altLang="zh-CN" dirty="0">
                <a:effectLst/>
                <a:ea typeface="楷体" pitchFamily="49" charset="-122"/>
              </a:rPr>
              <a:t>CB)</a:t>
            </a:r>
            <a:r>
              <a:rPr lang="zh-CN" altLang="en-US" dirty="0">
                <a:effectLst/>
                <a:ea typeface="楷体" pitchFamily="49" charset="-122"/>
              </a:rPr>
              <a:t>要求函数说明指出函数返值类型和形参类型，并且对</a:t>
            </a:r>
            <a:r>
              <a:rPr lang="en-US" altLang="zh-CN" dirty="0">
                <a:effectLst/>
                <a:ea typeface="楷体" pitchFamily="49" charset="-122"/>
              </a:rPr>
              <a:t>void </a:t>
            </a:r>
            <a:r>
              <a:rPr lang="zh-CN" altLang="zh-CN" dirty="0">
                <a:effectLst/>
                <a:ea typeface="楷体" pitchFamily="49" charset="-122"/>
              </a:rPr>
              <a:t>和 </a:t>
            </a:r>
            <a:r>
              <a:rPr lang="en-US" altLang="zh-CN" dirty="0" err="1">
                <a:effectLst/>
                <a:ea typeface="楷体" pitchFamily="49" charset="-122"/>
              </a:rPr>
              <a:t>int</a:t>
            </a:r>
            <a:r>
              <a:rPr lang="en-US" altLang="zh-CN" dirty="0">
                <a:effectLst/>
                <a:ea typeface="楷体" pitchFamily="49" charset="-122"/>
              </a:rPr>
              <a:t> </a:t>
            </a:r>
            <a:r>
              <a:rPr lang="zh-CN" altLang="zh-CN" dirty="0">
                <a:effectLst/>
                <a:ea typeface="楷体" pitchFamily="49" charset="-122"/>
              </a:rPr>
              <a:t>型函数也要进行函数说明</a:t>
            </a:r>
            <a:endParaRPr lang="zh-CN" altLang="en-US" dirty="0">
              <a:effectLst/>
              <a:ea typeface="楷体" pitchFamily="49" charset="-122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2584823-D211-49E3-9C52-3D8C165E47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85" y="837555"/>
            <a:ext cx="5070391" cy="52322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2800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2800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、函数调用和函数说明小结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BE8C02-2CC0-489D-A0A6-DAC2FDC900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9456" y="1340768"/>
            <a:ext cx="382962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zh-CN" altLang="en-US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函数说明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DF153130-7457-4D0D-AFA6-2F56D2E624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8.2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函数的定义和调用 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6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516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516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51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51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51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51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6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516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516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6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516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516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6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516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516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6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516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516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6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0516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0516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6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0516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0516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65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05165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05165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1650" grpId="0" build="p" bldLvl="5" autoUpdateAnimBg="0"/>
      <p:bldP spid="7" grpId="0"/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674" name="Text Box 2"/>
          <p:cNvSpPr txBox="1">
            <a:spLocks noChangeArrowheads="1"/>
          </p:cNvSpPr>
          <p:nvPr/>
        </p:nvSpPr>
        <p:spPr bwMode="auto">
          <a:xfrm>
            <a:off x="634949" y="896746"/>
            <a:ext cx="30432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sz="2800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: </a:t>
            </a:r>
            <a:r>
              <a:rPr lang="zh-CN" altLang="en-US" sz="2800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函数说明举例</a:t>
            </a:r>
          </a:p>
        </p:txBody>
      </p:sp>
      <p:sp>
        <p:nvSpPr>
          <p:cNvPr id="1052682" name="Rectangle 10" descr="信纸"/>
          <p:cNvSpPr>
            <a:spLocks noChangeArrowheads="1"/>
          </p:cNvSpPr>
          <p:nvPr/>
        </p:nvSpPr>
        <p:spPr bwMode="auto">
          <a:xfrm>
            <a:off x="840156" y="801561"/>
            <a:ext cx="4921540" cy="6001643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rgbClr val="FFFFFF"/>
              </a:gs>
            </a:gsLst>
            <a:lin ang="5400000" scaled="1"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none">
            <a:spAutoFit/>
            <a:sp3d extrusionH="57150">
              <a:bevelT w="57150" h="38100" prst="hardEdge"/>
            </a:sp3d>
          </a:bodyPr>
          <a:lstStyle/>
          <a:p>
            <a:pPr eaLnBrk="0" hangingPunct="0"/>
            <a:r>
              <a:rPr lang="en-US" altLang="zh-CN" b="1" dirty="0" err="1">
                <a:solidFill>
                  <a:srgbClr val="C00000"/>
                </a:solidFill>
              </a:rPr>
              <a:t>int</a:t>
            </a:r>
            <a:r>
              <a:rPr lang="en-US" altLang="zh-CN" b="1" dirty="0">
                <a:solidFill>
                  <a:srgbClr val="C00000"/>
                </a:solidFill>
              </a:rPr>
              <a:t> main( )</a:t>
            </a:r>
          </a:p>
          <a:p>
            <a:pPr eaLnBrk="0" hangingPunct="0"/>
            <a:r>
              <a:rPr lang="en-US" altLang="zh-CN" b="1" dirty="0"/>
              <a:t>{   </a:t>
            </a:r>
          </a:p>
          <a:p>
            <a:pPr eaLnBrk="0" hangingPunct="0"/>
            <a:r>
              <a:rPr lang="en-US" altLang="zh-CN" b="1" dirty="0">
                <a:solidFill>
                  <a:srgbClr val="FF3399"/>
                </a:solidFill>
              </a:rPr>
              <a:t>    </a:t>
            </a:r>
            <a:r>
              <a:rPr lang="en-US" altLang="zh-CN" b="1" dirty="0">
                <a:solidFill>
                  <a:srgbClr val="7030A0"/>
                </a:solidFill>
              </a:rPr>
              <a:t>float add(</a:t>
            </a:r>
            <a:r>
              <a:rPr lang="en-US" altLang="zh-CN" b="1" dirty="0" err="1">
                <a:solidFill>
                  <a:srgbClr val="7030A0"/>
                </a:solidFill>
              </a:rPr>
              <a:t>float,float</a:t>
            </a:r>
            <a:r>
              <a:rPr lang="en-US" altLang="zh-CN" b="1" dirty="0">
                <a:solidFill>
                  <a:srgbClr val="7030A0"/>
                </a:solidFill>
              </a:rPr>
              <a:t>);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函数原型声明</a:t>
            </a:r>
          </a:p>
          <a:p>
            <a:pPr eaLnBrk="0" hangingPunct="0"/>
            <a:r>
              <a:rPr lang="zh-CN" altLang="en-US" b="1" dirty="0"/>
              <a:t>    </a:t>
            </a:r>
            <a:r>
              <a:rPr lang="en-US" altLang="zh-CN" b="1" dirty="0"/>
              <a:t>float a, b ,c;</a:t>
            </a:r>
          </a:p>
          <a:p>
            <a:pPr eaLnBrk="0" hangingPunct="0"/>
            <a:r>
              <a:rPr lang="en-US" altLang="zh-CN" b="1" dirty="0"/>
              <a:t>    </a:t>
            </a:r>
            <a:r>
              <a:rPr lang="en-US" altLang="zh-CN" b="1" dirty="0" err="1"/>
              <a:t>scanf</a:t>
            </a:r>
            <a:r>
              <a:rPr lang="en-US" altLang="zh-CN" b="1" dirty="0"/>
              <a:t> ("%</a:t>
            </a:r>
            <a:r>
              <a:rPr lang="en-US" altLang="zh-CN" b="1" dirty="0" err="1"/>
              <a:t>f,%f</a:t>
            </a:r>
            <a:r>
              <a:rPr lang="en-US" altLang="zh-CN" b="1" dirty="0"/>
              <a:t>", &amp;a, &amp;b);</a:t>
            </a:r>
          </a:p>
          <a:p>
            <a:pPr eaLnBrk="0" hangingPunct="0"/>
            <a:r>
              <a:rPr lang="en-US" altLang="zh-CN" b="1" dirty="0"/>
              <a:t>    c = add (a, b);</a:t>
            </a:r>
          </a:p>
          <a:p>
            <a:pPr eaLnBrk="0" hangingPunct="0"/>
            <a:r>
              <a:rPr lang="en-US" altLang="zh-CN" b="1" dirty="0"/>
              <a:t>    </a:t>
            </a:r>
            <a:r>
              <a:rPr lang="en-US" altLang="zh-CN" b="1" dirty="0" err="1"/>
              <a:t>printf</a:t>
            </a:r>
            <a:r>
              <a:rPr lang="en-US" altLang="zh-CN" b="1" dirty="0"/>
              <a:t> ("sum is %f", c);</a:t>
            </a:r>
          </a:p>
          <a:p>
            <a:pPr eaLnBrk="0" hangingPunct="0"/>
            <a:r>
              <a:rPr lang="en-US" altLang="zh-CN" b="1" dirty="0"/>
              <a:t>    return 0</a:t>
            </a:r>
            <a:r>
              <a:rPr lang="zh-CN" altLang="en-US" b="1" dirty="0"/>
              <a:t>；</a:t>
            </a:r>
            <a:endParaRPr lang="en-US" altLang="zh-CN" b="1" dirty="0"/>
          </a:p>
          <a:p>
            <a:pPr eaLnBrk="0" hangingPunct="0"/>
            <a:r>
              <a:rPr lang="en-US" altLang="zh-CN" b="1" dirty="0"/>
              <a:t>}</a:t>
            </a:r>
          </a:p>
          <a:p>
            <a:pPr eaLnBrk="0" hangingPunct="0"/>
            <a:endParaRPr lang="en-US" altLang="zh-CN" b="1" dirty="0"/>
          </a:p>
          <a:p>
            <a:pPr eaLnBrk="0" hangingPunct="0"/>
            <a:r>
              <a:rPr lang="en-US" altLang="zh-CN" b="1" dirty="0">
                <a:solidFill>
                  <a:srgbClr val="7030A0"/>
                </a:solidFill>
              </a:rPr>
              <a:t>float add (float x, float y)</a:t>
            </a:r>
          </a:p>
          <a:p>
            <a:pPr eaLnBrk="0" hangingPunct="0"/>
            <a:r>
              <a:rPr lang="en-US" altLang="zh-CN" b="1" dirty="0"/>
              <a:t>{   </a:t>
            </a:r>
          </a:p>
          <a:p>
            <a:pPr eaLnBrk="0" hangingPunct="0"/>
            <a:r>
              <a:rPr lang="en-US" altLang="zh-CN" b="1" dirty="0"/>
              <a:t>    float z;</a:t>
            </a:r>
          </a:p>
          <a:p>
            <a:pPr eaLnBrk="0" hangingPunct="0"/>
            <a:r>
              <a:rPr lang="en-US" altLang="zh-CN" b="1" dirty="0"/>
              <a:t>    z = x + y;</a:t>
            </a:r>
          </a:p>
          <a:p>
            <a:pPr eaLnBrk="0" hangingPunct="0"/>
            <a:r>
              <a:rPr lang="en-US" altLang="zh-CN" b="1" dirty="0"/>
              <a:t>    return (z);</a:t>
            </a:r>
          </a:p>
          <a:p>
            <a:pPr eaLnBrk="0" hangingPunct="0"/>
            <a:r>
              <a:rPr lang="en-US" altLang="zh-CN" b="1" dirty="0"/>
              <a:t>}</a:t>
            </a:r>
          </a:p>
        </p:txBody>
      </p:sp>
      <p:grpSp>
        <p:nvGrpSpPr>
          <p:cNvPr id="1052688" name="Group 16"/>
          <p:cNvGrpSpPr>
            <a:grpSpLocks/>
          </p:cNvGrpSpPr>
          <p:nvPr/>
        </p:nvGrpSpPr>
        <p:grpSpPr bwMode="auto">
          <a:xfrm>
            <a:off x="3823792" y="864930"/>
            <a:ext cx="6018214" cy="5632450"/>
            <a:chOff x="1084" y="527"/>
            <a:chExt cx="3791" cy="3548"/>
          </a:xfrm>
        </p:grpSpPr>
        <p:sp>
          <p:nvSpPr>
            <p:cNvPr id="1052679" name="Rectangle 7" descr="信纸"/>
            <p:cNvSpPr>
              <a:spLocks noChangeArrowheads="1"/>
            </p:cNvSpPr>
            <p:nvPr/>
          </p:nvSpPr>
          <p:spPr bwMode="auto">
            <a:xfrm>
              <a:off x="1084" y="527"/>
              <a:ext cx="3402" cy="3548"/>
            </a:xfrm>
            <a:prstGeom prst="rect">
              <a:avLst/>
            </a:prstGeom>
            <a:gradFill>
              <a:gsLst>
                <a:gs pos="0">
                  <a:srgbClr val="CFCFD1"/>
                </a:gs>
                <a:gs pos="100000">
                  <a:srgbClr val="FFFFFF"/>
                </a:gs>
              </a:gsLst>
              <a:lin ang="5400000" scaled="1"/>
            </a:gradFill>
            <a:ln w="38100">
              <a:solidFill>
                <a:srgbClr val="002060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>
              <a:spAutoFit/>
            </a:bodyPr>
            <a:lstStyle/>
            <a:p>
              <a:pPr eaLnBrk="0" hangingPunct="0"/>
              <a:r>
                <a:rPr lang="en-US" altLang="zh-CN" b="1" dirty="0">
                  <a:solidFill>
                    <a:srgbClr val="7030A0"/>
                  </a:solidFill>
                </a:rPr>
                <a:t>float add (float x, float y)</a:t>
              </a:r>
            </a:p>
            <a:p>
              <a:pPr eaLnBrk="0" hangingPunct="0"/>
              <a:r>
                <a:rPr lang="en-US" altLang="zh-CN" b="1" dirty="0"/>
                <a:t>{   </a:t>
              </a:r>
            </a:p>
            <a:p>
              <a:pPr eaLnBrk="0" hangingPunct="0"/>
              <a:r>
                <a:rPr lang="en-US" altLang="zh-CN" b="1" dirty="0"/>
                <a:t>    float z;</a:t>
              </a:r>
            </a:p>
            <a:p>
              <a:pPr eaLnBrk="0" hangingPunct="0"/>
              <a:r>
                <a:rPr lang="en-US" altLang="zh-CN" b="1" dirty="0"/>
                <a:t>    z = x + y;</a:t>
              </a:r>
            </a:p>
            <a:p>
              <a:pPr eaLnBrk="0" hangingPunct="0"/>
              <a:r>
                <a:rPr lang="en-US" altLang="zh-CN" b="1" dirty="0"/>
                <a:t>    return (z);</a:t>
              </a:r>
            </a:p>
            <a:p>
              <a:pPr eaLnBrk="0" hangingPunct="0"/>
              <a:r>
                <a:rPr lang="en-US" altLang="zh-CN" b="1" dirty="0"/>
                <a:t>}</a:t>
              </a:r>
            </a:p>
            <a:p>
              <a:pPr eaLnBrk="0" hangingPunct="0"/>
              <a:endParaRPr lang="en-US" altLang="zh-CN" b="1" dirty="0"/>
            </a:p>
            <a:p>
              <a:pPr eaLnBrk="0" hangingPunct="0"/>
              <a:r>
                <a:rPr lang="en-US" altLang="zh-CN" b="1" dirty="0" err="1">
                  <a:solidFill>
                    <a:srgbClr val="CC0000"/>
                  </a:solidFill>
                </a:rPr>
                <a:t>int</a:t>
              </a:r>
              <a:r>
                <a:rPr lang="en-US" altLang="zh-CN" b="1" dirty="0">
                  <a:solidFill>
                    <a:srgbClr val="CC0000"/>
                  </a:solidFill>
                </a:rPr>
                <a:t> main ( )</a:t>
              </a:r>
            </a:p>
            <a:p>
              <a:pPr eaLnBrk="0" hangingPunct="0"/>
              <a:r>
                <a:rPr lang="en-US" altLang="zh-CN" b="1" dirty="0"/>
                <a:t>{   </a:t>
              </a:r>
            </a:p>
            <a:p>
              <a:pPr eaLnBrk="0" hangingPunct="0"/>
              <a:r>
                <a:rPr lang="en-US" altLang="zh-CN" b="1" dirty="0"/>
                <a:t>    float a, b, c;</a:t>
              </a:r>
            </a:p>
            <a:p>
              <a:pPr eaLnBrk="0" hangingPunct="0"/>
              <a:r>
                <a:rPr lang="en-US" altLang="zh-CN" b="1" dirty="0"/>
                <a:t>    </a:t>
              </a:r>
              <a:r>
                <a:rPr lang="en-US" altLang="zh-CN" b="1" dirty="0" err="1"/>
                <a:t>scanf</a:t>
              </a:r>
              <a:r>
                <a:rPr lang="en-US" altLang="zh-CN" b="1" dirty="0"/>
                <a:t> ("%</a:t>
              </a:r>
              <a:r>
                <a:rPr lang="en-US" altLang="zh-CN" b="1" dirty="0" err="1"/>
                <a:t>f,%f</a:t>
              </a:r>
              <a:r>
                <a:rPr lang="en-US" altLang="zh-CN" b="1" dirty="0"/>
                <a:t>", &amp;a, &amp;b);</a:t>
              </a:r>
            </a:p>
            <a:p>
              <a:pPr eaLnBrk="0" hangingPunct="0"/>
              <a:r>
                <a:rPr lang="en-US" altLang="zh-CN" b="1" dirty="0"/>
                <a:t>    c = add (a, b);</a:t>
              </a:r>
            </a:p>
            <a:p>
              <a:pPr eaLnBrk="0" hangingPunct="0"/>
              <a:r>
                <a:rPr lang="en-US" altLang="zh-CN" b="1" dirty="0"/>
                <a:t>    </a:t>
              </a:r>
              <a:r>
                <a:rPr lang="en-US" altLang="zh-CN" b="1" dirty="0" err="1"/>
                <a:t>printf</a:t>
              </a:r>
              <a:r>
                <a:rPr lang="en-US" altLang="zh-CN" b="1" dirty="0"/>
                <a:t> ("sum is %f", c);</a:t>
              </a:r>
            </a:p>
            <a:p>
              <a:pPr eaLnBrk="0" hangingPunct="0"/>
              <a:r>
                <a:rPr lang="en-US" altLang="zh-CN" b="1" dirty="0"/>
                <a:t>    return 0;</a:t>
              </a:r>
            </a:p>
            <a:p>
              <a:pPr eaLnBrk="0" hangingPunct="0"/>
              <a:r>
                <a:rPr lang="en-US" altLang="zh-CN" b="1" dirty="0"/>
                <a:t>}</a:t>
              </a:r>
            </a:p>
          </p:txBody>
        </p:sp>
        <p:sp>
          <p:nvSpPr>
            <p:cNvPr id="1052687" name="AutoShape 15"/>
            <p:cNvSpPr>
              <a:spLocks noChangeArrowheads="1"/>
            </p:cNvSpPr>
            <p:nvPr/>
          </p:nvSpPr>
          <p:spPr bwMode="auto">
            <a:xfrm>
              <a:off x="2789" y="1207"/>
              <a:ext cx="2086" cy="499"/>
            </a:xfrm>
            <a:prstGeom prst="wedgeRoundRectCallout">
              <a:avLst>
                <a:gd name="adj1" fmla="val -59972"/>
                <a:gd name="adj2" fmla="val -130963"/>
                <a:gd name="adj3" fmla="val 16667"/>
              </a:avLst>
            </a:prstGeom>
            <a:gradFill rotWithShape="1">
              <a:gsLst>
                <a:gs pos="0">
                  <a:srgbClr val="CFCFD1"/>
                </a:gs>
                <a:gs pos="100000">
                  <a:srgbClr val="FFFFFF"/>
                </a:gs>
              </a:gsLst>
              <a:lin ang="5400000" scaled="1"/>
            </a:gradFill>
            <a:ln w="22225">
              <a:solidFill>
                <a:srgbClr val="C01920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/>
            <a:lstStyle/>
            <a:p>
              <a:r>
                <a:rPr lang="zh-CN" altLang="en-US" sz="2000" b="1">
                  <a:solidFill>
                    <a:srgbClr val="C01920"/>
                  </a:solidFill>
                  <a:latin typeface="+mn-lt"/>
                  <a:ea typeface="楷体" pitchFamily="49" charset="-122"/>
                </a:rPr>
                <a:t>被调函数出现在主调函数之前，不必函数说明</a:t>
              </a:r>
            </a:p>
          </p:txBody>
        </p:sp>
      </p:grpSp>
      <p:grpSp>
        <p:nvGrpSpPr>
          <p:cNvPr id="1052690" name="Group 18"/>
          <p:cNvGrpSpPr>
            <a:grpSpLocks/>
          </p:cNvGrpSpPr>
          <p:nvPr/>
        </p:nvGrpSpPr>
        <p:grpSpPr bwMode="auto">
          <a:xfrm>
            <a:off x="6467799" y="800866"/>
            <a:ext cx="5410203" cy="6002338"/>
            <a:chOff x="1073" y="188"/>
            <a:chExt cx="3408" cy="3781"/>
          </a:xfrm>
        </p:grpSpPr>
        <p:sp>
          <p:nvSpPr>
            <p:cNvPr id="1052676" name="Rectangle 4" descr="信纸"/>
            <p:cNvSpPr>
              <a:spLocks noChangeArrowheads="1"/>
            </p:cNvSpPr>
            <p:nvPr/>
          </p:nvSpPr>
          <p:spPr bwMode="auto">
            <a:xfrm>
              <a:off x="1073" y="188"/>
              <a:ext cx="2502" cy="3781"/>
            </a:xfrm>
            <a:prstGeom prst="rect">
              <a:avLst/>
            </a:prstGeom>
            <a:gradFill>
              <a:gsLst>
                <a:gs pos="0">
                  <a:srgbClr val="CFCFD1"/>
                </a:gs>
                <a:gs pos="100000">
                  <a:srgbClr val="FFFFFF"/>
                </a:gs>
              </a:gsLst>
              <a:lin ang="5400000" scaled="1"/>
            </a:gradFill>
            <a:ln w="38100">
              <a:solidFill>
                <a:schemeClr val="accent1">
                  <a:lumMod val="50000"/>
                </a:schemeClr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 dirty="0" err="1">
                  <a:solidFill>
                    <a:srgbClr val="C00000"/>
                  </a:solidFill>
                </a:rPr>
                <a:t>int</a:t>
              </a:r>
              <a:r>
                <a:rPr lang="en-US" altLang="zh-CN" b="1" dirty="0">
                  <a:solidFill>
                    <a:srgbClr val="C00000"/>
                  </a:solidFill>
                </a:rPr>
                <a:t> main ( )</a:t>
              </a:r>
            </a:p>
            <a:p>
              <a:pPr eaLnBrk="0" hangingPunct="0"/>
              <a:r>
                <a:rPr lang="en-US" altLang="zh-CN" b="1" dirty="0"/>
                <a:t>{   </a:t>
              </a:r>
            </a:p>
            <a:p>
              <a:pPr eaLnBrk="0" hangingPunct="0"/>
              <a:r>
                <a:rPr lang="en-US" altLang="zh-CN" b="1" dirty="0"/>
                <a:t>    float </a:t>
              </a:r>
              <a:r>
                <a:rPr lang="en-US" altLang="zh-CN" b="1" dirty="0" err="1"/>
                <a:t>a,b</a:t>
              </a:r>
              <a:r>
                <a:rPr lang="en-US" altLang="zh-CN" b="1" dirty="0"/>
                <a:t>;</a:t>
              </a:r>
            </a:p>
            <a:p>
              <a:pPr eaLnBrk="0" hangingPunct="0"/>
              <a:r>
                <a:rPr lang="en-US" altLang="zh-CN" b="1" dirty="0"/>
                <a:t>    </a:t>
              </a:r>
              <a:r>
                <a:rPr lang="en-US" altLang="zh-CN" b="1" dirty="0" err="1"/>
                <a:t>int</a:t>
              </a:r>
              <a:r>
                <a:rPr lang="en-US" altLang="zh-CN" b="1" dirty="0"/>
                <a:t> c;</a:t>
              </a:r>
            </a:p>
            <a:p>
              <a:pPr eaLnBrk="0" hangingPunct="0"/>
              <a:r>
                <a:rPr lang="en-US" altLang="zh-CN" b="1" dirty="0"/>
                <a:t>    </a:t>
              </a:r>
              <a:r>
                <a:rPr lang="en-US" altLang="zh-CN" b="1" dirty="0" err="1"/>
                <a:t>scanf</a:t>
              </a:r>
              <a:r>
                <a:rPr lang="en-US" altLang="zh-CN" b="1" dirty="0"/>
                <a:t> ("%</a:t>
              </a:r>
              <a:r>
                <a:rPr lang="en-US" altLang="zh-CN" b="1" dirty="0" err="1"/>
                <a:t>f,%f</a:t>
              </a:r>
              <a:r>
                <a:rPr lang="en-US" altLang="zh-CN" b="1" dirty="0"/>
                <a:t>", &amp;a, &amp;b);</a:t>
              </a:r>
            </a:p>
            <a:p>
              <a:pPr eaLnBrk="0" hangingPunct="0"/>
              <a:r>
                <a:rPr lang="en-US" altLang="zh-CN" b="1" dirty="0"/>
                <a:t>    c = max (a, b);</a:t>
              </a:r>
            </a:p>
            <a:p>
              <a:pPr eaLnBrk="0" hangingPunct="0"/>
              <a:r>
                <a:rPr lang="en-US" altLang="zh-CN" b="1" dirty="0"/>
                <a:t>    </a:t>
              </a:r>
              <a:r>
                <a:rPr lang="en-US" altLang="zh-CN" b="1" dirty="0" err="1"/>
                <a:t>printf</a:t>
              </a:r>
              <a:r>
                <a:rPr lang="en-US" altLang="zh-CN" b="1" dirty="0"/>
                <a:t> ("Max is %d\n", c);</a:t>
              </a:r>
            </a:p>
            <a:p>
              <a:pPr eaLnBrk="0" hangingPunct="0"/>
              <a:r>
                <a:rPr lang="en-US" altLang="zh-CN" b="1" dirty="0"/>
                <a:t>    return 0;</a:t>
              </a:r>
            </a:p>
            <a:p>
              <a:pPr eaLnBrk="0" hangingPunct="0"/>
              <a:r>
                <a:rPr lang="en-US" altLang="zh-CN" b="1" dirty="0"/>
                <a:t>}</a:t>
              </a:r>
            </a:p>
            <a:p>
              <a:pPr eaLnBrk="0" hangingPunct="0"/>
              <a:endParaRPr lang="en-US" altLang="zh-CN" b="1" dirty="0"/>
            </a:p>
            <a:p>
              <a:pPr eaLnBrk="0" hangingPunct="0"/>
              <a:r>
                <a:rPr lang="en-US" altLang="zh-CN" b="1" dirty="0">
                  <a:solidFill>
                    <a:srgbClr val="7030A0"/>
                  </a:solidFill>
                </a:rPr>
                <a:t>max (float x, float y)</a:t>
              </a:r>
            </a:p>
            <a:p>
              <a:pPr eaLnBrk="0" hangingPunct="0"/>
              <a:r>
                <a:rPr lang="en-US" altLang="zh-CN" b="1" dirty="0"/>
                <a:t>{   </a:t>
              </a:r>
            </a:p>
            <a:p>
              <a:pPr eaLnBrk="0" hangingPunct="0"/>
              <a:r>
                <a:rPr lang="en-US" altLang="zh-CN" b="1" dirty="0"/>
                <a:t>    float z;</a:t>
              </a:r>
            </a:p>
            <a:p>
              <a:pPr eaLnBrk="0" hangingPunct="0"/>
              <a:r>
                <a:rPr lang="en-US" altLang="zh-CN" b="1" dirty="0"/>
                <a:t>    z = x &gt; y ? x : y;</a:t>
              </a:r>
            </a:p>
            <a:p>
              <a:pPr eaLnBrk="0" hangingPunct="0"/>
              <a:r>
                <a:rPr lang="en-US" altLang="zh-CN" b="1" dirty="0"/>
                <a:t>    return (z);</a:t>
              </a:r>
            </a:p>
            <a:p>
              <a:pPr eaLnBrk="0" hangingPunct="0"/>
              <a:r>
                <a:rPr lang="en-US" altLang="zh-CN" b="1" dirty="0"/>
                <a:t>}</a:t>
              </a:r>
            </a:p>
          </p:txBody>
        </p:sp>
        <p:sp>
          <p:nvSpPr>
            <p:cNvPr id="1052689" name="AutoShape 17"/>
            <p:cNvSpPr>
              <a:spLocks noChangeArrowheads="1"/>
            </p:cNvSpPr>
            <p:nvPr/>
          </p:nvSpPr>
          <p:spPr bwMode="auto">
            <a:xfrm>
              <a:off x="2395" y="3440"/>
              <a:ext cx="2086" cy="499"/>
            </a:xfrm>
            <a:prstGeom prst="wedgeRoundRectCallout">
              <a:avLst>
                <a:gd name="adj1" fmla="val -56483"/>
                <a:gd name="adj2" fmla="val -185290"/>
                <a:gd name="adj3" fmla="val 16667"/>
              </a:avLst>
            </a:prstGeom>
            <a:gradFill rotWithShape="1">
              <a:gsLst>
                <a:gs pos="0">
                  <a:srgbClr val="CCFFFF"/>
                </a:gs>
                <a:gs pos="100000">
                  <a:srgbClr val="FFFFFF"/>
                </a:gs>
              </a:gsLst>
              <a:lin ang="5400000" scaled="1"/>
            </a:gradFill>
            <a:ln w="22225">
              <a:solidFill>
                <a:srgbClr val="C01920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/>
            <a:lstStyle/>
            <a:p>
              <a:r>
                <a:rPr lang="en-US" altLang="zh-CN" sz="2000" b="1" dirty="0" err="1">
                  <a:solidFill>
                    <a:srgbClr val="C01920"/>
                  </a:solidFill>
                  <a:latin typeface="+mn-lt"/>
                  <a:ea typeface="楷体" pitchFamily="49" charset="-122"/>
                </a:rPr>
                <a:t>int</a:t>
              </a:r>
              <a:r>
                <a:rPr lang="zh-CN" altLang="en-US" sz="2000" b="1" dirty="0">
                  <a:solidFill>
                    <a:srgbClr val="C01920"/>
                  </a:solidFill>
                  <a:latin typeface="+mn-lt"/>
                  <a:ea typeface="楷体" pitchFamily="49" charset="-122"/>
                </a:rPr>
                <a:t>型函数可不作函数说明（</a:t>
              </a:r>
              <a:r>
                <a:rPr lang="en-US" altLang="zh-CN" sz="2000" b="1" dirty="0">
                  <a:solidFill>
                    <a:srgbClr val="C01920"/>
                  </a:solidFill>
                  <a:latin typeface="+mn-lt"/>
                  <a:ea typeface="楷体" pitchFamily="49" charset="-122"/>
                </a:rPr>
                <a:t>VC</a:t>
              </a:r>
              <a:r>
                <a:rPr lang="zh-CN" altLang="en-US" sz="2000" b="1" dirty="0">
                  <a:solidFill>
                    <a:srgbClr val="C01920"/>
                  </a:solidFill>
                  <a:latin typeface="+mn-lt"/>
                  <a:ea typeface="楷体" pitchFamily="49" charset="-122"/>
                </a:rPr>
                <a:t>、</a:t>
              </a:r>
              <a:r>
                <a:rPr lang="en-US" altLang="zh-CN" sz="2000" b="1" dirty="0">
                  <a:solidFill>
                    <a:srgbClr val="C01920"/>
                  </a:solidFill>
                  <a:latin typeface="+mn-lt"/>
                  <a:ea typeface="楷体" pitchFamily="49" charset="-122"/>
                </a:rPr>
                <a:t>CB</a:t>
              </a:r>
              <a:r>
                <a:rPr lang="zh-CN" altLang="en-US" sz="2000" b="1" dirty="0">
                  <a:solidFill>
                    <a:srgbClr val="C01920"/>
                  </a:solidFill>
                  <a:latin typeface="+mn-lt"/>
                  <a:ea typeface="楷体" pitchFamily="49" charset="-122"/>
                </a:rPr>
                <a:t>下</a:t>
              </a:r>
              <a:r>
                <a:rPr lang="zh-CN" altLang="zh-CN" sz="2000" b="1" dirty="0">
                  <a:solidFill>
                    <a:srgbClr val="C01920"/>
                  </a:solidFill>
                  <a:latin typeface="+mn-lt"/>
                  <a:ea typeface="楷体" pitchFamily="49" charset="-122"/>
                </a:rPr>
                <a:t>不行）</a:t>
              </a:r>
              <a:endParaRPr lang="zh-CN" altLang="en-US" sz="2000" b="1" dirty="0">
                <a:solidFill>
                  <a:srgbClr val="C01920"/>
                </a:solidFill>
                <a:latin typeface="+mn-lt"/>
                <a:ea typeface="楷体" pitchFamily="49" charset="-122"/>
              </a:endParaRPr>
            </a:p>
          </p:txBody>
        </p:sp>
      </p:grpSp>
      <p:sp>
        <p:nvSpPr>
          <p:cNvPr id="14" name="Rectangle 4">
            <a:extLst>
              <a:ext uri="{FF2B5EF4-FFF2-40B4-BE49-F238E27FC236}">
                <a16:creationId xmlns:a16="http://schemas.microsoft.com/office/drawing/2014/main" id="{E5026198-0822-4B9C-BD08-6E181536DF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8.2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函数的定义和调用 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526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526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0526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268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699" name="Rectangle 3"/>
          <p:cNvSpPr>
            <a:spLocks noChangeArrowheads="1"/>
          </p:cNvSpPr>
          <p:nvPr/>
        </p:nvSpPr>
        <p:spPr bwMode="auto">
          <a:xfrm>
            <a:off x="780985" y="1819672"/>
            <a:ext cx="286674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、值传递方式</a:t>
            </a:r>
          </a:p>
        </p:txBody>
      </p:sp>
      <p:sp>
        <p:nvSpPr>
          <p:cNvPr id="1053716" name="Rectangle 20"/>
          <p:cNvSpPr>
            <a:spLocks noChangeArrowheads="1"/>
          </p:cNvSpPr>
          <p:nvPr/>
        </p:nvSpPr>
        <p:spPr bwMode="auto">
          <a:xfrm>
            <a:off x="495232" y="1095127"/>
            <a:ext cx="1121739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+mn-lt"/>
                <a:ea typeface="楷体" pitchFamily="49" charset="-122"/>
              </a:rPr>
              <a:t>        </a:t>
            </a:r>
            <a:r>
              <a:rPr lang="zh-CN" altLang="en-US" b="1" dirty="0">
                <a:latin typeface="+mn-lt"/>
                <a:ea typeface="楷体" pitchFamily="49" charset="-122"/>
              </a:rPr>
              <a:t>根据实参传递给形参值的不同，通常有</a:t>
            </a:r>
            <a:r>
              <a:rPr lang="zh-CN" altLang="en-US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值传递方式</a:t>
            </a:r>
            <a:r>
              <a:rPr lang="zh-CN" altLang="en-US" b="1" dirty="0">
                <a:latin typeface="+mn-lt"/>
                <a:ea typeface="楷体" pitchFamily="49" charset="-122"/>
              </a:rPr>
              <a:t>和</a:t>
            </a:r>
            <a:r>
              <a:rPr lang="zh-CN" altLang="en-US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地址传递方式</a:t>
            </a:r>
            <a:r>
              <a:rPr lang="zh-CN" altLang="en-US" b="1" dirty="0">
                <a:latin typeface="+mn-lt"/>
                <a:ea typeface="楷体" pitchFamily="49" charset="-122"/>
              </a:rPr>
              <a:t>两种。</a:t>
            </a:r>
            <a:r>
              <a:rPr lang="zh-CN" altLang="en-US" dirty="0"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053717" name="Rectangle 21"/>
          <p:cNvSpPr>
            <a:spLocks noChangeArrowheads="1"/>
          </p:cNvSpPr>
          <p:nvPr/>
        </p:nvSpPr>
        <p:spPr bwMode="auto">
          <a:xfrm>
            <a:off x="1281051" y="2704852"/>
            <a:ext cx="10129964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方式：</a:t>
            </a:r>
          </a:p>
          <a:p>
            <a:r>
              <a:rPr lang="zh-CN" altLang="en-US" b="1" dirty="0">
                <a:latin typeface="+mn-lt"/>
                <a:ea typeface="楷体" pitchFamily="49" charset="-122"/>
              </a:rPr>
              <a:t>        函数调用时</a:t>
            </a:r>
            <a:r>
              <a:rPr lang="en-US" altLang="zh-CN" b="1" dirty="0">
                <a:latin typeface="+mn-lt"/>
                <a:ea typeface="楷体" pitchFamily="49" charset="-122"/>
              </a:rPr>
              <a:t>,</a:t>
            </a:r>
            <a:r>
              <a:rPr lang="zh-CN" altLang="en-US" b="1" dirty="0">
                <a:latin typeface="+mn-lt"/>
                <a:ea typeface="楷体" pitchFamily="49" charset="-122"/>
              </a:rPr>
              <a:t>为形参分配内存单元</a:t>
            </a:r>
            <a:r>
              <a:rPr lang="en-US" altLang="zh-CN" b="1" dirty="0">
                <a:latin typeface="+mn-lt"/>
                <a:ea typeface="楷体" pitchFamily="49" charset="-122"/>
              </a:rPr>
              <a:t>,</a:t>
            </a:r>
            <a:r>
              <a:rPr lang="zh-CN" altLang="en-US" b="1" dirty="0">
                <a:latin typeface="+mn-lt"/>
                <a:ea typeface="楷体" pitchFamily="49" charset="-122"/>
              </a:rPr>
              <a:t>并将实参的值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复制</a:t>
            </a:r>
            <a:r>
              <a:rPr lang="zh-CN" altLang="en-US" b="1" dirty="0">
                <a:latin typeface="+mn-lt"/>
                <a:ea typeface="楷体" pitchFamily="49" charset="-122"/>
              </a:rPr>
              <a:t>到形参中；调用结束，形参单元被释放，实参单元仍保留并维持原值。</a:t>
            </a:r>
            <a:endParaRPr lang="en-US" altLang="zh-CN" b="1" dirty="0">
              <a:latin typeface="+mn-lt"/>
              <a:ea typeface="楷体" pitchFamily="49" charset="-122"/>
            </a:endParaRPr>
          </a:p>
          <a:p>
            <a:endParaRPr lang="zh-CN" altLang="en-US" b="1" dirty="0">
              <a:latin typeface="+mn-lt"/>
              <a:ea typeface="楷体" pitchFamily="49" charset="-122"/>
            </a:endParaRPr>
          </a:p>
          <a:p>
            <a:pPr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 特点：</a:t>
            </a:r>
          </a:p>
          <a:p>
            <a:r>
              <a:rPr lang="zh-CN" altLang="en-US" b="1" dirty="0">
                <a:latin typeface="+mn-lt"/>
                <a:ea typeface="楷体" pitchFamily="49" charset="-122"/>
              </a:rPr>
              <a:t>   ① 形参与实参占用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不同</a:t>
            </a:r>
            <a:r>
              <a:rPr lang="zh-CN" altLang="en-US" b="1" dirty="0">
                <a:latin typeface="+mn-lt"/>
                <a:ea typeface="楷体" pitchFamily="49" charset="-122"/>
              </a:rPr>
              <a:t>的内存单元</a:t>
            </a:r>
          </a:p>
          <a:p>
            <a:r>
              <a:rPr lang="zh-CN" altLang="en-US" b="1" dirty="0">
                <a:solidFill>
                  <a:schemeClr val="accent2"/>
                </a:solidFill>
                <a:latin typeface="+mn-lt"/>
                <a:ea typeface="楷体" pitchFamily="49" charset="-122"/>
              </a:rPr>
              <a:t>   </a:t>
            </a:r>
            <a:r>
              <a:rPr lang="zh-CN" altLang="en-US" b="1" dirty="0">
                <a:latin typeface="+mn-lt"/>
                <a:ea typeface="楷体" pitchFamily="49" charset="-122"/>
              </a:rPr>
              <a:t>②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单向</a:t>
            </a:r>
            <a:r>
              <a:rPr lang="zh-CN" altLang="en-US" b="1" dirty="0">
                <a:latin typeface="+mn-lt"/>
                <a:ea typeface="楷体" pitchFamily="49" charset="-122"/>
              </a:rPr>
              <a:t>传递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9E295090-67D6-4A96-8AA4-BEC598DB8A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8.3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函数参数的传递方式 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537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536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536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537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537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500"/>
                                        <p:tgtEl>
                                          <p:spTgt spid="10537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537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537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5" dur="500"/>
                                        <p:tgtEl>
                                          <p:spTgt spid="10537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0" dur="500"/>
                                        <p:tgtEl>
                                          <p:spTgt spid="10537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3699" grpId="0"/>
      <p:bldP spid="105371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4">
            <a:extLst>
              <a:ext uri="{FF2B5EF4-FFF2-40B4-BE49-F238E27FC236}">
                <a16:creationId xmlns:a16="http://schemas.microsoft.com/office/drawing/2014/main" id="{0693F9DC-DBCD-4A28-ADEE-0D38966E83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8.3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函数参数的传递方式 </a:t>
            </a:r>
          </a:p>
        </p:txBody>
      </p:sp>
      <p:grpSp>
        <p:nvGrpSpPr>
          <p:cNvPr id="1055857" name="Group 113"/>
          <p:cNvGrpSpPr>
            <a:grpSpLocks/>
          </p:cNvGrpSpPr>
          <p:nvPr/>
        </p:nvGrpSpPr>
        <p:grpSpPr bwMode="auto">
          <a:xfrm>
            <a:off x="8830171" y="1366839"/>
            <a:ext cx="2736850" cy="1774825"/>
            <a:chOff x="3923" y="951"/>
            <a:chExt cx="1724" cy="1118"/>
          </a:xfrm>
        </p:grpSpPr>
        <p:sp>
          <p:nvSpPr>
            <p:cNvPr id="1055814" name="Rectangle 70"/>
            <p:cNvSpPr>
              <a:spLocks noChangeArrowheads="1"/>
            </p:cNvSpPr>
            <p:nvPr/>
          </p:nvSpPr>
          <p:spPr bwMode="auto">
            <a:xfrm>
              <a:off x="3923" y="981"/>
              <a:ext cx="1724" cy="1088"/>
            </a:xfrm>
            <a:prstGeom prst="rect">
              <a:avLst/>
            </a:prstGeom>
            <a:gradFill rotWithShape="1">
              <a:gsLst>
                <a:gs pos="0">
                  <a:srgbClr val="CFCFD1">
                    <a:lumMod val="99000"/>
                  </a:srgbClr>
                </a:gs>
                <a:gs pos="100000">
                  <a:schemeClr val="bg1"/>
                </a:gs>
              </a:gsLst>
              <a:lin ang="5400000" scaled="1"/>
            </a:gradFill>
            <a:ln w="28575">
              <a:solidFill>
                <a:srgbClr val="00206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wrap="none" anchor="ctr"/>
            <a:lstStyle/>
            <a:p>
              <a:endParaRPr lang="zh-CN" altLang="en-US" dirty="0"/>
            </a:p>
          </p:txBody>
        </p:sp>
        <p:grpSp>
          <p:nvGrpSpPr>
            <p:cNvPr id="1055815" name="Group 71"/>
            <p:cNvGrpSpPr>
              <a:grpSpLocks/>
            </p:cNvGrpSpPr>
            <p:nvPr/>
          </p:nvGrpSpPr>
          <p:grpSpPr bwMode="auto">
            <a:xfrm>
              <a:off x="3969" y="1161"/>
              <a:ext cx="590" cy="317"/>
              <a:chOff x="2460" y="12426"/>
              <a:chExt cx="930" cy="492"/>
            </a:xfrm>
          </p:grpSpPr>
          <p:sp>
            <p:nvSpPr>
              <p:cNvPr id="1055816" name="Text Box 72"/>
              <p:cNvSpPr txBox="1">
                <a:spLocks noChangeArrowheads="1"/>
              </p:cNvSpPr>
              <p:nvPr/>
            </p:nvSpPr>
            <p:spPr bwMode="auto">
              <a:xfrm>
                <a:off x="2850" y="12450"/>
                <a:ext cx="540" cy="468"/>
              </a:xfrm>
              <a:prstGeom prst="rect">
                <a:avLst/>
              </a:prstGeom>
              <a:solidFill>
                <a:srgbClr val="FFCC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>
                    <a:alpha val="50000"/>
                  </a:srgbClr>
                </a:outerShdw>
              </a:effectLst>
            </p:spPr>
            <p:txBody>
              <a:bodyPr/>
              <a:lstStyle/>
              <a:p>
                <a:pPr algn="ctr"/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7</a:t>
                </a:r>
              </a:p>
            </p:txBody>
          </p:sp>
          <p:sp>
            <p:nvSpPr>
              <p:cNvPr id="1055817" name="Text Box 73"/>
              <p:cNvSpPr txBox="1">
                <a:spLocks noChangeArrowheads="1"/>
              </p:cNvSpPr>
              <p:nvPr/>
            </p:nvSpPr>
            <p:spPr bwMode="auto">
              <a:xfrm>
                <a:off x="2460" y="12426"/>
                <a:ext cx="540" cy="4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x</a:t>
                </a:r>
              </a:p>
            </p:txBody>
          </p:sp>
        </p:grpSp>
        <p:grpSp>
          <p:nvGrpSpPr>
            <p:cNvPr id="1055818" name="Group 74"/>
            <p:cNvGrpSpPr>
              <a:grpSpLocks/>
            </p:cNvGrpSpPr>
            <p:nvPr/>
          </p:nvGrpSpPr>
          <p:grpSpPr bwMode="auto">
            <a:xfrm>
              <a:off x="4876" y="1161"/>
              <a:ext cx="613" cy="303"/>
              <a:chOff x="3780" y="12447"/>
              <a:chExt cx="960" cy="477"/>
            </a:xfrm>
          </p:grpSpPr>
          <p:sp>
            <p:nvSpPr>
              <p:cNvPr id="1055819" name="Text Box 75"/>
              <p:cNvSpPr txBox="1">
                <a:spLocks noChangeArrowheads="1"/>
              </p:cNvSpPr>
              <p:nvPr/>
            </p:nvSpPr>
            <p:spPr bwMode="auto">
              <a:xfrm>
                <a:off x="4200" y="12447"/>
                <a:ext cx="540" cy="468"/>
              </a:xfrm>
              <a:prstGeom prst="rect">
                <a:avLst/>
              </a:prstGeom>
              <a:solidFill>
                <a:srgbClr val="FFCC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>
                    <a:alpha val="50000"/>
                  </a:srgbClr>
                </a:outerShdw>
              </a:effectLst>
            </p:spPr>
            <p:txBody>
              <a:bodyPr/>
              <a:lstStyle/>
              <a:p>
                <a:pPr algn="ctr"/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11</a:t>
                </a:r>
              </a:p>
            </p:txBody>
          </p:sp>
          <p:sp>
            <p:nvSpPr>
              <p:cNvPr id="1055820" name="Text Box 76"/>
              <p:cNvSpPr txBox="1">
                <a:spLocks noChangeArrowheads="1"/>
              </p:cNvSpPr>
              <p:nvPr/>
            </p:nvSpPr>
            <p:spPr bwMode="auto">
              <a:xfrm>
                <a:off x="3780" y="12456"/>
                <a:ext cx="540" cy="4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y</a:t>
                </a:r>
              </a:p>
            </p:txBody>
          </p:sp>
        </p:grpSp>
        <p:sp>
          <p:nvSpPr>
            <p:cNvPr id="1055829" name="Text Box 85"/>
            <p:cNvSpPr txBox="1">
              <a:spLocks noChangeArrowheads="1"/>
            </p:cNvSpPr>
            <p:nvPr/>
          </p:nvSpPr>
          <p:spPr bwMode="auto">
            <a:xfrm>
              <a:off x="4406" y="951"/>
              <a:ext cx="879" cy="2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en-US" sz="2000" b="1" dirty="0">
                  <a:solidFill>
                    <a:srgbClr val="C01920"/>
                  </a:solidFill>
                  <a:latin typeface="+mn-lt"/>
                  <a:ea typeface="楷体" pitchFamily="49" charset="-122"/>
                </a:rPr>
                <a:t>②</a:t>
              </a:r>
              <a:r>
                <a:rPr lang="en-US" altLang="zh-CN" sz="2000" b="1" dirty="0">
                  <a:solidFill>
                    <a:srgbClr val="C01920"/>
                  </a:solidFill>
                  <a:latin typeface="+mn-lt"/>
                  <a:ea typeface="楷体" pitchFamily="49" charset="-122"/>
                </a:rPr>
                <a:t> </a:t>
              </a:r>
              <a:r>
                <a:rPr lang="zh-CN" altLang="en-US" sz="2000" b="1" dirty="0">
                  <a:solidFill>
                    <a:srgbClr val="C01920"/>
                  </a:solidFill>
                  <a:latin typeface="+mn-lt"/>
                  <a:ea typeface="楷体" pitchFamily="49" charset="-122"/>
                </a:rPr>
                <a:t>调用</a:t>
              </a:r>
            </a:p>
          </p:txBody>
        </p:sp>
      </p:grpSp>
      <p:sp>
        <p:nvSpPr>
          <p:cNvPr id="1055746" name="Text Box 2"/>
          <p:cNvSpPr txBox="1">
            <a:spLocks noChangeArrowheads="1"/>
          </p:cNvSpPr>
          <p:nvPr/>
        </p:nvSpPr>
        <p:spPr bwMode="auto">
          <a:xfrm>
            <a:off x="768673" y="836712"/>
            <a:ext cx="496728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800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sz="2800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: </a:t>
            </a:r>
            <a:r>
              <a:rPr lang="zh-CN" altLang="en-US" sz="2800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交换两个数</a:t>
            </a:r>
            <a:r>
              <a:rPr lang="en-US" altLang="zh-CN" sz="2800" b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800" b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值传递方式</a:t>
            </a:r>
            <a:r>
              <a:rPr lang="en-US" altLang="zh-CN" sz="2800" b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</a:p>
        </p:txBody>
      </p:sp>
      <p:sp>
        <p:nvSpPr>
          <p:cNvPr id="1055753" name="Rectangle 9" descr="信纸"/>
          <p:cNvSpPr>
            <a:spLocks noChangeArrowheads="1"/>
          </p:cNvSpPr>
          <p:nvPr/>
        </p:nvSpPr>
        <p:spPr bwMode="auto">
          <a:xfrm>
            <a:off x="855625" y="729272"/>
            <a:ext cx="7669747" cy="5940088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rgbClr val="FFFFFF"/>
              </a:gs>
            </a:gsLst>
            <a:lin ang="54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#include &lt;</a:t>
            </a:r>
            <a:r>
              <a:rPr lang="en-US" altLang="zh-CN" sz="2000" b="1" dirty="0" err="1">
                <a:ea typeface="楷体_GB2312" pitchFamily="49" charset="-122"/>
              </a:rPr>
              <a:t>stdio.h</a:t>
            </a:r>
            <a:r>
              <a:rPr lang="en-US" altLang="zh-CN" sz="2000" b="1" dirty="0">
                <a:ea typeface="楷体_GB2312" pitchFamily="49" charset="-122"/>
              </a:rPr>
              <a:t>&gt;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void swap (</a:t>
            </a:r>
            <a:r>
              <a:rPr lang="en-US" altLang="zh-CN" sz="2000" b="1" dirty="0" err="1">
                <a:ea typeface="楷体_GB2312" pitchFamily="49" charset="-122"/>
              </a:rPr>
              <a:t>int</a:t>
            </a:r>
            <a:r>
              <a:rPr lang="en-US" altLang="zh-CN" sz="2000" b="1" dirty="0">
                <a:ea typeface="楷体_GB2312" pitchFamily="49" charset="-122"/>
              </a:rPr>
              <a:t> a, </a:t>
            </a:r>
            <a:r>
              <a:rPr lang="en-US" altLang="zh-CN" sz="2000" b="1" dirty="0" err="1">
                <a:ea typeface="楷体_GB2312" pitchFamily="49" charset="-122"/>
              </a:rPr>
              <a:t>int</a:t>
            </a:r>
            <a:r>
              <a:rPr lang="en-US" altLang="zh-CN" sz="2000" b="1" dirty="0">
                <a:ea typeface="楷体_GB2312" pitchFamily="49" charset="-122"/>
              </a:rPr>
              <a:t> b); </a:t>
            </a:r>
          </a:p>
          <a:p>
            <a:pPr marL="457200" indent="-457200"/>
            <a:r>
              <a:rPr lang="en-US" altLang="zh-CN" sz="2000" b="1" dirty="0" err="1">
                <a:solidFill>
                  <a:srgbClr val="CC0000"/>
                </a:solidFill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 main ( )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{   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    </a:t>
            </a:r>
            <a:r>
              <a:rPr lang="en-US" altLang="zh-CN" sz="2000" b="1" dirty="0" err="1">
                <a:ea typeface="楷体_GB2312" pitchFamily="49" charset="-122"/>
              </a:rPr>
              <a:t>int</a:t>
            </a:r>
            <a:r>
              <a:rPr lang="en-US" altLang="zh-CN" sz="2000" b="1" dirty="0">
                <a:ea typeface="楷体_GB2312" pitchFamily="49" charset="-122"/>
              </a:rPr>
              <a:t> x = 7, y = 11;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    </a:t>
            </a:r>
            <a:r>
              <a:rPr lang="en-US" altLang="zh-CN" sz="2000" b="1" dirty="0" err="1">
                <a:ea typeface="楷体_GB2312" pitchFamily="49" charset="-122"/>
              </a:rPr>
              <a:t>printf</a:t>
            </a:r>
            <a:r>
              <a:rPr lang="en-US" altLang="zh-CN" sz="2000" b="1" dirty="0">
                <a:ea typeface="楷体_GB2312" pitchFamily="49" charset="-122"/>
              </a:rPr>
              <a:t> ("before swapped: ");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    </a:t>
            </a:r>
            <a:r>
              <a:rPr lang="en-US" altLang="zh-CN" sz="2000" b="1" dirty="0" err="1">
                <a:ea typeface="楷体_GB2312" pitchFamily="49" charset="-122"/>
              </a:rPr>
              <a:t>printf</a:t>
            </a:r>
            <a:r>
              <a:rPr lang="en-US" altLang="zh-CN" sz="2000" b="1" dirty="0">
                <a:ea typeface="楷体_GB2312" pitchFamily="49" charset="-122"/>
              </a:rPr>
              <a:t> ("x=%d, y=%d\n", x, y);</a:t>
            </a:r>
          </a:p>
          <a:p>
            <a:pPr marL="457200" indent="-457200"/>
            <a:r>
              <a:rPr lang="en-US" altLang="zh-CN" sz="2000" b="1" dirty="0">
                <a:solidFill>
                  <a:schemeClr val="accent2"/>
                </a:solidFill>
                <a:ea typeface="楷体_GB2312" pitchFamily="49" charset="-122"/>
              </a:rPr>
              <a:t>    </a:t>
            </a:r>
            <a:r>
              <a:rPr lang="en-US" altLang="zh-CN" sz="2000" b="1" dirty="0">
                <a:solidFill>
                  <a:srgbClr val="002060"/>
                </a:solidFill>
                <a:ea typeface="楷体_GB2312" pitchFamily="49" charset="-122"/>
              </a:rPr>
              <a:t>swap (x, y);   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    </a:t>
            </a:r>
            <a:r>
              <a:rPr lang="en-US" altLang="zh-CN" sz="2000" b="1" dirty="0" err="1">
                <a:ea typeface="楷体_GB2312" pitchFamily="49" charset="-122"/>
              </a:rPr>
              <a:t>printf</a:t>
            </a:r>
            <a:r>
              <a:rPr lang="en-US" altLang="zh-CN" sz="2000" b="1" dirty="0">
                <a:ea typeface="楷体_GB2312" pitchFamily="49" charset="-122"/>
              </a:rPr>
              <a:t> ("after  swapped: ");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    </a:t>
            </a:r>
            <a:r>
              <a:rPr lang="en-US" altLang="zh-CN" sz="2000" b="1" dirty="0" err="1">
                <a:ea typeface="楷体_GB2312" pitchFamily="49" charset="-122"/>
              </a:rPr>
              <a:t>printf</a:t>
            </a:r>
            <a:r>
              <a:rPr lang="en-US" altLang="zh-CN" sz="2000" b="1" dirty="0">
                <a:ea typeface="楷体_GB2312" pitchFamily="49" charset="-122"/>
              </a:rPr>
              <a:t> ("x=%d, y=%d\n", x, y);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    return 0;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}</a:t>
            </a:r>
          </a:p>
          <a:p>
            <a:pPr marL="457200" indent="-457200"/>
            <a:r>
              <a:rPr lang="en-US" altLang="zh-CN" sz="2000" b="1" dirty="0">
                <a:solidFill>
                  <a:srgbClr val="002060"/>
                </a:solidFill>
                <a:ea typeface="楷体_GB2312" pitchFamily="49" charset="-122"/>
              </a:rPr>
              <a:t>void swap (</a:t>
            </a:r>
            <a:r>
              <a:rPr lang="en-US" altLang="zh-CN" sz="2000" b="1" dirty="0" err="1">
                <a:solidFill>
                  <a:srgbClr val="002060"/>
                </a:solidFill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rgbClr val="002060"/>
                </a:solidFill>
                <a:ea typeface="楷体_GB2312" pitchFamily="49" charset="-122"/>
              </a:rPr>
              <a:t> a, </a:t>
            </a:r>
            <a:r>
              <a:rPr lang="en-US" altLang="zh-CN" sz="2000" b="1" dirty="0" err="1">
                <a:solidFill>
                  <a:srgbClr val="002060"/>
                </a:solidFill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rgbClr val="002060"/>
                </a:solidFill>
                <a:ea typeface="楷体_GB2312" pitchFamily="49" charset="-122"/>
              </a:rPr>
              <a:t> b)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{   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    </a:t>
            </a:r>
            <a:r>
              <a:rPr lang="en-US" altLang="zh-CN" sz="2000" b="1" dirty="0" err="1">
                <a:ea typeface="楷体_GB2312" pitchFamily="49" charset="-122"/>
              </a:rPr>
              <a:t>int</a:t>
            </a:r>
            <a:r>
              <a:rPr lang="en-US" altLang="zh-CN" sz="2000" b="1" dirty="0">
                <a:ea typeface="楷体_GB2312" pitchFamily="49" charset="-122"/>
              </a:rPr>
              <a:t> temp;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    temp = a; 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    a = b; 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    b = temp;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}</a:t>
            </a:r>
          </a:p>
        </p:txBody>
      </p:sp>
      <p:sp>
        <p:nvSpPr>
          <p:cNvPr id="1055757" name="Rectangle 13"/>
          <p:cNvSpPr>
            <a:spLocks noChangeArrowheads="1"/>
          </p:cNvSpPr>
          <p:nvPr/>
        </p:nvSpPr>
        <p:spPr bwMode="auto">
          <a:xfrm>
            <a:off x="4910634" y="5343197"/>
            <a:ext cx="3382962" cy="1044575"/>
          </a:xfrm>
          <a:prstGeom prst="rect">
            <a:avLst/>
          </a:prstGeom>
          <a:solidFill>
            <a:srgbClr val="FFFFFF"/>
          </a:soli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anchor="ctr">
            <a:spAutoFit/>
          </a:bodyPr>
          <a:lstStyle/>
          <a:p>
            <a:r>
              <a:rPr lang="zh-CN" altLang="en-US" sz="2000" b="1" dirty="0">
                <a:solidFill>
                  <a:srgbClr val="C01920"/>
                </a:solidFill>
                <a:latin typeface="隶书" pitchFamily="49" charset="-122"/>
                <a:ea typeface="隶书" pitchFamily="49" charset="-122"/>
              </a:rPr>
              <a:t>运行结果：</a:t>
            </a:r>
          </a:p>
          <a:p>
            <a:pPr algn="ctr"/>
            <a:r>
              <a:rPr lang="en-US" altLang="zh-CN" sz="2000" b="1" dirty="0"/>
              <a:t>before swapped: x = 7, y = 11</a:t>
            </a:r>
          </a:p>
          <a:p>
            <a:pPr algn="ctr"/>
            <a:r>
              <a:rPr lang="en-US" altLang="zh-CN" sz="2000" b="1" dirty="0"/>
              <a:t>after  swapped:  </a:t>
            </a:r>
            <a:r>
              <a:rPr lang="en-US" altLang="zh-CN" sz="2000" b="1" dirty="0">
                <a:solidFill>
                  <a:srgbClr val="002060"/>
                </a:solidFill>
              </a:rPr>
              <a:t>x = 7, y = 11</a:t>
            </a:r>
          </a:p>
        </p:txBody>
      </p:sp>
      <p:grpSp>
        <p:nvGrpSpPr>
          <p:cNvPr id="1055856" name="Group 112"/>
          <p:cNvGrpSpPr>
            <a:grpSpLocks/>
          </p:cNvGrpSpPr>
          <p:nvPr/>
        </p:nvGrpSpPr>
        <p:grpSpPr bwMode="auto">
          <a:xfrm>
            <a:off x="8830171" y="174625"/>
            <a:ext cx="2736850" cy="1093788"/>
            <a:chOff x="3923" y="110"/>
            <a:chExt cx="1724" cy="689"/>
          </a:xfrm>
        </p:grpSpPr>
        <p:sp>
          <p:nvSpPr>
            <p:cNvPr id="1055813" name="Rectangle 69"/>
            <p:cNvSpPr>
              <a:spLocks noChangeArrowheads="1"/>
            </p:cNvSpPr>
            <p:nvPr/>
          </p:nvSpPr>
          <p:spPr bwMode="auto">
            <a:xfrm>
              <a:off x="3923" y="119"/>
              <a:ext cx="1724" cy="680"/>
            </a:xfrm>
            <a:prstGeom prst="rect">
              <a:avLst/>
            </a:prstGeom>
            <a:gradFill rotWithShape="1">
              <a:gsLst>
                <a:gs pos="0">
                  <a:srgbClr val="CFCFD1"/>
                </a:gs>
                <a:gs pos="100000">
                  <a:schemeClr val="bg1"/>
                </a:gs>
              </a:gsLst>
              <a:lin ang="5400000" scaled="1"/>
            </a:gradFill>
            <a:ln w="28575">
              <a:solidFill>
                <a:srgbClr val="00206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wrap="none" anchor="ctr"/>
            <a:lstStyle/>
            <a:p>
              <a:endParaRPr lang="zh-CN" altLang="en-US" dirty="0"/>
            </a:p>
          </p:txBody>
        </p:sp>
        <p:grpSp>
          <p:nvGrpSpPr>
            <p:cNvPr id="1055762" name="Group 18"/>
            <p:cNvGrpSpPr>
              <a:grpSpLocks/>
            </p:cNvGrpSpPr>
            <p:nvPr/>
          </p:nvGrpSpPr>
          <p:grpSpPr bwMode="auto">
            <a:xfrm>
              <a:off x="3969" y="373"/>
              <a:ext cx="590" cy="317"/>
              <a:chOff x="2460" y="12426"/>
              <a:chExt cx="930" cy="492"/>
            </a:xfrm>
          </p:grpSpPr>
          <p:sp>
            <p:nvSpPr>
              <p:cNvPr id="1055763" name="Text Box 19"/>
              <p:cNvSpPr txBox="1">
                <a:spLocks noChangeArrowheads="1"/>
              </p:cNvSpPr>
              <p:nvPr/>
            </p:nvSpPr>
            <p:spPr bwMode="auto">
              <a:xfrm>
                <a:off x="2850" y="12450"/>
                <a:ext cx="540" cy="468"/>
              </a:xfrm>
              <a:prstGeom prst="rect">
                <a:avLst/>
              </a:prstGeom>
              <a:solidFill>
                <a:srgbClr val="FFCC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>
                    <a:alpha val="50000"/>
                  </a:srgbClr>
                </a:outerShdw>
              </a:effectLst>
            </p:spPr>
            <p:txBody>
              <a:bodyPr/>
              <a:lstStyle/>
              <a:p>
                <a:pPr algn="ctr"/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7</a:t>
                </a:r>
              </a:p>
            </p:txBody>
          </p:sp>
          <p:sp>
            <p:nvSpPr>
              <p:cNvPr id="1055764" name="Text Box 20"/>
              <p:cNvSpPr txBox="1">
                <a:spLocks noChangeArrowheads="1"/>
              </p:cNvSpPr>
              <p:nvPr/>
            </p:nvSpPr>
            <p:spPr bwMode="auto">
              <a:xfrm>
                <a:off x="2460" y="12426"/>
                <a:ext cx="540" cy="4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x</a:t>
                </a:r>
              </a:p>
            </p:txBody>
          </p:sp>
        </p:grpSp>
        <p:grpSp>
          <p:nvGrpSpPr>
            <p:cNvPr id="1055765" name="Group 21"/>
            <p:cNvGrpSpPr>
              <a:grpSpLocks/>
            </p:cNvGrpSpPr>
            <p:nvPr/>
          </p:nvGrpSpPr>
          <p:grpSpPr bwMode="auto">
            <a:xfrm>
              <a:off x="4851" y="360"/>
              <a:ext cx="613" cy="303"/>
              <a:chOff x="3780" y="12447"/>
              <a:chExt cx="960" cy="477"/>
            </a:xfrm>
          </p:grpSpPr>
          <p:sp>
            <p:nvSpPr>
              <p:cNvPr id="1055766" name="Text Box 22"/>
              <p:cNvSpPr txBox="1">
                <a:spLocks noChangeArrowheads="1"/>
              </p:cNvSpPr>
              <p:nvPr/>
            </p:nvSpPr>
            <p:spPr bwMode="auto">
              <a:xfrm>
                <a:off x="4200" y="12447"/>
                <a:ext cx="540" cy="468"/>
              </a:xfrm>
              <a:prstGeom prst="rect">
                <a:avLst/>
              </a:prstGeom>
              <a:solidFill>
                <a:srgbClr val="FFCC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>
                    <a:alpha val="50000"/>
                  </a:srgbClr>
                </a:outerShdw>
              </a:effectLst>
            </p:spPr>
            <p:txBody>
              <a:bodyPr/>
              <a:lstStyle/>
              <a:p>
                <a:pPr algn="ctr"/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11</a:t>
                </a:r>
              </a:p>
            </p:txBody>
          </p:sp>
          <p:sp>
            <p:nvSpPr>
              <p:cNvPr id="1055767" name="Text Box 23"/>
              <p:cNvSpPr txBox="1">
                <a:spLocks noChangeArrowheads="1"/>
              </p:cNvSpPr>
              <p:nvPr/>
            </p:nvSpPr>
            <p:spPr bwMode="auto">
              <a:xfrm>
                <a:off x="3780" y="12456"/>
                <a:ext cx="540" cy="4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y</a:t>
                </a:r>
              </a:p>
            </p:txBody>
          </p:sp>
        </p:grpSp>
        <p:sp>
          <p:nvSpPr>
            <p:cNvPr id="1055768" name="Text Box 24"/>
            <p:cNvSpPr txBox="1">
              <a:spLocks noChangeArrowheads="1"/>
            </p:cNvSpPr>
            <p:nvPr/>
          </p:nvSpPr>
          <p:spPr bwMode="auto">
            <a:xfrm>
              <a:off x="4276" y="110"/>
              <a:ext cx="879" cy="2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sz="2000" b="1" dirty="0">
                  <a:solidFill>
                    <a:srgbClr val="C01920"/>
                  </a:solidFill>
                  <a:latin typeface="+mn-lt"/>
                  <a:ea typeface="楷体" pitchFamily="49" charset="-122"/>
                </a:rPr>
                <a:t>① </a:t>
              </a:r>
              <a:r>
                <a:rPr lang="zh-CN" altLang="en-US" sz="2000" b="1" dirty="0">
                  <a:solidFill>
                    <a:srgbClr val="C01920"/>
                  </a:solidFill>
                  <a:latin typeface="+mn-lt"/>
                  <a:ea typeface="楷体" pitchFamily="49" charset="-122"/>
                </a:rPr>
                <a:t>调用前</a:t>
              </a:r>
            </a:p>
          </p:txBody>
        </p:sp>
      </p:grpSp>
      <p:grpSp>
        <p:nvGrpSpPr>
          <p:cNvPr id="1055821" name="Group 77"/>
          <p:cNvGrpSpPr>
            <a:grpSpLocks/>
          </p:cNvGrpSpPr>
          <p:nvPr/>
        </p:nvGrpSpPr>
        <p:grpSpPr bwMode="auto">
          <a:xfrm>
            <a:off x="8904784" y="2544764"/>
            <a:ext cx="936625" cy="503237"/>
            <a:chOff x="2460" y="12426"/>
            <a:chExt cx="930" cy="492"/>
          </a:xfrm>
        </p:grpSpPr>
        <p:sp>
          <p:nvSpPr>
            <p:cNvPr id="1055822" name="Text Box 78"/>
            <p:cNvSpPr txBox="1">
              <a:spLocks noChangeArrowheads="1"/>
            </p:cNvSpPr>
            <p:nvPr/>
          </p:nvSpPr>
          <p:spPr bwMode="auto">
            <a:xfrm>
              <a:off x="2850" y="12450"/>
              <a:ext cx="540" cy="468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/>
            <a:lstStyle/>
            <a:p>
              <a:pPr algn="ctr"/>
              <a:r>
                <a:rPr lang="en-US" altLang="zh-CN" sz="2000" b="1">
                  <a:solidFill>
                    <a:srgbClr val="FF33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7</a:t>
              </a:r>
            </a:p>
          </p:txBody>
        </p:sp>
        <p:sp>
          <p:nvSpPr>
            <p:cNvPr id="1055823" name="Text Box 79"/>
            <p:cNvSpPr txBox="1">
              <a:spLocks noChangeArrowheads="1"/>
            </p:cNvSpPr>
            <p:nvPr/>
          </p:nvSpPr>
          <p:spPr bwMode="auto">
            <a:xfrm>
              <a:off x="2460" y="12426"/>
              <a:ext cx="540" cy="4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sz="2000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a</a:t>
              </a:r>
            </a:p>
          </p:txBody>
        </p:sp>
      </p:grpSp>
      <p:grpSp>
        <p:nvGrpSpPr>
          <p:cNvPr id="1055824" name="Group 80"/>
          <p:cNvGrpSpPr>
            <a:grpSpLocks/>
          </p:cNvGrpSpPr>
          <p:nvPr/>
        </p:nvGrpSpPr>
        <p:grpSpPr bwMode="auto">
          <a:xfrm>
            <a:off x="10363697" y="2503489"/>
            <a:ext cx="936625" cy="503237"/>
            <a:chOff x="2460" y="12426"/>
            <a:chExt cx="930" cy="492"/>
          </a:xfrm>
        </p:grpSpPr>
        <p:sp>
          <p:nvSpPr>
            <p:cNvPr id="1055825" name="Text Box 81"/>
            <p:cNvSpPr txBox="1">
              <a:spLocks noChangeArrowheads="1"/>
            </p:cNvSpPr>
            <p:nvPr/>
          </p:nvSpPr>
          <p:spPr bwMode="auto">
            <a:xfrm>
              <a:off x="2850" y="12450"/>
              <a:ext cx="540" cy="468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/>
            <a:lstStyle/>
            <a:p>
              <a:pPr algn="ctr"/>
              <a:r>
                <a:rPr lang="en-US" altLang="zh-CN" sz="2000" b="1">
                  <a:solidFill>
                    <a:srgbClr val="FF33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11</a:t>
              </a:r>
            </a:p>
          </p:txBody>
        </p:sp>
        <p:sp>
          <p:nvSpPr>
            <p:cNvPr id="1055826" name="Text Box 82"/>
            <p:cNvSpPr txBox="1">
              <a:spLocks noChangeArrowheads="1"/>
            </p:cNvSpPr>
            <p:nvPr/>
          </p:nvSpPr>
          <p:spPr bwMode="auto">
            <a:xfrm>
              <a:off x="2460" y="12426"/>
              <a:ext cx="540" cy="4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sz="2000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b</a:t>
              </a:r>
            </a:p>
          </p:txBody>
        </p:sp>
      </p:grpSp>
      <p:sp>
        <p:nvSpPr>
          <p:cNvPr id="1055827" name="Line 83"/>
          <p:cNvSpPr>
            <a:spLocks noChangeShapeType="1"/>
          </p:cNvSpPr>
          <p:nvPr/>
        </p:nvSpPr>
        <p:spPr bwMode="auto">
          <a:xfrm>
            <a:off x="9550896" y="2205038"/>
            <a:ext cx="0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stealth" w="lg" len="lg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55828" name="Line 84"/>
          <p:cNvSpPr>
            <a:spLocks noChangeShapeType="1"/>
          </p:cNvSpPr>
          <p:nvPr/>
        </p:nvSpPr>
        <p:spPr bwMode="auto">
          <a:xfrm>
            <a:off x="11019333" y="2160588"/>
            <a:ext cx="0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stealth" w="lg" len="lg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zh-CN" altLang="en-US"/>
          </a:p>
        </p:txBody>
      </p:sp>
      <p:grpSp>
        <p:nvGrpSpPr>
          <p:cNvPr id="1055855" name="Group 111"/>
          <p:cNvGrpSpPr>
            <a:grpSpLocks/>
          </p:cNvGrpSpPr>
          <p:nvPr/>
        </p:nvGrpSpPr>
        <p:grpSpPr bwMode="auto">
          <a:xfrm>
            <a:off x="8831758" y="3273425"/>
            <a:ext cx="2736850" cy="2274888"/>
            <a:chOff x="3924" y="2224"/>
            <a:chExt cx="1724" cy="1433"/>
          </a:xfrm>
        </p:grpSpPr>
        <p:sp>
          <p:nvSpPr>
            <p:cNvPr id="1055830" name="Rectangle 86"/>
            <p:cNvSpPr>
              <a:spLocks noChangeArrowheads="1"/>
            </p:cNvSpPr>
            <p:nvPr/>
          </p:nvSpPr>
          <p:spPr bwMode="auto">
            <a:xfrm>
              <a:off x="3924" y="2233"/>
              <a:ext cx="1724" cy="1424"/>
            </a:xfrm>
            <a:prstGeom prst="rect">
              <a:avLst/>
            </a:prstGeom>
            <a:gradFill rotWithShape="1">
              <a:gsLst>
                <a:gs pos="0">
                  <a:srgbClr val="CFCFD1"/>
                </a:gs>
                <a:gs pos="100000">
                  <a:schemeClr val="bg1"/>
                </a:gs>
              </a:gsLst>
              <a:lin ang="5400000" scaled="1"/>
            </a:gradFill>
            <a:ln w="28575">
              <a:solidFill>
                <a:srgbClr val="00206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5831" name="Text Box 87"/>
            <p:cNvSpPr txBox="1">
              <a:spLocks noChangeArrowheads="1"/>
            </p:cNvSpPr>
            <p:nvPr/>
          </p:nvSpPr>
          <p:spPr bwMode="auto">
            <a:xfrm>
              <a:off x="4332" y="2224"/>
              <a:ext cx="879" cy="2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en-US" sz="2000" b="1" dirty="0">
                  <a:solidFill>
                    <a:srgbClr val="C01920"/>
                  </a:solidFill>
                </a:rPr>
                <a:t>③</a:t>
              </a:r>
              <a:r>
                <a:rPr lang="en-US" altLang="zh-CN" sz="2000" b="1" dirty="0">
                  <a:solidFill>
                    <a:srgbClr val="C01920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lang="en-US" altLang="zh-CN" sz="2000" b="1" dirty="0">
                  <a:solidFill>
                    <a:srgbClr val="C01920"/>
                  </a:solidFill>
                  <a:ea typeface="楷体_GB2312" pitchFamily="49" charset="-122"/>
                </a:rPr>
                <a:t>swap</a:t>
              </a:r>
            </a:p>
          </p:txBody>
        </p:sp>
        <p:grpSp>
          <p:nvGrpSpPr>
            <p:cNvPr id="1055832" name="Group 88"/>
            <p:cNvGrpSpPr>
              <a:grpSpLocks/>
            </p:cNvGrpSpPr>
            <p:nvPr/>
          </p:nvGrpSpPr>
          <p:grpSpPr bwMode="auto">
            <a:xfrm>
              <a:off x="3970" y="2476"/>
              <a:ext cx="590" cy="317"/>
              <a:chOff x="2460" y="12426"/>
              <a:chExt cx="930" cy="492"/>
            </a:xfrm>
          </p:grpSpPr>
          <p:sp>
            <p:nvSpPr>
              <p:cNvPr id="1055833" name="Text Box 89"/>
              <p:cNvSpPr txBox="1">
                <a:spLocks noChangeArrowheads="1"/>
              </p:cNvSpPr>
              <p:nvPr/>
            </p:nvSpPr>
            <p:spPr bwMode="auto">
              <a:xfrm>
                <a:off x="2850" y="12450"/>
                <a:ext cx="540" cy="468"/>
              </a:xfrm>
              <a:prstGeom prst="rect">
                <a:avLst/>
              </a:prstGeom>
              <a:solidFill>
                <a:srgbClr val="FFCC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>
                    <a:alpha val="50000"/>
                  </a:srgbClr>
                </a:outerShdw>
              </a:effectLst>
            </p:spPr>
            <p:txBody>
              <a:bodyPr/>
              <a:lstStyle/>
              <a:p>
                <a:pPr algn="ctr"/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7</a:t>
                </a:r>
              </a:p>
            </p:txBody>
          </p:sp>
          <p:sp>
            <p:nvSpPr>
              <p:cNvPr id="1055834" name="Text Box 90"/>
              <p:cNvSpPr txBox="1">
                <a:spLocks noChangeArrowheads="1"/>
              </p:cNvSpPr>
              <p:nvPr/>
            </p:nvSpPr>
            <p:spPr bwMode="auto">
              <a:xfrm>
                <a:off x="2460" y="12426"/>
                <a:ext cx="540" cy="4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x</a:t>
                </a:r>
              </a:p>
            </p:txBody>
          </p:sp>
        </p:grpSp>
        <p:grpSp>
          <p:nvGrpSpPr>
            <p:cNvPr id="1055835" name="Group 91"/>
            <p:cNvGrpSpPr>
              <a:grpSpLocks/>
            </p:cNvGrpSpPr>
            <p:nvPr/>
          </p:nvGrpSpPr>
          <p:grpSpPr bwMode="auto">
            <a:xfrm>
              <a:off x="4877" y="2476"/>
              <a:ext cx="613" cy="303"/>
              <a:chOff x="3780" y="12447"/>
              <a:chExt cx="960" cy="477"/>
            </a:xfrm>
          </p:grpSpPr>
          <p:sp>
            <p:nvSpPr>
              <p:cNvPr id="1055836" name="Text Box 92"/>
              <p:cNvSpPr txBox="1">
                <a:spLocks noChangeArrowheads="1"/>
              </p:cNvSpPr>
              <p:nvPr/>
            </p:nvSpPr>
            <p:spPr bwMode="auto">
              <a:xfrm>
                <a:off x="4200" y="12447"/>
                <a:ext cx="540" cy="468"/>
              </a:xfrm>
              <a:prstGeom prst="rect">
                <a:avLst/>
              </a:prstGeom>
              <a:solidFill>
                <a:srgbClr val="FFCC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>
                    <a:alpha val="50000"/>
                  </a:srgbClr>
                </a:outerShdw>
              </a:effectLst>
            </p:spPr>
            <p:txBody>
              <a:bodyPr/>
              <a:lstStyle/>
              <a:p>
                <a:pPr algn="ctr"/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11</a:t>
                </a:r>
              </a:p>
            </p:txBody>
          </p:sp>
          <p:sp>
            <p:nvSpPr>
              <p:cNvPr id="1055837" name="Text Box 93"/>
              <p:cNvSpPr txBox="1">
                <a:spLocks noChangeArrowheads="1"/>
              </p:cNvSpPr>
              <p:nvPr/>
            </p:nvSpPr>
            <p:spPr bwMode="auto">
              <a:xfrm>
                <a:off x="3780" y="12456"/>
                <a:ext cx="540" cy="4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y</a:t>
                </a:r>
              </a:p>
            </p:txBody>
          </p:sp>
        </p:grpSp>
        <p:grpSp>
          <p:nvGrpSpPr>
            <p:cNvPr id="1055844" name="Group 100"/>
            <p:cNvGrpSpPr>
              <a:grpSpLocks/>
            </p:cNvGrpSpPr>
            <p:nvPr/>
          </p:nvGrpSpPr>
          <p:grpSpPr bwMode="auto">
            <a:xfrm>
              <a:off x="3971" y="2900"/>
              <a:ext cx="590" cy="317"/>
              <a:chOff x="2460" y="12426"/>
              <a:chExt cx="930" cy="492"/>
            </a:xfrm>
          </p:grpSpPr>
          <p:sp>
            <p:nvSpPr>
              <p:cNvPr id="1055845" name="Text Box 101"/>
              <p:cNvSpPr txBox="1">
                <a:spLocks noChangeArrowheads="1"/>
              </p:cNvSpPr>
              <p:nvPr/>
            </p:nvSpPr>
            <p:spPr bwMode="auto">
              <a:xfrm>
                <a:off x="2850" y="12450"/>
                <a:ext cx="540" cy="468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>
                    <a:alpha val="50000"/>
                  </a:srgbClr>
                </a:outerShdw>
              </a:effectLst>
            </p:spPr>
            <p:txBody>
              <a:bodyPr/>
              <a:lstStyle/>
              <a:p>
                <a:pPr algn="ctr"/>
                <a:r>
                  <a:rPr lang="en-US" altLang="zh-CN" sz="2000" b="1">
                    <a:solidFill>
                      <a:srgbClr val="FF33CC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7</a:t>
                </a:r>
              </a:p>
            </p:txBody>
          </p:sp>
          <p:sp>
            <p:nvSpPr>
              <p:cNvPr id="1055846" name="Text Box 102"/>
              <p:cNvSpPr txBox="1">
                <a:spLocks noChangeArrowheads="1"/>
              </p:cNvSpPr>
              <p:nvPr/>
            </p:nvSpPr>
            <p:spPr bwMode="auto">
              <a:xfrm>
                <a:off x="2460" y="12426"/>
                <a:ext cx="540" cy="4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en-US" altLang="zh-CN" sz="2000" b="1">
                    <a:solidFill>
                      <a:schemeClr val="accent2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a</a:t>
                </a:r>
              </a:p>
            </p:txBody>
          </p:sp>
        </p:grpSp>
        <p:grpSp>
          <p:nvGrpSpPr>
            <p:cNvPr id="1055847" name="Group 103"/>
            <p:cNvGrpSpPr>
              <a:grpSpLocks/>
            </p:cNvGrpSpPr>
            <p:nvPr/>
          </p:nvGrpSpPr>
          <p:grpSpPr bwMode="auto">
            <a:xfrm>
              <a:off x="4890" y="2874"/>
              <a:ext cx="590" cy="317"/>
              <a:chOff x="2460" y="12426"/>
              <a:chExt cx="930" cy="492"/>
            </a:xfrm>
          </p:grpSpPr>
          <p:sp>
            <p:nvSpPr>
              <p:cNvPr id="1055848" name="Text Box 104"/>
              <p:cNvSpPr txBox="1">
                <a:spLocks noChangeArrowheads="1"/>
              </p:cNvSpPr>
              <p:nvPr/>
            </p:nvSpPr>
            <p:spPr bwMode="auto">
              <a:xfrm>
                <a:off x="2850" y="12450"/>
                <a:ext cx="540" cy="468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>
                    <a:alpha val="50000"/>
                  </a:srgbClr>
                </a:outerShdw>
              </a:effectLst>
            </p:spPr>
            <p:txBody>
              <a:bodyPr/>
              <a:lstStyle/>
              <a:p>
                <a:pPr algn="ctr"/>
                <a:r>
                  <a:rPr lang="en-US" altLang="zh-CN" sz="2000" b="1">
                    <a:solidFill>
                      <a:srgbClr val="FF33CC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11</a:t>
                </a:r>
              </a:p>
            </p:txBody>
          </p:sp>
          <p:sp>
            <p:nvSpPr>
              <p:cNvPr id="1055849" name="Text Box 105"/>
              <p:cNvSpPr txBox="1">
                <a:spLocks noChangeArrowheads="1"/>
              </p:cNvSpPr>
              <p:nvPr/>
            </p:nvSpPr>
            <p:spPr bwMode="auto">
              <a:xfrm>
                <a:off x="2460" y="12426"/>
                <a:ext cx="540" cy="4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en-US" altLang="zh-CN" sz="2000" b="1">
                    <a:solidFill>
                      <a:schemeClr val="accent2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b</a:t>
                </a:r>
              </a:p>
            </p:txBody>
          </p:sp>
        </p:grpSp>
        <p:grpSp>
          <p:nvGrpSpPr>
            <p:cNvPr id="1055854" name="Group 110"/>
            <p:cNvGrpSpPr>
              <a:grpSpLocks/>
            </p:cNvGrpSpPr>
            <p:nvPr/>
          </p:nvGrpSpPr>
          <p:grpSpPr bwMode="auto">
            <a:xfrm>
              <a:off x="4250" y="3276"/>
              <a:ext cx="780" cy="305"/>
              <a:chOff x="4250" y="3276"/>
              <a:chExt cx="780" cy="305"/>
            </a:xfrm>
          </p:grpSpPr>
          <p:sp>
            <p:nvSpPr>
              <p:cNvPr id="1055851" name="Text Box 107"/>
              <p:cNvSpPr txBox="1">
                <a:spLocks noChangeArrowheads="1"/>
              </p:cNvSpPr>
              <p:nvPr/>
            </p:nvSpPr>
            <p:spPr bwMode="auto">
              <a:xfrm>
                <a:off x="4687" y="3276"/>
                <a:ext cx="343" cy="302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>
                    <a:alpha val="50000"/>
                  </a:srgbClr>
                </a:outerShdw>
              </a:effectLst>
            </p:spPr>
            <p:txBody>
              <a:bodyPr/>
              <a:lstStyle/>
              <a:p>
                <a:pPr algn="ctr"/>
                <a:endParaRPr lang="zh-CN" altLang="zh-CN" sz="2000" b="1">
                  <a:solidFill>
                    <a:srgbClr val="FF33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1055852" name="Text Box 108"/>
              <p:cNvSpPr txBox="1">
                <a:spLocks noChangeArrowheads="1"/>
              </p:cNvSpPr>
              <p:nvPr/>
            </p:nvSpPr>
            <p:spPr bwMode="auto">
              <a:xfrm>
                <a:off x="4250" y="3279"/>
                <a:ext cx="497" cy="3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en-US" altLang="zh-CN" sz="2000" b="1">
                    <a:solidFill>
                      <a:srgbClr val="008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temp</a:t>
                </a:r>
              </a:p>
            </p:txBody>
          </p:sp>
        </p:grpSp>
      </p:grpSp>
      <p:sp>
        <p:nvSpPr>
          <p:cNvPr id="1055853" name="Text Box 109"/>
          <p:cNvSpPr txBox="1">
            <a:spLocks noChangeArrowheads="1"/>
          </p:cNvSpPr>
          <p:nvPr/>
        </p:nvSpPr>
        <p:spPr bwMode="auto">
          <a:xfrm>
            <a:off x="10054134" y="4943476"/>
            <a:ext cx="544513" cy="479425"/>
          </a:xfrm>
          <a:prstGeom prst="rect">
            <a:avLst/>
          </a:prstGeom>
          <a:solidFill>
            <a:srgbClr val="FFFF99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/>
          <a:lstStyle/>
          <a:p>
            <a:pPr algn="ctr"/>
            <a:r>
              <a:rPr lang="en-US" altLang="zh-CN" sz="2000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7</a:t>
            </a:r>
          </a:p>
        </p:txBody>
      </p:sp>
      <p:sp>
        <p:nvSpPr>
          <p:cNvPr id="1055858" name="Line 114"/>
          <p:cNvSpPr>
            <a:spLocks noChangeShapeType="1"/>
          </p:cNvSpPr>
          <p:nvPr/>
        </p:nvSpPr>
        <p:spPr bwMode="auto">
          <a:xfrm>
            <a:off x="9666784" y="4929188"/>
            <a:ext cx="358775" cy="2159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stealth" w="lg" len="lg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55859" name="Line 115"/>
          <p:cNvSpPr>
            <a:spLocks noChangeShapeType="1"/>
          </p:cNvSpPr>
          <p:nvPr/>
        </p:nvSpPr>
        <p:spPr bwMode="auto">
          <a:xfrm flipH="1">
            <a:off x="9882684" y="4640263"/>
            <a:ext cx="792163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stealth" w="lg" len="lg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55860" name="Text Box 116"/>
          <p:cNvSpPr txBox="1">
            <a:spLocks noChangeArrowheads="1"/>
          </p:cNvSpPr>
          <p:nvPr/>
        </p:nvSpPr>
        <p:spPr bwMode="auto">
          <a:xfrm>
            <a:off x="9306421" y="4367214"/>
            <a:ext cx="544512" cy="479425"/>
          </a:xfrm>
          <a:prstGeom prst="rect">
            <a:avLst/>
          </a:prstGeom>
          <a:solidFill>
            <a:srgbClr val="FFFF99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/>
          <a:lstStyle/>
          <a:p>
            <a:pPr algn="ctr"/>
            <a:r>
              <a:rPr lang="en-US" altLang="zh-CN" sz="2000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11</a:t>
            </a:r>
          </a:p>
        </p:txBody>
      </p:sp>
      <p:sp>
        <p:nvSpPr>
          <p:cNvPr id="1055861" name="Line 117"/>
          <p:cNvSpPr>
            <a:spLocks noChangeShapeType="1"/>
          </p:cNvSpPr>
          <p:nvPr/>
        </p:nvSpPr>
        <p:spPr bwMode="auto">
          <a:xfrm flipV="1">
            <a:off x="10630397" y="4827588"/>
            <a:ext cx="288925" cy="431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stealth" w="lg" len="lg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55862" name="Text Box 118"/>
          <p:cNvSpPr txBox="1">
            <a:spLocks noChangeArrowheads="1"/>
          </p:cNvSpPr>
          <p:nvPr/>
        </p:nvSpPr>
        <p:spPr bwMode="auto">
          <a:xfrm>
            <a:off x="10760571" y="4324351"/>
            <a:ext cx="544512" cy="479425"/>
          </a:xfrm>
          <a:prstGeom prst="rect">
            <a:avLst/>
          </a:prstGeom>
          <a:solidFill>
            <a:srgbClr val="FFFF99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/>
          <a:lstStyle/>
          <a:p>
            <a:pPr algn="ctr"/>
            <a:r>
              <a:rPr lang="en-US" altLang="zh-CN" sz="2000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7</a:t>
            </a:r>
          </a:p>
        </p:txBody>
      </p:sp>
      <p:grpSp>
        <p:nvGrpSpPr>
          <p:cNvPr id="1055872" name="Group 128"/>
          <p:cNvGrpSpPr>
            <a:grpSpLocks/>
          </p:cNvGrpSpPr>
          <p:nvPr/>
        </p:nvGrpSpPr>
        <p:grpSpPr bwMode="auto">
          <a:xfrm>
            <a:off x="8830171" y="5664200"/>
            <a:ext cx="2736850" cy="1093788"/>
            <a:chOff x="3923" y="3577"/>
            <a:chExt cx="1724" cy="689"/>
          </a:xfrm>
        </p:grpSpPr>
        <p:sp>
          <p:nvSpPr>
            <p:cNvPr id="1055864" name="Rectangle 120"/>
            <p:cNvSpPr>
              <a:spLocks noChangeArrowheads="1"/>
            </p:cNvSpPr>
            <p:nvPr/>
          </p:nvSpPr>
          <p:spPr bwMode="auto">
            <a:xfrm>
              <a:off x="3923" y="3586"/>
              <a:ext cx="1724" cy="680"/>
            </a:xfrm>
            <a:prstGeom prst="rect">
              <a:avLst/>
            </a:prstGeom>
            <a:gradFill rotWithShape="1">
              <a:gsLst>
                <a:gs pos="0">
                  <a:srgbClr val="CFCFD1"/>
                </a:gs>
                <a:gs pos="100000">
                  <a:schemeClr val="bg1"/>
                </a:gs>
              </a:gsLst>
              <a:lin ang="5400000" scaled="1"/>
            </a:gradFill>
            <a:ln w="28575">
              <a:solidFill>
                <a:srgbClr val="00206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055865" name="Group 121"/>
            <p:cNvGrpSpPr>
              <a:grpSpLocks/>
            </p:cNvGrpSpPr>
            <p:nvPr/>
          </p:nvGrpSpPr>
          <p:grpSpPr bwMode="auto">
            <a:xfrm>
              <a:off x="3969" y="3840"/>
              <a:ext cx="590" cy="317"/>
              <a:chOff x="2460" y="12426"/>
              <a:chExt cx="930" cy="492"/>
            </a:xfrm>
          </p:grpSpPr>
          <p:sp>
            <p:nvSpPr>
              <p:cNvPr id="1055866" name="Text Box 122"/>
              <p:cNvSpPr txBox="1">
                <a:spLocks noChangeArrowheads="1"/>
              </p:cNvSpPr>
              <p:nvPr/>
            </p:nvSpPr>
            <p:spPr bwMode="auto">
              <a:xfrm>
                <a:off x="2850" y="12450"/>
                <a:ext cx="540" cy="468"/>
              </a:xfrm>
              <a:prstGeom prst="rect">
                <a:avLst/>
              </a:prstGeom>
              <a:solidFill>
                <a:srgbClr val="FFCC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>
                    <a:alpha val="50000"/>
                  </a:srgbClr>
                </a:outerShdw>
              </a:effectLst>
            </p:spPr>
            <p:txBody>
              <a:bodyPr/>
              <a:lstStyle/>
              <a:p>
                <a:pPr algn="ctr"/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7</a:t>
                </a:r>
              </a:p>
            </p:txBody>
          </p:sp>
          <p:sp>
            <p:nvSpPr>
              <p:cNvPr id="1055867" name="Text Box 123"/>
              <p:cNvSpPr txBox="1">
                <a:spLocks noChangeArrowheads="1"/>
              </p:cNvSpPr>
              <p:nvPr/>
            </p:nvSpPr>
            <p:spPr bwMode="auto">
              <a:xfrm>
                <a:off x="2460" y="12426"/>
                <a:ext cx="540" cy="4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x</a:t>
                </a:r>
              </a:p>
            </p:txBody>
          </p:sp>
        </p:grpSp>
        <p:grpSp>
          <p:nvGrpSpPr>
            <p:cNvPr id="1055868" name="Group 124"/>
            <p:cNvGrpSpPr>
              <a:grpSpLocks/>
            </p:cNvGrpSpPr>
            <p:nvPr/>
          </p:nvGrpSpPr>
          <p:grpSpPr bwMode="auto">
            <a:xfrm>
              <a:off x="4851" y="3827"/>
              <a:ext cx="613" cy="303"/>
              <a:chOff x="3780" y="12447"/>
              <a:chExt cx="960" cy="477"/>
            </a:xfrm>
          </p:grpSpPr>
          <p:sp>
            <p:nvSpPr>
              <p:cNvPr id="1055869" name="Text Box 125"/>
              <p:cNvSpPr txBox="1">
                <a:spLocks noChangeArrowheads="1"/>
              </p:cNvSpPr>
              <p:nvPr/>
            </p:nvSpPr>
            <p:spPr bwMode="auto">
              <a:xfrm>
                <a:off x="4200" y="12447"/>
                <a:ext cx="540" cy="468"/>
              </a:xfrm>
              <a:prstGeom prst="rect">
                <a:avLst/>
              </a:prstGeom>
              <a:solidFill>
                <a:srgbClr val="FFCC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>
                    <a:alpha val="50000"/>
                  </a:srgbClr>
                </a:outerShdw>
              </a:effectLst>
            </p:spPr>
            <p:txBody>
              <a:bodyPr/>
              <a:lstStyle/>
              <a:p>
                <a:pPr algn="ctr"/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11</a:t>
                </a:r>
              </a:p>
            </p:txBody>
          </p:sp>
          <p:sp>
            <p:nvSpPr>
              <p:cNvPr id="1055870" name="Text Box 126"/>
              <p:cNvSpPr txBox="1">
                <a:spLocks noChangeArrowheads="1"/>
              </p:cNvSpPr>
              <p:nvPr/>
            </p:nvSpPr>
            <p:spPr bwMode="auto">
              <a:xfrm>
                <a:off x="3780" y="12456"/>
                <a:ext cx="540" cy="4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y</a:t>
                </a:r>
              </a:p>
            </p:txBody>
          </p:sp>
        </p:grpSp>
        <p:sp>
          <p:nvSpPr>
            <p:cNvPr id="1055871" name="Text Box 127"/>
            <p:cNvSpPr txBox="1">
              <a:spLocks noChangeArrowheads="1"/>
            </p:cNvSpPr>
            <p:nvPr/>
          </p:nvSpPr>
          <p:spPr bwMode="auto">
            <a:xfrm>
              <a:off x="4276" y="3577"/>
              <a:ext cx="1053" cy="2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en-US" sz="2000" b="1" dirty="0">
                  <a:solidFill>
                    <a:srgbClr val="C01920"/>
                  </a:solidFill>
                  <a:latin typeface="+mn-lt"/>
                  <a:ea typeface="楷体" pitchFamily="49" charset="-122"/>
                </a:rPr>
                <a:t>④</a:t>
              </a:r>
              <a:r>
                <a:rPr lang="en-US" altLang="zh-CN" sz="2000" b="1" dirty="0">
                  <a:solidFill>
                    <a:srgbClr val="C01920"/>
                  </a:solidFill>
                  <a:latin typeface="+mn-lt"/>
                  <a:ea typeface="楷体" pitchFamily="49" charset="-122"/>
                </a:rPr>
                <a:t> </a:t>
              </a:r>
              <a:r>
                <a:rPr lang="zh-CN" altLang="en-US" sz="2000" b="1" dirty="0">
                  <a:solidFill>
                    <a:srgbClr val="C01920"/>
                  </a:solidFill>
                  <a:latin typeface="+mn-lt"/>
                  <a:ea typeface="楷体" pitchFamily="49" charset="-122"/>
                </a:rPr>
                <a:t>调用结束</a:t>
              </a:r>
            </a:p>
          </p:txBody>
        </p:sp>
      </p:grpSp>
      <p:sp>
        <p:nvSpPr>
          <p:cNvPr id="1055873" name="AutoShape 129"/>
          <p:cNvSpPr>
            <a:spLocks noChangeArrowheads="1"/>
          </p:cNvSpPr>
          <p:nvPr/>
        </p:nvSpPr>
        <p:spPr bwMode="auto">
          <a:xfrm>
            <a:off x="3487698" y="3933825"/>
            <a:ext cx="2159000" cy="1079500"/>
          </a:xfrm>
          <a:prstGeom prst="cloudCallout">
            <a:avLst>
              <a:gd name="adj1" fmla="val 101182"/>
              <a:gd name="adj2" fmla="val 103950"/>
            </a:avLst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  <a:tileRect/>
          </a:gradFill>
          <a:ln w="25400">
            <a:solidFill>
              <a:srgbClr val="C01920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 algn="ctr"/>
            <a:r>
              <a:rPr lang="en-US" altLang="zh-CN" sz="2800" b="1">
                <a:solidFill>
                  <a:srgbClr val="C01920"/>
                </a:solidFill>
              </a:rPr>
              <a:t>Why?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557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557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7" dur="500"/>
                                        <p:tgtEl>
                                          <p:spTgt spid="10558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0558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0558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2" dur="500"/>
                                        <p:tgtEl>
                                          <p:spTgt spid="10558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10558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1" dur="500"/>
                                        <p:tgtEl>
                                          <p:spTgt spid="10558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10558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0" dur="500"/>
                                        <p:tgtEl>
                                          <p:spTgt spid="10558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5" dur="500"/>
                                        <p:tgtEl>
                                          <p:spTgt spid="10558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9" dur="500"/>
                                        <p:tgtEl>
                                          <p:spTgt spid="10558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4" dur="500"/>
                                        <p:tgtEl>
                                          <p:spTgt spid="10558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8" dur="500"/>
                                        <p:tgtEl>
                                          <p:spTgt spid="10558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3" dur="500"/>
                                        <p:tgtEl>
                                          <p:spTgt spid="10558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7" dur="500"/>
                                        <p:tgtEl>
                                          <p:spTgt spid="10558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2" dur="500"/>
                                        <p:tgtEl>
                                          <p:spTgt spid="10558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5753" grpId="0" animBg="1"/>
      <p:bldP spid="1055757" grpId="0" animBg="1"/>
      <p:bldP spid="1055827" grpId="0" animBg="1"/>
      <p:bldP spid="1055828" grpId="0" animBg="1"/>
      <p:bldP spid="1055853" grpId="0" animBg="1"/>
      <p:bldP spid="1055858" grpId="0" animBg="1"/>
      <p:bldP spid="1055859" grpId="0" animBg="1"/>
      <p:bldP spid="1055860" grpId="0" animBg="1"/>
      <p:bldP spid="1055861" grpId="0" animBg="1"/>
      <p:bldP spid="1055862" grpId="0" animBg="1"/>
      <p:bldP spid="105587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771" name="Rectangle 3"/>
          <p:cNvSpPr>
            <a:spLocks noChangeArrowheads="1"/>
          </p:cNvSpPr>
          <p:nvPr/>
        </p:nvSpPr>
        <p:spPr bwMode="auto">
          <a:xfrm>
            <a:off x="767408" y="838844"/>
            <a:ext cx="418941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800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、地址传递方式</a:t>
            </a:r>
          </a:p>
        </p:txBody>
      </p:sp>
      <p:sp>
        <p:nvSpPr>
          <p:cNvPr id="1056776" name="Rectangle 8"/>
          <p:cNvSpPr>
            <a:spLocks noChangeArrowheads="1"/>
          </p:cNvSpPr>
          <p:nvPr/>
        </p:nvSpPr>
        <p:spPr bwMode="auto">
          <a:xfrm>
            <a:off x="1196489" y="1327408"/>
            <a:ext cx="10660151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方式：</a:t>
            </a:r>
          </a:p>
          <a:p>
            <a:r>
              <a:rPr lang="zh-CN" altLang="en-US" b="1" dirty="0">
                <a:latin typeface="+mn-lt"/>
                <a:ea typeface="楷体" pitchFamily="49" charset="-122"/>
              </a:rPr>
              <a:t>     函数调用时，将数据的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存储地址</a:t>
            </a:r>
            <a:r>
              <a:rPr lang="zh-CN" altLang="en-US" b="1" dirty="0">
                <a:latin typeface="+mn-lt"/>
                <a:ea typeface="楷体" pitchFamily="49" charset="-122"/>
              </a:rPr>
              <a:t>作为参数传递给形参</a:t>
            </a:r>
            <a:endParaRPr lang="en-US" altLang="zh-CN" b="1" dirty="0">
              <a:latin typeface="+mn-lt"/>
              <a:ea typeface="楷体" pitchFamily="49" charset="-122"/>
            </a:endParaRPr>
          </a:p>
          <a:p>
            <a:endParaRPr lang="zh-CN" altLang="en-US" b="1" dirty="0">
              <a:latin typeface="+mn-lt"/>
              <a:ea typeface="楷体" pitchFamily="49" charset="-122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 特点：</a:t>
            </a:r>
          </a:p>
          <a:p>
            <a:r>
              <a:rPr lang="zh-CN" altLang="en-US" b="1" dirty="0">
                <a:latin typeface="+mn-lt"/>
                <a:ea typeface="楷体" pitchFamily="49" charset="-122"/>
              </a:rPr>
              <a:t>   ① 形参与实参占用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同样</a:t>
            </a:r>
            <a:r>
              <a:rPr lang="zh-CN" altLang="en-US" b="1" dirty="0">
                <a:latin typeface="+mn-lt"/>
                <a:ea typeface="楷体" pitchFamily="49" charset="-122"/>
              </a:rPr>
              <a:t>的存储单元</a:t>
            </a:r>
          </a:p>
          <a:p>
            <a:r>
              <a:rPr lang="zh-CN" altLang="en-US" b="1" dirty="0">
                <a:solidFill>
                  <a:schemeClr val="accent2"/>
                </a:solidFill>
                <a:latin typeface="+mn-lt"/>
                <a:ea typeface="楷体" pitchFamily="49" charset="-122"/>
              </a:rPr>
              <a:t>   </a:t>
            </a:r>
            <a:r>
              <a:rPr lang="zh-CN" altLang="en-US" b="1" dirty="0">
                <a:latin typeface="+mn-lt"/>
                <a:ea typeface="楷体" pitchFamily="49" charset="-122"/>
              </a:rPr>
              <a:t>②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双向</a:t>
            </a:r>
            <a:r>
              <a:rPr lang="zh-CN" altLang="en-US" b="1" dirty="0">
                <a:latin typeface="+mn-lt"/>
                <a:ea typeface="楷体" pitchFamily="49" charset="-122"/>
              </a:rPr>
              <a:t>传递</a:t>
            </a:r>
          </a:p>
          <a:p>
            <a:r>
              <a:rPr lang="zh-CN" altLang="en-US" b="1" dirty="0">
                <a:latin typeface="+mn-lt"/>
                <a:ea typeface="楷体" pitchFamily="49" charset="-122"/>
              </a:rPr>
              <a:t>   ③ 实参和形参必须是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地址</a:t>
            </a:r>
            <a:r>
              <a:rPr lang="zh-CN" altLang="en-US" b="1" dirty="0">
                <a:latin typeface="+mn-lt"/>
                <a:ea typeface="楷体" pitchFamily="49" charset="-122"/>
              </a:rPr>
              <a:t>常量或变量</a:t>
            </a:r>
          </a:p>
        </p:txBody>
      </p:sp>
      <p:sp>
        <p:nvSpPr>
          <p:cNvPr id="1056777" name="Rectangle 9"/>
          <p:cNvSpPr>
            <a:spLocks noChangeArrowheads="1"/>
          </p:cNvSpPr>
          <p:nvPr/>
        </p:nvSpPr>
        <p:spPr bwMode="auto">
          <a:xfrm>
            <a:off x="1371785" y="4035363"/>
            <a:ext cx="10075867" cy="2308324"/>
          </a:xfrm>
          <a:prstGeom prst="rect">
            <a:avLst/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  <a:tileRect/>
          </a:gradFill>
          <a:ln w="38100">
            <a:solidFill>
              <a:schemeClr val="accent1">
                <a:lumMod val="50000"/>
              </a:schemeClr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pPr indent="266700">
              <a:tabLst>
                <a:tab pos="457200" algn="l"/>
              </a:tabLst>
            </a:pPr>
            <a:r>
              <a:rPr lang="zh-CN" altLang="en-US" b="1" u="sng" dirty="0">
                <a:solidFill>
                  <a:srgbClr val="C01920"/>
                </a:solidFill>
                <a:latin typeface="隶书" pitchFamily="49" charset="-122"/>
                <a:ea typeface="隶书" pitchFamily="49" charset="-122"/>
              </a:rPr>
              <a:t>用数组名作为函数参数时还应注意以下几点：</a:t>
            </a:r>
            <a:endParaRPr lang="zh-CN" altLang="en-US" b="1" dirty="0">
              <a:solidFill>
                <a:srgbClr val="C01920"/>
              </a:solidFill>
              <a:latin typeface="隶书" pitchFamily="49" charset="-122"/>
              <a:ea typeface="隶书" pitchFamily="49" charset="-122"/>
            </a:endParaRPr>
          </a:p>
          <a:p>
            <a:pPr marL="342900" indent="-342900">
              <a:buClr>
                <a:srgbClr val="C01920"/>
              </a:buClr>
              <a:buFont typeface="Wingdings" panose="05000000000000000000" pitchFamily="2" charset="2"/>
              <a:buChar char="ü"/>
              <a:tabLst>
                <a:tab pos="457200" algn="l"/>
              </a:tabLst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形参数组和实参数组的类型必须一致，否则将引起错误。</a:t>
            </a:r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楷体" pitchFamily="49" charset="-122"/>
            </a:endParaRPr>
          </a:p>
          <a:p>
            <a:pPr marL="342900" indent="-342900">
              <a:buClr>
                <a:srgbClr val="C01920"/>
              </a:buClr>
              <a:buFont typeface="Wingdings" panose="05000000000000000000" pitchFamily="2" charset="2"/>
              <a:buChar char="ü"/>
              <a:tabLst>
                <a:tab pos="457200" algn="l"/>
              </a:tabLst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形参数组和实参数组的长度可以不相同，因为在调用时，只传送首地址而不检查形参数组的长度。</a:t>
            </a:r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楷体" pitchFamily="49" charset="-122"/>
            </a:endParaRPr>
          </a:p>
          <a:p>
            <a:pPr marL="342900" indent="-342900">
              <a:buClr>
                <a:srgbClr val="C01920"/>
              </a:buClr>
              <a:buFont typeface="Wingdings" panose="05000000000000000000" pitchFamily="2" charset="2"/>
              <a:buChar char="ü"/>
              <a:tabLst>
                <a:tab pos="457200" algn="l"/>
              </a:tabLst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多维数组也可以作为函数的参数。在函数定义时对形参数组可以指定每一维的长度，也可省去第一维的长度。    </a:t>
            </a:r>
          </a:p>
        </p:txBody>
      </p:sp>
      <p:sp>
        <p:nvSpPr>
          <p:cNvPr id="1056778" name="Rectangle 10"/>
          <p:cNvSpPr>
            <a:spLocks noChangeArrowheads="1"/>
          </p:cNvSpPr>
          <p:nvPr/>
        </p:nvSpPr>
        <p:spPr bwMode="auto">
          <a:xfrm>
            <a:off x="1349371" y="5535494"/>
            <a:ext cx="10075867" cy="1225550"/>
          </a:xfrm>
          <a:prstGeom prst="rect">
            <a:avLst/>
          </a:prstGeom>
          <a:gradFill flip="none" rotWithShape="1">
            <a:gsLst>
              <a:gs pos="49000">
                <a:srgbClr val="CDEFDD"/>
              </a:gs>
              <a:gs pos="0">
                <a:srgbClr val="BEDFC4"/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5400000" scaled="1"/>
            <a:tileRect/>
          </a:gradFill>
          <a:ln w="38100">
            <a:noFill/>
            <a:miter lim="800000"/>
            <a:headEnd/>
            <a:tailEnd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+mn-lt"/>
                <a:ea typeface="楷体" pitchFamily="49" charset="-122"/>
              </a:rPr>
              <a:t>   </a:t>
            </a:r>
            <a:r>
              <a:rPr lang="zh-CN" altLang="en-US" b="1" dirty="0">
                <a:latin typeface="+mn-lt"/>
                <a:ea typeface="楷体" pitchFamily="49" charset="-122"/>
              </a:rPr>
              <a:t>除了用数组名作为函数参数来实现参数的地址传递以外，其实还有一种应用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更广的地址传递方法，那就是用指针变量来作为函数的形参</a:t>
            </a:r>
            <a:r>
              <a:rPr lang="zh-CN" altLang="en-US" b="1" dirty="0">
                <a:latin typeface="+mn-lt"/>
                <a:ea typeface="楷体" pitchFamily="49" charset="-122"/>
              </a:rPr>
              <a:t>，其具体使用方法将在第</a:t>
            </a:r>
            <a:r>
              <a:rPr lang="en-US" altLang="zh-CN" b="1" dirty="0">
                <a:latin typeface="+mn-lt"/>
                <a:ea typeface="楷体" pitchFamily="49" charset="-122"/>
              </a:rPr>
              <a:t>9</a:t>
            </a:r>
            <a:r>
              <a:rPr lang="zh-CN" altLang="en-US" b="1" dirty="0">
                <a:latin typeface="+mn-lt"/>
                <a:ea typeface="楷体" pitchFamily="49" charset="-122"/>
              </a:rPr>
              <a:t>章作详细讨论。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7020F413-459A-49CC-AFA3-147299AD93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8.3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函数参数的传递方式 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567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567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567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567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10567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567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567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0" dur="500"/>
                                        <p:tgtEl>
                                          <p:spTgt spid="10567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5" dur="500"/>
                                        <p:tgtEl>
                                          <p:spTgt spid="10567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0" dur="500"/>
                                        <p:tgtEl>
                                          <p:spTgt spid="10567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5" dur="500"/>
                                        <p:tgtEl>
                                          <p:spTgt spid="10567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0" dur="500"/>
                                        <p:tgtEl>
                                          <p:spTgt spid="10567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6771" grpId="0"/>
      <p:bldP spid="1056777" grpId="0" animBg="1"/>
      <p:bldP spid="105677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827" name="Text Box 11"/>
          <p:cNvSpPr txBox="1">
            <a:spLocks noChangeArrowheads="1"/>
          </p:cNvSpPr>
          <p:nvPr/>
        </p:nvSpPr>
        <p:spPr bwMode="auto">
          <a:xfrm>
            <a:off x="443377" y="797803"/>
            <a:ext cx="11305246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: </a:t>
            </a:r>
            <a:r>
              <a:rPr lang="zh-CN" altLang="zh-CN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将任意两个字符串连接成一个字符串</a:t>
            </a:r>
            <a:r>
              <a:rPr lang="zh-CN" altLang="zh-CN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zh-CN" b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数组名作为函数参数实现</a:t>
            </a:r>
            <a:r>
              <a:rPr lang="zh-CN" altLang="en-US" b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地址传递方式</a:t>
            </a:r>
            <a:r>
              <a:rPr lang="en-US" altLang="zh-CN" b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</a:p>
        </p:txBody>
      </p:sp>
      <p:sp>
        <p:nvSpPr>
          <p:cNvPr id="1058831" name="Rectangle 15" descr="信纸"/>
          <p:cNvSpPr>
            <a:spLocks noChangeArrowheads="1"/>
          </p:cNvSpPr>
          <p:nvPr/>
        </p:nvSpPr>
        <p:spPr bwMode="auto">
          <a:xfrm>
            <a:off x="1558349" y="908720"/>
            <a:ext cx="9265320" cy="5632311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lang="en-US" altLang="zh-CN" sz="1800" b="1" dirty="0">
                <a:ea typeface="楷体_GB2312" pitchFamily="49" charset="-122"/>
              </a:rPr>
              <a:t>#include &lt;</a:t>
            </a:r>
            <a:r>
              <a:rPr lang="en-US" altLang="zh-CN" sz="1800" b="1" dirty="0" err="1">
                <a:ea typeface="楷体_GB2312" pitchFamily="49" charset="-122"/>
              </a:rPr>
              <a:t>stdio.h</a:t>
            </a:r>
            <a:r>
              <a:rPr lang="en-US" altLang="zh-CN" sz="1800" b="1" dirty="0">
                <a:ea typeface="楷体_GB2312" pitchFamily="49" charset="-122"/>
              </a:rPr>
              <a:t>&gt;</a:t>
            </a:r>
          </a:p>
          <a:p>
            <a:pPr marL="457200" indent="-457200"/>
            <a:r>
              <a:rPr lang="en-US" altLang="zh-CN" sz="1800" b="1" dirty="0">
                <a:solidFill>
                  <a:srgbClr val="008000"/>
                </a:solidFill>
                <a:ea typeface="楷体_GB2312" pitchFamily="49" charset="-122"/>
              </a:rPr>
              <a:t>void </a:t>
            </a:r>
            <a:r>
              <a:rPr lang="en-US" altLang="zh-CN" sz="1800" b="1" dirty="0" err="1">
                <a:solidFill>
                  <a:srgbClr val="008000"/>
                </a:solidFill>
                <a:ea typeface="楷体_GB2312" pitchFamily="49" charset="-122"/>
              </a:rPr>
              <a:t>mergestr</a:t>
            </a:r>
            <a:r>
              <a:rPr lang="en-US" altLang="zh-CN" sz="1800" b="1" dirty="0">
                <a:solidFill>
                  <a:srgbClr val="008000"/>
                </a:solidFill>
                <a:ea typeface="楷体_GB2312" pitchFamily="49" charset="-122"/>
              </a:rPr>
              <a:t> (char s1[ ], char s2[ ], char s3[ ]);</a:t>
            </a:r>
            <a:r>
              <a:rPr lang="en-US" altLang="zh-CN" sz="1800" b="1" dirty="0">
                <a:ea typeface="楷体_GB2312" pitchFamily="49" charset="-122"/>
              </a:rPr>
              <a:t>  </a:t>
            </a:r>
          </a:p>
          <a:p>
            <a:pPr marL="457200" indent="-457200"/>
            <a:r>
              <a:rPr lang="en-US" altLang="zh-CN" sz="1800" b="1" dirty="0" err="1">
                <a:solidFill>
                  <a:srgbClr val="CC0000"/>
                </a:solidFill>
                <a:ea typeface="楷体_GB2312" pitchFamily="49" charset="-122"/>
              </a:rPr>
              <a:t>int</a:t>
            </a:r>
            <a:r>
              <a:rPr lang="en-US" altLang="zh-CN" sz="1800" b="1" dirty="0">
                <a:solidFill>
                  <a:srgbClr val="CC0000"/>
                </a:solidFill>
                <a:ea typeface="楷体_GB2312" pitchFamily="49" charset="-122"/>
              </a:rPr>
              <a:t> main ( )</a:t>
            </a:r>
          </a:p>
          <a:p>
            <a:pPr marL="457200" indent="-457200"/>
            <a:r>
              <a:rPr lang="en-US" altLang="zh-CN" sz="1800" b="1" dirty="0">
                <a:ea typeface="楷体_GB2312" pitchFamily="49" charset="-122"/>
              </a:rPr>
              <a:t>{</a:t>
            </a:r>
          </a:p>
          <a:p>
            <a:pPr marL="457200" indent="-457200"/>
            <a:r>
              <a:rPr lang="en-US" altLang="zh-CN" sz="1800" b="1" dirty="0">
                <a:ea typeface="楷体_GB2312" pitchFamily="49" charset="-122"/>
              </a:rPr>
              <a:t>    char str1[ ] = {"Hello "};</a:t>
            </a:r>
          </a:p>
          <a:p>
            <a:pPr marL="457200" indent="-457200"/>
            <a:r>
              <a:rPr lang="en-US" altLang="zh-CN" sz="1800" b="1" dirty="0">
                <a:ea typeface="楷体_GB2312" pitchFamily="49" charset="-122"/>
              </a:rPr>
              <a:t>    char str2[ ] = {"china!"};</a:t>
            </a:r>
          </a:p>
          <a:p>
            <a:pPr marL="457200" indent="-457200"/>
            <a:r>
              <a:rPr lang="en-US" altLang="zh-CN" sz="1800" b="1" dirty="0">
                <a:ea typeface="楷体_GB2312" pitchFamily="49" charset="-122"/>
              </a:rPr>
              <a:t>    char str3[40];</a:t>
            </a:r>
          </a:p>
          <a:p>
            <a:pPr marL="457200" indent="-457200"/>
            <a:r>
              <a:rPr lang="en-US" altLang="zh-CN" sz="1800" b="1" dirty="0">
                <a:ea typeface="楷体_GB2312" pitchFamily="49" charset="-122"/>
              </a:rPr>
              <a:t>    </a:t>
            </a:r>
            <a:r>
              <a:rPr lang="en-US" altLang="zh-CN" sz="1800" b="1" dirty="0" err="1">
                <a:ea typeface="楷体_GB2312" pitchFamily="49" charset="-122"/>
              </a:rPr>
              <a:t>mergestr</a:t>
            </a:r>
            <a:r>
              <a:rPr lang="en-US" altLang="zh-CN" sz="1800" b="1" dirty="0">
                <a:ea typeface="楷体_GB2312" pitchFamily="49" charset="-122"/>
              </a:rPr>
              <a:t> (str1, str2, str3); </a:t>
            </a:r>
          </a:p>
          <a:p>
            <a:pPr marL="457200" indent="-457200"/>
            <a:r>
              <a:rPr lang="en-US" altLang="zh-CN" sz="1800" b="1" dirty="0">
                <a:ea typeface="楷体_GB2312" pitchFamily="49" charset="-122"/>
              </a:rPr>
              <a:t>    </a:t>
            </a:r>
            <a:r>
              <a:rPr lang="en-US" altLang="zh-CN" sz="1800" b="1" dirty="0" err="1">
                <a:ea typeface="楷体_GB2312" pitchFamily="49" charset="-122"/>
              </a:rPr>
              <a:t>printf</a:t>
            </a:r>
            <a:r>
              <a:rPr lang="en-US" altLang="zh-CN" sz="1800" b="1" dirty="0">
                <a:ea typeface="楷体_GB2312" pitchFamily="49" charset="-122"/>
              </a:rPr>
              <a:t> ("%s\n", str3);</a:t>
            </a:r>
          </a:p>
          <a:p>
            <a:pPr marL="457200" indent="-457200"/>
            <a:r>
              <a:rPr lang="en-US" altLang="zh-CN" sz="1800" b="1" dirty="0">
                <a:ea typeface="楷体_GB2312" pitchFamily="49" charset="-122"/>
              </a:rPr>
              <a:t>    return 0;</a:t>
            </a:r>
          </a:p>
          <a:p>
            <a:pPr marL="457200" indent="-457200"/>
            <a:r>
              <a:rPr lang="en-US" altLang="zh-CN" sz="1800" b="1" dirty="0">
                <a:ea typeface="楷体_GB2312" pitchFamily="49" charset="-122"/>
              </a:rPr>
              <a:t>}</a:t>
            </a:r>
          </a:p>
          <a:p>
            <a:pPr marL="457200" indent="-457200"/>
            <a:r>
              <a:rPr lang="en-US" altLang="zh-CN" sz="1800" b="1" dirty="0">
                <a:solidFill>
                  <a:srgbClr val="008000"/>
                </a:solidFill>
                <a:ea typeface="楷体_GB2312" pitchFamily="49" charset="-122"/>
              </a:rPr>
              <a:t>void </a:t>
            </a:r>
            <a:r>
              <a:rPr lang="en-US" altLang="zh-CN" sz="1800" b="1" dirty="0" err="1">
                <a:solidFill>
                  <a:srgbClr val="008000"/>
                </a:solidFill>
                <a:ea typeface="楷体_GB2312" pitchFamily="49" charset="-122"/>
              </a:rPr>
              <a:t>mergestr</a:t>
            </a:r>
            <a:r>
              <a:rPr lang="en-US" altLang="zh-CN" sz="1800" b="1" dirty="0">
                <a:solidFill>
                  <a:srgbClr val="008000"/>
                </a:solidFill>
                <a:ea typeface="楷体_GB2312" pitchFamily="49" charset="-122"/>
              </a:rPr>
              <a:t> (char s1[ ], char s2[ ], char s3[ ]) </a:t>
            </a:r>
          </a:p>
          <a:p>
            <a:pPr marL="457200" indent="-457200"/>
            <a:r>
              <a:rPr lang="en-US" altLang="zh-CN" sz="1800" b="1" dirty="0">
                <a:solidFill>
                  <a:srgbClr val="008000"/>
                </a:solidFill>
                <a:ea typeface="楷体_GB2312" pitchFamily="49" charset="-122"/>
              </a:rPr>
              <a:t>{</a:t>
            </a:r>
          </a:p>
          <a:p>
            <a:pPr marL="457200" indent="-457200"/>
            <a:r>
              <a:rPr lang="en-US" altLang="zh-CN" sz="1800" b="1" dirty="0">
                <a:solidFill>
                  <a:srgbClr val="008000"/>
                </a:solidFill>
                <a:ea typeface="楷体_GB2312" pitchFamily="49" charset="-122"/>
              </a:rPr>
              <a:t>    </a:t>
            </a:r>
            <a:r>
              <a:rPr lang="en-US" altLang="zh-CN" sz="1800" b="1" dirty="0" err="1">
                <a:solidFill>
                  <a:srgbClr val="008000"/>
                </a:solidFill>
                <a:ea typeface="楷体_GB2312" pitchFamily="49" charset="-122"/>
              </a:rPr>
              <a:t>int</a:t>
            </a:r>
            <a:r>
              <a:rPr lang="en-US" altLang="zh-CN" sz="1800" b="1" dirty="0">
                <a:solidFill>
                  <a:srgbClr val="008000"/>
                </a:solidFill>
                <a:ea typeface="楷体_GB2312" pitchFamily="49" charset="-122"/>
              </a:rPr>
              <a:t> </a:t>
            </a:r>
            <a:r>
              <a:rPr lang="en-US" altLang="zh-CN" sz="1800" b="1" dirty="0" err="1">
                <a:solidFill>
                  <a:srgbClr val="008000"/>
                </a:solidFill>
                <a:ea typeface="楷体_GB2312" pitchFamily="49" charset="-122"/>
              </a:rPr>
              <a:t>i</a:t>
            </a:r>
            <a:r>
              <a:rPr lang="en-US" altLang="zh-CN" sz="1800" b="1" dirty="0">
                <a:solidFill>
                  <a:srgbClr val="008000"/>
                </a:solidFill>
                <a:ea typeface="楷体_GB2312" pitchFamily="49" charset="-122"/>
              </a:rPr>
              <a:t>, j;</a:t>
            </a:r>
          </a:p>
          <a:p>
            <a:pPr marL="457200" indent="-457200"/>
            <a:r>
              <a:rPr lang="en-US" altLang="zh-CN" sz="1800" b="1" dirty="0">
                <a:solidFill>
                  <a:srgbClr val="008000"/>
                </a:solidFill>
                <a:ea typeface="楷体_GB2312" pitchFamily="49" charset="-122"/>
              </a:rPr>
              <a:t>    for (</a:t>
            </a:r>
            <a:r>
              <a:rPr lang="en-US" altLang="zh-CN" sz="1800" b="1" dirty="0" err="1">
                <a:solidFill>
                  <a:srgbClr val="008000"/>
                </a:solidFill>
                <a:ea typeface="楷体_GB2312" pitchFamily="49" charset="-122"/>
              </a:rPr>
              <a:t>i</a:t>
            </a:r>
            <a:r>
              <a:rPr lang="en-US" altLang="zh-CN" sz="1800" b="1" dirty="0">
                <a:solidFill>
                  <a:srgbClr val="008000"/>
                </a:solidFill>
                <a:ea typeface="楷体_GB2312" pitchFamily="49" charset="-122"/>
              </a:rPr>
              <a:t> = 0; s1[</a:t>
            </a:r>
            <a:r>
              <a:rPr lang="en-US" altLang="zh-CN" sz="1800" b="1" dirty="0" err="1">
                <a:solidFill>
                  <a:srgbClr val="008000"/>
                </a:solidFill>
                <a:ea typeface="楷体_GB2312" pitchFamily="49" charset="-122"/>
              </a:rPr>
              <a:t>i</a:t>
            </a:r>
            <a:r>
              <a:rPr lang="en-US" altLang="zh-CN" sz="1800" b="1" dirty="0">
                <a:solidFill>
                  <a:srgbClr val="008000"/>
                </a:solidFill>
                <a:ea typeface="楷体_GB2312" pitchFamily="49" charset="-122"/>
              </a:rPr>
              <a:t>] != '\0'; </a:t>
            </a:r>
            <a:r>
              <a:rPr lang="en-US" altLang="zh-CN" sz="1800" b="1" dirty="0" err="1">
                <a:solidFill>
                  <a:srgbClr val="008000"/>
                </a:solidFill>
                <a:ea typeface="楷体_GB2312" pitchFamily="49" charset="-122"/>
              </a:rPr>
              <a:t>i</a:t>
            </a:r>
            <a:r>
              <a:rPr lang="en-US" altLang="zh-CN" sz="1800" b="1" dirty="0">
                <a:solidFill>
                  <a:srgbClr val="008000"/>
                </a:solidFill>
                <a:ea typeface="楷体_GB2312" pitchFamily="49" charset="-122"/>
              </a:rPr>
              <a:t>++)  </a:t>
            </a:r>
            <a:r>
              <a:rPr lang="en-US" altLang="zh-CN" sz="16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6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将</a:t>
            </a:r>
            <a:r>
              <a:rPr lang="en-US" altLang="zh-CN" sz="16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s1</a:t>
            </a:r>
            <a:r>
              <a:rPr lang="zh-CN" altLang="en-US" sz="16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复制到</a:t>
            </a:r>
            <a:r>
              <a:rPr lang="en-US" altLang="zh-CN" sz="16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s3</a:t>
            </a:r>
            <a:r>
              <a:rPr lang="zh-CN" altLang="en-US" sz="16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中</a:t>
            </a:r>
          </a:p>
          <a:p>
            <a:pPr marL="457200" indent="-457200"/>
            <a:r>
              <a:rPr lang="zh-CN" altLang="en-US" sz="1800" b="1" dirty="0">
                <a:solidFill>
                  <a:srgbClr val="008000"/>
                </a:solidFill>
                <a:ea typeface="楷体_GB2312" pitchFamily="49" charset="-122"/>
              </a:rPr>
              <a:t>        </a:t>
            </a:r>
            <a:r>
              <a:rPr lang="en-US" altLang="zh-CN" sz="1800" b="1" dirty="0">
                <a:solidFill>
                  <a:srgbClr val="008000"/>
                </a:solidFill>
                <a:ea typeface="楷体_GB2312" pitchFamily="49" charset="-122"/>
              </a:rPr>
              <a:t>s3[</a:t>
            </a:r>
            <a:r>
              <a:rPr lang="en-US" altLang="zh-CN" sz="1800" b="1" dirty="0" err="1">
                <a:solidFill>
                  <a:srgbClr val="008000"/>
                </a:solidFill>
                <a:ea typeface="楷体_GB2312" pitchFamily="49" charset="-122"/>
              </a:rPr>
              <a:t>i</a:t>
            </a:r>
            <a:r>
              <a:rPr lang="en-US" altLang="zh-CN" sz="1800" b="1" dirty="0">
                <a:solidFill>
                  <a:srgbClr val="008000"/>
                </a:solidFill>
                <a:ea typeface="楷体_GB2312" pitchFamily="49" charset="-122"/>
              </a:rPr>
              <a:t>] = s1[</a:t>
            </a:r>
            <a:r>
              <a:rPr lang="en-US" altLang="zh-CN" sz="1800" b="1" dirty="0" err="1">
                <a:solidFill>
                  <a:srgbClr val="008000"/>
                </a:solidFill>
                <a:ea typeface="楷体_GB2312" pitchFamily="49" charset="-122"/>
              </a:rPr>
              <a:t>i</a:t>
            </a:r>
            <a:r>
              <a:rPr lang="en-US" altLang="zh-CN" sz="1800" b="1" dirty="0">
                <a:solidFill>
                  <a:srgbClr val="008000"/>
                </a:solidFill>
                <a:ea typeface="楷体_GB2312" pitchFamily="49" charset="-122"/>
              </a:rPr>
              <a:t>];</a:t>
            </a:r>
          </a:p>
          <a:p>
            <a:pPr marL="457200" indent="-457200"/>
            <a:r>
              <a:rPr lang="en-US" altLang="zh-CN" sz="1800" b="1" dirty="0">
                <a:solidFill>
                  <a:srgbClr val="008000"/>
                </a:solidFill>
                <a:ea typeface="楷体_GB2312" pitchFamily="49" charset="-122"/>
              </a:rPr>
              <a:t>    for (j = 0; s2[j] != '\0'; j++)  </a:t>
            </a:r>
            <a:r>
              <a:rPr lang="en-US" altLang="zh-CN" sz="16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6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将</a:t>
            </a:r>
            <a:r>
              <a:rPr lang="en-US" altLang="zh-CN" sz="16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s2</a:t>
            </a:r>
            <a:r>
              <a:rPr lang="zh-CN" altLang="en-US" sz="16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复制到</a:t>
            </a:r>
            <a:r>
              <a:rPr lang="en-US" altLang="zh-CN" sz="16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s3</a:t>
            </a:r>
            <a:r>
              <a:rPr lang="zh-CN" altLang="en-US" sz="16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的后边</a:t>
            </a:r>
          </a:p>
          <a:p>
            <a:pPr marL="457200" indent="-457200"/>
            <a:r>
              <a:rPr lang="zh-CN" altLang="en-US" sz="1800" b="1" dirty="0">
                <a:solidFill>
                  <a:srgbClr val="008000"/>
                </a:solidFill>
                <a:ea typeface="楷体_GB2312" pitchFamily="49" charset="-122"/>
              </a:rPr>
              <a:t>        </a:t>
            </a:r>
            <a:r>
              <a:rPr lang="en-US" altLang="zh-CN" sz="1800" b="1" dirty="0">
                <a:solidFill>
                  <a:srgbClr val="008000"/>
                </a:solidFill>
                <a:ea typeface="楷体_GB2312" pitchFamily="49" charset="-122"/>
              </a:rPr>
              <a:t>s3[</a:t>
            </a:r>
            <a:r>
              <a:rPr lang="en-US" altLang="zh-CN" sz="1800" b="1" dirty="0" err="1">
                <a:solidFill>
                  <a:srgbClr val="008000"/>
                </a:solidFill>
                <a:ea typeface="楷体_GB2312" pitchFamily="49" charset="-122"/>
              </a:rPr>
              <a:t>i+j</a:t>
            </a:r>
            <a:r>
              <a:rPr lang="en-US" altLang="zh-CN" sz="1800" b="1" dirty="0">
                <a:solidFill>
                  <a:srgbClr val="008000"/>
                </a:solidFill>
                <a:ea typeface="楷体_GB2312" pitchFamily="49" charset="-122"/>
              </a:rPr>
              <a:t>] = s2[j];</a:t>
            </a:r>
          </a:p>
          <a:p>
            <a:pPr marL="457200" indent="-457200"/>
            <a:r>
              <a:rPr lang="en-US" altLang="zh-CN" sz="1800" b="1" dirty="0">
                <a:solidFill>
                  <a:srgbClr val="008000"/>
                </a:solidFill>
                <a:ea typeface="楷体_GB2312" pitchFamily="49" charset="-122"/>
              </a:rPr>
              <a:t>    s3[</a:t>
            </a:r>
            <a:r>
              <a:rPr lang="en-US" altLang="zh-CN" sz="1800" b="1" dirty="0" err="1">
                <a:solidFill>
                  <a:srgbClr val="008000"/>
                </a:solidFill>
                <a:ea typeface="楷体_GB2312" pitchFamily="49" charset="-122"/>
              </a:rPr>
              <a:t>i+j</a:t>
            </a:r>
            <a:r>
              <a:rPr lang="en-US" altLang="zh-CN" sz="1800" b="1" dirty="0">
                <a:solidFill>
                  <a:srgbClr val="008000"/>
                </a:solidFill>
                <a:ea typeface="楷体_GB2312" pitchFamily="49" charset="-122"/>
              </a:rPr>
              <a:t>] = '\0';            </a:t>
            </a:r>
            <a:r>
              <a:rPr lang="en-US" altLang="zh-CN" sz="16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6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置字符串结束标志</a:t>
            </a:r>
          </a:p>
          <a:p>
            <a:pPr marL="457200" indent="-457200"/>
            <a:r>
              <a:rPr lang="en-US" altLang="zh-CN" sz="1800" b="1" dirty="0">
                <a:solidFill>
                  <a:srgbClr val="008000"/>
                </a:solidFill>
                <a:ea typeface="楷体_GB2312" pitchFamily="49" charset="-122"/>
              </a:rPr>
              <a:t>}</a:t>
            </a:r>
          </a:p>
        </p:txBody>
      </p:sp>
      <p:sp>
        <p:nvSpPr>
          <p:cNvPr id="1058884" name="Rectangle 68"/>
          <p:cNvSpPr>
            <a:spLocks noChangeArrowheads="1"/>
          </p:cNvSpPr>
          <p:nvPr/>
        </p:nvSpPr>
        <p:spPr bwMode="auto">
          <a:xfrm>
            <a:off x="7790541" y="5661248"/>
            <a:ext cx="2808312" cy="707886"/>
          </a:xfrm>
          <a:prstGeom prst="rect">
            <a:avLst/>
          </a:prstGeom>
          <a:solidFill>
            <a:srgbClr val="FFFFFF"/>
          </a:soli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sz="2000" b="1" dirty="0">
                <a:solidFill>
                  <a:srgbClr val="C01920"/>
                </a:solidFill>
                <a:latin typeface="隶书" pitchFamily="49" charset="-122"/>
                <a:ea typeface="隶书" pitchFamily="49" charset="-122"/>
              </a:rPr>
              <a:t>运行结果：</a:t>
            </a:r>
          </a:p>
          <a:p>
            <a:pPr algn="just"/>
            <a:r>
              <a:rPr lang="en-US" altLang="zh-CN" sz="2000" b="1" dirty="0">
                <a:solidFill>
                  <a:srgbClr val="002060"/>
                </a:solidFill>
              </a:rPr>
              <a:t>Hello china!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99FE5FBE-99F7-4331-8CE2-1599E25D11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8.3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函数参数的传递方式 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588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588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8831" grpId="0" animBg="1"/>
      <p:bldP spid="105888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9941" name="Group 101"/>
          <p:cNvGrpSpPr>
            <a:grpSpLocks/>
          </p:cNvGrpSpPr>
          <p:nvPr/>
        </p:nvGrpSpPr>
        <p:grpSpPr bwMode="auto">
          <a:xfrm>
            <a:off x="2270249" y="1935186"/>
            <a:ext cx="588962" cy="639762"/>
            <a:chOff x="840" y="800"/>
            <a:chExt cx="371" cy="403"/>
          </a:xfrm>
        </p:grpSpPr>
        <p:sp>
          <p:nvSpPr>
            <p:cNvPr id="1059933" name="Line 93"/>
            <p:cNvSpPr>
              <a:spLocks noChangeShapeType="1"/>
            </p:cNvSpPr>
            <p:nvPr/>
          </p:nvSpPr>
          <p:spPr bwMode="auto">
            <a:xfrm>
              <a:off x="984" y="999"/>
              <a:ext cx="0" cy="204"/>
            </a:xfrm>
            <a:prstGeom prst="line">
              <a:avLst/>
            </a:prstGeom>
            <a:noFill/>
            <a:ln w="28575">
              <a:solidFill>
                <a:srgbClr val="002060"/>
              </a:solidFill>
              <a:round/>
              <a:headEnd/>
              <a:tailEnd type="stealth" w="lg" len="lg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zh-CN" altLang="en-US">
                <a:solidFill>
                  <a:srgbClr val="002060"/>
                </a:solidFill>
              </a:endParaRPr>
            </a:p>
          </p:txBody>
        </p:sp>
        <p:sp>
          <p:nvSpPr>
            <p:cNvPr id="1059934" name="Text Box 94"/>
            <p:cNvSpPr txBox="1">
              <a:spLocks noChangeArrowheads="1"/>
            </p:cNvSpPr>
            <p:nvPr/>
          </p:nvSpPr>
          <p:spPr bwMode="auto">
            <a:xfrm>
              <a:off x="840" y="800"/>
              <a:ext cx="37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2060"/>
                  </a:solidFill>
                </a:rPr>
                <a:t>str1</a:t>
              </a:r>
            </a:p>
          </p:txBody>
        </p:sp>
      </p:grpSp>
      <p:grpSp>
        <p:nvGrpSpPr>
          <p:cNvPr id="1059942" name="Group 102"/>
          <p:cNvGrpSpPr>
            <a:grpSpLocks/>
          </p:cNvGrpSpPr>
          <p:nvPr/>
        </p:nvGrpSpPr>
        <p:grpSpPr bwMode="auto">
          <a:xfrm>
            <a:off x="6596187" y="1935186"/>
            <a:ext cx="588963" cy="639762"/>
            <a:chOff x="3097" y="800"/>
            <a:chExt cx="371" cy="403"/>
          </a:xfrm>
        </p:grpSpPr>
        <p:sp>
          <p:nvSpPr>
            <p:cNvPr id="1059935" name="Line 95"/>
            <p:cNvSpPr>
              <a:spLocks noChangeShapeType="1"/>
            </p:cNvSpPr>
            <p:nvPr/>
          </p:nvSpPr>
          <p:spPr bwMode="auto">
            <a:xfrm>
              <a:off x="3270" y="999"/>
              <a:ext cx="0" cy="204"/>
            </a:xfrm>
            <a:prstGeom prst="line">
              <a:avLst/>
            </a:prstGeom>
            <a:noFill/>
            <a:ln w="28575">
              <a:solidFill>
                <a:srgbClr val="002060"/>
              </a:solidFill>
              <a:round/>
              <a:headEnd/>
              <a:tailEnd type="stealth" w="lg" len="lg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zh-CN" altLang="en-US">
                <a:solidFill>
                  <a:srgbClr val="002060"/>
                </a:solidFill>
              </a:endParaRPr>
            </a:p>
          </p:txBody>
        </p:sp>
        <p:sp>
          <p:nvSpPr>
            <p:cNvPr id="1059936" name="Text Box 96"/>
            <p:cNvSpPr txBox="1">
              <a:spLocks noChangeArrowheads="1"/>
            </p:cNvSpPr>
            <p:nvPr/>
          </p:nvSpPr>
          <p:spPr bwMode="auto">
            <a:xfrm>
              <a:off x="3097" y="800"/>
              <a:ext cx="37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2060"/>
                  </a:solidFill>
                </a:rPr>
                <a:t>str2</a:t>
              </a:r>
            </a:p>
          </p:txBody>
        </p:sp>
      </p:grpSp>
      <p:grpSp>
        <p:nvGrpSpPr>
          <p:cNvPr id="1059946" name="Group 106"/>
          <p:cNvGrpSpPr>
            <a:grpSpLocks/>
          </p:cNvGrpSpPr>
          <p:nvPr/>
        </p:nvGrpSpPr>
        <p:grpSpPr bwMode="auto">
          <a:xfrm>
            <a:off x="2209924" y="4727598"/>
            <a:ext cx="588962" cy="596900"/>
            <a:chOff x="748" y="2415"/>
            <a:chExt cx="371" cy="376"/>
          </a:xfrm>
        </p:grpSpPr>
        <p:sp>
          <p:nvSpPr>
            <p:cNvPr id="1059944" name="Line 104"/>
            <p:cNvSpPr>
              <a:spLocks noChangeShapeType="1"/>
            </p:cNvSpPr>
            <p:nvPr/>
          </p:nvSpPr>
          <p:spPr bwMode="auto">
            <a:xfrm rot="-10800000">
              <a:off x="930" y="2415"/>
              <a:ext cx="0" cy="204"/>
            </a:xfrm>
            <a:prstGeom prst="line">
              <a:avLst/>
            </a:prstGeom>
            <a:noFill/>
            <a:ln w="28575">
              <a:solidFill>
                <a:srgbClr val="00206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 dirty="0">
                <a:solidFill>
                  <a:srgbClr val="002060"/>
                </a:solidFill>
              </a:endParaRPr>
            </a:p>
          </p:txBody>
        </p:sp>
        <p:sp>
          <p:nvSpPr>
            <p:cNvPr id="1059945" name="Text Box 105"/>
            <p:cNvSpPr txBox="1">
              <a:spLocks noChangeArrowheads="1"/>
            </p:cNvSpPr>
            <p:nvPr/>
          </p:nvSpPr>
          <p:spPr bwMode="auto">
            <a:xfrm>
              <a:off x="748" y="2560"/>
              <a:ext cx="37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 dirty="0">
                  <a:solidFill>
                    <a:srgbClr val="002060"/>
                  </a:solidFill>
                </a:rPr>
                <a:t>str3</a:t>
              </a:r>
            </a:p>
          </p:txBody>
        </p:sp>
      </p:grpSp>
      <p:graphicFrame>
        <p:nvGraphicFramePr>
          <p:cNvPr id="1060046" name="Group 20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0151408"/>
              </p:ext>
            </p:extLst>
          </p:nvPr>
        </p:nvGraphicFramePr>
        <p:xfrm>
          <a:off x="2225799" y="4229844"/>
          <a:ext cx="7931150" cy="495300"/>
        </p:xfrm>
        <a:graphic>
          <a:graphicData uri="http://schemas.openxmlformats.org/drawingml/2006/table">
            <a:tbl>
              <a:tblPr/>
              <a:tblGrid>
                <a:gridCol w="536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13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6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81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97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50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13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65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3816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3816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365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41337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9211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Times New Roman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EDFC4"/>
                        </a:gs>
                        <a:gs pos="100000">
                          <a:schemeClr val="bg1">
                            <a:lumMod val="9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Times New Roman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EDFC4"/>
                        </a:gs>
                        <a:gs pos="100000">
                          <a:schemeClr val="bg1">
                            <a:lumMod val="9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Times New Roman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EDFC4"/>
                        </a:gs>
                        <a:gs pos="100000">
                          <a:schemeClr val="bg1">
                            <a:lumMod val="9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Times New Roman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EDFC4"/>
                        </a:gs>
                        <a:gs pos="100000">
                          <a:schemeClr val="bg1">
                            <a:lumMod val="9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Times New Roman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EDFC4"/>
                        </a:gs>
                        <a:gs pos="100000">
                          <a:schemeClr val="bg1">
                            <a:lumMod val="9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Times New Roman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EDFC4"/>
                        </a:gs>
                        <a:gs pos="100000">
                          <a:schemeClr val="bg1">
                            <a:lumMod val="9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Times New Roman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0E5B7"/>
                        </a:gs>
                        <a:gs pos="100000">
                          <a:schemeClr val="bg1">
                            <a:lumMod val="9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Times New Roman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0E5B7"/>
                        </a:gs>
                        <a:gs pos="100000">
                          <a:schemeClr val="bg1">
                            <a:lumMod val="9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Times New Roman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0E5B7"/>
                        </a:gs>
                        <a:gs pos="100000">
                          <a:schemeClr val="bg1">
                            <a:lumMod val="9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Times New Roman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0E5B7"/>
                        </a:gs>
                        <a:gs pos="100000">
                          <a:schemeClr val="bg1">
                            <a:lumMod val="9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Times New Roman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0E5B7"/>
                        </a:gs>
                        <a:gs pos="100000">
                          <a:schemeClr val="bg1">
                            <a:lumMod val="9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Times New Roman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0E5B7"/>
                        </a:gs>
                        <a:gs pos="100000">
                          <a:schemeClr val="bg1">
                            <a:lumMod val="9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Times New Roman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BAA1B9"/>
                        </a:gs>
                        <a:gs pos="100000">
                          <a:schemeClr val="bg1">
                            <a:lumMod val="9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Times New Roman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Times New Roman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60037" name="Group 1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6264301"/>
              </p:ext>
            </p:extLst>
          </p:nvPr>
        </p:nvGraphicFramePr>
        <p:xfrm>
          <a:off x="2224211" y="2593999"/>
          <a:ext cx="3816350" cy="504825"/>
        </p:xfrm>
        <a:graphic>
          <a:graphicData uri="http://schemas.openxmlformats.org/drawingml/2006/table">
            <a:tbl>
              <a:tblPr/>
              <a:tblGrid>
                <a:gridCol w="544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45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22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83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4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'H'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chemeClr val="bg1">
                            <a:lumMod val="95000"/>
                          </a:schemeClr>
                        </a:gs>
                        <a:gs pos="100000">
                          <a:srgbClr val="BEDFC4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'e'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chemeClr val="bg1">
                            <a:lumMod val="95000"/>
                          </a:schemeClr>
                        </a:gs>
                        <a:gs pos="100000">
                          <a:srgbClr val="BEDFC4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'l'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chemeClr val="bg1">
                            <a:lumMod val="95000"/>
                          </a:schemeClr>
                        </a:gs>
                        <a:gs pos="100000">
                          <a:srgbClr val="BEDFC4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'l'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chemeClr val="bg1">
                            <a:lumMod val="95000"/>
                          </a:schemeClr>
                        </a:gs>
                        <a:gs pos="100000">
                          <a:srgbClr val="BEDFC4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'o'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chemeClr val="bg1">
                            <a:lumMod val="95000"/>
                          </a:schemeClr>
                        </a:gs>
                        <a:gs pos="100000">
                          <a:srgbClr val="BEDFC4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' '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chemeClr val="bg1">
                            <a:lumMod val="95000"/>
                          </a:schemeClr>
                        </a:gs>
                        <a:gs pos="100000">
                          <a:srgbClr val="BEDFC4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'\0'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chemeClr val="bg1">
                            <a:lumMod val="95000"/>
                          </a:schemeClr>
                        </a:gs>
                        <a:gs pos="100000">
                          <a:srgbClr val="BEDFC4"/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60043" name="Group 20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9769560"/>
              </p:ext>
            </p:extLst>
          </p:nvPr>
        </p:nvGraphicFramePr>
        <p:xfrm>
          <a:off x="6627937" y="2600348"/>
          <a:ext cx="3527425" cy="482600"/>
        </p:xfrm>
        <a:graphic>
          <a:graphicData uri="http://schemas.openxmlformats.org/drawingml/2006/table">
            <a:tbl>
              <a:tblPr/>
              <a:tblGrid>
                <a:gridCol w="504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10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4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'c'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100000">
                          <a:srgbClr val="FFFF99"/>
                        </a:gs>
                        <a:gs pos="0">
                          <a:schemeClr val="bg1">
                            <a:lumMod val="9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'h'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100000">
                          <a:srgbClr val="FFFF99"/>
                        </a:gs>
                        <a:gs pos="0">
                          <a:schemeClr val="bg1">
                            <a:lumMod val="9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'i'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100000">
                          <a:srgbClr val="FFFF99"/>
                        </a:gs>
                        <a:gs pos="0">
                          <a:schemeClr val="bg1">
                            <a:lumMod val="9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'n'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100000">
                          <a:srgbClr val="FFFF99"/>
                        </a:gs>
                        <a:gs pos="0">
                          <a:schemeClr val="bg1">
                            <a:lumMod val="9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'a'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100000">
                          <a:srgbClr val="FFFF99"/>
                        </a:gs>
                        <a:gs pos="0">
                          <a:schemeClr val="bg1">
                            <a:lumMod val="9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'!'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100000">
                          <a:srgbClr val="FFFF99"/>
                        </a:gs>
                        <a:gs pos="0">
                          <a:schemeClr val="bg1">
                            <a:lumMod val="9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'\0'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100000">
                          <a:srgbClr val="FFFF99"/>
                        </a:gs>
                        <a:gs pos="0">
                          <a:schemeClr val="bg1">
                            <a:lumMod val="95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060049" name="Group 209"/>
          <p:cNvGrpSpPr>
            <a:grpSpLocks/>
          </p:cNvGrpSpPr>
          <p:nvPr/>
        </p:nvGrpSpPr>
        <p:grpSpPr bwMode="auto">
          <a:xfrm>
            <a:off x="1703512" y="1917723"/>
            <a:ext cx="519113" cy="617538"/>
            <a:chOff x="249" y="573"/>
            <a:chExt cx="327" cy="389"/>
          </a:xfrm>
        </p:grpSpPr>
        <p:sp>
          <p:nvSpPr>
            <p:cNvPr id="1060047" name="Line 207"/>
            <p:cNvSpPr>
              <a:spLocks noChangeShapeType="1"/>
            </p:cNvSpPr>
            <p:nvPr/>
          </p:nvSpPr>
          <p:spPr bwMode="auto">
            <a:xfrm>
              <a:off x="394" y="781"/>
              <a:ext cx="182" cy="18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lg" len="lg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0048" name="Text Box 208"/>
            <p:cNvSpPr txBox="1">
              <a:spLocks noChangeArrowheads="1"/>
            </p:cNvSpPr>
            <p:nvPr/>
          </p:nvSpPr>
          <p:spPr bwMode="auto">
            <a:xfrm>
              <a:off x="249" y="573"/>
              <a:ext cx="27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s1</a:t>
              </a:r>
            </a:p>
          </p:txBody>
        </p:sp>
      </p:grpSp>
      <p:grpSp>
        <p:nvGrpSpPr>
          <p:cNvPr id="1060050" name="Group 210"/>
          <p:cNvGrpSpPr>
            <a:grpSpLocks/>
          </p:cNvGrpSpPr>
          <p:nvPr/>
        </p:nvGrpSpPr>
        <p:grpSpPr bwMode="auto">
          <a:xfrm>
            <a:off x="6065962" y="1944712"/>
            <a:ext cx="519113" cy="617537"/>
            <a:chOff x="249" y="573"/>
            <a:chExt cx="327" cy="389"/>
          </a:xfrm>
        </p:grpSpPr>
        <p:sp>
          <p:nvSpPr>
            <p:cNvPr id="1060051" name="Line 211"/>
            <p:cNvSpPr>
              <a:spLocks noChangeShapeType="1"/>
            </p:cNvSpPr>
            <p:nvPr/>
          </p:nvSpPr>
          <p:spPr bwMode="auto">
            <a:xfrm>
              <a:off x="394" y="781"/>
              <a:ext cx="182" cy="18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lg" len="lg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0052" name="Text Box 212"/>
            <p:cNvSpPr txBox="1">
              <a:spLocks noChangeArrowheads="1"/>
            </p:cNvSpPr>
            <p:nvPr/>
          </p:nvSpPr>
          <p:spPr bwMode="auto">
            <a:xfrm>
              <a:off x="249" y="573"/>
              <a:ext cx="27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s2</a:t>
              </a:r>
            </a:p>
          </p:txBody>
        </p:sp>
      </p:grpSp>
      <p:grpSp>
        <p:nvGrpSpPr>
          <p:cNvPr id="1060060" name="Group 220"/>
          <p:cNvGrpSpPr>
            <a:grpSpLocks/>
          </p:cNvGrpSpPr>
          <p:nvPr/>
        </p:nvGrpSpPr>
        <p:grpSpPr bwMode="auto">
          <a:xfrm>
            <a:off x="1733675" y="4752999"/>
            <a:ext cx="460375" cy="669925"/>
            <a:chOff x="268" y="2323"/>
            <a:chExt cx="290" cy="422"/>
          </a:xfrm>
        </p:grpSpPr>
        <p:sp>
          <p:nvSpPr>
            <p:cNvPr id="1060053" name="Line 213"/>
            <p:cNvSpPr>
              <a:spLocks noChangeShapeType="1"/>
            </p:cNvSpPr>
            <p:nvPr/>
          </p:nvSpPr>
          <p:spPr bwMode="auto">
            <a:xfrm flipV="1">
              <a:off x="385" y="2323"/>
              <a:ext cx="173" cy="24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lg" len="lg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0056" name="Text Box 216"/>
            <p:cNvSpPr txBox="1">
              <a:spLocks noChangeArrowheads="1"/>
            </p:cNvSpPr>
            <p:nvPr/>
          </p:nvSpPr>
          <p:spPr bwMode="auto">
            <a:xfrm>
              <a:off x="268" y="2514"/>
              <a:ext cx="27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s3</a:t>
              </a:r>
            </a:p>
          </p:txBody>
        </p:sp>
      </p:grpSp>
      <p:sp>
        <p:nvSpPr>
          <p:cNvPr id="1060061" name="Text Box 221"/>
          <p:cNvSpPr txBox="1">
            <a:spLocks noChangeArrowheads="1"/>
          </p:cNvSpPr>
          <p:nvPr/>
        </p:nvSpPr>
        <p:spPr bwMode="auto">
          <a:xfrm>
            <a:off x="2055937" y="1039836"/>
            <a:ext cx="13684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2060"/>
                </a:solidFill>
                <a:ea typeface="隶书" pitchFamily="49" charset="-122"/>
              </a:rPr>
              <a:t>调用前</a:t>
            </a:r>
          </a:p>
        </p:txBody>
      </p:sp>
      <p:sp>
        <p:nvSpPr>
          <p:cNvPr id="1060062" name="Line 222"/>
          <p:cNvSpPr>
            <a:spLocks noChangeShapeType="1"/>
          </p:cNvSpPr>
          <p:nvPr/>
        </p:nvSpPr>
        <p:spPr bwMode="auto">
          <a:xfrm>
            <a:off x="3351336" y="1343048"/>
            <a:ext cx="647700" cy="0"/>
          </a:xfrm>
          <a:prstGeom prst="line">
            <a:avLst/>
          </a:prstGeom>
          <a:noFill/>
          <a:ln w="28575">
            <a:solidFill>
              <a:srgbClr val="C01920"/>
            </a:solidFill>
            <a:round/>
            <a:headEnd/>
            <a:tailEnd type="stealth" w="lg" len="lg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zh-CN" altLang="en-US">
              <a:solidFill>
                <a:srgbClr val="C0192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60063" name="Text Box 223"/>
          <p:cNvSpPr txBox="1">
            <a:spLocks noChangeArrowheads="1"/>
          </p:cNvSpPr>
          <p:nvPr/>
        </p:nvSpPr>
        <p:spPr bwMode="auto">
          <a:xfrm>
            <a:off x="3957762" y="1041424"/>
            <a:ext cx="100806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C01920"/>
                </a:solidFill>
                <a:ea typeface="隶书" pitchFamily="49" charset="-122"/>
              </a:rPr>
              <a:t>调用</a:t>
            </a:r>
          </a:p>
        </p:txBody>
      </p:sp>
      <p:sp>
        <p:nvSpPr>
          <p:cNvPr id="1060064" name="Line 224"/>
          <p:cNvSpPr>
            <a:spLocks noChangeShapeType="1"/>
          </p:cNvSpPr>
          <p:nvPr/>
        </p:nvSpPr>
        <p:spPr bwMode="auto">
          <a:xfrm>
            <a:off x="4864224" y="1357336"/>
            <a:ext cx="647700" cy="0"/>
          </a:xfrm>
          <a:prstGeom prst="line">
            <a:avLst/>
          </a:prstGeom>
          <a:noFill/>
          <a:ln w="28575">
            <a:solidFill>
              <a:schemeClr val="accent1">
                <a:lumMod val="50000"/>
              </a:schemeClr>
            </a:solidFill>
            <a:round/>
            <a:headEnd/>
            <a:tailEnd type="stealth" w="lg" len="lg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60065" name="Text Box 225"/>
          <p:cNvSpPr txBox="1">
            <a:spLocks noChangeArrowheads="1"/>
          </p:cNvSpPr>
          <p:nvPr/>
        </p:nvSpPr>
        <p:spPr bwMode="auto">
          <a:xfrm>
            <a:off x="5483349" y="1041424"/>
            <a:ext cx="100806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  <a:ea typeface="隶书" pitchFamily="49" charset="-122"/>
              </a:rPr>
              <a:t>连接</a:t>
            </a:r>
          </a:p>
        </p:txBody>
      </p:sp>
      <p:sp>
        <p:nvSpPr>
          <p:cNvPr id="1060066" name="AutoShape 226"/>
          <p:cNvSpPr>
            <a:spLocks/>
          </p:cNvSpPr>
          <p:nvPr/>
        </p:nvSpPr>
        <p:spPr bwMode="auto">
          <a:xfrm rot="-5400000">
            <a:off x="3633911" y="1833586"/>
            <a:ext cx="287338" cy="2881312"/>
          </a:xfrm>
          <a:prstGeom prst="leftBrace">
            <a:avLst>
              <a:gd name="adj1" fmla="val 83563"/>
              <a:gd name="adj2" fmla="val 50000"/>
            </a:avLst>
          </a:prstGeom>
          <a:noFill/>
          <a:ln w="25400">
            <a:solidFill>
              <a:srgbClr val="BEDFC4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0067" name="AutoShape 227"/>
          <p:cNvSpPr>
            <a:spLocks noChangeArrowheads="1"/>
          </p:cNvSpPr>
          <p:nvPr/>
        </p:nvSpPr>
        <p:spPr bwMode="auto">
          <a:xfrm rot="5400000">
            <a:off x="3453730" y="3598092"/>
            <a:ext cx="649288" cy="431800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BEDFC4"/>
          </a:solidFill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0068" name="Rectangle 228"/>
          <p:cNvSpPr>
            <a:spLocks noChangeArrowheads="1"/>
          </p:cNvSpPr>
          <p:nvPr/>
        </p:nvSpPr>
        <p:spPr bwMode="auto">
          <a:xfrm>
            <a:off x="2236911" y="4252937"/>
            <a:ext cx="5207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rgbClr val="7030A0"/>
                </a:solidFill>
              </a:rPr>
              <a:t>'H'</a:t>
            </a:r>
          </a:p>
        </p:txBody>
      </p:sp>
      <p:sp>
        <p:nvSpPr>
          <p:cNvPr id="1060069" name="Rectangle 229"/>
          <p:cNvSpPr>
            <a:spLocks noChangeArrowheads="1"/>
          </p:cNvSpPr>
          <p:nvPr/>
        </p:nvSpPr>
        <p:spPr bwMode="auto">
          <a:xfrm>
            <a:off x="2827462" y="4252937"/>
            <a:ext cx="4365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>
                <a:solidFill>
                  <a:srgbClr val="7030A0"/>
                </a:solidFill>
              </a:rPr>
              <a:t>'e'</a:t>
            </a:r>
          </a:p>
        </p:txBody>
      </p:sp>
      <p:sp>
        <p:nvSpPr>
          <p:cNvPr id="1060070" name="Rectangle 230"/>
          <p:cNvSpPr>
            <a:spLocks noChangeArrowheads="1"/>
          </p:cNvSpPr>
          <p:nvPr/>
        </p:nvSpPr>
        <p:spPr bwMode="auto">
          <a:xfrm>
            <a:off x="3373561" y="4252937"/>
            <a:ext cx="3937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>
                <a:solidFill>
                  <a:srgbClr val="7030A0"/>
                </a:solidFill>
              </a:rPr>
              <a:t>'l'</a:t>
            </a:r>
          </a:p>
        </p:txBody>
      </p:sp>
      <p:sp>
        <p:nvSpPr>
          <p:cNvPr id="1060071" name="Rectangle 231"/>
          <p:cNvSpPr>
            <a:spLocks noChangeArrowheads="1"/>
          </p:cNvSpPr>
          <p:nvPr/>
        </p:nvSpPr>
        <p:spPr bwMode="auto">
          <a:xfrm>
            <a:off x="3903786" y="4240237"/>
            <a:ext cx="3937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>
                <a:solidFill>
                  <a:srgbClr val="7030A0"/>
                </a:solidFill>
              </a:rPr>
              <a:t>'l'</a:t>
            </a:r>
          </a:p>
        </p:txBody>
      </p:sp>
      <p:sp>
        <p:nvSpPr>
          <p:cNvPr id="1060072" name="Rectangle 232"/>
          <p:cNvSpPr>
            <a:spLocks noChangeArrowheads="1"/>
          </p:cNvSpPr>
          <p:nvPr/>
        </p:nvSpPr>
        <p:spPr bwMode="auto">
          <a:xfrm>
            <a:off x="4397499" y="4240237"/>
            <a:ext cx="4508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>
                <a:solidFill>
                  <a:srgbClr val="7030A0"/>
                </a:solidFill>
              </a:rPr>
              <a:t>'o'</a:t>
            </a:r>
          </a:p>
        </p:txBody>
      </p:sp>
      <p:sp>
        <p:nvSpPr>
          <p:cNvPr id="1060073" name="Rectangle 233"/>
          <p:cNvSpPr>
            <a:spLocks noChangeArrowheads="1"/>
          </p:cNvSpPr>
          <p:nvPr/>
        </p:nvSpPr>
        <p:spPr bwMode="auto">
          <a:xfrm>
            <a:off x="4972174" y="4252937"/>
            <a:ext cx="3873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>
                <a:solidFill>
                  <a:srgbClr val="7030A0"/>
                </a:solidFill>
              </a:rPr>
              <a:t>' '</a:t>
            </a:r>
          </a:p>
        </p:txBody>
      </p:sp>
      <p:grpSp>
        <p:nvGrpSpPr>
          <p:cNvPr id="1060076" name="Group 236"/>
          <p:cNvGrpSpPr>
            <a:grpSpLocks/>
          </p:cNvGrpSpPr>
          <p:nvPr/>
        </p:nvGrpSpPr>
        <p:grpSpPr bwMode="auto">
          <a:xfrm>
            <a:off x="2265487" y="4714899"/>
            <a:ext cx="3743325" cy="1508125"/>
            <a:chOff x="612" y="2614"/>
            <a:chExt cx="2358" cy="950"/>
          </a:xfrm>
        </p:grpSpPr>
        <p:sp>
          <p:nvSpPr>
            <p:cNvPr id="1060074" name="Rectangle 234"/>
            <p:cNvSpPr>
              <a:spLocks noChangeArrowheads="1"/>
            </p:cNvSpPr>
            <p:nvPr/>
          </p:nvSpPr>
          <p:spPr bwMode="auto">
            <a:xfrm>
              <a:off x="612" y="3022"/>
              <a:ext cx="2358" cy="542"/>
            </a:xfrm>
            <a:prstGeom prst="rect">
              <a:avLst/>
            </a:prstGeom>
            <a:gradFill rotWithShape="1">
              <a:gsLst>
                <a:gs pos="0">
                  <a:srgbClr val="CFCFD1"/>
                </a:gs>
                <a:gs pos="100000">
                  <a:schemeClr val="bg1"/>
                </a:gs>
              </a:gsLst>
              <a:lin ang="5400000" scaled="1"/>
            </a:gradFill>
            <a:ln w="38100">
              <a:solidFill>
                <a:schemeClr val="accent1">
                  <a:lumMod val="50000"/>
                </a:schemeClr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>
              <a:spAutoFit/>
            </a:bodyPr>
            <a:lstStyle/>
            <a:p>
              <a:r>
                <a:rPr lang="en-US" altLang="zh-CN" b="1">
                  <a:solidFill>
                    <a:schemeClr val="accent1">
                      <a:lumMod val="50000"/>
                    </a:schemeClr>
                  </a:solidFill>
                </a:rPr>
                <a:t>for (i = 0; s1[i] != '\0'; i++) </a:t>
              </a:r>
            </a:p>
            <a:p>
              <a:r>
                <a:rPr lang="en-US" altLang="zh-CN" b="1">
                  <a:solidFill>
                    <a:schemeClr val="accent1">
                      <a:lumMod val="50000"/>
                    </a:schemeClr>
                  </a:solidFill>
                </a:rPr>
                <a:t>      s3[i] = s1[i];</a:t>
              </a:r>
            </a:p>
          </p:txBody>
        </p:sp>
        <p:sp>
          <p:nvSpPr>
            <p:cNvPr id="1060075" name="Line 235"/>
            <p:cNvSpPr>
              <a:spLocks noChangeShapeType="1"/>
            </p:cNvSpPr>
            <p:nvPr/>
          </p:nvSpPr>
          <p:spPr bwMode="auto">
            <a:xfrm>
              <a:off x="1383" y="2614"/>
              <a:ext cx="272" cy="408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60077" name="AutoShape 237"/>
          <p:cNvSpPr>
            <a:spLocks/>
          </p:cNvSpPr>
          <p:nvPr/>
        </p:nvSpPr>
        <p:spPr bwMode="auto">
          <a:xfrm rot="-5400000">
            <a:off x="7955086" y="1805011"/>
            <a:ext cx="287338" cy="2881312"/>
          </a:xfrm>
          <a:prstGeom prst="leftBrace">
            <a:avLst>
              <a:gd name="adj1" fmla="val 83563"/>
              <a:gd name="adj2" fmla="val 50000"/>
            </a:avLst>
          </a:prstGeom>
          <a:noFill/>
          <a:ln w="25400">
            <a:solidFill>
              <a:srgbClr val="F0E5B7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0078" name="AutoShape 238"/>
          <p:cNvSpPr>
            <a:spLocks noChangeArrowheads="1"/>
          </p:cNvSpPr>
          <p:nvPr/>
        </p:nvSpPr>
        <p:spPr bwMode="auto">
          <a:xfrm rot="8220912">
            <a:off x="6735886" y="3567136"/>
            <a:ext cx="1176338" cy="404812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F0E5B7"/>
          </a:solidFill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0079" name="Rectangle 239"/>
          <p:cNvSpPr>
            <a:spLocks noChangeArrowheads="1"/>
          </p:cNvSpPr>
          <p:nvPr/>
        </p:nvSpPr>
        <p:spPr bwMode="auto">
          <a:xfrm>
            <a:off x="5505574" y="4238649"/>
            <a:ext cx="43656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rgbClr val="C01920"/>
                </a:solidFill>
              </a:rPr>
              <a:t>'c'</a:t>
            </a:r>
          </a:p>
        </p:txBody>
      </p:sp>
      <p:sp>
        <p:nvSpPr>
          <p:cNvPr id="1060080" name="Rectangle 240"/>
          <p:cNvSpPr>
            <a:spLocks noChangeArrowheads="1"/>
          </p:cNvSpPr>
          <p:nvPr/>
        </p:nvSpPr>
        <p:spPr bwMode="auto">
          <a:xfrm>
            <a:off x="6053261" y="4238649"/>
            <a:ext cx="4651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>
                <a:solidFill>
                  <a:srgbClr val="C01920"/>
                </a:solidFill>
              </a:rPr>
              <a:t>'h'</a:t>
            </a:r>
          </a:p>
        </p:txBody>
      </p:sp>
      <p:sp>
        <p:nvSpPr>
          <p:cNvPr id="1060081" name="Rectangle 241"/>
          <p:cNvSpPr>
            <a:spLocks noChangeArrowheads="1"/>
          </p:cNvSpPr>
          <p:nvPr/>
        </p:nvSpPr>
        <p:spPr bwMode="auto">
          <a:xfrm>
            <a:off x="6586661" y="4238649"/>
            <a:ext cx="3937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>
                <a:solidFill>
                  <a:srgbClr val="C01920"/>
                </a:solidFill>
              </a:rPr>
              <a:t>'i'</a:t>
            </a:r>
          </a:p>
        </p:txBody>
      </p:sp>
      <p:sp>
        <p:nvSpPr>
          <p:cNvPr id="1060082" name="Rectangle 242"/>
          <p:cNvSpPr>
            <a:spLocks noChangeArrowheads="1"/>
          </p:cNvSpPr>
          <p:nvPr/>
        </p:nvSpPr>
        <p:spPr bwMode="auto">
          <a:xfrm>
            <a:off x="7089900" y="4238649"/>
            <a:ext cx="46513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>
                <a:solidFill>
                  <a:srgbClr val="C01920"/>
                </a:solidFill>
              </a:rPr>
              <a:t>'n'</a:t>
            </a:r>
          </a:p>
        </p:txBody>
      </p:sp>
      <p:sp>
        <p:nvSpPr>
          <p:cNvPr id="1060083" name="Rectangle 243"/>
          <p:cNvSpPr>
            <a:spLocks noChangeArrowheads="1"/>
          </p:cNvSpPr>
          <p:nvPr/>
        </p:nvSpPr>
        <p:spPr bwMode="auto">
          <a:xfrm>
            <a:off x="7651874" y="4238649"/>
            <a:ext cx="4508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>
                <a:solidFill>
                  <a:srgbClr val="C01920"/>
                </a:solidFill>
              </a:rPr>
              <a:t>'a'</a:t>
            </a:r>
          </a:p>
        </p:txBody>
      </p:sp>
      <p:sp>
        <p:nvSpPr>
          <p:cNvPr id="1060084" name="Rectangle 244"/>
          <p:cNvSpPr>
            <a:spLocks noChangeArrowheads="1"/>
          </p:cNvSpPr>
          <p:nvPr/>
        </p:nvSpPr>
        <p:spPr bwMode="auto">
          <a:xfrm>
            <a:off x="8199561" y="4238649"/>
            <a:ext cx="4079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>
                <a:solidFill>
                  <a:srgbClr val="C01920"/>
                </a:solidFill>
              </a:rPr>
              <a:t>'!'</a:t>
            </a:r>
          </a:p>
        </p:txBody>
      </p:sp>
      <p:grpSp>
        <p:nvGrpSpPr>
          <p:cNvPr id="1060085" name="Group 245"/>
          <p:cNvGrpSpPr>
            <a:grpSpLocks/>
          </p:cNvGrpSpPr>
          <p:nvPr/>
        </p:nvGrpSpPr>
        <p:grpSpPr bwMode="auto">
          <a:xfrm>
            <a:off x="6297737" y="4729187"/>
            <a:ext cx="3743325" cy="1508125"/>
            <a:chOff x="612" y="2614"/>
            <a:chExt cx="2358" cy="950"/>
          </a:xfrm>
        </p:grpSpPr>
        <p:sp>
          <p:nvSpPr>
            <p:cNvPr id="1060086" name="Rectangle 246"/>
            <p:cNvSpPr>
              <a:spLocks noChangeArrowheads="1"/>
            </p:cNvSpPr>
            <p:nvPr/>
          </p:nvSpPr>
          <p:spPr bwMode="auto">
            <a:xfrm>
              <a:off x="612" y="3022"/>
              <a:ext cx="2358" cy="542"/>
            </a:xfrm>
            <a:prstGeom prst="rect">
              <a:avLst/>
            </a:prstGeom>
            <a:gradFill rotWithShape="1">
              <a:gsLst>
                <a:gs pos="0">
                  <a:srgbClr val="CFCFD1"/>
                </a:gs>
                <a:gs pos="100000">
                  <a:schemeClr val="bg1"/>
                </a:gs>
              </a:gsLst>
              <a:lin ang="5400000" scaled="1"/>
            </a:gradFill>
            <a:ln w="38100">
              <a:solidFill>
                <a:srgbClr val="002060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>
              <a:spAutoFit/>
            </a:bodyPr>
            <a:lstStyle/>
            <a:p>
              <a:r>
                <a:rPr lang="en-US" altLang="zh-CN" b="1">
                  <a:solidFill>
                    <a:srgbClr val="CC0000"/>
                  </a:solidFill>
                </a:rPr>
                <a:t>for (j = 0; s2[j] != '\0'; j++)</a:t>
              </a:r>
            </a:p>
            <a:p>
              <a:r>
                <a:rPr lang="en-US" altLang="zh-CN" b="1">
                  <a:solidFill>
                    <a:srgbClr val="CC0000"/>
                  </a:solidFill>
                </a:rPr>
                <a:t>      s3[i+j] = s2[j];</a:t>
              </a:r>
            </a:p>
          </p:txBody>
        </p:sp>
        <p:sp>
          <p:nvSpPr>
            <p:cNvPr id="1060087" name="Line 247"/>
            <p:cNvSpPr>
              <a:spLocks noChangeShapeType="1"/>
            </p:cNvSpPr>
            <p:nvPr/>
          </p:nvSpPr>
          <p:spPr bwMode="auto">
            <a:xfrm>
              <a:off x="1383" y="2614"/>
              <a:ext cx="272" cy="408"/>
            </a:xfrm>
            <a:prstGeom prst="line">
              <a:avLst/>
            </a:prstGeom>
            <a:noFill/>
            <a:ln w="28575">
              <a:solidFill>
                <a:srgbClr val="002060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60088" name="Rectangle 248"/>
          <p:cNvSpPr>
            <a:spLocks noChangeArrowheads="1"/>
          </p:cNvSpPr>
          <p:nvPr/>
        </p:nvSpPr>
        <p:spPr bwMode="auto">
          <a:xfrm>
            <a:off x="8688511" y="4238649"/>
            <a:ext cx="5207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rgbClr val="002060"/>
                </a:solidFill>
              </a:rPr>
              <a:t>'\0'</a:t>
            </a:r>
          </a:p>
        </p:txBody>
      </p:sp>
      <p:sp>
        <p:nvSpPr>
          <p:cNvPr id="1060089" name="Line 249"/>
          <p:cNvSpPr>
            <a:spLocks noChangeShapeType="1"/>
          </p:cNvSpPr>
          <p:nvPr/>
        </p:nvSpPr>
        <p:spPr bwMode="auto">
          <a:xfrm>
            <a:off x="6377111" y="1343048"/>
            <a:ext cx="647700" cy="0"/>
          </a:xfrm>
          <a:prstGeom prst="line">
            <a:avLst/>
          </a:prstGeom>
          <a:noFill/>
          <a:ln w="28575">
            <a:solidFill>
              <a:srgbClr val="7030A0"/>
            </a:solidFill>
            <a:round/>
            <a:headEnd/>
            <a:tailEnd type="stealth" w="lg" len="lg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60090" name="Text Box 250"/>
          <p:cNvSpPr txBox="1">
            <a:spLocks noChangeArrowheads="1"/>
          </p:cNvSpPr>
          <p:nvPr/>
        </p:nvSpPr>
        <p:spPr bwMode="auto">
          <a:xfrm>
            <a:off x="6994649" y="1069999"/>
            <a:ext cx="100806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7030A0"/>
                </a:solidFill>
                <a:ea typeface="隶书" pitchFamily="49" charset="-122"/>
              </a:rPr>
              <a:t>补</a:t>
            </a:r>
            <a:r>
              <a:rPr lang="en-US" altLang="zh-CN" sz="2800" b="1">
                <a:solidFill>
                  <a:srgbClr val="7030A0"/>
                </a:solidFill>
                <a:ea typeface="隶书" pitchFamily="49" charset="-122"/>
              </a:rPr>
              <a:t>\0</a:t>
            </a:r>
          </a:p>
        </p:txBody>
      </p:sp>
      <p:grpSp>
        <p:nvGrpSpPr>
          <p:cNvPr id="1060093" name="Group 253"/>
          <p:cNvGrpSpPr>
            <a:grpSpLocks/>
          </p:cNvGrpSpPr>
          <p:nvPr/>
        </p:nvGrpSpPr>
        <p:grpSpPr bwMode="auto">
          <a:xfrm>
            <a:off x="8386884" y="3417911"/>
            <a:ext cx="1866900" cy="792162"/>
            <a:chOff x="4468" y="1797"/>
            <a:chExt cx="1176" cy="499"/>
          </a:xfrm>
        </p:grpSpPr>
        <p:sp>
          <p:nvSpPr>
            <p:cNvPr id="1060091" name="Rectangle 251"/>
            <p:cNvSpPr>
              <a:spLocks noChangeArrowheads="1"/>
            </p:cNvSpPr>
            <p:nvPr/>
          </p:nvSpPr>
          <p:spPr bwMode="auto">
            <a:xfrm>
              <a:off x="4468" y="1797"/>
              <a:ext cx="1176" cy="291"/>
            </a:xfrm>
            <a:prstGeom prst="rect">
              <a:avLst/>
            </a:prstGeom>
            <a:gradFill rotWithShape="1">
              <a:gsLst>
                <a:gs pos="0">
                  <a:srgbClr val="CFCFD1"/>
                </a:gs>
                <a:gs pos="100000">
                  <a:schemeClr val="bg1"/>
                </a:gs>
              </a:gsLst>
              <a:lin ang="5400000" scaled="1"/>
            </a:gradFill>
            <a:ln w="38100">
              <a:solidFill>
                <a:srgbClr val="C01920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wrap="none">
              <a:spAutoFit/>
            </a:bodyPr>
            <a:lstStyle/>
            <a:p>
              <a:r>
                <a:rPr lang="en-US" altLang="zh-CN" b="1">
                  <a:solidFill>
                    <a:srgbClr val="002060"/>
                  </a:solidFill>
                </a:rPr>
                <a:t>s3[i+j] = '\0';</a:t>
              </a:r>
            </a:p>
          </p:txBody>
        </p:sp>
        <p:sp>
          <p:nvSpPr>
            <p:cNvPr id="1060092" name="Line 252"/>
            <p:cNvSpPr>
              <a:spLocks noChangeShapeType="1"/>
            </p:cNvSpPr>
            <p:nvPr/>
          </p:nvSpPr>
          <p:spPr bwMode="auto">
            <a:xfrm>
              <a:off x="4649" y="2115"/>
              <a:ext cx="136" cy="181"/>
            </a:xfrm>
            <a:prstGeom prst="line">
              <a:avLst/>
            </a:prstGeom>
            <a:noFill/>
            <a:ln w="38100">
              <a:solidFill>
                <a:srgbClr val="C01920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60094" name="Line 254"/>
          <p:cNvSpPr>
            <a:spLocks noChangeShapeType="1"/>
          </p:cNvSpPr>
          <p:nvPr/>
        </p:nvSpPr>
        <p:spPr bwMode="auto">
          <a:xfrm>
            <a:off x="7815386" y="1328761"/>
            <a:ext cx="647700" cy="0"/>
          </a:xfrm>
          <a:prstGeom prst="line">
            <a:avLst/>
          </a:prstGeom>
          <a:noFill/>
          <a:ln w="28575">
            <a:solidFill>
              <a:srgbClr val="BD6368"/>
            </a:solidFill>
            <a:round/>
            <a:headEnd/>
            <a:tailEnd type="stealth" w="lg" len="lg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60095" name="Text Box 255"/>
          <p:cNvSpPr txBox="1">
            <a:spLocks noChangeArrowheads="1"/>
          </p:cNvSpPr>
          <p:nvPr/>
        </p:nvSpPr>
        <p:spPr bwMode="auto">
          <a:xfrm>
            <a:off x="8421811" y="1027136"/>
            <a:ext cx="17018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BD6368"/>
                </a:solidFill>
                <a:ea typeface="隶书" pitchFamily="49" charset="-122"/>
              </a:rPr>
              <a:t>调用结束</a:t>
            </a:r>
          </a:p>
        </p:txBody>
      </p:sp>
      <p:sp useBgFill="1">
        <p:nvSpPr>
          <p:cNvPr id="1060096" name="Rectangle 256"/>
          <p:cNvSpPr>
            <a:spLocks noChangeArrowheads="1"/>
          </p:cNvSpPr>
          <p:nvPr/>
        </p:nvSpPr>
        <p:spPr bwMode="auto">
          <a:xfrm>
            <a:off x="1762250" y="1978049"/>
            <a:ext cx="503237" cy="576263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 useBgFill="1">
        <p:nvSpPr>
          <p:cNvPr id="1060097" name="Rectangle 257"/>
          <p:cNvSpPr>
            <a:spLocks noChangeArrowheads="1"/>
          </p:cNvSpPr>
          <p:nvPr/>
        </p:nvSpPr>
        <p:spPr bwMode="auto">
          <a:xfrm>
            <a:off x="6167561" y="2006624"/>
            <a:ext cx="503238" cy="576263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 useBgFill="1">
        <p:nvSpPr>
          <p:cNvPr id="1060098" name="Rectangle 258"/>
          <p:cNvSpPr>
            <a:spLocks noChangeArrowheads="1"/>
          </p:cNvSpPr>
          <p:nvPr/>
        </p:nvSpPr>
        <p:spPr bwMode="auto">
          <a:xfrm>
            <a:off x="1790824" y="4743474"/>
            <a:ext cx="431800" cy="690563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" name="Rectangle 4">
            <a:extLst>
              <a:ext uri="{FF2B5EF4-FFF2-40B4-BE49-F238E27FC236}">
                <a16:creationId xmlns:a16="http://schemas.microsoft.com/office/drawing/2014/main" id="{8581A671-B3AD-4A20-AE21-7253DA5514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8.3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函数参数的传递方式 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0600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10600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500"/>
                                        <p:tgtEl>
                                          <p:spTgt spid="10600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500"/>
                                        <p:tgtEl>
                                          <p:spTgt spid="10600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3" dur="500"/>
                                        <p:tgtEl>
                                          <p:spTgt spid="10600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10600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0600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10600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0" dur="500"/>
                                        <p:tgtEl>
                                          <p:spTgt spid="106006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10600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500"/>
                                        <p:tgtEl>
                                          <p:spTgt spid="10600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000"/>
                            </p:stCondLst>
                            <p:childTnLst>
                              <p:par>
                                <p:cTn id="50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106007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500"/>
                            </p:stCondLst>
                            <p:childTnLst>
                              <p:par>
                                <p:cTn id="54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500"/>
                                        <p:tgtEl>
                                          <p:spTgt spid="10600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000"/>
                            </p:stCondLst>
                            <p:childTnLst>
                              <p:par>
                                <p:cTn id="58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0" dur="500"/>
                                        <p:tgtEl>
                                          <p:spTgt spid="10600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500"/>
                            </p:stCondLst>
                            <p:childTnLst>
                              <p:par>
                                <p:cTn id="62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4" dur="500"/>
                                        <p:tgtEl>
                                          <p:spTgt spid="10600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0"/>
                            </p:stCondLst>
                            <p:childTnLst>
                              <p:par>
                                <p:cTn id="66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8" dur="500"/>
                                        <p:tgtEl>
                                          <p:spTgt spid="10600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500"/>
                            </p:stCondLst>
                            <p:childTnLst>
                              <p:par>
                                <p:cTn id="70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2" dur="500"/>
                                        <p:tgtEl>
                                          <p:spTgt spid="10600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6000"/>
                            </p:stCondLst>
                            <p:childTnLst>
                              <p:par>
                                <p:cTn id="74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6" dur="500"/>
                                        <p:tgtEl>
                                          <p:spTgt spid="10600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6500"/>
                            </p:stCondLst>
                            <p:childTnLst>
                              <p:par>
                                <p:cTn id="78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0" dur="500"/>
                                        <p:tgtEl>
                                          <p:spTgt spid="10600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7000"/>
                            </p:stCondLst>
                            <p:childTnLst>
                              <p:par>
                                <p:cTn id="82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4" dur="500"/>
                                        <p:tgtEl>
                                          <p:spTgt spid="10600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7500"/>
                            </p:stCondLst>
                            <p:childTnLst>
                              <p:par>
                                <p:cTn id="86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8" dur="500"/>
                                        <p:tgtEl>
                                          <p:spTgt spid="106008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8000"/>
                            </p:stCondLst>
                            <p:childTnLst>
                              <p:par>
                                <p:cTn id="90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2" dur="500"/>
                                        <p:tgtEl>
                                          <p:spTgt spid="10600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8500"/>
                            </p:stCondLst>
                            <p:childTnLst>
                              <p:par>
                                <p:cTn id="94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6" dur="500"/>
                                        <p:tgtEl>
                                          <p:spTgt spid="10600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9000"/>
                            </p:stCondLst>
                            <p:childTnLst>
                              <p:par>
                                <p:cTn id="98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0" dur="500"/>
                                        <p:tgtEl>
                                          <p:spTgt spid="10600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9500"/>
                            </p:stCondLst>
                            <p:childTnLst>
                              <p:par>
                                <p:cTn id="102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4" dur="500"/>
                                        <p:tgtEl>
                                          <p:spTgt spid="10600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9" dur="500"/>
                                        <p:tgtEl>
                                          <p:spTgt spid="10600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3" dur="500"/>
                                        <p:tgtEl>
                                          <p:spTgt spid="10600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1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7" dur="500"/>
                                        <p:tgtEl>
                                          <p:spTgt spid="10600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19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1" dur="500"/>
                                        <p:tgtEl>
                                          <p:spTgt spid="10600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6" dur="500"/>
                                        <p:tgtEl>
                                          <p:spTgt spid="10600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00"/>
                            </p:stCondLst>
                            <p:childTnLst>
                              <p:par>
                                <p:cTn id="128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0" dur="500"/>
                                        <p:tgtEl>
                                          <p:spTgt spid="10600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1000"/>
                            </p:stCondLst>
                            <p:childTnLst>
                              <p:par>
                                <p:cTn id="132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4" dur="500"/>
                                        <p:tgtEl>
                                          <p:spTgt spid="10600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1500"/>
                            </p:stCondLst>
                            <p:childTnLst>
                              <p:par>
                                <p:cTn id="136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8" dur="500"/>
                                        <p:tgtEl>
                                          <p:spTgt spid="10600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2000"/>
                            </p:stCondLst>
                            <p:childTnLst>
                              <p:par>
                                <p:cTn id="140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2" dur="500"/>
                                        <p:tgtEl>
                                          <p:spTgt spid="10600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0062" grpId="0" animBg="1"/>
      <p:bldP spid="1060063" grpId="0"/>
      <p:bldP spid="1060064" grpId="0" animBg="1"/>
      <p:bldP spid="1060065" grpId="0"/>
      <p:bldP spid="1060066" grpId="0" animBg="1"/>
      <p:bldP spid="1060067" grpId="0" animBg="1"/>
      <p:bldP spid="1060068" grpId="0"/>
      <p:bldP spid="1060069" grpId="0"/>
      <p:bldP spid="1060070" grpId="0"/>
      <p:bldP spid="1060071" grpId="0"/>
      <p:bldP spid="1060072" grpId="0"/>
      <p:bldP spid="1060073" grpId="0"/>
      <p:bldP spid="1060077" grpId="0" animBg="1"/>
      <p:bldP spid="1060078" grpId="0" animBg="1"/>
      <p:bldP spid="1060079" grpId="0"/>
      <p:bldP spid="1060080" grpId="0"/>
      <p:bldP spid="1060081" grpId="0"/>
      <p:bldP spid="1060082" grpId="0"/>
      <p:bldP spid="1060083" grpId="0"/>
      <p:bldP spid="1060084" grpId="0"/>
      <p:bldP spid="1060088" grpId="0"/>
      <p:bldP spid="1060089" grpId="0" animBg="1"/>
      <p:bldP spid="1060090" grpId="0"/>
      <p:bldP spid="1060094" grpId="0" animBg="1"/>
      <p:bldP spid="1060095" grpId="0"/>
      <p:bldP spid="1060096" grpId="0" animBg="1"/>
      <p:bldP spid="1060097" grpId="0" animBg="1"/>
      <p:bldP spid="106009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867" name="Rectangle 3"/>
          <p:cNvSpPr>
            <a:spLocks noChangeArrowheads="1"/>
          </p:cNvSpPr>
          <p:nvPr/>
        </p:nvSpPr>
        <p:spPr bwMode="auto">
          <a:xfrm>
            <a:off x="766724" y="883568"/>
            <a:ext cx="547329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1</a:t>
            </a:r>
            <a:r>
              <a:rPr lang="zh-CN" altLang="en-US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、作用域和生存期的基本概念</a:t>
            </a:r>
          </a:p>
        </p:txBody>
      </p:sp>
      <p:sp>
        <p:nvSpPr>
          <p:cNvPr id="1060872" name="Rectangle 8"/>
          <p:cNvSpPr>
            <a:spLocks noChangeArrowheads="1"/>
          </p:cNvSpPr>
          <p:nvPr/>
        </p:nvSpPr>
        <p:spPr bwMode="auto">
          <a:xfrm>
            <a:off x="727112" y="1482873"/>
            <a:ext cx="11201536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lvl="1">
              <a:buFont typeface="Wingdings" pitchFamily="2" charset="2"/>
              <a:buChar char="Ø"/>
            </a:pP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变量的作用域</a:t>
            </a:r>
          </a:p>
          <a:p>
            <a:pPr>
              <a:buFont typeface="Wingdings" pitchFamily="2" charset="2"/>
              <a:buNone/>
            </a:pPr>
            <a:r>
              <a:rPr lang="zh-CN" altLang="en-US" b="1" dirty="0">
                <a:latin typeface="+mn-lt"/>
                <a:ea typeface="楷体" pitchFamily="49" charset="-122"/>
              </a:rPr>
              <a:t>        即变量的作用</a:t>
            </a:r>
            <a:r>
              <a:rPr lang="zh-CN" altLang="en-US" b="1" dirty="0">
                <a:solidFill>
                  <a:srgbClr val="7030A0"/>
                </a:solidFill>
                <a:latin typeface="+mn-lt"/>
                <a:ea typeface="楷体" pitchFamily="49" charset="-122"/>
              </a:rPr>
              <a:t>范围</a:t>
            </a:r>
            <a:r>
              <a:rPr lang="zh-CN" altLang="en-US" b="1" dirty="0">
                <a:latin typeface="+mn-lt"/>
                <a:ea typeface="楷体" pitchFamily="49" charset="-122"/>
              </a:rPr>
              <a:t>（或有效范围）。表现为变量有的可以在整个程序或其它程序中进行引用，有的则只能在局部范围内引用。</a:t>
            </a:r>
          </a:p>
          <a:p>
            <a:pPr>
              <a:buFont typeface="Wingdings" pitchFamily="2" charset="2"/>
              <a:buNone/>
            </a:pPr>
            <a:r>
              <a:rPr lang="zh-CN" altLang="en-US" b="1" dirty="0">
                <a:latin typeface="+mn-lt"/>
                <a:ea typeface="楷体" pitchFamily="49" charset="-122"/>
              </a:rPr>
              <a:t>       按其作用域范围可分为两种：即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局部变量</a:t>
            </a:r>
            <a:r>
              <a:rPr lang="zh-CN" altLang="en-US" b="1" dirty="0">
                <a:latin typeface="+mn-lt"/>
                <a:ea typeface="楷体" pitchFamily="49" charset="-122"/>
              </a:rPr>
              <a:t>和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全局变量</a:t>
            </a:r>
            <a:r>
              <a:rPr lang="zh-CN" altLang="en-US" dirty="0">
                <a:solidFill>
                  <a:srgbClr val="C01920"/>
                </a:solidFill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060873" name="Rectangle 9"/>
          <p:cNvSpPr>
            <a:spLocks noChangeArrowheads="1"/>
          </p:cNvSpPr>
          <p:nvPr/>
        </p:nvSpPr>
        <p:spPr bwMode="auto">
          <a:xfrm>
            <a:off x="727112" y="3356123"/>
            <a:ext cx="11001368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lvl="1">
              <a:buFont typeface="Wingdings" pitchFamily="2" charset="2"/>
              <a:buChar char="Ø"/>
            </a:pP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变量的生存期</a:t>
            </a:r>
          </a:p>
          <a:p>
            <a:pPr>
              <a:buFont typeface="Wingdings" pitchFamily="2" charset="2"/>
              <a:buNone/>
            </a:pPr>
            <a:r>
              <a:rPr lang="zh-CN" altLang="en-US" b="1" dirty="0">
                <a:latin typeface="+mn-lt"/>
                <a:ea typeface="楷体" pitchFamily="49" charset="-122"/>
              </a:rPr>
              <a:t>        变量从被生成到被撤消的这段时间。实际上就是变量占用内存的</a:t>
            </a:r>
            <a:r>
              <a:rPr lang="zh-CN" altLang="en-US" b="1" dirty="0">
                <a:solidFill>
                  <a:srgbClr val="7030A0"/>
                </a:solidFill>
                <a:latin typeface="+mn-lt"/>
                <a:ea typeface="楷体" pitchFamily="49" charset="-122"/>
              </a:rPr>
              <a:t>时间</a:t>
            </a:r>
            <a:r>
              <a:rPr lang="zh-CN" altLang="en-US" b="1" dirty="0">
                <a:latin typeface="+mn-lt"/>
                <a:ea typeface="楷体" pitchFamily="49" charset="-122"/>
              </a:rPr>
              <a:t>。</a:t>
            </a:r>
          </a:p>
          <a:p>
            <a:pPr>
              <a:buFont typeface="Wingdings" pitchFamily="2" charset="2"/>
              <a:buNone/>
            </a:pPr>
            <a:r>
              <a:rPr lang="zh-CN" altLang="en-US" dirty="0">
                <a:latin typeface="+mn-lt"/>
                <a:ea typeface="楷体" pitchFamily="49" charset="-122"/>
              </a:rPr>
              <a:t>        </a:t>
            </a:r>
            <a:r>
              <a:rPr lang="zh-CN" altLang="en-US" b="1" dirty="0">
                <a:latin typeface="+mn-lt"/>
                <a:ea typeface="楷体" pitchFamily="49" charset="-122"/>
              </a:rPr>
              <a:t>按其生存期可分为两种：即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动态变量</a:t>
            </a:r>
            <a:r>
              <a:rPr lang="zh-CN" altLang="en-US" b="1" dirty="0">
                <a:latin typeface="+mn-lt"/>
                <a:ea typeface="楷体" pitchFamily="49" charset="-122"/>
              </a:rPr>
              <a:t>和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静态变量</a:t>
            </a:r>
            <a:r>
              <a:rPr lang="zh-CN" altLang="en-US" dirty="0">
                <a:solidFill>
                  <a:srgbClr val="C01920"/>
                </a:solidFill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     </a:t>
            </a:r>
          </a:p>
        </p:txBody>
      </p:sp>
      <p:sp>
        <p:nvSpPr>
          <p:cNvPr id="1060874" name="Rectangle 10"/>
          <p:cNvSpPr>
            <a:spLocks noChangeArrowheads="1"/>
          </p:cNvSpPr>
          <p:nvPr/>
        </p:nvSpPr>
        <p:spPr bwMode="auto">
          <a:xfrm>
            <a:off x="1042686" y="4869160"/>
            <a:ext cx="10370219" cy="1411288"/>
          </a:xfrm>
          <a:prstGeom prst="rect">
            <a:avLst/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  <a:tileRect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en-US" altLang="zh-CN" b="1" dirty="0">
                <a:ln w="1905"/>
                <a:solidFill>
                  <a:srgbClr val="002060"/>
                </a:solidFill>
                <a:latin typeface="隶书" pitchFamily="49" charset="-122"/>
                <a:ea typeface="隶书" pitchFamily="49" charset="-122"/>
              </a:rPr>
              <a:t>    </a:t>
            </a:r>
            <a:r>
              <a:rPr lang="zh-CN" altLang="en-US" sz="2800" b="1" dirty="0">
                <a:ln w="1905"/>
                <a:solidFill>
                  <a:srgbClr val="002060"/>
                </a:solidFill>
                <a:latin typeface="隶书" pitchFamily="49" charset="-122"/>
                <a:ea typeface="隶书" pitchFamily="49" charset="-122"/>
              </a:rPr>
              <a:t>变量只能在其生存期内被引用，变量的作用域直接影响变量的生存期。</a:t>
            </a:r>
            <a:r>
              <a:rPr lang="zh-CN" altLang="en-US" sz="2800" b="1" dirty="0">
                <a:ln w="1905"/>
                <a:solidFill>
                  <a:srgbClr val="C01920"/>
                </a:solidFill>
                <a:latin typeface="隶书" pitchFamily="49" charset="-122"/>
                <a:ea typeface="隶书" pitchFamily="49" charset="-122"/>
              </a:rPr>
              <a:t>作用域和生存期是从空间和时间的角度来体现变量的特性。 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7986B203-8379-41FC-8C55-5F0E5B3ACC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8.4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变量的作用域和生存期 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608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608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608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608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0608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10608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608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608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10608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10608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5" dur="500"/>
                                        <p:tgtEl>
                                          <p:spTgt spid="10608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0867" grpId="0"/>
      <p:bldP spid="106087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919" name="Rectangle 7"/>
          <p:cNvSpPr>
            <a:spLocks noChangeArrowheads="1"/>
          </p:cNvSpPr>
          <p:nvPr/>
        </p:nvSpPr>
        <p:spPr bwMode="auto">
          <a:xfrm>
            <a:off x="1182648" y="1750164"/>
            <a:ext cx="10457968" cy="304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定义</a:t>
            </a:r>
          </a:p>
          <a:p>
            <a:pPr>
              <a:buFont typeface="Wingdings" pitchFamily="2" charset="2"/>
              <a:buNone/>
            </a:pPr>
            <a:r>
              <a:rPr lang="zh-CN" altLang="en-US" b="1" dirty="0">
                <a:latin typeface="+mn-lt"/>
                <a:ea typeface="楷体" pitchFamily="49" charset="-122"/>
              </a:rPr>
              <a:t>    在函数内作定义说明的变量，也称为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内部变量</a:t>
            </a:r>
            <a:r>
              <a:rPr lang="zh-CN" altLang="en-US" dirty="0">
                <a:solidFill>
                  <a:srgbClr val="C01920"/>
                </a:solidFill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latin typeface="+mn-lt"/>
                <a:ea typeface="楷体" pitchFamily="49" charset="-122"/>
              </a:rPr>
              <a:t>。</a:t>
            </a:r>
            <a:endParaRPr lang="en-US" altLang="zh-CN" b="1" dirty="0">
              <a:latin typeface="+mn-lt"/>
              <a:ea typeface="楷体" pitchFamily="49" charset="-122"/>
            </a:endParaRPr>
          </a:p>
          <a:p>
            <a:pPr>
              <a:buFont typeface="Wingdings" pitchFamily="2" charset="2"/>
              <a:buNone/>
            </a:pPr>
            <a:endParaRPr lang="zh-CN" altLang="en-US" b="1" dirty="0">
              <a:latin typeface="+mn-lt"/>
              <a:ea typeface="楷体" pitchFamily="49" charset="-122"/>
            </a:endParaRPr>
          </a:p>
          <a:p>
            <a:pPr marL="342900" indent="-342900">
              <a:buClr>
                <a:srgbClr val="C01920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C01920"/>
                </a:solidFill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作用域</a:t>
            </a:r>
          </a:p>
          <a:p>
            <a:pPr>
              <a:buFont typeface="Wingdings" pitchFamily="2" charset="2"/>
              <a:buNone/>
            </a:pPr>
            <a:r>
              <a:rPr lang="zh-CN" altLang="en-US" b="1" dirty="0">
                <a:latin typeface="+mn-lt"/>
                <a:ea typeface="楷体" pitchFamily="49" charset="-122"/>
              </a:rPr>
              <a:t>   仅限于函数内，离开函数后不可再引用。</a:t>
            </a:r>
            <a:endParaRPr lang="en-US" altLang="zh-CN" b="1" dirty="0">
              <a:latin typeface="+mn-lt"/>
              <a:ea typeface="楷体" pitchFamily="49" charset="-122"/>
            </a:endParaRPr>
          </a:p>
          <a:p>
            <a:pPr>
              <a:buFont typeface="Wingdings" pitchFamily="2" charset="2"/>
              <a:buNone/>
            </a:pPr>
            <a:endParaRPr lang="zh-CN" altLang="en-US" b="1" dirty="0">
              <a:latin typeface="+mn-lt"/>
              <a:ea typeface="楷体" pitchFamily="49" charset="-122"/>
            </a:endParaRPr>
          </a:p>
          <a:p>
            <a:pPr>
              <a:buClr>
                <a:srgbClr val="C01920"/>
              </a:buClr>
              <a:buFont typeface="Wingdings" pitchFamily="2" charset="2"/>
              <a:buChar char="Ø"/>
            </a:pPr>
            <a:r>
              <a:rPr lang="zh-CN" altLang="en-US" dirty="0">
                <a:solidFill>
                  <a:srgbClr val="C01920"/>
                </a:solidFill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生存期</a:t>
            </a:r>
          </a:p>
          <a:p>
            <a:pPr>
              <a:buClr>
                <a:srgbClr val="006600"/>
              </a:buClr>
              <a:buFont typeface="Wingdings" pitchFamily="2" charset="2"/>
              <a:buNone/>
            </a:pPr>
            <a:r>
              <a:rPr lang="zh-CN" altLang="en-US" b="1" dirty="0">
                <a:latin typeface="+mn-lt"/>
                <a:ea typeface="楷体" pitchFamily="49" charset="-122"/>
              </a:rPr>
              <a:t>   从函数被调用的时刻到函数返回调用处的时刻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（静态局部变量除外）。</a:t>
            </a:r>
          </a:p>
        </p:txBody>
      </p:sp>
      <p:sp>
        <p:nvSpPr>
          <p:cNvPr id="1062915" name="Rectangle 3"/>
          <p:cNvSpPr>
            <a:spLocks noChangeArrowheads="1"/>
          </p:cNvSpPr>
          <p:nvPr/>
        </p:nvSpPr>
        <p:spPr bwMode="auto">
          <a:xfrm>
            <a:off x="766724" y="883593"/>
            <a:ext cx="482441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2</a:t>
            </a:r>
            <a:r>
              <a:rPr lang="zh-CN" altLang="en-US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、局部变量作用域和生存期</a:t>
            </a:r>
          </a:p>
        </p:txBody>
      </p:sp>
      <p:sp>
        <p:nvSpPr>
          <p:cNvPr id="1062922" name="Rectangle 10" descr="信纸"/>
          <p:cNvSpPr>
            <a:spLocks noChangeArrowheads="1"/>
          </p:cNvSpPr>
          <p:nvPr/>
        </p:nvSpPr>
        <p:spPr bwMode="auto">
          <a:xfrm>
            <a:off x="2819400" y="1740976"/>
            <a:ext cx="6696075" cy="4146550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marL="457200" indent="-457200"/>
            <a:r>
              <a:rPr lang="en-US" altLang="zh-CN" b="1" dirty="0">
                <a:ea typeface="楷体_GB2312" pitchFamily="49" charset="-122"/>
              </a:rPr>
              <a:t>int f1 ( 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  <a:ea typeface="楷体_GB2312" pitchFamily="49" charset="-122"/>
              </a:rPr>
              <a:t>int x, int y </a:t>
            </a:r>
            <a:r>
              <a:rPr lang="en-US" altLang="zh-CN" b="1" dirty="0">
                <a:ea typeface="楷体_GB2312" pitchFamily="49" charset="-122"/>
              </a:rPr>
              <a:t>)</a:t>
            </a:r>
          </a:p>
          <a:p>
            <a:pPr marL="457200" indent="-457200"/>
            <a:r>
              <a:rPr lang="en-US" altLang="zh-CN" b="1" dirty="0">
                <a:ea typeface="楷体_GB2312" pitchFamily="49" charset="-122"/>
              </a:rPr>
              <a:t>{</a:t>
            </a:r>
          </a:p>
          <a:p>
            <a:pPr marL="457200" indent="-457200"/>
            <a:r>
              <a:rPr lang="en-US" altLang="zh-CN" b="1" dirty="0">
                <a:ea typeface="楷体_GB2312" pitchFamily="49" charset="-122"/>
              </a:rPr>
              <a:t>  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  <a:ea typeface="楷体_GB2312" pitchFamily="49" charset="-122"/>
              </a:rPr>
              <a:t>int z;</a:t>
            </a:r>
          </a:p>
          <a:p>
            <a:pPr marL="457200" indent="-457200"/>
            <a:r>
              <a:rPr lang="en-US" altLang="zh-CN" b="1" dirty="0">
                <a:ea typeface="楷体_GB2312" pitchFamily="49" charset="-122"/>
              </a:rPr>
              <a:t>  z = x &gt; y ? x : y;</a:t>
            </a:r>
          </a:p>
          <a:p>
            <a:pPr marL="457200" indent="-457200"/>
            <a:r>
              <a:rPr lang="en-US" altLang="zh-CN" b="1" dirty="0">
                <a:ea typeface="楷体_GB2312" pitchFamily="49" charset="-122"/>
              </a:rPr>
              <a:t>  return (z);</a:t>
            </a:r>
          </a:p>
          <a:p>
            <a:pPr marL="457200" indent="-457200"/>
            <a:r>
              <a:rPr lang="en-US" altLang="zh-CN" b="1" dirty="0">
                <a:ea typeface="楷体_GB2312" pitchFamily="49" charset="-122"/>
              </a:rPr>
              <a:t>}</a:t>
            </a:r>
          </a:p>
          <a:p>
            <a:pPr marL="457200" indent="-457200"/>
            <a:endParaRPr lang="en-US" altLang="zh-CN" b="1" dirty="0">
              <a:ea typeface="楷体_GB2312" pitchFamily="49" charset="-122"/>
            </a:endParaRPr>
          </a:p>
          <a:p>
            <a:pPr marL="457200" indent="-457200"/>
            <a:r>
              <a:rPr lang="en-US" altLang="zh-CN" b="1" dirty="0">
                <a:ea typeface="楷体_GB2312" pitchFamily="49" charset="-122"/>
              </a:rPr>
              <a:t>void f2 (  )</a:t>
            </a:r>
          </a:p>
          <a:p>
            <a:pPr marL="457200" indent="-457200"/>
            <a:r>
              <a:rPr lang="en-US" altLang="zh-CN" b="1" dirty="0">
                <a:ea typeface="楷体_GB2312" pitchFamily="49" charset="-122"/>
              </a:rPr>
              <a:t>{</a:t>
            </a:r>
          </a:p>
          <a:p>
            <a:pPr marL="457200" indent="-457200"/>
            <a:r>
              <a:rPr lang="en-US" altLang="zh-CN" b="1" dirty="0">
                <a:ea typeface="楷体_GB2312" pitchFamily="49" charset="-122"/>
              </a:rPr>
              <a:t>  </a:t>
            </a:r>
            <a:r>
              <a:rPr lang="en-US" altLang="zh-CN" b="1" dirty="0" err="1">
                <a:ea typeface="楷体_GB2312" pitchFamily="49" charset="-122"/>
              </a:rPr>
              <a:t>printf</a:t>
            </a:r>
            <a:r>
              <a:rPr lang="en-US" altLang="zh-CN" b="1" dirty="0">
                <a:ea typeface="楷体_GB2312" pitchFamily="49" charset="-122"/>
              </a:rPr>
              <a:t> ("%d\n", 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  <a:ea typeface="楷体_GB2312" pitchFamily="49" charset="-122"/>
              </a:rPr>
              <a:t>z</a:t>
            </a:r>
            <a:r>
              <a:rPr lang="en-US" altLang="zh-CN" b="1" dirty="0">
                <a:ea typeface="楷体_GB2312" pitchFamily="49" charset="-122"/>
              </a:rPr>
              <a:t> );</a:t>
            </a:r>
          </a:p>
          <a:p>
            <a:pPr marL="457200" indent="-457200"/>
            <a:r>
              <a:rPr lang="en-US" altLang="zh-CN" b="1" dirty="0">
                <a:ea typeface="楷体_GB2312" pitchFamily="49" charset="-122"/>
              </a:rPr>
              <a:t>}</a:t>
            </a:r>
          </a:p>
        </p:txBody>
      </p:sp>
      <p:sp>
        <p:nvSpPr>
          <p:cNvPr id="1062923" name="Oval 11"/>
          <p:cNvSpPr>
            <a:spLocks noChangeArrowheads="1"/>
          </p:cNvSpPr>
          <p:nvPr/>
        </p:nvSpPr>
        <p:spPr bwMode="auto">
          <a:xfrm>
            <a:off x="3774339" y="1754743"/>
            <a:ext cx="1482725" cy="460375"/>
          </a:xfrm>
          <a:prstGeom prst="ellipse">
            <a:avLst/>
          </a:prstGeom>
          <a:noFill/>
          <a:ln w="28575">
            <a:solidFill>
              <a:srgbClr val="C0192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2924" name="Oval 12"/>
          <p:cNvSpPr>
            <a:spLocks noChangeArrowheads="1"/>
          </p:cNvSpPr>
          <p:nvPr/>
        </p:nvSpPr>
        <p:spPr bwMode="auto">
          <a:xfrm>
            <a:off x="2933700" y="2533139"/>
            <a:ext cx="936625" cy="431800"/>
          </a:xfrm>
          <a:prstGeom prst="ellipse">
            <a:avLst/>
          </a:prstGeom>
          <a:noFill/>
          <a:ln w="28575">
            <a:solidFill>
              <a:srgbClr val="C0192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062934" name="Group 22"/>
          <p:cNvGrpSpPr>
            <a:grpSpLocks/>
          </p:cNvGrpSpPr>
          <p:nvPr/>
        </p:nvGrpSpPr>
        <p:grpSpPr bwMode="auto">
          <a:xfrm>
            <a:off x="3827462" y="1885439"/>
            <a:ext cx="4464050" cy="792162"/>
            <a:chOff x="1383" y="1661"/>
            <a:chExt cx="2812" cy="499"/>
          </a:xfrm>
        </p:grpSpPr>
        <p:sp>
          <p:nvSpPr>
            <p:cNvPr id="1062926" name="AutoShape 14"/>
            <p:cNvSpPr>
              <a:spLocks/>
            </p:cNvSpPr>
            <p:nvPr/>
          </p:nvSpPr>
          <p:spPr bwMode="auto">
            <a:xfrm>
              <a:off x="3198" y="1661"/>
              <a:ext cx="997" cy="227"/>
            </a:xfrm>
            <a:prstGeom prst="borderCallout2">
              <a:avLst>
                <a:gd name="adj1" fmla="val 31718"/>
                <a:gd name="adj2" fmla="val -4815"/>
                <a:gd name="adj3" fmla="val 31718"/>
                <a:gd name="adj4" fmla="val -55565"/>
                <a:gd name="adj5" fmla="val 85023"/>
                <a:gd name="adj6" fmla="val -107824"/>
              </a:avLst>
            </a:prstGeom>
            <a:gradFill rotWithShape="1">
              <a:gsLst>
                <a:gs pos="0">
                  <a:srgbClr val="CFCFD1"/>
                </a:gs>
                <a:gs pos="100000">
                  <a:schemeClr val="bg1"/>
                </a:gs>
              </a:gsLst>
              <a:lin ang="5400000" scaled="1"/>
            </a:gradFill>
            <a:ln w="19050">
              <a:solidFill>
                <a:srgbClr val="C01920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</p:spPr>
          <p:txBody>
            <a:bodyPr/>
            <a:lstStyle/>
            <a:p>
              <a:pPr algn="ctr"/>
              <a:r>
                <a:rPr lang="zh-CN" altLang="en-US" sz="1800" b="1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局部变量</a:t>
              </a:r>
              <a:r>
                <a:rPr lang="zh-CN" altLang="en-US" sz="180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 </a:t>
              </a:r>
            </a:p>
          </p:txBody>
        </p:sp>
        <p:sp>
          <p:nvSpPr>
            <p:cNvPr id="1062927" name="Line 15"/>
            <p:cNvSpPr>
              <a:spLocks noChangeShapeType="1"/>
            </p:cNvSpPr>
            <p:nvPr/>
          </p:nvSpPr>
          <p:spPr bwMode="auto">
            <a:xfrm flipV="1">
              <a:off x="1383" y="1842"/>
              <a:ext cx="1815" cy="318"/>
            </a:xfrm>
            <a:prstGeom prst="line">
              <a:avLst/>
            </a:prstGeom>
            <a:noFill/>
            <a:ln w="19050">
              <a:solidFill>
                <a:srgbClr val="C01920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/>
            <a:lstStyle/>
            <a:p>
              <a:endParaRPr lang="zh-CN" altLang="en-US">
                <a:latin typeface="+mn-lt"/>
                <a:ea typeface="楷体" pitchFamily="49" charset="-122"/>
              </a:endParaRPr>
            </a:p>
          </p:txBody>
        </p:sp>
      </p:grpSp>
      <p:grpSp>
        <p:nvGrpSpPr>
          <p:cNvPr id="1062935" name="Group 23"/>
          <p:cNvGrpSpPr>
            <a:grpSpLocks/>
          </p:cNvGrpSpPr>
          <p:nvPr/>
        </p:nvGrpSpPr>
        <p:grpSpPr bwMode="auto">
          <a:xfrm>
            <a:off x="5556250" y="1885440"/>
            <a:ext cx="1858963" cy="2016125"/>
            <a:chOff x="2472" y="1661"/>
            <a:chExt cx="1171" cy="1270"/>
          </a:xfrm>
        </p:grpSpPr>
        <p:sp>
          <p:nvSpPr>
            <p:cNvPr id="1062928" name="AutoShape 16"/>
            <p:cNvSpPr>
              <a:spLocks/>
            </p:cNvSpPr>
            <p:nvPr/>
          </p:nvSpPr>
          <p:spPr bwMode="auto">
            <a:xfrm>
              <a:off x="2472" y="1661"/>
              <a:ext cx="136" cy="1270"/>
            </a:xfrm>
            <a:prstGeom prst="rightBrace">
              <a:avLst>
                <a:gd name="adj1" fmla="val 77819"/>
                <a:gd name="adj2" fmla="val 50000"/>
              </a:avLst>
            </a:prstGeom>
            <a:noFill/>
            <a:ln w="28575">
              <a:solidFill>
                <a:srgbClr val="002060"/>
              </a:solidFill>
              <a:round/>
              <a:headEnd/>
              <a:tailEnd/>
            </a:ln>
            <a:effectLst>
              <a:outerShdw dist="35921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zh-CN" altLang="en-US">
                <a:latin typeface="+mn-lt"/>
                <a:ea typeface="楷体" pitchFamily="49" charset="-122"/>
              </a:endParaRPr>
            </a:p>
          </p:txBody>
        </p:sp>
        <p:sp>
          <p:nvSpPr>
            <p:cNvPr id="1062929" name="Text Box 17"/>
            <p:cNvSpPr txBox="1">
              <a:spLocks noChangeArrowheads="1"/>
            </p:cNvSpPr>
            <p:nvPr/>
          </p:nvSpPr>
          <p:spPr bwMode="auto">
            <a:xfrm>
              <a:off x="2600" y="2097"/>
              <a:ext cx="1043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变量</a:t>
              </a:r>
              <a:r>
                <a:rPr lang="en-US" altLang="zh-CN" sz="20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x</a:t>
              </a:r>
              <a:r>
                <a:rPr lang="zh-CN" altLang="en-US" sz="20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、</a:t>
              </a:r>
              <a:r>
                <a:rPr lang="en-US" altLang="zh-CN" sz="20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y</a:t>
              </a:r>
              <a:r>
                <a:rPr lang="zh-CN" altLang="en-US" sz="20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、</a:t>
              </a:r>
              <a:r>
                <a:rPr lang="en-US" altLang="zh-CN" sz="20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z</a:t>
              </a:r>
              <a:r>
                <a:rPr lang="zh-CN" altLang="en-US" sz="20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的作用域</a:t>
              </a:r>
            </a:p>
          </p:txBody>
        </p:sp>
      </p:grpSp>
      <p:sp>
        <p:nvSpPr>
          <p:cNvPr id="1062930" name="Oval 18"/>
          <p:cNvSpPr>
            <a:spLocks noChangeArrowheads="1"/>
          </p:cNvSpPr>
          <p:nvPr/>
        </p:nvSpPr>
        <p:spPr bwMode="auto">
          <a:xfrm>
            <a:off x="5153024" y="5125527"/>
            <a:ext cx="287338" cy="360363"/>
          </a:xfrm>
          <a:prstGeom prst="ellipse">
            <a:avLst/>
          </a:prstGeom>
          <a:noFill/>
          <a:ln w="28575">
            <a:solidFill>
              <a:srgbClr val="C0192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062933" name="Group 21"/>
          <p:cNvGrpSpPr>
            <a:grpSpLocks/>
          </p:cNvGrpSpPr>
          <p:nvPr/>
        </p:nvGrpSpPr>
        <p:grpSpPr bwMode="auto">
          <a:xfrm>
            <a:off x="5340350" y="3830127"/>
            <a:ext cx="3457575" cy="1368425"/>
            <a:chOff x="2336" y="2886"/>
            <a:chExt cx="2178" cy="862"/>
          </a:xfrm>
        </p:grpSpPr>
        <p:sp>
          <p:nvSpPr>
            <p:cNvPr id="1062931" name="AutoShape 19"/>
            <p:cNvSpPr>
              <a:spLocks noChangeArrowheads="1"/>
            </p:cNvSpPr>
            <p:nvPr/>
          </p:nvSpPr>
          <p:spPr bwMode="auto">
            <a:xfrm>
              <a:off x="2699" y="2886"/>
              <a:ext cx="1815" cy="862"/>
            </a:xfrm>
            <a:prstGeom prst="irregularSeal1">
              <a:avLst/>
            </a:prstGeom>
            <a:gradFill rotWithShape="1">
              <a:gsLst>
                <a:gs pos="0">
                  <a:srgbClr val="CFCFD1"/>
                </a:gs>
                <a:gs pos="100000">
                  <a:schemeClr val="bg1"/>
                </a:gs>
              </a:gsLst>
              <a:lin ang="5400000" scaled="1"/>
            </a:gradFill>
            <a:ln w="28575">
              <a:solidFill>
                <a:srgbClr val="C01920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</p:spPr>
          <p:txBody>
            <a:bodyPr wrap="none" anchor="ctr"/>
            <a:lstStyle/>
            <a:p>
              <a:pPr algn="ctr"/>
              <a:r>
                <a:rPr lang="zh-CN" altLang="en-US" b="1">
                  <a:solidFill>
                    <a:srgbClr val="CC0000"/>
                  </a:solidFill>
                  <a:latin typeface="+mn-lt"/>
                  <a:ea typeface="楷体" pitchFamily="49" charset="-122"/>
                </a:rPr>
                <a:t>引用错误！</a:t>
              </a:r>
            </a:p>
          </p:txBody>
        </p:sp>
        <p:sp>
          <p:nvSpPr>
            <p:cNvPr id="1062932" name="Line 20"/>
            <p:cNvSpPr>
              <a:spLocks noChangeShapeType="1"/>
            </p:cNvSpPr>
            <p:nvPr/>
          </p:nvSpPr>
          <p:spPr bwMode="auto">
            <a:xfrm flipV="1">
              <a:off x="2336" y="3475"/>
              <a:ext cx="408" cy="227"/>
            </a:xfrm>
            <a:prstGeom prst="line">
              <a:avLst/>
            </a:prstGeom>
            <a:noFill/>
            <a:ln w="28575">
              <a:solidFill>
                <a:srgbClr val="C01920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/>
            <a:lstStyle/>
            <a:p>
              <a:endParaRPr lang="zh-CN" altLang="en-US">
                <a:latin typeface="+mn-lt"/>
                <a:ea typeface="楷体" pitchFamily="49" charset="-122"/>
              </a:endParaRPr>
            </a:p>
          </p:txBody>
        </p:sp>
      </p:grpSp>
      <p:sp>
        <p:nvSpPr>
          <p:cNvPr id="20" name="Rectangle 4">
            <a:extLst>
              <a:ext uri="{FF2B5EF4-FFF2-40B4-BE49-F238E27FC236}">
                <a16:creationId xmlns:a16="http://schemas.microsoft.com/office/drawing/2014/main" id="{4B9295C0-6EBC-4E24-9B00-955BA298F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8.4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变量的作用域和生存期 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629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629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629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629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0629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629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629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10629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629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629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10629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6" dur="500"/>
                                        <p:tgtEl>
                                          <p:spTgt spid="10629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1" dur="500"/>
                                        <p:tgtEl>
                                          <p:spTgt spid="10629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5" dur="500"/>
                                        <p:tgtEl>
                                          <p:spTgt spid="10629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9" dur="500"/>
                                        <p:tgtEl>
                                          <p:spTgt spid="10629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4" dur="500"/>
                                        <p:tgtEl>
                                          <p:spTgt spid="10629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9" dur="500"/>
                                        <p:tgtEl>
                                          <p:spTgt spid="10629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3" dur="500"/>
                                        <p:tgtEl>
                                          <p:spTgt spid="10629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2915" grpId="0"/>
      <p:bldP spid="1062922" grpId="0" animBg="1"/>
      <p:bldP spid="1062923" grpId="0" animBg="1"/>
      <p:bldP spid="1062924" grpId="0" animBg="1"/>
      <p:bldP spid="106293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3" name="Rectangle 23"/>
          <p:cNvSpPr>
            <a:spLocks noChangeArrowheads="1"/>
          </p:cNvSpPr>
          <p:nvPr/>
        </p:nvSpPr>
        <p:spPr bwMode="auto">
          <a:xfrm>
            <a:off x="1199456" y="1599183"/>
            <a:ext cx="11256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Clr>
                <a:srgbClr val="C01920"/>
              </a:buClr>
              <a:buFont typeface="Wingdings" pitchFamily="2" charset="2"/>
              <a:buChar char="Ø"/>
            </a:pPr>
            <a:r>
              <a:rPr lang="en-US" altLang="zh-CN" dirty="0">
                <a:solidFill>
                  <a:srgbClr val="C01920"/>
                </a:solidFill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说明</a:t>
            </a:r>
          </a:p>
        </p:txBody>
      </p:sp>
      <p:sp>
        <p:nvSpPr>
          <p:cNvPr id="1064984" name="Rectangle 24"/>
          <p:cNvSpPr>
            <a:spLocks noChangeArrowheads="1"/>
          </p:cNvSpPr>
          <p:nvPr/>
        </p:nvSpPr>
        <p:spPr bwMode="auto">
          <a:xfrm>
            <a:off x="566698" y="2309971"/>
            <a:ext cx="1107391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tabLst>
                <a:tab pos="457200" algn="l"/>
              </a:tabLst>
            </a:pPr>
            <a:r>
              <a:rPr lang="en-US" altLang="zh-CN" b="1" dirty="0">
                <a:latin typeface="+mn-lt"/>
                <a:ea typeface="楷体" pitchFamily="49" charset="-122"/>
              </a:rPr>
              <a:t>        (1)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主函数</a:t>
            </a: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main( )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中定义的变量也是局部变量</a:t>
            </a:r>
            <a:r>
              <a:rPr lang="zh-CN" altLang="en-US" b="1" dirty="0">
                <a:latin typeface="+mn-lt"/>
                <a:ea typeface="楷体" pitchFamily="49" charset="-122"/>
              </a:rPr>
              <a:t>，它只能在主函数中使用，其它函数不能使用。同时，主函数中也不能使用其它函数中定义的局部变量。</a:t>
            </a:r>
            <a:r>
              <a:rPr lang="zh-CN" altLang="en-US" dirty="0"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064985" name="Rectangle 25" descr="信纸"/>
          <p:cNvSpPr>
            <a:spLocks noChangeArrowheads="1"/>
          </p:cNvSpPr>
          <p:nvPr/>
        </p:nvSpPr>
        <p:spPr bwMode="auto">
          <a:xfrm>
            <a:off x="2856309" y="1586671"/>
            <a:ext cx="6696075" cy="5262979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marL="457200" indent="-457200"/>
            <a:r>
              <a:rPr lang="en-US" altLang="zh-CN" b="1" dirty="0" err="1">
                <a:ea typeface="楷体_GB2312" pitchFamily="49" charset="-122"/>
              </a:rPr>
              <a:t>int</a:t>
            </a:r>
            <a:r>
              <a:rPr lang="en-US" altLang="zh-CN" b="1" dirty="0">
                <a:ea typeface="楷体_GB2312" pitchFamily="49" charset="-122"/>
              </a:rPr>
              <a:t> f3 (</a:t>
            </a:r>
            <a:r>
              <a:rPr lang="en-US" altLang="zh-CN" b="1" dirty="0" err="1">
                <a:ea typeface="楷体_GB2312" pitchFamily="49" charset="-122"/>
              </a:rPr>
              <a:t>int</a:t>
            </a:r>
            <a:r>
              <a:rPr lang="en-US" altLang="zh-CN" b="1" dirty="0">
                <a:ea typeface="楷体_GB2312" pitchFamily="49" charset="-122"/>
              </a:rPr>
              <a:t> x);</a:t>
            </a:r>
          </a:p>
          <a:p>
            <a:pPr marL="457200" indent="-457200"/>
            <a:r>
              <a:rPr lang="en-US" altLang="zh-CN" b="1" dirty="0" err="1">
                <a:solidFill>
                  <a:srgbClr val="CC0099"/>
                </a:solidFill>
                <a:ea typeface="楷体_GB2312" pitchFamily="49" charset="-122"/>
              </a:rPr>
              <a:t>int</a:t>
            </a:r>
            <a:r>
              <a:rPr lang="en-US" altLang="zh-CN" b="1" dirty="0">
                <a:solidFill>
                  <a:srgbClr val="CC0099"/>
                </a:solidFill>
                <a:ea typeface="楷体_GB2312" pitchFamily="49" charset="-122"/>
              </a:rPr>
              <a:t> main ( )</a:t>
            </a:r>
          </a:p>
          <a:p>
            <a:pPr marL="457200" indent="-457200"/>
            <a:r>
              <a:rPr lang="en-US" altLang="zh-CN" b="1" dirty="0">
                <a:ea typeface="楷体_GB2312" pitchFamily="49" charset="-122"/>
              </a:rPr>
              <a:t>{</a:t>
            </a:r>
          </a:p>
          <a:p>
            <a:pPr marL="457200" indent="-457200"/>
            <a:r>
              <a:rPr lang="en-US" altLang="zh-CN" b="1" dirty="0">
                <a:ea typeface="楷体_GB2312" pitchFamily="49" charset="-122"/>
              </a:rPr>
              <a:t>  </a:t>
            </a:r>
            <a:r>
              <a:rPr lang="en-US" altLang="zh-CN" b="1" dirty="0" err="1">
                <a:ea typeface="楷体_GB2312" pitchFamily="49" charset="-122"/>
              </a:rPr>
              <a:t>int</a:t>
            </a:r>
            <a:r>
              <a:rPr lang="en-US" altLang="zh-CN" b="1" dirty="0">
                <a:ea typeface="楷体_GB2312" pitchFamily="49" charset="-122"/>
              </a:rPr>
              <a:t> 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  <a:ea typeface="楷体_GB2312" pitchFamily="49" charset="-122"/>
              </a:rPr>
              <a:t>a</a:t>
            </a:r>
            <a:r>
              <a:rPr lang="en-US" altLang="zh-CN" b="1" dirty="0">
                <a:ea typeface="楷体_GB2312" pitchFamily="49" charset="-122"/>
              </a:rPr>
              <a:t> = 2, 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  <a:ea typeface="楷体_GB2312" pitchFamily="49" charset="-122"/>
              </a:rPr>
              <a:t>b</a:t>
            </a:r>
            <a:r>
              <a:rPr lang="en-US" altLang="zh-CN" b="1" dirty="0">
                <a:ea typeface="楷体_GB2312" pitchFamily="49" charset="-122"/>
              </a:rPr>
              <a:t>;</a:t>
            </a:r>
          </a:p>
          <a:p>
            <a:pPr marL="457200" indent="-457200"/>
            <a:r>
              <a:rPr lang="en-US" altLang="zh-CN" b="1" dirty="0">
                <a:ea typeface="楷体_GB2312" pitchFamily="49" charset="-122"/>
              </a:rPr>
              <a:t>  b = a + y ;  </a:t>
            </a:r>
          </a:p>
          <a:p>
            <a:pPr marL="457200" indent="-457200"/>
            <a:r>
              <a:rPr lang="en-US" altLang="zh-CN" b="1" dirty="0">
                <a:ea typeface="楷体_GB2312" pitchFamily="49" charset="-122"/>
              </a:rPr>
              <a:t>  </a:t>
            </a:r>
            <a:r>
              <a:rPr lang="en-US" altLang="zh-CN" b="1" dirty="0" err="1">
                <a:ea typeface="楷体_GB2312" pitchFamily="49" charset="-122"/>
              </a:rPr>
              <a:t>printf</a:t>
            </a:r>
            <a:r>
              <a:rPr lang="en-US" altLang="zh-CN" b="1" dirty="0">
                <a:ea typeface="楷体_GB2312" pitchFamily="49" charset="-122"/>
              </a:rPr>
              <a:t> ("%d\n", b);</a:t>
            </a:r>
          </a:p>
          <a:p>
            <a:pPr marL="457200" indent="-457200"/>
            <a:r>
              <a:rPr lang="en-US" altLang="zh-CN" b="1" dirty="0">
                <a:ea typeface="楷体_GB2312" pitchFamily="49" charset="-122"/>
              </a:rPr>
              <a:t>  return 0; </a:t>
            </a:r>
          </a:p>
          <a:p>
            <a:pPr marL="457200" indent="-457200"/>
            <a:r>
              <a:rPr lang="en-US" altLang="zh-CN" b="1" dirty="0">
                <a:ea typeface="楷体_GB2312" pitchFamily="49" charset="-122"/>
              </a:rPr>
              <a:t>}</a:t>
            </a:r>
          </a:p>
          <a:p>
            <a:pPr marL="457200" indent="-457200"/>
            <a:r>
              <a:rPr lang="en-US" altLang="zh-CN" b="1" dirty="0" err="1">
                <a:solidFill>
                  <a:srgbClr val="C00000"/>
                </a:solidFill>
                <a:ea typeface="楷体_GB2312" pitchFamily="49" charset="-122"/>
              </a:rPr>
              <a:t>int</a:t>
            </a:r>
            <a:r>
              <a:rPr lang="en-US" altLang="zh-CN" b="1" dirty="0">
                <a:solidFill>
                  <a:srgbClr val="C00000"/>
                </a:solidFill>
                <a:ea typeface="楷体_GB2312" pitchFamily="49" charset="-122"/>
              </a:rPr>
              <a:t> f3 ( </a:t>
            </a:r>
            <a:r>
              <a:rPr lang="en-US" altLang="zh-CN" b="1" dirty="0" err="1">
                <a:solidFill>
                  <a:srgbClr val="C00000"/>
                </a:solidFill>
                <a:ea typeface="楷体_GB2312" pitchFamily="49" charset="-122"/>
              </a:rPr>
              <a:t>int</a:t>
            </a:r>
            <a:r>
              <a:rPr lang="en-US" altLang="zh-CN" b="1" dirty="0">
                <a:solidFill>
                  <a:srgbClr val="C00000"/>
                </a:solidFill>
                <a:ea typeface="楷体_GB2312" pitchFamily="49" charset="-122"/>
              </a:rPr>
              <a:t> 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  <a:ea typeface="楷体_GB2312" pitchFamily="49" charset="-122"/>
              </a:rPr>
              <a:t>x </a:t>
            </a:r>
            <a:r>
              <a:rPr lang="en-US" altLang="zh-CN" b="1" dirty="0">
                <a:solidFill>
                  <a:srgbClr val="C00000"/>
                </a:solidFill>
                <a:ea typeface="楷体_GB2312" pitchFamily="49" charset="-122"/>
              </a:rPr>
              <a:t>)</a:t>
            </a:r>
          </a:p>
          <a:p>
            <a:pPr marL="457200" indent="-457200"/>
            <a:r>
              <a:rPr lang="en-US" altLang="zh-CN" b="1" dirty="0">
                <a:ea typeface="楷体_GB2312" pitchFamily="49" charset="-122"/>
              </a:rPr>
              <a:t>{</a:t>
            </a:r>
          </a:p>
          <a:p>
            <a:pPr marL="457200" indent="-457200"/>
            <a:r>
              <a:rPr lang="en-US" altLang="zh-CN" b="1" dirty="0">
                <a:ea typeface="楷体_GB2312" pitchFamily="49" charset="-122"/>
              </a:rPr>
              <a:t>  </a:t>
            </a:r>
            <a:r>
              <a:rPr lang="en-US" altLang="zh-CN" b="1" dirty="0" err="1">
                <a:ea typeface="楷体_GB2312" pitchFamily="49" charset="-122"/>
              </a:rPr>
              <a:t>int</a:t>
            </a:r>
            <a:r>
              <a:rPr lang="en-US" altLang="zh-CN" b="1" dirty="0">
                <a:ea typeface="楷体_GB2312" pitchFamily="49" charset="-122"/>
              </a:rPr>
              <a:t> 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  <a:ea typeface="楷体_GB2312" pitchFamily="49" charset="-122"/>
              </a:rPr>
              <a:t>y</a:t>
            </a:r>
            <a:r>
              <a:rPr lang="en-US" altLang="zh-CN" b="1" dirty="0">
                <a:ea typeface="楷体_GB2312" pitchFamily="49" charset="-122"/>
              </a:rPr>
              <a:t>;</a:t>
            </a:r>
          </a:p>
          <a:p>
            <a:pPr marL="457200" indent="-457200"/>
            <a:r>
              <a:rPr lang="en-US" altLang="zh-CN" b="1" dirty="0">
                <a:ea typeface="楷体_GB2312" pitchFamily="49" charset="-122"/>
              </a:rPr>
              <a:t>  y = a + 5;  </a:t>
            </a:r>
          </a:p>
          <a:p>
            <a:pPr marL="457200" indent="-457200"/>
            <a:r>
              <a:rPr lang="en-US" altLang="zh-CN" b="1" dirty="0">
                <a:ea typeface="楷体_GB2312" pitchFamily="49" charset="-122"/>
              </a:rPr>
              <a:t>  return ( y );</a:t>
            </a:r>
          </a:p>
          <a:p>
            <a:pPr marL="457200" indent="-457200"/>
            <a:r>
              <a:rPr lang="en-US" altLang="zh-CN" b="1" dirty="0">
                <a:ea typeface="楷体_GB2312" pitchFamily="49" charset="-122"/>
              </a:rPr>
              <a:t>}</a:t>
            </a:r>
          </a:p>
        </p:txBody>
      </p:sp>
      <p:sp>
        <p:nvSpPr>
          <p:cNvPr id="1064987" name="Rectangle 27"/>
          <p:cNvSpPr>
            <a:spLocks noChangeArrowheads="1"/>
          </p:cNvSpPr>
          <p:nvPr/>
        </p:nvSpPr>
        <p:spPr bwMode="auto">
          <a:xfrm>
            <a:off x="3072209" y="2778883"/>
            <a:ext cx="1584325" cy="346075"/>
          </a:xfrm>
          <a:prstGeom prst="rect">
            <a:avLst/>
          </a:prstGeom>
          <a:noFill/>
          <a:ln w="28575">
            <a:solidFill>
              <a:srgbClr val="C0192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4989" name="AutoShape 29"/>
          <p:cNvSpPr>
            <a:spLocks/>
          </p:cNvSpPr>
          <p:nvPr/>
        </p:nvSpPr>
        <p:spPr bwMode="auto">
          <a:xfrm>
            <a:off x="6529784" y="1886708"/>
            <a:ext cx="1582737" cy="360363"/>
          </a:xfrm>
          <a:prstGeom prst="borderCallout2">
            <a:avLst>
              <a:gd name="adj1" fmla="val 31718"/>
              <a:gd name="adj2" fmla="val -4815"/>
              <a:gd name="adj3" fmla="val 31718"/>
              <a:gd name="adj4" fmla="val -79741"/>
              <a:gd name="adj5" fmla="val 246255"/>
              <a:gd name="adj6" fmla="val -156972"/>
            </a:avLst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pPr algn="ctr"/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局部变量</a:t>
            </a:r>
            <a:r>
              <a:rPr lang="zh-CN" altLang="en-US" sz="1800" dirty="0">
                <a:solidFill>
                  <a:srgbClr val="002060"/>
                </a:solidFill>
                <a:latin typeface="+mn-lt"/>
                <a:ea typeface="楷体" pitchFamily="49" charset="-122"/>
              </a:rPr>
              <a:t> </a:t>
            </a:r>
          </a:p>
        </p:txBody>
      </p:sp>
      <p:grpSp>
        <p:nvGrpSpPr>
          <p:cNvPr id="1065002" name="Group 42"/>
          <p:cNvGrpSpPr>
            <a:grpSpLocks/>
          </p:cNvGrpSpPr>
          <p:nvPr/>
        </p:nvGrpSpPr>
        <p:grpSpPr bwMode="auto">
          <a:xfrm>
            <a:off x="6123383" y="2232783"/>
            <a:ext cx="1682750" cy="1857375"/>
            <a:chOff x="2336" y="1516"/>
            <a:chExt cx="1060" cy="1170"/>
          </a:xfrm>
        </p:grpSpPr>
        <p:sp>
          <p:nvSpPr>
            <p:cNvPr id="1065000" name="AutoShape 40"/>
            <p:cNvSpPr>
              <a:spLocks/>
            </p:cNvSpPr>
            <p:nvPr/>
          </p:nvSpPr>
          <p:spPr bwMode="auto">
            <a:xfrm>
              <a:off x="2336" y="1516"/>
              <a:ext cx="181" cy="1170"/>
            </a:xfrm>
            <a:prstGeom prst="rightBrace">
              <a:avLst>
                <a:gd name="adj1" fmla="val 53867"/>
                <a:gd name="adj2" fmla="val 50000"/>
              </a:avLst>
            </a:prstGeom>
            <a:noFill/>
            <a:ln w="28575">
              <a:solidFill>
                <a:srgbClr val="002060"/>
              </a:solidFill>
              <a:round/>
              <a:headEnd/>
              <a:tailEnd/>
            </a:ln>
            <a:effectLst>
              <a:outerShdw dist="35921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楷体" pitchFamily="49" charset="-122"/>
              </a:endParaRPr>
            </a:p>
          </p:txBody>
        </p:sp>
        <p:sp>
          <p:nvSpPr>
            <p:cNvPr id="1065001" name="Text Box 41"/>
            <p:cNvSpPr txBox="1">
              <a:spLocks noChangeArrowheads="1"/>
            </p:cNvSpPr>
            <p:nvPr/>
          </p:nvSpPr>
          <p:spPr bwMode="auto">
            <a:xfrm>
              <a:off x="2525" y="1871"/>
              <a:ext cx="871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变量</a:t>
              </a:r>
              <a:r>
                <a:rPr lang="en-US" altLang="zh-CN" sz="2000" b="1" dirty="0">
                  <a:solidFill>
                    <a:schemeClr val="accent1">
                      <a:lumMod val="50000"/>
                    </a:schemeClr>
                  </a:solidFill>
                  <a:latin typeface="+mn-lt"/>
                  <a:ea typeface="楷体" pitchFamily="49" charset="-122"/>
                </a:rPr>
                <a:t>a</a:t>
              </a:r>
              <a:r>
                <a:rPr lang="zh-CN" altLang="en-US" sz="2000" b="1" dirty="0">
                  <a:solidFill>
                    <a:schemeClr val="accent1">
                      <a:lumMod val="50000"/>
                    </a:schemeClr>
                  </a:solidFill>
                  <a:latin typeface="+mn-lt"/>
                  <a:ea typeface="楷体" pitchFamily="49" charset="-122"/>
                </a:rPr>
                <a:t>、</a:t>
              </a:r>
              <a:r>
                <a:rPr lang="en-US" altLang="zh-CN" sz="2000" b="1" dirty="0">
                  <a:solidFill>
                    <a:schemeClr val="accent1">
                      <a:lumMod val="50000"/>
                    </a:schemeClr>
                  </a:solidFill>
                  <a:latin typeface="+mn-lt"/>
                  <a:ea typeface="楷体" pitchFamily="49" charset="-122"/>
                </a:rPr>
                <a:t>b</a:t>
              </a:r>
              <a:r>
                <a:rPr lang="zh-CN" altLang="en-US" sz="20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的作用域</a:t>
              </a:r>
            </a:p>
          </p:txBody>
        </p:sp>
      </p:grpSp>
      <p:grpSp>
        <p:nvGrpSpPr>
          <p:cNvPr id="1065003" name="Group 43"/>
          <p:cNvGrpSpPr>
            <a:grpSpLocks/>
          </p:cNvGrpSpPr>
          <p:nvPr/>
        </p:nvGrpSpPr>
        <p:grpSpPr bwMode="auto">
          <a:xfrm>
            <a:off x="6107941" y="4773686"/>
            <a:ext cx="1682750" cy="1857375"/>
            <a:chOff x="2336" y="1516"/>
            <a:chExt cx="1060" cy="1170"/>
          </a:xfrm>
        </p:grpSpPr>
        <p:sp>
          <p:nvSpPr>
            <p:cNvPr id="1065004" name="AutoShape 44"/>
            <p:cNvSpPr>
              <a:spLocks/>
            </p:cNvSpPr>
            <p:nvPr/>
          </p:nvSpPr>
          <p:spPr bwMode="auto">
            <a:xfrm>
              <a:off x="2336" y="1516"/>
              <a:ext cx="181" cy="1170"/>
            </a:xfrm>
            <a:prstGeom prst="rightBrace">
              <a:avLst>
                <a:gd name="adj1" fmla="val 53867"/>
                <a:gd name="adj2" fmla="val 50000"/>
              </a:avLst>
            </a:prstGeom>
            <a:noFill/>
            <a:ln w="28575">
              <a:solidFill>
                <a:srgbClr val="002060"/>
              </a:solidFill>
              <a:round/>
              <a:headEnd/>
              <a:tailEnd/>
            </a:ln>
            <a:effectLst>
              <a:outerShdw dist="35921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楷体" pitchFamily="49" charset="-122"/>
              </a:endParaRPr>
            </a:p>
          </p:txBody>
        </p:sp>
        <p:sp>
          <p:nvSpPr>
            <p:cNvPr id="1065005" name="Text Box 45"/>
            <p:cNvSpPr txBox="1">
              <a:spLocks noChangeArrowheads="1"/>
            </p:cNvSpPr>
            <p:nvPr/>
          </p:nvSpPr>
          <p:spPr bwMode="auto">
            <a:xfrm>
              <a:off x="2525" y="1871"/>
              <a:ext cx="871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变量</a:t>
              </a:r>
              <a:r>
                <a:rPr lang="en-US" altLang="zh-CN" sz="2000" b="1" dirty="0">
                  <a:solidFill>
                    <a:schemeClr val="accent1">
                      <a:lumMod val="50000"/>
                    </a:schemeClr>
                  </a:solidFill>
                  <a:latin typeface="+mn-lt"/>
                  <a:ea typeface="楷体" pitchFamily="49" charset="-122"/>
                </a:rPr>
                <a:t>x</a:t>
              </a:r>
              <a:r>
                <a:rPr lang="zh-CN" altLang="en-US" sz="2000" b="1" dirty="0">
                  <a:solidFill>
                    <a:schemeClr val="accent1">
                      <a:lumMod val="50000"/>
                    </a:schemeClr>
                  </a:solidFill>
                  <a:latin typeface="+mn-lt"/>
                  <a:ea typeface="楷体" pitchFamily="49" charset="-122"/>
                </a:rPr>
                <a:t>、</a:t>
              </a:r>
              <a:r>
                <a:rPr lang="en-US" altLang="zh-CN" sz="2000" b="1" dirty="0">
                  <a:solidFill>
                    <a:schemeClr val="accent1">
                      <a:lumMod val="50000"/>
                    </a:schemeClr>
                  </a:solidFill>
                  <a:latin typeface="+mn-lt"/>
                  <a:ea typeface="楷体" pitchFamily="49" charset="-122"/>
                </a:rPr>
                <a:t>y</a:t>
              </a:r>
              <a:r>
                <a:rPr lang="zh-CN" altLang="en-US" sz="20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的作用域</a:t>
              </a:r>
            </a:p>
          </p:txBody>
        </p:sp>
      </p:grpSp>
      <p:sp>
        <p:nvSpPr>
          <p:cNvPr id="1065006" name="Oval 46"/>
          <p:cNvSpPr>
            <a:spLocks noChangeArrowheads="1"/>
          </p:cNvSpPr>
          <p:nvPr/>
        </p:nvSpPr>
        <p:spPr bwMode="auto">
          <a:xfrm>
            <a:off x="3821942" y="4587949"/>
            <a:ext cx="720725" cy="388937"/>
          </a:xfrm>
          <a:prstGeom prst="ellipse">
            <a:avLst/>
          </a:prstGeom>
          <a:noFill/>
          <a:ln w="28575">
            <a:solidFill>
              <a:srgbClr val="00206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007" name="Oval 47"/>
          <p:cNvSpPr>
            <a:spLocks noChangeArrowheads="1"/>
          </p:cNvSpPr>
          <p:nvPr/>
        </p:nvSpPr>
        <p:spPr bwMode="auto">
          <a:xfrm>
            <a:off x="3001205" y="5292798"/>
            <a:ext cx="865187" cy="419100"/>
          </a:xfrm>
          <a:prstGeom prst="ellipse">
            <a:avLst/>
          </a:prstGeom>
          <a:noFill/>
          <a:ln w="28575">
            <a:solidFill>
              <a:srgbClr val="00206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065024" name="Group 64"/>
          <p:cNvGrpSpPr>
            <a:grpSpLocks/>
          </p:cNvGrpSpPr>
          <p:nvPr/>
        </p:nvGrpSpPr>
        <p:grpSpPr bwMode="auto">
          <a:xfrm>
            <a:off x="4355342" y="4373636"/>
            <a:ext cx="3700463" cy="360363"/>
            <a:chOff x="1474" y="2642"/>
            <a:chExt cx="2331" cy="227"/>
          </a:xfrm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grpSpPr>
        <p:sp>
          <p:nvSpPr>
            <p:cNvPr id="1065008" name="AutoShape 48"/>
            <p:cNvSpPr>
              <a:spLocks/>
            </p:cNvSpPr>
            <p:nvPr/>
          </p:nvSpPr>
          <p:spPr bwMode="auto">
            <a:xfrm>
              <a:off x="2808" y="2642"/>
              <a:ext cx="997" cy="227"/>
            </a:xfrm>
            <a:prstGeom prst="borderCallout2">
              <a:avLst>
                <a:gd name="adj1" fmla="val 31718"/>
                <a:gd name="adj2" fmla="val -4815"/>
                <a:gd name="adj3" fmla="val 31718"/>
                <a:gd name="adj4" fmla="val -85356"/>
                <a:gd name="adj5" fmla="val 281500"/>
                <a:gd name="adj6" fmla="val -168204"/>
              </a:avLst>
            </a:prstGeom>
            <a:gradFill rotWithShape="1">
              <a:gsLst>
                <a:gs pos="0">
                  <a:srgbClr val="CFCFD1"/>
                </a:gs>
                <a:gs pos="100000">
                  <a:schemeClr val="bg1"/>
                </a:gs>
              </a:gsLst>
              <a:lin ang="5400000" scaled="1"/>
            </a:gradFill>
            <a:ln w="19050">
              <a:solidFill>
                <a:srgbClr val="00206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/>
            <a:lstStyle/>
            <a:p>
              <a:pPr algn="ctr"/>
              <a:r>
                <a:rPr lang="zh-CN" altLang="en-US" sz="1800" b="1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局部变量</a:t>
              </a:r>
              <a:r>
                <a:rPr lang="zh-CN" altLang="en-US" sz="180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 </a:t>
              </a:r>
            </a:p>
          </p:txBody>
        </p:sp>
        <p:sp>
          <p:nvSpPr>
            <p:cNvPr id="1065009" name="Line 49"/>
            <p:cNvSpPr>
              <a:spLocks noChangeShapeType="1"/>
            </p:cNvSpPr>
            <p:nvPr/>
          </p:nvSpPr>
          <p:spPr bwMode="auto">
            <a:xfrm>
              <a:off x="1474" y="2795"/>
              <a:ext cx="1306" cy="9"/>
            </a:xfrm>
            <a:prstGeom prst="line">
              <a:avLst/>
            </a:prstGeom>
            <a:noFill/>
            <a:ln w="19050">
              <a:solidFill>
                <a:srgbClr val="002060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/>
            <a:lstStyle/>
            <a:p>
              <a:endParaRPr lang="zh-CN" altLang="en-US">
                <a:latin typeface="+mn-lt"/>
                <a:ea typeface="楷体" pitchFamily="49" charset="-122"/>
              </a:endParaRPr>
            </a:p>
          </p:txBody>
        </p:sp>
      </p:grpSp>
      <p:sp>
        <p:nvSpPr>
          <p:cNvPr id="1065011" name="Oval 51"/>
          <p:cNvSpPr>
            <a:spLocks noChangeArrowheads="1"/>
          </p:cNvSpPr>
          <p:nvPr/>
        </p:nvSpPr>
        <p:spPr bwMode="auto">
          <a:xfrm>
            <a:off x="3994545" y="3150358"/>
            <a:ext cx="317500" cy="377825"/>
          </a:xfrm>
          <a:prstGeom prst="ellipse">
            <a:avLst/>
          </a:prstGeom>
          <a:noFill/>
          <a:ln w="28575">
            <a:solidFill>
              <a:srgbClr val="C0192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012" name="Oval 52"/>
          <p:cNvSpPr>
            <a:spLocks noChangeArrowheads="1"/>
          </p:cNvSpPr>
          <p:nvPr/>
        </p:nvSpPr>
        <p:spPr bwMode="auto">
          <a:xfrm>
            <a:off x="3505595" y="5674805"/>
            <a:ext cx="317500" cy="377825"/>
          </a:xfrm>
          <a:prstGeom prst="ellips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065022" name="Group 62"/>
          <p:cNvGrpSpPr>
            <a:grpSpLocks/>
          </p:cNvGrpSpPr>
          <p:nvPr/>
        </p:nvGrpSpPr>
        <p:grpSpPr bwMode="auto">
          <a:xfrm>
            <a:off x="4297758" y="2693158"/>
            <a:ext cx="1898650" cy="792163"/>
            <a:chOff x="1429" y="1806"/>
            <a:chExt cx="1196" cy="499"/>
          </a:xfrm>
        </p:grpSpPr>
        <p:sp>
          <p:nvSpPr>
            <p:cNvPr id="1065014" name="AutoShape 54"/>
            <p:cNvSpPr>
              <a:spLocks noChangeArrowheads="1"/>
            </p:cNvSpPr>
            <p:nvPr/>
          </p:nvSpPr>
          <p:spPr bwMode="auto">
            <a:xfrm>
              <a:off x="1718" y="1806"/>
              <a:ext cx="907" cy="499"/>
            </a:xfrm>
            <a:prstGeom prst="irregularSeal1">
              <a:avLst/>
            </a:prstGeom>
            <a:gradFill rotWithShape="1">
              <a:gsLst>
                <a:gs pos="0">
                  <a:srgbClr val="CFCFD1"/>
                </a:gs>
                <a:gs pos="100000">
                  <a:schemeClr val="bg1"/>
                </a:gs>
              </a:gsLst>
              <a:lin ang="5400000" scaled="1"/>
            </a:gradFill>
            <a:ln w="28575">
              <a:solidFill>
                <a:srgbClr val="C01920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</p:spPr>
          <p:txBody>
            <a:bodyPr wrap="none" anchor="ctr"/>
            <a:lstStyle/>
            <a:p>
              <a:pPr algn="ctr"/>
              <a:r>
                <a:rPr lang="zh-CN" altLang="en-US" sz="2000" b="1" dirty="0">
                  <a:solidFill>
                    <a:srgbClr val="CC0000"/>
                  </a:solidFill>
                  <a:latin typeface="+mn-lt"/>
                  <a:ea typeface="楷体" pitchFamily="49" charset="-122"/>
                </a:rPr>
                <a:t>错误！</a:t>
              </a:r>
            </a:p>
          </p:txBody>
        </p:sp>
        <p:sp>
          <p:nvSpPr>
            <p:cNvPr id="1065017" name="Line 57"/>
            <p:cNvSpPr>
              <a:spLocks noChangeShapeType="1"/>
            </p:cNvSpPr>
            <p:nvPr/>
          </p:nvSpPr>
          <p:spPr bwMode="auto">
            <a:xfrm flipV="1">
              <a:off x="1429" y="2151"/>
              <a:ext cx="272" cy="91"/>
            </a:xfrm>
            <a:prstGeom prst="line">
              <a:avLst/>
            </a:prstGeom>
            <a:noFill/>
            <a:ln w="19050">
              <a:solidFill>
                <a:srgbClr val="C01920"/>
              </a:solidFill>
              <a:round/>
              <a:headEnd/>
              <a:tailEnd/>
            </a:ln>
            <a:effectLst>
              <a:outerShdw dist="35921" dir="2700000" algn="ctr" rotWithShape="0">
                <a:schemeClr val="bg2">
                  <a:alpha val="50000"/>
                </a:schemeClr>
              </a:outerShdw>
            </a:effectLst>
          </p:spPr>
          <p:txBody>
            <a:bodyPr/>
            <a:lstStyle/>
            <a:p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1065025" name="Group 65"/>
          <p:cNvGrpSpPr>
            <a:grpSpLocks/>
          </p:cNvGrpSpPr>
          <p:nvPr/>
        </p:nvGrpSpPr>
        <p:grpSpPr bwMode="auto">
          <a:xfrm>
            <a:off x="3779079" y="5121348"/>
            <a:ext cx="2330450" cy="792162"/>
            <a:chOff x="1111" y="3113"/>
            <a:chExt cx="1468" cy="499"/>
          </a:xfrm>
        </p:grpSpPr>
        <p:sp>
          <p:nvSpPr>
            <p:cNvPr id="1065020" name="AutoShape 60"/>
            <p:cNvSpPr>
              <a:spLocks noChangeArrowheads="1"/>
            </p:cNvSpPr>
            <p:nvPr/>
          </p:nvSpPr>
          <p:spPr bwMode="auto">
            <a:xfrm>
              <a:off x="1672" y="3113"/>
              <a:ext cx="907" cy="499"/>
            </a:xfrm>
            <a:prstGeom prst="irregularSeal1">
              <a:avLst/>
            </a:prstGeom>
            <a:gradFill rotWithShape="1">
              <a:gsLst>
                <a:gs pos="0">
                  <a:srgbClr val="CFCFD1"/>
                </a:gs>
                <a:gs pos="100000">
                  <a:schemeClr val="bg1"/>
                </a:gs>
              </a:gsLst>
              <a:lin ang="5400000" scaled="1"/>
            </a:gradFill>
            <a:ln w="28575">
              <a:solidFill>
                <a:srgbClr val="C01920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</p:spPr>
          <p:txBody>
            <a:bodyPr wrap="none" anchor="ctr"/>
            <a:lstStyle/>
            <a:p>
              <a:pPr algn="ctr"/>
              <a:r>
                <a:rPr lang="zh-CN" altLang="en-US" sz="2000" b="1" dirty="0">
                  <a:solidFill>
                    <a:srgbClr val="CC0000"/>
                  </a:solidFill>
                  <a:latin typeface="+mn-lt"/>
                  <a:ea typeface="楷体" pitchFamily="49" charset="-122"/>
                </a:rPr>
                <a:t>错误！</a:t>
              </a:r>
            </a:p>
          </p:txBody>
        </p:sp>
        <p:sp>
          <p:nvSpPr>
            <p:cNvPr id="1065021" name="Line 61"/>
            <p:cNvSpPr>
              <a:spLocks noChangeShapeType="1"/>
            </p:cNvSpPr>
            <p:nvPr/>
          </p:nvSpPr>
          <p:spPr bwMode="auto">
            <a:xfrm flipV="1">
              <a:off x="1111" y="3339"/>
              <a:ext cx="590" cy="182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ffectLst>
              <a:outerShdw dist="35921" dir="2700000" algn="ctr" rotWithShape="0">
                <a:schemeClr val="bg2">
                  <a:alpha val="50000"/>
                </a:schemeClr>
              </a:outerShdw>
            </a:effectLst>
          </p:spPr>
          <p:txBody>
            <a:bodyPr/>
            <a:lstStyle/>
            <a:p>
              <a:endParaRPr lang="zh-CN" altLang="en-US">
                <a:latin typeface="+mn-lt"/>
                <a:ea typeface="楷体" pitchFamily="49" charset="-122"/>
              </a:endParaRPr>
            </a:p>
          </p:txBody>
        </p:sp>
      </p:grpSp>
      <p:sp>
        <p:nvSpPr>
          <p:cNvPr id="29" name="Rectangle 4">
            <a:extLst>
              <a:ext uri="{FF2B5EF4-FFF2-40B4-BE49-F238E27FC236}">
                <a16:creationId xmlns:a16="http://schemas.microsoft.com/office/drawing/2014/main" id="{5C9116A5-980C-4613-86AC-A4947BD32C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8.4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变量的作用域和生存期 </a:t>
            </a:r>
          </a:p>
        </p:txBody>
      </p:sp>
      <p:sp>
        <p:nvSpPr>
          <p:cNvPr id="30" name="Rectangle 3">
            <a:extLst>
              <a:ext uri="{FF2B5EF4-FFF2-40B4-BE49-F238E27FC236}">
                <a16:creationId xmlns:a16="http://schemas.microsoft.com/office/drawing/2014/main" id="{7E9FA323-9290-438C-A6DC-FE88AAC94C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724" y="883593"/>
            <a:ext cx="482441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2</a:t>
            </a:r>
            <a:r>
              <a:rPr lang="zh-CN" altLang="en-US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、局部变量作用域和生存期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649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649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10649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500"/>
                                        <p:tgtEl>
                                          <p:spTgt spid="10649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9" dur="500"/>
                                        <p:tgtEl>
                                          <p:spTgt spid="10649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3" dur="500"/>
                                        <p:tgtEl>
                                          <p:spTgt spid="10649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8" dur="500"/>
                                        <p:tgtEl>
                                          <p:spTgt spid="10650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3" dur="500"/>
                                        <p:tgtEl>
                                          <p:spTgt spid="10650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7" dur="500"/>
                                        <p:tgtEl>
                                          <p:spTgt spid="10650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1" dur="500"/>
                                        <p:tgtEl>
                                          <p:spTgt spid="10650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6" dur="500"/>
                                        <p:tgtEl>
                                          <p:spTgt spid="10650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1" dur="500"/>
                                        <p:tgtEl>
                                          <p:spTgt spid="10650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5" dur="500"/>
                                        <p:tgtEl>
                                          <p:spTgt spid="10650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0" dur="500"/>
                                        <p:tgtEl>
                                          <p:spTgt spid="10650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4" dur="500"/>
                                        <p:tgtEl>
                                          <p:spTgt spid="10650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4983" grpId="0"/>
      <p:bldP spid="1064985" grpId="0" animBg="1"/>
      <p:bldP spid="1064987" grpId="0" animBg="1"/>
      <p:bldP spid="1064989" grpId="0" animBg="1"/>
      <p:bldP spid="1065006" grpId="0" animBg="1"/>
      <p:bldP spid="1065007" grpId="0" animBg="1"/>
      <p:bldP spid="1065011" grpId="0" animBg="1"/>
      <p:bldP spid="1065012" grpId="0" animBg="1"/>
      <p:bldP spid="3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013" name="Rectangle 5"/>
          <p:cNvSpPr>
            <a:spLocks noChangeArrowheads="1"/>
          </p:cNvSpPr>
          <p:nvPr/>
        </p:nvSpPr>
        <p:spPr bwMode="auto">
          <a:xfrm>
            <a:off x="1183125" y="1695037"/>
            <a:ext cx="11256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Clr>
                <a:srgbClr val="C01920"/>
              </a:buClr>
              <a:buFont typeface="Wingdings" pitchFamily="2" charset="2"/>
              <a:buChar char="Ø"/>
            </a:pPr>
            <a:r>
              <a:rPr lang="en-US" altLang="zh-CN" dirty="0">
                <a:solidFill>
                  <a:srgbClr val="C01920"/>
                </a:solidFill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说明</a:t>
            </a:r>
          </a:p>
        </p:txBody>
      </p:sp>
      <p:sp>
        <p:nvSpPr>
          <p:cNvPr id="1067014" name="Rectangle 6"/>
          <p:cNvSpPr>
            <a:spLocks noChangeArrowheads="1"/>
          </p:cNvSpPr>
          <p:nvPr/>
        </p:nvSpPr>
        <p:spPr bwMode="auto">
          <a:xfrm>
            <a:off x="474051" y="2418644"/>
            <a:ext cx="11356398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tabLst>
                <a:tab pos="457200" algn="l"/>
              </a:tabLst>
            </a:pPr>
            <a:r>
              <a:rPr lang="en-US" altLang="zh-CN" b="1" dirty="0">
                <a:latin typeface="+mn-lt"/>
                <a:ea typeface="楷体" pitchFamily="49" charset="-122"/>
              </a:rPr>
              <a:t>        (2)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形参变量属于被调用函数的局部变量；</a:t>
            </a:r>
            <a:r>
              <a:rPr lang="zh-CN" altLang="en-US" b="1" dirty="0">
                <a:latin typeface="+mn-lt"/>
                <a:ea typeface="楷体" pitchFamily="49" charset="-122"/>
              </a:rPr>
              <a:t>实参变量则属于全局变量或调用函数的局部变量。</a:t>
            </a:r>
            <a:endParaRPr lang="en-US" altLang="zh-CN" b="1" dirty="0">
              <a:latin typeface="+mn-lt"/>
              <a:ea typeface="楷体" pitchFamily="49" charset="-122"/>
            </a:endParaRPr>
          </a:p>
          <a:p>
            <a:pPr>
              <a:tabLst>
                <a:tab pos="457200" algn="l"/>
              </a:tabLst>
            </a:pPr>
            <a:endParaRPr lang="zh-CN" altLang="en-US" b="1" dirty="0">
              <a:latin typeface="+mn-lt"/>
              <a:ea typeface="楷体" pitchFamily="49" charset="-122"/>
            </a:endParaRPr>
          </a:p>
          <a:p>
            <a:pPr>
              <a:tabLst>
                <a:tab pos="457200" algn="l"/>
              </a:tabLst>
            </a:pPr>
            <a:r>
              <a:rPr lang="zh-CN" altLang="en-US" b="1" dirty="0">
                <a:latin typeface="+mn-lt"/>
                <a:ea typeface="楷体" pitchFamily="49" charset="-122"/>
              </a:rPr>
              <a:t>        </a:t>
            </a:r>
            <a:r>
              <a:rPr lang="en-US" altLang="zh-CN" b="1" dirty="0">
                <a:latin typeface="+mn-lt"/>
                <a:ea typeface="楷体" pitchFamily="49" charset="-122"/>
              </a:rPr>
              <a:t>(3)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允许在不同的函数中使用相同的变量名</a:t>
            </a:r>
            <a:r>
              <a:rPr lang="zh-CN" altLang="en-US" b="1" dirty="0">
                <a:latin typeface="+mn-lt"/>
                <a:ea typeface="楷体" pitchFamily="49" charset="-122"/>
              </a:rPr>
              <a:t>，它们代表不同的对象，分配不同的单元，互不干扰，也不会发生混淆。 </a:t>
            </a:r>
          </a:p>
        </p:txBody>
      </p:sp>
      <p:sp>
        <p:nvSpPr>
          <p:cNvPr id="1067037" name="Rectangle 29" descr="信纸"/>
          <p:cNvSpPr>
            <a:spLocks noChangeArrowheads="1"/>
          </p:cNvSpPr>
          <p:nvPr/>
        </p:nvSpPr>
        <p:spPr bwMode="auto">
          <a:xfrm>
            <a:off x="1583100" y="2142621"/>
            <a:ext cx="5616575" cy="4154984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marL="457200" indent="-457200"/>
            <a:r>
              <a:rPr lang="en-US" altLang="zh-CN" b="1" dirty="0"/>
              <a:t>#include &lt;</a:t>
            </a:r>
            <a:r>
              <a:rPr lang="en-US" altLang="zh-CN" b="1" dirty="0" err="1"/>
              <a:t>stdio.h</a:t>
            </a:r>
            <a:r>
              <a:rPr lang="en-US" altLang="zh-CN" b="1" dirty="0"/>
              <a:t>&gt;</a:t>
            </a:r>
          </a:p>
          <a:p>
            <a:pPr marL="457200" indent="-457200"/>
            <a:r>
              <a:rPr lang="en-US" altLang="zh-CN" b="1" dirty="0"/>
              <a:t>void </a:t>
            </a:r>
            <a:r>
              <a:rPr lang="en-US" altLang="zh-CN" b="1" dirty="0" err="1"/>
              <a:t>subf</a:t>
            </a:r>
            <a:r>
              <a:rPr lang="en-US" altLang="zh-CN" b="1" dirty="0"/>
              <a:t> ( );</a:t>
            </a:r>
          </a:p>
          <a:p>
            <a:pPr marL="457200" indent="-457200"/>
            <a:r>
              <a:rPr lang="en-US" altLang="zh-CN" b="1" dirty="0" err="1">
                <a:solidFill>
                  <a:srgbClr val="CC0000"/>
                </a:solidFill>
              </a:rPr>
              <a:t>int</a:t>
            </a:r>
            <a:r>
              <a:rPr lang="en-US" altLang="zh-CN" b="1" dirty="0">
                <a:solidFill>
                  <a:srgbClr val="CC0000"/>
                </a:solidFill>
              </a:rPr>
              <a:t> main (  )</a:t>
            </a:r>
          </a:p>
          <a:p>
            <a:pPr marL="457200" indent="-457200"/>
            <a:r>
              <a:rPr lang="en-US" altLang="zh-CN" b="1" dirty="0"/>
              <a:t>{                                    </a:t>
            </a:r>
          </a:p>
          <a:p>
            <a:pPr marL="457200" indent="-457200"/>
            <a:r>
              <a:rPr lang="en-US" altLang="zh-CN" b="1" dirty="0"/>
              <a:t>  </a:t>
            </a:r>
            <a:r>
              <a:rPr lang="en-US" altLang="zh-CN" b="1" dirty="0" err="1">
                <a:solidFill>
                  <a:srgbClr val="FF0000"/>
                </a:solidFill>
              </a:rPr>
              <a:t>int</a:t>
            </a:r>
            <a:r>
              <a:rPr lang="en-US" altLang="zh-CN" b="1" dirty="0">
                <a:solidFill>
                  <a:srgbClr val="FF0000"/>
                </a:solidFill>
              </a:rPr>
              <a:t> a, b;</a:t>
            </a:r>
            <a:r>
              <a:rPr lang="en-US" altLang="zh-CN" b="1" dirty="0"/>
              <a:t>                              </a:t>
            </a:r>
          </a:p>
          <a:p>
            <a:pPr marL="457200" indent="-457200"/>
            <a:r>
              <a:rPr lang="en-US" altLang="zh-CN" b="1" dirty="0"/>
              <a:t>  a=3, b=4;                            </a:t>
            </a:r>
          </a:p>
          <a:p>
            <a:pPr marL="457200" indent="-457200"/>
            <a:r>
              <a:rPr lang="en-US" altLang="zh-CN" b="1" dirty="0"/>
              <a:t>  </a:t>
            </a:r>
            <a:r>
              <a:rPr lang="en-US" altLang="zh-CN" b="1" dirty="0" err="1"/>
              <a:t>printf</a:t>
            </a:r>
            <a:r>
              <a:rPr lang="en-US" altLang="zh-CN" b="1" dirty="0"/>
              <a:t> ("main: a = %d, b = %d\n", a, b); </a:t>
            </a:r>
          </a:p>
          <a:p>
            <a:pPr marL="457200" indent="-457200"/>
            <a:r>
              <a:rPr lang="en-US" altLang="zh-CN" b="1" dirty="0">
                <a:solidFill>
                  <a:srgbClr val="CC0099"/>
                </a:solidFill>
              </a:rPr>
              <a:t>  </a:t>
            </a:r>
            <a:r>
              <a:rPr lang="en-US" altLang="zh-CN" b="1" dirty="0" err="1">
                <a:solidFill>
                  <a:srgbClr val="7030A0"/>
                </a:solidFill>
              </a:rPr>
              <a:t>subf</a:t>
            </a:r>
            <a:r>
              <a:rPr lang="en-US" altLang="zh-CN" b="1" dirty="0">
                <a:solidFill>
                  <a:srgbClr val="7030A0"/>
                </a:solidFill>
              </a:rPr>
              <a:t> ( ); </a:t>
            </a:r>
          </a:p>
          <a:p>
            <a:pPr marL="457200" indent="-457200"/>
            <a:r>
              <a:rPr lang="en-US" altLang="zh-CN" b="1" dirty="0"/>
              <a:t>  </a:t>
            </a:r>
            <a:r>
              <a:rPr lang="en-US" altLang="zh-CN" b="1" dirty="0" err="1"/>
              <a:t>printf</a:t>
            </a:r>
            <a:r>
              <a:rPr lang="en-US" altLang="zh-CN" b="1" dirty="0"/>
              <a:t> ("main: a = %d, b = %d\n", a, b);</a:t>
            </a:r>
          </a:p>
          <a:p>
            <a:pPr marL="457200" indent="-457200"/>
            <a:r>
              <a:rPr lang="en-US" altLang="zh-CN" b="1" dirty="0"/>
              <a:t>  return 0;</a:t>
            </a:r>
          </a:p>
          <a:p>
            <a:pPr marL="457200" indent="-457200"/>
            <a:r>
              <a:rPr lang="en-US" altLang="zh-CN" b="1" dirty="0"/>
              <a:t>}</a:t>
            </a:r>
          </a:p>
        </p:txBody>
      </p:sp>
      <p:sp>
        <p:nvSpPr>
          <p:cNvPr id="1067038" name="Rectangle 30" descr="信纸"/>
          <p:cNvSpPr>
            <a:spLocks noChangeArrowheads="1"/>
          </p:cNvSpPr>
          <p:nvPr/>
        </p:nvSpPr>
        <p:spPr bwMode="auto">
          <a:xfrm>
            <a:off x="7559764" y="2132856"/>
            <a:ext cx="3960440" cy="2686050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lang="en-US" altLang="zh-CN" b="1" dirty="0">
                <a:solidFill>
                  <a:srgbClr val="7030A0"/>
                </a:solidFill>
              </a:rPr>
              <a:t>void </a:t>
            </a:r>
            <a:r>
              <a:rPr lang="en-US" altLang="zh-CN" b="1" dirty="0" err="1">
                <a:solidFill>
                  <a:srgbClr val="7030A0"/>
                </a:solidFill>
              </a:rPr>
              <a:t>subf</a:t>
            </a:r>
            <a:r>
              <a:rPr lang="en-US" altLang="zh-CN" b="1" dirty="0">
                <a:solidFill>
                  <a:srgbClr val="7030A0"/>
                </a:solidFill>
              </a:rPr>
              <a:t> ( )</a:t>
            </a:r>
          </a:p>
          <a:p>
            <a:pPr marL="457200" indent="-457200"/>
            <a:r>
              <a:rPr lang="en-US" altLang="zh-CN" b="1" dirty="0"/>
              <a:t>{</a:t>
            </a:r>
          </a:p>
          <a:p>
            <a:pPr marL="457200" indent="-457200"/>
            <a:r>
              <a:rPr lang="en-US" altLang="zh-CN" b="1" dirty="0">
                <a:solidFill>
                  <a:srgbClr val="FF0000"/>
                </a:solidFill>
              </a:rPr>
              <a:t>   int a, b;</a:t>
            </a:r>
          </a:p>
          <a:p>
            <a:pPr marL="457200" indent="-457200"/>
            <a:r>
              <a:rPr lang="en-US" altLang="zh-CN" b="1" dirty="0"/>
              <a:t>   a = 6, b = 7;</a:t>
            </a:r>
          </a:p>
          <a:p>
            <a:pPr marL="457200" indent="-457200"/>
            <a:r>
              <a:rPr lang="en-US" altLang="zh-CN" b="1" dirty="0"/>
              <a:t>   </a:t>
            </a:r>
            <a:r>
              <a:rPr lang="en-US" altLang="zh-CN" b="1" dirty="0" err="1"/>
              <a:t>printf</a:t>
            </a:r>
            <a:r>
              <a:rPr lang="en-US" altLang="zh-CN" b="1" dirty="0"/>
              <a:t>("</a:t>
            </a:r>
            <a:r>
              <a:rPr lang="en-US" altLang="zh-CN" b="1" dirty="0" err="1"/>
              <a:t>subf</a:t>
            </a:r>
            <a:r>
              <a:rPr lang="en-US" altLang="zh-CN" b="1" dirty="0"/>
              <a:t>: a = %d, </a:t>
            </a:r>
          </a:p>
          <a:p>
            <a:pPr marL="457200" indent="-457200"/>
            <a:r>
              <a:rPr lang="en-US" altLang="zh-CN" b="1" dirty="0"/>
              <a:t>                b = %d\n",</a:t>
            </a:r>
            <a:r>
              <a:rPr lang="en-US" altLang="zh-CN" b="1" dirty="0" err="1"/>
              <a:t>a,b</a:t>
            </a:r>
            <a:r>
              <a:rPr lang="en-US" altLang="zh-CN" b="1" dirty="0"/>
              <a:t>);</a:t>
            </a:r>
          </a:p>
          <a:p>
            <a:pPr marL="457200" indent="-457200"/>
            <a:r>
              <a:rPr lang="en-US" altLang="zh-CN" b="1" dirty="0"/>
              <a:t>}</a:t>
            </a:r>
          </a:p>
        </p:txBody>
      </p:sp>
      <p:sp>
        <p:nvSpPr>
          <p:cNvPr id="1067039" name="Rectangle 31"/>
          <p:cNvSpPr>
            <a:spLocks noChangeArrowheads="1"/>
          </p:cNvSpPr>
          <p:nvPr/>
        </p:nvSpPr>
        <p:spPr bwMode="auto">
          <a:xfrm>
            <a:off x="7537644" y="4992013"/>
            <a:ext cx="3982559" cy="1590675"/>
          </a:xfrm>
          <a:prstGeom prst="rect">
            <a:avLst/>
          </a:prstGeom>
          <a:solidFill>
            <a:srgbClr val="FFFFFF"/>
          </a:soli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solidFill>
                  <a:srgbClr val="C01920"/>
                </a:solidFill>
                <a:latin typeface="隶书" pitchFamily="49" charset="-122"/>
                <a:ea typeface="隶书" pitchFamily="49" charset="-122"/>
              </a:rPr>
              <a:t>运行结果：</a:t>
            </a:r>
          </a:p>
          <a:p>
            <a:r>
              <a:rPr lang="en-US" altLang="zh-CN" b="1" dirty="0">
                <a:solidFill>
                  <a:srgbClr val="002060"/>
                </a:solidFill>
              </a:rPr>
              <a:t>main: a = 3, b = 4</a:t>
            </a:r>
          </a:p>
          <a:p>
            <a:r>
              <a:rPr lang="en-US" altLang="zh-CN" b="1" dirty="0" err="1">
                <a:solidFill>
                  <a:srgbClr val="002060"/>
                </a:solidFill>
              </a:rPr>
              <a:t>subf</a:t>
            </a:r>
            <a:r>
              <a:rPr lang="en-US" altLang="zh-CN" b="1" dirty="0">
                <a:solidFill>
                  <a:srgbClr val="002060"/>
                </a:solidFill>
              </a:rPr>
              <a:t>:  a = 6, b = 7</a:t>
            </a:r>
          </a:p>
          <a:p>
            <a:r>
              <a:rPr lang="en-US" altLang="zh-CN" b="1" dirty="0">
                <a:solidFill>
                  <a:srgbClr val="002060"/>
                </a:solidFill>
              </a:rPr>
              <a:t>main: a = 3, b = 4</a:t>
            </a:r>
          </a:p>
        </p:txBody>
      </p:sp>
      <p:grpSp>
        <p:nvGrpSpPr>
          <p:cNvPr id="1067042" name="Group 34"/>
          <p:cNvGrpSpPr>
            <a:grpSpLocks/>
          </p:cNvGrpSpPr>
          <p:nvPr/>
        </p:nvGrpSpPr>
        <p:grpSpPr bwMode="auto">
          <a:xfrm>
            <a:off x="4462824" y="2722533"/>
            <a:ext cx="3384781" cy="360362"/>
            <a:chOff x="2154" y="1933"/>
            <a:chExt cx="2140" cy="227"/>
          </a:xfrm>
        </p:grpSpPr>
        <p:sp>
          <p:nvSpPr>
            <p:cNvPr id="1067040" name="AutoShape 32"/>
            <p:cNvSpPr>
              <a:spLocks/>
            </p:cNvSpPr>
            <p:nvPr/>
          </p:nvSpPr>
          <p:spPr bwMode="auto">
            <a:xfrm>
              <a:off x="2154" y="1933"/>
              <a:ext cx="997" cy="227"/>
            </a:xfrm>
            <a:prstGeom prst="borderCallout2">
              <a:avLst>
                <a:gd name="adj1" fmla="val 31718"/>
                <a:gd name="adj2" fmla="val -4815"/>
                <a:gd name="adj3" fmla="val 31718"/>
                <a:gd name="adj4" fmla="val -56069"/>
                <a:gd name="adj5" fmla="val 275091"/>
                <a:gd name="adj6" fmla="val -102702"/>
              </a:avLst>
            </a:prstGeom>
            <a:gradFill rotWithShape="1">
              <a:gsLst>
                <a:gs pos="0">
                  <a:srgbClr val="CFCFD1"/>
                </a:gs>
                <a:gs pos="100000">
                  <a:schemeClr val="bg1"/>
                </a:gs>
              </a:gsLst>
              <a:lin ang="5400000" scaled="1"/>
            </a:gradFill>
            <a:ln w="19050">
              <a:solidFill>
                <a:srgbClr val="C01920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</p:spPr>
          <p:txBody>
            <a:bodyPr/>
            <a:lstStyle/>
            <a:p>
              <a:pPr algn="ctr"/>
              <a:r>
                <a:rPr kumimoji="0" lang="zh-CN" altLang="en-US" sz="18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变量名相同</a:t>
              </a:r>
              <a:r>
                <a:rPr kumimoji="0" lang="zh-CN" altLang="en-US" sz="1800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 </a:t>
              </a:r>
              <a:endParaRPr lang="zh-CN" altLang="en-US" sz="1800" dirty="0">
                <a:solidFill>
                  <a:srgbClr val="002060"/>
                </a:solidFill>
                <a:latin typeface="+mn-lt"/>
                <a:ea typeface="楷体" pitchFamily="49" charset="-122"/>
              </a:endParaRPr>
            </a:p>
          </p:txBody>
        </p:sp>
        <p:sp>
          <p:nvSpPr>
            <p:cNvPr id="1067041" name="Line 33"/>
            <p:cNvSpPr>
              <a:spLocks noChangeShapeType="1"/>
            </p:cNvSpPr>
            <p:nvPr/>
          </p:nvSpPr>
          <p:spPr bwMode="auto">
            <a:xfrm>
              <a:off x="3152" y="2024"/>
              <a:ext cx="1142" cy="13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/>
            <a:lstStyle/>
            <a:p>
              <a:endParaRPr lang="zh-CN" altLang="en-US" dirty="0"/>
            </a:p>
          </p:txBody>
        </p:sp>
      </p:grpSp>
      <p:sp>
        <p:nvSpPr>
          <p:cNvPr id="1067043" name="Oval 35"/>
          <p:cNvSpPr>
            <a:spLocks noChangeArrowheads="1"/>
          </p:cNvSpPr>
          <p:nvPr/>
        </p:nvSpPr>
        <p:spPr bwMode="auto">
          <a:xfrm>
            <a:off x="1735356" y="3640545"/>
            <a:ext cx="1223962" cy="431800"/>
          </a:xfrm>
          <a:prstGeom prst="ellipse">
            <a:avLst/>
          </a:prstGeom>
          <a:noFill/>
          <a:ln w="28575">
            <a:solidFill>
              <a:srgbClr val="00206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7044" name="Oval 36"/>
          <p:cNvSpPr>
            <a:spLocks noChangeArrowheads="1"/>
          </p:cNvSpPr>
          <p:nvPr/>
        </p:nvSpPr>
        <p:spPr bwMode="auto">
          <a:xfrm>
            <a:off x="7808213" y="2903553"/>
            <a:ext cx="1223963" cy="431800"/>
          </a:xfrm>
          <a:prstGeom prst="ellipse">
            <a:avLst/>
          </a:prstGeom>
          <a:noFill/>
          <a:ln w="28575">
            <a:solidFill>
              <a:srgbClr val="00206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9BB9CDF0-56C8-4D1C-923A-9B90C0629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8.4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变量的作用域和生存期 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DE950AF3-066B-45A3-B57F-0EC578AC2F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724" y="883593"/>
            <a:ext cx="482441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2</a:t>
            </a:r>
            <a:r>
              <a:rPr lang="zh-CN" altLang="en-US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、局部变量作用域和生存期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670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670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10670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500"/>
                                        <p:tgtEl>
                                          <p:spTgt spid="10670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9" dur="500"/>
                                        <p:tgtEl>
                                          <p:spTgt spid="10670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4" dur="500"/>
                                        <p:tgtEl>
                                          <p:spTgt spid="10670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9" dur="500"/>
                                        <p:tgtEl>
                                          <p:spTgt spid="10670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3" dur="500"/>
                                        <p:tgtEl>
                                          <p:spTgt spid="10670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7" dur="500"/>
                                        <p:tgtEl>
                                          <p:spTgt spid="10670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10670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7013" grpId="0"/>
      <p:bldP spid="1067037" grpId="0" animBg="1"/>
      <p:bldP spid="1067038" grpId="0" animBg="1"/>
      <p:bldP spid="1067039" grpId="0" animBg="1"/>
      <p:bldP spid="1067043" grpId="0" animBg="1"/>
      <p:bldP spid="1067044" grpId="0" animBg="1"/>
      <p:bldP spid="1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5">
            <a:extLst>
              <a:ext uri="{FF2B5EF4-FFF2-40B4-BE49-F238E27FC236}">
                <a16:creationId xmlns:a16="http://schemas.microsoft.com/office/drawing/2014/main" id="{7B113575-E350-4E0A-AFD2-3D594A2924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3125" y="1695037"/>
            <a:ext cx="11256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Clr>
                <a:srgbClr val="C01920"/>
              </a:buClr>
              <a:buFont typeface="Wingdings" pitchFamily="2" charset="2"/>
              <a:buChar char="Ø"/>
            </a:pPr>
            <a:r>
              <a:rPr lang="en-US" altLang="zh-CN" dirty="0">
                <a:solidFill>
                  <a:srgbClr val="C01920"/>
                </a:solidFill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说明</a:t>
            </a:r>
          </a:p>
        </p:txBody>
      </p:sp>
      <p:sp>
        <p:nvSpPr>
          <p:cNvPr id="33" name="Rectangle 3">
            <a:extLst>
              <a:ext uri="{FF2B5EF4-FFF2-40B4-BE49-F238E27FC236}">
                <a16:creationId xmlns:a16="http://schemas.microsoft.com/office/drawing/2014/main" id="{7100C63E-D89F-4303-B6B4-9AE5B7CA40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724" y="883593"/>
            <a:ext cx="482441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2</a:t>
            </a:r>
            <a:r>
              <a:rPr lang="zh-CN" altLang="en-US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、局部变量作用域和生存期</a:t>
            </a:r>
          </a:p>
        </p:txBody>
      </p:sp>
      <p:sp>
        <p:nvSpPr>
          <p:cNvPr id="1069062" name="Rectangle 6"/>
          <p:cNvSpPr>
            <a:spLocks noChangeArrowheads="1"/>
          </p:cNvSpPr>
          <p:nvPr/>
        </p:nvSpPr>
        <p:spPr bwMode="auto">
          <a:xfrm>
            <a:off x="539150" y="2463179"/>
            <a:ext cx="11290959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tabLst>
                <a:tab pos="457200" algn="l"/>
              </a:tabLst>
            </a:pPr>
            <a:r>
              <a:rPr lang="en-US" altLang="zh-CN" b="1" dirty="0">
                <a:latin typeface="+mn-lt"/>
                <a:ea typeface="楷体" pitchFamily="49" charset="-122"/>
              </a:rPr>
              <a:t>        (4)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在复合语句中定义的变量也是局部变量</a:t>
            </a:r>
            <a:r>
              <a:rPr lang="zh-CN" altLang="en-US" b="1" dirty="0">
                <a:latin typeface="+mn-lt"/>
                <a:ea typeface="楷体" pitchFamily="49" charset="-122"/>
              </a:rPr>
              <a:t>，其作用域只在复合语句范围内。其生存期是从复合语句被执行的时刻到复合语句执行完毕的时刻。</a:t>
            </a:r>
            <a:r>
              <a:rPr lang="zh-CN" altLang="en-US" dirty="0"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069063" name="Rectangle 7" descr="信纸"/>
          <p:cNvSpPr>
            <a:spLocks noChangeArrowheads="1"/>
          </p:cNvSpPr>
          <p:nvPr/>
        </p:nvSpPr>
        <p:spPr bwMode="auto">
          <a:xfrm>
            <a:off x="1847579" y="1071547"/>
            <a:ext cx="8712917" cy="5632311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lang="en-US" altLang="zh-CN" b="1" dirty="0"/>
              <a:t>#include &lt;</a:t>
            </a:r>
            <a:r>
              <a:rPr lang="en-US" altLang="zh-CN" b="1" dirty="0" err="1"/>
              <a:t>stdio.h</a:t>
            </a:r>
            <a:r>
              <a:rPr lang="en-US" altLang="zh-CN" b="1" dirty="0"/>
              <a:t>&gt;</a:t>
            </a:r>
          </a:p>
          <a:p>
            <a:pPr marL="457200" indent="-457200"/>
            <a:r>
              <a:rPr lang="en-US" altLang="zh-CN" b="1" dirty="0" err="1">
                <a:solidFill>
                  <a:srgbClr val="CC0000"/>
                </a:solidFill>
              </a:rPr>
              <a:t>int</a:t>
            </a:r>
            <a:r>
              <a:rPr lang="en-US" altLang="zh-CN" b="1" dirty="0">
                <a:solidFill>
                  <a:srgbClr val="CC0000"/>
                </a:solidFill>
              </a:rPr>
              <a:t> main ( )</a:t>
            </a:r>
          </a:p>
          <a:p>
            <a:pPr marL="457200" indent="-457200"/>
            <a:r>
              <a:rPr lang="en-US" altLang="zh-CN" b="1" dirty="0"/>
              <a:t>{  </a:t>
            </a:r>
          </a:p>
          <a:p>
            <a:pPr marL="457200" indent="-457200"/>
            <a:r>
              <a:rPr lang="en-US" altLang="zh-CN" b="1" dirty="0"/>
              <a:t>  </a:t>
            </a:r>
            <a:r>
              <a:rPr lang="en-US" altLang="zh-CN" b="1" dirty="0" err="1">
                <a:solidFill>
                  <a:srgbClr val="006600"/>
                </a:solidFill>
              </a:rPr>
              <a:t>int</a:t>
            </a:r>
            <a:r>
              <a:rPr lang="en-US" altLang="zh-CN" b="1" dirty="0">
                <a:solidFill>
                  <a:srgbClr val="006600"/>
                </a:solidFill>
              </a:rPr>
              <a:t> a = 2, b = 4;</a:t>
            </a:r>
          </a:p>
          <a:p>
            <a:pPr marL="457200" indent="-457200"/>
            <a:r>
              <a:rPr lang="en-US" altLang="zh-CN" b="1" dirty="0">
                <a:solidFill>
                  <a:srgbClr val="7030A0"/>
                </a:solidFill>
              </a:rPr>
              <a:t>  {</a:t>
            </a:r>
          </a:p>
          <a:p>
            <a:pPr marL="457200" indent="-457200"/>
            <a:r>
              <a:rPr lang="en-US" altLang="zh-CN" b="1" dirty="0">
                <a:solidFill>
                  <a:srgbClr val="7030A0"/>
                </a:solidFill>
              </a:rPr>
              <a:t>     </a:t>
            </a:r>
            <a:r>
              <a:rPr lang="en-US" altLang="zh-CN" b="1" dirty="0" err="1">
                <a:solidFill>
                  <a:srgbClr val="7030A0"/>
                </a:solidFill>
              </a:rPr>
              <a:t>int</a:t>
            </a:r>
            <a:r>
              <a:rPr lang="en-US" altLang="zh-CN" b="1" dirty="0">
                <a:solidFill>
                  <a:srgbClr val="7030A0"/>
                </a:solidFill>
              </a:rPr>
              <a:t> k, b;</a:t>
            </a:r>
          </a:p>
          <a:p>
            <a:pPr marL="457200" indent="-457200"/>
            <a:r>
              <a:rPr lang="en-US" altLang="zh-CN" b="1" dirty="0">
                <a:solidFill>
                  <a:srgbClr val="7030A0"/>
                </a:solidFill>
              </a:rPr>
              <a:t>     k = a + 5;</a:t>
            </a:r>
          </a:p>
          <a:p>
            <a:pPr marL="457200" indent="-457200"/>
            <a:r>
              <a:rPr lang="en-US" altLang="zh-CN" b="1" dirty="0">
                <a:solidFill>
                  <a:srgbClr val="7030A0"/>
                </a:solidFill>
              </a:rPr>
              <a:t>     b = a * 5;</a:t>
            </a:r>
          </a:p>
          <a:p>
            <a:pPr marL="457200" indent="-457200"/>
            <a:r>
              <a:rPr lang="en-US" altLang="zh-CN" b="1" dirty="0">
                <a:solidFill>
                  <a:srgbClr val="7030A0"/>
                </a:solidFill>
              </a:rPr>
              <a:t>     </a:t>
            </a:r>
            <a:r>
              <a:rPr lang="en-US" altLang="zh-CN" b="1" dirty="0" err="1">
                <a:solidFill>
                  <a:srgbClr val="7030A0"/>
                </a:solidFill>
              </a:rPr>
              <a:t>printf</a:t>
            </a:r>
            <a:r>
              <a:rPr lang="en-US" altLang="zh-CN" b="1" dirty="0">
                <a:solidFill>
                  <a:srgbClr val="7030A0"/>
                </a:solidFill>
              </a:rPr>
              <a:t> ("k = %d\n", k);  </a:t>
            </a:r>
          </a:p>
          <a:p>
            <a:pPr marL="457200" indent="-457200"/>
            <a:r>
              <a:rPr lang="en-US" altLang="zh-CN" b="1" dirty="0">
                <a:solidFill>
                  <a:srgbClr val="7030A0"/>
                </a:solidFill>
              </a:rPr>
              <a:t>     </a:t>
            </a:r>
            <a:r>
              <a:rPr lang="en-US" altLang="zh-CN" b="1" dirty="0" err="1">
                <a:solidFill>
                  <a:srgbClr val="7030A0"/>
                </a:solidFill>
              </a:rPr>
              <a:t>printf</a:t>
            </a:r>
            <a:r>
              <a:rPr lang="en-US" altLang="zh-CN" b="1" dirty="0">
                <a:solidFill>
                  <a:srgbClr val="7030A0"/>
                </a:solidFill>
              </a:rPr>
              <a:t> ("b = %d\n", b); </a:t>
            </a:r>
          </a:p>
          <a:p>
            <a:pPr marL="457200" indent="-457200"/>
            <a:r>
              <a:rPr lang="en-US" altLang="zh-CN" b="1" dirty="0">
                <a:solidFill>
                  <a:srgbClr val="7030A0"/>
                </a:solidFill>
              </a:rPr>
              <a:t>  }</a:t>
            </a:r>
          </a:p>
          <a:p>
            <a:pPr marL="457200" indent="-457200"/>
            <a:r>
              <a:rPr lang="en-US" altLang="zh-CN" b="1" dirty="0"/>
              <a:t>  </a:t>
            </a:r>
            <a:r>
              <a:rPr lang="en-US" altLang="zh-CN" b="1" dirty="0" err="1"/>
              <a:t>printf</a:t>
            </a:r>
            <a:r>
              <a:rPr lang="en-US" altLang="zh-CN" b="1" dirty="0"/>
              <a:t> ("b = %d\n", b); </a:t>
            </a:r>
          </a:p>
          <a:p>
            <a:pPr marL="457200" indent="-457200"/>
            <a:r>
              <a:rPr lang="en-US" altLang="zh-CN" b="1" dirty="0"/>
              <a:t>  a = k + 2;</a:t>
            </a:r>
          </a:p>
          <a:p>
            <a:pPr marL="457200" indent="-457200"/>
            <a:r>
              <a:rPr lang="en-US" altLang="zh-CN" b="1" dirty="0"/>
              <a:t>  return 0;</a:t>
            </a:r>
          </a:p>
          <a:p>
            <a:pPr marL="457200" indent="-457200"/>
            <a:r>
              <a:rPr lang="en-US" altLang="zh-CN" b="1" dirty="0"/>
              <a:t>}</a:t>
            </a:r>
          </a:p>
        </p:txBody>
      </p:sp>
      <p:sp>
        <p:nvSpPr>
          <p:cNvPr id="1069071" name="Rectangle 15"/>
          <p:cNvSpPr>
            <a:spLocks noChangeArrowheads="1"/>
          </p:cNvSpPr>
          <p:nvPr/>
        </p:nvSpPr>
        <p:spPr bwMode="auto">
          <a:xfrm>
            <a:off x="2077766" y="2265347"/>
            <a:ext cx="2046288" cy="346075"/>
          </a:xfrm>
          <a:prstGeom prst="rect">
            <a:avLst/>
          </a:prstGeom>
          <a:noFill/>
          <a:ln w="28575">
            <a:solidFill>
              <a:srgbClr val="C0192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9072" name="AutoShape 16"/>
          <p:cNvSpPr>
            <a:spLocks/>
          </p:cNvSpPr>
          <p:nvPr/>
        </p:nvSpPr>
        <p:spPr bwMode="auto">
          <a:xfrm>
            <a:off x="5535342" y="1373172"/>
            <a:ext cx="2333625" cy="360363"/>
          </a:xfrm>
          <a:prstGeom prst="borderCallout2">
            <a:avLst>
              <a:gd name="adj1" fmla="val 31718"/>
              <a:gd name="adj2" fmla="val -3264"/>
              <a:gd name="adj3" fmla="val 31718"/>
              <a:gd name="adj4" fmla="val -54083"/>
              <a:gd name="adj5" fmla="val 250222"/>
              <a:gd name="adj6" fmla="val -106463"/>
            </a:avLst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pPr algn="ctr"/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main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中的局部变量</a:t>
            </a:r>
            <a:r>
              <a:rPr lang="zh-CN" altLang="en-US" sz="1800" dirty="0">
                <a:solidFill>
                  <a:srgbClr val="002060"/>
                </a:solidFill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069073" name="Rectangle 17"/>
          <p:cNvSpPr>
            <a:spLocks noChangeArrowheads="1"/>
          </p:cNvSpPr>
          <p:nvPr/>
        </p:nvSpPr>
        <p:spPr bwMode="auto">
          <a:xfrm>
            <a:off x="2307954" y="2995597"/>
            <a:ext cx="1154112" cy="346075"/>
          </a:xfrm>
          <a:prstGeom prst="rect">
            <a:avLst/>
          </a:prstGeom>
          <a:noFill/>
          <a:ln w="28575">
            <a:solidFill>
              <a:srgbClr val="00206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9074" name="AutoShape 18"/>
          <p:cNvSpPr>
            <a:spLocks/>
          </p:cNvSpPr>
          <p:nvPr/>
        </p:nvSpPr>
        <p:spPr bwMode="auto">
          <a:xfrm>
            <a:off x="4700317" y="2565384"/>
            <a:ext cx="2663825" cy="417512"/>
          </a:xfrm>
          <a:prstGeom prst="borderCallout2">
            <a:avLst>
              <a:gd name="adj1" fmla="val 27375"/>
              <a:gd name="adj2" fmla="val -2861"/>
              <a:gd name="adj3" fmla="val 27375"/>
              <a:gd name="adj4" fmla="val -24671"/>
              <a:gd name="adj5" fmla="val 137644"/>
              <a:gd name="adj6" fmla="val -47139"/>
            </a:avLst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pPr algn="ctr"/>
            <a:r>
              <a:rPr lang="zh-CN" altLang="en-US" sz="1800" b="1">
                <a:solidFill>
                  <a:srgbClr val="002060"/>
                </a:solidFill>
                <a:latin typeface="+mn-lt"/>
                <a:ea typeface="楷体" pitchFamily="49" charset="-122"/>
              </a:rPr>
              <a:t>复合语句中的局部变量</a:t>
            </a:r>
            <a:r>
              <a:rPr lang="zh-CN" altLang="en-US" sz="1800">
                <a:solidFill>
                  <a:srgbClr val="002060"/>
                </a:solidFill>
                <a:latin typeface="+mn-lt"/>
                <a:ea typeface="楷体" pitchFamily="49" charset="-122"/>
              </a:rPr>
              <a:t> </a:t>
            </a:r>
          </a:p>
        </p:txBody>
      </p:sp>
      <p:grpSp>
        <p:nvGrpSpPr>
          <p:cNvPr id="1069083" name="Group 27"/>
          <p:cNvGrpSpPr>
            <a:grpSpLocks/>
          </p:cNvGrpSpPr>
          <p:nvPr/>
        </p:nvGrpSpPr>
        <p:grpSpPr bwMode="auto">
          <a:xfrm>
            <a:off x="2107930" y="2406635"/>
            <a:ext cx="6842125" cy="4078287"/>
            <a:chOff x="703" y="1751"/>
            <a:chExt cx="4310" cy="2341"/>
          </a:xfrm>
        </p:grpSpPr>
        <p:grpSp>
          <p:nvGrpSpPr>
            <p:cNvPr id="1069080" name="Group 24"/>
            <p:cNvGrpSpPr>
              <a:grpSpLocks/>
            </p:cNvGrpSpPr>
            <p:nvPr/>
          </p:nvGrpSpPr>
          <p:grpSpPr bwMode="auto">
            <a:xfrm>
              <a:off x="703" y="1751"/>
              <a:ext cx="3501" cy="2341"/>
              <a:chOff x="703" y="1751"/>
              <a:chExt cx="3501" cy="2341"/>
            </a:xfrm>
          </p:grpSpPr>
          <p:sp>
            <p:nvSpPr>
              <p:cNvPr id="1069077" name="Line 21"/>
              <p:cNvSpPr>
                <a:spLocks noChangeShapeType="1"/>
              </p:cNvSpPr>
              <p:nvPr/>
            </p:nvSpPr>
            <p:spPr bwMode="auto">
              <a:xfrm>
                <a:off x="4200" y="1752"/>
                <a:ext cx="0" cy="2335"/>
              </a:xfrm>
              <a:prstGeom prst="line">
                <a:avLst/>
              </a:prstGeom>
              <a:noFill/>
              <a:ln w="19050">
                <a:solidFill>
                  <a:srgbClr val="C01920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  <p:sp>
            <p:nvSpPr>
              <p:cNvPr id="1069078" name="Line 22"/>
              <p:cNvSpPr>
                <a:spLocks noChangeShapeType="1"/>
              </p:cNvSpPr>
              <p:nvPr/>
            </p:nvSpPr>
            <p:spPr bwMode="auto">
              <a:xfrm flipH="1">
                <a:off x="703" y="4092"/>
                <a:ext cx="3493" cy="0"/>
              </a:xfrm>
              <a:prstGeom prst="line">
                <a:avLst/>
              </a:prstGeom>
              <a:noFill/>
              <a:ln w="19050">
                <a:solidFill>
                  <a:srgbClr val="C01920"/>
                </a:solidFill>
                <a:round/>
                <a:headEnd/>
                <a:tailEnd type="stealth" w="lg" len="lg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  <p:sp>
            <p:nvSpPr>
              <p:cNvPr id="1069079" name="Line 23"/>
              <p:cNvSpPr>
                <a:spLocks noChangeShapeType="1"/>
              </p:cNvSpPr>
              <p:nvPr/>
            </p:nvSpPr>
            <p:spPr bwMode="auto">
              <a:xfrm>
                <a:off x="1982" y="1751"/>
                <a:ext cx="2222" cy="0"/>
              </a:xfrm>
              <a:prstGeom prst="line">
                <a:avLst/>
              </a:prstGeom>
              <a:noFill/>
              <a:ln w="19050">
                <a:solidFill>
                  <a:srgbClr val="C01920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</p:grpSp>
        <p:sp>
          <p:nvSpPr>
            <p:cNvPr id="1069081" name="Rectangle 25"/>
            <p:cNvSpPr>
              <a:spLocks noChangeArrowheads="1"/>
            </p:cNvSpPr>
            <p:nvPr/>
          </p:nvSpPr>
          <p:spPr bwMode="auto">
            <a:xfrm>
              <a:off x="4206" y="2472"/>
              <a:ext cx="807" cy="5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altLang="zh-CN" sz="2000" b="1" dirty="0" err="1">
                  <a:solidFill>
                    <a:srgbClr val="C01920"/>
                  </a:solidFill>
                  <a:latin typeface="+mn-lt"/>
                  <a:ea typeface="楷体" pitchFamily="49" charset="-122"/>
                </a:rPr>
                <a:t>mian</a:t>
              </a:r>
              <a:r>
                <a:rPr lang="zh-CN" altLang="en-US" sz="2000" b="1" dirty="0">
                  <a:solidFill>
                    <a:srgbClr val="C01920"/>
                  </a:solidFill>
                  <a:latin typeface="+mn-lt"/>
                  <a:ea typeface="楷体" pitchFamily="49" charset="-122"/>
                </a:rPr>
                <a:t>中</a:t>
              </a:r>
            </a:p>
            <a:p>
              <a:r>
                <a:rPr lang="zh-CN" altLang="en-US" sz="2000" b="1" dirty="0">
                  <a:solidFill>
                    <a:srgbClr val="C01920"/>
                  </a:solidFill>
                  <a:latin typeface="+mn-lt"/>
                  <a:ea typeface="楷体" pitchFamily="49" charset="-122"/>
                </a:rPr>
                <a:t>变量</a:t>
              </a:r>
              <a:r>
                <a:rPr lang="en-US" altLang="zh-CN" sz="2000" b="1" dirty="0">
                  <a:solidFill>
                    <a:srgbClr val="C01920"/>
                  </a:solidFill>
                  <a:latin typeface="+mn-lt"/>
                  <a:ea typeface="楷体" pitchFamily="49" charset="-122"/>
                </a:rPr>
                <a:t>a</a:t>
              </a:r>
              <a:r>
                <a:rPr lang="zh-CN" altLang="en-US" sz="2000" b="1" dirty="0">
                  <a:solidFill>
                    <a:srgbClr val="C01920"/>
                  </a:solidFill>
                  <a:latin typeface="+mn-lt"/>
                  <a:ea typeface="楷体" pitchFamily="49" charset="-122"/>
                </a:rPr>
                <a:t>、</a:t>
              </a:r>
              <a:r>
                <a:rPr lang="en-US" altLang="zh-CN" sz="2000" b="1" dirty="0">
                  <a:solidFill>
                    <a:srgbClr val="C01920"/>
                  </a:solidFill>
                  <a:latin typeface="+mn-lt"/>
                  <a:ea typeface="楷体" pitchFamily="49" charset="-122"/>
                </a:rPr>
                <a:t>b</a:t>
              </a:r>
            </a:p>
            <a:p>
              <a:r>
                <a:rPr lang="zh-CN" altLang="en-US" sz="2000" b="1" dirty="0">
                  <a:solidFill>
                    <a:srgbClr val="C01920"/>
                  </a:solidFill>
                  <a:latin typeface="+mn-lt"/>
                  <a:ea typeface="楷体" pitchFamily="49" charset="-122"/>
                </a:rPr>
                <a:t>的作用域 </a:t>
              </a:r>
            </a:p>
          </p:txBody>
        </p:sp>
      </p:grpSp>
      <p:grpSp>
        <p:nvGrpSpPr>
          <p:cNvPr id="1069089" name="Group 33"/>
          <p:cNvGrpSpPr>
            <a:grpSpLocks/>
          </p:cNvGrpSpPr>
          <p:nvPr/>
        </p:nvGrpSpPr>
        <p:grpSpPr bwMode="auto">
          <a:xfrm>
            <a:off x="2323830" y="3186097"/>
            <a:ext cx="5322887" cy="1814513"/>
            <a:chOff x="839" y="2242"/>
            <a:chExt cx="3353" cy="1143"/>
          </a:xfrm>
        </p:grpSpPr>
        <p:grpSp>
          <p:nvGrpSpPr>
            <p:cNvPr id="1069087" name="Group 31"/>
            <p:cNvGrpSpPr>
              <a:grpSpLocks/>
            </p:cNvGrpSpPr>
            <p:nvPr/>
          </p:nvGrpSpPr>
          <p:grpSpPr bwMode="auto">
            <a:xfrm>
              <a:off x="839" y="2242"/>
              <a:ext cx="2449" cy="1143"/>
              <a:chOff x="839" y="2296"/>
              <a:chExt cx="2449" cy="1089"/>
            </a:xfrm>
          </p:grpSpPr>
          <p:sp>
            <p:nvSpPr>
              <p:cNvPr id="1069084" name="Line 28"/>
              <p:cNvSpPr>
                <a:spLocks noChangeShapeType="1"/>
              </p:cNvSpPr>
              <p:nvPr/>
            </p:nvSpPr>
            <p:spPr bwMode="auto">
              <a:xfrm>
                <a:off x="1565" y="2296"/>
                <a:ext cx="1723" cy="0"/>
              </a:xfrm>
              <a:prstGeom prst="line">
                <a:avLst/>
              </a:prstGeom>
              <a:noFill/>
              <a:ln w="19050">
                <a:solidFill>
                  <a:srgbClr val="002060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solidFill>
                    <a:srgbClr val="002060"/>
                  </a:solidFill>
                  <a:latin typeface="+mn-lt"/>
                  <a:ea typeface="楷体" pitchFamily="49" charset="-122"/>
                </a:endParaRPr>
              </a:p>
            </p:txBody>
          </p:sp>
          <p:sp>
            <p:nvSpPr>
              <p:cNvPr id="1069085" name="Line 29"/>
              <p:cNvSpPr>
                <a:spLocks noChangeShapeType="1"/>
              </p:cNvSpPr>
              <p:nvPr/>
            </p:nvSpPr>
            <p:spPr bwMode="auto">
              <a:xfrm>
                <a:off x="3288" y="2296"/>
                <a:ext cx="0" cy="1089"/>
              </a:xfrm>
              <a:prstGeom prst="line">
                <a:avLst/>
              </a:prstGeom>
              <a:noFill/>
              <a:ln w="19050">
                <a:solidFill>
                  <a:srgbClr val="002060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solidFill>
                    <a:srgbClr val="002060"/>
                  </a:solidFill>
                  <a:latin typeface="+mn-lt"/>
                  <a:ea typeface="楷体" pitchFamily="49" charset="-122"/>
                </a:endParaRPr>
              </a:p>
            </p:txBody>
          </p:sp>
          <p:sp>
            <p:nvSpPr>
              <p:cNvPr id="1069086" name="Line 30"/>
              <p:cNvSpPr>
                <a:spLocks noChangeShapeType="1"/>
              </p:cNvSpPr>
              <p:nvPr/>
            </p:nvSpPr>
            <p:spPr bwMode="auto">
              <a:xfrm flipH="1">
                <a:off x="839" y="3385"/>
                <a:ext cx="2449" cy="0"/>
              </a:xfrm>
              <a:prstGeom prst="line">
                <a:avLst/>
              </a:prstGeom>
              <a:noFill/>
              <a:ln w="19050">
                <a:solidFill>
                  <a:srgbClr val="002060"/>
                </a:solidFill>
                <a:round/>
                <a:headEnd/>
                <a:tailEnd type="stealth" w="lg" len="lg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solidFill>
                    <a:srgbClr val="002060"/>
                  </a:solidFill>
                  <a:latin typeface="+mn-lt"/>
                  <a:ea typeface="楷体" pitchFamily="49" charset="-122"/>
                </a:endParaRPr>
              </a:p>
            </p:txBody>
          </p:sp>
        </p:grpSp>
        <p:sp>
          <p:nvSpPr>
            <p:cNvPr id="1069088" name="Rectangle 32"/>
            <p:cNvSpPr>
              <a:spLocks noChangeArrowheads="1"/>
            </p:cNvSpPr>
            <p:nvPr/>
          </p:nvSpPr>
          <p:spPr bwMode="auto">
            <a:xfrm>
              <a:off x="3271" y="2444"/>
              <a:ext cx="921" cy="6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zh-CN" altLang="en-US" sz="20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复合语句中</a:t>
              </a:r>
            </a:p>
            <a:p>
              <a:r>
                <a:rPr lang="zh-CN" altLang="en-US" sz="20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变量</a:t>
              </a:r>
              <a:r>
                <a:rPr lang="en-US" altLang="zh-CN" sz="20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k</a:t>
              </a:r>
              <a:r>
                <a:rPr lang="zh-CN" altLang="en-US" sz="20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、</a:t>
              </a:r>
              <a:r>
                <a:rPr lang="en-US" altLang="zh-CN" sz="20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b</a:t>
              </a:r>
            </a:p>
            <a:p>
              <a:r>
                <a:rPr lang="zh-CN" altLang="en-US" sz="20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的作用域</a:t>
              </a:r>
            </a:p>
          </p:txBody>
        </p:sp>
      </p:grpSp>
      <p:sp>
        <p:nvSpPr>
          <p:cNvPr id="1069091" name="AutoShape 35"/>
          <p:cNvSpPr>
            <a:spLocks/>
          </p:cNvSpPr>
          <p:nvPr/>
        </p:nvSpPr>
        <p:spPr bwMode="auto">
          <a:xfrm>
            <a:off x="8227742" y="4640247"/>
            <a:ext cx="1223963" cy="360363"/>
          </a:xfrm>
          <a:prstGeom prst="borderCallout2">
            <a:avLst>
              <a:gd name="adj1" fmla="val 31718"/>
              <a:gd name="adj2" fmla="val -6227"/>
              <a:gd name="adj3" fmla="val 31718"/>
              <a:gd name="adj4" fmla="val -117769"/>
              <a:gd name="adj5" fmla="val -96477"/>
              <a:gd name="adj6" fmla="val -232944"/>
            </a:avLst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pPr algn="ctr"/>
            <a:r>
              <a:rPr lang="zh-CN" altLang="en-US" sz="1800" b="1">
                <a:solidFill>
                  <a:srgbClr val="002060"/>
                </a:solidFill>
                <a:latin typeface="+mn-lt"/>
                <a:ea typeface="楷体" pitchFamily="49" charset="-122"/>
              </a:rPr>
              <a:t>输出</a:t>
            </a:r>
            <a:r>
              <a:rPr lang="en-US" altLang="zh-CN" sz="1800" b="1">
                <a:solidFill>
                  <a:srgbClr val="002060"/>
                </a:solidFill>
                <a:latin typeface="+mn-lt"/>
                <a:ea typeface="楷体" pitchFamily="49" charset="-122"/>
              </a:rPr>
              <a:t>k = 7</a:t>
            </a:r>
            <a:r>
              <a:rPr lang="en-US" altLang="zh-CN" sz="1800">
                <a:solidFill>
                  <a:srgbClr val="002060"/>
                </a:solidFill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069093" name="AutoShape 37"/>
          <p:cNvSpPr>
            <a:spLocks/>
          </p:cNvSpPr>
          <p:nvPr/>
        </p:nvSpPr>
        <p:spPr bwMode="auto">
          <a:xfrm>
            <a:off x="8229330" y="5170472"/>
            <a:ext cx="1366837" cy="360363"/>
          </a:xfrm>
          <a:prstGeom prst="borderCallout2">
            <a:avLst>
              <a:gd name="adj1" fmla="val 31718"/>
              <a:gd name="adj2" fmla="val -5574"/>
              <a:gd name="adj3" fmla="val 31718"/>
              <a:gd name="adj4" fmla="val -106968"/>
              <a:gd name="adj5" fmla="val -134801"/>
              <a:gd name="adj6" fmla="val -211616"/>
            </a:avLst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pPr algn="ctr"/>
            <a:r>
              <a:rPr lang="zh-CN" altLang="en-US" sz="1800" b="1">
                <a:solidFill>
                  <a:srgbClr val="002060"/>
                </a:solidFill>
                <a:latin typeface="+mn-lt"/>
                <a:ea typeface="楷体" pitchFamily="49" charset="-122"/>
              </a:rPr>
              <a:t>输出</a:t>
            </a:r>
            <a:r>
              <a:rPr lang="en-US" altLang="zh-CN" sz="1800" b="1">
                <a:solidFill>
                  <a:srgbClr val="002060"/>
                </a:solidFill>
                <a:latin typeface="+mn-lt"/>
                <a:ea typeface="楷体" pitchFamily="49" charset="-122"/>
              </a:rPr>
              <a:t>b = 10</a:t>
            </a:r>
            <a:r>
              <a:rPr lang="en-US" altLang="zh-CN" sz="1800">
                <a:solidFill>
                  <a:srgbClr val="002060"/>
                </a:solidFill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069094" name="AutoShape 38"/>
          <p:cNvSpPr>
            <a:spLocks/>
          </p:cNvSpPr>
          <p:nvPr/>
        </p:nvSpPr>
        <p:spPr bwMode="auto">
          <a:xfrm>
            <a:off x="8230916" y="5700697"/>
            <a:ext cx="1366838" cy="360363"/>
          </a:xfrm>
          <a:prstGeom prst="borderCallout2">
            <a:avLst>
              <a:gd name="adj1" fmla="val 31718"/>
              <a:gd name="adj2" fmla="val -5574"/>
              <a:gd name="adj3" fmla="val 31718"/>
              <a:gd name="adj4" fmla="val -114403"/>
              <a:gd name="adj5" fmla="val -96477"/>
              <a:gd name="adj6" fmla="val -226829"/>
            </a:avLst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pPr algn="ctr"/>
            <a:r>
              <a:rPr lang="zh-CN" altLang="en-US" sz="1800" b="1">
                <a:solidFill>
                  <a:srgbClr val="002060"/>
                </a:solidFill>
                <a:latin typeface="+mn-lt"/>
                <a:ea typeface="楷体" pitchFamily="49" charset="-122"/>
              </a:rPr>
              <a:t>输出</a:t>
            </a:r>
            <a:r>
              <a:rPr lang="en-US" altLang="zh-CN" sz="1800" b="1">
                <a:solidFill>
                  <a:srgbClr val="002060"/>
                </a:solidFill>
                <a:latin typeface="+mn-lt"/>
                <a:ea typeface="楷体" pitchFamily="49" charset="-122"/>
              </a:rPr>
              <a:t>b = 4</a:t>
            </a:r>
            <a:r>
              <a:rPr lang="en-US" altLang="zh-CN" sz="1800">
                <a:solidFill>
                  <a:srgbClr val="002060"/>
                </a:solidFill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069095" name="Oval 39"/>
          <p:cNvSpPr>
            <a:spLocks noChangeArrowheads="1"/>
          </p:cNvSpPr>
          <p:nvPr/>
        </p:nvSpPr>
        <p:spPr bwMode="auto">
          <a:xfrm>
            <a:off x="2511154" y="5557822"/>
            <a:ext cx="317500" cy="377825"/>
          </a:xfrm>
          <a:prstGeom prst="ellips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069099" name="Group 43"/>
          <p:cNvGrpSpPr>
            <a:grpSpLocks/>
          </p:cNvGrpSpPr>
          <p:nvPr/>
        </p:nvGrpSpPr>
        <p:grpSpPr bwMode="auto">
          <a:xfrm>
            <a:off x="2827067" y="5621322"/>
            <a:ext cx="2259013" cy="792163"/>
            <a:chOff x="1156" y="3776"/>
            <a:chExt cx="1423" cy="499"/>
          </a:xfrm>
        </p:grpSpPr>
        <p:sp>
          <p:nvSpPr>
            <p:cNvPr id="1069097" name="AutoShape 41"/>
            <p:cNvSpPr>
              <a:spLocks noChangeArrowheads="1"/>
            </p:cNvSpPr>
            <p:nvPr/>
          </p:nvSpPr>
          <p:spPr bwMode="auto">
            <a:xfrm>
              <a:off x="1672" y="3776"/>
              <a:ext cx="907" cy="499"/>
            </a:xfrm>
            <a:prstGeom prst="irregularSeal1">
              <a:avLst/>
            </a:prstGeom>
            <a:gradFill rotWithShape="1">
              <a:gsLst>
                <a:gs pos="0">
                  <a:srgbClr val="CFCFD1"/>
                </a:gs>
                <a:gs pos="100000">
                  <a:schemeClr val="bg1"/>
                </a:gs>
              </a:gsLst>
              <a:lin ang="5400000" scaled="1"/>
            </a:gradFill>
            <a:ln w="28575">
              <a:solidFill>
                <a:srgbClr val="C01920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</p:spPr>
          <p:txBody>
            <a:bodyPr wrap="none" anchor="ctr"/>
            <a:lstStyle/>
            <a:p>
              <a:pPr algn="ctr"/>
              <a:r>
                <a:rPr lang="zh-CN" altLang="en-US" sz="2000" b="1" dirty="0">
                  <a:solidFill>
                    <a:srgbClr val="CC0000"/>
                  </a:solidFill>
                  <a:latin typeface="+mn-lt"/>
                  <a:ea typeface="楷体" pitchFamily="49" charset="-122"/>
                </a:rPr>
                <a:t>错误！</a:t>
              </a:r>
            </a:p>
          </p:txBody>
        </p:sp>
        <p:sp>
          <p:nvSpPr>
            <p:cNvPr id="1069098" name="Line 42"/>
            <p:cNvSpPr>
              <a:spLocks noChangeShapeType="1"/>
            </p:cNvSpPr>
            <p:nvPr/>
          </p:nvSpPr>
          <p:spPr bwMode="auto">
            <a:xfrm>
              <a:off x="1156" y="3929"/>
              <a:ext cx="499" cy="192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ffectLst>
              <a:outerShdw dist="35921" dir="2700000" algn="ctr" rotWithShape="0">
                <a:schemeClr val="bg2">
                  <a:alpha val="50000"/>
                </a:scheme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2" name="Rectangle 4">
            <a:extLst>
              <a:ext uri="{FF2B5EF4-FFF2-40B4-BE49-F238E27FC236}">
                <a16:creationId xmlns:a16="http://schemas.microsoft.com/office/drawing/2014/main" id="{22F07A6F-F517-4272-B72A-4A2CA3983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8.4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变量的作用域和生存期 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10690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500"/>
                                        <p:tgtEl>
                                          <p:spTgt spid="10690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9" dur="500"/>
                                        <p:tgtEl>
                                          <p:spTgt spid="10690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3" dur="500"/>
                                        <p:tgtEl>
                                          <p:spTgt spid="10690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38" dur="500"/>
                                        <p:tgtEl>
                                          <p:spTgt spid="10690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3" dur="500"/>
                                        <p:tgtEl>
                                          <p:spTgt spid="10690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7" dur="500"/>
                                        <p:tgtEl>
                                          <p:spTgt spid="10690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52" dur="500"/>
                                        <p:tgtEl>
                                          <p:spTgt spid="10690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6" dur="500"/>
                                        <p:tgtEl>
                                          <p:spTgt spid="10690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0" dur="500"/>
                                        <p:tgtEl>
                                          <p:spTgt spid="10690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500"/>
                            </p:stCondLst>
                            <p:childTnLst>
                              <p:par>
                                <p:cTn id="62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4" dur="500"/>
                                        <p:tgtEl>
                                          <p:spTgt spid="10690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9" dur="500"/>
                                        <p:tgtEl>
                                          <p:spTgt spid="10690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3" dur="500"/>
                                        <p:tgtEl>
                                          <p:spTgt spid="10690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3" grpId="0"/>
      <p:bldP spid="1069063" grpId="0" animBg="1"/>
      <p:bldP spid="1069071" grpId="0" animBg="1"/>
      <p:bldP spid="1069072" grpId="0" animBg="1"/>
      <p:bldP spid="1069073" grpId="0" animBg="1"/>
      <p:bldP spid="1069074" grpId="0" animBg="1"/>
      <p:bldP spid="1069091" grpId="0" animBg="1"/>
      <p:bldP spid="1069093" grpId="0" animBg="1"/>
      <p:bldP spid="1069094" grpId="0" animBg="1"/>
      <p:bldP spid="106909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">
            <a:extLst>
              <a:ext uri="{FF2B5EF4-FFF2-40B4-BE49-F238E27FC236}">
                <a16:creationId xmlns:a16="http://schemas.microsoft.com/office/drawing/2014/main" id="{1EDA2C6A-45E7-471C-8771-48EA465228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724" y="883593"/>
            <a:ext cx="482441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3</a:t>
            </a:r>
            <a:r>
              <a:rPr lang="zh-CN" altLang="en-US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、全局变量作用域和生存期</a:t>
            </a:r>
          </a:p>
        </p:txBody>
      </p:sp>
      <p:sp>
        <p:nvSpPr>
          <p:cNvPr id="38" name="Rectangle 4">
            <a:extLst>
              <a:ext uri="{FF2B5EF4-FFF2-40B4-BE49-F238E27FC236}">
                <a16:creationId xmlns:a16="http://schemas.microsoft.com/office/drawing/2014/main" id="{096811EC-20CA-4DE4-A911-F3C89F8054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8.4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变量的作用域和生存期 </a:t>
            </a:r>
          </a:p>
        </p:txBody>
      </p:sp>
      <p:sp>
        <p:nvSpPr>
          <p:cNvPr id="1071110" name="Rectangle 6"/>
          <p:cNvSpPr>
            <a:spLocks noChangeArrowheads="1"/>
          </p:cNvSpPr>
          <p:nvPr/>
        </p:nvSpPr>
        <p:spPr bwMode="auto">
          <a:xfrm>
            <a:off x="710686" y="1693465"/>
            <a:ext cx="11073946" cy="341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lvl="1">
              <a:buFont typeface="Wingdings" pitchFamily="2" charset="2"/>
              <a:buChar char="Ø"/>
            </a:pP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定义</a:t>
            </a:r>
          </a:p>
          <a:p>
            <a:pPr>
              <a:buFont typeface="Wingdings" pitchFamily="2" charset="2"/>
              <a:buNone/>
            </a:pPr>
            <a:r>
              <a:rPr lang="zh-CN" altLang="en-US" b="1" dirty="0">
                <a:latin typeface="+mn-lt"/>
                <a:ea typeface="楷体" pitchFamily="49" charset="-122"/>
              </a:rPr>
              <a:t>        在函数外部作定义说明的变量，也称为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外部变量</a:t>
            </a:r>
            <a:r>
              <a:rPr lang="zh-CN" altLang="en-US" dirty="0"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latin typeface="+mn-lt"/>
                <a:ea typeface="楷体" pitchFamily="49" charset="-122"/>
              </a:rPr>
              <a:t>。它不属于哪一个函数，而属于一个源程序文件。</a:t>
            </a:r>
            <a:endParaRPr lang="en-US" altLang="zh-CN" b="1" dirty="0">
              <a:latin typeface="+mn-lt"/>
              <a:ea typeface="楷体" pitchFamily="49" charset="-122"/>
            </a:endParaRPr>
          </a:p>
          <a:p>
            <a:pPr>
              <a:buFont typeface="Wingdings" pitchFamily="2" charset="2"/>
              <a:buNone/>
            </a:pPr>
            <a:r>
              <a:rPr lang="zh-CN" altLang="en-US" dirty="0">
                <a:latin typeface="+mn-lt"/>
                <a:ea typeface="楷体" pitchFamily="49" charset="-122"/>
              </a:rPr>
              <a:t> </a:t>
            </a:r>
            <a:endParaRPr lang="zh-CN" altLang="en-US" b="1" dirty="0">
              <a:latin typeface="+mn-lt"/>
              <a:ea typeface="楷体" pitchFamily="49" charset="-122"/>
            </a:endParaRPr>
          </a:p>
          <a:p>
            <a:pPr lvl="1">
              <a:buClr>
                <a:srgbClr val="C01920"/>
              </a:buClr>
              <a:buFont typeface="Wingdings" pitchFamily="2" charset="2"/>
              <a:buChar char="Ø"/>
            </a:pPr>
            <a:r>
              <a:rPr lang="zh-CN" altLang="en-US" dirty="0">
                <a:solidFill>
                  <a:srgbClr val="C01920"/>
                </a:solidFill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作用域</a:t>
            </a:r>
          </a:p>
          <a:p>
            <a:pPr>
              <a:buFont typeface="Wingdings" pitchFamily="2" charset="2"/>
              <a:buNone/>
            </a:pPr>
            <a:r>
              <a:rPr lang="zh-CN" altLang="en-US" b="1" dirty="0">
                <a:latin typeface="+mn-lt"/>
                <a:ea typeface="楷体" pitchFamily="49" charset="-122"/>
              </a:rPr>
              <a:t>        从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定义变量的位置开始</a:t>
            </a:r>
            <a:r>
              <a:rPr lang="zh-CN" altLang="en-US" b="1" dirty="0">
                <a:latin typeface="+mn-lt"/>
                <a:ea typeface="楷体" pitchFamily="49" charset="-122"/>
              </a:rPr>
              <a:t>到本源文件结束，及有</a:t>
            </a: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extern</a:t>
            </a:r>
            <a:r>
              <a:rPr lang="zh-CN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说明</a:t>
            </a:r>
            <a:r>
              <a:rPr lang="zh-CN" altLang="zh-CN" b="1" dirty="0">
                <a:latin typeface="+mn-lt"/>
                <a:ea typeface="楷体" pitchFamily="49" charset="-122"/>
              </a:rPr>
              <a:t>的其它源文件。</a:t>
            </a:r>
            <a:endParaRPr lang="en-US" altLang="zh-CN" b="1" dirty="0">
              <a:latin typeface="+mn-lt"/>
              <a:ea typeface="楷体" pitchFamily="49" charset="-122"/>
            </a:endParaRPr>
          </a:p>
          <a:p>
            <a:pPr>
              <a:buFont typeface="Wingdings" pitchFamily="2" charset="2"/>
              <a:buNone/>
            </a:pPr>
            <a:endParaRPr lang="zh-CN" altLang="en-US" b="1" dirty="0">
              <a:latin typeface="+mn-lt"/>
              <a:ea typeface="楷体" pitchFamily="49" charset="-122"/>
            </a:endParaRPr>
          </a:p>
          <a:p>
            <a:pPr lvl="1">
              <a:buClr>
                <a:srgbClr val="C01920"/>
              </a:buClr>
              <a:buFont typeface="Wingdings" pitchFamily="2" charset="2"/>
              <a:buChar char="Ø"/>
            </a:pPr>
            <a:r>
              <a:rPr lang="zh-CN" altLang="en-US" dirty="0">
                <a:solidFill>
                  <a:srgbClr val="C01920"/>
                </a:solidFill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生存期</a:t>
            </a:r>
          </a:p>
          <a:p>
            <a:pPr>
              <a:buClr>
                <a:srgbClr val="006600"/>
              </a:buClr>
              <a:buFont typeface="Wingdings" pitchFamily="2" charset="2"/>
              <a:buNone/>
            </a:pPr>
            <a:r>
              <a:rPr lang="zh-CN" altLang="en-US" b="1" dirty="0">
                <a:latin typeface="+mn-lt"/>
                <a:ea typeface="楷体" pitchFamily="49" charset="-122"/>
              </a:rPr>
              <a:t>       与程序相同。即从程序开始执行到程序终止的这段时间内，全局变量都有效。</a:t>
            </a:r>
            <a:r>
              <a:rPr lang="zh-CN" altLang="en-US" dirty="0"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071124" name="Rectangle 20" descr="信纸"/>
          <p:cNvSpPr>
            <a:spLocks noChangeArrowheads="1"/>
          </p:cNvSpPr>
          <p:nvPr/>
        </p:nvSpPr>
        <p:spPr bwMode="auto">
          <a:xfrm>
            <a:off x="1848274" y="2533283"/>
            <a:ext cx="2879725" cy="3787775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marL="457200" indent="-457200"/>
            <a:r>
              <a:rPr lang="en-US" altLang="zh-CN" sz="2000" b="1" dirty="0"/>
              <a:t>#include &lt;</a:t>
            </a:r>
            <a:r>
              <a:rPr lang="en-US" altLang="zh-CN" sz="2000" b="1" dirty="0" err="1"/>
              <a:t>stdio.h</a:t>
            </a:r>
            <a:r>
              <a:rPr lang="en-US" altLang="zh-CN" sz="2000" b="1" dirty="0"/>
              <a:t>&gt;</a:t>
            </a:r>
          </a:p>
          <a:p>
            <a:pPr marL="457200" indent="-457200"/>
            <a:r>
              <a:rPr lang="en-US" altLang="zh-CN" sz="2000" b="1" dirty="0"/>
              <a:t>#include &lt;</a:t>
            </a:r>
            <a:r>
              <a:rPr lang="en-US" altLang="zh-CN" sz="2000" b="1" dirty="0" err="1"/>
              <a:t>math.h</a:t>
            </a:r>
            <a:r>
              <a:rPr lang="en-US" altLang="zh-CN" sz="2000" b="1" dirty="0"/>
              <a:t>&gt;</a:t>
            </a:r>
          </a:p>
          <a:p>
            <a:pPr marL="457200" indent="-457200"/>
            <a:r>
              <a:rPr lang="en-US" altLang="zh-CN" sz="2000" b="1" dirty="0" err="1"/>
              <a:t>int</a:t>
            </a:r>
            <a:r>
              <a:rPr lang="en-US" altLang="zh-CN" sz="2000" b="1" dirty="0"/>
              <a:t> sign ( );</a:t>
            </a:r>
          </a:p>
          <a:p>
            <a:pPr marL="457200" indent="-457200"/>
            <a:endParaRPr lang="en-US" altLang="zh-CN" sz="2000" b="1" dirty="0">
              <a:solidFill>
                <a:srgbClr val="002060"/>
              </a:solidFill>
            </a:endParaRPr>
          </a:p>
          <a:p>
            <a:pPr marL="457200" indent="-457200"/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计算数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n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的平方根</a:t>
            </a:r>
          </a:p>
          <a:p>
            <a:pPr marL="457200" indent="-457200"/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</a:rPr>
              <a:t>float </a:t>
            </a:r>
            <a:r>
              <a:rPr lang="en-US" altLang="zh-CN" sz="2000" b="1" dirty="0" err="1">
                <a:solidFill>
                  <a:schemeClr val="accent1">
                    <a:lumMod val="50000"/>
                  </a:schemeClr>
                </a:solidFill>
              </a:rPr>
              <a:t>sqr</a:t>
            </a:r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</a:rPr>
              <a:t> ( )</a:t>
            </a:r>
          </a:p>
          <a:p>
            <a:pPr marL="457200" indent="-457200"/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</a:rPr>
              <a:t>{</a:t>
            </a:r>
          </a:p>
          <a:p>
            <a:pPr marL="457200" indent="-457200"/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</a:rPr>
              <a:t>  if ( n &gt; 0 )</a:t>
            </a:r>
          </a:p>
          <a:p>
            <a:pPr marL="457200" indent="-457200"/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</a:rPr>
              <a:t>      return (</a:t>
            </a:r>
            <a:r>
              <a:rPr lang="en-US" altLang="zh-CN" sz="2000" b="1" dirty="0" err="1">
                <a:solidFill>
                  <a:schemeClr val="accent1">
                    <a:lumMod val="50000"/>
                  </a:schemeClr>
                </a:solidFill>
              </a:rPr>
              <a:t>sqrt</a:t>
            </a:r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</a:rPr>
              <a:t>(n));  </a:t>
            </a:r>
          </a:p>
          <a:p>
            <a:pPr marL="457200" indent="-457200"/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</a:rPr>
              <a:t>  else      </a:t>
            </a:r>
          </a:p>
          <a:p>
            <a:pPr marL="457200" indent="-457200"/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</a:rPr>
              <a:t>     return (-1);</a:t>
            </a:r>
          </a:p>
          <a:p>
            <a:pPr marL="457200" indent="-457200"/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</a:rPr>
              <a:t>}</a:t>
            </a:r>
          </a:p>
        </p:txBody>
      </p:sp>
      <p:sp>
        <p:nvSpPr>
          <p:cNvPr id="1071125" name="Rectangle 21" descr="信纸"/>
          <p:cNvSpPr>
            <a:spLocks noChangeArrowheads="1"/>
          </p:cNvSpPr>
          <p:nvPr/>
        </p:nvSpPr>
        <p:spPr bwMode="auto">
          <a:xfrm>
            <a:off x="4901035" y="172670"/>
            <a:ext cx="5329238" cy="6555641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marL="457200" indent="-457200"/>
            <a:r>
              <a:rPr lang="en-US" altLang="zh-CN" sz="2000" b="1" dirty="0">
                <a:solidFill>
                  <a:srgbClr val="FF0000"/>
                </a:solidFill>
                <a:ea typeface="楷体_GB2312" pitchFamily="49" charset="-122"/>
              </a:rPr>
              <a:t>float n = 0;</a:t>
            </a:r>
          </a:p>
          <a:p>
            <a:pPr marL="457200" indent="-457200"/>
            <a:endParaRPr lang="en-US" altLang="zh-CN" sz="2000" b="1" dirty="0">
              <a:solidFill>
                <a:srgbClr val="FF0000"/>
              </a:solidFill>
              <a:ea typeface="楷体_GB2312" pitchFamily="49" charset="-122"/>
            </a:endParaRPr>
          </a:p>
          <a:p>
            <a:pPr marL="457200" indent="-457200"/>
            <a:r>
              <a:rPr lang="en-US" altLang="zh-CN" sz="2000" b="1" dirty="0" err="1">
                <a:solidFill>
                  <a:srgbClr val="CC0000"/>
                </a:solidFill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 main ( )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{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  </a:t>
            </a:r>
            <a:r>
              <a:rPr lang="en-US" altLang="zh-CN" sz="2000" b="1" dirty="0" err="1">
                <a:ea typeface="楷体_GB2312" pitchFamily="49" charset="-122"/>
              </a:rPr>
              <a:t>int</a:t>
            </a:r>
            <a:r>
              <a:rPr lang="en-US" altLang="zh-CN" sz="2000" b="1" dirty="0">
                <a:ea typeface="楷体_GB2312" pitchFamily="49" charset="-122"/>
              </a:rPr>
              <a:t> s;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  float t;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  </a:t>
            </a:r>
            <a:r>
              <a:rPr lang="en-US" altLang="zh-CN" sz="2000" b="1" dirty="0" err="1">
                <a:ea typeface="楷体_GB2312" pitchFamily="49" charset="-122"/>
              </a:rPr>
              <a:t>scanf</a:t>
            </a:r>
            <a:r>
              <a:rPr lang="en-US" altLang="zh-CN" sz="2000" b="1" dirty="0">
                <a:ea typeface="楷体_GB2312" pitchFamily="49" charset="-122"/>
              </a:rPr>
              <a:t> ("%f", &amp;n);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  s = sign ( );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取符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取平方根号</a:t>
            </a:r>
          </a:p>
          <a:p>
            <a:pPr marL="457200" indent="-457200"/>
            <a:r>
              <a:rPr lang="zh-CN" altLang="en-US" sz="2000" b="1" dirty="0">
                <a:ea typeface="楷体_GB2312" pitchFamily="49" charset="-122"/>
              </a:rPr>
              <a:t>  </a:t>
            </a:r>
            <a:r>
              <a:rPr lang="en-US" altLang="zh-CN" sz="2000" b="1" dirty="0">
                <a:ea typeface="楷体_GB2312" pitchFamily="49" charset="-122"/>
              </a:rPr>
              <a:t>t = </a:t>
            </a:r>
            <a:r>
              <a:rPr lang="en-US" altLang="zh-CN" sz="2000" b="1" dirty="0" err="1">
                <a:ea typeface="楷体_GB2312" pitchFamily="49" charset="-122"/>
              </a:rPr>
              <a:t>sqr</a:t>
            </a:r>
            <a:r>
              <a:rPr lang="en-US" altLang="zh-CN" sz="2000" b="1" dirty="0">
                <a:ea typeface="楷体_GB2312" pitchFamily="49" charset="-122"/>
              </a:rPr>
              <a:t> ( );   </a:t>
            </a:r>
            <a:endParaRPr lang="zh-CN" altLang="en-US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  <a:p>
            <a:pPr marL="457200" indent="-457200"/>
            <a:r>
              <a:rPr lang="zh-CN" altLang="en-US" sz="2000" b="1" dirty="0">
                <a:ea typeface="楷体_GB2312" pitchFamily="49" charset="-122"/>
              </a:rPr>
              <a:t>  </a:t>
            </a:r>
            <a:r>
              <a:rPr lang="en-US" altLang="zh-CN" sz="2000" b="1" dirty="0" err="1">
                <a:ea typeface="楷体_GB2312" pitchFamily="49" charset="-122"/>
              </a:rPr>
              <a:t>printf</a:t>
            </a:r>
            <a:r>
              <a:rPr lang="en-US" altLang="zh-CN" sz="2000" b="1" dirty="0">
                <a:ea typeface="楷体_GB2312" pitchFamily="49" charset="-122"/>
              </a:rPr>
              <a:t> ("s = %d  t = %f ", s, t);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  return 0;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}</a:t>
            </a:r>
          </a:p>
          <a:p>
            <a:pPr marL="457200" indent="-457200"/>
            <a:endParaRPr lang="en-US" altLang="zh-CN" sz="2000" b="1" dirty="0">
              <a:ea typeface="楷体_GB2312" pitchFamily="49" charset="-122"/>
            </a:endParaRPr>
          </a:p>
          <a:p>
            <a:pPr marL="457200" indent="-457200"/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取数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n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的符号</a:t>
            </a:r>
          </a:p>
          <a:p>
            <a:pPr marL="457200" indent="-457200"/>
            <a:r>
              <a:rPr lang="en-US" altLang="zh-CN" sz="2000" b="1" dirty="0" err="1">
                <a:solidFill>
                  <a:schemeClr val="accent1">
                    <a:lumMod val="50000"/>
                  </a:schemeClr>
                </a:solidFill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  <a:ea typeface="楷体_GB2312" pitchFamily="49" charset="-122"/>
              </a:rPr>
              <a:t> sign ( )</a:t>
            </a:r>
          </a:p>
          <a:p>
            <a:pPr marL="457200" indent="-457200"/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  <a:ea typeface="楷体_GB2312" pitchFamily="49" charset="-122"/>
              </a:rPr>
              <a:t>{</a:t>
            </a:r>
          </a:p>
          <a:p>
            <a:pPr marL="457200" indent="-457200"/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  <a:ea typeface="楷体_GB2312" pitchFamily="49" charset="-122"/>
              </a:rPr>
              <a:t>  </a:t>
            </a:r>
            <a:r>
              <a:rPr lang="en-US" altLang="zh-CN" sz="2000" b="1" dirty="0" err="1">
                <a:solidFill>
                  <a:schemeClr val="accent1">
                    <a:lumMod val="50000"/>
                  </a:schemeClr>
                </a:solidFill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  <a:ea typeface="楷体_GB2312" pitchFamily="49" charset="-122"/>
              </a:rPr>
              <a:t> r = 0;</a:t>
            </a:r>
          </a:p>
          <a:p>
            <a:pPr marL="457200" indent="-457200"/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  <a:ea typeface="楷体_GB2312" pitchFamily="49" charset="-122"/>
              </a:rPr>
              <a:t>  if (n &gt; 0)  r = 1;</a:t>
            </a:r>
          </a:p>
          <a:p>
            <a:pPr marL="457200" indent="-457200"/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  <a:ea typeface="楷体_GB2312" pitchFamily="49" charset="-122"/>
              </a:rPr>
              <a:t>  if (n &lt; 0)  r = -1;</a:t>
            </a:r>
          </a:p>
          <a:p>
            <a:pPr marL="457200" indent="-457200"/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  <a:ea typeface="楷体_GB2312" pitchFamily="49" charset="-122"/>
              </a:rPr>
              <a:t>  return ( r );</a:t>
            </a:r>
          </a:p>
          <a:p>
            <a:pPr marL="457200" indent="-457200"/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  <a:ea typeface="楷体_GB2312" pitchFamily="49" charset="-122"/>
              </a:rPr>
              <a:t>}</a:t>
            </a:r>
          </a:p>
        </p:txBody>
      </p:sp>
      <p:sp>
        <p:nvSpPr>
          <p:cNvPr id="1071126" name="Rectangle 22"/>
          <p:cNvSpPr>
            <a:spLocks noChangeArrowheads="1"/>
          </p:cNvSpPr>
          <p:nvPr/>
        </p:nvSpPr>
        <p:spPr bwMode="auto">
          <a:xfrm>
            <a:off x="4959773" y="229820"/>
            <a:ext cx="1382712" cy="346075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1127" name="AutoShape 23"/>
          <p:cNvSpPr>
            <a:spLocks/>
          </p:cNvSpPr>
          <p:nvPr/>
        </p:nvSpPr>
        <p:spPr bwMode="auto">
          <a:xfrm>
            <a:off x="7148935" y="472708"/>
            <a:ext cx="2089150" cy="720725"/>
          </a:xfrm>
          <a:prstGeom prst="borderCallout2">
            <a:avLst>
              <a:gd name="adj1" fmla="val 15861"/>
              <a:gd name="adj2" fmla="val -3648"/>
              <a:gd name="adj3" fmla="val 15861"/>
              <a:gd name="adj4" fmla="val -21278"/>
              <a:gd name="adj5" fmla="val -3523"/>
              <a:gd name="adj6" fmla="val -39361"/>
            </a:avLst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定义</a:t>
            </a:r>
            <a:r>
              <a:rPr lang="zh-CN" altLang="en-US" sz="20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全局变量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，并赋初值</a:t>
            </a:r>
          </a:p>
        </p:txBody>
      </p:sp>
      <p:sp>
        <p:nvSpPr>
          <p:cNvPr id="1071128" name="Rectangle 24"/>
          <p:cNvSpPr>
            <a:spLocks noChangeArrowheads="1"/>
          </p:cNvSpPr>
          <p:nvPr/>
        </p:nvSpPr>
        <p:spPr bwMode="auto">
          <a:xfrm>
            <a:off x="5089949" y="1517283"/>
            <a:ext cx="892175" cy="541337"/>
          </a:xfrm>
          <a:prstGeom prst="rect">
            <a:avLst/>
          </a:prstGeom>
          <a:noFill/>
          <a:ln w="28575">
            <a:solidFill>
              <a:srgbClr val="00206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1129" name="AutoShape 25"/>
          <p:cNvSpPr>
            <a:spLocks/>
          </p:cNvSpPr>
          <p:nvPr/>
        </p:nvSpPr>
        <p:spPr bwMode="auto">
          <a:xfrm>
            <a:off x="7782348" y="1310908"/>
            <a:ext cx="1295400" cy="433387"/>
          </a:xfrm>
          <a:prstGeom prst="borderCallout2">
            <a:avLst>
              <a:gd name="adj1" fmla="val 26375"/>
              <a:gd name="adj2" fmla="val -5884"/>
              <a:gd name="adj3" fmla="val 26375"/>
              <a:gd name="adj4" fmla="val -72426"/>
              <a:gd name="adj5" fmla="val 107694"/>
              <a:gd name="adj6" fmla="val -140931"/>
            </a:avLst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r>
              <a:rPr lang="zh-CN" altLang="en-US" sz="2000" b="1">
                <a:solidFill>
                  <a:srgbClr val="002060"/>
                </a:solidFill>
                <a:latin typeface="+mn-lt"/>
                <a:ea typeface="楷体" pitchFamily="49" charset="-122"/>
              </a:rPr>
              <a:t>局部变量</a:t>
            </a:r>
          </a:p>
        </p:txBody>
      </p:sp>
      <p:grpSp>
        <p:nvGrpSpPr>
          <p:cNvPr id="1071137" name="Group 33"/>
          <p:cNvGrpSpPr>
            <a:grpSpLocks/>
          </p:cNvGrpSpPr>
          <p:nvPr/>
        </p:nvGrpSpPr>
        <p:grpSpPr bwMode="auto">
          <a:xfrm>
            <a:off x="5189961" y="398094"/>
            <a:ext cx="4873683" cy="6143626"/>
            <a:chOff x="2472" y="434"/>
            <a:chExt cx="2962" cy="3693"/>
          </a:xfrm>
        </p:grpSpPr>
        <p:grpSp>
          <p:nvGrpSpPr>
            <p:cNvPr id="1071136" name="Group 32"/>
            <p:cNvGrpSpPr>
              <a:grpSpLocks/>
            </p:cNvGrpSpPr>
            <p:nvPr/>
          </p:nvGrpSpPr>
          <p:grpSpPr bwMode="auto">
            <a:xfrm>
              <a:off x="2472" y="434"/>
              <a:ext cx="2628" cy="3693"/>
              <a:chOff x="2472" y="434"/>
              <a:chExt cx="2628" cy="3693"/>
            </a:xfrm>
          </p:grpSpPr>
          <p:sp>
            <p:nvSpPr>
              <p:cNvPr id="1071132" name="Line 28"/>
              <p:cNvSpPr>
                <a:spLocks noChangeShapeType="1"/>
              </p:cNvSpPr>
              <p:nvPr/>
            </p:nvSpPr>
            <p:spPr bwMode="auto">
              <a:xfrm>
                <a:off x="5100" y="436"/>
                <a:ext cx="0" cy="3691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  <p:sp>
            <p:nvSpPr>
              <p:cNvPr id="1071133" name="Line 29"/>
              <p:cNvSpPr>
                <a:spLocks noChangeShapeType="1"/>
              </p:cNvSpPr>
              <p:nvPr/>
            </p:nvSpPr>
            <p:spPr bwMode="auto">
              <a:xfrm flipH="1">
                <a:off x="2472" y="4110"/>
                <a:ext cx="262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stealth" w="lg" len="lg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  <p:sp>
            <p:nvSpPr>
              <p:cNvPr id="1071134" name="Line 30"/>
              <p:cNvSpPr>
                <a:spLocks noChangeShapeType="1"/>
              </p:cNvSpPr>
              <p:nvPr/>
            </p:nvSpPr>
            <p:spPr bwMode="auto">
              <a:xfrm>
                <a:off x="3199" y="434"/>
                <a:ext cx="1897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</p:grpSp>
        <p:sp>
          <p:nvSpPr>
            <p:cNvPr id="1071135" name="Rectangle 31"/>
            <p:cNvSpPr>
              <a:spLocks noChangeArrowheads="1"/>
            </p:cNvSpPr>
            <p:nvPr/>
          </p:nvSpPr>
          <p:spPr bwMode="auto">
            <a:xfrm>
              <a:off x="5071" y="1296"/>
              <a:ext cx="363" cy="17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C00000"/>
                  </a:solidFill>
                  <a:latin typeface="+mn-lt"/>
                  <a:ea typeface="楷体" pitchFamily="49" charset="-122"/>
                </a:rPr>
                <a:t>全局变量</a:t>
              </a:r>
              <a:endParaRPr lang="en-US" altLang="zh-CN" sz="2000" b="1" dirty="0">
                <a:solidFill>
                  <a:srgbClr val="C00000"/>
                </a:solidFill>
                <a:latin typeface="+mn-lt"/>
                <a:ea typeface="楷体" pitchFamily="49" charset="-122"/>
              </a:endParaRPr>
            </a:p>
            <a:p>
              <a:pPr algn="ctr"/>
              <a:r>
                <a:rPr lang="en-US" altLang="zh-CN" sz="2000" b="1" dirty="0">
                  <a:solidFill>
                    <a:srgbClr val="C00000"/>
                  </a:solidFill>
                  <a:latin typeface="+mn-lt"/>
                  <a:ea typeface="楷体" pitchFamily="49" charset="-122"/>
                </a:rPr>
                <a:t>n</a:t>
              </a:r>
            </a:p>
            <a:p>
              <a:pPr algn="ctr"/>
              <a:r>
                <a:rPr lang="zh-CN" altLang="en-US" sz="2000" b="1" dirty="0">
                  <a:solidFill>
                    <a:srgbClr val="C00000"/>
                  </a:solidFill>
                  <a:latin typeface="+mn-lt"/>
                  <a:ea typeface="楷体" pitchFamily="49" charset="-122"/>
                </a:rPr>
                <a:t>的作用域 </a:t>
              </a:r>
            </a:p>
          </p:txBody>
        </p:sp>
      </p:grpSp>
      <p:grpSp>
        <p:nvGrpSpPr>
          <p:cNvPr id="1071145" name="Group 41"/>
          <p:cNvGrpSpPr>
            <a:grpSpLocks/>
          </p:cNvGrpSpPr>
          <p:nvPr/>
        </p:nvGrpSpPr>
        <p:grpSpPr bwMode="auto">
          <a:xfrm>
            <a:off x="5129635" y="1857008"/>
            <a:ext cx="4395788" cy="1898631"/>
            <a:chOff x="2434" y="1353"/>
            <a:chExt cx="2769" cy="1034"/>
          </a:xfrm>
        </p:grpSpPr>
        <p:grpSp>
          <p:nvGrpSpPr>
            <p:cNvPr id="1071144" name="Group 40"/>
            <p:cNvGrpSpPr>
              <a:grpSpLocks/>
            </p:cNvGrpSpPr>
            <p:nvPr/>
          </p:nvGrpSpPr>
          <p:grpSpPr bwMode="auto">
            <a:xfrm>
              <a:off x="2434" y="1362"/>
              <a:ext cx="2184" cy="1025"/>
              <a:chOff x="2434" y="1362"/>
              <a:chExt cx="2184" cy="1025"/>
            </a:xfrm>
          </p:grpSpPr>
          <p:sp>
            <p:nvSpPr>
              <p:cNvPr id="1071140" name="Line 36"/>
              <p:cNvSpPr>
                <a:spLocks noChangeShapeType="1"/>
              </p:cNvSpPr>
              <p:nvPr/>
            </p:nvSpPr>
            <p:spPr bwMode="auto">
              <a:xfrm>
                <a:off x="2972" y="1362"/>
                <a:ext cx="1646" cy="0"/>
              </a:xfrm>
              <a:prstGeom prst="line">
                <a:avLst/>
              </a:prstGeom>
              <a:noFill/>
              <a:ln w="19050">
                <a:solidFill>
                  <a:srgbClr val="002060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  <p:sp>
            <p:nvSpPr>
              <p:cNvPr id="1071141" name="Line 37"/>
              <p:cNvSpPr>
                <a:spLocks noChangeShapeType="1"/>
              </p:cNvSpPr>
              <p:nvPr/>
            </p:nvSpPr>
            <p:spPr bwMode="auto">
              <a:xfrm>
                <a:off x="4613" y="1362"/>
                <a:ext cx="0" cy="1025"/>
              </a:xfrm>
              <a:prstGeom prst="line">
                <a:avLst/>
              </a:prstGeom>
              <a:noFill/>
              <a:ln w="19050">
                <a:solidFill>
                  <a:srgbClr val="002060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  <p:sp>
            <p:nvSpPr>
              <p:cNvPr id="1071142" name="Line 38"/>
              <p:cNvSpPr>
                <a:spLocks noChangeShapeType="1"/>
              </p:cNvSpPr>
              <p:nvPr/>
            </p:nvSpPr>
            <p:spPr bwMode="auto">
              <a:xfrm flipH="1">
                <a:off x="2434" y="2387"/>
                <a:ext cx="2179" cy="0"/>
              </a:xfrm>
              <a:prstGeom prst="line">
                <a:avLst/>
              </a:prstGeom>
              <a:noFill/>
              <a:ln w="19050">
                <a:solidFill>
                  <a:srgbClr val="002060"/>
                </a:solidFill>
                <a:round/>
                <a:headEnd/>
                <a:tailEnd type="stealth" w="lg" len="lg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</p:grpSp>
        <p:sp>
          <p:nvSpPr>
            <p:cNvPr id="1071143" name="Rectangle 39"/>
            <p:cNvSpPr>
              <a:spLocks noChangeArrowheads="1"/>
            </p:cNvSpPr>
            <p:nvPr/>
          </p:nvSpPr>
          <p:spPr bwMode="auto">
            <a:xfrm>
              <a:off x="4613" y="1353"/>
              <a:ext cx="590" cy="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zh-CN" altLang="en-US" sz="20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局部变量</a:t>
              </a:r>
              <a:endPara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endParaRPr>
            </a:p>
            <a:p>
              <a:r>
                <a:rPr lang="en-US" altLang="zh-CN" sz="20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 s</a:t>
              </a:r>
              <a:r>
                <a:rPr lang="zh-CN" altLang="en-US" sz="20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、</a:t>
              </a:r>
              <a:r>
                <a:rPr lang="en-US" altLang="zh-CN" sz="20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t</a:t>
              </a:r>
            </a:p>
            <a:p>
              <a:r>
                <a:rPr lang="zh-CN" altLang="en-US" sz="20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的作用域</a:t>
              </a:r>
            </a:p>
          </p:txBody>
        </p:sp>
      </p:grpSp>
      <p:sp>
        <p:nvSpPr>
          <p:cNvPr id="1071146" name="Rectangle 42"/>
          <p:cNvSpPr>
            <a:spLocks noChangeArrowheads="1"/>
          </p:cNvSpPr>
          <p:nvPr/>
        </p:nvSpPr>
        <p:spPr bwMode="auto">
          <a:xfrm>
            <a:off x="5118524" y="5100863"/>
            <a:ext cx="1006475" cy="325437"/>
          </a:xfrm>
          <a:prstGeom prst="rect">
            <a:avLst/>
          </a:prstGeom>
          <a:noFill/>
          <a:ln w="28575">
            <a:solidFill>
              <a:srgbClr val="00206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1147" name="AutoShape 43"/>
          <p:cNvSpPr>
            <a:spLocks/>
          </p:cNvSpPr>
          <p:nvPr/>
        </p:nvSpPr>
        <p:spPr bwMode="auto">
          <a:xfrm>
            <a:off x="7782348" y="4475371"/>
            <a:ext cx="1295400" cy="433388"/>
          </a:xfrm>
          <a:prstGeom prst="borderCallout2">
            <a:avLst>
              <a:gd name="adj1" fmla="val 26375"/>
              <a:gd name="adj2" fmla="val -5884"/>
              <a:gd name="adj3" fmla="val 26375"/>
              <a:gd name="adj4" fmla="val -67769"/>
              <a:gd name="adj5" fmla="val 130037"/>
              <a:gd name="adj6" fmla="val -131370"/>
            </a:avLst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r>
              <a:rPr lang="zh-CN" altLang="en-US" sz="2000" b="1">
                <a:solidFill>
                  <a:srgbClr val="002060"/>
                </a:solidFill>
                <a:latin typeface="+mn-lt"/>
                <a:ea typeface="楷体" pitchFamily="49" charset="-122"/>
              </a:rPr>
              <a:t>局部变量</a:t>
            </a:r>
          </a:p>
        </p:txBody>
      </p:sp>
      <p:grpSp>
        <p:nvGrpSpPr>
          <p:cNvPr id="1071154" name="Group 50"/>
          <p:cNvGrpSpPr>
            <a:grpSpLocks/>
          </p:cNvGrpSpPr>
          <p:nvPr/>
        </p:nvGrpSpPr>
        <p:grpSpPr bwMode="auto">
          <a:xfrm>
            <a:off x="5516985" y="5181809"/>
            <a:ext cx="3906838" cy="1223962"/>
            <a:chOff x="2678" y="3285"/>
            <a:chExt cx="2461" cy="771"/>
          </a:xfrm>
        </p:grpSpPr>
        <p:grpSp>
          <p:nvGrpSpPr>
            <p:cNvPr id="1071149" name="Group 45"/>
            <p:cNvGrpSpPr>
              <a:grpSpLocks/>
            </p:cNvGrpSpPr>
            <p:nvPr/>
          </p:nvGrpSpPr>
          <p:grpSpPr bwMode="auto">
            <a:xfrm>
              <a:off x="2678" y="3285"/>
              <a:ext cx="1580" cy="771"/>
              <a:chOff x="2434" y="1362"/>
              <a:chExt cx="2184" cy="1025"/>
            </a:xfrm>
          </p:grpSpPr>
          <p:sp>
            <p:nvSpPr>
              <p:cNvPr id="1071150" name="Line 46"/>
              <p:cNvSpPr>
                <a:spLocks noChangeShapeType="1"/>
              </p:cNvSpPr>
              <p:nvPr/>
            </p:nvSpPr>
            <p:spPr bwMode="auto">
              <a:xfrm>
                <a:off x="2972" y="1362"/>
                <a:ext cx="1646" cy="0"/>
              </a:xfrm>
              <a:prstGeom prst="line">
                <a:avLst/>
              </a:prstGeom>
              <a:noFill/>
              <a:ln w="19050">
                <a:solidFill>
                  <a:srgbClr val="002060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  <p:sp>
            <p:nvSpPr>
              <p:cNvPr id="1071151" name="Line 47"/>
              <p:cNvSpPr>
                <a:spLocks noChangeShapeType="1"/>
              </p:cNvSpPr>
              <p:nvPr/>
            </p:nvSpPr>
            <p:spPr bwMode="auto">
              <a:xfrm>
                <a:off x="4613" y="1362"/>
                <a:ext cx="0" cy="1025"/>
              </a:xfrm>
              <a:prstGeom prst="line">
                <a:avLst/>
              </a:prstGeom>
              <a:noFill/>
              <a:ln w="19050">
                <a:solidFill>
                  <a:srgbClr val="002060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  <p:sp>
            <p:nvSpPr>
              <p:cNvPr id="1071152" name="Line 48"/>
              <p:cNvSpPr>
                <a:spLocks noChangeShapeType="1"/>
              </p:cNvSpPr>
              <p:nvPr/>
            </p:nvSpPr>
            <p:spPr bwMode="auto">
              <a:xfrm flipH="1">
                <a:off x="2434" y="2387"/>
                <a:ext cx="2179" cy="0"/>
              </a:xfrm>
              <a:prstGeom prst="line">
                <a:avLst/>
              </a:prstGeom>
              <a:noFill/>
              <a:ln w="19050">
                <a:solidFill>
                  <a:srgbClr val="002060"/>
                </a:solidFill>
                <a:round/>
                <a:headEnd/>
                <a:tailEnd type="stealth" w="lg" len="lg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</p:grpSp>
        <p:sp>
          <p:nvSpPr>
            <p:cNvPr id="1071153" name="Rectangle 49"/>
            <p:cNvSpPr>
              <a:spLocks noChangeArrowheads="1"/>
            </p:cNvSpPr>
            <p:nvPr/>
          </p:nvSpPr>
          <p:spPr bwMode="auto">
            <a:xfrm>
              <a:off x="4232" y="3439"/>
              <a:ext cx="907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zh-CN" altLang="en-US" sz="20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局部变量</a:t>
              </a:r>
              <a:r>
                <a:rPr lang="en-US" altLang="zh-CN" sz="20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r</a:t>
              </a:r>
            </a:p>
            <a:p>
              <a:r>
                <a:rPr lang="zh-CN" altLang="en-US" sz="20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的作用域</a:t>
              </a:r>
            </a:p>
          </p:txBody>
        </p:sp>
      </p:grpSp>
      <p:sp>
        <p:nvSpPr>
          <p:cNvPr id="1071155" name="Oval 51"/>
          <p:cNvSpPr>
            <a:spLocks noChangeArrowheads="1"/>
          </p:cNvSpPr>
          <p:nvPr/>
        </p:nvSpPr>
        <p:spPr bwMode="auto">
          <a:xfrm>
            <a:off x="2413857" y="4698346"/>
            <a:ext cx="212725" cy="377825"/>
          </a:xfrm>
          <a:prstGeom prst="ellips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071159" name="Group 55"/>
          <p:cNvGrpSpPr>
            <a:grpSpLocks/>
          </p:cNvGrpSpPr>
          <p:nvPr/>
        </p:nvGrpSpPr>
        <p:grpSpPr bwMode="auto">
          <a:xfrm>
            <a:off x="2582131" y="4104620"/>
            <a:ext cx="2116138" cy="792162"/>
            <a:chOff x="838" y="2795"/>
            <a:chExt cx="1333" cy="499"/>
          </a:xfrm>
        </p:grpSpPr>
        <p:sp>
          <p:nvSpPr>
            <p:cNvPr id="1071157" name="AutoShape 53"/>
            <p:cNvSpPr>
              <a:spLocks noChangeArrowheads="1"/>
            </p:cNvSpPr>
            <p:nvPr/>
          </p:nvSpPr>
          <p:spPr bwMode="auto">
            <a:xfrm>
              <a:off x="1264" y="2795"/>
              <a:ext cx="907" cy="499"/>
            </a:xfrm>
            <a:prstGeom prst="irregularSeal1">
              <a:avLst/>
            </a:prstGeom>
            <a:gradFill rotWithShape="1">
              <a:gsLst>
                <a:gs pos="0">
                  <a:srgbClr val="CFCFD1"/>
                </a:gs>
                <a:gs pos="100000">
                  <a:schemeClr val="bg1"/>
                </a:gs>
              </a:gsLst>
              <a:lin ang="5400000" scaled="1"/>
            </a:gradFill>
            <a:ln w="28575">
              <a:solidFill>
                <a:srgbClr val="C01920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</p:spPr>
          <p:txBody>
            <a:bodyPr wrap="none" anchor="ctr"/>
            <a:lstStyle/>
            <a:p>
              <a:pPr algn="ctr"/>
              <a:r>
                <a:rPr lang="zh-CN" altLang="en-US" sz="2000" b="1">
                  <a:solidFill>
                    <a:srgbClr val="C00000"/>
                  </a:solidFill>
                  <a:latin typeface="+mn-lt"/>
                  <a:ea typeface="楷体" pitchFamily="49" charset="-122"/>
                </a:rPr>
                <a:t>错误！</a:t>
              </a:r>
            </a:p>
          </p:txBody>
        </p:sp>
        <p:sp>
          <p:nvSpPr>
            <p:cNvPr id="1071158" name="Line 54"/>
            <p:cNvSpPr>
              <a:spLocks noChangeShapeType="1"/>
            </p:cNvSpPr>
            <p:nvPr/>
          </p:nvSpPr>
          <p:spPr bwMode="auto">
            <a:xfrm flipV="1">
              <a:off x="838" y="3031"/>
              <a:ext cx="454" cy="136"/>
            </a:xfrm>
            <a:prstGeom prst="line">
              <a:avLst/>
            </a:prstGeom>
            <a:noFill/>
            <a:ln w="19050">
              <a:solidFill>
                <a:srgbClr val="C01920"/>
              </a:solidFill>
              <a:round/>
              <a:headEnd/>
              <a:tailEnd/>
            </a:ln>
            <a:effectLst>
              <a:outerShdw dist="35921" dir="2700000" algn="ctr" rotWithShape="0">
                <a:schemeClr val="bg2">
                  <a:alpha val="50000"/>
                </a:schemeClr>
              </a:outerShdw>
            </a:effectLst>
          </p:spPr>
          <p:txBody>
            <a:bodyPr/>
            <a:lstStyle/>
            <a:p>
              <a:endParaRPr lang="zh-CN" altLang="en-US">
                <a:solidFill>
                  <a:srgbClr val="C00000"/>
                </a:solidFill>
                <a:latin typeface="+mn-lt"/>
                <a:ea typeface="楷体" pitchFamily="49" charset="-122"/>
              </a:endParaRPr>
            </a:p>
          </p:txBody>
        </p:sp>
      </p:grp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71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71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0711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10711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711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711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10711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711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711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10711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1" dur="500"/>
                                        <p:tgtEl>
                                          <p:spTgt spid="10711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6" dur="500"/>
                                        <p:tgtEl>
                                          <p:spTgt spid="10711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1" dur="500"/>
                                        <p:tgtEl>
                                          <p:spTgt spid="10711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5" dur="500"/>
                                        <p:tgtEl>
                                          <p:spTgt spid="10711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0" dur="500"/>
                                        <p:tgtEl>
                                          <p:spTgt spid="10711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5" dur="500"/>
                                        <p:tgtEl>
                                          <p:spTgt spid="10711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9" dur="500"/>
                                        <p:tgtEl>
                                          <p:spTgt spid="10711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4" dur="500"/>
                                        <p:tgtEl>
                                          <p:spTgt spid="10711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89" dur="500"/>
                                        <p:tgtEl>
                                          <p:spTgt spid="10711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93" dur="500"/>
                                        <p:tgtEl>
                                          <p:spTgt spid="10711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8" dur="500"/>
                                        <p:tgtEl>
                                          <p:spTgt spid="10711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03" dur="500"/>
                                        <p:tgtEl>
                                          <p:spTgt spid="10711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07" dur="500"/>
                                        <p:tgtEl>
                                          <p:spTgt spid="10711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1071124" grpId="0" animBg="1"/>
      <p:bldP spid="1071125" grpId="0" animBg="1"/>
      <p:bldP spid="1071126" grpId="0" animBg="1"/>
      <p:bldP spid="1071127" grpId="0" animBg="1"/>
      <p:bldP spid="1071128" grpId="0" animBg="1"/>
      <p:bldP spid="1071129" grpId="0" animBg="1"/>
      <p:bldP spid="1071146" grpId="0" animBg="1"/>
      <p:bldP spid="1071147" grpId="0" animBg="1"/>
      <p:bldP spid="107115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157" name="Rectangle 5"/>
          <p:cNvSpPr>
            <a:spLocks noChangeArrowheads="1"/>
          </p:cNvSpPr>
          <p:nvPr/>
        </p:nvSpPr>
        <p:spPr bwMode="auto">
          <a:xfrm>
            <a:off x="1175924" y="1494779"/>
            <a:ext cx="11256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Clr>
                <a:srgbClr val="C01920"/>
              </a:buClr>
              <a:buFont typeface="Wingdings" pitchFamily="2" charset="2"/>
              <a:buChar char="Ø"/>
            </a:pPr>
            <a:r>
              <a:rPr lang="en-US" altLang="zh-CN" dirty="0">
                <a:solidFill>
                  <a:srgbClr val="C01920"/>
                </a:solidFill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说明</a:t>
            </a:r>
          </a:p>
        </p:txBody>
      </p:sp>
      <p:sp>
        <p:nvSpPr>
          <p:cNvPr id="1073158" name="Rectangle 6"/>
          <p:cNvSpPr>
            <a:spLocks noChangeArrowheads="1"/>
          </p:cNvSpPr>
          <p:nvPr/>
        </p:nvSpPr>
        <p:spPr bwMode="auto">
          <a:xfrm>
            <a:off x="659568" y="1974203"/>
            <a:ext cx="6318266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tabLst>
                <a:tab pos="457200" algn="l"/>
              </a:tabLst>
            </a:pPr>
            <a:r>
              <a:rPr lang="en-US" altLang="zh-CN" b="1" dirty="0">
                <a:latin typeface="+mn-lt"/>
                <a:ea typeface="楷体" pitchFamily="49" charset="-122"/>
              </a:rPr>
              <a:t>        (1)  </a:t>
            </a:r>
            <a:r>
              <a:rPr lang="zh-CN" altLang="en-US" b="1" dirty="0">
                <a:latin typeface="+mn-lt"/>
                <a:ea typeface="楷体" pitchFamily="49" charset="-122"/>
              </a:rPr>
              <a:t>应尽量少使用全局变量。              </a:t>
            </a:r>
          </a:p>
        </p:txBody>
      </p:sp>
      <p:sp>
        <p:nvSpPr>
          <p:cNvPr id="1073181" name="Rectangle 29"/>
          <p:cNvSpPr>
            <a:spLocks noChangeArrowheads="1"/>
          </p:cNvSpPr>
          <p:nvPr/>
        </p:nvSpPr>
        <p:spPr bwMode="auto">
          <a:xfrm>
            <a:off x="1737162" y="2487119"/>
            <a:ext cx="8135937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Clr>
                <a:srgbClr val="002060"/>
              </a:buClr>
              <a:buFont typeface="Wingdings" pitchFamily="2" charset="2"/>
              <a:buChar char="Ø"/>
            </a:pPr>
            <a:r>
              <a:rPr lang="en-US" altLang="zh-CN" b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b="1" dirty="0">
                <a:ln w="1905"/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全局变量在程序全部执行过程中始终占用存储单元</a:t>
            </a:r>
          </a:p>
          <a:p>
            <a:pPr>
              <a:buClr>
                <a:srgbClr val="002060"/>
              </a:buClr>
              <a:buFont typeface="Wingdings" pitchFamily="2" charset="2"/>
              <a:buChar char="Ø"/>
            </a:pPr>
            <a:r>
              <a:rPr lang="zh-CN" altLang="en-US" b="1" dirty="0">
                <a:ln w="1905"/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降低了函数的独立性、通用性、可靠性及可移植性</a:t>
            </a:r>
          </a:p>
          <a:p>
            <a:pPr>
              <a:buClr>
                <a:srgbClr val="002060"/>
              </a:buClr>
              <a:buFont typeface="Wingdings" pitchFamily="2" charset="2"/>
              <a:buChar char="Ø"/>
            </a:pPr>
            <a:r>
              <a:rPr lang="zh-CN" altLang="en-US" b="1" dirty="0">
                <a:ln w="1905"/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降低程序清晰性，容易出错</a:t>
            </a:r>
          </a:p>
        </p:txBody>
      </p:sp>
      <p:sp>
        <p:nvSpPr>
          <p:cNvPr id="1073182" name="Rectangle 30"/>
          <p:cNvSpPr>
            <a:spLocks noChangeArrowheads="1"/>
          </p:cNvSpPr>
          <p:nvPr/>
        </p:nvSpPr>
        <p:spPr bwMode="auto">
          <a:xfrm>
            <a:off x="659568" y="3762137"/>
            <a:ext cx="1062100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rgbClr val="FFCC00"/>
              </a:buClr>
              <a:buFont typeface="Wingdings" pitchFamily="2" charset="2"/>
              <a:buNone/>
            </a:pPr>
            <a:r>
              <a:rPr lang="en-US" altLang="zh-CN" b="1" dirty="0">
                <a:latin typeface="+mn-lt"/>
                <a:ea typeface="楷体" pitchFamily="49" charset="-122"/>
              </a:rPr>
              <a:t>        (2) 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若外部变量与局部变量同名，则外部变量被屏蔽</a:t>
            </a:r>
            <a:r>
              <a:rPr lang="zh-CN" altLang="en-US" b="1" dirty="0">
                <a:latin typeface="+mn-lt"/>
                <a:ea typeface="楷体" pitchFamily="49" charset="-122"/>
              </a:rPr>
              <a:t>。要引用全局变量，则必须在变量名前家上两个冒号“</a:t>
            </a: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::</a:t>
            </a:r>
            <a:r>
              <a:rPr lang="en-US" altLang="zh-CN" b="1" dirty="0">
                <a:latin typeface="+mn-lt"/>
                <a:ea typeface="楷体" pitchFamily="49" charset="-122"/>
              </a:rPr>
              <a:t>”</a:t>
            </a:r>
            <a:r>
              <a:rPr lang="en-US" altLang="zh-CN" dirty="0"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073183" name="Rectangle 31" descr="信纸"/>
          <p:cNvSpPr>
            <a:spLocks noChangeArrowheads="1"/>
          </p:cNvSpPr>
          <p:nvPr/>
        </p:nvSpPr>
        <p:spPr bwMode="auto">
          <a:xfrm>
            <a:off x="1546008" y="2472296"/>
            <a:ext cx="5314962" cy="3785652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lang="en-US" altLang="zh-CN" b="1" dirty="0">
                <a:ea typeface="楷体_GB2312" pitchFamily="49" charset="-122"/>
              </a:rPr>
              <a:t>#include &lt;</a:t>
            </a:r>
            <a:r>
              <a:rPr lang="en-US" altLang="zh-CN" b="1" dirty="0" err="1">
                <a:ea typeface="楷体_GB2312" pitchFamily="49" charset="-122"/>
              </a:rPr>
              <a:t>stdio.h</a:t>
            </a:r>
            <a:r>
              <a:rPr lang="en-US" altLang="zh-CN" b="1" dirty="0">
                <a:ea typeface="楷体_GB2312" pitchFamily="49" charset="-122"/>
              </a:rPr>
              <a:t>&gt;</a:t>
            </a:r>
          </a:p>
          <a:p>
            <a:pPr marL="457200" indent="-457200"/>
            <a:r>
              <a:rPr lang="en-US" altLang="zh-CN" b="1" dirty="0" err="1">
                <a:solidFill>
                  <a:srgbClr val="FF0000"/>
                </a:solidFill>
                <a:ea typeface="楷体_GB2312" pitchFamily="49" charset="-122"/>
              </a:rPr>
              <a:t>int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 a = 10;</a:t>
            </a:r>
            <a:r>
              <a:rPr lang="en-US" altLang="zh-CN" b="1" dirty="0">
                <a:ea typeface="楷体_GB2312" pitchFamily="49" charset="-122"/>
              </a:rPr>
              <a:t>      </a:t>
            </a:r>
            <a:r>
              <a:rPr lang="en-US" altLang="zh-CN" sz="1800" b="1" dirty="0">
                <a:latin typeface="+mn-lt"/>
                <a:ea typeface="楷体" pitchFamily="49" charset="-122"/>
              </a:rPr>
              <a:t>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全局变量</a:t>
            </a:r>
          </a:p>
          <a:p>
            <a:pPr marL="457200" indent="-457200"/>
            <a:endParaRPr lang="zh-CN" altLang="en-US" b="1" dirty="0">
              <a:ea typeface="楷体_GB2312" pitchFamily="49" charset="-122"/>
            </a:endParaRPr>
          </a:p>
          <a:p>
            <a:pPr marL="457200" indent="-457200"/>
            <a:r>
              <a:rPr lang="en-US" altLang="zh-CN" b="1" dirty="0" err="1">
                <a:solidFill>
                  <a:srgbClr val="CC0000"/>
                </a:solidFill>
                <a:ea typeface="楷体_GB2312" pitchFamily="49" charset="-122"/>
              </a:rPr>
              <a:t>int</a:t>
            </a:r>
            <a:r>
              <a:rPr lang="en-US" altLang="zh-CN" b="1" dirty="0">
                <a:solidFill>
                  <a:srgbClr val="CC0000"/>
                </a:solidFill>
                <a:ea typeface="楷体_GB2312" pitchFamily="49" charset="-122"/>
              </a:rPr>
              <a:t> main ( )</a:t>
            </a:r>
          </a:p>
          <a:p>
            <a:pPr marL="457200" indent="-457200"/>
            <a:r>
              <a:rPr lang="en-US" altLang="zh-CN" b="1" dirty="0">
                <a:ea typeface="楷体_GB2312" pitchFamily="49" charset="-122"/>
              </a:rPr>
              <a:t>{</a:t>
            </a:r>
          </a:p>
          <a:p>
            <a:pPr marL="457200" indent="-457200"/>
            <a:r>
              <a:rPr lang="en-US" altLang="zh-CN" b="1" dirty="0">
                <a:ea typeface="楷体_GB2312" pitchFamily="49" charset="-122"/>
              </a:rPr>
              <a:t>  </a:t>
            </a:r>
            <a:r>
              <a:rPr lang="en-US" altLang="zh-CN" b="1" dirty="0" err="1">
                <a:solidFill>
                  <a:schemeClr val="accent1">
                    <a:lumMod val="50000"/>
                  </a:schemeClr>
                </a:solidFill>
                <a:ea typeface="楷体_GB2312" pitchFamily="49" charset="-122"/>
              </a:rPr>
              <a:t>int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  <a:ea typeface="楷体_GB2312" pitchFamily="49" charset="-122"/>
              </a:rPr>
              <a:t> a = 100;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局部变量（与全局变量同名）</a:t>
            </a:r>
          </a:p>
          <a:p>
            <a:pPr marL="457200" indent="-457200"/>
            <a:r>
              <a:rPr lang="zh-CN" altLang="en-US" b="1" dirty="0">
                <a:ea typeface="楷体_GB2312" pitchFamily="49" charset="-122"/>
              </a:rPr>
              <a:t>  </a:t>
            </a:r>
            <a:r>
              <a:rPr lang="en-US" altLang="zh-CN" b="1" dirty="0" err="1">
                <a:ea typeface="楷体_GB2312" pitchFamily="49" charset="-122"/>
              </a:rPr>
              <a:t>printf</a:t>
            </a:r>
            <a:r>
              <a:rPr lang="en-US" altLang="zh-CN" b="1" dirty="0">
                <a:ea typeface="楷体_GB2312" pitchFamily="49" charset="-122"/>
              </a:rPr>
              <a:t> ("local a = %d\n", a);</a:t>
            </a:r>
          </a:p>
          <a:p>
            <a:pPr marL="457200" indent="-457200"/>
            <a:r>
              <a:rPr lang="en-US" altLang="zh-CN" b="1" dirty="0">
                <a:ea typeface="楷体_GB2312" pitchFamily="49" charset="-122"/>
              </a:rPr>
              <a:t>  </a:t>
            </a:r>
            <a:r>
              <a:rPr lang="en-US" altLang="zh-CN" b="1" dirty="0" err="1">
                <a:ea typeface="楷体_GB2312" pitchFamily="49" charset="-122"/>
              </a:rPr>
              <a:t>printf</a:t>
            </a:r>
            <a:r>
              <a:rPr lang="en-US" altLang="zh-CN" b="1" dirty="0">
                <a:ea typeface="楷体_GB2312" pitchFamily="49" charset="-122"/>
              </a:rPr>
              <a:t> ("global a = %d\n", 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::a</a:t>
            </a:r>
            <a:r>
              <a:rPr lang="en-US" altLang="zh-CN" b="1" dirty="0">
                <a:ea typeface="楷体_GB2312" pitchFamily="49" charset="-122"/>
              </a:rPr>
              <a:t>);</a:t>
            </a:r>
          </a:p>
          <a:p>
            <a:pPr marL="457200" indent="-457200"/>
            <a:r>
              <a:rPr lang="en-US" altLang="zh-CN" b="1" dirty="0">
                <a:ea typeface="楷体_GB2312" pitchFamily="49" charset="-122"/>
              </a:rPr>
              <a:t>  return 0;</a:t>
            </a:r>
          </a:p>
          <a:p>
            <a:pPr marL="457200" indent="-457200"/>
            <a:r>
              <a:rPr lang="en-US" altLang="zh-CN" b="1" dirty="0">
                <a:ea typeface="楷体_GB2312" pitchFamily="49" charset="-122"/>
              </a:rPr>
              <a:t>}</a:t>
            </a:r>
          </a:p>
        </p:txBody>
      </p:sp>
      <p:sp>
        <p:nvSpPr>
          <p:cNvPr id="1073184" name="Rectangle 32"/>
          <p:cNvSpPr>
            <a:spLocks noChangeArrowheads="1"/>
          </p:cNvSpPr>
          <p:nvPr/>
        </p:nvSpPr>
        <p:spPr bwMode="auto">
          <a:xfrm>
            <a:off x="7177405" y="5020368"/>
            <a:ext cx="2392175" cy="1225550"/>
          </a:xfrm>
          <a:prstGeom prst="rect">
            <a:avLst/>
          </a:prstGeom>
          <a:solidFill>
            <a:srgbClr val="FFFFFF"/>
          </a:soli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solidFill>
                  <a:srgbClr val="C01920"/>
                </a:solidFill>
                <a:latin typeface="隶书" pitchFamily="49" charset="-122"/>
                <a:ea typeface="隶书" pitchFamily="49" charset="-122"/>
              </a:rPr>
              <a:t>运行结果：</a:t>
            </a:r>
          </a:p>
          <a:p>
            <a:r>
              <a:rPr lang="en-US" altLang="zh-CN" b="1" dirty="0">
                <a:solidFill>
                  <a:srgbClr val="002060"/>
                </a:solidFill>
              </a:rPr>
              <a:t>local a = 100</a:t>
            </a:r>
          </a:p>
          <a:p>
            <a:r>
              <a:rPr lang="en-US" altLang="zh-CN" b="1" dirty="0">
                <a:solidFill>
                  <a:srgbClr val="002060"/>
                </a:solidFill>
              </a:rPr>
              <a:t>global a = 10</a:t>
            </a:r>
          </a:p>
        </p:txBody>
      </p:sp>
      <p:sp>
        <p:nvSpPr>
          <p:cNvPr id="1073186" name="Rectangle 34"/>
          <p:cNvSpPr>
            <a:spLocks noChangeArrowheads="1"/>
          </p:cNvSpPr>
          <p:nvPr/>
        </p:nvSpPr>
        <p:spPr bwMode="auto">
          <a:xfrm>
            <a:off x="1193396" y="3858658"/>
            <a:ext cx="7920880" cy="860425"/>
          </a:xfrm>
          <a:prstGeom prst="rect">
            <a:avLst/>
          </a:prstGeom>
          <a:gradFill flip="none" rotWithShape="1">
            <a:gsLst>
              <a:gs pos="47000">
                <a:srgbClr val="DDEEE0"/>
              </a:gs>
              <a:gs pos="86000">
                <a:schemeClr val="bg1"/>
              </a:gs>
              <a:gs pos="100000">
                <a:schemeClr val="bg1"/>
              </a:gs>
              <a:gs pos="0">
                <a:srgbClr val="BEDFC4"/>
              </a:gs>
            </a:gsLst>
            <a:lin ang="18900000" scaled="1"/>
            <a:tileRect/>
          </a:gradFill>
          <a:ln w="38100">
            <a:noFill/>
            <a:miter lim="800000"/>
            <a:headEnd/>
            <a:tailEnd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C01920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ea typeface="隶书" pitchFamily="49" charset="-122"/>
              </a:rPr>
              <a:t>     </a:t>
            </a:r>
            <a:r>
              <a:rPr lang="zh-CN" altLang="en-US" b="1" dirty="0">
                <a:solidFill>
                  <a:srgbClr val="C01920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ea typeface="隶书" pitchFamily="49" charset="-122"/>
              </a:rPr>
              <a:t>注意：</a:t>
            </a:r>
            <a:r>
              <a:rPr lang="zh-CN" altLang="en-US" b="1" dirty="0">
                <a:ln w="1905"/>
                <a:solidFill>
                  <a:srgbClr val="00206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ea typeface="隶书" pitchFamily="49" charset="-122"/>
              </a:rPr>
              <a:t>局部变量与全局变量同名极易导致程序员犯逻辑错误。</a:t>
            </a:r>
            <a:endParaRPr lang="zh-CN" altLang="en-US" b="1" dirty="0">
              <a:solidFill>
                <a:srgbClr val="002060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ea typeface="隶书" pitchFamily="49" charset="-122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4EBED15A-C7E0-4D90-A46A-78F7F2C9C4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724" y="883593"/>
            <a:ext cx="482441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3</a:t>
            </a:r>
            <a:r>
              <a:rPr lang="zh-CN" altLang="en-US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、全局变量作用域和生存期</a:t>
            </a: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BFE32A39-E6D7-4D8F-B2C2-A3687DC368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8.4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变量的作用域和生存期 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73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73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1073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73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73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1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731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731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1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731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731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10731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10731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10731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7" dur="500"/>
                                        <p:tgtEl>
                                          <p:spTgt spid="10731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3157" grpId="0"/>
      <p:bldP spid="1073182" grpId="0"/>
      <p:bldP spid="1073183" grpId="0" animBg="1"/>
      <p:bldP spid="1073184" grpId="0" animBg="1"/>
      <p:bldP spid="1073186" grpId="0" animBg="1"/>
      <p:bldP spid="1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05" name="Rectangle 5"/>
          <p:cNvSpPr>
            <a:spLocks noChangeArrowheads="1"/>
          </p:cNvSpPr>
          <p:nvPr/>
        </p:nvSpPr>
        <p:spPr bwMode="auto">
          <a:xfrm>
            <a:off x="1224206" y="1555714"/>
            <a:ext cx="11256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Clr>
                <a:srgbClr val="C01920"/>
              </a:buClr>
              <a:buFont typeface="Wingdings" pitchFamily="2" charset="2"/>
              <a:buChar char="Ø"/>
            </a:pPr>
            <a:r>
              <a:rPr lang="en-US" altLang="zh-CN" dirty="0">
                <a:solidFill>
                  <a:srgbClr val="C01920"/>
                </a:solidFill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说明</a:t>
            </a:r>
          </a:p>
        </p:txBody>
      </p:sp>
      <p:sp>
        <p:nvSpPr>
          <p:cNvPr id="1075206" name="Rectangle 6"/>
          <p:cNvSpPr>
            <a:spLocks noChangeArrowheads="1"/>
          </p:cNvSpPr>
          <p:nvPr/>
        </p:nvSpPr>
        <p:spPr bwMode="auto">
          <a:xfrm>
            <a:off x="678965" y="1975994"/>
            <a:ext cx="10961651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tabLst>
                <a:tab pos="457200" algn="l"/>
              </a:tabLst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   (3)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全局变量定义必须在所有的函数之外，且只能定义一次，并可赋初始值。全局变量定义的一般形式为：</a:t>
            </a:r>
            <a:r>
              <a:rPr lang="zh-CN" altLang="en-US" dirty="0"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075212" name="Text Box 12"/>
          <p:cNvSpPr txBox="1">
            <a:spLocks noChangeArrowheads="1"/>
          </p:cNvSpPr>
          <p:nvPr/>
        </p:nvSpPr>
        <p:spPr bwMode="auto">
          <a:xfrm>
            <a:off x="479797" y="2855319"/>
            <a:ext cx="11232406" cy="592228"/>
          </a:xfrm>
          <a:prstGeom prst="rect">
            <a:avLst/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  <a:tileRect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just"/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[extern] 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类型说明符  全局变量名</a:t>
            </a: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1[ =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初始值</a:t>
            </a: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1],  ……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，全局变量名</a:t>
            </a: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n[ =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初始值</a:t>
            </a: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n]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；</a:t>
            </a:r>
          </a:p>
        </p:txBody>
      </p:sp>
      <p:sp>
        <p:nvSpPr>
          <p:cNvPr id="1075213" name="AutoShape 13"/>
          <p:cNvSpPr>
            <a:spLocks noChangeArrowheads="1"/>
          </p:cNvSpPr>
          <p:nvPr/>
        </p:nvSpPr>
        <p:spPr bwMode="auto">
          <a:xfrm>
            <a:off x="1271860" y="3854435"/>
            <a:ext cx="1441450" cy="431800"/>
          </a:xfrm>
          <a:prstGeom prst="wedgeRoundRectCallout">
            <a:avLst>
              <a:gd name="adj1" fmla="val -75551"/>
              <a:gd name="adj2" fmla="val -187500"/>
              <a:gd name="adj3" fmla="val 16667"/>
            </a:avLst>
          </a:prstGeom>
          <a:gradFill rotWithShape="1">
            <a:gsLst>
              <a:gs pos="0">
                <a:srgbClr val="CFCFD1"/>
              </a:gs>
              <a:gs pos="100000">
                <a:srgbClr val="FFFFFF"/>
              </a:gs>
            </a:gsLst>
            <a:lin ang="5400000" scaled="1"/>
          </a:gradFill>
          <a:ln w="22225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just"/>
            <a:r>
              <a:rPr lang="zh-CN" altLang="en-US" sz="2000" b="1">
                <a:solidFill>
                  <a:srgbClr val="C01920"/>
                </a:solidFill>
                <a:ea typeface="隶书" pitchFamily="49" charset="-122"/>
              </a:rPr>
              <a:t>可缺省！</a:t>
            </a:r>
          </a:p>
        </p:txBody>
      </p:sp>
      <p:sp>
        <p:nvSpPr>
          <p:cNvPr id="1075214" name="Rectangle 14" descr="信纸"/>
          <p:cNvSpPr>
            <a:spLocks noChangeArrowheads="1"/>
          </p:cNvSpPr>
          <p:nvPr/>
        </p:nvSpPr>
        <p:spPr bwMode="auto">
          <a:xfrm>
            <a:off x="5760999" y="2884623"/>
            <a:ext cx="5159141" cy="3785652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lang="en-US" altLang="zh-CN" b="1"/>
              <a:t>char ch = 'Y'; </a:t>
            </a:r>
          </a:p>
          <a:p>
            <a:pPr marL="457200" indent="-457200"/>
            <a:r>
              <a:rPr lang="en-US" altLang="zh-CN" b="1"/>
              <a:t>void main ( )</a:t>
            </a:r>
          </a:p>
          <a:p>
            <a:pPr marL="457200" indent="-457200"/>
            <a:r>
              <a:rPr lang="en-US" altLang="zh-CN" b="1"/>
              <a:t>{</a:t>
            </a:r>
          </a:p>
          <a:p>
            <a:pPr marL="457200" indent="-457200"/>
            <a:r>
              <a:rPr lang="en-US" altLang="zh-CN" b="1"/>
              <a:t>  ……</a:t>
            </a:r>
          </a:p>
          <a:p>
            <a:pPr marL="457200" indent="-457200"/>
            <a:r>
              <a:rPr lang="en-US" altLang="zh-CN" b="1"/>
              <a:t>}</a:t>
            </a:r>
          </a:p>
          <a:p>
            <a:pPr marL="457200" indent="-457200"/>
            <a:r>
              <a:rPr lang="en-US" altLang="zh-CN" b="1"/>
              <a:t>char ch; </a:t>
            </a:r>
          </a:p>
          <a:p>
            <a:pPr marL="457200" indent="-457200"/>
            <a:r>
              <a:rPr lang="en-US" altLang="zh-CN" b="1"/>
              <a:t>void func ( )</a:t>
            </a:r>
          </a:p>
          <a:p>
            <a:pPr marL="457200" indent="-457200"/>
            <a:r>
              <a:rPr lang="en-US" altLang="zh-CN" b="1"/>
              <a:t>{</a:t>
            </a:r>
          </a:p>
          <a:p>
            <a:pPr marL="457200" indent="-457200"/>
            <a:r>
              <a:rPr lang="en-US" altLang="zh-CN" b="1"/>
              <a:t>  ……</a:t>
            </a:r>
          </a:p>
          <a:p>
            <a:pPr marL="457200" indent="-457200"/>
            <a:r>
              <a:rPr lang="en-US" altLang="zh-CN" b="1"/>
              <a:t>}</a:t>
            </a:r>
          </a:p>
        </p:txBody>
      </p:sp>
      <p:sp>
        <p:nvSpPr>
          <p:cNvPr id="1075215" name="Rectangle 15"/>
          <p:cNvSpPr>
            <a:spLocks noChangeArrowheads="1"/>
          </p:cNvSpPr>
          <p:nvPr/>
        </p:nvSpPr>
        <p:spPr bwMode="auto">
          <a:xfrm>
            <a:off x="5818148" y="2956059"/>
            <a:ext cx="1908773" cy="352685"/>
          </a:xfrm>
          <a:prstGeom prst="rect">
            <a:avLst/>
          </a:prstGeom>
          <a:noFill/>
          <a:ln w="28575">
            <a:solidFill>
              <a:srgbClr val="C0192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5216" name="AutoShape 16"/>
          <p:cNvSpPr>
            <a:spLocks/>
          </p:cNvSpPr>
          <p:nvPr/>
        </p:nvSpPr>
        <p:spPr bwMode="auto">
          <a:xfrm>
            <a:off x="8513723" y="3318011"/>
            <a:ext cx="2119127" cy="424154"/>
          </a:xfrm>
          <a:prstGeom prst="borderCallout2">
            <a:avLst>
              <a:gd name="adj1" fmla="val 26375"/>
              <a:gd name="adj2" fmla="val -3528"/>
              <a:gd name="adj3" fmla="val 26375"/>
              <a:gd name="adj4" fmla="val -18454"/>
              <a:gd name="adj5" fmla="val -14287"/>
              <a:gd name="adj6" fmla="val -33898"/>
            </a:avLst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定义全局变量</a:t>
            </a:r>
            <a:r>
              <a:rPr lang="en-US" altLang="zh-CN" sz="2000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ch</a:t>
            </a:r>
            <a:endParaRPr lang="en-US" altLang="zh-CN" sz="20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</p:txBody>
      </p:sp>
      <p:sp>
        <p:nvSpPr>
          <p:cNvPr id="1075217" name="Oval 17"/>
          <p:cNvSpPr>
            <a:spLocks noChangeArrowheads="1"/>
          </p:cNvSpPr>
          <p:nvPr/>
        </p:nvSpPr>
        <p:spPr bwMode="auto">
          <a:xfrm>
            <a:off x="5789573" y="4813434"/>
            <a:ext cx="1271476" cy="352685"/>
          </a:xfrm>
          <a:prstGeom prst="ellips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/>
            <a:endParaRPr lang="zh-CN" altLang="zh-CN">
              <a:solidFill>
                <a:srgbClr val="CC0000"/>
              </a:solidFill>
            </a:endParaRPr>
          </a:p>
        </p:txBody>
      </p:sp>
      <p:grpSp>
        <p:nvGrpSpPr>
          <p:cNvPr id="1075221" name="Group 21"/>
          <p:cNvGrpSpPr>
            <a:grpSpLocks/>
          </p:cNvGrpSpPr>
          <p:nvPr/>
        </p:nvGrpSpPr>
        <p:grpSpPr bwMode="auto">
          <a:xfrm>
            <a:off x="7056398" y="4324484"/>
            <a:ext cx="3970248" cy="1831787"/>
            <a:chOff x="3016" y="2523"/>
            <a:chExt cx="2548" cy="1179"/>
          </a:xfrm>
        </p:grpSpPr>
        <p:sp>
          <p:nvSpPr>
            <p:cNvPr id="1075219" name="AutoShape 19"/>
            <p:cNvSpPr>
              <a:spLocks noChangeArrowheads="1"/>
            </p:cNvSpPr>
            <p:nvPr/>
          </p:nvSpPr>
          <p:spPr bwMode="auto">
            <a:xfrm>
              <a:off x="3315" y="2523"/>
              <a:ext cx="2249" cy="1179"/>
            </a:xfrm>
            <a:prstGeom prst="irregularSeal1">
              <a:avLst/>
            </a:prstGeom>
            <a:gradFill rotWithShape="1">
              <a:gsLst>
                <a:gs pos="0">
                  <a:srgbClr val="CFCFD1"/>
                </a:gs>
                <a:gs pos="100000">
                  <a:schemeClr val="bg1"/>
                </a:gs>
              </a:gsLst>
              <a:lin ang="5400000" scaled="1"/>
            </a:gradFill>
            <a:ln w="28575">
              <a:solidFill>
                <a:srgbClr val="C01920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</p:spPr>
          <p:txBody>
            <a:bodyPr wrap="none" anchor="ctr"/>
            <a:lstStyle/>
            <a:p>
              <a:pPr algn="ctr"/>
              <a:r>
                <a:rPr lang="zh-CN" altLang="en-US" sz="2000" b="1" dirty="0">
                  <a:solidFill>
                    <a:srgbClr val="C01920"/>
                  </a:solidFill>
                  <a:latin typeface="+mn-lt"/>
                  <a:ea typeface="楷体" pitchFamily="49" charset="-122"/>
                </a:rPr>
                <a:t>错误！</a:t>
              </a:r>
            </a:p>
            <a:p>
              <a:pPr algn="ctr"/>
              <a:r>
                <a:rPr lang="en-US" altLang="zh-CN" sz="2000" b="1" dirty="0" err="1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ch</a:t>
              </a:r>
              <a:r>
                <a:rPr lang="zh-CN" altLang="en-US" sz="20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只能定义一次</a:t>
              </a:r>
            </a:p>
          </p:txBody>
        </p:sp>
        <p:sp>
          <p:nvSpPr>
            <p:cNvPr id="1075220" name="Line 20"/>
            <p:cNvSpPr>
              <a:spLocks noChangeShapeType="1"/>
            </p:cNvSpPr>
            <p:nvPr/>
          </p:nvSpPr>
          <p:spPr bwMode="auto">
            <a:xfrm flipV="1">
              <a:off x="3016" y="2759"/>
              <a:ext cx="454" cy="136"/>
            </a:xfrm>
            <a:prstGeom prst="line">
              <a:avLst/>
            </a:prstGeom>
            <a:noFill/>
            <a:ln w="19050">
              <a:solidFill>
                <a:srgbClr val="C01920"/>
              </a:solidFill>
              <a:round/>
              <a:headEnd/>
              <a:tailEnd/>
            </a:ln>
            <a:effectLst>
              <a:outerShdw dist="35921" dir="2700000" algn="ctr" rotWithShape="0">
                <a:schemeClr val="bg2">
                  <a:alpha val="50000"/>
                </a:schemeClr>
              </a:outerShdw>
            </a:effectLst>
          </p:spPr>
          <p:txBody>
            <a:bodyPr/>
            <a:lstStyle/>
            <a:p>
              <a:endParaRPr lang="zh-CN" altLang="en-US">
                <a:solidFill>
                  <a:srgbClr val="002060"/>
                </a:solidFill>
                <a:latin typeface="+mn-lt"/>
                <a:ea typeface="楷体" pitchFamily="49" charset="-122"/>
              </a:endParaRPr>
            </a:p>
          </p:txBody>
        </p:sp>
      </p:grpSp>
      <p:sp>
        <p:nvSpPr>
          <p:cNvPr id="1075222" name="Rectangle 22"/>
          <p:cNvSpPr>
            <a:spLocks noChangeArrowheads="1"/>
          </p:cNvSpPr>
          <p:nvPr/>
        </p:nvSpPr>
        <p:spPr bwMode="auto">
          <a:xfrm>
            <a:off x="2063031" y="4538935"/>
            <a:ext cx="2171700" cy="860425"/>
          </a:xfrm>
          <a:prstGeom prst="rect">
            <a:avLst/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anchor="ctr">
            <a:spAutoFit/>
          </a:bodyPr>
          <a:lstStyle/>
          <a:p>
            <a:r>
              <a:rPr lang="zh-CN" altLang="en-US" b="1" dirty="0">
                <a:solidFill>
                  <a:srgbClr val="C01920"/>
                </a:solidFill>
                <a:ea typeface="隶书" pitchFamily="49" charset="-122"/>
              </a:rPr>
              <a:t>例：</a:t>
            </a:r>
          </a:p>
          <a:p>
            <a:r>
              <a:rPr lang="en-US" altLang="zh-CN" b="1" dirty="0"/>
              <a:t>int a = 2, b = 4; </a:t>
            </a:r>
          </a:p>
        </p:txBody>
      </p:sp>
      <p:sp>
        <p:nvSpPr>
          <p:cNvPr id="1075223" name="Rectangle 23"/>
          <p:cNvSpPr>
            <a:spLocks noChangeArrowheads="1"/>
          </p:cNvSpPr>
          <p:nvPr/>
        </p:nvSpPr>
        <p:spPr bwMode="auto">
          <a:xfrm>
            <a:off x="1721719" y="6097215"/>
            <a:ext cx="3006725" cy="461665"/>
          </a:xfrm>
          <a:prstGeom prst="rect">
            <a:avLst/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anchor="ctr">
            <a:spAutoFit/>
          </a:bodyPr>
          <a:lstStyle/>
          <a:p>
            <a:r>
              <a:rPr lang="en-US" altLang="zh-CN" b="1" dirty="0">
                <a:solidFill>
                  <a:srgbClr val="7030A0"/>
                </a:solidFill>
              </a:rPr>
              <a:t>extern </a:t>
            </a:r>
            <a:r>
              <a:rPr lang="en-US" altLang="zh-CN" b="1" dirty="0"/>
              <a:t>int a = 2, b = 4; </a:t>
            </a:r>
          </a:p>
        </p:txBody>
      </p:sp>
      <p:sp>
        <p:nvSpPr>
          <p:cNvPr id="1075224" name="AutoShape 24"/>
          <p:cNvSpPr>
            <a:spLocks noChangeArrowheads="1"/>
          </p:cNvSpPr>
          <p:nvPr/>
        </p:nvSpPr>
        <p:spPr bwMode="auto">
          <a:xfrm>
            <a:off x="2940919" y="5483498"/>
            <a:ext cx="288925" cy="504825"/>
          </a:xfrm>
          <a:prstGeom prst="upDownArrow">
            <a:avLst>
              <a:gd name="adj1" fmla="val 50000"/>
              <a:gd name="adj2" fmla="val 34945"/>
            </a:avLst>
          </a:prstGeom>
          <a:solidFill>
            <a:srgbClr val="FFCC99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3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52F6B65C-783E-4196-B8BB-D810F4D767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724" y="883593"/>
            <a:ext cx="482441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3</a:t>
            </a:r>
            <a:r>
              <a:rPr lang="zh-CN" altLang="en-US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、全局变量作用域和生存期</a:t>
            </a:r>
          </a:p>
        </p:txBody>
      </p:sp>
      <p:sp>
        <p:nvSpPr>
          <p:cNvPr id="20" name="Rectangle 4">
            <a:extLst>
              <a:ext uri="{FF2B5EF4-FFF2-40B4-BE49-F238E27FC236}">
                <a16:creationId xmlns:a16="http://schemas.microsoft.com/office/drawing/2014/main" id="{8B55BE58-738D-48B3-A241-A6FA1AE253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8.4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变量的作用域和生存期 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75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75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10752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10752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10752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10752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500"/>
                                        <p:tgtEl>
                                          <p:spTgt spid="10752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10752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6" dur="500"/>
                                        <p:tgtEl>
                                          <p:spTgt spid="10752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1" dur="500"/>
                                        <p:tgtEl>
                                          <p:spTgt spid="10752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5" dur="500"/>
                                        <p:tgtEl>
                                          <p:spTgt spid="10752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0" dur="500"/>
                                        <p:tgtEl>
                                          <p:spTgt spid="10752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4" dur="500"/>
                                        <p:tgtEl>
                                          <p:spTgt spid="10752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05" grpId="0"/>
      <p:bldP spid="1075212" grpId="0" animBg="1"/>
      <p:bldP spid="1075213" grpId="0" animBg="1"/>
      <p:bldP spid="1075214" grpId="0" animBg="1"/>
      <p:bldP spid="1075215" grpId="0" animBg="1"/>
      <p:bldP spid="1075216" grpId="0" animBg="1"/>
      <p:bldP spid="1075217" grpId="0" animBg="1"/>
      <p:bldP spid="1075222" grpId="0" animBg="1"/>
      <p:bldP spid="1075223" grpId="0" animBg="1"/>
      <p:bldP spid="1075224" grpId="0" animBg="1"/>
      <p:bldP spid="1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254" name="Rectangle 6"/>
          <p:cNvSpPr>
            <a:spLocks noChangeArrowheads="1"/>
          </p:cNvSpPr>
          <p:nvPr/>
        </p:nvSpPr>
        <p:spPr bwMode="auto">
          <a:xfrm>
            <a:off x="695400" y="2033814"/>
            <a:ext cx="11062234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tabLst>
                <a:tab pos="457200" algn="l"/>
              </a:tabLst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   (4)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对全局变量进行说明，可扩展全局变量的作用域。全局变量说明的一般形式为： </a:t>
            </a:r>
          </a:p>
        </p:txBody>
      </p:sp>
      <p:sp>
        <p:nvSpPr>
          <p:cNvPr id="1077267" name="Text Box 19"/>
          <p:cNvSpPr txBox="1">
            <a:spLocks noChangeArrowheads="1"/>
          </p:cNvSpPr>
          <p:nvPr/>
        </p:nvSpPr>
        <p:spPr bwMode="auto">
          <a:xfrm>
            <a:off x="1461332" y="2970438"/>
            <a:ext cx="9648230" cy="488950"/>
          </a:xfrm>
          <a:prstGeom prst="rect">
            <a:avLst/>
          </a:prstGeom>
          <a:gradFill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just"/>
            <a:r>
              <a:rPr lang="en-US" altLang="zh-CN" b="1">
                <a:solidFill>
                  <a:srgbClr val="C01920"/>
                </a:solidFill>
                <a:latin typeface="+mn-lt"/>
                <a:ea typeface="楷体" pitchFamily="49" charset="-122"/>
              </a:rPr>
              <a:t>extern  </a:t>
            </a:r>
            <a:r>
              <a:rPr lang="zh-CN" altLang="en-US" b="1">
                <a:solidFill>
                  <a:srgbClr val="C01920"/>
                </a:solidFill>
                <a:latin typeface="+mn-lt"/>
                <a:ea typeface="楷体" pitchFamily="49" charset="-122"/>
              </a:rPr>
              <a:t>类型说明符  全局变量名</a:t>
            </a:r>
            <a:r>
              <a:rPr lang="en-US" altLang="zh-CN" b="1">
                <a:solidFill>
                  <a:srgbClr val="C01920"/>
                </a:solidFill>
                <a:latin typeface="+mn-lt"/>
                <a:ea typeface="楷体" pitchFamily="49" charset="-122"/>
              </a:rPr>
              <a:t>1, …</a:t>
            </a:r>
            <a:r>
              <a:rPr lang="zh-CN" altLang="en-US" b="1">
                <a:solidFill>
                  <a:srgbClr val="C01920"/>
                </a:solidFill>
                <a:latin typeface="+mn-lt"/>
                <a:ea typeface="楷体" pitchFamily="49" charset="-122"/>
              </a:rPr>
              <a:t>，全局变量名</a:t>
            </a:r>
            <a:r>
              <a:rPr lang="en-US" altLang="zh-CN" b="1">
                <a:solidFill>
                  <a:srgbClr val="C01920"/>
                </a:solidFill>
                <a:latin typeface="+mn-lt"/>
                <a:ea typeface="楷体" pitchFamily="49" charset="-122"/>
              </a:rPr>
              <a:t>n</a:t>
            </a:r>
            <a:r>
              <a:rPr lang="zh-CN" altLang="en-US" b="1">
                <a:solidFill>
                  <a:srgbClr val="C01920"/>
                </a:solidFill>
                <a:latin typeface="+mn-lt"/>
                <a:ea typeface="楷体" pitchFamily="49" charset="-122"/>
              </a:rPr>
              <a:t>；</a:t>
            </a:r>
          </a:p>
        </p:txBody>
      </p:sp>
      <p:sp>
        <p:nvSpPr>
          <p:cNvPr id="1077268" name="AutoShape 20"/>
          <p:cNvSpPr>
            <a:spLocks noChangeArrowheads="1"/>
          </p:cNvSpPr>
          <p:nvPr/>
        </p:nvSpPr>
        <p:spPr bwMode="auto">
          <a:xfrm>
            <a:off x="2755962" y="3802559"/>
            <a:ext cx="1728788" cy="431800"/>
          </a:xfrm>
          <a:prstGeom prst="wedgeRoundRectCallout">
            <a:avLst>
              <a:gd name="adj1" fmla="val -84069"/>
              <a:gd name="adj2" fmla="val -113602"/>
              <a:gd name="adj3" fmla="val 16667"/>
            </a:avLst>
          </a:prstGeom>
          <a:gradFill rotWithShape="1">
            <a:gsLst>
              <a:gs pos="0">
                <a:srgbClr val="CFCFD1"/>
              </a:gs>
              <a:gs pos="100000">
                <a:srgbClr val="FFFFFF"/>
              </a:gs>
            </a:gsLst>
            <a:lin ang="5400000" scaled="1"/>
          </a:gradFill>
          <a:ln w="22225">
            <a:solidFill>
              <a:srgbClr val="002060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/>
          <a:lstStyle/>
          <a:p>
            <a:pPr algn="ctr"/>
            <a:r>
              <a:rPr lang="zh-CN" altLang="en-US" sz="2000" b="1">
                <a:solidFill>
                  <a:srgbClr val="C01920"/>
                </a:solidFill>
                <a:ea typeface="隶书" pitchFamily="49" charset="-122"/>
              </a:rPr>
              <a:t>不可缺省！</a:t>
            </a:r>
          </a:p>
        </p:txBody>
      </p:sp>
      <p:sp>
        <p:nvSpPr>
          <p:cNvPr id="1077269" name="AutoShape 21"/>
          <p:cNvSpPr>
            <a:spLocks noChangeArrowheads="1"/>
          </p:cNvSpPr>
          <p:nvPr/>
        </p:nvSpPr>
        <p:spPr bwMode="auto">
          <a:xfrm>
            <a:off x="5835712" y="3861296"/>
            <a:ext cx="1944688" cy="431800"/>
          </a:xfrm>
          <a:prstGeom prst="wedgeRoundRectCallout">
            <a:avLst>
              <a:gd name="adj1" fmla="val -73185"/>
              <a:gd name="adj2" fmla="val -129778"/>
              <a:gd name="adj3" fmla="val 16667"/>
            </a:avLst>
          </a:prstGeom>
          <a:gradFill rotWithShape="1">
            <a:gsLst>
              <a:gs pos="0">
                <a:srgbClr val="CFCFD1"/>
              </a:gs>
              <a:gs pos="100000">
                <a:srgbClr val="FFFFFF"/>
              </a:gs>
            </a:gsLst>
            <a:lin ang="5400000" scaled="1"/>
          </a:gradFill>
          <a:ln w="22225">
            <a:solidFill>
              <a:srgbClr val="002060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/>
          <a:lstStyle/>
          <a:p>
            <a:pPr algn="ctr"/>
            <a:r>
              <a:rPr lang="zh-CN" altLang="en-US" sz="2000" b="1">
                <a:solidFill>
                  <a:srgbClr val="C01920"/>
                </a:solidFill>
                <a:ea typeface="隶书" pitchFamily="49" charset="-122"/>
              </a:rPr>
              <a:t>不可赋初值！</a:t>
            </a:r>
          </a:p>
        </p:txBody>
      </p:sp>
      <p:sp>
        <p:nvSpPr>
          <p:cNvPr id="36" name="Rectangle 5">
            <a:extLst>
              <a:ext uri="{FF2B5EF4-FFF2-40B4-BE49-F238E27FC236}">
                <a16:creationId xmlns:a16="http://schemas.microsoft.com/office/drawing/2014/main" id="{5F60FF2E-D40A-41AA-BADF-E136B2E4E2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1065" y="1416161"/>
            <a:ext cx="11256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Clr>
                <a:srgbClr val="C01920"/>
              </a:buClr>
              <a:buFont typeface="Wingdings" pitchFamily="2" charset="2"/>
              <a:buChar char="Ø"/>
            </a:pPr>
            <a:r>
              <a:rPr lang="en-US" altLang="zh-CN" dirty="0">
                <a:solidFill>
                  <a:srgbClr val="C01920"/>
                </a:solidFill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说明</a:t>
            </a:r>
          </a:p>
        </p:txBody>
      </p:sp>
      <p:sp>
        <p:nvSpPr>
          <p:cNvPr id="37" name="Rectangle 3">
            <a:extLst>
              <a:ext uri="{FF2B5EF4-FFF2-40B4-BE49-F238E27FC236}">
                <a16:creationId xmlns:a16="http://schemas.microsoft.com/office/drawing/2014/main" id="{3992B1C5-6658-4021-9CDD-CFA6C0DB0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724" y="883593"/>
            <a:ext cx="482441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3</a:t>
            </a:r>
            <a:r>
              <a:rPr lang="zh-CN" altLang="en-US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、全局变量作用域和生存期</a:t>
            </a:r>
          </a:p>
        </p:txBody>
      </p:sp>
      <p:sp>
        <p:nvSpPr>
          <p:cNvPr id="38" name="Rectangle 4">
            <a:extLst>
              <a:ext uri="{FF2B5EF4-FFF2-40B4-BE49-F238E27FC236}">
                <a16:creationId xmlns:a16="http://schemas.microsoft.com/office/drawing/2014/main" id="{F5F87DBC-2D78-4734-AA26-E5FE275602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8.4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变量的作用域和生存期 </a:t>
            </a:r>
          </a:p>
        </p:txBody>
      </p:sp>
      <p:sp>
        <p:nvSpPr>
          <p:cNvPr id="1077270" name="Rectangle 22" descr="信纸"/>
          <p:cNvSpPr>
            <a:spLocks noChangeArrowheads="1"/>
          </p:cNvSpPr>
          <p:nvPr/>
        </p:nvSpPr>
        <p:spPr bwMode="auto">
          <a:xfrm>
            <a:off x="1893254" y="836712"/>
            <a:ext cx="7731138" cy="5921375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lang="en-US" altLang="zh-CN" sz="2000" b="1" dirty="0"/>
              <a:t>void </a:t>
            </a:r>
            <a:r>
              <a:rPr lang="en-US" altLang="zh-CN" sz="2000" b="1" dirty="0" err="1"/>
              <a:t>gx</a:t>
            </a:r>
            <a:r>
              <a:rPr lang="en-US" altLang="zh-CN" sz="2000" b="1" dirty="0"/>
              <a:t> ( ), </a:t>
            </a:r>
            <a:r>
              <a:rPr lang="en-US" altLang="zh-CN" sz="2000" b="1" dirty="0" err="1"/>
              <a:t>gy</a:t>
            </a:r>
            <a:r>
              <a:rPr lang="en-US" altLang="zh-CN" sz="2000" b="1" dirty="0"/>
              <a:t> ( );</a:t>
            </a:r>
          </a:p>
          <a:p>
            <a:pPr marL="457200" indent="-457200"/>
            <a:r>
              <a:rPr lang="en-US" altLang="zh-CN" sz="2000" b="1" dirty="0">
                <a:solidFill>
                  <a:srgbClr val="CC0000"/>
                </a:solidFill>
              </a:rPr>
              <a:t>void main ( )</a:t>
            </a:r>
          </a:p>
          <a:p>
            <a:pPr marL="457200" indent="-457200"/>
            <a:r>
              <a:rPr lang="en-US" altLang="zh-CN" sz="2000" b="1" dirty="0"/>
              <a:t>{  </a:t>
            </a:r>
          </a:p>
          <a:p>
            <a:pPr marL="457200" indent="-457200"/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</a:rPr>
              <a:t>  extern  </a:t>
            </a:r>
            <a:r>
              <a:rPr lang="en-US" altLang="zh-CN" sz="2000" b="1" dirty="0"/>
              <a:t>int x, y;</a:t>
            </a:r>
          </a:p>
          <a:p>
            <a:pPr marL="457200" indent="-457200"/>
            <a:r>
              <a:rPr lang="en-US" altLang="zh-CN" sz="2000" b="1" dirty="0"/>
              <a:t>  </a:t>
            </a:r>
            <a:r>
              <a:rPr lang="en-US" altLang="zh-CN" sz="2000" b="1" dirty="0" err="1"/>
              <a:t>printf</a:t>
            </a:r>
            <a:r>
              <a:rPr lang="en-US" altLang="zh-CN" sz="2000" b="1" dirty="0"/>
              <a:t> ("1: x = %d\ty = %d\n", x, y);</a:t>
            </a:r>
          </a:p>
          <a:p>
            <a:pPr marL="457200" indent="-457200"/>
            <a:r>
              <a:rPr lang="en-US" altLang="zh-CN" sz="2000" b="1" dirty="0"/>
              <a:t>  y = 246;</a:t>
            </a:r>
          </a:p>
          <a:p>
            <a:pPr marL="457200" indent="-457200"/>
            <a:r>
              <a:rPr lang="en-US" altLang="zh-CN" sz="2000" b="1" dirty="0"/>
              <a:t>  </a:t>
            </a:r>
            <a:r>
              <a:rPr lang="en-US" altLang="zh-CN" sz="2000" b="1" dirty="0" err="1"/>
              <a:t>gx</a:t>
            </a:r>
            <a:r>
              <a:rPr lang="en-US" altLang="zh-CN" sz="2000" b="1" dirty="0"/>
              <a:t> ( );  </a:t>
            </a:r>
            <a:r>
              <a:rPr lang="en-US" altLang="zh-CN" sz="2000" b="1" dirty="0" err="1"/>
              <a:t>gy</a:t>
            </a:r>
            <a:r>
              <a:rPr lang="en-US" altLang="zh-CN" sz="2000" b="1" dirty="0"/>
              <a:t> ( );</a:t>
            </a:r>
          </a:p>
          <a:p>
            <a:pPr marL="457200" indent="-457200"/>
            <a:r>
              <a:rPr lang="en-US" altLang="zh-CN" sz="2000" b="1" dirty="0"/>
              <a:t>}</a:t>
            </a:r>
          </a:p>
          <a:p>
            <a:pPr marL="457200" indent="-457200"/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</a:rPr>
              <a:t>extern</a:t>
            </a:r>
            <a:r>
              <a:rPr lang="en-US" altLang="zh-CN" sz="2000" b="1" dirty="0"/>
              <a:t> int x, y;</a:t>
            </a:r>
          </a:p>
          <a:p>
            <a:pPr marL="457200" indent="-457200"/>
            <a:r>
              <a:rPr lang="en-US" altLang="zh-CN" sz="2000" b="1" dirty="0"/>
              <a:t>void </a:t>
            </a:r>
            <a:r>
              <a:rPr lang="en-US" altLang="zh-CN" sz="2000" b="1" dirty="0" err="1"/>
              <a:t>gx</a:t>
            </a:r>
            <a:r>
              <a:rPr lang="en-US" altLang="zh-CN" sz="2000" b="1" dirty="0"/>
              <a:t> ( )</a:t>
            </a:r>
          </a:p>
          <a:p>
            <a:pPr marL="457200" indent="-457200"/>
            <a:r>
              <a:rPr lang="en-US" altLang="zh-CN" sz="2000" b="1" dirty="0"/>
              <a:t>{   </a:t>
            </a:r>
          </a:p>
          <a:p>
            <a:pPr marL="457200" indent="-457200"/>
            <a:r>
              <a:rPr lang="en-US" altLang="zh-CN" sz="2000" b="1" dirty="0"/>
              <a:t>  x = 135;</a:t>
            </a:r>
          </a:p>
          <a:p>
            <a:pPr marL="457200" indent="-457200"/>
            <a:r>
              <a:rPr lang="en-US" altLang="zh-CN" sz="2000" b="1" dirty="0"/>
              <a:t>  </a:t>
            </a:r>
            <a:r>
              <a:rPr lang="en-US" altLang="zh-CN" sz="2000" b="1" dirty="0" err="1"/>
              <a:t>printf</a:t>
            </a:r>
            <a:r>
              <a:rPr lang="en-US" altLang="zh-CN" sz="2000" b="1" dirty="0"/>
              <a:t> ("2: x = %d\ty = %d\n", x, y);</a:t>
            </a:r>
          </a:p>
          <a:p>
            <a:pPr marL="457200" indent="-457200"/>
            <a:r>
              <a:rPr lang="en-US" altLang="zh-CN" sz="2000" b="1" dirty="0"/>
              <a:t>}</a:t>
            </a:r>
          </a:p>
          <a:p>
            <a:pPr marL="457200" indent="-457200"/>
            <a:r>
              <a:rPr lang="en-US" altLang="zh-CN" sz="2000" b="1" dirty="0">
                <a:solidFill>
                  <a:srgbClr val="C00000"/>
                </a:solidFill>
              </a:rPr>
              <a:t>int x = 0, y = 0;</a:t>
            </a:r>
          </a:p>
          <a:p>
            <a:pPr marL="457200" indent="-457200"/>
            <a:r>
              <a:rPr lang="en-US" altLang="zh-CN" sz="2000" b="1" dirty="0"/>
              <a:t>void </a:t>
            </a:r>
            <a:r>
              <a:rPr lang="en-US" altLang="zh-CN" sz="2000" b="1" dirty="0" err="1"/>
              <a:t>gy</a:t>
            </a:r>
            <a:r>
              <a:rPr lang="en-US" altLang="zh-CN" sz="2000" b="1" dirty="0"/>
              <a:t> ( )</a:t>
            </a:r>
          </a:p>
          <a:p>
            <a:pPr marL="457200" indent="-457200"/>
            <a:r>
              <a:rPr lang="en-US" altLang="zh-CN" sz="2000" b="1" dirty="0"/>
              <a:t>{</a:t>
            </a:r>
          </a:p>
          <a:p>
            <a:pPr marL="457200" indent="-457200"/>
            <a:r>
              <a:rPr lang="en-US" altLang="zh-CN" sz="2000" b="1" dirty="0"/>
              <a:t>  </a:t>
            </a:r>
            <a:r>
              <a:rPr lang="en-US" altLang="zh-CN" sz="2000" b="1" dirty="0" err="1"/>
              <a:t>printf</a:t>
            </a:r>
            <a:r>
              <a:rPr lang="en-US" altLang="zh-CN" sz="2000" b="1" dirty="0"/>
              <a:t> ("3: x=%d\ty=%d\n", x, y);</a:t>
            </a:r>
          </a:p>
          <a:p>
            <a:pPr marL="457200" indent="-457200"/>
            <a:r>
              <a:rPr lang="en-US" altLang="zh-CN" sz="2000" b="1" dirty="0"/>
              <a:t>}</a:t>
            </a:r>
          </a:p>
        </p:txBody>
      </p:sp>
      <p:sp>
        <p:nvSpPr>
          <p:cNvPr id="1077271" name="Rectangle 23"/>
          <p:cNvSpPr>
            <a:spLocks noChangeArrowheads="1"/>
          </p:cNvSpPr>
          <p:nvPr/>
        </p:nvSpPr>
        <p:spPr bwMode="auto">
          <a:xfrm>
            <a:off x="1909526" y="5157192"/>
            <a:ext cx="1728788" cy="287337"/>
          </a:xfrm>
          <a:prstGeom prst="rect">
            <a:avLst/>
          </a:prstGeom>
          <a:noFill/>
          <a:ln w="28575">
            <a:solidFill>
              <a:srgbClr val="C0192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7272" name="AutoShape 24"/>
          <p:cNvSpPr>
            <a:spLocks/>
          </p:cNvSpPr>
          <p:nvPr/>
        </p:nvSpPr>
        <p:spPr bwMode="auto">
          <a:xfrm>
            <a:off x="4789252" y="4991621"/>
            <a:ext cx="1800225" cy="433388"/>
          </a:xfrm>
          <a:prstGeom prst="borderCallout2">
            <a:avLst>
              <a:gd name="adj1" fmla="val 26375"/>
              <a:gd name="adj2" fmla="val -4231"/>
              <a:gd name="adj3" fmla="val 26375"/>
              <a:gd name="adj4" fmla="val -30245"/>
              <a:gd name="adj5" fmla="val 79120"/>
              <a:gd name="adj6" fmla="val -62787"/>
            </a:avLst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r>
              <a:rPr lang="zh-CN" altLang="en-US" sz="2000" b="1">
                <a:solidFill>
                  <a:srgbClr val="CC0000"/>
                </a:solidFill>
                <a:latin typeface="+mn-lt"/>
                <a:ea typeface="楷体" pitchFamily="49" charset="-122"/>
              </a:rPr>
              <a:t>全局变量定义</a:t>
            </a:r>
          </a:p>
        </p:txBody>
      </p:sp>
      <p:grpSp>
        <p:nvGrpSpPr>
          <p:cNvPr id="1077280" name="Group 32"/>
          <p:cNvGrpSpPr>
            <a:grpSpLocks/>
          </p:cNvGrpSpPr>
          <p:nvPr/>
        </p:nvGrpSpPr>
        <p:grpSpPr bwMode="auto">
          <a:xfrm>
            <a:off x="2073039" y="5482160"/>
            <a:ext cx="5224462" cy="1150937"/>
            <a:chOff x="851" y="3285"/>
            <a:chExt cx="3291" cy="725"/>
          </a:xfrm>
        </p:grpSpPr>
        <p:grpSp>
          <p:nvGrpSpPr>
            <p:cNvPr id="1077279" name="Group 31"/>
            <p:cNvGrpSpPr>
              <a:grpSpLocks/>
            </p:cNvGrpSpPr>
            <p:nvPr/>
          </p:nvGrpSpPr>
          <p:grpSpPr bwMode="auto">
            <a:xfrm>
              <a:off x="851" y="3285"/>
              <a:ext cx="2403" cy="725"/>
              <a:chOff x="851" y="3285"/>
              <a:chExt cx="2403" cy="725"/>
            </a:xfrm>
          </p:grpSpPr>
          <p:sp>
            <p:nvSpPr>
              <p:cNvPr id="1077275" name="Line 27"/>
              <p:cNvSpPr>
                <a:spLocks noChangeShapeType="1"/>
              </p:cNvSpPr>
              <p:nvPr/>
            </p:nvSpPr>
            <p:spPr bwMode="auto">
              <a:xfrm>
                <a:off x="1850" y="3285"/>
                <a:ext cx="1403" cy="0"/>
              </a:xfrm>
              <a:prstGeom prst="line">
                <a:avLst/>
              </a:prstGeom>
              <a:noFill/>
              <a:ln w="19050">
                <a:solidFill>
                  <a:srgbClr val="C01920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  <p:sp>
            <p:nvSpPr>
              <p:cNvPr id="1077276" name="Line 28"/>
              <p:cNvSpPr>
                <a:spLocks noChangeShapeType="1"/>
              </p:cNvSpPr>
              <p:nvPr/>
            </p:nvSpPr>
            <p:spPr bwMode="auto">
              <a:xfrm>
                <a:off x="3249" y="3285"/>
                <a:ext cx="0" cy="725"/>
              </a:xfrm>
              <a:prstGeom prst="line">
                <a:avLst/>
              </a:prstGeom>
              <a:noFill/>
              <a:ln w="19050">
                <a:solidFill>
                  <a:srgbClr val="C01920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  <p:sp>
            <p:nvSpPr>
              <p:cNvPr id="1077277" name="Line 29"/>
              <p:cNvSpPr>
                <a:spLocks noChangeShapeType="1"/>
              </p:cNvSpPr>
              <p:nvPr/>
            </p:nvSpPr>
            <p:spPr bwMode="auto">
              <a:xfrm flipH="1">
                <a:off x="851" y="3993"/>
                <a:ext cx="2403" cy="0"/>
              </a:xfrm>
              <a:prstGeom prst="line">
                <a:avLst/>
              </a:prstGeom>
              <a:noFill/>
              <a:ln w="19050">
                <a:solidFill>
                  <a:srgbClr val="C01920"/>
                </a:solidFill>
                <a:round/>
                <a:headEnd/>
                <a:tailEnd type="stealth" w="lg" len="lg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</p:grpSp>
        <p:sp>
          <p:nvSpPr>
            <p:cNvPr id="1077278" name="Rectangle 30"/>
            <p:cNvSpPr>
              <a:spLocks noChangeArrowheads="1"/>
            </p:cNvSpPr>
            <p:nvPr/>
          </p:nvSpPr>
          <p:spPr bwMode="auto">
            <a:xfrm>
              <a:off x="3235" y="3412"/>
              <a:ext cx="907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zh-CN" altLang="en-US" sz="2000" b="1" dirty="0">
                  <a:solidFill>
                    <a:srgbClr val="C01920"/>
                  </a:solidFill>
                  <a:latin typeface="+mn-lt"/>
                  <a:ea typeface="楷体" pitchFamily="49" charset="-122"/>
                </a:rPr>
                <a:t>未说明前</a:t>
              </a:r>
            </a:p>
            <a:p>
              <a:r>
                <a:rPr lang="zh-CN" altLang="en-US" sz="2000" b="1" dirty="0">
                  <a:solidFill>
                    <a:srgbClr val="C01920"/>
                  </a:solidFill>
                  <a:latin typeface="+mn-lt"/>
                  <a:ea typeface="楷体" pitchFamily="49" charset="-122"/>
                </a:rPr>
                <a:t>的作用域</a:t>
              </a:r>
            </a:p>
          </p:txBody>
        </p:sp>
      </p:grpSp>
      <p:sp>
        <p:nvSpPr>
          <p:cNvPr id="1077281" name="Rectangle 33"/>
          <p:cNvSpPr>
            <a:spLocks noChangeArrowheads="1"/>
          </p:cNvSpPr>
          <p:nvPr/>
        </p:nvSpPr>
        <p:spPr bwMode="auto">
          <a:xfrm>
            <a:off x="1909526" y="3343642"/>
            <a:ext cx="1728788" cy="287338"/>
          </a:xfrm>
          <a:prstGeom prst="rect">
            <a:avLst/>
          </a:prstGeom>
          <a:noFill/>
          <a:ln w="28575">
            <a:solidFill>
              <a:srgbClr val="00206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>
              <a:solidFill>
                <a:srgbClr val="002060"/>
              </a:solidFill>
            </a:endParaRPr>
          </a:p>
        </p:txBody>
      </p:sp>
      <p:sp>
        <p:nvSpPr>
          <p:cNvPr id="1077282" name="AutoShape 34"/>
          <p:cNvSpPr>
            <a:spLocks/>
          </p:cNvSpPr>
          <p:nvPr/>
        </p:nvSpPr>
        <p:spPr bwMode="auto">
          <a:xfrm>
            <a:off x="4486040" y="3233688"/>
            <a:ext cx="1743075" cy="433388"/>
          </a:xfrm>
          <a:prstGeom prst="borderCallout2">
            <a:avLst>
              <a:gd name="adj1" fmla="val 26375"/>
              <a:gd name="adj2" fmla="val -4370"/>
              <a:gd name="adj3" fmla="val 26375"/>
              <a:gd name="adj4" fmla="val -23769"/>
              <a:gd name="adj5" fmla="val 53481"/>
              <a:gd name="adj6" fmla="val -48088"/>
            </a:avLst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全局变量说明</a:t>
            </a:r>
          </a:p>
        </p:txBody>
      </p:sp>
      <p:grpSp>
        <p:nvGrpSpPr>
          <p:cNvPr id="1077290" name="Group 42"/>
          <p:cNvGrpSpPr>
            <a:grpSpLocks/>
          </p:cNvGrpSpPr>
          <p:nvPr/>
        </p:nvGrpSpPr>
        <p:grpSpPr bwMode="auto">
          <a:xfrm>
            <a:off x="2071452" y="3552776"/>
            <a:ext cx="6143625" cy="3109912"/>
            <a:chOff x="850" y="2115"/>
            <a:chExt cx="3870" cy="1959"/>
          </a:xfrm>
        </p:grpSpPr>
        <p:grpSp>
          <p:nvGrpSpPr>
            <p:cNvPr id="1077289" name="Group 41"/>
            <p:cNvGrpSpPr>
              <a:grpSpLocks/>
            </p:cNvGrpSpPr>
            <p:nvPr/>
          </p:nvGrpSpPr>
          <p:grpSpPr bwMode="auto">
            <a:xfrm>
              <a:off x="850" y="2115"/>
              <a:ext cx="3130" cy="1959"/>
              <a:chOff x="850" y="2115"/>
              <a:chExt cx="3130" cy="1959"/>
            </a:xfrm>
          </p:grpSpPr>
          <p:sp>
            <p:nvSpPr>
              <p:cNvPr id="1077285" name="Line 37"/>
              <p:cNvSpPr>
                <a:spLocks noChangeShapeType="1"/>
              </p:cNvSpPr>
              <p:nvPr/>
            </p:nvSpPr>
            <p:spPr bwMode="auto">
              <a:xfrm>
                <a:off x="1832" y="2115"/>
                <a:ext cx="2145" cy="671"/>
              </a:xfrm>
              <a:prstGeom prst="line">
                <a:avLst/>
              </a:prstGeom>
              <a:noFill/>
              <a:ln w="19050">
                <a:solidFill>
                  <a:srgbClr val="002060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  <p:sp>
            <p:nvSpPr>
              <p:cNvPr id="1077286" name="Line 38"/>
              <p:cNvSpPr>
                <a:spLocks noChangeShapeType="1"/>
              </p:cNvSpPr>
              <p:nvPr/>
            </p:nvSpPr>
            <p:spPr bwMode="auto">
              <a:xfrm>
                <a:off x="3980" y="2790"/>
                <a:ext cx="0" cy="1270"/>
              </a:xfrm>
              <a:prstGeom prst="line">
                <a:avLst/>
              </a:prstGeom>
              <a:noFill/>
              <a:ln w="19050">
                <a:solidFill>
                  <a:srgbClr val="002060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  <p:sp>
            <p:nvSpPr>
              <p:cNvPr id="1077287" name="Line 39"/>
              <p:cNvSpPr>
                <a:spLocks noChangeShapeType="1"/>
              </p:cNvSpPr>
              <p:nvPr/>
            </p:nvSpPr>
            <p:spPr bwMode="auto">
              <a:xfrm flipH="1">
                <a:off x="850" y="4074"/>
                <a:ext cx="3130" cy="0"/>
              </a:xfrm>
              <a:prstGeom prst="line">
                <a:avLst/>
              </a:prstGeom>
              <a:noFill/>
              <a:ln w="19050">
                <a:solidFill>
                  <a:srgbClr val="002060"/>
                </a:solidFill>
                <a:round/>
                <a:headEnd/>
                <a:tailEnd type="stealth" w="lg" len="lg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</p:grpSp>
        <p:sp>
          <p:nvSpPr>
            <p:cNvPr id="1077288" name="Rectangle 40"/>
            <p:cNvSpPr>
              <a:spLocks noChangeArrowheads="1"/>
            </p:cNvSpPr>
            <p:nvPr/>
          </p:nvSpPr>
          <p:spPr bwMode="auto">
            <a:xfrm>
              <a:off x="3960" y="2878"/>
              <a:ext cx="760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zh-CN" altLang="en-US" sz="20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说明后</a:t>
              </a:r>
            </a:p>
            <a:p>
              <a:r>
                <a:rPr lang="zh-CN" altLang="en-US" sz="20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的作用域</a:t>
              </a:r>
            </a:p>
          </p:txBody>
        </p:sp>
      </p:grpSp>
      <p:sp>
        <p:nvSpPr>
          <p:cNvPr id="1077291" name="Rectangle 43"/>
          <p:cNvSpPr>
            <a:spLocks noChangeArrowheads="1"/>
          </p:cNvSpPr>
          <p:nvPr/>
        </p:nvSpPr>
        <p:spPr bwMode="auto">
          <a:xfrm>
            <a:off x="2053990" y="1816467"/>
            <a:ext cx="1728787" cy="287338"/>
          </a:xfrm>
          <a:prstGeom prst="rect">
            <a:avLst/>
          </a:prstGeom>
          <a:noFill/>
          <a:ln w="28575">
            <a:solidFill>
              <a:srgbClr val="00206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7292" name="AutoShape 44"/>
          <p:cNvSpPr>
            <a:spLocks/>
          </p:cNvSpPr>
          <p:nvPr/>
        </p:nvSpPr>
        <p:spPr bwMode="auto">
          <a:xfrm>
            <a:off x="4473340" y="1306463"/>
            <a:ext cx="1743075" cy="433388"/>
          </a:xfrm>
          <a:prstGeom prst="borderCallout2">
            <a:avLst>
              <a:gd name="adj1" fmla="val 26375"/>
              <a:gd name="adj2" fmla="val -4370"/>
              <a:gd name="adj3" fmla="val 26375"/>
              <a:gd name="adj4" fmla="val -25593"/>
              <a:gd name="adj5" fmla="val 124176"/>
              <a:gd name="adj6" fmla="val -52093"/>
            </a:avLst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全局变量说明</a:t>
            </a:r>
          </a:p>
        </p:txBody>
      </p:sp>
      <p:grpSp>
        <p:nvGrpSpPr>
          <p:cNvPr id="1077300" name="Group 52"/>
          <p:cNvGrpSpPr>
            <a:grpSpLocks/>
          </p:cNvGrpSpPr>
          <p:nvPr/>
        </p:nvGrpSpPr>
        <p:grpSpPr bwMode="auto">
          <a:xfrm>
            <a:off x="2120665" y="2011313"/>
            <a:ext cx="5938837" cy="1150938"/>
            <a:chOff x="881" y="1144"/>
            <a:chExt cx="3741" cy="725"/>
          </a:xfrm>
        </p:grpSpPr>
        <p:grpSp>
          <p:nvGrpSpPr>
            <p:cNvPr id="1077299" name="Group 51"/>
            <p:cNvGrpSpPr>
              <a:grpSpLocks/>
            </p:cNvGrpSpPr>
            <p:nvPr/>
          </p:nvGrpSpPr>
          <p:grpSpPr bwMode="auto">
            <a:xfrm>
              <a:off x="881" y="1144"/>
              <a:ext cx="2834" cy="725"/>
              <a:chOff x="881" y="1144"/>
              <a:chExt cx="2834" cy="725"/>
            </a:xfrm>
          </p:grpSpPr>
          <p:sp>
            <p:nvSpPr>
              <p:cNvPr id="1077295" name="Line 47"/>
              <p:cNvSpPr>
                <a:spLocks noChangeShapeType="1"/>
              </p:cNvSpPr>
              <p:nvPr/>
            </p:nvSpPr>
            <p:spPr bwMode="auto">
              <a:xfrm>
                <a:off x="1930" y="1144"/>
                <a:ext cx="1777" cy="0"/>
              </a:xfrm>
              <a:prstGeom prst="line">
                <a:avLst/>
              </a:prstGeom>
              <a:noFill/>
              <a:ln w="19050">
                <a:solidFill>
                  <a:srgbClr val="002060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  <p:sp>
            <p:nvSpPr>
              <p:cNvPr id="1077296" name="Line 48"/>
              <p:cNvSpPr>
                <a:spLocks noChangeShapeType="1"/>
              </p:cNvSpPr>
              <p:nvPr/>
            </p:nvSpPr>
            <p:spPr bwMode="auto">
              <a:xfrm>
                <a:off x="3702" y="1144"/>
                <a:ext cx="0" cy="725"/>
              </a:xfrm>
              <a:prstGeom prst="line">
                <a:avLst/>
              </a:prstGeom>
              <a:noFill/>
              <a:ln w="19050">
                <a:solidFill>
                  <a:srgbClr val="002060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  <p:sp>
            <p:nvSpPr>
              <p:cNvPr id="1077297" name="Line 49"/>
              <p:cNvSpPr>
                <a:spLocks noChangeShapeType="1"/>
              </p:cNvSpPr>
              <p:nvPr/>
            </p:nvSpPr>
            <p:spPr bwMode="auto">
              <a:xfrm flipH="1">
                <a:off x="881" y="1869"/>
                <a:ext cx="2834" cy="0"/>
              </a:xfrm>
              <a:prstGeom prst="line">
                <a:avLst/>
              </a:prstGeom>
              <a:noFill/>
              <a:ln w="19050">
                <a:solidFill>
                  <a:srgbClr val="002060"/>
                </a:solidFill>
                <a:round/>
                <a:headEnd/>
                <a:tailEnd type="stealth" w="lg" len="lg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</p:grpSp>
        <p:sp>
          <p:nvSpPr>
            <p:cNvPr id="1077298" name="Rectangle 50"/>
            <p:cNvSpPr>
              <a:spLocks noChangeArrowheads="1"/>
            </p:cNvSpPr>
            <p:nvPr/>
          </p:nvSpPr>
          <p:spPr bwMode="auto">
            <a:xfrm>
              <a:off x="3715" y="1262"/>
              <a:ext cx="907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zh-CN" altLang="en-US" sz="20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说明后</a:t>
              </a:r>
            </a:p>
            <a:p>
              <a:r>
                <a:rPr lang="zh-CN" altLang="en-US" sz="20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的作用域</a:t>
              </a:r>
            </a:p>
          </p:txBody>
        </p:sp>
      </p:grpSp>
      <p:sp>
        <p:nvSpPr>
          <p:cNvPr id="1077301" name="Rectangle 53"/>
          <p:cNvSpPr>
            <a:spLocks noChangeArrowheads="1"/>
          </p:cNvSpPr>
          <p:nvPr/>
        </p:nvSpPr>
        <p:spPr bwMode="auto">
          <a:xfrm>
            <a:off x="8472264" y="5114875"/>
            <a:ext cx="2663825" cy="1470025"/>
          </a:xfrm>
          <a:prstGeom prst="rect">
            <a:avLst/>
          </a:prstGeom>
          <a:solidFill>
            <a:srgbClr val="FFFFFF"/>
          </a:soli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anchor="ctr">
            <a:spAutoFit/>
          </a:bodyPr>
          <a:lstStyle/>
          <a:p>
            <a:r>
              <a:rPr lang="zh-CN" altLang="en-US" b="1" dirty="0">
                <a:solidFill>
                  <a:srgbClr val="C01920"/>
                </a:solidFill>
                <a:latin typeface="隶书" pitchFamily="49" charset="-122"/>
                <a:ea typeface="隶书" pitchFamily="49" charset="-122"/>
              </a:rPr>
              <a:t>运行结果：</a:t>
            </a:r>
          </a:p>
          <a:p>
            <a:r>
              <a:rPr lang="zh-CN" altLang="en-US" b="1" dirty="0">
                <a:solidFill>
                  <a:srgbClr val="002060"/>
                </a:solidFill>
                <a:ea typeface="楷体_GB2312" pitchFamily="49" charset="-122"/>
              </a:rPr>
              <a:t> </a:t>
            </a:r>
            <a:r>
              <a:rPr lang="en-US" altLang="zh-CN" sz="2000" b="1" dirty="0">
                <a:solidFill>
                  <a:srgbClr val="002060"/>
                </a:solidFill>
              </a:rPr>
              <a:t>1: x = 0           y = 0</a:t>
            </a:r>
          </a:p>
          <a:p>
            <a:r>
              <a:rPr lang="en-US" altLang="zh-CN" sz="2000" b="1" dirty="0">
                <a:solidFill>
                  <a:srgbClr val="002060"/>
                </a:solidFill>
              </a:rPr>
              <a:t> 2: x = 135       y = 246</a:t>
            </a:r>
          </a:p>
          <a:p>
            <a:r>
              <a:rPr lang="en-US" altLang="zh-CN" sz="2000" b="1" dirty="0">
                <a:solidFill>
                  <a:srgbClr val="002060"/>
                </a:solidFill>
              </a:rPr>
              <a:t> 3: x = 135       y = 246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2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10772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107726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10772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77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3" dur="500"/>
                                        <p:tgtEl>
                                          <p:spTgt spid="10772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77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107727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3" dur="500"/>
                                        <p:tgtEl>
                                          <p:spTgt spid="10772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7" dur="500"/>
                                        <p:tgtEl>
                                          <p:spTgt spid="10772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2" dur="500"/>
                                        <p:tgtEl>
                                          <p:spTgt spid="10772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7" dur="500"/>
                                        <p:tgtEl>
                                          <p:spTgt spid="107728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1" dur="500"/>
                                        <p:tgtEl>
                                          <p:spTgt spid="10772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6" dur="500"/>
                                        <p:tgtEl>
                                          <p:spTgt spid="10772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1" dur="500"/>
                                        <p:tgtEl>
                                          <p:spTgt spid="10772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5" dur="500"/>
                                        <p:tgtEl>
                                          <p:spTgt spid="107729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0" dur="500"/>
                                        <p:tgtEl>
                                          <p:spTgt spid="10773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5" dur="500"/>
                                        <p:tgtEl>
                                          <p:spTgt spid="107730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7267" grpId="0" animBg="1"/>
      <p:bldP spid="1077268" grpId="0" animBg="1"/>
      <p:bldP spid="1077269" grpId="0" animBg="1"/>
      <p:bldP spid="36" grpId="0"/>
      <p:bldP spid="37" grpId="0"/>
      <p:bldP spid="1077270" grpId="0" animBg="1"/>
      <p:bldP spid="1077271" grpId="0" animBg="1"/>
      <p:bldP spid="1077272" grpId="0" animBg="1"/>
      <p:bldP spid="1077281" grpId="0" animBg="1"/>
      <p:bldP spid="1077282" grpId="0" animBg="1"/>
      <p:bldP spid="1077291" grpId="0" animBg="1"/>
      <p:bldP spid="1077292" grpId="0" animBg="1"/>
      <p:bldP spid="107730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302" name="Rectangle 6"/>
          <p:cNvSpPr>
            <a:spLocks noChangeArrowheads="1"/>
          </p:cNvSpPr>
          <p:nvPr/>
        </p:nvSpPr>
        <p:spPr bwMode="auto">
          <a:xfrm>
            <a:off x="983432" y="2376204"/>
            <a:ext cx="6675456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tabLst>
                <a:tab pos="457200" algn="l"/>
              </a:tabLst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(5)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全局变量定义与全局变量的说明的区分</a:t>
            </a:r>
            <a:r>
              <a:rPr lang="zh-CN" altLang="en-US" dirty="0"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35668BC8-B397-4BFA-8798-C030B2F940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1335" y="1645587"/>
            <a:ext cx="11256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Clr>
                <a:srgbClr val="C01920"/>
              </a:buClr>
              <a:buFont typeface="Wingdings" pitchFamily="2" charset="2"/>
              <a:buChar char="Ø"/>
            </a:pPr>
            <a:r>
              <a:rPr lang="en-US" altLang="zh-CN" dirty="0">
                <a:solidFill>
                  <a:srgbClr val="C01920"/>
                </a:solidFill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说明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9F7D6D1B-6E9B-41EE-94BA-E14F216289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724" y="883593"/>
            <a:ext cx="482441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3</a:t>
            </a:r>
            <a:r>
              <a:rPr lang="zh-CN" altLang="en-US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、全局变量作用域和生存期</a:t>
            </a:r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4E2E3CBF-D3F6-4CB5-8576-684F9B0DFF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8.4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变量的作用域和生存期 </a:t>
            </a:r>
          </a:p>
        </p:txBody>
      </p:sp>
      <p:sp>
        <p:nvSpPr>
          <p:cNvPr id="1079315" name="Rectangle 19" descr="信纸"/>
          <p:cNvSpPr>
            <a:spLocks noChangeArrowheads="1"/>
          </p:cNvSpPr>
          <p:nvPr/>
        </p:nvSpPr>
        <p:spPr bwMode="auto">
          <a:xfrm>
            <a:off x="1775520" y="1556792"/>
            <a:ext cx="7488686" cy="4876800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lang="en-US" altLang="zh-CN" b="1" dirty="0">
                <a:solidFill>
                  <a:srgbClr val="C01920"/>
                </a:solidFill>
              </a:rPr>
              <a:t>extern </a:t>
            </a:r>
            <a:r>
              <a:rPr lang="en-US" altLang="zh-CN" b="1" dirty="0" err="1">
                <a:solidFill>
                  <a:srgbClr val="C01920"/>
                </a:solidFill>
              </a:rPr>
              <a:t>int</a:t>
            </a:r>
            <a:r>
              <a:rPr lang="en-US" altLang="zh-CN" b="1" dirty="0">
                <a:solidFill>
                  <a:srgbClr val="C01920"/>
                </a:solidFill>
              </a:rPr>
              <a:t> a; </a:t>
            </a:r>
          </a:p>
          <a:p>
            <a:pPr marL="457200" indent="-457200"/>
            <a:endParaRPr lang="en-US" altLang="zh-CN" b="1" dirty="0"/>
          </a:p>
          <a:p>
            <a:pPr marL="457200" indent="-457200"/>
            <a:r>
              <a:rPr lang="en-US" altLang="zh-CN" b="1" dirty="0"/>
              <a:t>void func1 ( )</a:t>
            </a:r>
          </a:p>
          <a:p>
            <a:pPr marL="457200" indent="-457200"/>
            <a:r>
              <a:rPr lang="en-US" altLang="zh-CN" b="1" dirty="0"/>
              <a:t>{</a:t>
            </a:r>
          </a:p>
          <a:p>
            <a:pPr marL="457200" indent="-457200"/>
            <a:r>
              <a:rPr lang="en-US" altLang="zh-CN" b="1" dirty="0"/>
              <a:t>  ……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引用变量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a</a:t>
            </a:r>
          </a:p>
          <a:p>
            <a:pPr marL="457200" indent="-457200"/>
            <a:r>
              <a:rPr lang="en-US" altLang="zh-CN" b="1" dirty="0"/>
              <a:t>}</a:t>
            </a:r>
          </a:p>
          <a:p>
            <a:pPr marL="457200" indent="-457200"/>
            <a:endParaRPr lang="en-US" altLang="zh-CN" b="1" dirty="0"/>
          </a:p>
          <a:p>
            <a:pPr marL="457200" indent="-457200"/>
            <a:r>
              <a:rPr lang="en-US" altLang="zh-CN" b="1" dirty="0">
                <a:solidFill>
                  <a:srgbClr val="C01920"/>
                </a:solidFill>
              </a:rPr>
              <a:t>extern </a:t>
            </a:r>
            <a:r>
              <a:rPr lang="en-US" altLang="zh-CN" b="1" dirty="0" err="1">
                <a:solidFill>
                  <a:srgbClr val="C01920"/>
                </a:solidFill>
              </a:rPr>
              <a:t>int</a:t>
            </a:r>
            <a:r>
              <a:rPr lang="en-US" altLang="zh-CN" b="1" dirty="0">
                <a:solidFill>
                  <a:srgbClr val="C01920"/>
                </a:solidFill>
              </a:rPr>
              <a:t> a = 2;</a:t>
            </a:r>
          </a:p>
          <a:p>
            <a:pPr marL="457200" indent="-457200"/>
            <a:r>
              <a:rPr lang="en-US" altLang="zh-CN" b="1" dirty="0"/>
              <a:t> </a:t>
            </a:r>
          </a:p>
          <a:p>
            <a:pPr marL="457200" indent="-457200"/>
            <a:r>
              <a:rPr lang="en-US" altLang="zh-CN" b="1" dirty="0"/>
              <a:t>void func2 ( )</a:t>
            </a:r>
          </a:p>
          <a:p>
            <a:pPr marL="457200" indent="-457200"/>
            <a:r>
              <a:rPr lang="en-US" altLang="zh-CN" b="1" dirty="0"/>
              <a:t>{</a:t>
            </a:r>
          </a:p>
          <a:p>
            <a:pPr marL="457200" indent="-457200"/>
            <a:r>
              <a:rPr lang="en-US" altLang="zh-CN" b="1" dirty="0"/>
              <a:t>  ……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引用变量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a</a:t>
            </a:r>
          </a:p>
          <a:p>
            <a:pPr marL="457200" indent="-457200"/>
            <a:r>
              <a:rPr lang="en-US" altLang="zh-CN" b="1" dirty="0"/>
              <a:t>}</a:t>
            </a:r>
          </a:p>
        </p:txBody>
      </p:sp>
      <p:sp>
        <p:nvSpPr>
          <p:cNvPr id="1079316" name="AutoShape 20"/>
          <p:cNvSpPr>
            <a:spLocks noChangeArrowheads="1"/>
          </p:cNvSpPr>
          <p:nvPr/>
        </p:nvSpPr>
        <p:spPr bwMode="auto">
          <a:xfrm>
            <a:off x="5605966" y="2348954"/>
            <a:ext cx="3240088" cy="1584325"/>
          </a:xfrm>
          <a:prstGeom prst="cloudCallout">
            <a:avLst>
              <a:gd name="adj1" fmla="val -98019"/>
              <a:gd name="adj2" fmla="val 61855"/>
            </a:avLst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rgbClr val="C00000"/>
            </a:solidFill>
            <a:round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pPr algn="ctr"/>
            <a:r>
              <a:rPr lang="zh-CN" altLang="en-US" sz="2800" b="1" dirty="0">
                <a:solidFill>
                  <a:srgbClr val="C01920"/>
                </a:solidFill>
                <a:ea typeface="隶书" pitchFamily="49" charset="-122"/>
              </a:rPr>
              <a:t>谁是定义？</a:t>
            </a:r>
          </a:p>
          <a:p>
            <a:pPr algn="ctr"/>
            <a:r>
              <a:rPr lang="zh-CN" altLang="en-US" sz="2800" b="1" dirty="0">
                <a:solidFill>
                  <a:srgbClr val="C01920"/>
                </a:solidFill>
                <a:ea typeface="隶书" pitchFamily="49" charset="-122"/>
              </a:rPr>
              <a:t>谁是说明？</a:t>
            </a:r>
          </a:p>
        </p:txBody>
      </p:sp>
      <p:sp>
        <p:nvSpPr>
          <p:cNvPr id="1079317" name="Rectangle 21"/>
          <p:cNvSpPr>
            <a:spLocks noChangeArrowheads="1"/>
          </p:cNvSpPr>
          <p:nvPr/>
        </p:nvSpPr>
        <p:spPr bwMode="auto">
          <a:xfrm>
            <a:off x="1848546" y="4220617"/>
            <a:ext cx="2232025" cy="360362"/>
          </a:xfrm>
          <a:prstGeom prst="rect">
            <a:avLst/>
          </a:prstGeom>
          <a:noFill/>
          <a:ln w="28575">
            <a:solidFill>
              <a:srgbClr val="C0192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9318" name="AutoShape 22"/>
          <p:cNvSpPr>
            <a:spLocks/>
          </p:cNvSpPr>
          <p:nvPr/>
        </p:nvSpPr>
        <p:spPr bwMode="auto">
          <a:xfrm>
            <a:off x="5233095" y="5012780"/>
            <a:ext cx="1871662" cy="792163"/>
          </a:xfrm>
          <a:prstGeom prst="borderCallout2">
            <a:avLst>
              <a:gd name="adj1" fmla="val 14431"/>
              <a:gd name="adj2" fmla="val -4069"/>
              <a:gd name="adj3" fmla="val 14431"/>
              <a:gd name="adj4" fmla="val -30111"/>
              <a:gd name="adj5" fmla="val -72944"/>
              <a:gd name="adj6" fmla="val -62852"/>
            </a:avLst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r>
              <a:rPr lang="zh-CN" altLang="en-US" sz="20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全局变量定义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(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因为赋了初值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)</a:t>
            </a:r>
          </a:p>
        </p:txBody>
      </p:sp>
      <p:sp>
        <p:nvSpPr>
          <p:cNvPr id="1079319" name="Rectangle 23"/>
          <p:cNvSpPr>
            <a:spLocks noChangeArrowheads="1"/>
          </p:cNvSpPr>
          <p:nvPr/>
        </p:nvSpPr>
        <p:spPr bwMode="auto">
          <a:xfrm>
            <a:off x="1832671" y="1656805"/>
            <a:ext cx="2232025" cy="360363"/>
          </a:xfrm>
          <a:prstGeom prst="rect">
            <a:avLst/>
          </a:prstGeom>
          <a:noFill/>
          <a:ln w="28575">
            <a:solidFill>
              <a:srgbClr val="00206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9320" name="AutoShape 24"/>
          <p:cNvSpPr>
            <a:spLocks/>
          </p:cNvSpPr>
          <p:nvPr/>
        </p:nvSpPr>
        <p:spPr bwMode="auto">
          <a:xfrm>
            <a:off x="5233095" y="2348954"/>
            <a:ext cx="1871662" cy="431800"/>
          </a:xfrm>
          <a:prstGeom prst="borderCallout2">
            <a:avLst>
              <a:gd name="adj1" fmla="val 26472"/>
              <a:gd name="adj2" fmla="val -4069"/>
              <a:gd name="adj3" fmla="val 26472"/>
              <a:gd name="adj4" fmla="val -30111"/>
              <a:gd name="adj5" fmla="val -133824"/>
              <a:gd name="adj6" fmla="val -62852"/>
            </a:avLst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r>
              <a:rPr lang="zh-CN" altLang="en-US" sz="2000" b="1">
                <a:solidFill>
                  <a:srgbClr val="002060"/>
                </a:solidFill>
                <a:latin typeface="+mn-lt"/>
                <a:ea typeface="楷体" pitchFamily="49" charset="-122"/>
              </a:rPr>
              <a:t>全局变量说明</a:t>
            </a:r>
          </a:p>
        </p:txBody>
      </p:sp>
      <p:sp>
        <p:nvSpPr>
          <p:cNvPr id="1079321" name="Rectangle 25"/>
          <p:cNvSpPr>
            <a:spLocks noChangeArrowheads="1"/>
          </p:cNvSpPr>
          <p:nvPr/>
        </p:nvSpPr>
        <p:spPr bwMode="auto">
          <a:xfrm>
            <a:off x="7608021" y="4597057"/>
            <a:ext cx="4126427" cy="1569660"/>
          </a:xfrm>
          <a:prstGeom prst="rect">
            <a:avLst/>
          </a:prstGeom>
          <a:gradFill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</a:rPr>
              <a:t> </a:t>
            </a:r>
            <a:r>
              <a:rPr lang="zh-CN" altLang="en-US" b="1" dirty="0">
                <a:solidFill>
                  <a:srgbClr val="C01920"/>
                </a:solidFill>
                <a:latin typeface="隶书" pitchFamily="49" charset="-122"/>
                <a:ea typeface="隶书" pitchFamily="49" charset="-122"/>
              </a:rPr>
              <a:t>注意：</a:t>
            </a:r>
            <a:r>
              <a:rPr lang="zh-CN" altLang="en-US" b="1" dirty="0">
                <a:solidFill>
                  <a:srgbClr val="002060"/>
                </a:solidFill>
                <a:latin typeface="隶书" pitchFamily="49" charset="-122"/>
                <a:ea typeface="隶书" pitchFamily="49" charset="-122"/>
              </a:rPr>
              <a:t>两者中有且只能有一个对变量</a:t>
            </a:r>
            <a:r>
              <a:rPr lang="en-US" altLang="zh-CN" b="1" dirty="0">
                <a:solidFill>
                  <a:srgbClr val="002060"/>
                </a:solidFill>
                <a:latin typeface="隶书" pitchFamily="49" charset="-122"/>
                <a:ea typeface="隶书" pitchFamily="49" charset="-122"/>
              </a:rPr>
              <a:t>a</a:t>
            </a:r>
            <a:r>
              <a:rPr lang="zh-CN" altLang="en-US" b="1" dirty="0">
                <a:solidFill>
                  <a:srgbClr val="002060"/>
                </a:solidFill>
                <a:latin typeface="隶书" pitchFamily="49" charset="-122"/>
                <a:ea typeface="隶书" pitchFamily="49" charset="-122"/>
              </a:rPr>
              <a:t>赋初始值，不能都对变量</a:t>
            </a:r>
            <a:r>
              <a:rPr lang="en-US" altLang="zh-CN" b="1" dirty="0">
                <a:solidFill>
                  <a:srgbClr val="002060"/>
                </a:solidFill>
                <a:latin typeface="隶书" pitchFamily="49" charset="-122"/>
                <a:ea typeface="隶书" pitchFamily="49" charset="-122"/>
              </a:rPr>
              <a:t>a</a:t>
            </a:r>
            <a:r>
              <a:rPr lang="zh-CN" altLang="en-US" b="1" dirty="0">
                <a:solidFill>
                  <a:srgbClr val="002060"/>
                </a:solidFill>
                <a:latin typeface="隶书" pitchFamily="49" charset="-122"/>
                <a:ea typeface="隶书" pitchFamily="49" charset="-122"/>
              </a:rPr>
              <a:t>赋初始值或都不赋值，否则编译错！</a:t>
            </a:r>
            <a:r>
              <a:rPr lang="zh-CN" altLang="en-US" dirty="0">
                <a:solidFill>
                  <a:srgbClr val="002060"/>
                </a:solidFill>
              </a:rPr>
              <a:t> 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3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10793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500"/>
                                        <p:tgtEl>
                                          <p:spTgt spid="10793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9" dur="500"/>
                                        <p:tgtEl>
                                          <p:spTgt spid="10793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79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4" dur="500"/>
                                        <p:tgtEl>
                                          <p:spTgt spid="10793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8" dur="500"/>
                                        <p:tgtEl>
                                          <p:spTgt spid="10793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3" dur="500"/>
                                        <p:tgtEl>
                                          <p:spTgt spid="10793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7" dur="500"/>
                                        <p:tgtEl>
                                          <p:spTgt spid="10793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10793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079315" grpId="0" animBg="1"/>
      <p:bldP spid="1079316" grpId="0" animBg="1"/>
      <p:bldP spid="1079317" grpId="0" animBg="1"/>
      <p:bldP spid="1079318" grpId="0" animBg="1"/>
      <p:bldP spid="1079319" grpId="0" animBg="1"/>
      <p:bldP spid="1079320" grpId="0" animBg="1"/>
      <p:bldP spid="107932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354" name="Rectangle 10"/>
          <p:cNvSpPr>
            <a:spLocks noChangeArrowheads="1"/>
          </p:cNvSpPr>
          <p:nvPr/>
        </p:nvSpPr>
        <p:spPr bwMode="auto">
          <a:xfrm>
            <a:off x="822286" y="1700808"/>
            <a:ext cx="10890338" cy="452431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l"/>
            </a:pPr>
            <a:r>
              <a:rPr lang="en-US" altLang="zh-CN" b="1" dirty="0"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latin typeface="+mn-lt"/>
                <a:ea typeface="楷体" pitchFamily="49" charset="-122"/>
              </a:rPr>
              <a:t>变量是对程序中数据的存储空间的抽象</a:t>
            </a:r>
            <a:endParaRPr lang="en-US" altLang="zh-CN" b="1" dirty="0">
              <a:latin typeface="+mn-lt"/>
              <a:ea typeface="楷体" pitchFamily="49" charset="-122"/>
            </a:endParaRPr>
          </a:p>
          <a:p>
            <a:pPr>
              <a:buFont typeface="Wingdings" pitchFamily="2" charset="2"/>
              <a:buChar char="l"/>
            </a:pPr>
            <a:endParaRPr lang="zh-CN" altLang="en-US" b="1" dirty="0">
              <a:latin typeface="+mn-lt"/>
              <a:ea typeface="楷体" pitchFamily="49" charset="-122"/>
            </a:endParaRPr>
          </a:p>
          <a:p>
            <a:pPr>
              <a:buFont typeface="Wingdings" pitchFamily="2" charset="2"/>
              <a:buChar char="l"/>
            </a:pPr>
            <a:r>
              <a:rPr lang="zh-CN" altLang="en-US" b="1" dirty="0">
                <a:latin typeface="+mn-lt"/>
                <a:ea typeface="楷体" pitchFamily="49" charset="-122"/>
              </a:rPr>
              <a:t> 变量的属性</a:t>
            </a:r>
          </a:p>
          <a:p>
            <a:pPr>
              <a:buFont typeface="Wingdings" pitchFamily="2" charset="2"/>
              <a:buNone/>
            </a:pPr>
            <a:r>
              <a:rPr lang="zh-CN" altLang="en-US" b="1" dirty="0">
                <a:latin typeface="+mn-lt"/>
                <a:ea typeface="楷体" pitchFamily="49" charset="-122"/>
              </a:rPr>
              <a:t>　　①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数据类型：</a:t>
            </a:r>
            <a:r>
              <a:rPr lang="zh-CN" altLang="en-US" b="1" dirty="0">
                <a:latin typeface="+mn-lt"/>
                <a:ea typeface="楷体" pitchFamily="49" charset="-122"/>
              </a:rPr>
              <a:t>变量所持有的数据的性质（</a:t>
            </a:r>
            <a:r>
              <a:rPr lang="zh-CN" altLang="en-US" b="1" dirty="0">
                <a:solidFill>
                  <a:schemeClr val="accent2">
                    <a:lumMod val="50000"/>
                  </a:schemeClr>
                </a:solidFill>
                <a:latin typeface="+mn-lt"/>
                <a:ea typeface="楷体" pitchFamily="49" charset="-122"/>
              </a:rPr>
              <a:t>操作属性</a:t>
            </a:r>
            <a:r>
              <a:rPr lang="zh-CN" altLang="en-US" b="1" dirty="0">
                <a:latin typeface="+mn-lt"/>
                <a:ea typeface="楷体" pitchFamily="49" charset="-122"/>
              </a:rPr>
              <a:t>）。规定了它们的取值范围和可参与的运算</a:t>
            </a:r>
            <a:r>
              <a:rPr lang="zh-CN" altLang="en-US" dirty="0">
                <a:latin typeface="+mn-lt"/>
                <a:ea typeface="楷体" pitchFamily="49" charset="-122"/>
              </a:rPr>
              <a:t> 。</a:t>
            </a:r>
            <a:endParaRPr lang="zh-CN" altLang="en-US" b="1" dirty="0">
              <a:latin typeface="+mn-lt"/>
              <a:ea typeface="楷体" pitchFamily="49" charset="-122"/>
            </a:endParaRPr>
          </a:p>
          <a:p>
            <a:pPr>
              <a:buFont typeface="Wingdings" pitchFamily="2" charset="2"/>
              <a:buNone/>
            </a:pPr>
            <a:r>
              <a:rPr lang="zh-CN" altLang="en-US" b="1" dirty="0">
                <a:latin typeface="+mn-lt"/>
                <a:ea typeface="楷体" pitchFamily="49" charset="-122"/>
              </a:rPr>
              <a:t>　　②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存储类型</a:t>
            </a: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: </a:t>
            </a:r>
            <a:r>
              <a:rPr lang="zh-CN" altLang="en-US" b="1" dirty="0">
                <a:latin typeface="+mn-lt"/>
                <a:ea typeface="楷体" pitchFamily="49" charset="-122"/>
              </a:rPr>
              <a:t>规定了变量占用内存空间的方式，也称为存储方式。分为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latin typeface="+mn-lt"/>
                <a:ea typeface="楷体" pitchFamily="49" charset="-122"/>
              </a:rPr>
              <a:t>静态存储</a:t>
            </a:r>
            <a:r>
              <a:rPr lang="zh-CN" altLang="en-US" b="1" dirty="0">
                <a:latin typeface="+mn-lt"/>
                <a:ea typeface="楷体" pitchFamily="49" charset="-122"/>
              </a:rPr>
              <a:t>和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latin typeface="+mn-lt"/>
                <a:ea typeface="楷体" pitchFamily="49" charset="-122"/>
              </a:rPr>
              <a:t>动态存储</a:t>
            </a:r>
            <a:r>
              <a:rPr lang="zh-CN" altLang="en-US" b="1" dirty="0">
                <a:latin typeface="+mn-lt"/>
                <a:ea typeface="楷体" pitchFamily="49" charset="-122"/>
              </a:rPr>
              <a:t>两种</a:t>
            </a:r>
            <a:r>
              <a:rPr lang="zh-CN" altLang="en-US" dirty="0">
                <a:latin typeface="+mn-lt"/>
                <a:ea typeface="楷体" pitchFamily="49" charset="-122"/>
              </a:rPr>
              <a:t> 。</a:t>
            </a:r>
          </a:p>
          <a:p>
            <a:r>
              <a:rPr lang="zh-CN" altLang="en-US" b="1" dirty="0">
                <a:latin typeface="+mn-lt"/>
                <a:ea typeface="楷体" pitchFamily="49" charset="-122"/>
              </a:rPr>
              <a:t>        </a:t>
            </a:r>
            <a:r>
              <a:rPr lang="zh-CN" altLang="en-US" b="1" u="sng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静态存储类型的变量</a:t>
            </a:r>
            <a:r>
              <a:rPr lang="zh-CN" altLang="en-US" b="1" dirty="0">
                <a:latin typeface="+mn-lt"/>
                <a:ea typeface="楷体" pitchFamily="49" charset="-122"/>
              </a:rPr>
              <a:t>是指在程序运行期间由系统分配固定的内存单元，并一直保持不变，直至整个程序结束，内存空间才被释放。前面所介绍的全局变量即属于此类存储方式。</a:t>
            </a:r>
          </a:p>
          <a:p>
            <a:r>
              <a:rPr lang="zh-CN" altLang="en-US" b="1" dirty="0">
                <a:latin typeface="+mn-lt"/>
                <a:ea typeface="楷体" pitchFamily="49" charset="-122"/>
              </a:rPr>
              <a:t>　　</a:t>
            </a:r>
            <a:r>
              <a:rPr lang="zh-CN" altLang="en-US" b="1" u="sng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动态存储类型的变量</a:t>
            </a:r>
            <a:r>
              <a:rPr lang="zh-CN" altLang="en-US" b="1" dirty="0">
                <a:latin typeface="+mn-lt"/>
                <a:ea typeface="楷体" pitchFamily="49" charset="-122"/>
              </a:rPr>
              <a:t>是在程序运行期间根据需要进行动态分配内存单元，使用完毕立即释放。典型的例子是函数的形式参数即属于此类存储方式。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3941E3A3-4E08-444A-9FAE-EACE5E1093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8.5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变量的存储类型 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57DA0B2D-4B34-46C0-8849-6EF06C963FF9}"/>
              </a:ext>
            </a:extLst>
          </p:cNvPr>
          <p:cNvGrpSpPr/>
          <p:nvPr/>
        </p:nvGrpSpPr>
        <p:grpSpPr>
          <a:xfrm>
            <a:off x="695325" y="967906"/>
            <a:ext cx="3267000" cy="630931"/>
            <a:chOff x="695400" y="1059424"/>
            <a:chExt cx="3267000" cy="630931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C292BE19-8828-4D2D-A821-69FAE82CC47C}"/>
                </a:ext>
              </a:extLst>
            </p:cNvPr>
            <p:cNvGrpSpPr/>
            <p:nvPr/>
          </p:nvGrpSpPr>
          <p:grpSpPr>
            <a:xfrm>
              <a:off x="695400" y="1059424"/>
              <a:ext cx="833819" cy="557612"/>
              <a:chOff x="695400" y="1059424"/>
              <a:chExt cx="833819" cy="557612"/>
            </a:xfrm>
          </p:grpSpPr>
          <p:sp>
            <p:nvSpPr>
              <p:cNvPr id="13" name="菱形 12">
                <a:extLst>
                  <a:ext uri="{FF2B5EF4-FFF2-40B4-BE49-F238E27FC236}">
                    <a16:creationId xmlns:a16="http://schemas.microsoft.com/office/drawing/2014/main" id="{4250677B-980D-4313-BB07-D6B7FF452701}"/>
                  </a:ext>
                </a:extLst>
              </p:cNvPr>
              <p:cNvSpPr/>
              <p:nvPr/>
            </p:nvSpPr>
            <p:spPr bwMode="auto">
              <a:xfrm>
                <a:off x="695400" y="1059424"/>
                <a:ext cx="557612" cy="557612"/>
              </a:xfrm>
              <a:prstGeom prst="diamond">
                <a:avLst/>
              </a:prstGeom>
              <a:solidFill>
                <a:srgbClr val="D7000F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4" name="菱形 13">
                <a:extLst>
                  <a:ext uri="{FF2B5EF4-FFF2-40B4-BE49-F238E27FC236}">
                    <a16:creationId xmlns:a16="http://schemas.microsoft.com/office/drawing/2014/main" id="{F14F57C4-0A6A-4D3C-85C3-AB90465F2764}"/>
                  </a:ext>
                </a:extLst>
              </p:cNvPr>
              <p:cNvSpPr/>
              <p:nvPr/>
            </p:nvSpPr>
            <p:spPr bwMode="auto">
              <a:xfrm>
                <a:off x="1006681" y="1094498"/>
                <a:ext cx="522538" cy="522538"/>
              </a:xfrm>
              <a:prstGeom prst="diamond">
                <a:avLst/>
              </a:prstGeom>
              <a:solidFill>
                <a:srgbClr val="CFCFD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12" name="Text Box 5">
              <a:extLst>
                <a:ext uri="{FF2B5EF4-FFF2-40B4-BE49-F238E27FC236}">
                  <a16:creationId xmlns:a16="http://schemas.microsoft.com/office/drawing/2014/main" id="{585A2143-E3A8-4660-AE75-8BAA7841B5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2725" y="1167135"/>
              <a:ext cx="2459675" cy="523220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buClr>
                  <a:srgbClr val="D7000F"/>
                </a:buClr>
                <a:tabLst>
                  <a:tab pos="177800" algn="l"/>
                </a:tabLst>
              </a:pPr>
              <a:r>
                <a:rPr kumimoji="0" lang="zh-CN" altLang="en-US" sz="2800" b="1" dirty="0">
                  <a:solidFill>
                    <a:srgbClr val="D7000F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概述</a:t>
              </a:r>
            </a:p>
          </p:txBody>
        </p:sp>
      </p:grp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81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81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813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813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813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813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813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813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813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813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813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813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428" name="Rectangle 4"/>
          <p:cNvSpPr>
            <a:spLocks noChangeArrowheads="1"/>
          </p:cNvSpPr>
          <p:nvPr/>
        </p:nvSpPr>
        <p:spPr bwMode="auto">
          <a:xfrm>
            <a:off x="697271" y="1010717"/>
            <a:ext cx="1110623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zh-CN" altLang="en-US" b="1" dirty="0">
                <a:latin typeface="+mn-lt"/>
                <a:ea typeface="楷体" pitchFamily="49" charset="-122"/>
              </a:rPr>
              <a:t>　　一个</a:t>
            </a:r>
            <a:r>
              <a:rPr lang="en-US" altLang="zh-CN" b="1" dirty="0">
                <a:latin typeface="+mn-lt"/>
                <a:ea typeface="楷体" pitchFamily="49" charset="-122"/>
              </a:rPr>
              <a:t>C</a:t>
            </a:r>
            <a:r>
              <a:rPr lang="zh-CN" altLang="en-US" b="1" dirty="0">
                <a:latin typeface="+mn-lt"/>
                <a:ea typeface="楷体" pitchFamily="49" charset="-122"/>
              </a:rPr>
              <a:t>语言程序在执行时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内存被分为两大块</a:t>
            </a:r>
            <a:r>
              <a:rPr lang="zh-CN" altLang="en-US" b="1" dirty="0">
                <a:latin typeface="+mn-lt"/>
                <a:ea typeface="楷体" pitchFamily="49" charset="-122"/>
              </a:rPr>
              <a:t>：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一块是系统区</a:t>
            </a:r>
            <a:r>
              <a:rPr lang="zh-CN" altLang="en-US" b="1" dirty="0">
                <a:latin typeface="+mn-lt"/>
                <a:ea typeface="楷体" pitchFamily="49" charset="-122"/>
              </a:rPr>
              <a:t>，用于存放操作系统等内容，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另一块是用户区</a:t>
            </a:r>
            <a:r>
              <a:rPr lang="zh-CN" altLang="en-US" b="1" dirty="0">
                <a:latin typeface="+mn-lt"/>
                <a:ea typeface="楷体" pitchFamily="49" charset="-122"/>
              </a:rPr>
              <a:t>，用来存放被执行的用户程序及数据</a:t>
            </a:r>
            <a:r>
              <a:rPr lang="zh-CN" altLang="en-US" dirty="0">
                <a:latin typeface="+mn-lt"/>
                <a:ea typeface="楷体" pitchFamily="49" charset="-122"/>
              </a:rPr>
              <a:t> </a:t>
            </a:r>
          </a:p>
        </p:txBody>
      </p:sp>
      <p:grpSp>
        <p:nvGrpSpPr>
          <p:cNvPr id="1127452" name="Group 28"/>
          <p:cNvGrpSpPr>
            <a:grpSpLocks/>
          </p:cNvGrpSpPr>
          <p:nvPr/>
        </p:nvGrpSpPr>
        <p:grpSpPr bwMode="auto">
          <a:xfrm>
            <a:off x="4853955" y="2349078"/>
            <a:ext cx="3184525" cy="3024188"/>
            <a:chOff x="657" y="981"/>
            <a:chExt cx="2006" cy="1905"/>
          </a:xfrm>
        </p:grpSpPr>
        <p:grpSp>
          <p:nvGrpSpPr>
            <p:cNvPr id="1127436" name="Group 12"/>
            <p:cNvGrpSpPr>
              <a:grpSpLocks/>
            </p:cNvGrpSpPr>
            <p:nvPr/>
          </p:nvGrpSpPr>
          <p:grpSpPr bwMode="auto">
            <a:xfrm>
              <a:off x="657" y="981"/>
              <a:ext cx="1155" cy="1905"/>
              <a:chOff x="5577" y="10488"/>
              <a:chExt cx="1800" cy="2496"/>
            </a:xfrm>
          </p:grpSpPr>
          <p:sp>
            <p:nvSpPr>
              <p:cNvPr id="1127437" name="AutoShape 13"/>
              <p:cNvSpPr>
                <a:spLocks noChangeArrowheads="1"/>
              </p:cNvSpPr>
              <p:nvPr/>
            </p:nvSpPr>
            <p:spPr bwMode="auto">
              <a:xfrm>
                <a:off x="5577" y="10488"/>
                <a:ext cx="1800" cy="2496"/>
              </a:xfrm>
              <a:prstGeom prst="foldedCorner">
                <a:avLst>
                  <a:gd name="adj" fmla="val 13745"/>
                </a:avLst>
              </a:prstGeom>
              <a:gradFill rotWithShape="1">
                <a:gsLst>
                  <a:gs pos="0">
                    <a:srgbClr val="F0E5B7"/>
                  </a:gs>
                  <a:gs pos="100000">
                    <a:srgbClr val="FFFFFF"/>
                  </a:gs>
                </a:gsLst>
                <a:lin ang="5400000" scaled="1"/>
              </a:gradFill>
              <a:ln w="38100">
                <a:solidFill>
                  <a:srgbClr val="BD6368"/>
                </a:solidFill>
                <a:round/>
                <a:headEnd type="none" w="lg" len="lg"/>
                <a:tailEnd/>
              </a:ln>
              <a:effectLst>
                <a:outerShdw blurRad="50800" dist="106680" dir="2700000" algn="tl" rotWithShape="0">
                  <a:prstClr val="black">
                    <a:alpha val="43000"/>
                  </a:prstClr>
                </a:outerShdw>
              </a:effectLst>
            </p:spPr>
            <p:txBody>
              <a:bodyPr lIns="90000" tIns="46800" rIns="90000" bIns="46800" anchor="ctr"/>
              <a:lstStyle/>
              <a:p>
                <a:pPr algn="ctr"/>
                <a:endParaRPr lang="zh-CN" altLang="zh-CN" dirty="0">
                  <a:latin typeface="楷体" pitchFamily="49" charset="-122"/>
                  <a:ea typeface="楷体" pitchFamily="49" charset="-122"/>
                </a:endParaRPr>
              </a:p>
            </p:txBody>
          </p:sp>
          <p:sp>
            <p:nvSpPr>
              <p:cNvPr id="1127438" name="Line 14"/>
              <p:cNvSpPr>
                <a:spLocks noChangeShapeType="1"/>
              </p:cNvSpPr>
              <p:nvPr/>
            </p:nvSpPr>
            <p:spPr bwMode="auto">
              <a:xfrm>
                <a:off x="5577" y="11343"/>
                <a:ext cx="1800" cy="0"/>
              </a:xfrm>
              <a:prstGeom prst="line">
                <a:avLst/>
              </a:prstGeom>
              <a:noFill/>
              <a:ln w="38100">
                <a:solidFill>
                  <a:srgbClr val="BD6368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808080">
                    <a:alpha val="50000"/>
                  </a:srgbClr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439" name="Line 15"/>
              <p:cNvSpPr>
                <a:spLocks noChangeShapeType="1"/>
              </p:cNvSpPr>
              <p:nvPr/>
            </p:nvSpPr>
            <p:spPr bwMode="auto">
              <a:xfrm>
                <a:off x="5577" y="11688"/>
                <a:ext cx="1800" cy="0"/>
              </a:xfrm>
              <a:prstGeom prst="line">
                <a:avLst/>
              </a:prstGeom>
              <a:noFill/>
              <a:ln w="38100">
                <a:solidFill>
                  <a:srgbClr val="BD6368"/>
                </a:solidFill>
                <a:prstDash val="dash"/>
                <a:round/>
                <a:headEnd/>
                <a:tailEnd/>
              </a:ln>
              <a:effectLst>
                <a:outerShdw dist="35921" dir="2700000" algn="ctr" rotWithShape="0">
                  <a:srgbClr val="808080">
                    <a:alpha val="50000"/>
                  </a:srgbClr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440" name="Line 16"/>
              <p:cNvSpPr>
                <a:spLocks noChangeShapeType="1"/>
              </p:cNvSpPr>
              <p:nvPr/>
            </p:nvSpPr>
            <p:spPr bwMode="auto">
              <a:xfrm>
                <a:off x="5577" y="12405"/>
                <a:ext cx="1800" cy="0"/>
              </a:xfrm>
              <a:prstGeom prst="line">
                <a:avLst/>
              </a:prstGeom>
              <a:noFill/>
              <a:ln w="38100">
                <a:solidFill>
                  <a:srgbClr val="BD6368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808080">
                    <a:alpha val="50000"/>
                  </a:srgbClr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441" name="Line 17"/>
              <p:cNvSpPr>
                <a:spLocks noChangeShapeType="1"/>
              </p:cNvSpPr>
              <p:nvPr/>
            </p:nvSpPr>
            <p:spPr bwMode="auto">
              <a:xfrm>
                <a:off x="5577" y="12048"/>
                <a:ext cx="1800" cy="0"/>
              </a:xfrm>
              <a:prstGeom prst="line">
                <a:avLst/>
              </a:prstGeom>
              <a:noFill/>
              <a:ln w="38100">
                <a:solidFill>
                  <a:srgbClr val="BD6368"/>
                </a:solidFill>
                <a:prstDash val="dash"/>
                <a:round/>
                <a:headEnd/>
                <a:tailEnd/>
              </a:ln>
              <a:effectLst>
                <a:outerShdw dist="35921" dir="2700000" algn="ctr" rotWithShape="0">
                  <a:srgbClr val="808080">
                    <a:alpha val="50000"/>
                  </a:srgbClr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27443" name="Text Box 19"/>
            <p:cNvSpPr txBox="1">
              <a:spLocks noChangeArrowheads="1"/>
            </p:cNvSpPr>
            <p:nvPr/>
          </p:nvSpPr>
          <p:spPr bwMode="auto">
            <a:xfrm>
              <a:off x="814" y="1617"/>
              <a:ext cx="1003" cy="2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just"/>
              <a:r>
                <a:rPr lang="zh-CN" altLang="en-US" sz="2000" b="1" dirty="0">
                  <a:solidFill>
                    <a:srgbClr val="C01920"/>
                  </a:solidFill>
                  <a:latin typeface="隶书" pitchFamily="49" charset="-122"/>
                  <a:ea typeface="隶书" pitchFamily="49" charset="-122"/>
                </a:rPr>
                <a:t>程 序 区</a:t>
              </a:r>
            </a:p>
          </p:txBody>
        </p:sp>
        <p:sp>
          <p:nvSpPr>
            <p:cNvPr id="1127444" name="Text Box 20"/>
            <p:cNvSpPr txBox="1">
              <a:spLocks noChangeArrowheads="1"/>
            </p:cNvSpPr>
            <p:nvPr/>
          </p:nvSpPr>
          <p:spPr bwMode="auto">
            <a:xfrm>
              <a:off x="793" y="1897"/>
              <a:ext cx="997" cy="2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just"/>
              <a:r>
                <a:rPr lang="zh-CN" altLang="en-US" sz="2000" b="1" dirty="0">
                  <a:solidFill>
                    <a:srgbClr val="7030A0"/>
                  </a:solidFill>
                  <a:latin typeface="隶书" pitchFamily="49" charset="-122"/>
                  <a:ea typeface="隶书" pitchFamily="49" charset="-122"/>
                </a:rPr>
                <a:t>静态存储区</a:t>
              </a:r>
            </a:p>
          </p:txBody>
        </p:sp>
        <p:sp>
          <p:nvSpPr>
            <p:cNvPr id="1127445" name="Text Box 21"/>
            <p:cNvSpPr txBox="1">
              <a:spLocks noChangeArrowheads="1"/>
            </p:cNvSpPr>
            <p:nvPr/>
          </p:nvSpPr>
          <p:spPr bwMode="auto">
            <a:xfrm>
              <a:off x="793" y="2169"/>
              <a:ext cx="944" cy="2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just"/>
              <a:r>
                <a:rPr lang="zh-CN" altLang="en-US" sz="2000" b="1" dirty="0">
                  <a:solidFill>
                    <a:schemeClr val="accent1">
                      <a:lumMod val="50000"/>
                    </a:schemeClr>
                  </a:solidFill>
                  <a:latin typeface="隶书" pitchFamily="49" charset="-122"/>
                  <a:ea typeface="隶书" pitchFamily="49" charset="-122"/>
                </a:rPr>
                <a:t>动态存储区</a:t>
              </a:r>
            </a:p>
          </p:txBody>
        </p:sp>
        <p:sp>
          <p:nvSpPr>
            <p:cNvPr id="1127446" name="Text Box 22"/>
            <p:cNvSpPr txBox="1">
              <a:spLocks noChangeArrowheads="1"/>
            </p:cNvSpPr>
            <p:nvPr/>
          </p:nvSpPr>
          <p:spPr bwMode="auto">
            <a:xfrm>
              <a:off x="757" y="1132"/>
              <a:ext cx="951" cy="3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just"/>
              <a:r>
                <a:rPr lang="zh-CN" altLang="en-US" sz="2000" b="1" dirty="0">
                  <a:solidFill>
                    <a:srgbClr val="002060"/>
                  </a:solidFill>
                  <a:latin typeface="隶书" pitchFamily="49" charset="-122"/>
                  <a:ea typeface="隶书" pitchFamily="49" charset="-122"/>
                </a:rPr>
                <a:t>操作系统等</a:t>
              </a:r>
            </a:p>
          </p:txBody>
        </p:sp>
        <p:sp>
          <p:nvSpPr>
            <p:cNvPr id="1127448" name="AutoShape 24"/>
            <p:cNvSpPr>
              <a:spLocks/>
            </p:cNvSpPr>
            <p:nvPr/>
          </p:nvSpPr>
          <p:spPr bwMode="auto">
            <a:xfrm>
              <a:off x="1866" y="1018"/>
              <a:ext cx="115" cy="593"/>
            </a:xfrm>
            <a:prstGeom prst="rightBrace">
              <a:avLst>
                <a:gd name="adj1" fmla="val 42971"/>
                <a:gd name="adj2" fmla="val 50000"/>
              </a:avLst>
            </a:prstGeom>
            <a:noFill/>
            <a:ln w="28575">
              <a:solidFill>
                <a:srgbClr val="C0192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449" name="Text Box 25"/>
            <p:cNvSpPr txBox="1">
              <a:spLocks noChangeArrowheads="1"/>
            </p:cNvSpPr>
            <p:nvPr/>
          </p:nvSpPr>
          <p:spPr bwMode="auto">
            <a:xfrm>
              <a:off x="1897" y="1146"/>
              <a:ext cx="766" cy="3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zh-CN" altLang="en-US" sz="2000" b="1">
                  <a:solidFill>
                    <a:srgbClr val="002060"/>
                  </a:solidFill>
                  <a:latin typeface="隶书" pitchFamily="49" charset="-122"/>
                  <a:ea typeface="隶书" pitchFamily="49" charset="-122"/>
                </a:rPr>
                <a:t>系统区</a:t>
              </a:r>
            </a:p>
          </p:txBody>
        </p:sp>
        <p:sp>
          <p:nvSpPr>
            <p:cNvPr id="1127450" name="AutoShape 26"/>
            <p:cNvSpPr>
              <a:spLocks/>
            </p:cNvSpPr>
            <p:nvPr/>
          </p:nvSpPr>
          <p:spPr bwMode="auto">
            <a:xfrm>
              <a:off x="1866" y="1682"/>
              <a:ext cx="115" cy="739"/>
            </a:xfrm>
            <a:prstGeom prst="rightBrace">
              <a:avLst>
                <a:gd name="adj1" fmla="val 53551"/>
                <a:gd name="adj2" fmla="val 50000"/>
              </a:avLst>
            </a:prstGeom>
            <a:noFill/>
            <a:ln w="28575">
              <a:solidFill>
                <a:srgbClr val="00206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451" name="Text Box 27"/>
            <p:cNvSpPr txBox="1">
              <a:spLocks noChangeArrowheads="1"/>
            </p:cNvSpPr>
            <p:nvPr/>
          </p:nvSpPr>
          <p:spPr bwMode="auto">
            <a:xfrm>
              <a:off x="1933" y="1895"/>
              <a:ext cx="720" cy="3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zh-CN" altLang="en-US" sz="2000" b="1" dirty="0">
                  <a:solidFill>
                    <a:srgbClr val="C01920"/>
                  </a:solidFill>
                  <a:latin typeface="隶书" pitchFamily="49" charset="-122"/>
                  <a:ea typeface="隶书" pitchFamily="49" charset="-122"/>
                </a:rPr>
                <a:t>用户区</a:t>
              </a:r>
            </a:p>
          </p:txBody>
        </p:sp>
      </p:grpSp>
      <p:grpSp>
        <p:nvGrpSpPr>
          <p:cNvPr id="1127459" name="Group 35"/>
          <p:cNvGrpSpPr>
            <a:grpSpLocks/>
          </p:cNvGrpSpPr>
          <p:nvPr/>
        </p:nvGrpSpPr>
        <p:grpSpPr bwMode="auto">
          <a:xfrm>
            <a:off x="5071442" y="1772816"/>
            <a:ext cx="5688013" cy="1987550"/>
            <a:chOff x="2064" y="935"/>
            <a:chExt cx="3583" cy="1252"/>
          </a:xfrm>
        </p:grpSpPr>
        <p:sp>
          <p:nvSpPr>
            <p:cNvPr id="1127453" name="Oval 29"/>
            <p:cNvSpPr>
              <a:spLocks noChangeArrowheads="1"/>
            </p:cNvSpPr>
            <p:nvPr/>
          </p:nvSpPr>
          <p:spPr bwMode="auto">
            <a:xfrm>
              <a:off x="2064" y="1961"/>
              <a:ext cx="861" cy="22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454" name="AutoShape 30"/>
            <p:cNvSpPr>
              <a:spLocks/>
            </p:cNvSpPr>
            <p:nvPr/>
          </p:nvSpPr>
          <p:spPr bwMode="auto">
            <a:xfrm>
              <a:off x="4150" y="935"/>
              <a:ext cx="1497" cy="499"/>
            </a:xfrm>
            <a:prstGeom prst="borderCallout2">
              <a:avLst>
                <a:gd name="adj1" fmla="val 14431"/>
                <a:gd name="adj2" fmla="val -3208"/>
                <a:gd name="adj3" fmla="val 14431"/>
                <a:gd name="adj4" fmla="val -43819"/>
                <a:gd name="adj5" fmla="val 216032"/>
                <a:gd name="adj6" fmla="val -85838"/>
              </a:avLst>
            </a:prstGeom>
            <a:gradFill rotWithShape="1">
              <a:gsLst>
                <a:gs pos="0">
                  <a:srgbClr val="CFCFD1"/>
                </a:gs>
                <a:gs pos="100000">
                  <a:schemeClr val="bg1"/>
                </a:gs>
              </a:gsLst>
              <a:lin ang="5400000" scaled="1"/>
            </a:gradFill>
            <a:ln w="28575">
              <a:solidFill>
                <a:srgbClr val="C00000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</p:spPr>
          <p:txBody>
            <a:bodyPr/>
            <a:lstStyle/>
            <a:p>
              <a:r>
                <a:rPr lang="zh-CN" altLang="en-US" sz="2000" b="1">
                  <a:latin typeface="+mn-lt"/>
                  <a:ea typeface="楷体" pitchFamily="49" charset="-122"/>
                </a:rPr>
                <a:t>用来存放</a:t>
              </a:r>
              <a:r>
                <a:rPr lang="en-US" altLang="zh-CN" sz="2000" b="1">
                  <a:latin typeface="+mn-lt"/>
                  <a:ea typeface="楷体" pitchFamily="49" charset="-122"/>
                </a:rPr>
                <a:t>C</a:t>
              </a:r>
              <a:r>
                <a:rPr lang="zh-CN" altLang="en-US" sz="2000" b="1">
                  <a:latin typeface="+mn-lt"/>
                  <a:ea typeface="楷体" pitchFamily="49" charset="-122"/>
                </a:rPr>
                <a:t>语言程序运行代码</a:t>
              </a:r>
              <a:r>
                <a:rPr lang="zh-CN" altLang="en-US">
                  <a:latin typeface="+mn-lt"/>
                  <a:ea typeface="楷体" pitchFamily="49" charset="-122"/>
                </a:rPr>
                <a:t>。</a:t>
              </a:r>
            </a:p>
          </p:txBody>
        </p:sp>
      </p:grpSp>
      <p:grpSp>
        <p:nvGrpSpPr>
          <p:cNvPr id="1127460" name="Group 36"/>
          <p:cNvGrpSpPr>
            <a:grpSpLocks/>
          </p:cNvGrpSpPr>
          <p:nvPr/>
        </p:nvGrpSpPr>
        <p:grpSpPr bwMode="auto">
          <a:xfrm>
            <a:off x="5015880" y="3831805"/>
            <a:ext cx="6192839" cy="2620963"/>
            <a:chOff x="2029" y="2232"/>
            <a:chExt cx="3901" cy="1651"/>
          </a:xfrm>
        </p:grpSpPr>
        <p:sp>
          <p:nvSpPr>
            <p:cNvPr id="1127455" name="Oval 31"/>
            <p:cNvSpPr>
              <a:spLocks noChangeArrowheads="1"/>
            </p:cNvSpPr>
            <p:nvPr/>
          </p:nvSpPr>
          <p:spPr bwMode="auto">
            <a:xfrm>
              <a:off x="2029" y="2232"/>
              <a:ext cx="978" cy="226"/>
            </a:xfrm>
            <a:prstGeom prst="ellipse">
              <a:avLst/>
            </a:prstGeom>
            <a:noFill/>
            <a:ln w="28575">
              <a:solidFill>
                <a:srgbClr val="7030A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456" name="AutoShape 32"/>
            <p:cNvSpPr>
              <a:spLocks/>
            </p:cNvSpPr>
            <p:nvPr/>
          </p:nvSpPr>
          <p:spPr bwMode="auto">
            <a:xfrm>
              <a:off x="3413" y="2477"/>
              <a:ext cx="2517" cy="1406"/>
            </a:xfrm>
            <a:prstGeom prst="borderCallout2">
              <a:avLst>
                <a:gd name="adj1" fmla="val 5120"/>
                <a:gd name="adj2" fmla="val -1907"/>
                <a:gd name="adj3" fmla="val 5120"/>
                <a:gd name="adj4" fmla="val -6278"/>
                <a:gd name="adj5" fmla="val -7062"/>
                <a:gd name="adj6" fmla="val -18668"/>
              </a:avLst>
            </a:prstGeom>
            <a:gradFill rotWithShape="1">
              <a:gsLst>
                <a:gs pos="0">
                  <a:srgbClr val="CFCFD1"/>
                </a:gs>
                <a:gs pos="100000">
                  <a:schemeClr val="bg1"/>
                </a:gs>
              </a:gsLst>
              <a:lin ang="5400000" scaled="1"/>
            </a:gradFill>
            <a:ln w="28575">
              <a:solidFill>
                <a:srgbClr val="7030A0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</p:spPr>
          <p:txBody>
            <a:bodyPr/>
            <a:lstStyle/>
            <a:p>
              <a:r>
                <a:rPr lang="zh-CN" altLang="en-US" sz="2000" b="1" dirty="0">
                  <a:solidFill>
                    <a:srgbClr val="C01920"/>
                  </a:solidFill>
                  <a:latin typeface="+mn-lt"/>
                  <a:ea typeface="楷体" pitchFamily="49" charset="-122"/>
                </a:rPr>
                <a:t>用来存放变量</a:t>
              </a:r>
              <a:r>
                <a:rPr lang="zh-CN" altLang="en-US" sz="2000" b="1" dirty="0">
                  <a:latin typeface="+mn-lt"/>
                  <a:ea typeface="楷体" pitchFamily="49" charset="-122"/>
                </a:rPr>
                <a:t>，在这个区域中存储的变量被称作</a:t>
              </a:r>
              <a:r>
                <a:rPr lang="zh-CN" altLang="en-US" sz="2000" b="1" dirty="0">
                  <a:solidFill>
                    <a:schemeClr val="accent2">
                      <a:lumMod val="50000"/>
                    </a:schemeClr>
                  </a:solidFill>
                  <a:latin typeface="+mn-lt"/>
                  <a:ea typeface="楷体" pitchFamily="49" charset="-122"/>
                </a:rPr>
                <a:t>静态变量</a:t>
              </a:r>
              <a:r>
                <a:rPr lang="zh-CN" altLang="en-US" sz="2000" b="1" dirty="0">
                  <a:latin typeface="+mn-lt"/>
                  <a:ea typeface="楷体" pitchFamily="49" charset="-122"/>
                </a:rPr>
                <a:t>。在程序开始执行时</a:t>
              </a:r>
              <a:r>
                <a:rPr lang="zh-CN" altLang="en-US" sz="2000" b="1" dirty="0">
                  <a:solidFill>
                    <a:srgbClr val="C01920"/>
                  </a:solidFill>
                  <a:latin typeface="+mn-lt"/>
                  <a:ea typeface="楷体" pitchFamily="49" charset="-122"/>
                </a:rPr>
                <a:t>全局变量</a:t>
              </a:r>
              <a:r>
                <a:rPr lang="zh-CN" altLang="en-US" sz="2000" b="1" dirty="0">
                  <a:latin typeface="+mn-lt"/>
                  <a:ea typeface="楷体" pitchFamily="49" charset="-122"/>
                </a:rPr>
                <a:t>全部放在静态存储区中，程序执行完毕就释放。在程序执行过程中它们占据固定的存储单元，而不是动态地进行分配和释放。</a:t>
              </a:r>
            </a:p>
          </p:txBody>
        </p:sp>
      </p:grpSp>
      <p:grpSp>
        <p:nvGrpSpPr>
          <p:cNvPr id="1127461" name="Group 37"/>
          <p:cNvGrpSpPr>
            <a:grpSpLocks/>
          </p:cNvGrpSpPr>
          <p:nvPr/>
        </p:nvGrpSpPr>
        <p:grpSpPr bwMode="auto">
          <a:xfrm>
            <a:off x="1614315" y="1772818"/>
            <a:ext cx="5010612" cy="3888902"/>
            <a:chOff x="340" y="935"/>
            <a:chExt cx="2698" cy="2949"/>
          </a:xfrm>
        </p:grpSpPr>
        <p:sp>
          <p:nvSpPr>
            <p:cNvPr id="1127457" name="Oval 33"/>
            <p:cNvSpPr>
              <a:spLocks noChangeArrowheads="1"/>
            </p:cNvSpPr>
            <p:nvPr/>
          </p:nvSpPr>
          <p:spPr bwMode="auto">
            <a:xfrm>
              <a:off x="2131" y="2863"/>
              <a:ext cx="907" cy="212"/>
            </a:xfrm>
            <a:prstGeom prst="ellipse">
              <a:avLst/>
            </a:prstGeom>
            <a:noFill/>
            <a:ln w="28575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127458" name="AutoShape 34"/>
            <p:cNvSpPr>
              <a:spLocks/>
            </p:cNvSpPr>
            <p:nvPr/>
          </p:nvSpPr>
          <p:spPr bwMode="auto">
            <a:xfrm>
              <a:off x="340" y="935"/>
              <a:ext cx="1497" cy="2949"/>
            </a:xfrm>
            <a:prstGeom prst="borderCallout2">
              <a:avLst>
                <a:gd name="adj1" fmla="val 2440"/>
                <a:gd name="adj2" fmla="val 103208"/>
                <a:gd name="adj3" fmla="val 2440"/>
                <a:gd name="adj4" fmla="val 120843"/>
                <a:gd name="adj5" fmla="val 65285"/>
                <a:gd name="adj6" fmla="val 141557"/>
              </a:avLst>
            </a:prstGeom>
            <a:gradFill rotWithShape="1">
              <a:gsLst>
                <a:gs pos="0">
                  <a:srgbClr val="CFCFD1"/>
                </a:gs>
                <a:gs pos="100000">
                  <a:schemeClr val="bg1"/>
                </a:gs>
              </a:gsLst>
              <a:lin ang="5400000" scaled="1"/>
            </a:gradFill>
            <a:ln w="28575">
              <a:solidFill>
                <a:schemeClr val="accent1">
                  <a:lumMod val="50000"/>
                </a:schemeClr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</p:spPr>
          <p:txBody>
            <a:bodyPr/>
            <a:lstStyle/>
            <a:p>
              <a:r>
                <a:rPr lang="zh-CN" altLang="en-US" sz="2000" b="1" dirty="0">
                  <a:solidFill>
                    <a:srgbClr val="C00000"/>
                  </a:solidFill>
                  <a:latin typeface="+mn-lt"/>
                  <a:ea typeface="楷体" pitchFamily="49" charset="-122"/>
                </a:rPr>
                <a:t>用来存放变量以及进行函数调用时的现场信息和函数返回地址等</a:t>
              </a:r>
              <a:r>
                <a:rPr lang="zh-CN" altLang="en-US" sz="2000" b="1" dirty="0">
                  <a:latin typeface="+mn-lt"/>
                  <a:ea typeface="楷体" pitchFamily="49" charset="-122"/>
                </a:rPr>
                <a:t>，在这个区域存储的变量称之为</a:t>
              </a:r>
              <a:r>
                <a:rPr lang="zh-CN" altLang="en-US" sz="2000" b="1" dirty="0">
                  <a:solidFill>
                    <a:schemeClr val="accent2">
                      <a:lumMod val="50000"/>
                    </a:schemeClr>
                  </a:solidFill>
                  <a:latin typeface="+mn-lt"/>
                  <a:ea typeface="楷体" pitchFamily="49" charset="-122"/>
                </a:rPr>
                <a:t>动态变量</a:t>
              </a:r>
              <a:r>
                <a:rPr lang="zh-CN" altLang="en-US" sz="2000" b="1" dirty="0">
                  <a:latin typeface="+mn-lt"/>
                  <a:ea typeface="楷体" pitchFamily="49" charset="-122"/>
                </a:rPr>
                <a:t>，如形参变量、函数体内部定义的动态局部变量。对于存放于动态存储区的变量，是在函数调用开始时才分配动态存储空间，函数运行结束时释放这些空间。</a:t>
              </a:r>
              <a:r>
                <a:rPr lang="zh-CN" altLang="en-US" sz="2000" dirty="0">
                  <a:latin typeface="+mn-lt"/>
                  <a:ea typeface="楷体" pitchFamily="49" charset="-122"/>
                </a:rPr>
                <a:t> </a:t>
              </a:r>
            </a:p>
          </p:txBody>
        </p:sp>
      </p:grpSp>
      <p:sp>
        <p:nvSpPr>
          <p:cNvPr id="30" name="Rectangle 4">
            <a:extLst>
              <a:ext uri="{FF2B5EF4-FFF2-40B4-BE49-F238E27FC236}">
                <a16:creationId xmlns:a16="http://schemas.microsoft.com/office/drawing/2014/main" id="{D394E626-AADF-4B18-98A5-C3613032F5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8.5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变量的存储类型 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74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74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11274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8" dur="500"/>
                                        <p:tgtEl>
                                          <p:spTgt spid="11274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500"/>
                                        <p:tgtEl>
                                          <p:spTgt spid="11274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500"/>
                                        <p:tgtEl>
                                          <p:spTgt spid="11274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379" name="Rectangle 3"/>
          <p:cNvSpPr>
            <a:spLocks noChangeArrowheads="1"/>
          </p:cNvSpPr>
          <p:nvPr/>
        </p:nvSpPr>
        <p:spPr bwMode="auto">
          <a:xfrm>
            <a:off x="1431826" y="1140078"/>
            <a:ext cx="72564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lang="zh-CN" altLang="en-US" b="1" dirty="0">
                <a:latin typeface="+mn-lt"/>
                <a:ea typeface="楷体" pitchFamily="49" charset="-122"/>
              </a:rPr>
              <a:t>在Ｃ语言中，对变量的存储类型说明有以下四种：</a:t>
            </a:r>
          </a:p>
        </p:txBody>
      </p:sp>
      <p:sp>
        <p:nvSpPr>
          <p:cNvPr id="1125380" name="Rectangle 4"/>
          <p:cNvSpPr>
            <a:spLocks noChangeArrowheads="1"/>
          </p:cNvSpPr>
          <p:nvPr/>
        </p:nvSpPr>
        <p:spPr bwMode="auto">
          <a:xfrm>
            <a:off x="1532741" y="1722648"/>
            <a:ext cx="3256109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auto---------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自动型</a:t>
            </a:r>
          </a:p>
          <a:p>
            <a:pPr>
              <a:buFont typeface="Wingdings" pitchFamily="2" charset="2"/>
              <a:buNone/>
            </a:pP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register-----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寄存器型</a:t>
            </a:r>
          </a:p>
          <a:p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static  -------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静态型</a:t>
            </a:r>
          </a:p>
          <a:p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extern-------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外部型</a:t>
            </a:r>
          </a:p>
        </p:txBody>
      </p:sp>
      <p:sp>
        <p:nvSpPr>
          <p:cNvPr id="1125387" name="Text Box 11"/>
          <p:cNvSpPr txBox="1">
            <a:spLocks noChangeArrowheads="1"/>
          </p:cNvSpPr>
          <p:nvPr/>
        </p:nvSpPr>
        <p:spPr bwMode="auto">
          <a:xfrm>
            <a:off x="2135560" y="5845701"/>
            <a:ext cx="8439338" cy="488950"/>
          </a:xfrm>
          <a:prstGeom prst="rect">
            <a:avLst/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  <a:tileRect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just"/>
            <a:r>
              <a:rPr lang="en-US" altLang="zh-CN" sz="20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[</a:t>
            </a:r>
            <a:r>
              <a:rPr lang="zh-CN" altLang="en-US" sz="20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存储类型</a:t>
            </a:r>
            <a:r>
              <a:rPr lang="en-US" altLang="zh-CN" sz="20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]</a:t>
            </a:r>
            <a:r>
              <a:rPr lang="zh-CN" altLang="en-US" sz="20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    数据类型   变量名</a:t>
            </a:r>
            <a:r>
              <a:rPr lang="en-US" altLang="zh-CN" sz="20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1</a:t>
            </a:r>
            <a:r>
              <a:rPr lang="zh-CN" altLang="en-US" sz="20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，变量名</a:t>
            </a:r>
            <a:r>
              <a:rPr lang="en-US" altLang="zh-CN" sz="20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2</a:t>
            </a:r>
            <a:r>
              <a:rPr lang="zh-CN" altLang="en-US" sz="20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，</a:t>
            </a:r>
            <a:r>
              <a:rPr lang="en-US" altLang="zh-CN" sz="20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…</a:t>
            </a:r>
            <a:r>
              <a:rPr lang="zh-CN" altLang="en-US" sz="20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，变量名</a:t>
            </a:r>
            <a:r>
              <a:rPr lang="en-US" altLang="zh-CN" sz="20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n</a:t>
            </a:r>
            <a:r>
              <a:rPr lang="zh-CN" altLang="en-US" sz="20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；</a:t>
            </a:r>
          </a:p>
        </p:txBody>
      </p:sp>
      <p:sp>
        <p:nvSpPr>
          <p:cNvPr id="1125388" name="Text Box 12"/>
          <p:cNvSpPr txBox="1">
            <a:spLocks noChangeArrowheads="1"/>
          </p:cNvSpPr>
          <p:nvPr/>
        </p:nvSpPr>
        <p:spPr bwMode="auto">
          <a:xfrm>
            <a:off x="1431826" y="5214684"/>
            <a:ext cx="38877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变量定义的完整形式应为：</a:t>
            </a:r>
            <a:r>
              <a:rPr lang="zh-CN" altLang="en-US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</a:p>
        </p:txBody>
      </p:sp>
      <p:sp>
        <p:nvSpPr>
          <p:cNvPr id="1125389" name="Rectangle 13" descr="信纸"/>
          <p:cNvSpPr>
            <a:spLocks noChangeArrowheads="1"/>
          </p:cNvSpPr>
          <p:nvPr/>
        </p:nvSpPr>
        <p:spPr bwMode="auto">
          <a:xfrm>
            <a:off x="4439816" y="2886048"/>
            <a:ext cx="7200900" cy="1955800"/>
          </a:xfrm>
          <a:prstGeom prst="rect">
            <a:avLst/>
          </a:prstGeom>
          <a:solidFill>
            <a:schemeClr val="bg1"/>
          </a:soli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lang="zh-CN" altLang="en-US" b="1" dirty="0">
                <a:solidFill>
                  <a:srgbClr val="C01920"/>
                </a:solidFill>
                <a:latin typeface="隶书" pitchFamily="49" charset="-122"/>
                <a:ea typeface="隶书" pitchFamily="49" charset="-122"/>
              </a:rPr>
              <a:t>例如：</a:t>
            </a:r>
          </a:p>
          <a:p>
            <a:pPr marL="457200" indent="-457200"/>
            <a:r>
              <a:rPr lang="zh-CN" altLang="en-US" b="1" dirty="0">
                <a:ea typeface="楷体_GB2312" pitchFamily="49" charset="-122"/>
              </a:rPr>
              <a:t>    </a:t>
            </a:r>
            <a:r>
              <a:rPr lang="en-US" altLang="zh-CN" b="1" dirty="0">
                <a:ea typeface="楷体_GB2312" pitchFamily="49" charset="-122"/>
              </a:rPr>
              <a:t>auto char c1, c2;   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//c1, c2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为自动字符变量</a:t>
            </a:r>
          </a:p>
          <a:p>
            <a:pPr marL="457200" indent="-457200"/>
            <a:r>
              <a:rPr lang="zh-CN" altLang="en-US" b="1" dirty="0">
                <a:ea typeface="楷体_GB2312" pitchFamily="49" charset="-122"/>
              </a:rPr>
              <a:t>    </a:t>
            </a:r>
            <a:r>
              <a:rPr lang="en-US" altLang="zh-CN" b="1" dirty="0">
                <a:ea typeface="楷体_GB2312" pitchFamily="49" charset="-122"/>
              </a:rPr>
              <a:t>register </a:t>
            </a:r>
            <a:r>
              <a:rPr lang="en-US" altLang="zh-CN" b="1" dirty="0" err="1">
                <a:ea typeface="楷体_GB2312" pitchFamily="49" charset="-122"/>
              </a:rPr>
              <a:t>i</a:t>
            </a:r>
            <a:r>
              <a:rPr lang="en-US" altLang="zh-CN" b="1" dirty="0">
                <a:ea typeface="楷体_GB2312" pitchFamily="49" charset="-122"/>
              </a:rPr>
              <a:t>;               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en-US" altLang="zh-CN" sz="2000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i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为寄存器型变量</a:t>
            </a:r>
          </a:p>
          <a:p>
            <a:pPr marL="457200" indent="-457200"/>
            <a:r>
              <a:rPr lang="zh-CN" altLang="en-US" b="1" dirty="0">
                <a:ea typeface="楷体_GB2312" pitchFamily="49" charset="-122"/>
              </a:rPr>
              <a:t>    </a:t>
            </a:r>
            <a:r>
              <a:rPr lang="en-US" altLang="zh-CN" b="1" dirty="0">
                <a:ea typeface="楷体_GB2312" pitchFamily="49" charset="-122"/>
              </a:rPr>
              <a:t>static </a:t>
            </a:r>
            <a:r>
              <a:rPr lang="en-US" altLang="zh-CN" b="1" dirty="0" err="1">
                <a:ea typeface="楷体_GB2312" pitchFamily="49" charset="-122"/>
              </a:rPr>
              <a:t>int</a:t>
            </a:r>
            <a:r>
              <a:rPr lang="en-US" altLang="zh-CN" b="1" dirty="0">
                <a:ea typeface="楷体_GB2312" pitchFamily="49" charset="-122"/>
              </a:rPr>
              <a:t> a, b;</a:t>
            </a:r>
            <a:r>
              <a:rPr lang="en-US" altLang="zh-CN" sz="2000" b="1" dirty="0">
                <a:solidFill>
                  <a:schemeClr val="accent2"/>
                </a:solidFill>
                <a:latin typeface="+mn-lt"/>
                <a:ea typeface="楷体" pitchFamily="49" charset="-122"/>
              </a:rPr>
              <a:t>         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//a, b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为静态整型变量</a:t>
            </a:r>
          </a:p>
          <a:p>
            <a:pPr marL="457200" indent="-457200"/>
            <a:r>
              <a:rPr lang="zh-CN" altLang="en-US" b="1" dirty="0">
                <a:ea typeface="楷体_GB2312" pitchFamily="49" charset="-122"/>
              </a:rPr>
              <a:t>    </a:t>
            </a:r>
            <a:r>
              <a:rPr lang="en-US" altLang="zh-CN" b="1" dirty="0">
                <a:ea typeface="楷体_GB2312" pitchFamily="49" charset="-122"/>
              </a:rPr>
              <a:t>extern </a:t>
            </a:r>
            <a:r>
              <a:rPr lang="en-US" altLang="zh-CN" b="1" dirty="0" err="1">
                <a:ea typeface="楷体_GB2312" pitchFamily="49" charset="-122"/>
              </a:rPr>
              <a:t>int</a:t>
            </a:r>
            <a:r>
              <a:rPr lang="en-US" altLang="zh-CN" b="1" dirty="0">
                <a:ea typeface="楷体_GB2312" pitchFamily="49" charset="-122"/>
              </a:rPr>
              <a:t> x, y;      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//x, y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为外部整型变量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58BDF835-8556-4824-AB8C-B283C3B28B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8.5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变量的存储类型 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53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53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3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253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253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3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253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253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3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253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253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3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253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253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11253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11253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6" dur="500"/>
                                        <p:tgtEl>
                                          <p:spTgt spid="11253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5379" grpId="0"/>
      <p:bldP spid="1125387" grpId="0" animBg="1"/>
      <p:bldP spid="1125388" grpId="0"/>
      <p:bldP spid="112538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395" name="Rectangle 3"/>
          <p:cNvSpPr>
            <a:spLocks noChangeArrowheads="1"/>
          </p:cNvSpPr>
          <p:nvPr/>
        </p:nvSpPr>
        <p:spPr bwMode="auto">
          <a:xfrm>
            <a:off x="750849" y="919389"/>
            <a:ext cx="482441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r>
              <a:rPr lang="en-US" altLang="zh-CN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1</a:t>
            </a:r>
            <a:r>
              <a:rPr lang="zh-CN" altLang="en-US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、自动变量（</a:t>
            </a:r>
            <a:r>
              <a:rPr lang="en-US" altLang="zh-CN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auto</a:t>
            </a:r>
            <a:r>
              <a:rPr lang="zh-CN" altLang="en-US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型变量）</a:t>
            </a:r>
          </a:p>
        </p:txBody>
      </p:sp>
      <p:sp>
        <p:nvSpPr>
          <p:cNvPr id="1083406" name="Text Box 14"/>
          <p:cNvSpPr txBox="1">
            <a:spLocks noChangeArrowheads="1"/>
          </p:cNvSpPr>
          <p:nvPr/>
        </p:nvSpPr>
        <p:spPr bwMode="auto">
          <a:xfrm>
            <a:off x="1683395" y="1957614"/>
            <a:ext cx="8301037" cy="488950"/>
          </a:xfrm>
          <a:prstGeom prst="rect">
            <a:avLst/>
          </a:prstGeom>
          <a:gradFill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ctr"/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[auto] 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数据类型说明符   变量名</a:t>
            </a: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1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，变量名</a:t>
            </a: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2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，</a:t>
            </a: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…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，变量名</a:t>
            </a: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n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；</a:t>
            </a:r>
          </a:p>
        </p:txBody>
      </p:sp>
      <p:sp>
        <p:nvSpPr>
          <p:cNvPr id="1083409" name="Text Box 17"/>
          <p:cNvSpPr txBox="1">
            <a:spLocks noChangeArrowheads="1"/>
          </p:cNvSpPr>
          <p:nvPr/>
        </p:nvSpPr>
        <p:spPr bwMode="auto">
          <a:xfrm>
            <a:off x="1182648" y="1424215"/>
            <a:ext cx="172878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b="1">
                <a:solidFill>
                  <a:srgbClr val="C01920"/>
                </a:solidFill>
                <a:latin typeface="+mn-lt"/>
                <a:ea typeface="楷体" pitchFamily="49" charset="-122"/>
              </a:rPr>
              <a:t> </a:t>
            </a:r>
            <a:r>
              <a:rPr lang="zh-CN" altLang="en-US" b="1">
                <a:solidFill>
                  <a:srgbClr val="C01920"/>
                </a:solidFill>
                <a:latin typeface="+mn-lt"/>
                <a:ea typeface="楷体" pitchFamily="49" charset="-122"/>
              </a:rPr>
              <a:t>定义格式</a:t>
            </a:r>
          </a:p>
        </p:txBody>
      </p:sp>
      <p:sp>
        <p:nvSpPr>
          <p:cNvPr id="1083410" name="Text Box 18"/>
          <p:cNvSpPr txBox="1">
            <a:spLocks noChangeArrowheads="1"/>
          </p:cNvSpPr>
          <p:nvPr/>
        </p:nvSpPr>
        <p:spPr bwMode="auto">
          <a:xfrm>
            <a:off x="1182648" y="2575151"/>
            <a:ext cx="17287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b="1">
                <a:solidFill>
                  <a:srgbClr val="C01920"/>
                </a:solidFill>
                <a:latin typeface="+mn-lt"/>
                <a:ea typeface="楷体" pitchFamily="49" charset="-122"/>
              </a:rPr>
              <a:t> </a:t>
            </a:r>
            <a:r>
              <a:rPr lang="zh-CN" altLang="en-US" b="1">
                <a:solidFill>
                  <a:srgbClr val="C01920"/>
                </a:solidFill>
                <a:latin typeface="+mn-lt"/>
                <a:ea typeface="楷体" pitchFamily="49" charset="-122"/>
              </a:rPr>
              <a:t>说明</a:t>
            </a:r>
          </a:p>
        </p:txBody>
      </p:sp>
      <p:sp>
        <p:nvSpPr>
          <p:cNvPr id="1083411" name="Rectangle 19"/>
          <p:cNvSpPr>
            <a:spLocks noChangeArrowheads="1"/>
          </p:cNvSpPr>
          <p:nvPr/>
        </p:nvSpPr>
        <p:spPr bwMode="auto">
          <a:xfrm>
            <a:off x="1399119" y="2958043"/>
            <a:ext cx="10385513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buClr>
                <a:srgbClr val="CC0000"/>
              </a:buClr>
              <a:buFont typeface="Wingdings" pitchFamily="2" charset="2"/>
              <a:buChar char="l"/>
            </a:pPr>
            <a:r>
              <a:rPr lang="en-US" altLang="zh-CN" b="1" dirty="0"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latin typeface="+mn-lt"/>
                <a:ea typeface="楷体" pitchFamily="49" charset="-122"/>
              </a:rPr>
              <a:t>存储类型说明符</a:t>
            </a:r>
            <a:r>
              <a:rPr lang="en-US" altLang="zh-CN" b="1" dirty="0">
                <a:latin typeface="+mn-lt"/>
                <a:ea typeface="楷体" pitchFamily="49" charset="-122"/>
              </a:rPr>
              <a:t>auto</a:t>
            </a:r>
            <a:r>
              <a:rPr lang="zh-CN" altLang="en-US" b="1" dirty="0">
                <a:latin typeface="+mn-lt"/>
                <a:ea typeface="楷体" pitchFamily="49" charset="-122"/>
              </a:rPr>
              <a:t>可以省略。</a:t>
            </a:r>
          </a:p>
          <a:p>
            <a:pPr>
              <a:buClr>
                <a:srgbClr val="CC0000"/>
              </a:buClr>
              <a:buFont typeface="Wingdings" pitchFamily="2" charset="2"/>
              <a:buChar char="l"/>
            </a:pPr>
            <a:r>
              <a:rPr lang="zh-CN" altLang="en-US" b="1" dirty="0">
                <a:latin typeface="+mn-lt"/>
                <a:ea typeface="楷体" pitchFamily="49" charset="-122"/>
              </a:rPr>
              <a:t> 自动变量只能在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函数内</a:t>
            </a:r>
            <a:r>
              <a:rPr lang="zh-CN" altLang="en-US" b="1" dirty="0">
                <a:latin typeface="+mn-lt"/>
                <a:ea typeface="楷体" pitchFamily="49" charset="-122"/>
              </a:rPr>
              <a:t>或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复合语句中</a:t>
            </a:r>
            <a:r>
              <a:rPr lang="zh-CN" altLang="en-US" b="1" dirty="0">
                <a:latin typeface="+mn-lt"/>
                <a:ea typeface="楷体" pitchFamily="49" charset="-122"/>
              </a:rPr>
              <a:t>定义，它属于局部变量。 </a:t>
            </a:r>
          </a:p>
        </p:txBody>
      </p:sp>
      <p:sp>
        <p:nvSpPr>
          <p:cNvPr id="1083412" name="Rectangle 20" descr="信纸"/>
          <p:cNvSpPr>
            <a:spLocks noChangeArrowheads="1"/>
          </p:cNvSpPr>
          <p:nvPr/>
        </p:nvSpPr>
        <p:spPr bwMode="auto">
          <a:xfrm>
            <a:off x="2207568" y="3961085"/>
            <a:ext cx="3167062" cy="1955800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rgbClr val="FFFFFF"/>
              </a:gs>
            </a:gsLst>
            <a:lin ang="5400000" scaled="1"/>
          </a:gradFill>
          <a:ln w="38100">
            <a:solidFill>
              <a:schemeClr val="accent1">
                <a:lumMod val="50000"/>
              </a:schemeClr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marL="457200" indent="-457200"/>
            <a:r>
              <a:rPr lang="en-US" altLang="zh-CN" b="1" dirty="0"/>
              <a:t>void </a:t>
            </a:r>
            <a:r>
              <a:rPr lang="en-US" altLang="zh-CN" b="1" dirty="0" err="1"/>
              <a:t>func</a:t>
            </a:r>
            <a:r>
              <a:rPr lang="en-US" altLang="zh-CN" b="1" dirty="0"/>
              <a:t> ( )</a:t>
            </a:r>
          </a:p>
          <a:p>
            <a:pPr marL="457200" indent="-457200"/>
            <a:r>
              <a:rPr lang="en-US" altLang="zh-CN" b="1" dirty="0"/>
              <a:t>{  </a:t>
            </a:r>
          </a:p>
          <a:p>
            <a:pPr marL="457200" indent="-457200"/>
            <a:r>
              <a:rPr lang="en-US" altLang="zh-CN" b="1" dirty="0">
                <a:solidFill>
                  <a:srgbClr val="C00000"/>
                </a:solidFill>
              </a:rPr>
              <a:t>   int </a:t>
            </a:r>
            <a:r>
              <a:rPr lang="en-US" altLang="zh-CN" b="1" dirty="0" err="1">
                <a:solidFill>
                  <a:srgbClr val="C00000"/>
                </a:solidFill>
              </a:rPr>
              <a:t>i</a:t>
            </a:r>
            <a:r>
              <a:rPr lang="en-US" altLang="zh-CN" b="1" dirty="0">
                <a:solidFill>
                  <a:srgbClr val="C00000"/>
                </a:solidFill>
              </a:rPr>
              <a:t>, j, k;   </a:t>
            </a:r>
          </a:p>
          <a:p>
            <a:pPr marL="457200" indent="-457200"/>
            <a:r>
              <a:rPr lang="en-US" altLang="zh-CN" b="1" dirty="0"/>
              <a:t>   ……</a:t>
            </a:r>
          </a:p>
          <a:p>
            <a:pPr marL="457200" indent="-457200"/>
            <a:r>
              <a:rPr lang="en-US" altLang="zh-CN" b="1" dirty="0"/>
              <a:t>}</a:t>
            </a:r>
          </a:p>
        </p:txBody>
      </p:sp>
      <p:sp>
        <p:nvSpPr>
          <p:cNvPr id="1083413" name="AutoShape 21"/>
          <p:cNvSpPr>
            <a:spLocks noChangeArrowheads="1"/>
          </p:cNvSpPr>
          <p:nvPr/>
        </p:nvSpPr>
        <p:spPr bwMode="auto">
          <a:xfrm>
            <a:off x="2562244" y="5981578"/>
            <a:ext cx="2879725" cy="431800"/>
          </a:xfrm>
          <a:prstGeom prst="wedgeRoundRectCallout">
            <a:avLst>
              <a:gd name="adj1" fmla="val -19688"/>
              <a:gd name="adj2" fmla="val -264787"/>
              <a:gd name="adj3" fmla="val 16667"/>
            </a:avLst>
          </a:prstGeom>
          <a:gradFill rotWithShape="1">
            <a:gsLst>
              <a:gs pos="0">
                <a:srgbClr val="CFCFD1"/>
              </a:gs>
              <a:gs pos="100000">
                <a:srgbClr val="FFFFFF"/>
              </a:gs>
            </a:gsLst>
            <a:lin ang="5400000" scaled="1"/>
          </a:gradFill>
          <a:ln w="22225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just"/>
            <a:r>
              <a:rPr lang="zh-CN" altLang="en-US" sz="20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等价于 </a:t>
            </a:r>
            <a:r>
              <a:rPr lang="en-US" altLang="zh-CN" sz="20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auto int </a:t>
            </a:r>
            <a:r>
              <a:rPr lang="en-US" altLang="zh-CN" sz="2000" b="1" dirty="0" err="1">
                <a:solidFill>
                  <a:srgbClr val="C00000"/>
                </a:solidFill>
                <a:latin typeface="+mn-lt"/>
                <a:ea typeface="楷体" pitchFamily="49" charset="-122"/>
              </a:rPr>
              <a:t>i</a:t>
            </a:r>
            <a:r>
              <a:rPr lang="en-US" altLang="zh-CN" sz="20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, j, k;</a:t>
            </a:r>
          </a:p>
        </p:txBody>
      </p:sp>
      <p:sp>
        <p:nvSpPr>
          <p:cNvPr id="1083418" name="Rectangle 26" descr="信纸"/>
          <p:cNvSpPr>
            <a:spLocks noChangeArrowheads="1"/>
          </p:cNvSpPr>
          <p:nvPr/>
        </p:nvSpPr>
        <p:spPr bwMode="auto">
          <a:xfrm>
            <a:off x="6509693" y="3928244"/>
            <a:ext cx="3167062" cy="1955800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rgbClr val="FFFFFF"/>
              </a:gs>
            </a:gsLst>
            <a:lin ang="5400000" scaled="1"/>
          </a:gradFill>
          <a:ln w="38100">
            <a:solidFill>
              <a:schemeClr val="accent1">
                <a:lumMod val="50000"/>
              </a:schemeClr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marL="457200" indent="-457200"/>
            <a:r>
              <a:rPr lang="en-US" altLang="zh-CN" b="1" dirty="0">
                <a:solidFill>
                  <a:srgbClr val="C00000"/>
                </a:solidFill>
              </a:rPr>
              <a:t>auto int k; </a:t>
            </a:r>
          </a:p>
          <a:p>
            <a:pPr marL="457200" indent="-457200"/>
            <a:r>
              <a:rPr lang="en-US" altLang="zh-CN" b="1" dirty="0"/>
              <a:t>void </a:t>
            </a:r>
            <a:r>
              <a:rPr lang="en-US" altLang="zh-CN" b="1" dirty="0" err="1"/>
              <a:t>func</a:t>
            </a:r>
            <a:r>
              <a:rPr lang="en-US" altLang="zh-CN" b="1" dirty="0"/>
              <a:t> ( )</a:t>
            </a:r>
          </a:p>
          <a:p>
            <a:pPr marL="457200" indent="-457200"/>
            <a:r>
              <a:rPr lang="en-US" altLang="zh-CN" b="1" dirty="0"/>
              <a:t>{</a:t>
            </a:r>
          </a:p>
          <a:p>
            <a:pPr marL="457200" indent="-457200"/>
            <a:r>
              <a:rPr lang="en-US" altLang="zh-CN" b="1" dirty="0"/>
              <a:t>   ……</a:t>
            </a:r>
          </a:p>
          <a:p>
            <a:pPr marL="457200" indent="-457200"/>
            <a:r>
              <a:rPr lang="en-US" altLang="zh-CN" b="1" dirty="0"/>
              <a:t>}</a:t>
            </a:r>
          </a:p>
        </p:txBody>
      </p:sp>
      <p:grpSp>
        <p:nvGrpSpPr>
          <p:cNvPr id="1083422" name="Group 30"/>
          <p:cNvGrpSpPr>
            <a:grpSpLocks/>
          </p:cNvGrpSpPr>
          <p:nvPr/>
        </p:nvGrpSpPr>
        <p:grpSpPr bwMode="auto">
          <a:xfrm>
            <a:off x="8022580" y="4187007"/>
            <a:ext cx="2038350" cy="792163"/>
            <a:chOff x="3969" y="2504"/>
            <a:chExt cx="1284" cy="499"/>
          </a:xfrm>
        </p:grpSpPr>
        <p:sp>
          <p:nvSpPr>
            <p:cNvPr id="1083420" name="AutoShape 28"/>
            <p:cNvSpPr>
              <a:spLocks noChangeArrowheads="1"/>
            </p:cNvSpPr>
            <p:nvPr/>
          </p:nvSpPr>
          <p:spPr bwMode="auto">
            <a:xfrm>
              <a:off x="4377" y="2504"/>
              <a:ext cx="876" cy="499"/>
            </a:xfrm>
            <a:prstGeom prst="irregularSeal1">
              <a:avLst/>
            </a:prstGeom>
            <a:gradFill rotWithShape="1">
              <a:gsLst>
                <a:gs pos="0">
                  <a:srgbClr val="CFCFD1"/>
                </a:gs>
                <a:gs pos="100000">
                  <a:schemeClr val="bg1"/>
                </a:gs>
              </a:gsLst>
              <a:lin ang="5400000" scaled="1"/>
            </a:gradFill>
            <a:ln w="28575">
              <a:solidFill>
                <a:srgbClr val="C0192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/>
              <a:r>
                <a:rPr lang="zh-CN" altLang="en-US" sz="2000" b="1" dirty="0">
                  <a:solidFill>
                    <a:srgbClr val="C00000"/>
                  </a:solidFill>
                  <a:latin typeface="+mn-lt"/>
                  <a:ea typeface="楷体" pitchFamily="49" charset="-122"/>
                </a:rPr>
                <a:t>错误！</a:t>
              </a:r>
            </a:p>
          </p:txBody>
        </p:sp>
        <p:sp>
          <p:nvSpPr>
            <p:cNvPr id="1083421" name="Line 29"/>
            <p:cNvSpPr>
              <a:spLocks noChangeShapeType="1"/>
            </p:cNvSpPr>
            <p:nvPr/>
          </p:nvSpPr>
          <p:spPr bwMode="auto">
            <a:xfrm>
              <a:off x="3969" y="2568"/>
              <a:ext cx="408" cy="136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ffectLst>
              <a:outerShdw dist="35921" dir="2700000" algn="ctr" rotWithShape="0">
                <a:schemeClr val="bg2">
                  <a:alpha val="50000"/>
                </a:schemeClr>
              </a:outerShdw>
            </a:effectLst>
          </p:spPr>
          <p:txBody>
            <a:bodyPr/>
            <a:lstStyle/>
            <a:p>
              <a:endParaRPr lang="zh-CN" altLang="en-US">
                <a:solidFill>
                  <a:srgbClr val="C00000"/>
                </a:solidFill>
              </a:endParaRPr>
            </a:p>
          </p:txBody>
        </p:sp>
      </p:grpSp>
      <p:sp>
        <p:nvSpPr>
          <p:cNvPr id="1083423" name="AutoShape 31"/>
          <p:cNvSpPr>
            <a:spLocks noChangeArrowheads="1"/>
          </p:cNvSpPr>
          <p:nvPr/>
        </p:nvSpPr>
        <p:spPr bwMode="auto">
          <a:xfrm>
            <a:off x="6528657" y="5973321"/>
            <a:ext cx="3401219" cy="481509"/>
          </a:xfrm>
          <a:prstGeom prst="wedgeRoundRectCallout">
            <a:avLst>
              <a:gd name="adj1" fmla="val -38451"/>
              <a:gd name="adj2" fmla="val -376666"/>
              <a:gd name="adj3" fmla="val 16667"/>
            </a:avLst>
          </a:prstGeom>
          <a:gradFill rotWithShape="1">
            <a:gsLst>
              <a:gs pos="0">
                <a:srgbClr val="CFCFD1"/>
              </a:gs>
              <a:gs pos="100000">
                <a:srgbClr val="FFFFFF"/>
              </a:gs>
            </a:gsLst>
            <a:lin ang="5400000" scaled="1"/>
          </a:gradFill>
          <a:ln w="22225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r>
              <a:rPr lang="zh-CN" altLang="en-US" sz="2000" b="1">
                <a:solidFill>
                  <a:srgbClr val="CC0000"/>
                </a:solidFill>
                <a:latin typeface="+mn-lt"/>
                <a:ea typeface="楷体" pitchFamily="49" charset="-122"/>
              </a:rPr>
              <a:t>自动变量不可定义在函数外</a:t>
            </a:r>
            <a:r>
              <a:rPr lang="zh-CN" altLang="en-US" sz="2000"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083425" name="Rectangle 33"/>
          <p:cNvSpPr>
            <a:spLocks noChangeArrowheads="1"/>
          </p:cNvSpPr>
          <p:nvPr/>
        </p:nvSpPr>
        <p:spPr bwMode="auto">
          <a:xfrm>
            <a:off x="1360325" y="3767286"/>
            <a:ext cx="9416195" cy="2686050"/>
          </a:xfrm>
          <a:prstGeom prst="rect">
            <a:avLst/>
          </a:prstGeom>
          <a:gradFill flip="none" rotWithShape="1">
            <a:gsLst>
              <a:gs pos="0">
                <a:schemeClr val="bg1">
                  <a:shade val="30000"/>
                  <a:satMod val="115000"/>
                </a:schemeClr>
              </a:gs>
              <a:gs pos="50000">
                <a:schemeClr val="bg1">
                  <a:shade val="67500"/>
                  <a:satMod val="115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3500000" scaled="1"/>
            <a:tileRect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2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en-US" altLang="zh-CN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a typeface="隶书" pitchFamily="49" charset="-122"/>
              </a:rPr>
              <a:t>        </a:t>
            </a:r>
            <a:r>
              <a:rPr lang="zh-CN" altLang="en-US" b="1" dirty="0">
                <a:ln w="1905"/>
                <a:solidFill>
                  <a:srgbClr val="C01920"/>
                </a:solidFill>
                <a:ea typeface="隶书" pitchFamily="49" charset="-122"/>
              </a:rPr>
              <a:t>注意：</a:t>
            </a:r>
            <a:r>
              <a:rPr lang="zh-CN" altLang="en-US" b="1" dirty="0">
                <a:ln w="1905"/>
                <a:ea typeface="隶书" pitchFamily="49" charset="-122"/>
              </a:rPr>
              <a:t>在函数外部定义的没有带存储类型说明符的全局变量是外部变量，属于静态存储类型。</a:t>
            </a:r>
          </a:p>
          <a:p>
            <a:r>
              <a:rPr lang="zh-CN" altLang="en-US" b="1" dirty="0">
                <a:ln w="1905"/>
                <a:solidFill>
                  <a:srgbClr val="C01920"/>
                </a:solidFill>
                <a:ea typeface="隶书" pitchFamily="49" charset="-122"/>
              </a:rPr>
              <a:t>   如：</a:t>
            </a:r>
            <a:r>
              <a:rPr lang="en-US" altLang="zh-CN" b="1" dirty="0">
                <a:ln w="1905"/>
                <a:solidFill>
                  <a:srgbClr val="7030A0"/>
                </a:solidFill>
                <a:ea typeface="隶书" pitchFamily="49" charset="-122"/>
              </a:rPr>
              <a:t>int k;           </a:t>
            </a:r>
            <a:r>
              <a:rPr lang="en-US" altLang="zh-CN" sz="2000" b="1" dirty="0">
                <a:ln w="1905"/>
                <a:solidFill>
                  <a:srgbClr val="002060"/>
                </a:solidFill>
                <a:latin typeface="+mn-lt"/>
                <a:ea typeface="楷体" pitchFamily="49" charset="-122"/>
              </a:rPr>
              <a:t>//k</a:t>
            </a:r>
            <a:r>
              <a:rPr lang="zh-CN" altLang="en-US" sz="2000" b="1" dirty="0">
                <a:ln w="1905"/>
                <a:solidFill>
                  <a:srgbClr val="002060"/>
                </a:solidFill>
                <a:latin typeface="+mn-lt"/>
                <a:ea typeface="楷体" pitchFamily="49" charset="-122"/>
              </a:rPr>
              <a:t>为外部变量，属静态存储类型</a:t>
            </a:r>
          </a:p>
          <a:p>
            <a:r>
              <a:rPr lang="zh-CN" altLang="en-US" b="1" dirty="0">
                <a:ln w="1905"/>
                <a:solidFill>
                  <a:srgbClr val="7030A0"/>
                </a:solidFill>
                <a:ea typeface="隶书" pitchFamily="49" charset="-122"/>
              </a:rPr>
              <a:t>           </a:t>
            </a:r>
            <a:r>
              <a:rPr lang="en-US" altLang="zh-CN" b="1" dirty="0">
                <a:ln w="1905"/>
                <a:solidFill>
                  <a:srgbClr val="7030A0"/>
                </a:solidFill>
                <a:ea typeface="隶书" pitchFamily="49" charset="-122"/>
              </a:rPr>
              <a:t>void </a:t>
            </a:r>
            <a:r>
              <a:rPr lang="en-US" altLang="zh-CN" b="1" dirty="0" err="1">
                <a:ln w="1905"/>
                <a:solidFill>
                  <a:srgbClr val="7030A0"/>
                </a:solidFill>
                <a:ea typeface="隶书" pitchFamily="49" charset="-122"/>
              </a:rPr>
              <a:t>func</a:t>
            </a:r>
            <a:r>
              <a:rPr lang="en-US" altLang="zh-CN" b="1" dirty="0">
                <a:ln w="1905"/>
                <a:solidFill>
                  <a:srgbClr val="7030A0"/>
                </a:solidFill>
                <a:ea typeface="隶书" pitchFamily="49" charset="-122"/>
              </a:rPr>
              <a:t> ( )</a:t>
            </a:r>
          </a:p>
          <a:p>
            <a:r>
              <a:rPr lang="en-US" altLang="zh-CN" b="1" dirty="0">
                <a:ln w="1905"/>
                <a:solidFill>
                  <a:srgbClr val="7030A0"/>
                </a:solidFill>
                <a:ea typeface="隶书" pitchFamily="49" charset="-122"/>
              </a:rPr>
              <a:t>           {</a:t>
            </a:r>
          </a:p>
          <a:p>
            <a:r>
              <a:rPr lang="en-US" altLang="zh-CN" b="1" dirty="0">
                <a:ln w="1905"/>
                <a:solidFill>
                  <a:srgbClr val="7030A0"/>
                </a:solidFill>
                <a:ea typeface="隶书" pitchFamily="49" charset="-122"/>
              </a:rPr>
              <a:t>              ……</a:t>
            </a:r>
          </a:p>
          <a:p>
            <a:r>
              <a:rPr lang="en-US" altLang="zh-CN" b="1" dirty="0">
                <a:ln w="1905"/>
                <a:solidFill>
                  <a:srgbClr val="7030A0"/>
                </a:solidFill>
                <a:ea typeface="隶书" pitchFamily="49" charset="-122"/>
              </a:rPr>
              <a:t>           }</a:t>
            </a:r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8BC4642B-5927-4CC3-9617-FB505D66C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8.5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变量的存储类型 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833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833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834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834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10834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834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834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83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83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83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83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1" dur="500"/>
                                        <p:tgtEl>
                                          <p:spTgt spid="10834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6" dur="500"/>
                                        <p:tgtEl>
                                          <p:spTgt spid="10834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1" dur="500"/>
                                        <p:tgtEl>
                                          <p:spTgt spid="10834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6" dur="500"/>
                                        <p:tgtEl>
                                          <p:spTgt spid="10834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1" dur="500"/>
                                        <p:tgtEl>
                                          <p:spTgt spid="10834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6" dur="500"/>
                                        <p:tgtEl>
                                          <p:spTgt spid="10834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3395" grpId="0"/>
      <p:bldP spid="1083406" grpId="0" animBg="1"/>
      <p:bldP spid="1083409" grpId="0"/>
      <p:bldP spid="1083410" grpId="0"/>
      <p:bldP spid="1083412" grpId="0" animBg="1"/>
      <p:bldP spid="1083413" grpId="0" animBg="1"/>
      <p:bldP spid="1083418" grpId="0" animBg="1"/>
      <p:bldP spid="1083423" grpId="0" animBg="1"/>
      <p:bldP spid="108342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8" name="Rectangle 18"/>
          <p:cNvSpPr>
            <a:spLocks noChangeArrowheads="1"/>
          </p:cNvSpPr>
          <p:nvPr/>
        </p:nvSpPr>
        <p:spPr bwMode="auto">
          <a:xfrm>
            <a:off x="764237" y="1570865"/>
            <a:ext cx="10804371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altLang="zh-CN" b="1" dirty="0">
                <a:latin typeface="+mn-lt"/>
                <a:ea typeface="楷体" pitchFamily="49" charset="-122"/>
              </a:rPr>
              <a:t>       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latin typeface="+mn-lt"/>
                <a:ea typeface="楷体" pitchFamily="49" charset="-122"/>
              </a:rPr>
              <a:t>外部变量</a:t>
            </a:r>
            <a:r>
              <a:rPr lang="zh-CN" altLang="en-US" b="1" dirty="0">
                <a:latin typeface="+mn-lt"/>
                <a:ea typeface="楷体" pitchFamily="49" charset="-122"/>
              </a:rPr>
              <a:t>和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latin typeface="+mn-lt"/>
                <a:ea typeface="楷体" pitchFamily="49" charset="-122"/>
              </a:rPr>
              <a:t>全局变量</a:t>
            </a:r>
            <a:r>
              <a:rPr lang="zh-CN" altLang="en-US" b="1" dirty="0">
                <a:latin typeface="+mn-lt"/>
                <a:ea typeface="楷体" pitchFamily="49" charset="-122"/>
              </a:rPr>
              <a:t>是对同一类变量的两种不同角度的提法。全局变是从它的作用域提出的，外部变量从它的存储方式提出的，表示了它的生存期。它属于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静态存储类型</a:t>
            </a:r>
            <a:r>
              <a:rPr lang="zh-CN" altLang="en-US" b="1" dirty="0">
                <a:latin typeface="+mn-lt"/>
                <a:ea typeface="楷体" pitchFamily="49" charset="-122"/>
              </a:rPr>
              <a:t>。 </a:t>
            </a:r>
          </a:p>
        </p:txBody>
      </p:sp>
      <p:sp>
        <p:nvSpPr>
          <p:cNvPr id="1085459" name="Text Box 19"/>
          <p:cNvSpPr txBox="1">
            <a:spLocks noChangeArrowheads="1"/>
          </p:cNvSpPr>
          <p:nvPr/>
        </p:nvSpPr>
        <p:spPr bwMode="auto">
          <a:xfrm>
            <a:off x="1066951" y="2739312"/>
            <a:ext cx="467307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:  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引用其它文件中的外部变量</a:t>
            </a:r>
          </a:p>
        </p:txBody>
      </p:sp>
      <p:sp>
        <p:nvSpPr>
          <p:cNvPr id="1085460" name="Rectangle 20" descr="信纸"/>
          <p:cNvSpPr>
            <a:spLocks noChangeArrowheads="1"/>
          </p:cNvSpPr>
          <p:nvPr/>
        </p:nvSpPr>
        <p:spPr bwMode="auto">
          <a:xfrm>
            <a:off x="1590703" y="2108262"/>
            <a:ext cx="4198936" cy="4524315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chemeClr val="accent1">
                <a:lumMod val="50000"/>
              </a:schemeClr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 algn="ctr"/>
            <a:r>
              <a:rPr lang="zh-CN" altLang="en-US" b="1" u="sng" dirty="0">
                <a:solidFill>
                  <a:schemeClr val="accent1">
                    <a:lumMod val="50000"/>
                  </a:schemeClr>
                </a:solidFill>
                <a:ea typeface="隶书" pitchFamily="49" charset="-122"/>
              </a:rPr>
              <a:t>原文件</a:t>
            </a:r>
            <a:r>
              <a:rPr lang="en-US" altLang="zh-CN" b="1" u="sng" dirty="0">
                <a:solidFill>
                  <a:schemeClr val="accent1">
                    <a:lumMod val="50000"/>
                  </a:schemeClr>
                </a:solidFill>
                <a:ea typeface="隶书" pitchFamily="49" charset="-122"/>
              </a:rPr>
              <a:t>prg1.cpp</a:t>
            </a:r>
          </a:p>
          <a:p>
            <a:pPr marL="457200" indent="-457200"/>
            <a:r>
              <a:rPr lang="en-US" altLang="zh-CN" b="1" dirty="0" err="1">
                <a:solidFill>
                  <a:srgbClr val="C01920"/>
                </a:solidFill>
              </a:rPr>
              <a:t>int</a:t>
            </a:r>
            <a:r>
              <a:rPr lang="en-US" altLang="zh-CN" b="1" dirty="0">
                <a:solidFill>
                  <a:srgbClr val="C01920"/>
                </a:solidFill>
              </a:rPr>
              <a:t> a, b;    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外部变量定义</a:t>
            </a:r>
          </a:p>
          <a:p>
            <a:pPr marL="457200" indent="-457200"/>
            <a:r>
              <a:rPr lang="en-US" altLang="zh-CN" b="1" dirty="0" err="1"/>
              <a:t>int</a:t>
            </a:r>
            <a:r>
              <a:rPr lang="en-US" altLang="zh-CN" b="1" dirty="0"/>
              <a:t> max ( );   </a:t>
            </a:r>
            <a:r>
              <a:rPr lang="en-US" altLang="zh-CN" sz="1800" b="1" dirty="0">
                <a:solidFill>
                  <a:srgbClr val="002060"/>
                </a:solidFill>
                <a:ea typeface="楷体_GB2312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外部函数声明</a:t>
            </a:r>
          </a:p>
          <a:p>
            <a:pPr marL="457200" indent="-457200"/>
            <a:endParaRPr lang="zh-CN" altLang="en-US" b="1" dirty="0"/>
          </a:p>
          <a:p>
            <a:pPr marL="457200" indent="-457200"/>
            <a:r>
              <a:rPr lang="en-US" altLang="zh-CN" b="1" dirty="0" err="1">
                <a:solidFill>
                  <a:srgbClr val="CC0000"/>
                </a:solidFill>
              </a:rPr>
              <a:t>int</a:t>
            </a:r>
            <a:r>
              <a:rPr lang="en-US" altLang="zh-CN" b="1" dirty="0">
                <a:solidFill>
                  <a:srgbClr val="CC0000"/>
                </a:solidFill>
              </a:rPr>
              <a:t> main (  )</a:t>
            </a:r>
          </a:p>
          <a:p>
            <a:pPr marL="457200" indent="-457200"/>
            <a:r>
              <a:rPr lang="en-US" altLang="zh-CN" b="1" dirty="0"/>
              <a:t>{  </a:t>
            </a:r>
          </a:p>
          <a:p>
            <a:pPr marL="457200" indent="-457200"/>
            <a:r>
              <a:rPr lang="en-US" altLang="zh-CN" b="1" dirty="0"/>
              <a:t>   </a:t>
            </a:r>
            <a:r>
              <a:rPr lang="en-US" altLang="zh-CN" b="1" dirty="0" err="1"/>
              <a:t>int</a:t>
            </a:r>
            <a:r>
              <a:rPr lang="en-US" altLang="zh-CN" b="1" dirty="0"/>
              <a:t> c;  </a:t>
            </a:r>
          </a:p>
          <a:p>
            <a:pPr marL="457200" indent="-457200"/>
            <a:r>
              <a:rPr lang="en-US" altLang="zh-CN" b="1" dirty="0">
                <a:solidFill>
                  <a:srgbClr val="FF0000"/>
                </a:solidFill>
              </a:rPr>
              <a:t>   </a:t>
            </a:r>
            <a:r>
              <a:rPr lang="en-US" altLang="zh-CN" b="1" dirty="0"/>
              <a:t>a = 4, b = 5; </a:t>
            </a:r>
          </a:p>
          <a:p>
            <a:pPr marL="457200" indent="-457200"/>
            <a:r>
              <a:rPr lang="en-US" altLang="zh-CN" b="1" dirty="0"/>
              <a:t>   c = max ( );</a:t>
            </a:r>
          </a:p>
          <a:p>
            <a:pPr marL="457200" indent="-457200"/>
            <a:r>
              <a:rPr lang="en-US" altLang="zh-CN" b="1" dirty="0"/>
              <a:t>   </a:t>
            </a:r>
            <a:r>
              <a:rPr lang="en-US" altLang="zh-CN" b="1" dirty="0" err="1"/>
              <a:t>printf</a:t>
            </a:r>
            <a:r>
              <a:rPr lang="en-US" altLang="zh-CN" b="1" dirty="0"/>
              <a:t> ("max = %d\n", c); </a:t>
            </a:r>
          </a:p>
          <a:p>
            <a:pPr marL="457200" indent="-457200"/>
            <a:r>
              <a:rPr lang="en-US" altLang="zh-CN" b="1" dirty="0"/>
              <a:t>   return 0;</a:t>
            </a:r>
          </a:p>
          <a:p>
            <a:pPr marL="457200" indent="-457200"/>
            <a:r>
              <a:rPr lang="en-US" altLang="zh-CN" b="1" dirty="0"/>
              <a:t>}</a:t>
            </a:r>
          </a:p>
        </p:txBody>
      </p:sp>
      <p:sp>
        <p:nvSpPr>
          <p:cNvPr id="1085461" name="Rectangle 21" descr="信纸"/>
          <p:cNvSpPr>
            <a:spLocks noChangeArrowheads="1"/>
          </p:cNvSpPr>
          <p:nvPr/>
        </p:nvSpPr>
        <p:spPr bwMode="auto">
          <a:xfrm>
            <a:off x="6559875" y="2108261"/>
            <a:ext cx="4608512" cy="2686050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chemeClr val="accent1">
                <a:lumMod val="50000"/>
              </a:schemeClr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 algn="ctr"/>
            <a:r>
              <a:rPr lang="zh-CN" altLang="en-US" b="1" u="sng" dirty="0">
                <a:solidFill>
                  <a:schemeClr val="accent1">
                    <a:lumMod val="50000"/>
                  </a:schemeClr>
                </a:solidFill>
                <a:ea typeface="隶书" pitchFamily="49" charset="-122"/>
              </a:rPr>
              <a:t>原文件</a:t>
            </a:r>
            <a:r>
              <a:rPr lang="en-US" altLang="zh-CN" b="1" u="sng" dirty="0">
                <a:solidFill>
                  <a:schemeClr val="accent1">
                    <a:lumMod val="50000"/>
                  </a:schemeClr>
                </a:solidFill>
                <a:ea typeface="隶书" pitchFamily="49" charset="-122"/>
              </a:rPr>
              <a:t>prg2.cpp</a:t>
            </a:r>
          </a:p>
          <a:p>
            <a:pPr marL="457200" indent="-457200"/>
            <a:r>
              <a:rPr kumimoji="0" lang="en-US" altLang="zh-CN" b="1" dirty="0">
                <a:solidFill>
                  <a:srgbClr val="C01920"/>
                </a:solidFill>
              </a:rPr>
              <a:t>extern </a:t>
            </a:r>
            <a:r>
              <a:rPr kumimoji="0" lang="en-US" altLang="zh-CN" b="1" dirty="0" err="1">
                <a:solidFill>
                  <a:srgbClr val="C01920"/>
                </a:solidFill>
              </a:rPr>
              <a:t>i</a:t>
            </a:r>
            <a:r>
              <a:rPr lang="en-US" altLang="zh-CN" b="1" dirty="0" err="1">
                <a:solidFill>
                  <a:srgbClr val="C01920"/>
                </a:solidFill>
              </a:rPr>
              <a:t>nt</a:t>
            </a:r>
            <a:r>
              <a:rPr lang="en-US" altLang="zh-CN" b="1" dirty="0">
                <a:solidFill>
                  <a:srgbClr val="C01920"/>
                </a:solidFill>
              </a:rPr>
              <a:t> a, b;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外部变量说明</a:t>
            </a:r>
          </a:p>
          <a:p>
            <a:pPr marL="457200" indent="-457200"/>
            <a:endParaRPr lang="zh-CN" altLang="en-US" b="1" dirty="0"/>
          </a:p>
          <a:p>
            <a:pPr marL="457200" indent="-457200"/>
            <a:r>
              <a:rPr lang="en-US" altLang="zh-CN" b="1" dirty="0" err="1">
                <a:solidFill>
                  <a:schemeClr val="accent1">
                    <a:lumMod val="50000"/>
                  </a:schemeClr>
                </a:solidFill>
              </a:rPr>
              <a:t>int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 max (  )</a:t>
            </a:r>
          </a:p>
          <a:p>
            <a:pPr marL="457200" indent="-457200"/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{  </a:t>
            </a:r>
          </a:p>
          <a:p>
            <a:pPr marL="457200" indent="-457200"/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   return (a &gt; b ? a : b); </a:t>
            </a:r>
          </a:p>
          <a:p>
            <a:pPr marL="457200" indent="-457200"/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}</a:t>
            </a:r>
          </a:p>
        </p:txBody>
      </p:sp>
      <p:sp>
        <p:nvSpPr>
          <p:cNvPr id="1085462" name="Text Box 22"/>
          <p:cNvSpPr txBox="1">
            <a:spLocks noChangeArrowheads="1"/>
          </p:cNvSpPr>
          <p:nvPr/>
        </p:nvSpPr>
        <p:spPr bwMode="auto">
          <a:xfrm>
            <a:off x="6104039" y="6039084"/>
            <a:ext cx="2832100" cy="461665"/>
          </a:xfrm>
          <a:prstGeom prst="rect">
            <a:avLst/>
          </a:prstGeom>
          <a:gradFill rotWithShape="1">
            <a:gsLst>
              <a:gs pos="0">
                <a:schemeClr val="bg1">
                  <a:shade val="30000"/>
                  <a:satMod val="115000"/>
                </a:schemeClr>
              </a:gs>
              <a:gs pos="50000">
                <a:schemeClr val="bg1">
                  <a:shade val="67500"/>
                  <a:satMod val="115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3500000" scaled="1"/>
          </a:gradFill>
          <a:ln w="28575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C01920"/>
                </a:solidFill>
                <a:latin typeface="+mn-lt"/>
                <a:ea typeface="隶书" pitchFamily="49" charset="-122"/>
              </a:rPr>
              <a:t>编译、链接、运行</a:t>
            </a:r>
          </a:p>
        </p:txBody>
      </p:sp>
      <p:sp>
        <p:nvSpPr>
          <p:cNvPr id="1085463" name="AutoShape 23"/>
          <p:cNvSpPr>
            <a:spLocks noChangeArrowheads="1"/>
          </p:cNvSpPr>
          <p:nvPr/>
        </p:nvSpPr>
        <p:spPr bwMode="auto">
          <a:xfrm rot="1963348">
            <a:off x="4722344" y="5095159"/>
            <a:ext cx="2506182" cy="358775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rotWithShape="1">
            <a:gsLst>
              <a:gs pos="0">
                <a:srgbClr val="BEDFC4"/>
              </a:gs>
              <a:gs pos="100000">
                <a:srgbClr val="00FFFF">
                  <a:gamma/>
                  <a:shade val="57647"/>
                  <a:invGamma/>
                </a:srgb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464" name="AutoShape 24"/>
          <p:cNvSpPr>
            <a:spLocks noChangeArrowheads="1"/>
          </p:cNvSpPr>
          <p:nvPr/>
        </p:nvSpPr>
        <p:spPr bwMode="auto">
          <a:xfrm rot="7551307">
            <a:off x="6768614" y="5076649"/>
            <a:ext cx="1739026" cy="358775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rotWithShape="1">
            <a:gsLst>
              <a:gs pos="0">
                <a:srgbClr val="BEDFC4"/>
              </a:gs>
              <a:gs pos="100000">
                <a:srgbClr val="00FFFF">
                  <a:gamma/>
                  <a:shade val="60784"/>
                  <a:invGamma/>
                </a:srgb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466" name="Rectangle 26"/>
          <p:cNvSpPr>
            <a:spLocks noChangeArrowheads="1"/>
          </p:cNvSpPr>
          <p:nvPr/>
        </p:nvSpPr>
        <p:spPr bwMode="auto">
          <a:xfrm>
            <a:off x="9296179" y="5124585"/>
            <a:ext cx="1871663" cy="800100"/>
          </a:xfrm>
          <a:prstGeom prst="rect">
            <a:avLst/>
          </a:prstGeom>
          <a:gradFill>
            <a:gsLst>
              <a:gs pos="0">
                <a:schemeClr val="bg1">
                  <a:shade val="30000"/>
                  <a:satMod val="115000"/>
                </a:schemeClr>
              </a:gs>
              <a:gs pos="50000">
                <a:schemeClr val="bg1">
                  <a:shade val="67500"/>
                  <a:satMod val="115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3500000" scaled="1"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anchor="ctr">
            <a:spAutoFit/>
          </a:bodyPr>
          <a:lstStyle/>
          <a:p>
            <a:r>
              <a:rPr lang="zh-CN" altLang="en-US" sz="2000" b="1" dirty="0">
                <a:solidFill>
                  <a:srgbClr val="C01920"/>
                </a:solidFill>
                <a:latin typeface="隶书" pitchFamily="49" charset="-122"/>
                <a:ea typeface="隶书" pitchFamily="49" charset="-122"/>
              </a:rPr>
              <a:t>运行结果：</a:t>
            </a:r>
          </a:p>
          <a:p>
            <a:r>
              <a:rPr lang="zh-CN" altLang="en-US" b="1" dirty="0">
                <a:solidFill>
                  <a:srgbClr val="C01920"/>
                </a:solidFill>
                <a:ea typeface="楷体_GB2312" pitchFamily="49" charset="-122"/>
              </a:rPr>
              <a:t> </a:t>
            </a:r>
            <a:r>
              <a:rPr lang="en-US" altLang="zh-CN" sz="2000" b="1" dirty="0">
                <a:solidFill>
                  <a:srgbClr val="002060"/>
                </a:solidFill>
              </a:rPr>
              <a:t>max = 5</a:t>
            </a: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4F375759-7279-4685-B9B4-23EE79D92A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8.5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变量的存储类型 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024FF328-6A2F-4BE9-AFE7-29DA24400B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849" y="919389"/>
            <a:ext cx="482441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r>
              <a:rPr lang="en-US" altLang="zh-CN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2</a:t>
            </a:r>
            <a:r>
              <a:rPr lang="zh-CN" altLang="en-US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、外部变量（</a:t>
            </a:r>
            <a:r>
              <a:rPr lang="en-US" altLang="zh-CN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extern</a:t>
            </a:r>
            <a:r>
              <a:rPr lang="zh-CN" altLang="en-US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型变量）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10854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1085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10854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10854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3" dur="500"/>
                                        <p:tgtEl>
                                          <p:spTgt spid="10854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500"/>
                                        <p:tgtEl>
                                          <p:spTgt spid="10854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1" dur="500"/>
                                        <p:tgtEl>
                                          <p:spTgt spid="10854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5" dur="500"/>
                                        <p:tgtEl>
                                          <p:spTgt spid="10854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458" grpId="0"/>
      <p:bldP spid="1085459" grpId="0" build="p" autoUpdateAnimBg="0"/>
      <p:bldP spid="1085460" grpId="0" animBg="1"/>
      <p:bldP spid="1085461" grpId="0" animBg="1"/>
      <p:bldP spid="1085462" grpId="0" animBg="1"/>
      <p:bldP spid="1085463" grpId="0" animBg="1"/>
      <p:bldP spid="1085464" grpId="0" animBg="1"/>
      <p:bldP spid="1085466" grpId="0" animBg="1"/>
      <p:bldP spid="1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502" name="Text Box 14"/>
          <p:cNvSpPr txBox="1">
            <a:spLocks noChangeArrowheads="1"/>
          </p:cNvSpPr>
          <p:nvPr/>
        </p:nvSpPr>
        <p:spPr bwMode="auto">
          <a:xfrm>
            <a:off x="1182574" y="1484784"/>
            <a:ext cx="41767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静态变量与静态存储类型</a:t>
            </a:r>
          </a:p>
        </p:txBody>
      </p:sp>
      <p:sp>
        <p:nvSpPr>
          <p:cNvPr id="1087503" name="Rectangle 15"/>
          <p:cNvSpPr>
            <a:spLocks noChangeArrowheads="1"/>
          </p:cNvSpPr>
          <p:nvPr/>
        </p:nvSpPr>
        <p:spPr bwMode="auto">
          <a:xfrm>
            <a:off x="1415480" y="1918065"/>
            <a:ext cx="10268554" cy="29307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lvl="1" indent="-342900">
              <a:lnSpc>
                <a:spcPts val="3200"/>
              </a:lnSpc>
              <a:buClr>
                <a:srgbClr val="C0192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+mn-lt"/>
                <a:ea typeface="楷体" pitchFamily="49" charset="-122"/>
              </a:rPr>
              <a:t>静态变量的类型说明符是</a:t>
            </a: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static</a:t>
            </a:r>
            <a:r>
              <a:rPr lang="zh-CN" altLang="en-US" b="1" dirty="0">
                <a:latin typeface="+mn-lt"/>
                <a:ea typeface="楷体" pitchFamily="49" charset="-122"/>
              </a:rPr>
              <a:t>。</a:t>
            </a:r>
            <a:endParaRPr lang="en-US" altLang="zh-CN" b="1" dirty="0">
              <a:latin typeface="+mn-lt"/>
              <a:ea typeface="楷体" pitchFamily="49" charset="-122"/>
            </a:endParaRPr>
          </a:p>
          <a:p>
            <a:pPr marL="342900" lvl="1" indent="-342900">
              <a:lnSpc>
                <a:spcPts val="3200"/>
              </a:lnSpc>
              <a:buClr>
                <a:srgbClr val="C0192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+mn-lt"/>
                <a:ea typeface="楷体" pitchFamily="49" charset="-122"/>
              </a:rPr>
              <a:t>静态变量属于静态存储类型。</a:t>
            </a:r>
            <a:endParaRPr lang="en-US" altLang="zh-CN" b="1" dirty="0">
              <a:latin typeface="+mn-lt"/>
              <a:ea typeface="楷体" pitchFamily="49" charset="-122"/>
            </a:endParaRPr>
          </a:p>
          <a:p>
            <a:pPr marL="342900" lvl="1" indent="-342900">
              <a:lnSpc>
                <a:spcPts val="3200"/>
              </a:lnSpc>
              <a:buClr>
                <a:srgbClr val="C0192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+mn-lt"/>
                <a:ea typeface="楷体" pitchFamily="49" charset="-122"/>
              </a:rPr>
              <a:t>静态存储类型的变量不一定就是静态变量。例如外 部变量虽属于静态存储类型但不一定是静态变量，必须由</a:t>
            </a:r>
            <a:r>
              <a:rPr lang="en-US" altLang="zh-CN" b="1" dirty="0">
                <a:latin typeface="+mn-lt"/>
                <a:ea typeface="楷体" pitchFamily="49" charset="-122"/>
              </a:rPr>
              <a:t>static</a:t>
            </a:r>
            <a:r>
              <a:rPr lang="zh-CN" altLang="en-US" b="1" dirty="0">
                <a:latin typeface="+mn-lt"/>
                <a:ea typeface="楷体" pitchFamily="49" charset="-122"/>
              </a:rPr>
              <a:t>加以定义后才能成为</a:t>
            </a:r>
            <a:r>
              <a:rPr lang="zh-CN" altLang="en-US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静态外部变量</a:t>
            </a:r>
            <a:r>
              <a:rPr lang="zh-CN" altLang="en-US" b="1" dirty="0">
                <a:latin typeface="+mn-lt"/>
                <a:ea typeface="楷体" pitchFamily="49" charset="-122"/>
              </a:rPr>
              <a:t>，或称</a:t>
            </a:r>
            <a:r>
              <a:rPr lang="zh-CN" altLang="en-US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静态全局变量</a:t>
            </a:r>
            <a:r>
              <a:rPr lang="zh-CN" altLang="en-US" b="1" dirty="0">
                <a:solidFill>
                  <a:srgbClr val="FF0000"/>
                </a:solidFill>
                <a:latin typeface="+mn-lt"/>
                <a:ea typeface="楷体" pitchFamily="49" charset="-122"/>
              </a:rPr>
              <a:t>。</a:t>
            </a:r>
            <a:endParaRPr lang="en-US" altLang="zh-CN" b="1" dirty="0">
              <a:latin typeface="+mn-lt"/>
              <a:ea typeface="楷体" pitchFamily="49" charset="-122"/>
            </a:endParaRPr>
          </a:p>
          <a:p>
            <a:pPr marL="342900" lvl="1" indent="-342900">
              <a:lnSpc>
                <a:spcPts val="3200"/>
              </a:lnSpc>
              <a:buClr>
                <a:srgbClr val="C0192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+mn-lt"/>
                <a:ea typeface="楷体" pitchFamily="49" charset="-122"/>
              </a:rPr>
              <a:t>自动变量可以用</a:t>
            </a:r>
            <a:r>
              <a:rPr lang="en-US" altLang="zh-CN" b="1" dirty="0">
                <a:latin typeface="+mn-lt"/>
                <a:ea typeface="楷体" pitchFamily="49" charset="-122"/>
              </a:rPr>
              <a:t>static</a:t>
            </a:r>
            <a:r>
              <a:rPr lang="zh-CN" altLang="en-US" b="1" dirty="0">
                <a:latin typeface="+mn-lt"/>
                <a:ea typeface="楷体" pitchFamily="49" charset="-122"/>
              </a:rPr>
              <a:t>定义它为静态自动变量，或称</a:t>
            </a:r>
            <a:r>
              <a:rPr lang="zh-CN" altLang="en-US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静态局部变量</a:t>
            </a:r>
            <a:r>
              <a:rPr lang="zh-CN" altLang="en-US" b="1" dirty="0">
                <a:latin typeface="+mn-lt"/>
                <a:ea typeface="楷体" pitchFamily="49" charset="-122"/>
              </a:rPr>
              <a:t>，从而成为静态存储方式。  </a:t>
            </a:r>
          </a:p>
        </p:txBody>
      </p:sp>
      <p:sp>
        <p:nvSpPr>
          <p:cNvPr id="1087504" name="Text Box 16"/>
          <p:cNvSpPr txBox="1">
            <a:spLocks noChangeArrowheads="1"/>
          </p:cNvSpPr>
          <p:nvPr/>
        </p:nvSpPr>
        <p:spPr bwMode="auto">
          <a:xfrm>
            <a:off x="1182574" y="5002519"/>
            <a:ext cx="41767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静态局部变量</a:t>
            </a:r>
          </a:p>
        </p:txBody>
      </p:sp>
      <p:sp>
        <p:nvSpPr>
          <p:cNvPr id="1087505" name="Rectangle 17"/>
          <p:cNvSpPr>
            <a:spLocks noChangeArrowheads="1"/>
          </p:cNvSpPr>
          <p:nvPr/>
        </p:nvSpPr>
        <p:spPr bwMode="auto">
          <a:xfrm>
            <a:off x="1185626" y="5442422"/>
            <a:ext cx="75580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altLang="zh-CN" b="1" dirty="0">
                <a:latin typeface="+mn-lt"/>
                <a:ea typeface="楷体" pitchFamily="49" charset="-122"/>
              </a:rPr>
              <a:t>    </a:t>
            </a:r>
            <a:r>
              <a:rPr lang="zh-CN" altLang="en-US" b="1" dirty="0">
                <a:latin typeface="+mn-lt"/>
                <a:ea typeface="楷体" pitchFamily="49" charset="-122"/>
              </a:rPr>
              <a:t>在局部变量的说明前加上</a:t>
            </a: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static</a:t>
            </a:r>
            <a:r>
              <a:rPr lang="zh-CN" altLang="en-US" b="1" dirty="0">
                <a:latin typeface="+mn-lt"/>
                <a:ea typeface="楷体" pitchFamily="49" charset="-122"/>
              </a:rPr>
              <a:t>就构成静态局部变量</a:t>
            </a:r>
            <a:r>
              <a:rPr lang="zh-CN" altLang="en-US" dirty="0"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087506" name="Rectangle 18" descr="信纸"/>
          <p:cNvSpPr>
            <a:spLocks noChangeArrowheads="1"/>
          </p:cNvSpPr>
          <p:nvPr/>
        </p:nvSpPr>
        <p:spPr bwMode="auto">
          <a:xfrm>
            <a:off x="5735960" y="5058247"/>
            <a:ext cx="5813514" cy="1225550"/>
          </a:xfrm>
          <a:prstGeom prst="rect">
            <a:avLst/>
          </a:prstGeom>
          <a:solidFill>
            <a:schemeClr val="bg1"/>
          </a:soli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lang="zh-CN" altLang="en-US" b="1" dirty="0">
                <a:solidFill>
                  <a:srgbClr val="CC0000"/>
                </a:solidFill>
                <a:ea typeface="隶书" pitchFamily="49" charset="-122"/>
              </a:rPr>
              <a:t>例如：</a:t>
            </a:r>
          </a:p>
          <a:p>
            <a:pPr marL="457200" indent="-457200"/>
            <a:r>
              <a:rPr lang="zh-CN" altLang="en-US" b="1" dirty="0"/>
              <a:t>  </a:t>
            </a:r>
            <a:r>
              <a:rPr lang="en-US" altLang="zh-CN" b="1" dirty="0">
                <a:solidFill>
                  <a:srgbClr val="CC0000"/>
                </a:solidFill>
              </a:rPr>
              <a:t>static</a:t>
            </a:r>
            <a:r>
              <a:rPr lang="en-US" altLang="zh-CN" b="1" dirty="0"/>
              <a:t> </a:t>
            </a:r>
            <a:r>
              <a:rPr lang="en-US" altLang="zh-CN" b="1" dirty="0" err="1"/>
              <a:t>int</a:t>
            </a:r>
            <a:r>
              <a:rPr lang="en-US" altLang="zh-CN" b="1" dirty="0"/>
              <a:t> a, b;</a:t>
            </a:r>
          </a:p>
          <a:p>
            <a:pPr marL="457200" indent="-457200"/>
            <a:r>
              <a:rPr lang="en-US" altLang="zh-CN" b="1" dirty="0">
                <a:solidFill>
                  <a:srgbClr val="CC0000"/>
                </a:solidFill>
              </a:rPr>
              <a:t>  static</a:t>
            </a:r>
            <a:r>
              <a:rPr lang="en-US" altLang="zh-CN" b="1" dirty="0"/>
              <a:t> float array[5] = {1, 2, 3, 4, 5}</a:t>
            </a:r>
            <a:r>
              <a:rPr lang="zh-CN" altLang="en-US" b="1" dirty="0"/>
              <a:t>；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4947FFF6-003E-4FA1-981E-CFD877219D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8.5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变量的存储类型 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BF2B5617-9FE3-4373-A30D-A2E158D42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849" y="919389"/>
            <a:ext cx="482441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r>
              <a:rPr lang="en-US" altLang="zh-CN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3</a:t>
            </a:r>
            <a:r>
              <a:rPr lang="zh-CN" altLang="en-US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、静态变量（</a:t>
            </a:r>
            <a:r>
              <a:rPr lang="en-US" altLang="zh-CN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static</a:t>
            </a:r>
            <a:r>
              <a:rPr lang="zh-CN" altLang="en-US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型变量）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875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875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5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875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875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5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875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875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5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875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875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5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875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875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87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875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9" dur="500"/>
                                        <p:tgtEl>
                                          <p:spTgt spid="10875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4" dur="500"/>
                                        <p:tgtEl>
                                          <p:spTgt spid="10875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7502" grpId="0"/>
      <p:bldP spid="1087504" grpId="0"/>
      <p:bldP spid="1087505" grpId="0"/>
      <p:bldP spid="1087506" grpId="0" animBg="1"/>
      <p:bldP spid="1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548" name="Rectangle 12"/>
          <p:cNvSpPr>
            <a:spLocks noChangeArrowheads="1"/>
          </p:cNvSpPr>
          <p:nvPr/>
        </p:nvSpPr>
        <p:spPr bwMode="auto">
          <a:xfrm>
            <a:off x="1325057" y="2248091"/>
            <a:ext cx="10663326" cy="2110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ts val="3200"/>
              </a:lnSpc>
              <a:buClr>
                <a:srgbClr val="C01920"/>
              </a:buClr>
              <a:buFont typeface="Wingdings" pitchFamily="2" charset="2"/>
              <a:buChar char="l"/>
            </a:pPr>
            <a:r>
              <a:rPr lang="en-US" altLang="zh-CN" b="1" dirty="0"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latin typeface="+mn-lt"/>
                <a:ea typeface="楷体" pitchFamily="49" charset="-122"/>
              </a:rPr>
              <a:t>静态局部变量与自动变量均属于局部变量</a:t>
            </a:r>
            <a:endParaRPr lang="en-US" altLang="zh-CN" b="1" dirty="0">
              <a:latin typeface="+mn-lt"/>
              <a:ea typeface="楷体" pitchFamily="49" charset="-122"/>
            </a:endParaRPr>
          </a:p>
          <a:p>
            <a:pPr>
              <a:lnSpc>
                <a:spcPts val="3200"/>
              </a:lnSpc>
              <a:buClr>
                <a:srgbClr val="C01920"/>
              </a:buClr>
              <a:buFont typeface="Wingdings" pitchFamily="2" charset="2"/>
              <a:buChar char="l"/>
            </a:pPr>
            <a:endParaRPr lang="zh-CN" altLang="en-US" b="1" dirty="0">
              <a:latin typeface="+mn-lt"/>
              <a:ea typeface="楷体" pitchFamily="49" charset="-122"/>
            </a:endParaRPr>
          </a:p>
          <a:p>
            <a:pPr marL="265113" indent="-265113">
              <a:lnSpc>
                <a:spcPts val="3200"/>
              </a:lnSpc>
              <a:buClr>
                <a:srgbClr val="C01920"/>
              </a:buClr>
              <a:buFont typeface="Wingdings" pitchFamily="2" charset="2"/>
              <a:buChar char="l"/>
            </a:pPr>
            <a:r>
              <a:rPr lang="zh-CN" altLang="en-US" b="1" dirty="0">
                <a:latin typeface="+mn-lt"/>
                <a:ea typeface="楷体" pitchFamily="49" charset="-122"/>
              </a:rPr>
              <a:t> </a:t>
            </a:r>
            <a:r>
              <a:rPr lang="zh-CN" altLang="zh-CN" b="1" dirty="0">
                <a:latin typeface="+mn-lt"/>
                <a:ea typeface="楷体" pitchFamily="49" charset="-122"/>
              </a:rPr>
              <a:t>静态局部变量生存期</a:t>
            </a:r>
            <a:r>
              <a:rPr lang="zh-CN" altLang="en-US" b="1" dirty="0">
                <a:latin typeface="+mn-lt"/>
                <a:ea typeface="楷体" pitchFamily="49" charset="-122"/>
              </a:rPr>
              <a:t>长，</a:t>
            </a:r>
            <a:r>
              <a:rPr lang="zh-CN" altLang="zh-CN" b="1" dirty="0">
                <a:latin typeface="+mn-lt"/>
                <a:ea typeface="楷体" pitchFamily="49" charset="-122"/>
              </a:rPr>
              <a:t>为整个源程序。自动变量生存期短。</a:t>
            </a:r>
            <a:endParaRPr lang="en-US" altLang="zh-CN" b="1" dirty="0">
              <a:latin typeface="+mn-lt"/>
              <a:ea typeface="楷体" pitchFamily="49" charset="-122"/>
            </a:endParaRPr>
          </a:p>
          <a:p>
            <a:pPr marL="265113" indent="-265113">
              <a:lnSpc>
                <a:spcPts val="3200"/>
              </a:lnSpc>
              <a:buClr>
                <a:srgbClr val="C01920"/>
              </a:buClr>
              <a:buFont typeface="Wingdings" pitchFamily="2" charset="2"/>
              <a:buChar char="l"/>
            </a:pPr>
            <a:endParaRPr lang="zh-CN" altLang="en-US" b="1" dirty="0">
              <a:latin typeface="+mn-lt"/>
              <a:ea typeface="楷体" pitchFamily="49" charset="-122"/>
            </a:endParaRPr>
          </a:p>
          <a:p>
            <a:pPr marL="265113" indent="-265113">
              <a:lnSpc>
                <a:spcPts val="3200"/>
              </a:lnSpc>
              <a:buClr>
                <a:srgbClr val="C01920"/>
              </a:buClr>
              <a:buFont typeface="Wingdings" pitchFamily="2" charset="2"/>
              <a:buChar char="l"/>
            </a:pPr>
            <a:r>
              <a:rPr lang="zh-CN" altLang="en-US" b="1" dirty="0">
                <a:latin typeface="+mn-lt"/>
                <a:ea typeface="楷体" pitchFamily="49" charset="-122"/>
              </a:rPr>
              <a:t> 静态局部变量的生存期虽然为整个源程序，但是其作用域仍与自动变量相同 </a:t>
            </a:r>
          </a:p>
        </p:txBody>
      </p:sp>
      <p:sp>
        <p:nvSpPr>
          <p:cNvPr id="1089549" name="Rectangle 13" descr="信纸"/>
          <p:cNvSpPr>
            <a:spLocks noChangeArrowheads="1"/>
          </p:cNvSpPr>
          <p:nvPr/>
        </p:nvSpPr>
        <p:spPr bwMode="auto">
          <a:xfrm>
            <a:off x="1991544" y="2350581"/>
            <a:ext cx="6440154" cy="4092575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lang="en-US" altLang="zh-CN" sz="2000" b="1" dirty="0"/>
              <a:t>void </a:t>
            </a:r>
            <a:r>
              <a:rPr lang="en-US" altLang="zh-CN" sz="2000" b="1" dirty="0" err="1"/>
              <a:t>func</a:t>
            </a:r>
            <a:r>
              <a:rPr lang="en-US" altLang="zh-CN" sz="2000" b="1" dirty="0"/>
              <a:t> ( );</a:t>
            </a:r>
          </a:p>
          <a:p>
            <a:pPr marL="457200" indent="-457200"/>
            <a:r>
              <a:rPr lang="en-US" altLang="zh-CN" sz="2000" b="1" dirty="0" err="1">
                <a:solidFill>
                  <a:srgbClr val="CC0000"/>
                </a:solidFill>
              </a:rPr>
              <a:t>int</a:t>
            </a:r>
            <a:r>
              <a:rPr lang="en-US" altLang="zh-CN" sz="2000" b="1" dirty="0">
                <a:solidFill>
                  <a:srgbClr val="CC0000"/>
                </a:solidFill>
              </a:rPr>
              <a:t> main ( )</a:t>
            </a:r>
            <a:r>
              <a:rPr lang="en-US" altLang="zh-CN" sz="2000" b="1" dirty="0"/>
              <a:t> </a:t>
            </a:r>
          </a:p>
          <a:p>
            <a:pPr marL="457200" indent="-457200"/>
            <a:r>
              <a:rPr lang="en-US" altLang="zh-CN" sz="2000" b="1" dirty="0"/>
              <a:t>{</a:t>
            </a:r>
          </a:p>
          <a:p>
            <a:pPr marL="457200" indent="-457200"/>
            <a:r>
              <a:rPr lang="en-US" altLang="zh-CN" sz="2000" b="1" dirty="0"/>
              <a:t>  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a; </a:t>
            </a:r>
          </a:p>
          <a:p>
            <a:pPr marL="457200" indent="-457200"/>
            <a:r>
              <a:rPr lang="en-US" altLang="zh-CN" sz="2000" b="1" dirty="0"/>
              <a:t>  a = s + 5; </a:t>
            </a:r>
          </a:p>
          <a:p>
            <a:pPr marL="457200" indent="-457200"/>
            <a:r>
              <a:rPr lang="en-US" altLang="zh-CN" sz="2000" b="1" dirty="0"/>
              <a:t>  ……                                    </a:t>
            </a:r>
          </a:p>
          <a:p>
            <a:pPr marL="457200" indent="-457200"/>
            <a:r>
              <a:rPr lang="en-US" altLang="zh-CN" sz="2000" b="1" dirty="0"/>
              <a:t>}</a:t>
            </a:r>
          </a:p>
          <a:p>
            <a:pPr marL="457200" indent="-457200"/>
            <a:endParaRPr lang="en-US" altLang="zh-CN" sz="2000" b="1" dirty="0"/>
          </a:p>
          <a:p>
            <a:pPr marL="457200" indent="-457200"/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</a:rPr>
              <a:t>void </a:t>
            </a:r>
            <a:r>
              <a:rPr lang="en-US" altLang="zh-CN" sz="2000" b="1" dirty="0" err="1">
                <a:solidFill>
                  <a:schemeClr val="accent1">
                    <a:lumMod val="50000"/>
                  </a:schemeClr>
                </a:solidFill>
              </a:rPr>
              <a:t>func</a:t>
            </a:r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</a:rPr>
              <a:t> ( )</a:t>
            </a:r>
          </a:p>
          <a:p>
            <a:pPr marL="457200" indent="-457200"/>
            <a:r>
              <a:rPr lang="en-US" altLang="zh-CN" sz="2000" b="1" dirty="0"/>
              <a:t>{</a:t>
            </a:r>
          </a:p>
          <a:p>
            <a:pPr marL="457200" indent="-457200"/>
            <a:r>
              <a:rPr lang="en-US" altLang="zh-CN" sz="2000" b="1" dirty="0"/>
              <a:t>   static 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s;  </a:t>
            </a:r>
          </a:p>
          <a:p>
            <a:pPr marL="457200" indent="-457200"/>
            <a:r>
              <a:rPr lang="en-US" altLang="zh-CN" sz="2000" b="1" dirty="0"/>
              <a:t>   ……</a:t>
            </a:r>
          </a:p>
          <a:p>
            <a:pPr marL="457200" indent="-457200"/>
            <a:r>
              <a:rPr lang="en-US" altLang="zh-CN" sz="2000" b="1" dirty="0"/>
              <a:t>}</a:t>
            </a:r>
          </a:p>
        </p:txBody>
      </p:sp>
      <p:sp>
        <p:nvSpPr>
          <p:cNvPr id="1089550" name="Rectangle 14"/>
          <p:cNvSpPr>
            <a:spLocks noChangeArrowheads="1"/>
          </p:cNvSpPr>
          <p:nvPr/>
        </p:nvSpPr>
        <p:spPr bwMode="auto">
          <a:xfrm>
            <a:off x="2190288" y="5446092"/>
            <a:ext cx="1512888" cy="360363"/>
          </a:xfrm>
          <a:prstGeom prst="rect">
            <a:avLst/>
          </a:prstGeom>
          <a:noFill/>
          <a:ln w="28575">
            <a:solidFill>
              <a:srgbClr val="C0192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9551" name="AutoShape 15"/>
          <p:cNvSpPr>
            <a:spLocks/>
          </p:cNvSpPr>
          <p:nvPr/>
        </p:nvSpPr>
        <p:spPr bwMode="auto">
          <a:xfrm>
            <a:off x="4782677" y="4420567"/>
            <a:ext cx="1368425" cy="792163"/>
          </a:xfrm>
          <a:prstGeom prst="borderCallout2">
            <a:avLst>
              <a:gd name="adj1" fmla="val 14431"/>
              <a:gd name="adj2" fmla="val -5569"/>
              <a:gd name="adj3" fmla="val 14431"/>
              <a:gd name="adj4" fmla="val -54060"/>
              <a:gd name="adj5" fmla="val 126454"/>
              <a:gd name="adj6" fmla="val -115315"/>
            </a:avLst>
          </a:prstGeom>
          <a:gradFill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19050">
            <a:solidFill>
              <a:srgbClr val="C0192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r>
              <a:rPr lang="zh-CN" altLang="en-US" sz="2000" b="1">
                <a:solidFill>
                  <a:srgbClr val="C01920"/>
                </a:solidFill>
                <a:latin typeface="+mn-lt"/>
                <a:ea typeface="楷体" pitchFamily="49" charset="-122"/>
              </a:rPr>
              <a:t>定义静态局部变量</a:t>
            </a:r>
            <a:r>
              <a:rPr lang="en-US" altLang="zh-CN" sz="2000" b="1">
                <a:solidFill>
                  <a:srgbClr val="C01920"/>
                </a:solidFill>
                <a:latin typeface="+mn-lt"/>
                <a:ea typeface="楷体" pitchFamily="49" charset="-122"/>
              </a:rPr>
              <a:t>s</a:t>
            </a:r>
          </a:p>
        </p:txBody>
      </p:sp>
      <p:sp>
        <p:nvSpPr>
          <p:cNvPr id="1089552" name="Oval 16"/>
          <p:cNvSpPr>
            <a:spLocks noChangeArrowheads="1"/>
          </p:cNvSpPr>
          <p:nvPr/>
        </p:nvSpPr>
        <p:spPr bwMode="auto">
          <a:xfrm>
            <a:off x="2522077" y="3647455"/>
            <a:ext cx="244475" cy="358775"/>
          </a:xfrm>
          <a:prstGeom prst="ellipse">
            <a:avLst/>
          </a:prstGeom>
          <a:noFill/>
          <a:ln w="28575">
            <a:solidFill>
              <a:srgbClr val="C0192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089553" name="Group 17"/>
          <p:cNvGrpSpPr>
            <a:grpSpLocks/>
          </p:cNvGrpSpPr>
          <p:nvPr/>
        </p:nvGrpSpPr>
        <p:grpSpPr bwMode="auto">
          <a:xfrm>
            <a:off x="2737977" y="3098179"/>
            <a:ext cx="2116137" cy="792162"/>
            <a:chOff x="838" y="2795"/>
            <a:chExt cx="1333" cy="499"/>
          </a:xfr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</p:grpSpPr>
        <p:sp>
          <p:nvSpPr>
            <p:cNvPr id="1089554" name="AutoShape 18"/>
            <p:cNvSpPr>
              <a:spLocks noChangeArrowheads="1"/>
            </p:cNvSpPr>
            <p:nvPr/>
          </p:nvSpPr>
          <p:spPr bwMode="auto">
            <a:xfrm>
              <a:off x="1264" y="2795"/>
              <a:ext cx="907" cy="499"/>
            </a:xfrm>
            <a:prstGeom prst="irregularSeal1">
              <a:avLst/>
            </a:prstGeom>
            <a:grpFill/>
            <a:ln w="28575">
              <a:solidFill>
                <a:srgbClr val="C0192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/>
              <a:r>
                <a:rPr lang="zh-CN" altLang="en-US" sz="2000" b="1">
                  <a:solidFill>
                    <a:srgbClr val="C01920"/>
                  </a:solidFill>
                  <a:latin typeface="+mn-lt"/>
                  <a:ea typeface="楷体" pitchFamily="49" charset="-122"/>
                </a:rPr>
                <a:t>错误！</a:t>
              </a:r>
            </a:p>
          </p:txBody>
        </p:sp>
        <p:sp>
          <p:nvSpPr>
            <p:cNvPr id="1089555" name="Line 19"/>
            <p:cNvSpPr>
              <a:spLocks noChangeShapeType="1"/>
            </p:cNvSpPr>
            <p:nvPr/>
          </p:nvSpPr>
          <p:spPr bwMode="auto">
            <a:xfrm flipV="1">
              <a:off x="838" y="3031"/>
              <a:ext cx="454" cy="136"/>
            </a:xfrm>
            <a:prstGeom prst="line">
              <a:avLst/>
            </a:prstGeom>
            <a:grpFill/>
            <a:ln w="19050">
              <a:solidFill>
                <a:srgbClr val="C01920"/>
              </a:solidFill>
              <a:round/>
              <a:headEnd/>
              <a:tailEnd/>
            </a:ln>
            <a:effectLst>
              <a:outerShdw dist="35921" dir="2700000" algn="ctr" rotWithShape="0">
                <a:schemeClr val="bg2">
                  <a:alpha val="50000"/>
                </a:schemeClr>
              </a:outerShdw>
            </a:effectLst>
          </p:spPr>
          <p:txBody>
            <a:bodyPr/>
            <a:lstStyle/>
            <a:p>
              <a:endParaRPr lang="zh-CN" altLang="en-US">
                <a:solidFill>
                  <a:srgbClr val="C01920"/>
                </a:solidFill>
                <a:latin typeface="+mn-lt"/>
                <a:ea typeface="楷体" pitchFamily="49" charset="-122"/>
              </a:endParaRPr>
            </a:p>
          </p:txBody>
        </p:sp>
      </p:grpSp>
      <p:grpSp>
        <p:nvGrpSpPr>
          <p:cNvPr id="1089562" name="Group 26"/>
          <p:cNvGrpSpPr>
            <a:grpSpLocks/>
          </p:cNvGrpSpPr>
          <p:nvPr/>
        </p:nvGrpSpPr>
        <p:grpSpPr bwMode="auto">
          <a:xfrm>
            <a:off x="2152189" y="5590555"/>
            <a:ext cx="5224463" cy="731837"/>
            <a:chOff x="860" y="3657"/>
            <a:chExt cx="3291" cy="461"/>
          </a:xfrm>
        </p:grpSpPr>
        <p:grpSp>
          <p:nvGrpSpPr>
            <p:cNvPr id="1089557" name="Group 21"/>
            <p:cNvGrpSpPr>
              <a:grpSpLocks/>
            </p:cNvGrpSpPr>
            <p:nvPr/>
          </p:nvGrpSpPr>
          <p:grpSpPr bwMode="auto">
            <a:xfrm>
              <a:off x="860" y="3657"/>
              <a:ext cx="2403" cy="461"/>
              <a:chOff x="851" y="3285"/>
              <a:chExt cx="2403" cy="725"/>
            </a:xfrm>
          </p:grpSpPr>
          <p:sp>
            <p:nvSpPr>
              <p:cNvPr id="1089558" name="Line 22"/>
              <p:cNvSpPr>
                <a:spLocks noChangeShapeType="1"/>
              </p:cNvSpPr>
              <p:nvPr/>
            </p:nvSpPr>
            <p:spPr bwMode="auto">
              <a:xfrm>
                <a:off x="1850" y="3285"/>
                <a:ext cx="1403" cy="0"/>
              </a:xfrm>
              <a:prstGeom prst="line">
                <a:avLst/>
              </a:prstGeom>
              <a:noFill/>
              <a:ln w="19050">
                <a:solidFill>
                  <a:srgbClr val="C01920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 dirty="0"/>
              </a:p>
            </p:txBody>
          </p:sp>
          <p:sp>
            <p:nvSpPr>
              <p:cNvPr id="1089559" name="Line 23"/>
              <p:cNvSpPr>
                <a:spLocks noChangeShapeType="1"/>
              </p:cNvSpPr>
              <p:nvPr/>
            </p:nvSpPr>
            <p:spPr bwMode="auto">
              <a:xfrm>
                <a:off x="3249" y="3285"/>
                <a:ext cx="0" cy="725"/>
              </a:xfrm>
              <a:prstGeom prst="line">
                <a:avLst/>
              </a:prstGeom>
              <a:noFill/>
              <a:ln w="19050">
                <a:solidFill>
                  <a:srgbClr val="C01920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89560" name="Line 24"/>
              <p:cNvSpPr>
                <a:spLocks noChangeShapeType="1"/>
              </p:cNvSpPr>
              <p:nvPr/>
            </p:nvSpPr>
            <p:spPr bwMode="auto">
              <a:xfrm flipH="1">
                <a:off x="851" y="3993"/>
                <a:ext cx="2403" cy="0"/>
              </a:xfrm>
              <a:prstGeom prst="line">
                <a:avLst/>
              </a:prstGeom>
              <a:noFill/>
              <a:ln w="19050">
                <a:solidFill>
                  <a:srgbClr val="C01920"/>
                </a:solidFill>
                <a:round/>
                <a:headEnd/>
                <a:tailEnd type="stealth" w="lg" len="lg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89561" name="Rectangle 25"/>
            <p:cNvSpPr>
              <a:spLocks noChangeArrowheads="1"/>
            </p:cNvSpPr>
            <p:nvPr/>
          </p:nvSpPr>
          <p:spPr bwMode="auto">
            <a:xfrm>
              <a:off x="3244" y="3729"/>
              <a:ext cx="90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en-US" altLang="zh-CN" sz="2000" b="1" dirty="0">
                  <a:solidFill>
                    <a:srgbClr val="C01920"/>
                  </a:solidFill>
                  <a:latin typeface="+mn-lt"/>
                  <a:ea typeface="楷体" pitchFamily="49" charset="-122"/>
                </a:rPr>
                <a:t>s</a:t>
              </a:r>
              <a:r>
                <a:rPr lang="zh-CN" altLang="en-US" sz="2000" b="1" dirty="0">
                  <a:solidFill>
                    <a:srgbClr val="C01920"/>
                  </a:solidFill>
                  <a:latin typeface="+mn-lt"/>
                  <a:ea typeface="楷体" pitchFamily="49" charset="-122"/>
                </a:rPr>
                <a:t>的作用域</a:t>
              </a:r>
            </a:p>
          </p:txBody>
        </p:sp>
      </p:grpSp>
      <p:sp>
        <p:nvSpPr>
          <p:cNvPr id="20" name="Text Box 14">
            <a:extLst>
              <a:ext uri="{FF2B5EF4-FFF2-40B4-BE49-F238E27FC236}">
                <a16:creationId xmlns:a16="http://schemas.microsoft.com/office/drawing/2014/main" id="{5CAF5962-22E5-42CE-BA39-7D3FAC79A6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2574" y="1484784"/>
            <a:ext cx="49685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静态局部变量与自动变量之比较</a:t>
            </a:r>
          </a:p>
        </p:txBody>
      </p:sp>
      <p:sp>
        <p:nvSpPr>
          <p:cNvPr id="21" name="Rectangle 4">
            <a:extLst>
              <a:ext uri="{FF2B5EF4-FFF2-40B4-BE49-F238E27FC236}">
                <a16:creationId xmlns:a16="http://schemas.microsoft.com/office/drawing/2014/main" id="{B6567066-CD9D-45F5-AF0C-AE00395E31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8.5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变量的存储类型 </a:t>
            </a: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D81B001E-7948-41D3-8561-6F9649B3B5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849" y="919389"/>
            <a:ext cx="482441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r>
              <a:rPr lang="en-US" altLang="zh-CN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3</a:t>
            </a:r>
            <a:r>
              <a:rPr lang="zh-CN" altLang="en-US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、静态变量（</a:t>
            </a:r>
            <a:r>
              <a:rPr lang="en-US" altLang="zh-CN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static</a:t>
            </a:r>
            <a:r>
              <a:rPr lang="zh-CN" altLang="en-US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型变量）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5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895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895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5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895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895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5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895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895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10895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2" dur="500"/>
                                        <p:tgtEl>
                                          <p:spTgt spid="10895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6" dur="500"/>
                                        <p:tgtEl>
                                          <p:spTgt spid="10895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1" dur="500"/>
                                        <p:tgtEl>
                                          <p:spTgt spid="10895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6" dur="500"/>
                                        <p:tgtEl>
                                          <p:spTgt spid="10895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0" dur="500"/>
                                        <p:tgtEl>
                                          <p:spTgt spid="10895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9549" grpId="0" animBg="1"/>
      <p:bldP spid="1089550" grpId="0" animBg="1"/>
      <p:bldP spid="1089551" grpId="0" animBg="1"/>
      <p:bldP spid="1089552" grpId="0" animBg="1"/>
      <p:bldP spid="20" grpId="0"/>
      <p:bldP spid="2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590" name="Rectangle 6"/>
          <p:cNvSpPr>
            <a:spLocks noChangeArrowheads="1"/>
          </p:cNvSpPr>
          <p:nvPr/>
        </p:nvSpPr>
        <p:spPr bwMode="auto">
          <a:xfrm>
            <a:off x="1271464" y="2060735"/>
            <a:ext cx="83185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Clr>
                <a:srgbClr val="C01920"/>
              </a:buClr>
              <a:buFont typeface="Wingdings" pitchFamily="2" charset="2"/>
              <a:buChar char="l"/>
            </a:pPr>
            <a:r>
              <a:rPr lang="en-US" altLang="zh-CN" b="1" dirty="0"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latin typeface="+mn-lt"/>
                <a:ea typeface="楷体" pitchFamily="49" charset="-122"/>
              </a:rPr>
              <a:t>静态局部变量若在定义时未赋初值，则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系统自动赋初值</a:t>
            </a: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0</a:t>
            </a:r>
          </a:p>
          <a:p>
            <a:pPr>
              <a:buClr>
                <a:srgbClr val="C01920"/>
              </a:buClr>
              <a:buFont typeface="Wingdings" pitchFamily="2" charset="2"/>
              <a:buChar char="l"/>
            </a:pPr>
            <a:endParaRPr lang="en-US" altLang="zh-CN" b="1" dirty="0">
              <a:solidFill>
                <a:srgbClr val="C01920"/>
              </a:solidFill>
              <a:latin typeface="+mn-lt"/>
              <a:ea typeface="楷体" pitchFamily="49" charset="-122"/>
            </a:endParaRPr>
          </a:p>
          <a:p>
            <a:pPr>
              <a:buClr>
                <a:srgbClr val="C01920"/>
              </a:buClr>
              <a:buFont typeface="Wingdings" pitchFamily="2" charset="2"/>
              <a:buChar char="l"/>
            </a:pPr>
            <a:r>
              <a:rPr lang="en-US" altLang="zh-CN" b="1" dirty="0">
                <a:latin typeface="+mn-lt"/>
                <a:ea typeface="楷体" pitchFamily="49" charset="-122"/>
              </a:rPr>
              <a:t>  </a:t>
            </a:r>
            <a:r>
              <a:rPr lang="zh-CN" altLang="en-US" b="1" dirty="0">
                <a:latin typeface="+mn-lt"/>
                <a:ea typeface="楷体" pitchFamily="49" charset="-122"/>
              </a:rPr>
              <a:t>静态局部变量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赋初值只一次</a:t>
            </a:r>
            <a:r>
              <a:rPr lang="zh-CN" altLang="en-US" b="1" dirty="0">
                <a:latin typeface="+mn-lt"/>
                <a:ea typeface="楷体" pitchFamily="49" charset="-122"/>
              </a:rPr>
              <a:t>，而自动变量赋初值可能多次</a:t>
            </a:r>
          </a:p>
        </p:txBody>
      </p:sp>
      <p:sp>
        <p:nvSpPr>
          <p:cNvPr id="1091605" name="Rectangle 21" descr="信纸"/>
          <p:cNvSpPr>
            <a:spLocks noChangeArrowheads="1"/>
          </p:cNvSpPr>
          <p:nvPr/>
        </p:nvSpPr>
        <p:spPr bwMode="auto">
          <a:xfrm>
            <a:off x="6643812" y="1500188"/>
            <a:ext cx="4608000" cy="5016758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chemeClr val="accent1">
                <a:lumMod val="50000"/>
              </a:schemeClr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#include &lt;</a:t>
            </a:r>
            <a:r>
              <a:rPr lang="en-US" altLang="zh-CN" sz="2000" b="1" dirty="0" err="1">
                <a:ea typeface="楷体_GB2312" pitchFamily="49" charset="-122"/>
              </a:rPr>
              <a:t>stdio.h</a:t>
            </a:r>
            <a:r>
              <a:rPr lang="en-US" altLang="zh-CN" sz="2000" b="1" dirty="0">
                <a:ea typeface="楷体_GB2312" pitchFamily="49" charset="-122"/>
              </a:rPr>
              <a:t>&gt;</a:t>
            </a:r>
          </a:p>
          <a:p>
            <a:pPr marL="457200" indent="-457200"/>
            <a:r>
              <a:rPr lang="en-US" altLang="zh-CN" sz="2000" b="1" dirty="0" err="1">
                <a:solidFill>
                  <a:srgbClr val="CC0000"/>
                </a:solidFill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 main ( )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{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   </a:t>
            </a:r>
            <a:r>
              <a:rPr lang="en-US" altLang="zh-CN" sz="2000" b="1" dirty="0" err="1">
                <a:ea typeface="楷体_GB2312" pitchFamily="49" charset="-122"/>
              </a:rPr>
              <a:t>int</a:t>
            </a:r>
            <a:r>
              <a:rPr lang="en-US" altLang="zh-CN" sz="2000" b="1" dirty="0">
                <a:ea typeface="楷体_GB2312" pitchFamily="49" charset="-122"/>
              </a:rPr>
              <a:t> </a:t>
            </a:r>
            <a:r>
              <a:rPr lang="en-US" altLang="zh-CN" sz="2000" b="1" dirty="0" err="1">
                <a:ea typeface="楷体_GB2312" pitchFamily="49" charset="-122"/>
              </a:rPr>
              <a:t>i</a:t>
            </a:r>
            <a:r>
              <a:rPr lang="en-US" altLang="zh-CN" sz="2000" b="1" dirty="0">
                <a:ea typeface="楷体_GB2312" pitchFamily="49" charset="-122"/>
              </a:rPr>
              <a:t>;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   void </a:t>
            </a:r>
            <a:r>
              <a:rPr lang="en-US" altLang="zh-CN" sz="2000" b="1" dirty="0" err="1">
                <a:ea typeface="楷体_GB2312" pitchFamily="49" charset="-122"/>
              </a:rPr>
              <a:t>func</a:t>
            </a:r>
            <a:r>
              <a:rPr lang="en-US" altLang="zh-CN" sz="2000" b="1" dirty="0">
                <a:ea typeface="楷体_GB2312" pitchFamily="49" charset="-122"/>
              </a:rPr>
              <a:t> ( ); 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函数说明</a:t>
            </a:r>
          </a:p>
          <a:p>
            <a:pPr marL="457200" indent="-457200"/>
            <a:r>
              <a:rPr lang="zh-CN" altLang="en-US" sz="2000" b="1" dirty="0">
                <a:ea typeface="楷体_GB2312" pitchFamily="49" charset="-122"/>
              </a:rPr>
              <a:t>   </a:t>
            </a:r>
            <a:r>
              <a:rPr lang="en-US" altLang="zh-CN" sz="2000" b="1" dirty="0">
                <a:ea typeface="楷体_GB2312" pitchFamily="49" charset="-122"/>
              </a:rPr>
              <a:t>for (</a:t>
            </a:r>
            <a:r>
              <a:rPr lang="en-US" altLang="zh-CN" sz="2000" b="1" dirty="0" err="1">
                <a:ea typeface="楷体_GB2312" pitchFamily="49" charset="-122"/>
              </a:rPr>
              <a:t>i</a:t>
            </a:r>
            <a:r>
              <a:rPr lang="en-US" altLang="zh-CN" sz="2000" b="1" dirty="0">
                <a:ea typeface="楷体_GB2312" pitchFamily="49" charset="-122"/>
              </a:rPr>
              <a:t> = 1; </a:t>
            </a:r>
            <a:r>
              <a:rPr lang="en-US" altLang="zh-CN" sz="2000" b="1" dirty="0" err="1">
                <a:ea typeface="楷体_GB2312" pitchFamily="49" charset="-122"/>
              </a:rPr>
              <a:t>i</a:t>
            </a:r>
            <a:r>
              <a:rPr lang="en-US" altLang="zh-CN" sz="2000" b="1" dirty="0">
                <a:ea typeface="楷体_GB2312" pitchFamily="49" charset="-122"/>
              </a:rPr>
              <a:t> &lt;= 5; </a:t>
            </a:r>
            <a:r>
              <a:rPr lang="en-US" altLang="zh-CN" sz="2000" b="1" dirty="0" err="1">
                <a:ea typeface="楷体_GB2312" pitchFamily="49" charset="-122"/>
              </a:rPr>
              <a:t>i</a:t>
            </a:r>
            <a:r>
              <a:rPr lang="en-US" altLang="zh-CN" sz="2000" b="1" dirty="0">
                <a:ea typeface="楷体_GB2312" pitchFamily="49" charset="-122"/>
              </a:rPr>
              <a:t>++)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      </a:t>
            </a:r>
            <a:r>
              <a:rPr lang="en-US" altLang="zh-CN" sz="2000" b="1" dirty="0" err="1">
                <a:ea typeface="楷体_GB2312" pitchFamily="49" charset="-122"/>
              </a:rPr>
              <a:t>func</a:t>
            </a:r>
            <a:r>
              <a:rPr lang="en-US" altLang="zh-CN" sz="2000" b="1" dirty="0">
                <a:ea typeface="楷体_GB2312" pitchFamily="49" charset="-122"/>
              </a:rPr>
              <a:t> ( );     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函数调用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   return 0;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}</a:t>
            </a:r>
          </a:p>
          <a:p>
            <a:pPr marL="457200" indent="-457200"/>
            <a:endParaRPr lang="en-US" altLang="zh-CN" sz="2000" b="1" dirty="0">
              <a:ea typeface="楷体_GB2312" pitchFamily="49" charset="-122"/>
            </a:endParaRP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void </a:t>
            </a:r>
            <a:r>
              <a:rPr lang="en-US" altLang="zh-CN" sz="2000" b="1" dirty="0" err="1">
                <a:ea typeface="楷体_GB2312" pitchFamily="49" charset="-122"/>
              </a:rPr>
              <a:t>func</a:t>
            </a:r>
            <a:r>
              <a:rPr lang="en-US" altLang="zh-CN" sz="2000" b="1" dirty="0">
                <a:ea typeface="楷体_GB2312" pitchFamily="49" charset="-122"/>
              </a:rPr>
              <a:t> ( )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函数定义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{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   </a:t>
            </a:r>
            <a:r>
              <a:rPr lang="en-US" altLang="zh-CN" sz="2000" b="1" dirty="0">
                <a:solidFill>
                  <a:srgbClr val="FF0000"/>
                </a:solidFill>
                <a:ea typeface="楷体_GB2312" pitchFamily="49" charset="-122"/>
              </a:rPr>
              <a:t>static </a:t>
            </a:r>
            <a:r>
              <a:rPr lang="en-US" altLang="zh-CN" sz="2000" b="1" dirty="0" err="1">
                <a:solidFill>
                  <a:srgbClr val="FF0000"/>
                </a:solidFill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rgbClr val="FF0000"/>
                </a:solidFill>
                <a:ea typeface="楷体_GB2312" pitchFamily="49" charset="-122"/>
              </a:rPr>
              <a:t> j = 0;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   ++j;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   </a:t>
            </a:r>
            <a:r>
              <a:rPr lang="en-US" altLang="zh-CN" sz="2000" b="1" dirty="0" err="1">
                <a:ea typeface="楷体_GB2312" pitchFamily="49" charset="-122"/>
              </a:rPr>
              <a:t>printf</a:t>
            </a:r>
            <a:r>
              <a:rPr lang="en-US" altLang="zh-CN" sz="2000" b="1" dirty="0">
                <a:ea typeface="楷体_GB2312" pitchFamily="49" charset="-122"/>
              </a:rPr>
              <a:t> ("%d ", j);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}</a:t>
            </a:r>
          </a:p>
        </p:txBody>
      </p:sp>
      <p:sp>
        <p:nvSpPr>
          <p:cNvPr id="1091608" name="Rectangle 24"/>
          <p:cNvSpPr>
            <a:spLocks noChangeArrowheads="1"/>
          </p:cNvSpPr>
          <p:nvPr/>
        </p:nvSpPr>
        <p:spPr bwMode="auto">
          <a:xfrm>
            <a:off x="6945438" y="5180934"/>
            <a:ext cx="1584325" cy="360363"/>
          </a:xfrm>
          <a:prstGeom prst="rect">
            <a:avLst/>
          </a:prstGeom>
          <a:noFill/>
          <a:ln w="28575">
            <a:solidFill>
              <a:srgbClr val="00206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91609" name="AutoShape 25"/>
          <p:cNvSpPr>
            <a:spLocks/>
          </p:cNvSpPr>
          <p:nvPr/>
        </p:nvSpPr>
        <p:spPr bwMode="auto">
          <a:xfrm>
            <a:off x="9059988" y="5021940"/>
            <a:ext cx="1368425" cy="433387"/>
          </a:xfrm>
          <a:prstGeom prst="borderCallout2">
            <a:avLst>
              <a:gd name="adj1" fmla="val 26375"/>
              <a:gd name="adj2" fmla="val -5569"/>
              <a:gd name="adj3" fmla="val 26375"/>
              <a:gd name="adj4" fmla="val -20069"/>
              <a:gd name="adj5" fmla="val 77657"/>
              <a:gd name="adj6" fmla="val -38398"/>
            </a:avLst>
          </a:prstGeom>
          <a:gradFill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1905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r>
              <a:rPr lang="zh-CN" altLang="en-US" sz="2000" b="1">
                <a:solidFill>
                  <a:srgbClr val="CC0000"/>
                </a:solidFill>
                <a:latin typeface="+mn-lt"/>
                <a:ea typeface="楷体" pitchFamily="49" charset="-122"/>
              </a:rPr>
              <a:t>静态变量</a:t>
            </a:r>
            <a:endParaRPr lang="zh-CN" altLang="en-US" sz="2000" b="1">
              <a:solidFill>
                <a:schemeClr val="accent2"/>
              </a:solidFill>
              <a:latin typeface="+mn-lt"/>
              <a:ea typeface="楷体" pitchFamily="49" charset="-122"/>
            </a:endParaRPr>
          </a:p>
        </p:txBody>
      </p:sp>
      <p:sp>
        <p:nvSpPr>
          <p:cNvPr id="1091611" name="Rectangle 27"/>
          <p:cNvSpPr>
            <a:spLocks noChangeArrowheads="1"/>
          </p:cNvSpPr>
          <p:nvPr/>
        </p:nvSpPr>
        <p:spPr bwMode="auto">
          <a:xfrm>
            <a:off x="9170577" y="5829328"/>
            <a:ext cx="1871662" cy="800100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anchor="ctr">
            <a:spAutoFit/>
          </a:bodyPr>
          <a:lstStyle/>
          <a:p>
            <a:r>
              <a:rPr lang="zh-CN" altLang="en-US" sz="2000" b="1" dirty="0">
                <a:solidFill>
                  <a:srgbClr val="C01920"/>
                </a:solidFill>
                <a:latin typeface="隶书" pitchFamily="49" charset="-122"/>
                <a:ea typeface="隶书" pitchFamily="49" charset="-122"/>
              </a:rPr>
              <a:t>运行结果：</a:t>
            </a:r>
          </a:p>
          <a:p>
            <a:r>
              <a:rPr lang="en-US" altLang="zh-CN" b="1" dirty="0">
                <a:solidFill>
                  <a:srgbClr val="002060"/>
                </a:solidFill>
              </a:rPr>
              <a:t>1 2 3 4 5</a:t>
            </a:r>
            <a:r>
              <a:rPr lang="en-US" altLang="zh-CN" dirty="0">
                <a:solidFill>
                  <a:srgbClr val="002060"/>
                </a:solidFill>
              </a:rPr>
              <a:t> </a:t>
            </a:r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D58CF5D7-A131-48C6-9F13-AA9F2B7B49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2574" y="1484784"/>
            <a:ext cx="49685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静态局部变量与自动变量之比较</a:t>
            </a:r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1B89F6F4-6EA2-4286-B918-774346A414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8.5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变量的存储类型 </a:t>
            </a: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5F9E57F2-6F4F-42C0-B8B5-CA90D2D0F7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849" y="919389"/>
            <a:ext cx="482441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r>
              <a:rPr lang="en-US" altLang="zh-CN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3</a:t>
            </a:r>
            <a:r>
              <a:rPr lang="zh-CN" altLang="en-US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、静态变量（</a:t>
            </a:r>
            <a:r>
              <a:rPr lang="en-US" altLang="zh-CN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static</a:t>
            </a:r>
            <a:r>
              <a:rPr lang="zh-CN" altLang="en-US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型变量）</a:t>
            </a:r>
          </a:p>
        </p:txBody>
      </p:sp>
      <p:sp>
        <p:nvSpPr>
          <p:cNvPr id="1091604" name="Rectangle 20" descr="信纸"/>
          <p:cNvSpPr>
            <a:spLocks noChangeArrowheads="1"/>
          </p:cNvSpPr>
          <p:nvPr/>
        </p:nvSpPr>
        <p:spPr bwMode="auto">
          <a:xfrm>
            <a:off x="1415480" y="1508586"/>
            <a:ext cx="4608884" cy="5016758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chemeClr val="accent1">
                <a:lumMod val="50000"/>
              </a:schemeClr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#include &lt;</a:t>
            </a:r>
            <a:r>
              <a:rPr lang="en-US" altLang="zh-CN" sz="2000" b="1" dirty="0" err="1">
                <a:ea typeface="楷体_GB2312" pitchFamily="49" charset="-122"/>
              </a:rPr>
              <a:t>stdio.h</a:t>
            </a:r>
            <a:r>
              <a:rPr lang="en-US" altLang="zh-CN" sz="2000" b="1" dirty="0">
                <a:ea typeface="楷体_GB2312" pitchFamily="49" charset="-122"/>
              </a:rPr>
              <a:t>&gt;</a:t>
            </a:r>
          </a:p>
          <a:p>
            <a:pPr marL="457200" indent="-457200"/>
            <a:r>
              <a:rPr lang="en-US" altLang="zh-CN" sz="2000" b="1" dirty="0" err="1">
                <a:solidFill>
                  <a:srgbClr val="CC0000"/>
                </a:solidFill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 main ( )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{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   </a:t>
            </a:r>
            <a:r>
              <a:rPr lang="en-US" altLang="zh-CN" sz="2000" b="1" dirty="0" err="1">
                <a:ea typeface="楷体_GB2312" pitchFamily="49" charset="-122"/>
              </a:rPr>
              <a:t>int</a:t>
            </a:r>
            <a:r>
              <a:rPr lang="en-US" altLang="zh-CN" sz="2000" b="1" dirty="0">
                <a:ea typeface="楷体_GB2312" pitchFamily="49" charset="-122"/>
              </a:rPr>
              <a:t> </a:t>
            </a:r>
            <a:r>
              <a:rPr lang="en-US" altLang="zh-CN" sz="2000" b="1" dirty="0" err="1">
                <a:ea typeface="楷体_GB2312" pitchFamily="49" charset="-122"/>
              </a:rPr>
              <a:t>i</a:t>
            </a:r>
            <a:r>
              <a:rPr lang="en-US" altLang="zh-CN" sz="2000" b="1" dirty="0">
                <a:ea typeface="楷体_GB2312" pitchFamily="49" charset="-122"/>
              </a:rPr>
              <a:t>;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   void </a:t>
            </a:r>
            <a:r>
              <a:rPr lang="en-US" altLang="zh-CN" sz="2000" b="1" dirty="0" err="1">
                <a:ea typeface="楷体_GB2312" pitchFamily="49" charset="-122"/>
              </a:rPr>
              <a:t>func</a:t>
            </a:r>
            <a:r>
              <a:rPr lang="en-US" altLang="zh-CN" sz="2000" b="1" dirty="0">
                <a:ea typeface="楷体_GB2312" pitchFamily="49" charset="-122"/>
              </a:rPr>
              <a:t> ( );  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函数说明</a:t>
            </a:r>
          </a:p>
          <a:p>
            <a:pPr marL="457200" indent="-457200"/>
            <a:r>
              <a:rPr lang="zh-CN" altLang="en-US" sz="2000" b="1" dirty="0">
                <a:ea typeface="楷体_GB2312" pitchFamily="49" charset="-122"/>
              </a:rPr>
              <a:t>   </a:t>
            </a:r>
            <a:r>
              <a:rPr lang="en-US" altLang="zh-CN" sz="2000" b="1" dirty="0">
                <a:ea typeface="楷体_GB2312" pitchFamily="49" charset="-122"/>
              </a:rPr>
              <a:t>for (</a:t>
            </a:r>
            <a:r>
              <a:rPr lang="en-US" altLang="zh-CN" sz="2000" b="1" dirty="0" err="1">
                <a:ea typeface="楷体_GB2312" pitchFamily="49" charset="-122"/>
              </a:rPr>
              <a:t>i</a:t>
            </a:r>
            <a:r>
              <a:rPr lang="en-US" altLang="zh-CN" sz="2000" b="1" dirty="0">
                <a:ea typeface="楷体_GB2312" pitchFamily="49" charset="-122"/>
              </a:rPr>
              <a:t> = 1; </a:t>
            </a:r>
            <a:r>
              <a:rPr lang="en-US" altLang="zh-CN" sz="2000" b="1" dirty="0" err="1">
                <a:ea typeface="楷体_GB2312" pitchFamily="49" charset="-122"/>
              </a:rPr>
              <a:t>i</a:t>
            </a:r>
            <a:r>
              <a:rPr lang="en-US" altLang="zh-CN" sz="2000" b="1" dirty="0">
                <a:ea typeface="楷体_GB2312" pitchFamily="49" charset="-122"/>
              </a:rPr>
              <a:t> &lt;= 5; </a:t>
            </a:r>
            <a:r>
              <a:rPr lang="en-US" altLang="zh-CN" sz="2000" b="1" dirty="0" err="1">
                <a:ea typeface="楷体_GB2312" pitchFamily="49" charset="-122"/>
              </a:rPr>
              <a:t>i</a:t>
            </a:r>
            <a:r>
              <a:rPr lang="en-US" altLang="zh-CN" sz="2000" b="1" dirty="0">
                <a:ea typeface="楷体_GB2312" pitchFamily="49" charset="-122"/>
              </a:rPr>
              <a:t>++)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      </a:t>
            </a:r>
            <a:r>
              <a:rPr lang="en-US" altLang="zh-CN" sz="2000" b="1" dirty="0" err="1">
                <a:ea typeface="楷体_GB2312" pitchFamily="49" charset="-122"/>
              </a:rPr>
              <a:t>func</a:t>
            </a:r>
            <a:r>
              <a:rPr lang="en-US" altLang="zh-CN" sz="2000" b="1" dirty="0">
                <a:ea typeface="楷体_GB2312" pitchFamily="49" charset="-122"/>
              </a:rPr>
              <a:t> ( );      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函数调用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   return 0;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}</a:t>
            </a:r>
          </a:p>
          <a:p>
            <a:pPr marL="457200" indent="-457200"/>
            <a:endParaRPr lang="en-US" altLang="zh-CN" sz="2000" b="1" dirty="0">
              <a:ea typeface="楷体_GB2312" pitchFamily="49" charset="-122"/>
            </a:endParaRP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void </a:t>
            </a:r>
            <a:r>
              <a:rPr lang="en-US" altLang="zh-CN" sz="2000" b="1" dirty="0" err="1">
                <a:ea typeface="楷体_GB2312" pitchFamily="49" charset="-122"/>
              </a:rPr>
              <a:t>func</a:t>
            </a:r>
            <a:r>
              <a:rPr lang="en-US" altLang="zh-CN" sz="2000" b="1" dirty="0">
                <a:ea typeface="楷体_GB2312" pitchFamily="49" charset="-122"/>
              </a:rPr>
              <a:t> ( )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函数定义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{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   </a:t>
            </a:r>
            <a:r>
              <a:rPr lang="en-US" altLang="zh-CN" sz="2000" b="1" dirty="0">
                <a:solidFill>
                  <a:srgbClr val="FF0000"/>
                </a:solidFill>
                <a:ea typeface="楷体_GB2312" pitchFamily="49" charset="-122"/>
              </a:rPr>
              <a:t>auto </a:t>
            </a:r>
            <a:r>
              <a:rPr lang="en-US" altLang="zh-CN" sz="2000" b="1" dirty="0" err="1">
                <a:solidFill>
                  <a:srgbClr val="FF0000"/>
                </a:solidFill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rgbClr val="FF0000"/>
                </a:solidFill>
                <a:ea typeface="楷体_GB2312" pitchFamily="49" charset="-122"/>
              </a:rPr>
              <a:t> j = 0;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   ++j;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   </a:t>
            </a:r>
            <a:r>
              <a:rPr lang="en-US" altLang="zh-CN" sz="2000" b="1" dirty="0" err="1">
                <a:ea typeface="楷体_GB2312" pitchFamily="49" charset="-122"/>
              </a:rPr>
              <a:t>printf</a:t>
            </a:r>
            <a:r>
              <a:rPr lang="en-US" altLang="zh-CN" sz="2000" b="1" dirty="0">
                <a:ea typeface="楷体_GB2312" pitchFamily="49" charset="-122"/>
              </a:rPr>
              <a:t> ("%d ", j);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}</a:t>
            </a:r>
          </a:p>
        </p:txBody>
      </p:sp>
      <p:sp>
        <p:nvSpPr>
          <p:cNvPr id="1091606" name="Rectangle 22"/>
          <p:cNvSpPr>
            <a:spLocks noChangeArrowheads="1"/>
          </p:cNvSpPr>
          <p:nvPr/>
        </p:nvSpPr>
        <p:spPr bwMode="auto">
          <a:xfrm>
            <a:off x="1692920" y="5216846"/>
            <a:ext cx="1512888" cy="360362"/>
          </a:xfrm>
          <a:prstGeom prst="rect">
            <a:avLst/>
          </a:prstGeom>
          <a:noFill/>
          <a:ln w="28575">
            <a:solidFill>
              <a:srgbClr val="00206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91607" name="AutoShape 23"/>
          <p:cNvSpPr>
            <a:spLocks/>
          </p:cNvSpPr>
          <p:nvPr/>
        </p:nvSpPr>
        <p:spPr bwMode="auto">
          <a:xfrm>
            <a:off x="3864621" y="5008883"/>
            <a:ext cx="1368425" cy="433388"/>
          </a:xfrm>
          <a:prstGeom prst="borderCallout2">
            <a:avLst>
              <a:gd name="adj1" fmla="val 26375"/>
              <a:gd name="adj2" fmla="val -5569"/>
              <a:gd name="adj3" fmla="val 26375"/>
              <a:gd name="adj4" fmla="val -24593"/>
              <a:gd name="adj5" fmla="val 93773"/>
              <a:gd name="adj6" fmla="val -48491"/>
            </a:avLst>
          </a:prstGeom>
          <a:gradFill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1905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r>
              <a:rPr lang="zh-CN" altLang="en-US" sz="2000" b="1">
                <a:solidFill>
                  <a:srgbClr val="CC0000"/>
                </a:solidFill>
                <a:latin typeface="+mn-lt"/>
                <a:ea typeface="楷体" pitchFamily="49" charset="-122"/>
              </a:rPr>
              <a:t>自动变量</a:t>
            </a:r>
            <a:endParaRPr lang="zh-CN" altLang="en-US" sz="2000" b="1">
              <a:solidFill>
                <a:schemeClr val="accent2"/>
              </a:solidFill>
              <a:latin typeface="+mn-lt"/>
              <a:ea typeface="楷体" pitchFamily="49" charset="-122"/>
            </a:endParaRPr>
          </a:p>
        </p:txBody>
      </p:sp>
      <p:sp>
        <p:nvSpPr>
          <p:cNvPr id="1091610" name="Rectangle 26"/>
          <p:cNvSpPr>
            <a:spLocks noChangeArrowheads="1"/>
          </p:cNvSpPr>
          <p:nvPr/>
        </p:nvSpPr>
        <p:spPr bwMode="auto">
          <a:xfrm>
            <a:off x="3936306" y="5869260"/>
            <a:ext cx="1871662" cy="800100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anchor="ctr">
            <a:spAutoFit/>
          </a:bodyPr>
          <a:lstStyle/>
          <a:p>
            <a:r>
              <a:rPr lang="zh-CN" altLang="en-US" sz="2000" b="1" dirty="0">
                <a:solidFill>
                  <a:srgbClr val="C01920"/>
                </a:solidFill>
                <a:latin typeface="隶书" pitchFamily="49" charset="-122"/>
                <a:ea typeface="隶书" pitchFamily="49" charset="-122"/>
              </a:rPr>
              <a:t>运行结果：</a:t>
            </a:r>
          </a:p>
          <a:p>
            <a:r>
              <a:rPr lang="en-US" altLang="zh-CN" b="1" dirty="0">
                <a:solidFill>
                  <a:srgbClr val="002060"/>
                </a:solidFill>
              </a:rPr>
              <a:t>1 1 1 1 1</a:t>
            </a:r>
            <a:r>
              <a:rPr lang="en-US" altLang="zh-CN" dirty="0">
                <a:solidFill>
                  <a:srgbClr val="002060"/>
                </a:solidFill>
              </a:rPr>
              <a:t> 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5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915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915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5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915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915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10916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10916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1" dur="500"/>
                                        <p:tgtEl>
                                          <p:spTgt spid="10916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5" dur="500"/>
                                        <p:tgtEl>
                                          <p:spTgt spid="10916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0" dur="500"/>
                                        <p:tgtEl>
                                          <p:spTgt spid="10916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4" dur="500"/>
                                        <p:tgtEl>
                                          <p:spTgt spid="10916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9" dur="500"/>
                                        <p:tgtEl>
                                          <p:spTgt spid="10916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4" dur="500"/>
                                        <p:tgtEl>
                                          <p:spTgt spid="10916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1605" grpId="0" animBg="1"/>
      <p:bldP spid="1091608" grpId="0" animBg="1"/>
      <p:bldP spid="1091609" grpId="0" animBg="1"/>
      <p:bldP spid="1091611" grpId="0" animBg="1"/>
      <p:bldP spid="15" grpId="0"/>
      <p:bldP spid="17" grpId="0"/>
      <p:bldP spid="1091604" grpId="0" animBg="1"/>
      <p:bldP spid="1091606" grpId="0" animBg="1"/>
      <p:bldP spid="1091607" grpId="0" animBg="1"/>
      <p:bldP spid="1091610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638" name="Rectangle 6"/>
          <p:cNvSpPr>
            <a:spLocks noChangeArrowheads="1"/>
          </p:cNvSpPr>
          <p:nvPr/>
        </p:nvSpPr>
        <p:spPr bwMode="auto">
          <a:xfrm>
            <a:off x="832937" y="1918901"/>
            <a:ext cx="10526126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buClr>
                <a:srgbClr val="CC0000"/>
              </a:buClr>
              <a:buFont typeface="Wingdings" pitchFamily="2" charset="2"/>
              <a:buNone/>
            </a:pPr>
            <a:r>
              <a:rPr lang="en-US" altLang="zh-CN" b="1" dirty="0">
                <a:latin typeface="+mn-lt"/>
                <a:ea typeface="楷体" pitchFamily="49" charset="-122"/>
              </a:rPr>
              <a:t>         </a:t>
            </a:r>
            <a:r>
              <a:rPr lang="zh-CN" altLang="en-US" b="1" dirty="0">
                <a:latin typeface="+mn-lt"/>
                <a:ea typeface="楷体" pitchFamily="49" charset="-122"/>
              </a:rPr>
              <a:t>全局变量</a:t>
            </a:r>
            <a:r>
              <a:rPr lang="en-US" altLang="zh-CN" b="1" dirty="0">
                <a:latin typeface="+mn-lt"/>
                <a:ea typeface="楷体" pitchFamily="49" charset="-122"/>
              </a:rPr>
              <a:t>(</a:t>
            </a:r>
            <a:r>
              <a:rPr lang="zh-CN" altLang="en-US" b="1" dirty="0">
                <a:latin typeface="+mn-lt"/>
                <a:ea typeface="楷体" pitchFamily="49" charset="-122"/>
              </a:rPr>
              <a:t>外部变量</a:t>
            </a:r>
            <a:r>
              <a:rPr lang="en-US" altLang="zh-CN" b="1" dirty="0">
                <a:latin typeface="+mn-lt"/>
                <a:ea typeface="楷体" pitchFamily="49" charset="-122"/>
              </a:rPr>
              <a:t>)</a:t>
            </a:r>
            <a:r>
              <a:rPr lang="zh-CN" altLang="en-US" b="1" dirty="0">
                <a:latin typeface="+mn-lt"/>
                <a:ea typeface="楷体" pitchFamily="49" charset="-122"/>
              </a:rPr>
              <a:t>的说明之前再冠以</a:t>
            </a:r>
            <a:r>
              <a:rPr lang="en-US" altLang="zh-CN" b="1" dirty="0">
                <a:solidFill>
                  <a:srgbClr val="CC0000"/>
                </a:solidFill>
                <a:latin typeface="+mn-lt"/>
                <a:ea typeface="楷体" pitchFamily="49" charset="-122"/>
              </a:rPr>
              <a:t>static</a:t>
            </a:r>
            <a:r>
              <a:rPr lang="zh-CN" altLang="en-US" b="1" dirty="0">
                <a:latin typeface="+mn-lt"/>
                <a:ea typeface="楷体" pitchFamily="49" charset="-122"/>
              </a:rPr>
              <a:t>就构成了</a:t>
            </a:r>
            <a:r>
              <a:rPr lang="zh-CN" altLang="en-US" b="1" dirty="0">
                <a:solidFill>
                  <a:srgbClr val="CC0000"/>
                </a:solidFill>
                <a:latin typeface="+mn-lt"/>
                <a:ea typeface="楷体" pitchFamily="49" charset="-122"/>
              </a:rPr>
              <a:t>静态全局变量</a:t>
            </a:r>
            <a:r>
              <a:rPr lang="zh-CN" altLang="en-US" b="1" dirty="0">
                <a:latin typeface="+mn-lt"/>
                <a:ea typeface="楷体" pitchFamily="49" charset="-122"/>
              </a:rPr>
              <a:t>。</a:t>
            </a:r>
            <a:endParaRPr lang="en-US" altLang="zh-CN" b="1" dirty="0">
              <a:latin typeface="+mn-lt"/>
              <a:ea typeface="楷体" pitchFamily="49" charset="-122"/>
            </a:endParaRPr>
          </a:p>
          <a:p>
            <a:pPr>
              <a:buClr>
                <a:srgbClr val="CC0000"/>
              </a:buClr>
              <a:buFont typeface="Wingdings" pitchFamily="2" charset="2"/>
              <a:buNone/>
            </a:pPr>
            <a:endParaRPr lang="zh-CN" altLang="en-US" b="1" dirty="0">
              <a:latin typeface="+mn-lt"/>
              <a:ea typeface="楷体" pitchFamily="49" charset="-122"/>
            </a:endParaRPr>
          </a:p>
          <a:p>
            <a:pPr>
              <a:buClr>
                <a:srgbClr val="CC0000"/>
              </a:buClr>
              <a:buFont typeface="Wingdings" pitchFamily="2" charset="2"/>
              <a:buNone/>
            </a:pPr>
            <a:r>
              <a:rPr lang="zh-CN" altLang="en-US" b="1" dirty="0">
                <a:latin typeface="+mn-lt"/>
                <a:ea typeface="楷体" pitchFamily="49" charset="-122"/>
              </a:rPr>
              <a:t>         全局变量改变为静态变量后是改变了它的作用域，限制了它的使用范围。当一个源程序由多个源文件组成时，非静态的全局变量可通过外部变量说明使其在整个源程序中都有效。而</a:t>
            </a:r>
            <a:r>
              <a:rPr lang="zh-CN" altLang="en-US" b="1" dirty="0">
                <a:solidFill>
                  <a:srgbClr val="CC0000"/>
                </a:solidFill>
                <a:latin typeface="+mn-lt"/>
                <a:ea typeface="楷体" pitchFamily="49" charset="-122"/>
              </a:rPr>
              <a:t>静态全局变量只在定义该变量的源文件内有效</a:t>
            </a:r>
            <a:r>
              <a:rPr lang="zh-CN" altLang="en-US" b="1" dirty="0">
                <a:latin typeface="+mn-lt"/>
                <a:ea typeface="楷体" pitchFamily="49" charset="-122"/>
              </a:rPr>
              <a:t>，在同一源程序的其它源文件中不能通过外部变量说明来使用它。</a:t>
            </a:r>
            <a:r>
              <a:rPr lang="zh-CN" altLang="en-US" dirty="0"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093647" name="Rectangle 15" descr="信纸"/>
          <p:cNvSpPr>
            <a:spLocks noChangeArrowheads="1"/>
          </p:cNvSpPr>
          <p:nvPr/>
        </p:nvSpPr>
        <p:spPr bwMode="auto">
          <a:xfrm>
            <a:off x="1775968" y="3093025"/>
            <a:ext cx="4032000" cy="3051175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marL="457200" indent="-457200" algn="ctr"/>
            <a:r>
              <a:rPr lang="en-US" altLang="zh-CN" b="1" u="sng" dirty="0">
                <a:solidFill>
                  <a:srgbClr val="C01920"/>
                </a:solidFill>
                <a:latin typeface="+mn-lt"/>
                <a:ea typeface="楷体" pitchFamily="49" charset="-122"/>
              </a:rPr>
              <a:t>prg1.cpp</a:t>
            </a: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  </a:t>
            </a:r>
          </a:p>
          <a:p>
            <a:pPr marL="457200" indent="-457200" algn="ctr"/>
            <a:r>
              <a:rPr lang="en-US" altLang="zh-CN" b="1" dirty="0">
                <a:solidFill>
                  <a:srgbClr val="CC0099"/>
                </a:solidFill>
                <a:latin typeface="+mn-lt"/>
                <a:ea typeface="楷体" pitchFamily="49" charset="-122"/>
              </a:rPr>
              <a:t> </a:t>
            </a:r>
            <a:r>
              <a:rPr lang="en-US" altLang="zh-CN" b="1" dirty="0">
                <a:latin typeface="+mn-lt"/>
                <a:ea typeface="楷体" pitchFamily="49" charset="-122"/>
              </a:rPr>
              <a:t>                         </a:t>
            </a:r>
          </a:p>
          <a:p>
            <a:pPr marL="457200" indent="-457200"/>
            <a:r>
              <a:rPr lang="en-US" altLang="zh-CN" b="1" dirty="0" err="1">
                <a:latin typeface="+mn-lt"/>
                <a:ea typeface="楷体" pitchFamily="49" charset="-122"/>
              </a:rPr>
              <a:t>int</a:t>
            </a:r>
            <a:r>
              <a:rPr lang="en-US" altLang="zh-CN" b="1" dirty="0">
                <a:latin typeface="+mn-lt"/>
                <a:ea typeface="楷体" pitchFamily="49" charset="-122"/>
              </a:rPr>
              <a:t> a, b;      </a:t>
            </a:r>
          </a:p>
          <a:p>
            <a:pPr marL="457200" indent="-457200"/>
            <a:r>
              <a:rPr lang="en-US" altLang="zh-CN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static char </a:t>
            </a:r>
            <a:r>
              <a:rPr lang="en-US" altLang="zh-CN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ch</a:t>
            </a:r>
            <a:r>
              <a:rPr lang="en-US" altLang="zh-CN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; </a:t>
            </a:r>
          </a:p>
          <a:p>
            <a:pPr marL="457200" indent="-457200"/>
            <a:r>
              <a:rPr lang="en-US" altLang="zh-CN" b="1" dirty="0" err="1">
                <a:latin typeface="+mn-lt"/>
                <a:ea typeface="楷体" pitchFamily="49" charset="-122"/>
              </a:rPr>
              <a:t>int</a:t>
            </a:r>
            <a:r>
              <a:rPr lang="en-US" altLang="zh-CN" b="1" dirty="0">
                <a:latin typeface="+mn-lt"/>
                <a:ea typeface="楷体" pitchFamily="49" charset="-122"/>
              </a:rPr>
              <a:t> main ( )</a:t>
            </a:r>
          </a:p>
          <a:p>
            <a:pPr marL="457200" indent="-457200"/>
            <a:r>
              <a:rPr lang="en-US" altLang="zh-CN" b="1" dirty="0">
                <a:latin typeface="+mn-lt"/>
                <a:ea typeface="楷体" pitchFamily="49" charset="-122"/>
              </a:rPr>
              <a:t>{                                  </a:t>
            </a:r>
          </a:p>
          <a:p>
            <a:pPr marL="457200" indent="-457200"/>
            <a:r>
              <a:rPr lang="en-US" altLang="zh-CN" b="1" dirty="0">
                <a:latin typeface="+mn-lt"/>
                <a:ea typeface="楷体" pitchFamily="49" charset="-122"/>
              </a:rPr>
              <a:t>  ……</a:t>
            </a:r>
          </a:p>
          <a:p>
            <a:pPr marL="457200" indent="-457200"/>
            <a:r>
              <a:rPr lang="en-US" altLang="zh-CN" b="1" dirty="0">
                <a:latin typeface="+mn-lt"/>
                <a:ea typeface="楷体" pitchFamily="49" charset="-122"/>
              </a:rPr>
              <a:t>}</a:t>
            </a:r>
            <a:r>
              <a:rPr lang="en-US" altLang="zh-CN" dirty="0"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093648" name="Rectangle 16" descr="信纸"/>
          <p:cNvSpPr>
            <a:spLocks noChangeArrowheads="1"/>
          </p:cNvSpPr>
          <p:nvPr/>
        </p:nvSpPr>
        <p:spPr bwMode="auto">
          <a:xfrm>
            <a:off x="6672138" y="3118316"/>
            <a:ext cx="4032374" cy="3046988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 algn="ctr"/>
            <a:r>
              <a:rPr lang="en-US" altLang="zh-CN" b="1" u="sng" dirty="0">
                <a:solidFill>
                  <a:srgbClr val="C01920"/>
                </a:solidFill>
                <a:latin typeface="+mn-lt"/>
                <a:ea typeface="楷体" pitchFamily="49" charset="-122"/>
              </a:rPr>
              <a:t>prg2.cpp</a:t>
            </a: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  </a:t>
            </a:r>
          </a:p>
          <a:p>
            <a:pPr marL="457200" indent="-457200" algn="ctr"/>
            <a:r>
              <a:rPr lang="en-US" altLang="zh-CN" b="1" dirty="0">
                <a:solidFill>
                  <a:srgbClr val="CC0099"/>
                </a:solidFill>
                <a:latin typeface="+mn-lt"/>
                <a:ea typeface="楷体" pitchFamily="49" charset="-122"/>
              </a:rPr>
              <a:t> </a:t>
            </a:r>
            <a:r>
              <a:rPr lang="en-US" altLang="zh-CN" b="1" dirty="0">
                <a:latin typeface="+mn-lt"/>
                <a:ea typeface="楷体" pitchFamily="49" charset="-122"/>
              </a:rPr>
              <a:t>                         </a:t>
            </a:r>
          </a:p>
          <a:p>
            <a:pPr marL="457200" indent="-457200"/>
            <a:r>
              <a:rPr lang="en-US" altLang="zh-CN" b="1" dirty="0">
                <a:latin typeface="+mn-lt"/>
                <a:ea typeface="楷体" pitchFamily="49" charset="-122"/>
              </a:rPr>
              <a:t>extern int a, b;      </a:t>
            </a:r>
          </a:p>
          <a:p>
            <a:pPr marL="457200" indent="-457200"/>
            <a:r>
              <a:rPr lang="en-US" altLang="zh-CN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extern char </a:t>
            </a:r>
            <a:r>
              <a:rPr lang="en-US" altLang="zh-CN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ch</a:t>
            </a:r>
            <a:r>
              <a:rPr lang="en-US" altLang="zh-CN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; </a:t>
            </a:r>
          </a:p>
          <a:p>
            <a:pPr marL="457200" indent="-457200"/>
            <a:r>
              <a:rPr lang="en-US" altLang="zh-CN" b="1" dirty="0">
                <a:latin typeface="+mn-lt"/>
                <a:ea typeface="楷体" pitchFamily="49" charset="-122"/>
              </a:rPr>
              <a:t>int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func</a:t>
            </a:r>
            <a:r>
              <a:rPr lang="en-US" altLang="zh-CN" b="1" dirty="0">
                <a:latin typeface="+mn-lt"/>
                <a:ea typeface="楷体" pitchFamily="49" charset="-122"/>
              </a:rPr>
              <a:t> (int x, int y )</a:t>
            </a:r>
          </a:p>
          <a:p>
            <a:pPr marL="457200" indent="-457200"/>
            <a:r>
              <a:rPr lang="en-US" altLang="zh-CN" b="1" dirty="0">
                <a:latin typeface="+mn-lt"/>
                <a:ea typeface="楷体" pitchFamily="49" charset="-122"/>
              </a:rPr>
              <a:t>{                                  </a:t>
            </a:r>
          </a:p>
          <a:p>
            <a:pPr marL="457200" indent="-457200"/>
            <a:r>
              <a:rPr lang="en-US" altLang="zh-CN" b="1" dirty="0">
                <a:latin typeface="+mn-lt"/>
                <a:ea typeface="楷体" pitchFamily="49" charset="-122"/>
              </a:rPr>
              <a:t>  ……</a:t>
            </a:r>
          </a:p>
          <a:p>
            <a:pPr marL="457200" indent="-457200"/>
            <a:r>
              <a:rPr lang="en-US" altLang="zh-CN" b="1" dirty="0">
                <a:latin typeface="+mn-lt"/>
                <a:ea typeface="楷体" pitchFamily="49" charset="-122"/>
              </a:rPr>
              <a:t>}</a:t>
            </a:r>
            <a:r>
              <a:rPr lang="en-US" altLang="zh-CN" dirty="0"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093649" name="Rectangle 17"/>
          <p:cNvSpPr>
            <a:spLocks noChangeArrowheads="1"/>
          </p:cNvSpPr>
          <p:nvPr/>
        </p:nvSpPr>
        <p:spPr bwMode="auto">
          <a:xfrm>
            <a:off x="1823594" y="3885188"/>
            <a:ext cx="1512887" cy="357187"/>
          </a:xfrm>
          <a:prstGeom prst="rect">
            <a:avLst/>
          </a:prstGeom>
          <a:noFill/>
          <a:ln w="28575">
            <a:solidFill>
              <a:srgbClr val="C0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93650" name="AutoShape 18"/>
          <p:cNvSpPr>
            <a:spLocks/>
          </p:cNvSpPr>
          <p:nvPr/>
        </p:nvSpPr>
        <p:spPr bwMode="auto">
          <a:xfrm>
            <a:off x="4081019" y="3562432"/>
            <a:ext cx="1368425" cy="720725"/>
          </a:xfrm>
          <a:prstGeom prst="borderCallout2">
            <a:avLst>
              <a:gd name="adj1" fmla="val 15861"/>
              <a:gd name="adj2" fmla="val -5569"/>
              <a:gd name="adj3" fmla="val 15861"/>
              <a:gd name="adj4" fmla="val -37472"/>
              <a:gd name="adj5" fmla="val 55709"/>
              <a:gd name="adj6" fmla="val -53263"/>
            </a:avLst>
          </a:prstGeom>
          <a:gradFill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1905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r>
              <a:rPr lang="zh-CN" altLang="en-US" sz="20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外部</a:t>
            </a:r>
            <a:r>
              <a:rPr lang="en-US" altLang="zh-CN" sz="20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(</a:t>
            </a:r>
            <a:r>
              <a:rPr lang="zh-CN" altLang="en-US" sz="20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全局</a:t>
            </a:r>
            <a:r>
              <a:rPr lang="en-US" altLang="zh-CN" sz="20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)</a:t>
            </a:r>
            <a:r>
              <a:rPr lang="zh-CN" altLang="en-US" sz="20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变量定义</a:t>
            </a:r>
          </a:p>
        </p:txBody>
      </p:sp>
      <p:sp>
        <p:nvSpPr>
          <p:cNvPr id="1093651" name="Rectangle 19"/>
          <p:cNvSpPr>
            <a:spLocks noChangeArrowheads="1"/>
          </p:cNvSpPr>
          <p:nvPr/>
        </p:nvSpPr>
        <p:spPr bwMode="auto">
          <a:xfrm>
            <a:off x="1839469" y="4301113"/>
            <a:ext cx="1881187" cy="357187"/>
          </a:xfrm>
          <a:prstGeom prst="rect">
            <a:avLst/>
          </a:prstGeom>
          <a:noFill/>
          <a:ln w="28575">
            <a:solidFill>
              <a:srgbClr val="C0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93652" name="AutoShape 20"/>
          <p:cNvSpPr>
            <a:spLocks/>
          </p:cNvSpPr>
          <p:nvPr/>
        </p:nvSpPr>
        <p:spPr bwMode="auto">
          <a:xfrm>
            <a:off x="4082606" y="5053588"/>
            <a:ext cx="1368425" cy="720725"/>
          </a:xfrm>
          <a:prstGeom prst="borderCallout2">
            <a:avLst>
              <a:gd name="adj1" fmla="val 15861"/>
              <a:gd name="adj2" fmla="val -5569"/>
              <a:gd name="adj3" fmla="val 15861"/>
              <a:gd name="adj4" fmla="val -19606"/>
              <a:gd name="adj5" fmla="val -54407"/>
              <a:gd name="adj6" fmla="val -37472"/>
            </a:avLst>
          </a:prstGeom>
          <a:gradFill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1905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r>
              <a:rPr lang="zh-CN" altLang="en-US" sz="2000" b="1">
                <a:solidFill>
                  <a:srgbClr val="C00000"/>
                </a:solidFill>
                <a:latin typeface="+mn-lt"/>
                <a:ea typeface="楷体" pitchFamily="49" charset="-122"/>
              </a:rPr>
              <a:t>静态全局变量定义</a:t>
            </a:r>
          </a:p>
        </p:txBody>
      </p:sp>
      <p:sp>
        <p:nvSpPr>
          <p:cNvPr id="1093653" name="Rectangle 21"/>
          <p:cNvSpPr>
            <a:spLocks noChangeArrowheads="1"/>
          </p:cNvSpPr>
          <p:nvPr/>
        </p:nvSpPr>
        <p:spPr bwMode="auto">
          <a:xfrm>
            <a:off x="6745162" y="4297828"/>
            <a:ext cx="2087562" cy="357188"/>
          </a:xfrm>
          <a:prstGeom prst="rect">
            <a:avLst/>
          </a:prstGeom>
          <a:noFill/>
          <a:ln w="28575">
            <a:solidFill>
              <a:srgbClr val="C0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093657" name="Group 25"/>
          <p:cNvGrpSpPr>
            <a:grpSpLocks/>
          </p:cNvGrpSpPr>
          <p:nvPr/>
        </p:nvGrpSpPr>
        <p:grpSpPr bwMode="auto">
          <a:xfrm>
            <a:off x="8832304" y="3573065"/>
            <a:ext cx="1655763" cy="1008063"/>
            <a:chOff x="4422" y="2296"/>
            <a:chExt cx="1043" cy="635"/>
          </a:xfr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grpSpPr>
        <p:sp>
          <p:nvSpPr>
            <p:cNvPr id="1093655" name="AutoShape 23"/>
            <p:cNvSpPr>
              <a:spLocks noChangeArrowheads="1"/>
            </p:cNvSpPr>
            <p:nvPr/>
          </p:nvSpPr>
          <p:spPr bwMode="auto">
            <a:xfrm>
              <a:off x="4558" y="2296"/>
              <a:ext cx="907" cy="499"/>
            </a:xfrm>
            <a:prstGeom prst="irregularSeal1">
              <a:avLst/>
            </a:prstGeom>
            <a:grpFill/>
            <a:ln w="28575">
              <a:solidFill>
                <a:srgbClr val="C0192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/>
              <a:r>
                <a:rPr lang="zh-CN" altLang="en-US" sz="2000" b="1" dirty="0">
                  <a:solidFill>
                    <a:srgbClr val="C00000"/>
                  </a:solidFill>
                  <a:latin typeface="+mn-lt"/>
                  <a:ea typeface="楷体" pitchFamily="49" charset="-122"/>
                </a:rPr>
                <a:t>错误！</a:t>
              </a:r>
            </a:p>
          </p:txBody>
        </p:sp>
        <p:sp>
          <p:nvSpPr>
            <p:cNvPr id="1093656" name="Line 24"/>
            <p:cNvSpPr>
              <a:spLocks noChangeShapeType="1"/>
            </p:cNvSpPr>
            <p:nvPr/>
          </p:nvSpPr>
          <p:spPr bwMode="auto">
            <a:xfrm flipV="1">
              <a:off x="4422" y="2659"/>
              <a:ext cx="363" cy="272"/>
            </a:xfrm>
            <a:prstGeom prst="line">
              <a:avLst/>
            </a:prstGeom>
            <a:grpFill/>
            <a:ln w="19050">
              <a:solidFill>
                <a:srgbClr val="C01920"/>
              </a:solidFill>
              <a:round/>
              <a:headEnd/>
              <a:tailEnd/>
            </a:ln>
            <a:effectLst>
              <a:outerShdw dist="35921" dir="2700000" algn="ctr" rotWithShape="0">
                <a:schemeClr val="bg2">
                  <a:alpha val="50000"/>
                </a:schemeClr>
              </a:outerShdw>
            </a:effectLst>
          </p:spPr>
          <p:txBody>
            <a:bodyPr/>
            <a:lstStyle/>
            <a:p>
              <a:endParaRPr lang="zh-CN" altLang="en-US">
                <a:solidFill>
                  <a:srgbClr val="C00000"/>
                </a:solidFill>
                <a:latin typeface="+mn-lt"/>
                <a:ea typeface="楷体" pitchFamily="49" charset="-122"/>
              </a:endParaRPr>
            </a:p>
          </p:txBody>
        </p:sp>
      </p:grpSp>
      <p:sp>
        <p:nvSpPr>
          <p:cNvPr id="17" name="Text Box 14">
            <a:extLst>
              <a:ext uri="{FF2B5EF4-FFF2-40B4-BE49-F238E27FC236}">
                <a16:creationId xmlns:a16="http://schemas.microsoft.com/office/drawing/2014/main" id="{CEB3983E-B97F-4AF5-8233-5CD4AE46FA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2574" y="1484784"/>
            <a:ext cx="49685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静态全局变量</a:t>
            </a:r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B630BACA-5AF3-42EE-86C0-4C8CE224BD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8.5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变量的存储类型 </a:t>
            </a: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D4AF5914-E2FF-40B6-9B02-9D146CF1D3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849" y="919389"/>
            <a:ext cx="482441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r>
              <a:rPr lang="en-US" altLang="zh-CN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3</a:t>
            </a:r>
            <a:r>
              <a:rPr lang="zh-CN" altLang="en-US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、静态变量（</a:t>
            </a:r>
            <a:r>
              <a:rPr lang="en-US" altLang="zh-CN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static</a:t>
            </a:r>
            <a:r>
              <a:rPr lang="zh-CN" altLang="en-US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型变量）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6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936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936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6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936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936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10936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10936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1" dur="500"/>
                                        <p:tgtEl>
                                          <p:spTgt spid="10936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5" dur="500"/>
                                        <p:tgtEl>
                                          <p:spTgt spid="10936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0" dur="500"/>
                                        <p:tgtEl>
                                          <p:spTgt spid="10936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4" dur="500"/>
                                        <p:tgtEl>
                                          <p:spTgt spid="10936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9" dur="500"/>
                                        <p:tgtEl>
                                          <p:spTgt spid="10936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3" dur="500"/>
                                        <p:tgtEl>
                                          <p:spTgt spid="10936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3647" grpId="0" animBg="1"/>
      <p:bldP spid="1093648" grpId="0" animBg="1"/>
      <p:bldP spid="1093649" grpId="0" animBg="1"/>
      <p:bldP spid="1093650" grpId="0" animBg="1"/>
      <p:bldP spid="1093651" grpId="0" animBg="1"/>
      <p:bldP spid="1093652" grpId="0" animBg="1"/>
      <p:bldP spid="1093653" grpId="0" animBg="1"/>
      <p:bldP spid="17" grpId="0"/>
      <p:bldP spid="19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735" name="Rectangle 7"/>
          <p:cNvSpPr>
            <a:spLocks noChangeArrowheads="1"/>
          </p:cNvSpPr>
          <p:nvPr/>
        </p:nvSpPr>
        <p:spPr bwMode="auto">
          <a:xfrm>
            <a:off x="839788" y="1904977"/>
            <a:ext cx="10723002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buClr>
                <a:srgbClr val="CC0000"/>
              </a:buClr>
              <a:buFont typeface="Wingdings" pitchFamily="2" charset="2"/>
              <a:buNone/>
            </a:pPr>
            <a:r>
              <a:rPr lang="en-US" altLang="zh-CN" b="1" dirty="0">
                <a:latin typeface="+mn-lt"/>
                <a:ea typeface="楷体" pitchFamily="49" charset="-122"/>
              </a:rPr>
              <a:t>        </a:t>
            </a:r>
            <a:r>
              <a:rPr lang="zh-CN" altLang="en-US" b="1" dirty="0">
                <a:latin typeface="+mn-lt"/>
                <a:ea typeface="楷体" pitchFamily="49" charset="-122"/>
              </a:rPr>
              <a:t>这种变量存放在</a:t>
            </a:r>
            <a:r>
              <a:rPr lang="en-US" altLang="zh-CN" b="1" dirty="0">
                <a:latin typeface="+mn-lt"/>
                <a:ea typeface="楷体" pitchFamily="49" charset="-122"/>
              </a:rPr>
              <a:t>CPU</a:t>
            </a:r>
            <a:r>
              <a:rPr lang="zh-CN" altLang="en-US" b="1" dirty="0">
                <a:latin typeface="+mn-lt"/>
                <a:ea typeface="楷体" pitchFamily="49" charset="-122"/>
              </a:rPr>
              <a:t>的寄存器中，使用时，不需要访问内存，而直接从寄存器中读写，这样可提高效率。</a:t>
            </a:r>
            <a:endParaRPr lang="en-US" altLang="zh-CN" b="1" dirty="0">
              <a:latin typeface="+mn-lt"/>
              <a:ea typeface="楷体" pitchFamily="49" charset="-122"/>
            </a:endParaRPr>
          </a:p>
          <a:p>
            <a:pPr>
              <a:buClr>
                <a:srgbClr val="CC0000"/>
              </a:buClr>
              <a:buFont typeface="Wingdings" pitchFamily="2" charset="2"/>
              <a:buNone/>
            </a:pPr>
            <a:endParaRPr lang="zh-CN" altLang="en-US" b="1" dirty="0">
              <a:latin typeface="+mn-lt"/>
              <a:ea typeface="楷体" pitchFamily="49" charset="-122"/>
            </a:endParaRPr>
          </a:p>
          <a:p>
            <a:pPr>
              <a:buClr>
                <a:srgbClr val="CC0000"/>
              </a:buClr>
              <a:buFont typeface="Wingdings" pitchFamily="2" charset="2"/>
              <a:buNone/>
            </a:pPr>
            <a:r>
              <a:rPr lang="zh-CN" altLang="en-US" b="1" dirty="0">
                <a:latin typeface="+mn-lt"/>
                <a:ea typeface="楷体" pitchFamily="49" charset="-122"/>
              </a:rPr>
              <a:t>        寄存器变量的说明符是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register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，属于动态存储类型</a:t>
            </a:r>
            <a:r>
              <a:rPr lang="zh-CN" altLang="en-US" b="1" dirty="0">
                <a:latin typeface="+mn-lt"/>
                <a:ea typeface="楷体" pitchFamily="49" charset="-122"/>
              </a:rPr>
              <a:t>。</a:t>
            </a:r>
            <a:r>
              <a:rPr lang="zh-CN" altLang="en-US" dirty="0"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097739" name="Rectangle 11" descr="信纸"/>
          <p:cNvSpPr>
            <a:spLocks noChangeArrowheads="1"/>
          </p:cNvSpPr>
          <p:nvPr/>
        </p:nvSpPr>
        <p:spPr bwMode="auto">
          <a:xfrm>
            <a:off x="983432" y="2689807"/>
            <a:ext cx="4859337" cy="3046988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lang="en-US" altLang="zh-CN" b="1" dirty="0" err="1">
                <a:solidFill>
                  <a:srgbClr val="CC0000"/>
                </a:solidFill>
              </a:rPr>
              <a:t>int</a:t>
            </a:r>
            <a:r>
              <a:rPr lang="en-US" altLang="zh-CN" b="1" dirty="0">
                <a:solidFill>
                  <a:srgbClr val="CC0000"/>
                </a:solidFill>
              </a:rPr>
              <a:t> main ( )</a:t>
            </a:r>
          </a:p>
          <a:p>
            <a:pPr marL="457200" indent="-457200"/>
            <a:r>
              <a:rPr lang="en-US" altLang="zh-CN" b="1" dirty="0"/>
              <a:t>{</a:t>
            </a:r>
          </a:p>
          <a:p>
            <a:pPr marL="457200" indent="-457200"/>
            <a:r>
              <a:rPr lang="en-US" altLang="zh-CN" b="1" dirty="0"/>
              <a:t>   </a:t>
            </a:r>
            <a:r>
              <a:rPr lang="en-US" altLang="zh-CN" b="1" dirty="0">
                <a:solidFill>
                  <a:srgbClr val="C00000"/>
                </a:solidFill>
              </a:rPr>
              <a:t>register </a:t>
            </a:r>
            <a:r>
              <a:rPr lang="en-US" altLang="zh-CN" b="1" dirty="0" err="1">
                <a:solidFill>
                  <a:srgbClr val="C00000"/>
                </a:solidFill>
              </a:rPr>
              <a:t>i</a:t>
            </a:r>
            <a:r>
              <a:rPr lang="en-US" altLang="zh-CN" b="1" dirty="0">
                <a:solidFill>
                  <a:srgbClr val="C00000"/>
                </a:solidFill>
              </a:rPr>
              <a:t>, s = 0;</a:t>
            </a:r>
          </a:p>
          <a:p>
            <a:pPr marL="457200" indent="-457200"/>
            <a:r>
              <a:rPr lang="en-US" altLang="zh-CN" b="1" dirty="0"/>
              <a:t>   for (</a:t>
            </a:r>
            <a:r>
              <a:rPr lang="en-US" altLang="zh-CN" b="1" dirty="0" err="1"/>
              <a:t>i</a:t>
            </a:r>
            <a:r>
              <a:rPr lang="en-US" altLang="zh-CN" b="1" dirty="0"/>
              <a:t> = 1; </a:t>
            </a:r>
            <a:r>
              <a:rPr lang="en-US" altLang="zh-CN" b="1" dirty="0" err="1"/>
              <a:t>i</a:t>
            </a:r>
            <a:r>
              <a:rPr lang="en-US" altLang="zh-CN" b="1" dirty="0"/>
              <a:t> &lt;= 100; </a:t>
            </a:r>
            <a:r>
              <a:rPr lang="en-US" altLang="zh-CN" b="1" dirty="0" err="1"/>
              <a:t>i</a:t>
            </a:r>
            <a:r>
              <a:rPr lang="en-US" altLang="zh-CN" b="1" dirty="0"/>
              <a:t>++)</a:t>
            </a:r>
          </a:p>
          <a:p>
            <a:pPr marL="457200" indent="-457200"/>
            <a:r>
              <a:rPr lang="en-US" altLang="zh-CN" b="1" dirty="0"/>
              <a:t>      s = s + </a:t>
            </a:r>
            <a:r>
              <a:rPr lang="en-US" altLang="zh-CN" b="1" dirty="0" err="1"/>
              <a:t>i</a:t>
            </a:r>
            <a:r>
              <a:rPr lang="en-US" altLang="zh-CN" b="1" dirty="0"/>
              <a:t>;</a:t>
            </a:r>
          </a:p>
          <a:p>
            <a:pPr marL="457200" indent="-457200"/>
            <a:r>
              <a:rPr lang="en-US" altLang="zh-CN" b="1" dirty="0"/>
              <a:t>   </a:t>
            </a:r>
            <a:r>
              <a:rPr lang="en-US" altLang="zh-CN" b="1" dirty="0" err="1"/>
              <a:t>printf</a:t>
            </a:r>
            <a:r>
              <a:rPr lang="en-US" altLang="zh-CN" b="1" dirty="0"/>
              <a:t> ("s = %d\n", s);</a:t>
            </a:r>
          </a:p>
          <a:p>
            <a:pPr marL="457200" indent="-457200"/>
            <a:r>
              <a:rPr lang="en-US" altLang="zh-CN" b="1" dirty="0"/>
              <a:t>   return 0;</a:t>
            </a:r>
          </a:p>
          <a:p>
            <a:pPr marL="457200" indent="-457200"/>
            <a:r>
              <a:rPr lang="en-US" altLang="zh-CN" b="1" dirty="0"/>
              <a:t>}</a:t>
            </a:r>
          </a:p>
        </p:txBody>
      </p:sp>
      <p:sp>
        <p:nvSpPr>
          <p:cNvPr id="1097740" name="Rectangle 12"/>
          <p:cNvSpPr>
            <a:spLocks noChangeArrowheads="1"/>
          </p:cNvSpPr>
          <p:nvPr/>
        </p:nvSpPr>
        <p:spPr bwMode="auto">
          <a:xfrm>
            <a:off x="4765054" y="5004784"/>
            <a:ext cx="6947570" cy="1569660"/>
          </a:xfrm>
          <a:prstGeom prst="rect">
            <a:avLst/>
          </a:prstGeom>
          <a:gradFill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pPr>
              <a:tabLst>
                <a:tab pos="457200" algn="l"/>
              </a:tabLst>
            </a:pPr>
            <a:r>
              <a:rPr lang="zh-CN" altLang="en-US" b="1" u="sng" dirty="0">
                <a:solidFill>
                  <a:srgbClr val="C00000"/>
                </a:solidFill>
                <a:latin typeface="+mn-lt"/>
                <a:ea typeface="楷体" pitchFamily="49" charset="-122"/>
              </a:rPr>
              <a:t>几点说明：</a:t>
            </a:r>
            <a:endParaRPr lang="zh-CN" altLang="en-US" b="1" dirty="0">
              <a:solidFill>
                <a:srgbClr val="C00000"/>
              </a:solidFill>
              <a:latin typeface="+mn-lt"/>
              <a:ea typeface="楷体" pitchFamily="49" charset="-122"/>
            </a:endParaRPr>
          </a:p>
          <a:p>
            <a:pPr marL="360363" indent="-360363">
              <a:buClr>
                <a:srgbClr val="C01920"/>
              </a:buClr>
              <a:buFont typeface="Wingdings" pitchFamily="2" charset="2"/>
              <a:buChar char="u"/>
              <a:tabLst>
                <a:tab pos="457200" algn="l"/>
              </a:tabLst>
            </a:pPr>
            <a:r>
              <a:rPr lang="zh-CN" altLang="en-US" b="1" dirty="0">
                <a:latin typeface="+mn-lt"/>
                <a:ea typeface="楷体" pitchFamily="49" charset="-122"/>
              </a:rPr>
              <a:t>只有局部自动变量和形式参数才可以定义为寄存器变量。</a:t>
            </a:r>
            <a:endParaRPr lang="en-US" altLang="zh-CN" b="1" dirty="0">
              <a:latin typeface="+mn-lt"/>
              <a:ea typeface="楷体" pitchFamily="49" charset="-122"/>
            </a:endParaRPr>
          </a:p>
          <a:p>
            <a:pPr>
              <a:buClr>
                <a:srgbClr val="C01920"/>
              </a:buClr>
              <a:buFont typeface="Wingdings" pitchFamily="2" charset="2"/>
              <a:buChar char="u"/>
              <a:tabLst>
                <a:tab pos="457200" algn="l"/>
              </a:tabLst>
            </a:pPr>
            <a:r>
              <a:rPr lang="en-US" altLang="zh-CN" b="1" dirty="0">
                <a:latin typeface="+mn-lt"/>
                <a:ea typeface="楷体" pitchFamily="49" charset="-122"/>
              </a:rPr>
              <a:t>  register</a:t>
            </a:r>
            <a:r>
              <a:rPr lang="zh-CN" altLang="en-US" b="1" dirty="0">
                <a:latin typeface="+mn-lt"/>
                <a:ea typeface="楷体" pitchFamily="49" charset="-122"/>
              </a:rPr>
              <a:t>修饰符是过时的修饰。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80050E13-A756-4090-B7CF-5B51E00FA7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8.5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变量的存储类型 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5A92B5B1-D3A0-4EC8-910D-BA3DBAC3FA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849" y="919389"/>
            <a:ext cx="571133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/>
            <a:r>
              <a:rPr lang="en-US" altLang="zh-CN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4</a:t>
            </a:r>
            <a:r>
              <a:rPr lang="zh-CN" altLang="en-US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、寄存器变量（</a:t>
            </a:r>
            <a:r>
              <a:rPr lang="en-US" altLang="zh-CN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register</a:t>
            </a:r>
            <a:r>
              <a:rPr lang="zh-CN" altLang="en-US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型变量）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977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977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977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977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10977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0" dur="500"/>
                                        <p:tgtEl>
                                          <p:spTgt spid="10977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7739" grpId="0" animBg="1"/>
      <p:bldP spid="1097740" grpId="0" animBg="1"/>
      <p:bldP spid="1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807" name="Rectangle 31"/>
          <p:cNvSpPr>
            <a:spLocks noChangeArrowheads="1"/>
          </p:cNvSpPr>
          <p:nvPr/>
        </p:nvSpPr>
        <p:spPr bwMode="auto">
          <a:xfrm>
            <a:off x="1387292" y="1580413"/>
            <a:ext cx="42341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+mn-lt"/>
                <a:ea typeface="楷体" pitchFamily="49" charset="-122"/>
              </a:rPr>
              <a:t>C</a:t>
            </a:r>
            <a:r>
              <a:rPr lang="zh-CN" altLang="zh-CN" b="1" dirty="0">
                <a:latin typeface="+mn-lt"/>
                <a:ea typeface="楷体" pitchFamily="49" charset="-122"/>
              </a:rPr>
              <a:t>规定：</a:t>
            </a:r>
            <a:r>
              <a:rPr lang="zh-CN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函数定义不可嵌套，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       </a:t>
            </a:r>
          </a:p>
        </p:txBody>
      </p:sp>
      <p:sp>
        <p:nvSpPr>
          <p:cNvPr id="1099809" name="Rectangle 33"/>
          <p:cNvSpPr>
            <a:spLocks noChangeArrowheads="1"/>
          </p:cNvSpPr>
          <p:nvPr/>
        </p:nvSpPr>
        <p:spPr bwMode="auto">
          <a:xfrm>
            <a:off x="5375920" y="1556792"/>
            <a:ext cx="29416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zh-CN" b="1" dirty="0">
                <a:latin typeface="+mn-lt"/>
                <a:ea typeface="楷体" pitchFamily="49" charset="-122"/>
              </a:rPr>
              <a:t>但</a:t>
            </a:r>
            <a:r>
              <a:rPr lang="zh-CN" altLang="zh-CN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可以嵌套调用</a:t>
            </a:r>
            <a:r>
              <a:rPr lang="zh-CN" altLang="zh-CN" b="1" dirty="0">
                <a:latin typeface="+mn-lt"/>
                <a:ea typeface="楷体" pitchFamily="49" charset="-122"/>
              </a:rPr>
              <a:t>函数</a:t>
            </a:r>
            <a:endParaRPr lang="zh-CN" altLang="en-US" b="1" dirty="0">
              <a:latin typeface="+mn-lt"/>
              <a:ea typeface="楷体" pitchFamily="49" charset="-122"/>
            </a:endParaRPr>
          </a:p>
        </p:txBody>
      </p:sp>
      <p:grpSp>
        <p:nvGrpSpPr>
          <p:cNvPr id="1099813" name="Group 37"/>
          <p:cNvGrpSpPr>
            <a:grpSpLocks/>
          </p:cNvGrpSpPr>
          <p:nvPr/>
        </p:nvGrpSpPr>
        <p:grpSpPr bwMode="auto">
          <a:xfrm>
            <a:off x="2423492" y="2250777"/>
            <a:ext cx="7200900" cy="4346575"/>
            <a:chOff x="730" y="1362"/>
            <a:chExt cx="4536" cy="2738"/>
          </a:xfrm>
        </p:grpSpPr>
        <p:grpSp>
          <p:nvGrpSpPr>
            <p:cNvPr id="1099811" name="Group 35"/>
            <p:cNvGrpSpPr>
              <a:grpSpLocks/>
            </p:cNvGrpSpPr>
            <p:nvPr/>
          </p:nvGrpSpPr>
          <p:grpSpPr bwMode="auto">
            <a:xfrm>
              <a:off x="730" y="1362"/>
              <a:ext cx="4536" cy="2359"/>
              <a:chOff x="748" y="1389"/>
              <a:chExt cx="4536" cy="2359"/>
            </a:xfrm>
          </p:grpSpPr>
          <p:sp>
            <p:nvSpPr>
              <p:cNvPr id="1099810" name="Rectangle 34"/>
              <p:cNvSpPr>
                <a:spLocks noChangeArrowheads="1"/>
              </p:cNvSpPr>
              <p:nvPr/>
            </p:nvSpPr>
            <p:spPr bwMode="auto">
              <a:xfrm>
                <a:off x="748" y="1389"/>
                <a:ext cx="4536" cy="2359"/>
              </a:xfrm>
              <a:prstGeom prst="rect">
                <a:avLst/>
              </a:prstGeom>
              <a:gradFill rotWithShape="1">
                <a:gsLst>
                  <a:gs pos="0">
                    <a:srgbClr val="CFCFD1"/>
                  </a:gs>
                  <a:gs pos="100000">
                    <a:schemeClr val="bg1"/>
                  </a:gs>
                </a:gsLst>
                <a:lin ang="5400000" scaled="1"/>
              </a:gradFill>
              <a:ln w="38100">
                <a:solidFill>
                  <a:srgbClr val="C01920"/>
                </a:solidFill>
                <a:miter lim="800000"/>
                <a:headEnd/>
                <a:tailEnd/>
              </a:ln>
              <a:effectLst>
                <a:outerShdw blurRad="50800" dist="106680" dir="2700000" algn="tl" rotWithShape="0">
                  <a:prstClr val="black">
                    <a:alpha val="43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14300" prst="hardEdge"/>
              </a:sp3d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099779" name="Group 3"/>
              <p:cNvGrpSpPr>
                <a:grpSpLocks/>
              </p:cNvGrpSpPr>
              <p:nvPr/>
            </p:nvGrpSpPr>
            <p:grpSpPr bwMode="auto">
              <a:xfrm>
                <a:off x="1145" y="1616"/>
                <a:ext cx="3627" cy="1900"/>
                <a:chOff x="1085" y="1528"/>
                <a:chExt cx="3041" cy="1580"/>
              </a:xfrm>
            </p:grpSpPr>
            <p:sp>
              <p:nvSpPr>
                <p:cNvPr id="1099780" name="Text Box 4"/>
                <p:cNvSpPr txBox="1">
                  <a:spLocks noChangeArrowheads="1"/>
                </p:cNvSpPr>
                <p:nvPr/>
              </p:nvSpPr>
              <p:spPr bwMode="auto">
                <a:xfrm>
                  <a:off x="1139" y="1528"/>
                  <a:ext cx="510" cy="20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 eaLnBrk="0" hangingPunct="0"/>
                  <a:r>
                    <a:rPr lang="en-US" altLang="zh-CN" sz="2000" b="1" dirty="0">
                      <a:solidFill>
                        <a:srgbClr val="CC0000"/>
                      </a:solidFill>
                    </a:rPr>
                    <a:t>main( )</a:t>
                  </a:r>
                </a:p>
              </p:txBody>
            </p:sp>
            <p:sp>
              <p:nvSpPr>
                <p:cNvPr id="1099781" name="Text Box 5"/>
                <p:cNvSpPr txBox="1">
                  <a:spLocks noChangeArrowheads="1"/>
                </p:cNvSpPr>
                <p:nvPr/>
              </p:nvSpPr>
              <p:spPr bwMode="auto">
                <a:xfrm>
                  <a:off x="1085" y="2180"/>
                  <a:ext cx="711" cy="21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 eaLnBrk="0" hangingPunct="0"/>
                  <a:r>
                    <a:rPr lang="zh-CN" altLang="zh-CN" sz="2000" b="1" dirty="0">
                      <a:latin typeface="+mn-lt"/>
                      <a:ea typeface="楷体" pitchFamily="49" charset="-122"/>
                    </a:rPr>
                    <a:t>调用函数</a:t>
                  </a:r>
                  <a:r>
                    <a:rPr lang="en-US" altLang="zh-CN" sz="2000" b="1" dirty="0">
                      <a:latin typeface="+mn-lt"/>
                      <a:ea typeface="楷体" pitchFamily="49" charset="-122"/>
                    </a:rPr>
                    <a:t>a</a:t>
                  </a:r>
                </a:p>
              </p:txBody>
            </p:sp>
            <p:sp>
              <p:nvSpPr>
                <p:cNvPr id="1099782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1139" y="2900"/>
                  <a:ext cx="368" cy="20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 eaLnBrk="0" hangingPunct="0"/>
                  <a:r>
                    <a:rPr lang="zh-CN" altLang="zh-CN" sz="2000" b="1">
                      <a:latin typeface="+mn-lt"/>
                      <a:ea typeface="楷体" pitchFamily="49" charset="-122"/>
                    </a:rPr>
                    <a:t>结束</a:t>
                  </a:r>
                  <a:endParaRPr lang="zh-CN" altLang="en-US" sz="2000" b="1">
                    <a:latin typeface="+mn-lt"/>
                    <a:ea typeface="楷体" pitchFamily="49" charset="-122"/>
                  </a:endParaRPr>
                </a:p>
              </p:txBody>
            </p:sp>
            <p:sp>
              <p:nvSpPr>
                <p:cNvPr id="1099783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2483" y="1556"/>
                  <a:ext cx="439" cy="21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 eaLnBrk="0" hangingPunct="0"/>
                  <a:r>
                    <a:rPr lang="en-US" altLang="zh-CN" sz="2000" b="1" dirty="0">
                      <a:solidFill>
                        <a:schemeClr val="accent1">
                          <a:lumMod val="50000"/>
                        </a:schemeClr>
                      </a:solidFill>
                      <a:latin typeface="+mn-lt"/>
                      <a:ea typeface="楷体" pitchFamily="49" charset="-122"/>
                    </a:rPr>
                    <a:t>a</a:t>
                  </a:r>
                  <a:r>
                    <a:rPr lang="zh-CN" altLang="zh-CN" sz="2000" b="1" dirty="0">
                      <a:solidFill>
                        <a:schemeClr val="accent1">
                          <a:lumMod val="50000"/>
                        </a:schemeClr>
                      </a:solidFill>
                      <a:latin typeface="+mn-lt"/>
                      <a:ea typeface="楷体" pitchFamily="49" charset="-122"/>
                    </a:rPr>
                    <a:t>函数</a:t>
                  </a:r>
                  <a:endParaRPr lang="zh-CN" altLang="en-US" sz="2000" b="1" dirty="0">
                    <a:solidFill>
                      <a:schemeClr val="accent1">
                        <a:lumMod val="50000"/>
                      </a:schemeClr>
                    </a:solidFill>
                    <a:latin typeface="+mn-lt"/>
                    <a:ea typeface="楷体" pitchFamily="49" charset="-122"/>
                  </a:endParaRPr>
                </a:p>
              </p:txBody>
            </p:sp>
            <p:sp>
              <p:nvSpPr>
                <p:cNvPr id="1099784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3637" y="1557"/>
                  <a:ext cx="442" cy="20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 eaLnBrk="0" hangingPunct="0"/>
                  <a:r>
                    <a:rPr lang="en-US" altLang="zh-CN" sz="2000" b="1">
                      <a:solidFill>
                        <a:schemeClr val="accent1">
                          <a:lumMod val="50000"/>
                        </a:schemeClr>
                      </a:solidFill>
                      <a:latin typeface="+mn-lt"/>
                      <a:ea typeface="楷体" pitchFamily="49" charset="-122"/>
                    </a:rPr>
                    <a:t>b</a:t>
                  </a:r>
                  <a:r>
                    <a:rPr lang="zh-CN" altLang="zh-CN" sz="2000" b="1">
                      <a:solidFill>
                        <a:schemeClr val="accent1">
                          <a:lumMod val="50000"/>
                        </a:schemeClr>
                      </a:solidFill>
                      <a:latin typeface="+mn-lt"/>
                      <a:ea typeface="楷体" pitchFamily="49" charset="-122"/>
                    </a:rPr>
                    <a:t>函数</a:t>
                  </a:r>
                  <a:endParaRPr lang="zh-CN" altLang="en-US" sz="2000" b="1">
                    <a:solidFill>
                      <a:schemeClr val="accent1">
                        <a:lumMod val="50000"/>
                      </a:schemeClr>
                    </a:solidFill>
                    <a:latin typeface="+mn-lt"/>
                    <a:ea typeface="楷体" pitchFamily="49" charset="-122"/>
                  </a:endParaRPr>
                </a:p>
              </p:txBody>
            </p:sp>
            <p:sp>
              <p:nvSpPr>
                <p:cNvPr id="1099785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2318" y="2229"/>
                  <a:ext cx="712" cy="20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 eaLnBrk="0" hangingPunct="0"/>
                  <a:r>
                    <a:rPr lang="zh-CN" altLang="zh-CN" sz="2000" b="1">
                      <a:latin typeface="+mn-lt"/>
                      <a:ea typeface="楷体" pitchFamily="49" charset="-122"/>
                    </a:rPr>
                    <a:t>调用函数</a:t>
                  </a:r>
                  <a:r>
                    <a:rPr lang="en-US" altLang="zh-CN" sz="2000" b="1">
                      <a:latin typeface="+mn-lt"/>
                      <a:ea typeface="楷体" pitchFamily="49" charset="-122"/>
                    </a:rPr>
                    <a:t>b</a:t>
                  </a:r>
                </a:p>
              </p:txBody>
            </p:sp>
            <p:sp>
              <p:nvSpPr>
                <p:cNvPr id="1099786" name="Line 10"/>
                <p:cNvSpPr>
                  <a:spLocks noChangeShapeType="1"/>
                </p:cNvSpPr>
                <p:nvPr/>
              </p:nvSpPr>
              <p:spPr bwMode="auto">
                <a:xfrm>
                  <a:off x="1344" y="1728"/>
                  <a:ext cx="0" cy="432"/>
                </a:xfrm>
                <a:prstGeom prst="line">
                  <a:avLst/>
                </a:prstGeom>
                <a:noFill/>
                <a:ln w="28575">
                  <a:solidFill>
                    <a:srgbClr val="C00000"/>
                  </a:solidFill>
                  <a:round/>
                  <a:headEnd/>
                  <a:tailEnd type="stealth" w="lg" len="lg"/>
                </a:ln>
                <a:effectLst>
                  <a:outerShdw dist="35921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99787" name="Line 11"/>
                <p:cNvSpPr>
                  <a:spLocks noChangeShapeType="1"/>
                </p:cNvSpPr>
                <p:nvPr/>
              </p:nvSpPr>
              <p:spPr bwMode="auto">
                <a:xfrm>
                  <a:off x="1344" y="2400"/>
                  <a:ext cx="0" cy="480"/>
                </a:xfrm>
                <a:prstGeom prst="line">
                  <a:avLst/>
                </a:prstGeom>
                <a:noFill/>
                <a:ln w="28575">
                  <a:solidFill>
                    <a:srgbClr val="C00000"/>
                  </a:solidFill>
                  <a:round/>
                  <a:headEnd/>
                  <a:tailEnd type="stealth" w="lg" len="lg"/>
                </a:ln>
                <a:effectLst>
                  <a:outerShdw dist="35921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99788" name="Line 12"/>
                <p:cNvSpPr>
                  <a:spLocks noChangeShapeType="1"/>
                </p:cNvSpPr>
                <p:nvPr/>
              </p:nvSpPr>
              <p:spPr bwMode="auto">
                <a:xfrm flipV="1">
                  <a:off x="1872" y="1776"/>
                  <a:ext cx="720" cy="528"/>
                </a:xfrm>
                <a:prstGeom prst="line">
                  <a:avLst/>
                </a:prstGeom>
                <a:noFill/>
                <a:ln w="28575">
                  <a:solidFill>
                    <a:srgbClr val="C00000"/>
                  </a:solidFill>
                  <a:round/>
                  <a:headEnd/>
                  <a:tailEnd type="stealth" w="lg" len="lg"/>
                </a:ln>
                <a:effectLst>
                  <a:outerShdw dist="35921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99789" name="Line 13"/>
                <p:cNvSpPr>
                  <a:spLocks noChangeShapeType="1"/>
                </p:cNvSpPr>
                <p:nvPr/>
              </p:nvSpPr>
              <p:spPr bwMode="auto">
                <a:xfrm>
                  <a:off x="2592" y="1872"/>
                  <a:ext cx="0" cy="336"/>
                </a:xfrm>
                <a:prstGeom prst="line">
                  <a:avLst/>
                </a:prstGeom>
                <a:noFill/>
                <a:ln w="28575">
                  <a:solidFill>
                    <a:srgbClr val="C00000"/>
                  </a:solidFill>
                  <a:round/>
                  <a:headEnd/>
                  <a:tailEnd type="stealth" w="lg" len="lg"/>
                </a:ln>
                <a:effectLst>
                  <a:outerShdw dist="35921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99790" name="Line 14"/>
                <p:cNvSpPr>
                  <a:spLocks noChangeShapeType="1"/>
                </p:cNvSpPr>
                <p:nvPr/>
              </p:nvSpPr>
              <p:spPr bwMode="auto">
                <a:xfrm>
                  <a:off x="2592" y="2448"/>
                  <a:ext cx="0" cy="576"/>
                </a:xfrm>
                <a:prstGeom prst="line">
                  <a:avLst/>
                </a:prstGeom>
                <a:noFill/>
                <a:ln w="28575">
                  <a:solidFill>
                    <a:srgbClr val="C00000"/>
                  </a:solidFill>
                  <a:round/>
                  <a:headEnd/>
                  <a:tailEnd type="stealth" w="lg" len="lg"/>
                </a:ln>
                <a:effectLst>
                  <a:outerShdw dist="35921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99791" name="Line 15"/>
                <p:cNvSpPr>
                  <a:spLocks noChangeShapeType="1"/>
                </p:cNvSpPr>
                <p:nvPr/>
              </p:nvSpPr>
              <p:spPr bwMode="auto">
                <a:xfrm flipH="1" flipV="1">
                  <a:off x="1824" y="2400"/>
                  <a:ext cx="720" cy="576"/>
                </a:xfrm>
                <a:prstGeom prst="line">
                  <a:avLst/>
                </a:prstGeom>
                <a:noFill/>
                <a:ln w="28575">
                  <a:solidFill>
                    <a:srgbClr val="C00000"/>
                  </a:solidFill>
                  <a:round/>
                  <a:headEnd/>
                  <a:tailEnd type="stealth" w="lg" len="lg"/>
                </a:ln>
                <a:effectLst>
                  <a:outerShdw dist="35921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99792" name="Line 16"/>
                <p:cNvSpPr>
                  <a:spLocks noChangeShapeType="1"/>
                </p:cNvSpPr>
                <p:nvPr/>
              </p:nvSpPr>
              <p:spPr bwMode="auto">
                <a:xfrm flipV="1">
                  <a:off x="3072" y="1776"/>
                  <a:ext cx="768" cy="576"/>
                </a:xfrm>
                <a:prstGeom prst="line">
                  <a:avLst/>
                </a:prstGeom>
                <a:noFill/>
                <a:ln w="28575">
                  <a:solidFill>
                    <a:srgbClr val="C00000"/>
                  </a:solidFill>
                  <a:round/>
                  <a:headEnd/>
                  <a:tailEnd type="stealth" w="lg" len="lg"/>
                </a:ln>
                <a:effectLst>
                  <a:outerShdw dist="35921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99793" name="Line 17"/>
                <p:cNvSpPr>
                  <a:spLocks noChangeShapeType="1"/>
                </p:cNvSpPr>
                <p:nvPr/>
              </p:nvSpPr>
              <p:spPr bwMode="auto">
                <a:xfrm>
                  <a:off x="3840" y="1872"/>
                  <a:ext cx="0" cy="1152"/>
                </a:xfrm>
                <a:prstGeom prst="line">
                  <a:avLst/>
                </a:prstGeom>
                <a:noFill/>
                <a:ln w="28575">
                  <a:solidFill>
                    <a:srgbClr val="C00000"/>
                  </a:solidFill>
                  <a:round/>
                  <a:headEnd/>
                  <a:tailEnd type="stealth" w="lg" len="lg"/>
                </a:ln>
                <a:effectLst>
                  <a:outerShdw dist="35921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99794" name="Line 18"/>
                <p:cNvSpPr>
                  <a:spLocks noChangeShapeType="1"/>
                </p:cNvSpPr>
                <p:nvPr/>
              </p:nvSpPr>
              <p:spPr bwMode="auto">
                <a:xfrm flipH="1" flipV="1">
                  <a:off x="3024" y="2400"/>
                  <a:ext cx="768" cy="576"/>
                </a:xfrm>
                <a:prstGeom prst="line">
                  <a:avLst/>
                </a:prstGeom>
                <a:noFill/>
                <a:ln w="28575">
                  <a:solidFill>
                    <a:srgbClr val="C00000"/>
                  </a:solidFill>
                  <a:round/>
                  <a:headEnd/>
                  <a:tailEnd type="stealth" w="lg" len="lg"/>
                </a:ln>
                <a:effectLst>
                  <a:outerShdw dist="35921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99795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1989" y="1893"/>
                  <a:ext cx="217" cy="20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 eaLnBrk="0" hangingPunct="0"/>
                  <a:r>
                    <a:rPr lang="en-US" altLang="zh-CN" sz="2000" b="1">
                      <a:solidFill>
                        <a:srgbClr val="002060"/>
                      </a:solidFill>
                      <a:sym typeface="Wingdings" pitchFamily="2" charset="2"/>
                    </a:rPr>
                    <a:t></a:t>
                  </a:r>
                </a:p>
              </p:txBody>
            </p:sp>
            <p:sp>
              <p:nvSpPr>
                <p:cNvPr id="1099796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1125" y="1845"/>
                  <a:ext cx="217" cy="20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 eaLnBrk="0" hangingPunct="0"/>
                  <a:r>
                    <a:rPr lang="en-US" altLang="zh-CN" sz="2000" b="1" dirty="0">
                      <a:solidFill>
                        <a:srgbClr val="002060"/>
                      </a:solidFill>
                      <a:sym typeface="Wingdings" pitchFamily="2" charset="2"/>
                    </a:rPr>
                    <a:t></a:t>
                  </a:r>
                </a:p>
              </p:txBody>
            </p:sp>
            <p:sp>
              <p:nvSpPr>
                <p:cNvPr id="1099797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2613" y="1940"/>
                  <a:ext cx="217" cy="20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 eaLnBrk="0" hangingPunct="0"/>
                  <a:r>
                    <a:rPr lang="en-US" altLang="zh-CN" sz="2000" b="1">
                      <a:solidFill>
                        <a:srgbClr val="002060"/>
                      </a:solidFill>
                      <a:sym typeface="Wingdings" pitchFamily="2" charset="2"/>
                    </a:rPr>
                    <a:t></a:t>
                  </a:r>
                </a:p>
              </p:txBody>
            </p:sp>
            <p:sp>
              <p:nvSpPr>
                <p:cNvPr id="1099798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3237" y="1940"/>
                  <a:ext cx="217" cy="20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 eaLnBrk="0" hangingPunct="0"/>
                  <a:r>
                    <a:rPr lang="en-US" altLang="zh-CN" sz="2000" b="1">
                      <a:solidFill>
                        <a:srgbClr val="002060"/>
                      </a:solidFill>
                      <a:sym typeface="Wingdings" pitchFamily="2" charset="2"/>
                    </a:rPr>
                    <a:t></a:t>
                  </a:r>
                </a:p>
              </p:txBody>
            </p:sp>
            <p:sp>
              <p:nvSpPr>
                <p:cNvPr id="1099799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3909" y="2181"/>
                  <a:ext cx="217" cy="20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 eaLnBrk="0" hangingPunct="0"/>
                  <a:r>
                    <a:rPr lang="en-US" altLang="zh-CN" sz="2000" b="1">
                      <a:solidFill>
                        <a:srgbClr val="002060"/>
                      </a:solidFill>
                      <a:sym typeface="Wingdings" pitchFamily="2" charset="2"/>
                    </a:rPr>
                    <a:t></a:t>
                  </a:r>
                </a:p>
              </p:txBody>
            </p:sp>
            <p:sp>
              <p:nvSpPr>
                <p:cNvPr id="1099800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3333" y="2709"/>
                  <a:ext cx="217" cy="20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 eaLnBrk="0" hangingPunct="0"/>
                  <a:r>
                    <a:rPr lang="en-US" altLang="zh-CN" sz="2000" b="1">
                      <a:solidFill>
                        <a:srgbClr val="002060"/>
                      </a:solidFill>
                      <a:sym typeface="Wingdings" pitchFamily="2" charset="2"/>
                    </a:rPr>
                    <a:t></a:t>
                  </a:r>
                </a:p>
              </p:txBody>
            </p:sp>
            <p:sp>
              <p:nvSpPr>
                <p:cNvPr id="1099801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2613" y="2565"/>
                  <a:ext cx="217" cy="20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 eaLnBrk="0" hangingPunct="0"/>
                  <a:r>
                    <a:rPr lang="en-US" altLang="zh-CN" sz="2000" b="1">
                      <a:solidFill>
                        <a:srgbClr val="002060"/>
                      </a:solidFill>
                      <a:sym typeface="Wingdings" pitchFamily="2" charset="2"/>
                    </a:rPr>
                    <a:t></a:t>
                  </a:r>
                </a:p>
              </p:txBody>
            </p:sp>
            <p:sp>
              <p:nvSpPr>
                <p:cNvPr id="1099802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1989" y="2613"/>
                  <a:ext cx="217" cy="20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 eaLnBrk="0" hangingPunct="0"/>
                  <a:r>
                    <a:rPr lang="en-US" altLang="zh-CN" sz="2000" b="1">
                      <a:solidFill>
                        <a:srgbClr val="002060"/>
                      </a:solidFill>
                      <a:sym typeface="Wingdings" pitchFamily="2" charset="2"/>
                    </a:rPr>
                    <a:t></a:t>
                  </a:r>
                </a:p>
              </p:txBody>
            </p:sp>
            <p:sp>
              <p:nvSpPr>
                <p:cNvPr id="1099803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1125" y="2517"/>
                  <a:ext cx="217" cy="20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 eaLnBrk="0" hangingPunct="0"/>
                  <a:r>
                    <a:rPr lang="en-US" altLang="zh-CN" sz="2000" b="1">
                      <a:solidFill>
                        <a:srgbClr val="002060"/>
                      </a:solidFill>
                      <a:sym typeface="Wingdings" pitchFamily="2" charset="2"/>
                    </a:rPr>
                    <a:t></a:t>
                  </a:r>
                </a:p>
              </p:txBody>
            </p:sp>
          </p:grpSp>
        </p:grpSp>
        <p:sp>
          <p:nvSpPr>
            <p:cNvPr id="1099812" name="Text Box 36"/>
            <p:cNvSpPr txBox="1">
              <a:spLocks noChangeArrowheads="1"/>
            </p:cNvSpPr>
            <p:nvPr/>
          </p:nvSpPr>
          <p:spPr bwMode="auto">
            <a:xfrm>
              <a:off x="1601" y="3812"/>
              <a:ext cx="303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CC0000"/>
                  </a:solidFill>
                  <a:ea typeface="隶书" pitchFamily="49" charset="-122"/>
                </a:rPr>
                <a:t>——</a:t>
              </a:r>
              <a:r>
                <a:rPr lang="zh-CN" altLang="en-US" b="1">
                  <a:solidFill>
                    <a:srgbClr val="CC0000"/>
                  </a:solidFill>
                  <a:ea typeface="隶书" pitchFamily="49" charset="-122"/>
                </a:rPr>
                <a:t>函数嵌套调用的示意图</a:t>
              </a:r>
              <a:r>
                <a:rPr lang="zh-CN" altLang="en-US"/>
                <a:t> </a:t>
              </a:r>
            </a:p>
          </p:txBody>
        </p:sp>
      </p:grpSp>
      <p:sp>
        <p:nvSpPr>
          <p:cNvPr id="38" name="Rectangle 4">
            <a:extLst>
              <a:ext uri="{FF2B5EF4-FFF2-40B4-BE49-F238E27FC236}">
                <a16:creationId xmlns:a16="http://schemas.microsoft.com/office/drawing/2014/main" id="{FB8B1A76-BA4F-4AC1-B871-EBF3C7F527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8.6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函数的嵌套与递归调用</a:t>
            </a:r>
          </a:p>
        </p:txBody>
      </p:sp>
      <p:sp>
        <p:nvSpPr>
          <p:cNvPr id="39" name="Rectangle 3">
            <a:extLst>
              <a:ext uri="{FF2B5EF4-FFF2-40B4-BE49-F238E27FC236}">
                <a16:creationId xmlns:a16="http://schemas.microsoft.com/office/drawing/2014/main" id="{90899DDF-606E-43CB-AAD4-C5AB15E261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849" y="919389"/>
            <a:ext cx="571133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/>
            <a:r>
              <a:rPr lang="en-US" altLang="zh-CN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1</a:t>
            </a:r>
            <a:r>
              <a:rPr lang="zh-CN" altLang="en-US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、函数的嵌套调用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10998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10998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10998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9807" grpId="0"/>
      <p:bldP spid="1099809" grpId="0"/>
      <p:bldP spid="39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3">
            <a:extLst>
              <a:ext uri="{FF2B5EF4-FFF2-40B4-BE49-F238E27FC236}">
                <a16:creationId xmlns:a16="http://schemas.microsoft.com/office/drawing/2014/main" id="{EFD4BE95-82A9-48A9-9720-1CCA698D94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879" y="1000957"/>
            <a:ext cx="571133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/>
            <a:r>
              <a:rPr lang="zh-CN" altLang="en-US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过程的嵌套调用</a:t>
            </a:r>
          </a:p>
        </p:txBody>
      </p:sp>
      <p:sp>
        <p:nvSpPr>
          <p:cNvPr id="1100859" name="Rectangle 59"/>
          <p:cNvSpPr>
            <a:spLocks noChangeArrowheads="1"/>
          </p:cNvSpPr>
          <p:nvPr/>
        </p:nvSpPr>
        <p:spPr bwMode="auto">
          <a:xfrm>
            <a:off x="2150465" y="972858"/>
            <a:ext cx="7991475" cy="5400675"/>
          </a:xfrm>
          <a:prstGeom prst="rect">
            <a:avLst/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100803" name="Group 3"/>
          <p:cNvGrpSpPr>
            <a:grpSpLocks/>
          </p:cNvGrpSpPr>
          <p:nvPr/>
        </p:nvGrpSpPr>
        <p:grpSpPr bwMode="auto">
          <a:xfrm>
            <a:off x="3214884" y="2565053"/>
            <a:ext cx="1905000" cy="762000"/>
            <a:chOff x="912" y="1632"/>
            <a:chExt cx="1200" cy="480"/>
          </a:xfrm>
        </p:grpSpPr>
        <p:sp>
          <p:nvSpPr>
            <p:cNvPr id="1100804" name="Line 4"/>
            <p:cNvSpPr>
              <a:spLocks noChangeShapeType="1"/>
            </p:cNvSpPr>
            <p:nvPr/>
          </p:nvSpPr>
          <p:spPr bwMode="auto">
            <a:xfrm>
              <a:off x="2112" y="1632"/>
              <a:ext cx="0" cy="480"/>
            </a:xfrm>
            <a:prstGeom prst="line">
              <a:avLst/>
            </a:prstGeom>
            <a:noFill/>
            <a:ln w="28575">
              <a:solidFill>
                <a:srgbClr val="00206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100805" name="AutoShape 5"/>
            <p:cNvCxnSpPr>
              <a:cxnSpLocks noChangeShapeType="1"/>
              <a:stCxn id="1100819" idx="1"/>
              <a:endCxn id="1100804" idx="0"/>
            </p:cNvCxnSpPr>
            <p:nvPr/>
          </p:nvCxnSpPr>
          <p:spPr bwMode="auto">
            <a:xfrm flipV="1">
              <a:off x="912" y="1632"/>
              <a:ext cx="1200" cy="480"/>
            </a:xfrm>
            <a:prstGeom prst="straightConnector1">
              <a:avLst/>
            </a:prstGeom>
            <a:noFill/>
            <a:ln w="28575">
              <a:solidFill>
                <a:srgbClr val="002060"/>
              </a:solidFill>
              <a:round/>
              <a:headEnd/>
              <a:tailEnd/>
            </a:ln>
            <a:effectLst/>
          </p:spPr>
        </p:cxnSp>
      </p:grpSp>
      <p:grpSp>
        <p:nvGrpSpPr>
          <p:cNvPr id="1100806" name="Group 6"/>
          <p:cNvGrpSpPr>
            <a:grpSpLocks/>
          </p:cNvGrpSpPr>
          <p:nvPr/>
        </p:nvGrpSpPr>
        <p:grpSpPr bwMode="auto">
          <a:xfrm>
            <a:off x="5191322" y="2565053"/>
            <a:ext cx="1909763" cy="762000"/>
            <a:chOff x="2157" y="1632"/>
            <a:chExt cx="1203" cy="480"/>
          </a:xfrm>
        </p:grpSpPr>
        <p:sp>
          <p:nvSpPr>
            <p:cNvPr id="1100807" name="Line 7"/>
            <p:cNvSpPr>
              <a:spLocks noChangeShapeType="1"/>
            </p:cNvSpPr>
            <p:nvPr/>
          </p:nvSpPr>
          <p:spPr bwMode="auto">
            <a:xfrm>
              <a:off x="3360" y="1632"/>
              <a:ext cx="0" cy="480"/>
            </a:xfrm>
            <a:prstGeom prst="line">
              <a:avLst/>
            </a:prstGeom>
            <a:noFill/>
            <a:ln w="28575">
              <a:solidFill>
                <a:srgbClr val="00206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100808" name="AutoShape 8"/>
            <p:cNvCxnSpPr>
              <a:cxnSpLocks noChangeShapeType="1"/>
              <a:stCxn id="1100804" idx="1"/>
              <a:endCxn id="1100807" idx="0"/>
            </p:cNvCxnSpPr>
            <p:nvPr/>
          </p:nvCxnSpPr>
          <p:spPr bwMode="auto">
            <a:xfrm flipV="1">
              <a:off x="2157" y="1632"/>
              <a:ext cx="1203" cy="480"/>
            </a:xfrm>
            <a:prstGeom prst="straightConnector1">
              <a:avLst/>
            </a:prstGeom>
            <a:noFill/>
            <a:ln w="28575">
              <a:solidFill>
                <a:srgbClr val="002060"/>
              </a:solidFill>
              <a:round/>
              <a:headEnd/>
              <a:tailEnd/>
            </a:ln>
            <a:effectLst/>
          </p:spPr>
        </p:cxnSp>
      </p:grpSp>
      <p:grpSp>
        <p:nvGrpSpPr>
          <p:cNvPr id="1100809" name="Group 9"/>
          <p:cNvGrpSpPr>
            <a:grpSpLocks/>
          </p:cNvGrpSpPr>
          <p:nvPr/>
        </p:nvGrpSpPr>
        <p:grpSpPr bwMode="auto">
          <a:xfrm>
            <a:off x="7101084" y="2793653"/>
            <a:ext cx="2057400" cy="1752600"/>
            <a:chOff x="3360" y="1776"/>
            <a:chExt cx="1296" cy="1104"/>
          </a:xfrm>
        </p:grpSpPr>
        <p:sp>
          <p:nvSpPr>
            <p:cNvPr id="1100810" name="Line 10"/>
            <p:cNvSpPr>
              <a:spLocks noChangeShapeType="1"/>
            </p:cNvSpPr>
            <p:nvPr/>
          </p:nvSpPr>
          <p:spPr bwMode="auto">
            <a:xfrm>
              <a:off x="4656" y="1776"/>
              <a:ext cx="0" cy="1104"/>
            </a:xfrm>
            <a:prstGeom prst="line">
              <a:avLst/>
            </a:prstGeom>
            <a:noFill/>
            <a:ln w="28575">
              <a:solidFill>
                <a:srgbClr val="00206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100811" name="AutoShape 11"/>
            <p:cNvCxnSpPr>
              <a:cxnSpLocks noChangeShapeType="1"/>
              <a:stCxn id="1100807" idx="1"/>
              <a:endCxn id="1100810" idx="0"/>
            </p:cNvCxnSpPr>
            <p:nvPr/>
          </p:nvCxnSpPr>
          <p:spPr bwMode="auto">
            <a:xfrm flipV="1">
              <a:off x="3405" y="1776"/>
              <a:ext cx="1251" cy="336"/>
            </a:xfrm>
            <a:prstGeom prst="straightConnector1">
              <a:avLst/>
            </a:prstGeom>
            <a:noFill/>
            <a:ln w="28575">
              <a:solidFill>
                <a:srgbClr val="002060"/>
              </a:solidFill>
              <a:round/>
              <a:headEnd/>
              <a:tailEnd/>
            </a:ln>
            <a:effectLst/>
          </p:spPr>
        </p:cxnSp>
        <p:cxnSp>
          <p:nvCxnSpPr>
            <p:cNvPr id="1100812" name="AutoShape 12"/>
            <p:cNvCxnSpPr>
              <a:cxnSpLocks noChangeShapeType="1"/>
              <a:stCxn id="1100810" idx="1"/>
              <a:endCxn id="1100814" idx="0"/>
            </p:cNvCxnSpPr>
            <p:nvPr/>
          </p:nvCxnSpPr>
          <p:spPr bwMode="auto">
            <a:xfrm flipH="1" flipV="1">
              <a:off x="3360" y="2544"/>
              <a:ext cx="1296" cy="336"/>
            </a:xfrm>
            <a:prstGeom prst="straightConnector1">
              <a:avLst/>
            </a:prstGeom>
            <a:noFill/>
            <a:ln w="28575">
              <a:solidFill>
                <a:srgbClr val="002060"/>
              </a:solidFill>
              <a:round/>
              <a:headEnd/>
              <a:tailEnd/>
            </a:ln>
            <a:effectLst/>
          </p:spPr>
        </p:cxnSp>
      </p:grpSp>
      <p:grpSp>
        <p:nvGrpSpPr>
          <p:cNvPr id="1100813" name="Group 13"/>
          <p:cNvGrpSpPr>
            <a:grpSpLocks/>
          </p:cNvGrpSpPr>
          <p:nvPr/>
        </p:nvGrpSpPr>
        <p:grpSpPr bwMode="auto">
          <a:xfrm>
            <a:off x="5119884" y="4012853"/>
            <a:ext cx="1981200" cy="762000"/>
            <a:chOff x="2112" y="2544"/>
            <a:chExt cx="1248" cy="480"/>
          </a:xfrm>
        </p:grpSpPr>
        <p:sp>
          <p:nvSpPr>
            <p:cNvPr id="1100814" name="Line 14"/>
            <p:cNvSpPr>
              <a:spLocks noChangeShapeType="1"/>
            </p:cNvSpPr>
            <p:nvPr/>
          </p:nvSpPr>
          <p:spPr bwMode="auto">
            <a:xfrm>
              <a:off x="3360" y="2544"/>
              <a:ext cx="0" cy="480"/>
            </a:xfrm>
            <a:prstGeom prst="line">
              <a:avLst/>
            </a:prstGeom>
            <a:noFill/>
            <a:ln w="28575">
              <a:solidFill>
                <a:srgbClr val="00206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100815" name="AutoShape 15"/>
            <p:cNvCxnSpPr>
              <a:cxnSpLocks noChangeShapeType="1"/>
              <a:stCxn id="1100814" idx="1"/>
              <a:endCxn id="1100817" idx="0"/>
            </p:cNvCxnSpPr>
            <p:nvPr/>
          </p:nvCxnSpPr>
          <p:spPr bwMode="auto">
            <a:xfrm flipH="1" flipV="1">
              <a:off x="2112" y="2544"/>
              <a:ext cx="1248" cy="480"/>
            </a:xfrm>
            <a:prstGeom prst="straightConnector1">
              <a:avLst/>
            </a:prstGeom>
            <a:noFill/>
            <a:ln w="28575">
              <a:solidFill>
                <a:srgbClr val="002060"/>
              </a:solidFill>
              <a:round/>
              <a:headEnd/>
              <a:tailEnd/>
            </a:ln>
            <a:effectLst/>
          </p:spPr>
        </p:cxnSp>
      </p:grpSp>
      <p:grpSp>
        <p:nvGrpSpPr>
          <p:cNvPr id="1100816" name="Group 16"/>
          <p:cNvGrpSpPr>
            <a:grpSpLocks/>
          </p:cNvGrpSpPr>
          <p:nvPr/>
        </p:nvGrpSpPr>
        <p:grpSpPr bwMode="auto">
          <a:xfrm>
            <a:off x="3227584" y="4004918"/>
            <a:ext cx="1892300" cy="769938"/>
            <a:chOff x="920" y="2539"/>
            <a:chExt cx="1192" cy="485"/>
          </a:xfrm>
        </p:grpSpPr>
        <p:sp>
          <p:nvSpPr>
            <p:cNvPr id="1100817" name="Line 17"/>
            <p:cNvSpPr>
              <a:spLocks noChangeShapeType="1"/>
            </p:cNvSpPr>
            <p:nvPr/>
          </p:nvSpPr>
          <p:spPr bwMode="auto">
            <a:xfrm>
              <a:off x="2112" y="2544"/>
              <a:ext cx="0" cy="480"/>
            </a:xfrm>
            <a:prstGeom prst="line">
              <a:avLst/>
            </a:prstGeom>
            <a:noFill/>
            <a:ln w="28575">
              <a:solidFill>
                <a:srgbClr val="00206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100818" name="AutoShape 18"/>
            <p:cNvCxnSpPr>
              <a:cxnSpLocks noChangeShapeType="1"/>
              <a:stCxn id="1100817" idx="1"/>
              <a:endCxn id="1100833" idx="0"/>
            </p:cNvCxnSpPr>
            <p:nvPr/>
          </p:nvCxnSpPr>
          <p:spPr bwMode="auto">
            <a:xfrm flipH="1" flipV="1">
              <a:off x="920" y="2539"/>
              <a:ext cx="1192" cy="485"/>
            </a:xfrm>
            <a:prstGeom prst="straightConnector1">
              <a:avLst/>
            </a:prstGeom>
            <a:noFill/>
            <a:ln w="28575">
              <a:solidFill>
                <a:srgbClr val="002060"/>
              </a:solidFill>
              <a:round/>
              <a:headEnd/>
              <a:tailEnd/>
            </a:ln>
            <a:effectLst/>
          </p:spPr>
        </p:cxnSp>
      </p:grpSp>
      <p:sp>
        <p:nvSpPr>
          <p:cNvPr id="1100819" name="Line 19"/>
          <p:cNvSpPr>
            <a:spLocks noChangeShapeType="1"/>
          </p:cNvSpPr>
          <p:nvPr/>
        </p:nvSpPr>
        <p:spPr bwMode="auto">
          <a:xfrm>
            <a:off x="3214884" y="2565053"/>
            <a:ext cx="0" cy="76200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stealth" w="lg" len="lg"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endParaRPr lang="zh-CN" altLang="en-US"/>
          </a:p>
        </p:txBody>
      </p:sp>
      <p:grpSp>
        <p:nvGrpSpPr>
          <p:cNvPr id="1100820" name="Group 20"/>
          <p:cNvGrpSpPr>
            <a:grpSpLocks/>
          </p:cNvGrpSpPr>
          <p:nvPr/>
        </p:nvGrpSpPr>
        <p:grpSpPr bwMode="auto">
          <a:xfrm>
            <a:off x="2778323" y="2064990"/>
            <a:ext cx="930275" cy="1219200"/>
            <a:chOff x="1152" y="1488"/>
            <a:chExt cx="586" cy="768"/>
          </a:xfrm>
        </p:grpSpPr>
        <p:sp>
          <p:nvSpPr>
            <p:cNvPr id="1100821" name="Text Box 21"/>
            <p:cNvSpPr txBox="1">
              <a:spLocks noChangeArrowheads="1"/>
            </p:cNvSpPr>
            <p:nvPr/>
          </p:nvSpPr>
          <p:spPr bwMode="auto">
            <a:xfrm>
              <a:off x="1152" y="1968"/>
              <a:ext cx="19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b="1"/>
                <a:t>r</a:t>
              </a:r>
            </a:p>
          </p:txBody>
        </p:sp>
        <p:sp>
          <p:nvSpPr>
            <p:cNvPr id="1100822" name="Text Box 22"/>
            <p:cNvSpPr txBox="1">
              <a:spLocks noChangeArrowheads="1"/>
            </p:cNvSpPr>
            <p:nvPr/>
          </p:nvSpPr>
          <p:spPr bwMode="auto">
            <a:xfrm>
              <a:off x="1389" y="1488"/>
              <a:ext cx="349" cy="6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eaVert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楷体" pitchFamily="49" charset="-122"/>
                  <a:ea typeface="楷体" pitchFamily="49" charset="-122"/>
                </a:rPr>
                <a:t>主程序</a:t>
              </a:r>
            </a:p>
          </p:txBody>
        </p:sp>
      </p:grpSp>
      <p:grpSp>
        <p:nvGrpSpPr>
          <p:cNvPr id="1100823" name="Group 23"/>
          <p:cNvGrpSpPr>
            <a:grpSpLocks/>
          </p:cNvGrpSpPr>
          <p:nvPr/>
        </p:nvGrpSpPr>
        <p:grpSpPr bwMode="auto">
          <a:xfrm>
            <a:off x="6581176" y="4919382"/>
            <a:ext cx="457200" cy="1143000"/>
            <a:chOff x="3504" y="3216"/>
            <a:chExt cx="288" cy="720"/>
          </a:xfrm>
        </p:grpSpPr>
        <p:sp>
          <p:nvSpPr>
            <p:cNvPr id="1100824" name="Rectangle 24"/>
            <p:cNvSpPr>
              <a:spLocks noChangeArrowheads="1"/>
            </p:cNvSpPr>
            <p:nvPr/>
          </p:nvSpPr>
          <p:spPr bwMode="auto">
            <a:xfrm>
              <a:off x="3504" y="3552"/>
              <a:ext cx="288" cy="192"/>
            </a:xfrm>
            <a:prstGeom prst="rect">
              <a:avLst/>
            </a:prstGeom>
            <a:solidFill>
              <a:srgbClr val="F0E5B7"/>
            </a:solidFill>
            <a:ln w="19050">
              <a:solidFill>
                <a:srgbClr val="C0192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altLang="zh-CN" b="1"/>
                <a:t>s</a:t>
              </a:r>
            </a:p>
          </p:txBody>
        </p:sp>
        <p:sp>
          <p:nvSpPr>
            <p:cNvPr id="1100825" name="Line 25"/>
            <p:cNvSpPr>
              <a:spLocks noChangeShapeType="1"/>
            </p:cNvSpPr>
            <p:nvPr/>
          </p:nvSpPr>
          <p:spPr bwMode="auto">
            <a:xfrm flipV="1">
              <a:off x="3792" y="3216"/>
              <a:ext cx="0" cy="720"/>
            </a:xfrm>
            <a:prstGeom prst="line">
              <a:avLst/>
            </a:prstGeom>
            <a:noFill/>
            <a:ln w="19050">
              <a:solidFill>
                <a:srgbClr val="C0192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0826" name="Line 26"/>
            <p:cNvSpPr>
              <a:spLocks noChangeShapeType="1"/>
            </p:cNvSpPr>
            <p:nvPr/>
          </p:nvSpPr>
          <p:spPr bwMode="auto">
            <a:xfrm flipV="1">
              <a:off x="3504" y="3216"/>
              <a:ext cx="0" cy="720"/>
            </a:xfrm>
            <a:prstGeom prst="line">
              <a:avLst/>
            </a:prstGeom>
            <a:noFill/>
            <a:ln w="19050">
              <a:solidFill>
                <a:srgbClr val="C0192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0827" name="Rectangle 27"/>
            <p:cNvSpPr>
              <a:spLocks noChangeArrowheads="1"/>
            </p:cNvSpPr>
            <p:nvPr/>
          </p:nvSpPr>
          <p:spPr bwMode="auto">
            <a:xfrm>
              <a:off x="3504" y="3744"/>
              <a:ext cx="288" cy="192"/>
            </a:xfrm>
            <a:prstGeom prst="rect">
              <a:avLst/>
            </a:prstGeom>
            <a:solidFill>
              <a:srgbClr val="BEDFC4"/>
            </a:solidFill>
            <a:ln w="19050">
              <a:solidFill>
                <a:srgbClr val="C0192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altLang="zh-CN" b="1"/>
                <a:t>r</a:t>
              </a:r>
            </a:p>
          </p:txBody>
        </p:sp>
      </p:grpSp>
      <p:grpSp>
        <p:nvGrpSpPr>
          <p:cNvPr id="1100828" name="Group 28"/>
          <p:cNvGrpSpPr>
            <a:grpSpLocks/>
          </p:cNvGrpSpPr>
          <p:nvPr/>
        </p:nvGrpSpPr>
        <p:grpSpPr bwMode="auto">
          <a:xfrm>
            <a:off x="4523776" y="4843182"/>
            <a:ext cx="457200" cy="1143000"/>
            <a:chOff x="3744" y="2544"/>
            <a:chExt cx="288" cy="720"/>
          </a:xfrm>
        </p:grpSpPr>
        <p:sp>
          <p:nvSpPr>
            <p:cNvPr id="1100829" name="Line 29"/>
            <p:cNvSpPr>
              <a:spLocks noChangeShapeType="1"/>
            </p:cNvSpPr>
            <p:nvPr/>
          </p:nvSpPr>
          <p:spPr bwMode="auto">
            <a:xfrm flipV="1">
              <a:off x="3744" y="2544"/>
              <a:ext cx="0" cy="720"/>
            </a:xfrm>
            <a:prstGeom prst="line">
              <a:avLst/>
            </a:prstGeom>
            <a:noFill/>
            <a:ln w="19050">
              <a:solidFill>
                <a:srgbClr val="C0192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0830" name="Line 30"/>
            <p:cNvSpPr>
              <a:spLocks noChangeShapeType="1"/>
            </p:cNvSpPr>
            <p:nvPr/>
          </p:nvSpPr>
          <p:spPr bwMode="auto">
            <a:xfrm flipV="1">
              <a:off x="4032" y="2544"/>
              <a:ext cx="0" cy="720"/>
            </a:xfrm>
            <a:prstGeom prst="line">
              <a:avLst/>
            </a:prstGeom>
            <a:noFill/>
            <a:ln w="19050">
              <a:solidFill>
                <a:srgbClr val="C0192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0831" name="Rectangle 31"/>
            <p:cNvSpPr>
              <a:spLocks noChangeArrowheads="1"/>
            </p:cNvSpPr>
            <p:nvPr/>
          </p:nvSpPr>
          <p:spPr bwMode="auto">
            <a:xfrm>
              <a:off x="3744" y="3072"/>
              <a:ext cx="288" cy="192"/>
            </a:xfrm>
            <a:prstGeom prst="rect">
              <a:avLst/>
            </a:prstGeom>
            <a:solidFill>
              <a:srgbClr val="BEDFC4"/>
            </a:solidFill>
            <a:ln w="19050">
              <a:solidFill>
                <a:srgbClr val="C0192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altLang="zh-CN" b="1"/>
                <a:t>r</a:t>
              </a:r>
            </a:p>
          </p:txBody>
        </p:sp>
      </p:grpSp>
      <p:grpSp>
        <p:nvGrpSpPr>
          <p:cNvPr id="1100832" name="Group 32"/>
          <p:cNvGrpSpPr>
            <a:grpSpLocks/>
          </p:cNvGrpSpPr>
          <p:nvPr/>
        </p:nvGrpSpPr>
        <p:grpSpPr bwMode="auto">
          <a:xfrm>
            <a:off x="2542576" y="4004982"/>
            <a:ext cx="685800" cy="1143000"/>
            <a:chOff x="960" y="2640"/>
            <a:chExt cx="432" cy="720"/>
          </a:xfrm>
        </p:grpSpPr>
        <p:sp>
          <p:nvSpPr>
            <p:cNvPr id="1100833" name="Line 33"/>
            <p:cNvSpPr>
              <a:spLocks noChangeShapeType="1"/>
            </p:cNvSpPr>
            <p:nvPr/>
          </p:nvSpPr>
          <p:spPr bwMode="auto">
            <a:xfrm>
              <a:off x="1392" y="2640"/>
              <a:ext cx="0" cy="480"/>
            </a:xfrm>
            <a:prstGeom prst="line">
              <a:avLst/>
            </a:prstGeom>
            <a:noFill/>
            <a:ln w="28575">
              <a:solidFill>
                <a:srgbClr val="C01920"/>
              </a:solidFill>
              <a:round/>
              <a:headEnd/>
              <a:tailEnd type="stealth" w="lg" len="lg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00834" name="Group 34"/>
            <p:cNvGrpSpPr>
              <a:grpSpLocks/>
            </p:cNvGrpSpPr>
            <p:nvPr/>
          </p:nvGrpSpPr>
          <p:grpSpPr bwMode="auto">
            <a:xfrm>
              <a:off x="960" y="2640"/>
              <a:ext cx="288" cy="720"/>
              <a:chOff x="2784" y="3408"/>
              <a:chExt cx="288" cy="720"/>
            </a:xfrm>
          </p:grpSpPr>
          <p:sp>
            <p:nvSpPr>
              <p:cNvPr id="1100835" name="Line 35"/>
              <p:cNvSpPr>
                <a:spLocks noChangeShapeType="1"/>
              </p:cNvSpPr>
              <p:nvPr/>
            </p:nvSpPr>
            <p:spPr bwMode="auto">
              <a:xfrm flipV="1">
                <a:off x="2784" y="3408"/>
                <a:ext cx="0" cy="720"/>
              </a:xfrm>
              <a:prstGeom prst="line">
                <a:avLst/>
              </a:prstGeom>
              <a:noFill/>
              <a:ln w="28575">
                <a:solidFill>
                  <a:srgbClr val="C0192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0836" name="Line 36"/>
              <p:cNvSpPr>
                <a:spLocks noChangeShapeType="1"/>
              </p:cNvSpPr>
              <p:nvPr/>
            </p:nvSpPr>
            <p:spPr bwMode="auto">
              <a:xfrm flipV="1">
                <a:off x="3072" y="3408"/>
                <a:ext cx="0" cy="720"/>
              </a:xfrm>
              <a:prstGeom prst="line">
                <a:avLst/>
              </a:prstGeom>
              <a:noFill/>
              <a:ln w="28575">
                <a:solidFill>
                  <a:srgbClr val="C0192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cxnSp>
            <p:nvCxnSpPr>
              <p:cNvPr id="1100837" name="AutoShape 37"/>
              <p:cNvCxnSpPr>
                <a:cxnSpLocks noChangeShapeType="1"/>
                <a:stCxn id="1100835" idx="0"/>
                <a:endCxn id="1100836" idx="0"/>
              </p:cNvCxnSpPr>
              <p:nvPr/>
            </p:nvCxnSpPr>
            <p:spPr bwMode="auto">
              <a:xfrm>
                <a:off x="2784" y="4128"/>
                <a:ext cx="288" cy="0"/>
              </a:xfrm>
              <a:prstGeom prst="straightConnector1">
                <a:avLst/>
              </a:prstGeom>
              <a:noFill/>
              <a:ln w="28575">
                <a:solidFill>
                  <a:srgbClr val="C01920"/>
                </a:solidFill>
                <a:round/>
                <a:headEnd/>
                <a:tailEnd/>
              </a:ln>
              <a:effectLst/>
            </p:spPr>
          </p:cxnSp>
        </p:grpSp>
      </p:grpSp>
      <p:grpSp>
        <p:nvGrpSpPr>
          <p:cNvPr id="1100838" name="Group 38"/>
          <p:cNvGrpSpPr>
            <a:grpSpLocks/>
          </p:cNvGrpSpPr>
          <p:nvPr/>
        </p:nvGrpSpPr>
        <p:grpSpPr bwMode="auto">
          <a:xfrm>
            <a:off x="4510284" y="1345853"/>
            <a:ext cx="1098550" cy="2133600"/>
            <a:chOff x="2208" y="960"/>
            <a:chExt cx="692" cy="1344"/>
          </a:xfrm>
        </p:grpSpPr>
        <p:grpSp>
          <p:nvGrpSpPr>
            <p:cNvPr id="1100839" name="Group 39"/>
            <p:cNvGrpSpPr>
              <a:grpSpLocks/>
            </p:cNvGrpSpPr>
            <p:nvPr/>
          </p:nvGrpSpPr>
          <p:grpSpPr bwMode="auto">
            <a:xfrm>
              <a:off x="2256" y="960"/>
              <a:ext cx="288" cy="720"/>
              <a:chOff x="912" y="2976"/>
              <a:chExt cx="288" cy="720"/>
            </a:xfrm>
          </p:grpSpPr>
          <p:sp>
            <p:nvSpPr>
              <p:cNvPr id="1100840" name="Rectangle 40"/>
              <p:cNvSpPr>
                <a:spLocks noChangeArrowheads="1"/>
              </p:cNvSpPr>
              <p:nvPr/>
            </p:nvSpPr>
            <p:spPr bwMode="auto">
              <a:xfrm>
                <a:off x="912" y="3504"/>
                <a:ext cx="288" cy="192"/>
              </a:xfrm>
              <a:prstGeom prst="rect">
                <a:avLst/>
              </a:prstGeom>
              <a:solidFill>
                <a:srgbClr val="BEDFC4"/>
              </a:solidFill>
              <a:ln w="19050">
                <a:solidFill>
                  <a:srgbClr val="C0192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/>
                  <a:t>r</a:t>
                </a:r>
              </a:p>
            </p:txBody>
          </p:sp>
          <p:sp>
            <p:nvSpPr>
              <p:cNvPr id="1100841" name="Line 41"/>
              <p:cNvSpPr>
                <a:spLocks noChangeShapeType="1"/>
              </p:cNvSpPr>
              <p:nvPr/>
            </p:nvSpPr>
            <p:spPr bwMode="auto">
              <a:xfrm flipV="1">
                <a:off x="1200" y="2976"/>
                <a:ext cx="0" cy="720"/>
              </a:xfrm>
              <a:prstGeom prst="line">
                <a:avLst/>
              </a:prstGeom>
              <a:noFill/>
              <a:ln w="19050">
                <a:solidFill>
                  <a:srgbClr val="C0192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0842" name="Line 42"/>
              <p:cNvSpPr>
                <a:spLocks noChangeShapeType="1"/>
              </p:cNvSpPr>
              <p:nvPr/>
            </p:nvSpPr>
            <p:spPr bwMode="auto">
              <a:xfrm flipV="1">
                <a:off x="912" y="2976"/>
                <a:ext cx="0" cy="720"/>
              </a:xfrm>
              <a:prstGeom prst="line">
                <a:avLst/>
              </a:prstGeom>
              <a:noFill/>
              <a:ln w="19050">
                <a:solidFill>
                  <a:srgbClr val="C0192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00843" name="Text Box 43" descr="花岗岩"/>
            <p:cNvSpPr txBox="1">
              <a:spLocks noChangeArrowheads="1"/>
            </p:cNvSpPr>
            <p:nvPr/>
          </p:nvSpPr>
          <p:spPr bwMode="auto">
            <a:xfrm>
              <a:off x="2208" y="2016"/>
              <a:ext cx="33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b="1"/>
                <a:t>s</a:t>
              </a:r>
            </a:p>
          </p:txBody>
        </p:sp>
        <p:sp>
          <p:nvSpPr>
            <p:cNvPr id="1100844" name="Text Box 44" descr="花岗岩"/>
            <p:cNvSpPr txBox="1">
              <a:spLocks noChangeArrowheads="1"/>
            </p:cNvSpPr>
            <p:nvPr/>
          </p:nvSpPr>
          <p:spPr bwMode="auto">
            <a:xfrm>
              <a:off x="2551" y="960"/>
              <a:ext cx="349" cy="8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eaVert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zh-CN" altLang="en-US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+mn-lt"/>
                  <a:ea typeface="楷体" pitchFamily="49" charset="-122"/>
                </a:rPr>
                <a:t>子过程</a:t>
              </a:r>
              <a:r>
                <a:rPr lang="en-US" altLang="zh-CN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+mn-lt"/>
                  <a:ea typeface="楷体" pitchFamily="49" charset="-122"/>
                </a:rPr>
                <a:t>1</a:t>
              </a:r>
            </a:p>
          </p:txBody>
        </p:sp>
      </p:grpSp>
      <p:grpSp>
        <p:nvGrpSpPr>
          <p:cNvPr id="1100845" name="Group 45"/>
          <p:cNvGrpSpPr>
            <a:grpSpLocks/>
          </p:cNvGrpSpPr>
          <p:nvPr/>
        </p:nvGrpSpPr>
        <p:grpSpPr bwMode="auto">
          <a:xfrm>
            <a:off x="6567684" y="1269653"/>
            <a:ext cx="1098550" cy="2209800"/>
            <a:chOff x="3504" y="912"/>
            <a:chExt cx="692" cy="1392"/>
          </a:xfrm>
        </p:grpSpPr>
        <p:sp>
          <p:nvSpPr>
            <p:cNvPr id="1100846" name="Rectangle 46"/>
            <p:cNvSpPr>
              <a:spLocks noChangeArrowheads="1"/>
            </p:cNvSpPr>
            <p:nvPr/>
          </p:nvSpPr>
          <p:spPr bwMode="auto">
            <a:xfrm>
              <a:off x="3504" y="1488"/>
              <a:ext cx="288" cy="192"/>
            </a:xfrm>
            <a:prstGeom prst="rect">
              <a:avLst/>
            </a:prstGeom>
            <a:solidFill>
              <a:srgbClr val="BEDFC4"/>
            </a:solidFill>
            <a:ln w="19050">
              <a:solidFill>
                <a:srgbClr val="C0192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altLang="zh-CN" dirty="0"/>
                <a:t>r</a:t>
              </a:r>
            </a:p>
          </p:txBody>
        </p:sp>
        <p:sp>
          <p:nvSpPr>
            <p:cNvPr id="1100847" name="Rectangle 47"/>
            <p:cNvSpPr>
              <a:spLocks noChangeArrowheads="1"/>
            </p:cNvSpPr>
            <p:nvPr/>
          </p:nvSpPr>
          <p:spPr bwMode="auto">
            <a:xfrm>
              <a:off x="3504" y="1296"/>
              <a:ext cx="288" cy="192"/>
            </a:xfrm>
            <a:prstGeom prst="rect">
              <a:avLst/>
            </a:prstGeom>
            <a:solidFill>
              <a:srgbClr val="F0E5B7"/>
            </a:solidFill>
            <a:ln w="19050">
              <a:solidFill>
                <a:srgbClr val="C0192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altLang="zh-CN"/>
                <a:t>s</a:t>
              </a:r>
            </a:p>
          </p:txBody>
        </p:sp>
        <p:sp>
          <p:nvSpPr>
            <p:cNvPr id="1100848" name="Line 48"/>
            <p:cNvSpPr>
              <a:spLocks noChangeShapeType="1"/>
            </p:cNvSpPr>
            <p:nvPr/>
          </p:nvSpPr>
          <p:spPr bwMode="auto">
            <a:xfrm flipV="1">
              <a:off x="3504" y="960"/>
              <a:ext cx="0" cy="336"/>
            </a:xfrm>
            <a:prstGeom prst="line">
              <a:avLst/>
            </a:prstGeom>
            <a:noFill/>
            <a:ln w="19050">
              <a:solidFill>
                <a:srgbClr val="C0192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0849" name="Line 49"/>
            <p:cNvSpPr>
              <a:spLocks noChangeShapeType="1"/>
            </p:cNvSpPr>
            <p:nvPr/>
          </p:nvSpPr>
          <p:spPr bwMode="auto">
            <a:xfrm flipV="1">
              <a:off x="3792" y="960"/>
              <a:ext cx="0" cy="336"/>
            </a:xfrm>
            <a:prstGeom prst="line">
              <a:avLst/>
            </a:prstGeom>
            <a:noFill/>
            <a:ln w="19050">
              <a:solidFill>
                <a:srgbClr val="C0192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0850" name="Text Box 50" descr="花岗岩"/>
            <p:cNvSpPr txBox="1">
              <a:spLocks noChangeArrowheads="1"/>
            </p:cNvSpPr>
            <p:nvPr/>
          </p:nvSpPr>
          <p:spPr bwMode="auto">
            <a:xfrm>
              <a:off x="3504" y="2016"/>
              <a:ext cx="2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b="1"/>
                <a:t>t</a:t>
              </a:r>
            </a:p>
          </p:txBody>
        </p:sp>
        <p:sp>
          <p:nvSpPr>
            <p:cNvPr id="1100851" name="Text Box 51" descr="花岗岩"/>
            <p:cNvSpPr txBox="1">
              <a:spLocks noChangeArrowheads="1"/>
            </p:cNvSpPr>
            <p:nvPr/>
          </p:nvSpPr>
          <p:spPr bwMode="auto">
            <a:xfrm>
              <a:off x="3847" y="912"/>
              <a:ext cx="349" cy="8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eaVert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zh-CN" altLang="en-US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+mn-lt"/>
                  <a:ea typeface="楷体" pitchFamily="49" charset="-122"/>
                </a:rPr>
                <a:t>子过程</a:t>
              </a:r>
              <a:r>
                <a:rPr lang="en-US" altLang="zh-CN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+mn-lt"/>
                  <a:ea typeface="楷体" pitchFamily="49" charset="-122"/>
                </a:rPr>
                <a:t>2</a:t>
              </a:r>
            </a:p>
          </p:txBody>
        </p:sp>
      </p:grpSp>
      <p:grpSp>
        <p:nvGrpSpPr>
          <p:cNvPr id="1100852" name="Group 52"/>
          <p:cNvGrpSpPr>
            <a:grpSpLocks/>
          </p:cNvGrpSpPr>
          <p:nvPr/>
        </p:nvGrpSpPr>
        <p:grpSpPr bwMode="auto">
          <a:xfrm>
            <a:off x="8625084" y="1498253"/>
            <a:ext cx="1098550" cy="1371600"/>
            <a:chOff x="4800" y="1056"/>
            <a:chExt cx="692" cy="864"/>
          </a:xfrm>
        </p:grpSpPr>
        <p:sp>
          <p:nvSpPr>
            <p:cNvPr id="1100853" name="Line 53"/>
            <p:cNvSpPr>
              <a:spLocks noChangeShapeType="1"/>
            </p:cNvSpPr>
            <p:nvPr/>
          </p:nvSpPr>
          <p:spPr bwMode="auto">
            <a:xfrm flipV="1">
              <a:off x="4800" y="1104"/>
              <a:ext cx="0" cy="720"/>
            </a:xfrm>
            <a:prstGeom prst="line">
              <a:avLst/>
            </a:prstGeom>
            <a:noFill/>
            <a:ln w="19050">
              <a:solidFill>
                <a:srgbClr val="C0192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0854" name="Line 54"/>
            <p:cNvSpPr>
              <a:spLocks noChangeShapeType="1"/>
            </p:cNvSpPr>
            <p:nvPr/>
          </p:nvSpPr>
          <p:spPr bwMode="auto">
            <a:xfrm flipV="1">
              <a:off x="5088" y="1104"/>
              <a:ext cx="0" cy="720"/>
            </a:xfrm>
            <a:prstGeom prst="line">
              <a:avLst/>
            </a:prstGeom>
            <a:noFill/>
            <a:ln w="19050">
              <a:solidFill>
                <a:srgbClr val="C0192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0855" name="Rectangle 55"/>
            <p:cNvSpPr>
              <a:spLocks noChangeArrowheads="1"/>
            </p:cNvSpPr>
            <p:nvPr/>
          </p:nvSpPr>
          <p:spPr bwMode="auto">
            <a:xfrm>
              <a:off x="4800" y="1632"/>
              <a:ext cx="288" cy="192"/>
            </a:xfrm>
            <a:prstGeom prst="rect">
              <a:avLst/>
            </a:prstGeom>
            <a:solidFill>
              <a:srgbClr val="BEDFC4"/>
            </a:solidFill>
            <a:ln w="19050">
              <a:solidFill>
                <a:srgbClr val="C0192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altLang="zh-CN"/>
                <a:t>r</a:t>
              </a:r>
            </a:p>
          </p:txBody>
        </p:sp>
        <p:sp>
          <p:nvSpPr>
            <p:cNvPr id="1100856" name="Rectangle 56"/>
            <p:cNvSpPr>
              <a:spLocks noChangeArrowheads="1"/>
            </p:cNvSpPr>
            <p:nvPr/>
          </p:nvSpPr>
          <p:spPr bwMode="auto">
            <a:xfrm>
              <a:off x="4800" y="1440"/>
              <a:ext cx="288" cy="192"/>
            </a:xfrm>
            <a:prstGeom prst="rect">
              <a:avLst/>
            </a:prstGeom>
            <a:solidFill>
              <a:srgbClr val="F0E5B7"/>
            </a:solidFill>
            <a:ln w="19050">
              <a:solidFill>
                <a:srgbClr val="C0192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altLang="zh-CN"/>
                <a:t>s</a:t>
              </a:r>
            </a:p>
          </p:txBody>
        </p:sp>
        <p:sp>
          <p:nvSpPr>
            <p:cNvPr id="1100857" name="Rectangle 57"/>
            <p:cNvSpPr>
              <a:spLocks noChangeArrowheads="1"/>
            </p:cNvSpPr>
            <p:nvPr/>
          </p:nvSpPr>
          <p:spPr bwMode="auto">
            <a:xfrm>
              <a:off x="4800" y="1248"/>
              <a:ext cx="288" cy="192"/>
            </a:xfrm>
            <a:prstGeom prst="rect">
              <a:avLst/>
            </a:prstGeom>
            <a:solidFill>
              <a:srgbClr val="BD6368"/>
            </a:solidFill>
            <a:ln w="19050">
              <a:solidFill>
                <a:srgbClr val="C0192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altLang="zh-CN"/>
                <a:t>t</a:t>
              </a:r>
            </a:p>
          </p:txBody>
        </p:sp>
        <p:sp>
          <p:nvSpPr>
            <p:cNvPr id="1100858" name="Text Box 58" descr="花岗岩"/>
            <p:cNvSpPr txBox="1">
              <a:spLocks noChangeArrowheads="1"/>
            </p:cNvSpPr>
            <p:nvPr/>
          </p:nvSpPr>
          <p:spPr bwMode="auto">
            <a:xfrm>
              <a:off x="5143" y="1056"/>
              <a:ext cx="349" cy="8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eaVert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zh-CN" altLang="en-US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+mn-lt"/>
                  <a:ea typeface="楷体" pitchFamily="49" charset="-122"/>
                </a:rPr>
                <a:t>子过程</a:t>
              </a:r>
              <a:r>
                <a:rPr lang="en-US" altLang="zh-CN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+mn-lt"/>
                  <a:ea typeface="楷体" pitchFamily="49" charset="-122"/>
                </a:rPr>
                <a:t>3</a:t>
              </a:r>
            </a:p>
          </p:txBody>
        </p:sp>
      </p:grpSp>
      <p:sp>
        <p:nvSpPr>
          <p:cNvPr id="63" name="Rectangle 4">
            <a:extLst>
              <a:ext uri="{FF2B5EF4-FFF2-40B4-BE49-F238E27FC236}">
                <a16:creationId xmlns:a16="http://schemas.microsoft.com/office/drawing/2014/main" id="{4D333823-3B3B-4F58-971E-84660DE731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8.6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函数的嵌套与递归调用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008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008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008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008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0080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5050"/>
                                      </p:to>
                                    </p:animClr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008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008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6" dur="500"/>
                                        <p:tgtEl>
                                          <p:spTgt spid="11008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0" dur="500"/>
                                        <p:tgtEl>
                                          <p:spTgt spid="11008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008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008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008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008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0080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5050"/>
                                      </p:to>
                                    </p:animClr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11008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1008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1008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1008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1008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0080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5050"/>
                                      </p:to>
                                    </p:animClr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4" dur="500"/>
                                        <p:tgtEl>
                                          <p:spTgt spid="11008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1008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1008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008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008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0081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5050"/>
                                      </p:to>
                                    </p:animClr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11008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1008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1008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1008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1008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0081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5050"/>
                                      </p:to>
                                    </p:animClr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11008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1008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1008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1008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1008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  <p:bldP spid="1100819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4">
            <a:extLst>
              <a:ext uri="{FF2B5EF4-FFF2-40B4-BE49-F238E27FC236}">
                <a16:creationId xmlns:a16="http://schemas.microsoft.com/office/drawing/2014/main" id="{75B48A84-0D0D-4F0C-9911-D1F6FC861E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8.6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函数的嵌套与递归调用</a:t>
            </a:r>
          </a:p>
        </p:txBody>
      </p:sp>
      <p:sp>
        <p:nvSpPr>
          <p:cNvPr id="1101913" name="Rectangle 89"/>
          <p:cNvSpPr>
            <a:spLocks noChangeArrowheads="1"/>
          </p:cNvSpPr>
          <p:nvPr/>
        </p:nvSpPr>
        <p:spPr bwMode="auto">
          <a:xfrm>
            <a:off x="1571512" y="4377136"/>
            <a:ext cx="4895850" cy="2376264"/>
          </a:xfrm>
          <a:prstGeom prst="rect">
            <a:avLst/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1827" name="Rectangle 3"/>
          <p:cNvSpPr>
            <a:spLocks noChangeArrowheads="1"/>
          </p:cNvSpPr>
          <p:nvPr/>
        </p:nvSpPr>
        <p:spPr bwMode="auto">
          <a:xfrm>
            <a:off x="551384" y="992078"/>
            <a:ext cx="7489825" cy="635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altLang="zh-CN" sz="2800" b="1" dirty="0">
                <a:solidFill>
                  <a:srgbClr val="CC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【</a:t>
            </a:r>
            <a:r>
              <a:rPr lang="zh-CN" altLang="en-US" sz="2800" b="1" dirty="0">
                <a:solidFill>
                  <a:srgbClr val="CC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sz="2800" b="1" dirty="0">
                <a:solidFill>
                  <a:srgbClr val="CC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】</a:t>
            </a:r>
            <a:r>
              <a:rPr lang="zh-CN" altLang="en-US" sz="2800" b="1" dirty="0">
                <a:solidFill>
                  <a:srgbClr val="CC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计算三个数中最大数与最小数的差。</a:t>
            </a:r>
          </a:p>
        </p:txBody>
      </p:sp>
      <p:sp>
        <p:nvSpPr>
          <p:cNvPr id="1101887" name="Rectangle 63" descr="信纸"/>
          <p:cNvSpPr>
            <a:spLocks noChangeArrowheads="1"/>
          </p:cNvSpPr>
          <p:nvPr/>
        </p:nvSpPr>
        <p:spPr bwMode="auto">
          <a:xfrm>
            <a:off x="1558925" y="498064"/>
            <a:ext cx="4896222" cy="3785652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lang="en-US" altLang="zh-CN" sz="2000" b="1" dirty="0"/>
              <a:t>#include &lt;</a:t>
            </a:r>
            <a:r>
              <a:rPr lang="en-US" altLang="zh-CN" sz="2000" b="1" dirty="0" err="1"/>
              <a:t>stdio.h</a:t>
            </a:r>
            <a:r>
              <a:rPr lang="en-US" altLang="zh-CN" sz="2000" b="1" dirty="0"/>
              <a:t>&gt;</a:t>
            </a:r>
          </a:p>
          <a:p>
            <a:pPr marL="457200" indent="-457200"/>
            <a:r>
              <a:rPr lang="en-US" altLang="zh-CN" sz="2000" b="1" dirty="0"/>
              <a:t> 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dif (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x, 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y, 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z);</a:t>
            </a:r>
          </a:p>
          <a:p>
            <a:pPr marL="457200" indent="-457200"/>
            <a:r>
              <a:rPr lang="en-US" altLang="zh-CN" sz="2000" b="1" dirty="0"/>
              <a:t> 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max (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x, 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y, 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z);</a:t>
            </a:r>
          </a:p>
          <a:p>
            <a:pPr marL="457200" indent="-457200"/>
            <a:r>
              <a:rPr lang="en-US" altLang="zh-CN" sz="2000" b="1" dirty="0"/>
              <a:t> 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min (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x, 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y, 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z);</a:t>
            </a:r>
          </a:p>
          <a:p>
            <a:pPr marL="457200" indent="-457200"/>
            <a:r>
              <a:rPr lang="en-US" altLang="zh-CN" sz="2000" b="1" dirty="0" err="1">
                <a:solidFill>
                  <a:srgbClr val="CC0000"/>
                </a:solidFill>
              </a:rPr>
              <a:t>int</a:t>
            </a:r>
            <a:r>
              <a:rPr lang="en-US" altLang="zh-CN" sz="2000" b="1" dirty="0">
                <a:solidFill>
                  <a:srgbClr val="CC0000"/>
                </a:solidFill>
              </a:rPr>
              <a:t> main ( )</a:t>
            </a:r>
          </a:p>
          <a:p>
            <a:pPr marL="457200" indent="-457200"/>
            <a:r>
              <a:rPr lang="en-US" altLang="zh-CN" sz="2000" b="1" dirty="0"/>
              <a:t>{  </a:t>
            </a:r>
          </a:p>
          <a:p>
            <a:pPr marL="457200" indent="-457200"/>
            <a:r>
              <a:rPr lang="en-US" altLang="zh-CN" sz="2000" b="1" dirty="0"/>
              <a:t>    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a, b, c, d;</a:t>
            </a:r>
          </a:p>
          <a:p>
            <a:pPr marL="457200" indent="-457200"/>
            <a:r>
              <a:rPr lang="en-US" altLang="zh-CN" sz="2000" b="1" dirty="0"/>
              <a:t>    </a:t>
            </a:r>
            <a:r>
              <a:rPr lang="en-US" altLang="zh-CN" sz="2000" b="1" dirty="0" err="1"/>
              <a:t>scanf</a:t>
            </a:r>
            <a:r>
              <a:rPr lang="en-US" altLang="zh-CN" sz="2000" b="1" dirty="0"/>
              <a:t> ("%</a:t>
            </a:r>
            <a:r>
              <a:rPr lang="en-US" altLang="zh-CN" sz="2000" b="1" dirty="0" err="1"/>
              <a:t>d%d%d</a:t>
            </a:r>
            <a:r>
              <a:rPr lang="en-US" altLang="zh-CN" sz="2000" b="1" dirty="0"/>
              <a:t>", &amp;a, &amp;b, &amp;c);</a:t>
            </a:r>
          </a:p>
          <a:p>
            <a:pPr marL="457200" indent="-457200"/>
            <a:r>
              <a:rPr lang="en-US" altLang="zh-CN" sz="2000" b="1" dirty="0"/>
              <a:t>    d = dif (a, b, c);</a:t>
            </a:r>
          </a:p>
          <a:p>
            <a:pPr marL="457200" indent="-457200"/>
            <a:r>
              <a:rPr lang="en-US" altLang="zh-CN" sz="2000" b="1" dirty="0"/>
              <a:t>    </a:t>
            </a:r>
            <a:r>
              <a:rPr lang="en-US" altLang="zh-CN" sz="2000" b="1" dirty="0" err="1"/>
              <a:t>printf</a:t>
            </a:r>
            <a:r>
              <a:rPr lang="en-US" altLang="zh-CN" sz="2000" b="1" dirty="0"/>
              <a:t> ("Max - Min = %d\n", d);</a:t>
            </a:r>
          </a:p>
          <a:p>
            <a:pPr marL="457200" indent="-457200"/>
            <a:r>
              <a:rPr lang="en-US" altLang="zh-CN" sz="2000" b="1" dirty="0"/>
              <a:t>    return 0;</a:t>
            </a:r>
          </a:p>
          <a:p>
            <a:pPr marL="457200" indent="-457200"/>
            <a:r>
              <a:rPr lang="en-US" altLang="zh-CN" sz="2000" b="1" dirty="0"/>
              <a:t>}</a:t>
            </a:r>
          </a:p>
        </p:txBody>
      </p:sp>
      <p:sp>
        <p:nvSpPr>
          <p:cNvPr id="1101888" name="Rectangle 64" descr="信纸"/>
          <p:cNvSpPr>
            <a:spLocks noChangeArrowheads="1"/>
          </p:cNvSpPr>
          <p:nvPr/>
        </p:nvSpPr>
        <p:spPr bwMode="auto">
          <a:xfrm>
            <a:off x="7090921" y="675977"/>
            <a:ext cx="3757607" cy="5921375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lang="en-US" altLang="zh-CN" sz="2000" b="1" dirty="0">
                <a:solidFill>
                  <a:srgbClr val="C01920"/>
                </a:solidFill>
              </a:rPr>
              <a:t>int </a:t>
            </a:r>
            <a:r>
              <a:rPr lang="en-US" altLang="zh-CN" sz="2000" b="1" dirty="0" err="1">
                <a:solidFill>
                  <a:srgbClr val="C01920"/>
                </a:solidFill>
              </a:rPr>
              <a:t>dif</a:t>
            </a:r>
            <a:r>
              <a:rPr lang="en-US" altLang="zh-CN" sz="2000" b="1" dirty="0">
                <a:solidFill>
                  <a:srgbClr val="C01920"/>
                </a:solidFill>
              </a:rPr>
              <a:t> (int x, int y, int z) </a:t>
            </a:r>
          </a:p>
          <a:p>
            <a:pPr marL="457200" indent="-457200"/>
            <a:r>
              <a:rPr lang="en-US" altLang="zh-CN" sz="2000" b="1" dirty="0"/>
              <a:t>{  </a:t>
            </a:r>
          </a:p>
          <a:p>
            <a:pPr marL="457200" indent="-457200"/>
            <a:r>
              <a:rPr lang="en-US" altLang="zh-CN" sz="2000" b="1" dirty="0"/>
              <a:t>    return (max(x, y, z) – </a:t>
            </a:r>
          </a:p>
          <a:p>
            <a:pPr marL="457200" indent="-457200"/>
            <a:r>
              <a:rPr lang="en-US" altLang="zh-CN" sz="2000" b="1" dirty="0"/>
              <a:t>                 min(x, y, z)); </a:t>
            </a:r>
          </a:p>
          <a:p>
            <a:pPr marL="457200" indent="-457200"/>
            <a:r>
              <a:rPr lang="en-US" altLang="zh-CN" sz="2000" b="1" dirty="0"/>
              <a:t> }</a:t>
            </a:r>
          </a:p>
          <a:p>
            <a:pPr marL="457200" indent="-457200"/>
            <a:endParaRPr lang="en-US" altLang="zh-CN" sz="2000" b="1" dirty="0"/>
          </a:p>
          <a:p>
            <a:pPr marL="457200" indent="-457200"/>
            <a:r>
              <a:rPr lang="en-US" altLang="zh-CN" sz="2000" b="1" dirty="0">
                <a:solidFill>
                  <a:srgbClr val="002060"/>
                </a:solidFill>
              </a:rPr>
              <a:t>int max (int x, int y, int z) </a:t>
            </a:r>
          </a:p>
          <a:p>
            <a:pPr marL="457200" indent="-457200"/>
            <a:r>
              <a:rPr lang="en-US" altLang="zh-CN" sz="2000" b="1" dirty="0"/>
              <a:t>{    </a:t>
            </a:r>
          </a:p>
          <a:p>
            <a:pPr marL="457200" indent="-457200"/>
            <a:r>
              <a:rPr lang="en-US" altLang="zh-CN" sz="2000" b="1" dirty="0"/>
              <a:t>    int r;</a:t>
            </a:r>
          </a:p>
          <a:p>
            <a:pPr marL="457200" indent="-457200"/>
            <a:r>
              <a:rPr lang="en-US" altLang="zh-CN" sz="2000" b="1" dirty="0"/>
              <a:t>    r = x &gt; y ? x : y;</a:t>
            </a:r>
          </a:p>
          <a:p>
            <a:pPr marL="457200" indent="-457200"/>
            <a:r>
              <a:rPr lang="en-US" altLang="zh-CN" sz="2000" b="1" dirty="0"/>
              <a:t>    return (r &gt; z ? r : z);</a:t>
            </a:r>
          </a:p>
          <a:p>
            <a:pPr marL="457200" indent="-457200"/>
            <a:r>
              <a:rPr lang="en-US" altLang="zh-CN" sz="2000" b="1" dirty="0"/>
              <a:t>  }</a:t>
            </a:r>
          </a:p>
          <a:p>
            <a:pPr marL="457200" indent="-457200"/>
            <a:endParaRPr lang="en-US" altLang="zh-CN" sz="2000" b="1" dirty="0"/>
          </a:p>
          <a:p>
            <a:pPr marL="457200" indent="-457200"/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</a:rPr>
              <a:t>int min (int x, int y, int z) </a:t>
            </a:r>
          </a:p>
          <a:p>
            <a:pPr marL="457200" indent="-457200"/>
            <a:r>
              <a:rPr lang="en-US" altLang="zh-CN" sz="2000" b="1" dirty="0"/>
              <a:t>{ </a:t>
            </a:r>
          </a:p>
          <a:p>
            <a:pPr marL="457200" indent="-457200"/>
            <a:r>
              <a:rPr lang="en-US" altLang="zh-CN" sz="2000" b="1" dirty="0"/>
              <a:t>    int r;</a:t>
            </a:r>
          </a:p>
          <a:p>
            <a:pPr marL="457200" indent="-457200"/>
            <a:r>
              <a:rPr lang="en-US" altLang="zh-CN" sz="2000" b="1" dirty="0"/>
              <a:t>    r = x &lt; y ? x : y;</a:t>
            </a:r>
          </a:p>
          <a:p>
            <a:pPr marL="457200" indent="-457200"/>
            <a:r>
              <a:rPr lang="en-US" altLang="zh-CN" sz="2000" b="1" dirty="0"/>
              <a:t>    return (r &lt; z ? r : z);</a:t>
            </a:r>
          </a:p>
          <a:p>
            <a:pPr marL="457200" indent="-457200"/>
            <a:r>
              <a:rPr lang="en-US" altLang="zh-CN" sz="2000" b="1" dirty="0"/>
              <a:t>  }</a:t>
            </a:r>
          </a:p>
        </p:txBody>
      </p:sp>
      <p:sp>
        <p:nvSpPr>
          <p:cNvPr id="1101890" name="Text Box 66"/>
          <p:cNvSpPr txBox="1">
            <a:spLocks noChangeArrowheads="1"/>
          </p:cNvSpPr>
          <p:nvPr/>
        </p:nvSpPr>
        <p:spPr bwMode="auto">
          <a:xfrm>
            <a:off x="1832438" y="4339179"/>
            <a:ext cx="97334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main( )</a:t>
            </a:r>
          </a:p>
        </p:txBody>
      </p:sp>
      <p:sp>
        <p:nvSpPr>
          <p:cNvPr id="1101891" name="Text Box 67"/>
          <p:cNvSpPr txBox="1">
            <a:spLocks noChangeArrowheads="1"/>
          </p:cNvSpPr>
          <p:nvPr/>
        </p:nvSpPr>
        <p:spPr bwMode="auto">
          <a:xfrm>
            <a:off x="1547832" y="4996404"/>
            <a:ext cx="151515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zh-CN" altLang="zh-CN" sz="2000" b="1" dirty="0">
                <a:solidFill>
                  <a:srgbClr val="7030A0"/>
                </a:solidFill>
                <a:latin typeface="+mn-lt"/>
                <a:ea typeface="楷体" pitchFamily="49" charset="-122"/>
              </a:rPr>
              <a:t>调用函数</a:t>
            </a:r>
            <a:r>
              <a:rPr lang="en-US" altLang="zh-CN" sz="2000" b="1" dirty="0">
                <a:solidFill>
                  <a:srgbClr val="7030A0"/>
                </a:solidFill>
                <a:latin typeface="+mn-lt"/>
                <a:ea typeface="楷体" pitchFamily="49" charset="-122"/>
              </a:rPr>
              <a:t>dif</a:t>
            </a:r>
          </a:p>
        </p:txBody>
      </p:sp>
      <p:sp>
        <p:nvSpPr>
          <p:cNvPr id="1101892" name="Text Box 68"/>
          <p:cNvSpPr txBox="1">
            <a:spLocks noChangeArrowheads="1"/>
          </p:cNvSpPr>
          <p:nvPr/>
        </p:nvSpPr>
        <p:spPr bwMode="auto">
          <a:xfrm>
            <a:off x="1878204" y="5693416"/>
            <a:ext cx="70083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zh-CN" altLang="zh-CN" sz="2000" b="1">
                <a:solidFill>
                  <a:srgbClr val="C00000"/>
                </a:solidFill>
                <a:latin typeface="+mn-lt"/>
                <a:ea typeface="楷体" pitchFamily="49" charset="-122"/>
              </a:rPr>
              <a:t>输出</a:t>
            </a:r>
            <a:endParaRPr lang="zh-CN" altLang="en-US" sz="2000" b="1">
              <a:solidFill>
                <a:srgbClr val="C00000"/>
              </a:solidFill>
              <a:latin typeface="+mn-lt"/>
              <a:ea typeface="楷体" pitchFamily="49" charset="-122"/>
            </a:endParaRPr>
          </a:p>
          <a:p>
            <a:pPr algn="ctr" eaLnBrk="0" hangingPunct="0"/>
            <a:r>
              <a:rPr lang="zh-CN" altLang="zh-CN" sz="2000" b="1">
                <a:solidFill>
                  <a:srgbClr val="C00000"/>
                </a:solidFill>
                <a:latin typeface="+mn-lt"/>
                <a:ea typeface="楷体" pitchFamily="49" charset="-122"/>
              </a:rPr>
              <a:t>结束</a:t>
            </a:r>
            <a:endParaRPr lang="zh-CN" altLang="en-US" sz="2000" b="1">
              <a:solidFill>
                <a:srgbClr val="C00000"/>
              </a:solidFill>
              <a:latin typeface="+mn-lt"/>
              <a:ea typeface="楷体" pitchFamily="49" charset="-122"/>
            </a:endParaRPr>
          </a:p>
        </p:txBody>
      </p:sp>
      <p:sp>
        <p:nvSpPr>
          <p:cNvPr id="1101893" name="Text Box 69"/>
          <p:cNvSpPr txBox="1">
            <a:spLocks noChangeArrowheads="1"/>
          </p:cNvSpPr>
          <p:nvPr/>
        </p:nvSpPr>
        <p:spPr bwMode="auto">
          <a:xfrm>
            <a:off x="3529352" y="4367754"/>
            <a:ext cx="99899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zh-CN" sz="2000" b="1" dirty="0" err="1">
                <a:solidFill>
                  <a:srgbClr val="7030A0"/>
                </a:solidFill>
                <a:latin typeface="+mn-lt"/>
                <a:ea typeface="楷体" pitchFamily="49" charset="-122"/>
              </a:rPr>
              <a:t>dif</a:t>
            </a:r>
            <a:r>
              <a:rPr lang="zh-CN" altLang="zh-CN" sz="2000" b="1" dirty="0">
                <a:solidFill>
                  <a:srgbClr val="7030A0"/>
                </a:solidFill>
                <a:latin typeface="+mn-lt"/>
                <a:ea typeface="楷体" pitchFamily="49" charset="-122"/>
              </a:rPr>
              <a:t>函数</a:t>
            </a:r>
            <a:endParaRPr lang="zh-CN" altLang="en-US" sz="2000" b="1" dirty="0">
              <a:solidFill>
                <a:srgbClr val="7030A0"/>
              </a:solidFill>
              <a:latin typeface="+mn-lt"/>
              <a:ea typeface="楷体" pitchFamily="49" charset="-122"/>
            </a:endParaRPr>
          </a:p>
        </p:txBody>
      </p:sp>
      <p:sp>
        <p:nvSpPr>
          <p:cNvPr id="1101894" name="Text Box 70"/>
          <p:cNvSpPr txBox="1">
            <a:spLocks noChangeArrowheads="1"/>
          </p:cNvSpPr>
          <p:nvPr/>
        </p:nvSpPr>
        <p:spPr bwMode="auto">
          <a:xfrm>
            <a:off x="5120784" y="4448716"/>
            <a:ext cx="117051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zh-CN" sz="2000" b="1">
                <a:solidFill>
                  <a:srgbClr val="002060"/>
                </a:solidFill>
                <a:latin typeface="+mn-lt"/>
                <a:ea typeface="楷体" pitchFamily="49" charset="-122"/>
              </a:rPr>
              <a:t>max</a:t>
            </a:r>
            <a:r>
              <a:rPr lang="zh-CN" altLang="zh-CN" sz="2000" b="1">
                <a:solidFill>
                  <a:srgbClr val="002060"/>
                </a:solidFill>
                <a:latin typeface="+mn-lt"/>
                <a:ea typeface="楷体" pitchFamily="49" charset="-122"/>
              </a:rPr>
              <a:t>函数</a:t>
            </a:r>
            <a:endParaRPr lang="zh-CN" altLang="en-US" sz="2000" b="1">
              <a:solidFill>
                <a:srgbClr val="002060"/>
              </a:solidFill>
              <a:latin typeface="+mn-lt"/>
              <a:ea typeface="楷体" pitchFamily="49" charset="-122"/>
            </a:endParaRPr>
          </a:p>
        </p:txBody>
      </p:sp>
      <p:sp>
        <p:nvSpPr>
          <p:cNvPr id="1101895" name="Text Box 71"/>
          <p:cNvSpPr txBox="1">
            <a:spLocks noChangeArrowheads="1"/>
          </p:cNvSpPr>
          <p:nvPr/>
        </p:nvSpPr>
        <p:spPr bwMode="auto">
          <a:xfrm>
            <a:off x="3163659" y="5085334"/>
            <a:ext cx="17621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 eaLnBrk="0" hangingPunct="0"/>
            <a:r>
              <a:rPr lang="zh-CN" altLang="zh-CN" sz="2000" b="1">
                <a:solidFill>
                  <a:srgbClr val="002060"/>
                </a:solidFill>
                <a:latin typeface="+mn-lt"/>
                <a:ea typeface="楷体" pitchFamily="49" charset="-122"/>
              </a:rPr>
              <a:t>调用函数</a:t>
            </a:r>
            <a:r>
              <a:rPr lang="en-US" altLang="zh-CN" sz="2000" b="1">
                <a:solidFill>
                  <a:srgbClr val="002060"/>
                </a:solidFill>
                <a:latin typeface="+mn-lt"/>
                <a:ea typeface="楷体" pitchFamily="49" charset="-122"/>
              </a:rPr>
              <a:t>max</a:t>
            </a:r>
          </a:p>
        </p:txBody>
      </p:sp>
      <p:sp>
        <p:nvSpPr>
          <p:cNvPr id="1101896" name="Line 72"/>
          <p:cNvSpPr>
            <a:spLocks noChangeShapeType="1"/>
          </p:cNvSpPr>
          <p:nvPr/>
        </p:nvSpPr>
        <p:spPr bwMode="auto">
          <a:xfrm>
            <a:off x="2249258" y="4701159"/>
            <a:ext cx="0" cy="404813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stealth" w="lg" len="lg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1897" name="Line 73"/>
          <p:cNvSpPr>
            <a:spLocks noChangeShapeType="1"/>
          </p:cNvSpPr>
          <p:nvPr/>
        </p:nvSpPr>
        <p:spPr bwMode="auto">
          <a:xfrm>
            <a:off x="2249258" y="5332983"/>
            <a:ext cx="0" cy="45085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stealth" w="lg" len="lg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1898" name="Line 74"/>
          <p:cNvSpPr>
            <a:spLocks noChangeShapeType="1"/>
          </p:cNvSpPr>
          <p:nvPr/>
        </p:nvSpPr>
        <p:spPr bwMode="auto">
          <a:xfrm flipV="1">
            <a:off x="2996972" y="4745608"/>
            <a:ext cx="1019175" cy="496888"/>
          </a:xfrm>
          <a:prstGeom prst="line">
            <a:avLst/>
          </a:prstGeom>
          <a:noFill/>
          <a:ln w="28575">
            <a:solidFill>
              <a:srgbClr val="002060"/>
            </a:solidFill>
            <a:round/>
            <a:headEnd/>
            <a:tailEnd type="stealth" w="lg" len="lg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1899" name="Line 75"/>
          <p:cNvSpPr>
            <a:spLocks noChangeShapeType="1"/>
          </p:cNvSpPr>
          <p:nvPr/>
        </p:nvSpPr>
        <p:spPr bwMode="auto">
          <a:xfrm>
            <a:off x="4016146" y="4836096"/>
            <a:ext cx="0" cy="315912"/>
          </a:xfrm>
          <a:prstGeom prst="line">
            <a:avLst/>
          </a:prstGeom>
          <a:noFill/>
          <a:ln w="28575">
            <a:solidFill>
              <a:srgbClr val="002060"/>
            </a:solidFill>
            <a:round/>
            <a:headEnd/>
            <a:tailEnd type="stealth" w="lg" len="lg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1901" name="Line 77"/>
          <p:cNvSpPr>
            <a:spLocks noChangeShapeType="1"/>
          </p:cNvSpPr>
          <p:nvPr/>
        </p:nvSpPr>
        <p:spPr bwMode="auto">
          <a:xfrm flipH="1" flipV="1">
            <a:off x="2417533" y="5372672"/>
            <a:ext cx="1512888" cy="1309687"/>
          </a:xfrm>
          <a:prstGeom prst="line">
            <a:avLst/>
          </a:prstGeom>
          <a:noFill/>
          <a:ln w="28575">
            <a:solidFill>
              <a:srgbClr val="002060"/>
            </a:solidFill>
            <a:round/>
            <a:headEnd/>
            <a:tailEnd type="stealth" w="lg" len="lg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1902" name="Text Box 78"/>
          <p:cNvSpPr txBox="1">
            <a:spLocks noChangeArrowheads="1"/>
          </p:cNvSpPr>
          <p:nvPr/>
        </p:nvSpPr>
        <p:spPr bwMode="auto">
          <a:xfrm>
            <a:off x="3285897" y="5815584"/>
            <a:ext cx="16287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zh-CN" altLang="zh-CN" sz="2000" b="1">
                <a:solidFill>
                  <a:schemeClr val="accent1">
                    <a:lumMod val="50000"/>
                  </a:schemeClr>
                </a:solidFill>
                <a:latin typeface="+mn-lt"/>
                <a:ea typeface="楷体" pitchFamily="49" charset="-122"/>
              </a:rPr>
              <a:t>调用函数</a:t>
            </a:r>
            <a:r>
              <a:rPr lang="en-US" altLang="zh-CN" sz="2000" b="1">
                <a:solidFill>
                  <a:schemeClr val="accent1">
                    <a:lumMod val="50000"/>
                  </a:schemeClr>
                </a:solidFill>
                <a:latin typeface="+mn-lt"/>
                <a:ea typeface="楷体" pitchFamily="49" charset="-122"/>
              </a:rPr>
              <a:t>min</a:t>
            </a:r>
          </a:p>
        </p:txBody>
      </p:sp>
      <p:sp>
        <p:nvSpPr>
          <p:cNvPr id="1101903" name="Line 79"/>
          <p:cNvSpPr>
            <a:spLocks noChangeShapeType="1"/>
          </p:cNvSpPr>
          <p:nvPr/>
        </p:nvSpPr>
        <p:spPr bwMode="auto">
          <a:xfrm flipV="1">
            <a:off x="4822596" y="4796409"/>
            <a:ext cx="660400" cy="417513"/>
          </a:xfrm>
          <a:prstGeom prst="line">
            <a:avLst/>
          </a:prstGeom>
          <a:noFill/>
          <a:ln w="28575">
            <a:solidFill>
              <a:srgbClr val="002060"/>
            </a:solidFill>
            <a:round/>
            <a:headEnd/>
            <a:tailEnd type="stealth" w="lg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1904" name="Line 80"/>
          <p:cNvSpPr>
            <a:spLocks noChangeShapeType="1"/>
          </p:cNvSpPr>
          <p:nvPr/>
        </p:nvSpPr>
        <p:spPr bwMode="auto">
          <a:xfrm>
            <a:off x="5484583" y="4891659"/>
            <a:ext cx="0" cy="530225"/>
          </a:xfrm>
          <a:prstGeom prst="line">
            <a:avLst/>
          </a:prstGeom>
          <a:noFill/>
          <a:ln w="28575">
            <a:solidFill>
              <a:srgbClr val="002060"/>
            </a:solidFill>
            <a:round/>
            <a:headEnd/>
            <a:tailEnd type="stealth" w="lg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1905" name="Line 81"/>
          <p:cNvSpPr>
            <a:spLocks noChangeShapeType="1"/>
          </p:cNvSpPr>
          <p:nvPr/>
        </p:nvSpPr>
        <p:spPr bwMode="auto">
          <a:xfrm flipH="1" flipV="1">
            <a:off x="4811483" y="5350447"/>
            <a:ext cx="692150" cy="128587"/>
          </a:xfrm>
          <a:prstGeom prst="line">
            <a:avLst/>
          </a:prstGeom>
          <a:noFill/>
          <a:ln w="28575">
            <a:solidFill>
              <a:srgbClr val="002060"/>
            </a:solidFill>
            <a:round/>
            <a:headEnd/>
            <a:tailEnd type="stealth" w="lg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1906" name="Line 82"/>
          <p:cNvSpPr>
            <a:spLocks noChangeShapeType="1"/>
          </p:cNvSpPr>
          <p:nvPr/>
        </p:nvSpPr>
        <p:spPr bwMode="auto">
          <a:xfrm flipV="1">
            <a:off x="4851172" y="5806058"/>
            <a:ext cx="547687" cy="242888"/>
          </a:xfrm>
          <a:prstGeom prst="line">
            <a:avLst/>
          </a:prstGeom>
          <a:noFill/>
          <a:ln w="28575">
            <a:solidFill>
              <a:srgbClr val="002060"/>
            </a:solidFill>
            <a:round/>
            <a:headEnd/>
            <a:tailEnd type="stealth" w="lg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1907" name="Line 83"/>
          <p:cNvSpPr>
            <a:spLocks noChangeShapeType="1"/>
          </p:cNvSpPr>
          <p:nvPr/>
        </p:nvSpPr>
        <p:spPr bwMode="auto">
          <a:xfrm>
            <a:off x="5470296" y="5850508"/>
            <a:ext cx="0" cy="647700"/>
          </a:xfrm>
          <a:prstGeom prst="line">
            <a:avLst/>
          </a:prstGeom>
          <a:noFill/>
          <a:ln w="28575">
            <a:solidFill>
              <a:srgbClr val="002060"/>
            </a:solidFill>
            <a:round/>
            <a:headEnd/>
            <a:tailEnd type="stealth" w="lg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1908" name="Line 84"/>
          <p:cNvSpPr>
            <a:spLocks noChangeShapeType="1"/>
          </p:cNvSpPr>
          <p:nvPr/>
        </p:nvSpPr>
        <p:spPr bwMode="auto">
          <a:xfrm flipH="1" flipV="1">
            <a:off x="4751158" y="6164833"/>
            <a:ext cx="712788" cy="393700"/>
          </a:xfrm>
          <a:prstGeom prst="line">
            <a:avLst/>
          </a:prstGeom>
          <a:noFill/>
          <a:ln w="28575">
            <a:solidFill>
              <a:srgbClr val="002060"/>
            </a:solidFill>
            <a:round/>
            <a:headEnd/>
            <a:tailEnd type="stealth" w="lg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1909" name="Text Box 85"/>
          <p:cNvSpPr txBox="1">
            <a:spLocks noChangeArrowheads="1"/>
          </p:cNvSpPr>
          <p:nvPr/>
        </p:nvSpPr>
        <p:spPr bwMode="auto">
          <a:xfrm>
            <a:off x="5097233" y="5459984"/>
            <a:ext cx="1117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zh-CN" sz="2000" b="1">
                <a:solidFill>
                  <a:schemeClr val="accent1">
                    <a:lumMod val="50000"/>
                  </a:schemeClr>
                </a:solidFill>
                <a:latin typeface="+mn-lt"/>
                <a:ea typeface="楷体" pitchFamily="49" charset="-122"/>
              </a:rPr>
              <a:t>min</a:t>
            </a:r>
            <a:r>
              <a:rPr lang="zh-CN" altLang="zh-CN" sz="2000" b="1">
                <a:solidFill>
                  <a:schemeClr val="accent1">
                    <a:lumMod val="50000"/>
                  </a:schemeClr>
                </a:solidFill>
                <a:latin typeface="+mn-lt"/>
                <a:ea typeface="楷体" pitchFamily="49" charset="-122"/>
              </a:rPr>
              <a:t>函数</a:t>
            </a:r>
            <a:endParaRPr lang="zh-CN" altLang="en-US" sz="2000" b="1">
              <a:solidFill>
                <a:schemeClr val="accent1">
                  <a:lumMod val="50000"/>
                </a:schemeClr>
              </a:solidFill>
              <a:latin typeface="+mn-lt"/>
              <a:ea typeface="楷体" pitchFamily="49" charset="-122"/>
            </a:endParaRPr>
          </a:p>
        </p:txBody>
      </p:sp>
      <p:sp>
        <p:nvSpPr>
          <p:cNvPr id="1101910" name="Line 86"/>
          <p:cNvSpPr>
            <a:spLocks noChangeShapeType="1"/>
          </p:cNvSpPr>
          <p:nvPr/>
        </p:nvSpPr>
        <p:spPr bwMode="auto">
          <a:xfrm>
            <a:off x="4017733" y="5423472"/>
            <a:ext cx="0" cy="460375"/>
          </a:xfrm>
          <a:prstGeom prst="line">
            <a:avLst/>
          </a:prstGeom>
          <a:noFill/>
          <a:ln w="28575">
            <a:solidFill>
              <a:srgbClr val="002060"/>
            </a:solidFill>
            <a:round/>
            <a:headEnd/>
            <a:tailEnd type="stealth" w="lg" len="lg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1912" name="Line 88"/>
          <p:cNvSpPr>
            <a:spLocks noChangeShapeType="1"/>
          </p:cNvSpPr>
          <p:nvPr/>
        </p:nvSpPr>
        <p:spPr bwMode="auto">
          <a:xfrm>
            <a:off x="4001858" y="6134671"/>
            <a:ext cx="0" cy="557212"/>
          </a:xfrm>
          <a:prstGeom prst="line">
            <a:avLst/>
          </a:prstGeom>
          <a:noFill/>
          <a:ln w="28575">
            <a:solidFill>
              <a:srgbClr val="002060"/>
            </a:solidFill>
            <a:round/>
            <a:headEnd/>
            <a:tailEnd type="stealth" w="lg" len="lg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018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1018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1019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11018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500"/>
                                        <p:tgtEl>
                                          <p:spTgt spid="11018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11018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3" dur="500"/>
                                        <p:tgtEl>
                                          <p:spTgt spid="11018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1018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1" dur="500"/>
                                        <p:tgtEl>
                                          <p:spTgt spid="11018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500"/>
                            </p:stCondLst>
                            <p:childTnLst>
                              <p:par>
                                <p:cTn id="43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11018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000"/>
                            </p:stCondLst>
                            <p:childTnLst>
                              <p:par>
                                <p:cTn id="47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9" dur="500"/>
                                        <p:tgtEl>
                                          <p:spTgt spid="11019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0"/>
                            </p:stCondLst>
                            <p:childTnLst>
                              <p:par>
                                <p:cTn id="51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500"/>
                                        <p:tgtEl>
                                          <p:spTgt spid="11018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7" dur="500"/>
                                        <p:tgtEl>
                                          <p:spTgt spid="11019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500"/>
                            </p:stCondLst>
                            <p:childTnLst>
                              <p:par>
                                <p:cTn id="59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1" dur="500"/>
                                        <p:tgtEl>
                                          <p:spTgt spid="11019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6000"/>
                            </p:stCondLst>
                            <p:childTnLst>
                              <p:par>
                                <p:cTn id="63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5" dur="500"/>
                                        <p:tgtEl>
                                          <p:spTgt spid="11019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6500"/>
                            </p:stCondLst>
                            <p:childTnLst>
                              <p:par>
                                <p:cTn id="67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9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9" dur="500"/>
                                        <p:tgtEl>
                                          <p:spTgt spid="11019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7000"/>
                            </p:stCondLst>
                            <p:childTnLst>
                              <p:par>
                                <p:cTn id="71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3" dur="500"/>
                                        <p:tgtEl>
                                          <p:spTgt spid="11019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7500"/>
                            </p:stCondLst>
                            <p:childTnLst>
                              <p:par>
                                <p:cTn id="7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7" dur="500"/>
                                        <p:tgtEl>
                                          <p:spTgt spid="11019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8000"/>
                            </p:stCondLst>
                            <p:childTnLst>
                              <p:par>
                                <p:cTn id="79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1" dur="500"/>
                                        <p:tgtEl>
                                          <p:spTgt spid="11019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8500"/>
                            </p:stCondLst>
                            <p:childTnLst>
                              <p:par>
                                <p:cTn id="83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5" dur="500"/>
                                        <p:tgtEl>
                                          <p:spTgt spid="11019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9000"/>
                            </p:stCondLst>
                            <p:childTnLst>
                              <p:par>
                                <p:cTn id="87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9" dur="500"/>
                                        <p:tgtEl>
                                          <p:spTgt spid="11019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9500"/>
                            </p:stCondLst>
                            <p:childTnLst>
                              <p:par>
                                <p:cTn id="91" presetID="18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93" dur="500"/>
                                        <p:tgtEl>
                                          <p:spTgt spid="110190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0000"/>
                            </p:stCondLst>
                            <p:childTnLst>
                              <p:par>
                                <p:cTn id="95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7" dur="500"/>
                                        <p:tgtEl>
                                          <p:spTgt spid="11018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0500"/>
                            </p:stCondLst>
                            <p:childTnLst>
                              <p:par>
                                <p:cTn id="9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1" dur="500"/>
                                        <p:tgtEl>
                                          <p:spTgt spid="110189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1913" grpId="0" animBg="1"/>
      <p:bldP spid="1101887" grpId="0" animBg="1"/>
      <p:bldP spid="1101888" grpId="0" animBg="1"/>
      <p:bldP spid="1101890" grpId="0"/>
      <p:bldP spid="1101891" grpId="0"/>
      <p:bldP spid="1101892" grpId="0"/>
      <p:bldP spid="1101893" grpId="0"/>
      <p:bldP spid="1101894" grpId="0"/>
      <p:bldP spid="1101895" grpId="0"/>
      <p:bldP spid="1101896" grpId="0" animBg="1"/>
      <p:bldP spid="1101897" grpId="0" animBg="1"/>
      <p:bldP spid="1101898" grpId="0" animBg="1"/>
      <p:bldP spid="1101899" grpId="0" animBg="1"/>
      <p:bldP spid="1101901" grpId="0" animBg="1"/>
      <p:bldP spid="1101903" grpId="0" animBg="1"/>
      <p:bldP spid="1101904" grpId="0" animBg="1"/>
      <p:bldP spid="1101905" grpId="0" animBg="1"/>
      <p:bldP spid="1101906" grpId="0" animBg="1"/>
      <p:bldP spid="1101907" grpId="0" animBg="1"/>
      <p:bldP spid="1101908" grpId="0" animBg="1"/>
      <p:bldP spid="1101909" grpId="0"/>
      <p:bldP spid="1101910" grpId="0" animBg="1"/>
      <p:bldP spid="1101912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850" name="Rectangle 2"/>
          <p:cNvSpPr>
            <a:spLocks noChangeArrowheads="1"/>
          </p:cNvSpPr>
          <p:nvPr/>
        </p:nvSpPr>
        <p:spPr bwMode="auto">
          <a:xfrm>
            <a:off x="643046" y="1495166"/>
            <a:ext cx="8534400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800100" lvl="1" indent="-342900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定义</a:t>
            </a:r>
            <a:r>
              <a:rPr lang="zh-CN" altLang="en-US" b="1" dirty="0">
                <a:latin typeface="+mn-lt"/>
                <a:ea typeface="楷体" pitchFamily="49" charset="-122"/>
              </a:rPr>
              <a:t>：函数直接或间接的调用自身叫函数的递归调用</a:t>
            </a:r>
          </a:p>
        </p:txBody>
      </p:sp>
      <p:grpSp>
        <p:nvGrpSpPr>
          <p:cNvPr id="1102882" name="Group 34"/>
          <p:cNvGrpSpPr>
            <a:grpSpLocks/>
          </p:cNvGrpSpPr>
          <p:nvPr/>
        </p:nvGrpSpPr>
        <p:grpSpPr bwMode="auto">
          <a:xfrm>
            <a:off x="2063552" y="4987674"/>
            <a:ext cx="1284288" cy="1581149"/>
            <a:chOff x="948" y="2289"/>
            <a:chExt cx="809" cy="996"/>
          </a:xfrm>
        </p:grpSpPr>
        <p:sp>
          <p:nvSpPr>
            <p:cNvPr id="1102852" name="Text Box 4"/>
            <p:cNvSpPr txBox="1">
              <a:spLocks noChangeArrowheads="1"/>
            </p:cNvSpPr>
            <p:nvPr/>
          </p:nvSpPr>
          <p:spPr bwMode="auto">
            <a:xfrm>
              <a:off x="1402" y="2289"/>
              <a:ext cx="35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altLang="zh-CN" sz="2000" b="1">
                  <a:solidFill>
                    <a:srgbClr val="002060"/>
                  </a:solidFill>
                </a:rPr>
                <a:t>f ( )</a:t>
              </a:r>
            </a:p>
          </p:txBody>
        </p:sp>
        <p:sp>
          <p:nvSpPr>
            <p:cNvPr id="1102853" name="Text Box 5"/>
            <p:cNvSpPr txBox="1">
              <a:spLocks noChangeArrowheads="1"/>
            </p:cNvSpPr>
            <p:nvPr/>
          </p:nvSpPr>
          <p:spPr bwMode="auto">
            <a:xfrm>
              <a:off x="1369" y="3033"/>
              <a:ext cx="332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zh-CN" altLang="zh-CN" sz="2000" b="1" dirty="0">
                  <a:solidFill>
                    <a:srgbClr val="CC0000"/>
                  </a:solidFill>
                  <a:latin typeface="+mn-lt"/>
                  <a:ea typeface="楷体" pitchFamily="49" charset="-122"/>
                </a:rPr>
                <a:t>调</a:t>
              </a:r>
              <a:r>
                <a:rPr lang="en-US" altLang="zh-CN" sz="2000" b="1" dirty="0">
                  <a:solidFill>
                    <a:srgbClr val="CC0000"/>
                  </a:solidFill>
                  <a:latin typeface="+mn-lt"/>
                  <a:ea typeface="楷体" pitchFamily="49" charset="-122"/>
                </a:rPr>
                <a:t>f</a:t>
              </a:r>
            </a:p>
          </p:txBody>
        </p:sp>
        <p:sp>
          <p:nvSpPr>
            <p:cNvPr id="1102854" name="Line 6"/>
            <p:cNvSpPr>
              <a:spLocks noChangeShapeType="1"/>
            </p:cNvSpPr>
            <p:nvPr/>
          </p:nvSpPr>
          <p:spPr bwMode="auto">
            <a:xfrm>
              <a:off x="1552" y="2528"/>
              <a:ext cx="0" cy="532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stealth" w="lg" len="lg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 dirty="0"/>
            </a:p>
          </p:txBody>
        </p:sp>
        <p:grpSp>
          <p:nvGrpSpPr>
            <p:cNvPr id="1102881" name="Group 33"/>
            <p:cNvGrpSpPr>
              <a:grpSpLocks/>
            </p:cNvGrpSpPr>
            <p:nvPr/>
          </p:nvGrpSpPr>
          <p:grpSpPr bwMode="auto">
            <a:xfrm>
              <a:off x="948" y="2441"/>
              <a:ext cx="472" cy="722"/>
              <a:chOff x="975" y="2414"/>
              <a:chExt cx="472" cy="722"/>
            </a:xfrm>
          </p:grpSpPr>
          <p:sp>
            <p:nvSpPr>
              <p:cNvPr id="1102855" name="Line 7"/>
              <p:cNvSpPr>
                <a:spLocks noChangeShapeType="1"/>
              </p:cNvSpPr>
              <p:nvPr/>
            </p:nvSpPr>
            <p:spPr bwMode="auto">
              <a:xfrm flipH="1">
                <a:off x="975" y="3136"/>
                <a:ext cx="406" cy="0"/>
              </a:xfrm>
              <a:prstGeom prst="line">
                <a:avLst/>
              </a:prstGeom>
              <a:noFill/>
              <a:ln w="28575">
                <a:solidFill>
                  <a:srgbClr val="C00000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02856" name="Line 8"/>
              <p:cNvSpPr>
                <a:spLocks noChangeShapeType="1"/>
              </p:cNvSpPr>
              <p:nvPr/>
            </p:nvSpPr>
            <p:spPr bwMode="auto">
              <a:xfrm flipV="1">
                <a:off x="975" y="2414"/>
                <a:ext cx="0" cy="722"/>
              </a:xfrm>
              <a:prstGeom prst="line">
                <a:avLst/>
              </a:prstGeom>
              <a:noFill/>
              <a:ln w="28575">
                <a:solidFill>
                  <a:srgbClr val="C00000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02857" name="Line 9"/>
              <p:cNvSpPr>
                <a:spLocks noChangeShapeType="1"/>
              </p:cNvSpPr>
              <p:nvPr/>
            </p:nvSpPr>
            <p:spPr bwMode="auto">
              <a:xfrm>
                <a:off x="975" y="2414"/>
                <a:ext cx="472" cy="0"/>
              </a:xfrm>
              <a:prstGeom prst="line">
                <a:avLst/>
              </a:prstGeom>
              <a:noFill/>
              <a:ln w="28575">
                <a:solidFill>
                  <a:srgbClr val="C00000"/>
                </a:solidFill>
                <a:round/>
                <a:headEnd/>
                <a:tailEnd type="stealth" w="lg" len="lg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1102887" name="Group 39"/>
          <p:cNvGrpSpPr>
            <a:grpSpLocks/>
          </p:cNvGrpSpPr>
          <p:nvPr/>
        </p:nvGrpSpPr>
        <p:grpSpPr bwMode="auto">
          <a:xfrm>
            <a:off x="5674096" y="5170237"/>
            <a:ext cx="2052638" cy="1482726"/>
            <a:chOff x="2767" y="2395"/>
            <a:chExt cx="1293" cy="934"/>
          </a:xfrm>
        </p:grpSpPr>
        <p:sp>
          <p:nvSpPr>
            <p:cNvPr id="1102859" name="Text Box 11"/>
            <p:cNvSpPr txBox="1">
              <a:spLocks noChangeArrowheads="1"/>
            </p:cNvSpPr>
            <p:nvPr/>
          </p:nvSpPr>
          <p:spPr bwMode="auto">
            <a:xfrm>
              <a:off x="2767" y="3077"/>
              <a:ext cx="413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zh-CN" altLang="zh-CN" sz="2000" b="1" dirty="0">
                  <a:solidFill>
                    <a:srgbClr val="CC0000"/>
                  </a:solidFill>
                  <a:latin typeface="+mn-lt"/>
                  <a:ea typeface="楷体" pitchFamily="49" charset="-122"/>
                </a:rPr>
                <a:t>调</a:t>
              </a:r>
              <a:r>
                <a:rPr lang="en-US" altLang="zh-CN" sz="2000" b="1" dirty="0">
                  <a:solidFill>
                    <a:srgbClr val="CC0000"/>
                  </a:solidFill>
                  <a:latin typeface="+mn-lt"/>
                  <a:ea typeface="楷体" pitchFamily="49" charset="-122"/>
                </a:rPr>
                <a:t>f2</a:t>
              </a:r>
            </a:p>
          </p:txBody>
        </p:sp>
        <p:sp>
          <p:nvSpPr>
            <p:cNvPr id="1102860" name="Text Box 12"/>
            <p:cNvSpPr txBox="1">
              <a:spLocks noChangeArrowheads="1"/>
            </p:cNvSpPr>
            <p:nvPr/>
          </p:nvSpPr>
          <p:spPr bwMode="auto">
            <a:xfrm>
              <a:off x="3378" y="3072"/>
              <a:ext cx="49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 eaLnBrk="0" hangingPunct="0"/>
              <a:r>
                <a:rPr lang="zh-CN" altLang="zh-CN" sz="2000" b="1" dirty="0">
                  <a:solidFill>
                    <a:srgbClr val="CC0000"/>
                  </a:solidFill>
                  <a:latin typeface="+mn-lt"/>
                  <a:ea typeface="楷体" pitchFamily="49" charset="-122"/>
                </a:rPr>
                <a:t>调</a:t>
              </a:r>
              <a:r>
                <a:rPr lang="en-US" altLang="zh-CN" sz="2000" b="1" dirty="0">
                  <a:solidFill>
                    <a:srgbClr val="CC0000"/>
                  </a:solidFill>
                  <a:latin typeface="+mn-lt"/>
                  <a:ea typeface="楷体" pitchFamily="49" charset="-122"/>
                </a:rPr>
                <a:t>f1</a:t>
              </a:r>
            </a:p>
          </p:txBody>
        </p:sp>
        <p:sp>
          <p:nvSpPr>
            <p:cNvPr id="1102861" name="Text Box 13"/>
            <p:cNvSpPr txBox="1">
              <a:spLocks noChangeArrowheads="1"/>
            </p:cNvSpPr>
            <p:nvPr/>
          </p:nvSpPr>
          <p:spPr bwMode="auto">
            <a:xfrm>
              <a:off x="2811" y="2462"/>
              <a:ext cx="39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altLang="zh-CN" sz="2000" b="1">
                  <a:solidFill>
                    <a:srgbClr val="002060"/>
                  </a:solidFill>
                  <a:ea typeface="楷体_GB2312" pitchFamily="49" charset="-122"/>
                </a:rPr>
                <a:t>f1( )</a:t>
              </a:r>
            </a:p>
          </p:txBody>
        </p:sp>
        <p:sp>
          <p:nvSpPr>
            <p:cNvPr id="1102862" name="Text Box 14"/>
            <p:cNvSpPr txBox="1">
              <a:spLocks noChangeArrowheads="1"/>
            </p:cNvSpPr>
            <p:nvPr/>
          </p:nvSpPr>
          <p:spPr bwMode="auto">
            <a:xfrm>
              <a:off x="3453" y="2426"/>
              <a:ext cx="39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altLang="zh-CN" sz="2000" b="1" dirty="0">
                  <a:solidFill>
                    <a:srgbClr val="002060"/>
                  </a:solidFill>
                  <a:ea typeface="楷体_GB2312" pitchFamily="49" charset="-122"/>
                </a:rPr>
                <a:t>f2( )</a:t>
              </a:r>
            </a:p>
          </p:txBody>
        </p:sp>
        <p:sp>
          <p:nvSpPr>
            <p:cNvPr id="1102863" name="Line 15"/>
            <p:cNvSpPr>
              <a:spLocks noChangeShapeType="1"/>
            </p:cNvSpPr>
            <p:nvPr/>
          </p:nvSpPr>
          <p:spPr bwMode="auto">
            <a:xfrm>
              <a:off x="2964" y="2669"/>
              <a:ext cx="0" cy="444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stealth" w="lg" len="lg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2864" name="Line 16"/>
            <p:cNvSpPr>
              <a:spLocks noChangeShapeType="1"/>
            </p:cNvSpPr>
            <p:nvPr/>
          </p:nvSpPr>
          <p:spPr bwMode="auto">
            <a:xfrm flipV="1">
              <a:off x="3035" y="2634"/>
              <a:ext cx="500" cy="479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stealth" w="lg" len="lg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2865" name="Line 17"/>
            <p:cNvSpPr>
              <a:spLocks noChangeShapeType="1"/>
            </p:cNvSpPr>
            <p:nvPr/>
          </p:nvSpPr>
          <p:spPr bwMode="auto">
            <a:xfrm>
              <a:off x="3598" y="2676"/>
              <a:ext cx="0" cy="410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stealth" w="lg" len="lg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 dirty="0"/>
            </a:p>
          </p:txBody>
        </p:sp>
        <p:grpSp>
          <p:nvGrpSpPr>
            <p:cNvPr id="1102886" name="Group 38"/>
            <p:cNvGrpSpPr>
              <a:grpSpLocks/>
            </p:cNvGrpSpPr>
            <p:nvPr/>
          </p:nvGrpSpPr>
          <p:grpSpPr bwMode="auto">
            <a:xfrm>
              <a:off x="2964" y="2395"/>
              <a:ext cx="1096" cy="821"/>
              <a:chOff x="2964" y="2395"/>
              <a:chExt cx="1096" cy="821"/>
            </a:xfrm>
          </p:grpSpPr>
          <p:sp>
            <p:nvSpPr>
              <p:cNvPr id="1102866" name="Line 18"/>
              <p:cNvSpPr>
                <a:spLocks noChangeShapeType="1"/>
              </p:cNvSpPr>
              <p:nvPr/>
            </p:nvSpPr>
            <p:spPr bwMode="auto">
              <a:xfrm>
                <a:off x="3845" y="3216"/>
                <a:ext cx="215" cy="0"/>
              </a:xfrm>
              <a:prstGeom prst="line">
                <a:avLst/>
              </a:prstGeom>
              <a:noFill/>
              <a:ln w="28575">
                <a:solidFill>
                  <a:srgbClr val="002060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02867" name="Line 19"/>
              <p:cNvSpPr>
                <a:spLocks noChangeShapeType="1"/>
              </p:cNvSpPr>
              <p:nvPr/>
            </p:nvSpPr>
            <p:spPr bwMode="auto">
              <a:xfrm flipV="1">
                <a:off x="4059" y="2395"/>
                <a:ext cx="0" cy="821"/>
              </a:xfrm>
              <a:prstGeom prst="line">
                <a:avLst/>
              </a:prstGeom>
              <a:noFill/>
              <a:ln w="28575">
                <a:solidFill>
                  <a:srgbClr val="002060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02868" name="Line 20"/>
              <p:cNvSpPr>
                <a:spLocks noChangeShapeType="1"/>
              </p:cNvSpPr>
              <p:nvPr/>
            </p:nvSpPr>
            <p:spPr bwMode="auto">
              <a:xfrm flipH="1">
                <a:off x="2964" y="2395"/>
                <a:ext cx="1095" cy="0"/>
              </a:xfrm>
              <a:prstGeom prst="line">
                <a:avLst/>
              </a:prstGeom>
              <a:noFill/>
              <a:ln w="28575">
                <a:solidFill>
                  <a:srgbClr val="002060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02869" name="Line 21"/>
              <p:cNvSpPr>
                <a:spLocks noChangeShapeType="1"/>
              </p:cNvSpPr>
              <p:nvPr/>
            </p:nvSpPr>
            <p:spPr bwMode="auto">
              <a:xfrm>
                <a:off x="2964" y="2395"/>
                <a:ext cx="0" cy="103"/>
              </a:xfrm>
              <a:prstGeom prst="line">
                <a:avLst/>
              </a:prstGeom>
              <a:noFill/>
              <a:ln w="28575">
                <a:solidFill>
                  <a:srgbClr val="002060"/>
                </a:solidFill>
                <a:round/>
                <a:headEnd/>
                <a:tailEnd type="stealth" w="lg" len="lg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1102871" name="Text Box 23" descr="信纸"/>
          <p:cNvSpPr txBox="1">
            <a:spLocks noChangeArrowheads="1"/>
          </p:cNvSpPr>
          <p:nvPr/>
        </p:nvSpPr>
        <p:spPr bwMode="auto">
          <a:xfrm>
            <a:off x="1775520" y="2191544"/>
            <a:ext cx="2088232" cy="2568575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en-US" altLang="zh-CN" sz="2000" b="1" dirty="0"/>
              <a:t>int  </a:t>
            </a:r>
            <a:r>
              <a:rPr lang="en-US" altLang="zh-CN" sz="2000" b="1" dirty="0">
                <a:solidFill>
                  <a:srgbClr val="002060"/>
                </a:solidFill>
              </a:rPr>
              <a:t>f (int x)</a:t>
            </a:r>
          </a:p>
          <a:p>
            <a:r>
              <a:rPr lang="en-US" altLang="zh-CN" sz="2000" b="1" dirty="0"/>
              <a:t>{    </a:t>
            </a:r>
          </a:p>
          <a:p>
            <a:r>
              <a:rPr lang="en-US" altLang="zh-CN" sz="2000" b="1" dirty="0"/>
              <a:t>   int y, z;</a:t>
            </a:r>
          </a:p>
          <a:p>
            <a:r>
              <a:rPr lang="en-US" altLang="zh-CN" sz="2000" b="1" dirty="0"/>
              <a:t>   ……</a:t>
            </a:r>
          </a:p>
          <a:p>
            <a:r>
              <a:rPr lang="en-US" altLang="zh-CN" sz="2000" b="1" dirty="0"/>
              <a:t>   </a:t>
            </a:r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</a:rPr>
              <a:t>z = f (y);</a:t>
            </a:r>
          </a:p>
          <a:p>
            <a:r>
              <a:rPr lang="en-US" altLang="zh-CN" sz="2000" b="1" dirty="0"/>
              <a:t>    …….</a:t>
            </a:r>
          </a:p>
          <a:p>
            <a:r>
              <a:rPr lang="en-US" altLang="zh-CN" sz="2000" b="1" dirty="0"/>
              <a:t>   return (2*z);</a:t>
            </a:r>
          </a:p>
          <a:p>
            <a:r>
              <a:rPr lang="en-US" altLang="zh-CN" sz="2000" b="1" dirty="0"/>
              <a:t>}</a:t>
            </a:r>
          </a:p>
        </p:txBody>
      </p:sp>
      <p:grpSp>
        <p:nvGrpSpPr>
          <p:cNvPr id="1102884" name="Group 36"/>
          <p:cNvGrpSpPr>
            <a:grpSpLocks/>
          </p:cNvGrpSpPr>
          <p:nvPr/>
        </p:nvGrpSpPr>
        <p:grpSpPr bwMode="auto">
          <a:xfrm>
            <a:off x="4402510" y="2175669"/>
            <a:ext cx="4752975" cy="2605087"/>
            <a:chOff x="2245" y="627"/>
            <a:chExt cx="2994" cy="1641"/>
          </a:xfrm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grpSpPr>
        <p:sp>
          <p:nvSpPr>
            <p:cNvPr id="1102883" name="Rectangle 35" descr="信纸"/>
            <p:cNvSpPr>
              <a:spLocks noChangeArrowheads="1"/>
            </p:cNvSpPr>
            <p:nvPr/>
          </p:nvSpPr>
          <p:spPr bwMode="auto">
            <a:xfrm>
              <a:off x="2245" y="627"/>
              <a:ext cx="2994" cy="1633"/>
            </a:xfrm>
            <a:prstGeom prst="rect">
              <a:avLst/>
            </a:prstGeom>
            <a:gradFill>
              <a:gsLst>
                <a:gs pos="0">
                  <a:srgbClr val="CFCFD1"/>
                </a:gs>
                <a:gs pos="100000">
                  <a:schemeClr val="bg1"/>
                </a:gs>
              </a:gsLst>
              <a:lin ang="5400000" scaled="1"/>
            </a:gradFill>
            <a:ln w="38100">
              <a:solidFill>
                <a:srgbClr val="00206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2873" name="Text Box 25"/>
            <p:cNvSpPr txBox="1">
              <a:spLocks noChangeArrowheads="1"/>
            </p:cNvSpPr>
            <p:nvPr/>
          </p:nvSpPr>
          <p:spPr bwMode="auto">
            <a:xfrm>
              <a:off x="2327" y="674"/>
              <a:ext cx="1110" cy="15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wrap="none">
              <a:spAutoFit/>
            </a:bodyPr>
            <a:lstStyle/>
            <a:p>
              <a:r>
                <a:rPr lang="en-US" altLang="zh-CN" sz="2000" b="1" dirty="0"/>
                <a:t>int  </a:t>
              </a:r>
              <a:r>
                <a:rPr lang="en-US" altLang="zh-CN" sz="2000" b="1" dirty="0">
                  <a:solidFill>
                    <a:srgbClr val="002060"/>
                  </a:solidFill>
                </a:rPr>
                <a:t>f1 (int x)</a:t>
              </a:r>
            </a:p>
            <a:p>
              <a:r>
                <a:rPr lang="en-US" altLang="zh-CN" sz="2000" b="1" dirty="0"/>
                <a:t>{    </a:t>
              </a:r>
            </a:p>
            <a:p>
              <a:r>
                <a:rPr lang="en-US" altLang="zh-CN" sz="2000" b="1" dirty="0"/>
                <a:t>   int </a:t>
              </a:r>
              <a:r>
                <a:rPr lang="en-US" altLang="zh-CN" sz="2000" b="1" dirty="0" err="1"/>
                <a:t>y,z</a:t>
              </a:r>
              <a:r>
                <a:rPr lang="en-US" altLang="zh-CN" sz="2000" b="1" dirty="0"/>
                <a:t>;</a:t>
              </a:r>
            </a:p>
            <a:p>
              <a:r>
                <a:rPr lang="en-US" altLang="zh-CN" sz="2000" b="1" dirty="0"/>
                <a:t>   ……</a:t>
              </a:r>
            </a:p>
            <a:p>
              <a:r>
                <a:rPr lang="en-US" altLang="zh-CN" sz="2000" b="1" dirty="0">
                  <a:solidFill>
                    <a:schemeClr val="accent1">
                      <a:lumMod val="50000"/>
                    </a:schemeClr>
                  </a:solidFill>
                </a:rPr>
                <a:t>   z = f2 (y);</a:t>
              </a:r>
            </a:p>
            <a:p>
              <a:r>
                <a:rPr lang="en-US" altLang="zh-CN" sz="2000" b="1" dirty="0"/>
                <a:t>   …….</a:t>
              </a:r>
            </a:p>
            <a:p>
              <a:r>
                <a:rPr lang="en-US" altLang="zh-CN" sz="2000" b="1" dirty="0"/>
                <a:t>   return (2*z);</a:t>
              </a:r>
            </a:p>
            <a:p>
              <a:r>
                <a:rPr lang="en-US" altLang="zh-CN" sz="2000" b="1" dirty="0"/>
                <a:t>}</a:t>
              </a:r>
            </a:p>
          </p:txBody>
        </p:sp>
        <p:sp>
          <p:nvSpPr>
            <p:cNvPr id="1102874" name="Text Box 26"/>
            <p:cNvSpPr txBox="1">
              <a:spLocks noChangeArrowheads="1"/>
            </p:cNvSpPr>
            <p:nvPr/>
          </p:nvSpPr>
          <p:spPr bwMode="auto">
            <a:xfrm>
              <a:off x="3916" y="663"/>
              <a:ext cx="1121" cy="15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wrap="none">
              <a:spAutoFit/>
            </a:bodyPr>
            <a:lstStyle/>
            <a:p>
              <a:r>
                <a:rPr lang="en-US" altLang="zh-CN" sz="2000" b="1" dirty="0"/>
                <a:t>int  </a:t>
              </a:r>
              <a:r>
                <a:rPr lang="en-US" altLang="zh-CN" sz="2000" b="1" dirty="0">
                  <a:solidFill>
                    <a:srgbClr val="002060"/>
                  </a:solidFill>
                </a:rPr>
                <a:t>f2 (int t)</a:t>
              </a:r>
            </a:p>
            <a:p>
              <a:r>
                <a:rPr lang="en-US" altLang="zh-CN" sz="2000" b="1" dirty="0"/>
                <a:t>{    </a:t>
              </a:r>
            </a:p>
            <a:p>
              <a:r>
                <a:rPr lang="en-US" altLang="zh-CN" sz="2000" b="1" dirty="0"/>
                <a:t>   int </a:t>
              </a:r>
              <a:r>
                <a:rPr lang="en-US" altLang="zh-CN" sz="2000" b="1" dirty="0" err="1"/>
                <a:t>a,c</a:t>
              </a:r>
              <a:r>
                <a:rPr lang="en-US" altLang="zh-CN" sz="2000" b="1" dirty="0"/>
                <a:t>;</a:t>
              </a:r>
            </a:p>
            <a:p>
              <a:r>
                <a:rPr lang="en-US" altLang="zh-CN" sz="2000" b="1" dirty="0"/>
                <a:t>    ……</a:t>
              </a:r>
            </a:p>
            <a:p>
              <a:r>
                <a:rPr lang="en-US" altLang="zh-CN" sz="2000" b="1" dirty="0"/>
                <a:t>   </a:t>
              </a:r>
              <a:r>
                <a:rPr lang="en-US" altLang="zh-CN" sz="2000" b="1" dirty="0">
                  <a:solidFill>
                    <a:schemeClr val="accent1">
                      <a:lumMod val="50000"/>
                    </a:schemeClr>
                  </a:solidFill>
                </a:rPr>
                <a:t>c = f1 (a);</a:t>
              </a:r>
            </a:p>
            <a:p>
              <a:r>
                <a:rPr lang="en-US" altLang="zh-CN" sz="2000" b="1" dirty="0"/>
                <a:t>   …….</a:t>
              </a:r>
            </a:p>
            <a:p>
              <a:r>
                <a:rPr lang="en-US" altLang="zh-CN" sz="2000" b="1" dirty="0"/>
                <a:t>   return (3+c);</a:t>
              </a:r>
            </a:p>
            <a:p>
              <a:r>
                <a:rPr lang="en-US" altLang="zh-CN" sz="2000" b="1" dirty="0"/>
                <a:t>}</a:t>
              </a:r>
            </a:p>
          </p:txBody>
        </p:sp>
        <p:sp>
          <p:nvSpPr>
            <p:cNvPr id="1102875" name="Line 27"/>
            <p:cNvSpPr>
              <a:spLocks noChangeShapeType="1"/>
            </p:cNvSpPr>
            <p:nvPr/>
          </p:nvSpPr>
          <p:spPr bwMode="auto">
            <a:xfrm flipV="1">
              <a:off x="3061" y="826"/>
              <a:ext cx="906" cy="654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stealth" w="lg" len="lg"/>
            </a:ln>
            <a:effectLst>
              <a:outerShdw dist="35921" dir="2700000" algn="ctr" rotWithShape="0">
                <a:schemeClr val="bg2"/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02876" name="Line 28"/>
            <p:cNvSpPr>
              <a:spLocks noChangeShapeType="1"/>
            </p:cNvSpPr>
            <p:nvPr/>
          </p:nvSpPr>
          <p:spPr bwMode="auto">
            <a:xfrm flipH="1" flipV="1">
              <a:off x="3086" y="921"/>
              <a:ext cx="992" cy="649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stealth" w="lg" len="lg"/>
            </a:ln>
            <a:effectLst>
              <a:outerShdw dist="35921" dir="2700000" algn="ctr" rotWithShape="0">
                <a:schemeClr val="bg2"/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102888" name="AutoShape 40"/>
          <p:cNvSpPr>
            <a:spLocks noChangeArrowheads="1"/>
          </p:cNvSpPr>
          <p:nvPr/>
        </p:nvSpPr>
        <p:spPr bwMode="auto">
          <a:xfrm>
            <a:off x="3460553" y="5790949"/>
            <a:ext cx="1368425" cy="431800"/>
          </a:xfrm>
          <a:prstGeom prst="wedgeRoundRectCallout">
            <a:avLst>
              <a:gd name="adj1" fmla="val -77495"/>
              <a:gd name="adj2" fmla="val -142648"/>
              <a:gd name="adj3" fmla="val 16667"/>
            </a:avLst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28575">
            <a:solidFill>
              <a:srgbClr val="C0192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 algn="ctr"/>
            <a:r>
              <a:rPr lang="zh-CN" altLang="en-US" sz="2000" b="1" dirty="0">
                <a:solidFill>
                  <a:srgbClr val="C01920"/>
                </a:solidFill>
                <a:ea typeface="隶书" pitchFamily="49" charset="-122"/>
              </a:rPr>
              <a:t>直接递归</a:t>
            </a:r>
          </a:p>
        </p:txBody>
      </p:sp>
      <p:sp>
        <p:nvSpPr>
          <p:cNvPr id="1102889" name="AutoShape 41"/>
          <p:cNvSpPr>
            <a:spLocks noChangeArrowheads="1"/>
          </p:cNvSpPr>
          <p:nvPr/>
        </p:nvSpPr>
        <p:spPr bwMode="auto">
          <a:xfrm>
            <a:off x="8218860" y="5821111"/>
            <a:ext cx="1368425" cy="431800"/>
          </a:xfrm>
          <a:prstGeom prst="wedgeRoundRectCallout">
            <a:avLst>
              <a:gd name="adj1" fmla="val -101394"/>
              <a:gd name="adj2" fmla="val -161398"/>
              <a:gd name="adj3" fmla="val 16667"/>
            </a:avLst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28575">
            <a:solidFill>
              <a:srgbClr val="C0192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 algn="ctr"/>
            <a:r>
              <a:rPr lang="zh-CN" altLang="en-US" sz="2000" b="1">
                <a:solidFill>
                  <a:srgbClr val="002060"/>
                </a:solidFill>
                <a:ea typeface="隶书" pitchFamily="49" charset="-122"/>
              </a:rPr>
              <a:t>间接递归</a:t>
            </a:r>
          </a:p>
        </p:txBody>
      </p:sp>
      <p:sp>
        <p:nvSpPr>
          <p:cNvPr id="36" name="Rectangle 4">
            <a:extLst>
              <a:ext uri="{FF2B5EF4-FFF2-40B4-BE49-F238E27FC236}">
                <a16:creationId xmlns:a16="http://schemas.microsoft.com/office/drawing/2014/main" id="{9FFA1E38-A299-4CAC-A186-B476391076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8.6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函数的嵌套与递归调用</a:t>
            </a:r>
          </a:p>
        </p:txBody>
      </p:sp>
      <p:sp>
        <p:nvSpPr>
          <p:cNvPr id="37" name="Rectangle 3">
            <a:extLst>
              <a:ext uri="{FF2B5EF4-FFF2-40B4-BE49-F238E27FC236}">
                <a16:creationId xmlns:a16="http://schemas.microsoft.com/office/drawing/2014/main" id="{F20BC2FF-1FFD-4922-A156-58957CA5FD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849" y="919389"/>
            <a:ext cx="571133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/>
            <a:r>
              <a:rPr lang="en-US" altLang="zh-CN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2</a:t>
            </a:r>
            <a:r>
              <a:rPr lang="zh-CN" altLang="en-US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、函数递归调用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028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028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11028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500"/>
                                        <p:tgtEl>
                                          <p:spTgt spid="11028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11028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11028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11028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11028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2850" grpId="0" build="p" bldLvl="3" autoUpdateAnimBg="0"/>
      <p:bldP spid="1102871" grpId="0" animBg="1" autoUpdateAnimBg="0"/>
      <p:bldP spid="1102888" grpId="0" animBg="1"/>
      <p:bldP spid="1102889" grpId="0" animBg="1"/>
      <p:bldP spid="37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870" name="Rectangle 22"/>
          <p:cNvSpPr>
            <a:spLocks noChangeArrowheads="1"/>
          </p:cNvSpPr>
          <p:nvPr/>
        </p:nvSpPr>
        <p:spPr bwMode="auto">
          <a:xfrm>
            <a:off x="1199456" y="1556792"/>
            <a:ext cx="1944687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说明</a:t>
            </a:r>
          </a:p>
        </p:txBody>
      </p:sp>
      <p:sp>
        <p:nvSpPr>
          <p:cNvPr id="481281" name="Rectangle 1"/>
          <p:cNvSpPr>
            <a:spLocks noChangeArrowheads="1"/>
          </p:cNvSpPr>
          <p:nvPr/>
        </p:nvSpPr>
        <p:spPr bwMode="auto">
          <a:xfrm>
            <a:off x="1421298" y="2174879"/>
            <a:ext cx="10081766" cy="4154984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60363" indent="-360363">
              <a:buClr>
                <a:srgbClr val="C01920"/>
              </a:buClr>
              <a:buFont typeface="Wingdings" pitchFamily="2" charset="2"/>
              <a:buChar char="l"/>
              <a:tabLst>
                <a:tab pos="533400" algn="l"/>
              </a:tabLst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递归函数主要用于解决具有递归性质的问题，即无论问题规模的大小，所处理的方法和步骤都是一样的。</a:t>
            </a:r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  <a:ea typeface="楷体" pitchFamily="49" charset="-122"/>
            </a:endParaRPr>
          </a:p>
          <a:p>
            <a:pPr marL="360363" indent="-360363">
              <a:buClr>
                <a:srgbClr val="C01920"/>
              </a:buClr>
              <a:buFont typeface="Wingdings" pitchFamily="2" charset="2"/>
              <a:buChar char="l"/>
              <a:tabLst>
                <a:tab pos="533400" algn="l"/>
              </a:tabLst>
            </a:pPr>
            <a:endParaRPr lang="zh-CN" altLang="en-US" b="1" dirty="0">
              <a:effectLst>
                <a:outerShdw blurRad="38100" dist="38100" dir="2700000" algn="tl">
                  <a:srgbClr val="FFFFFF"/>
                </a:outerShdw>
              </a:effectLst>
              <a:ea typeface="楷体" pitchFamily="49" charset="-122"/>
            </a:endParaRPr>
          </a:p>
          <a:p>
            <a:pPr eaLnBrk="0" hangingPunct="0">
              <a:buClr>
                <a:srgbClr val="C01920"/>
              </a:buClr>
              <a:buFont typeface="Wingdings" pitchFamily="2" charset="2"/>
              <a:buChar char="l"/>
              <a:tabLst>
                <a:tab pos="533400" algn="l"/>
              </a:tabLst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  C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语言编译系统对递归函数的自调用次数没有限制。</a:t>
            </a:r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  <a:ea typeface="楷体" pitchFamily="49" charset="-122"/>
            </a:endParaRPr>
          </a:p>
          <a:p>
            <a:pPr eaLnBrk="0" hangingPunct="0">
              <a:buClr>
                <a:srgbClr val="C01920"/>
              </a:buClr>
              <a:buFont typeface="Wingdings" pitchFamily="2" charset="2"/>
              <a:buChar char="l"/>
              <a:tabLst>
                <a:tab pos="533400" algn="l"/>
              </a:tabLst>
            </a:pPr>
            <a:endParaRPr lang="zh-CN" altLang="en-US" b="1" dirty="0">
              <a:effectLst>
                <a:outerShdw blurRad="38100" dist="38100" dir="2700000" algn="tl">
                  <a:srgbClr val="FFFFFF"/>
                </a:outerShdw>
              </a:effectLst>
              <a:ea typeface="楷体" pitchFamily="49" charset="-122"/>
            </a:endParaRPr>
          </a:p>
          <a:p>
            <a:pPr marL="265113" indent="-265113" eaLnBrk="0" hangingPunct="0">
              <a:buClr>
                <a:srgbClr val="C01920"/>
              </a:buClr>
              <a:buFont typeface="Wingdings" pitchFamily="2" charset="2"/>
              <a:buChar char="l"/>
              <a:tabLst>
                <a:tab pos="533400" algn="l"/>
              </a:tabLst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 编写递归函数时不应出现无终止的递归调用，而应当在递归次数或递归调用条件上加以限制，这就是递归结束条件的问题。</a:t>
            </a:r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  <a:ea typeface="楷体" pitchFamily="49" charset="-122"/>
            </a:endParaRPr>
          </a:p>
          <a:p>
            <a:pPr marL="265113" indent="-265113" eaLnBrk="0" hangingPunct="0">
              <a:buClr>
                <a:srgbClr val="C01920"/>
              </a:buClr>
              <a:buFont typeface="Wingdings" pitchFamily="2" charset="2"/>
              <a:buChar char="l"/>
              <a:tabLst>
                <a:tab pos="533400" algn="l"/>
              </a:tabLst>
            </a:pPr>
            <a:endParaRPr lang="zh-CN" altLang="en-US" b="1" dirty="0">
              <a:effectLst>
                <a:outerShdw blurRad="38100" dist="38100" dir="2700000" algn="tl">
                  <a:srgbClr val="FFFFFF"/>
                </a:outerShdw>
              </a:effectLst>
              <a:ea typeface="楷体" pitchFamily="49" charset="-122"/>
            </a:endParaRPr>
          </a:p>
          <a:p>
            <a:pPr marL="265113" indent="-265113" eaLnBrk="0" hangingPunct="0">
              <a:buClr>
                <a:srgbClr val="C01920"/>
              </a:buClr>
              <a:buFont typeface="Wingdings" pitchFamily="2" charset="2"/>
              <a:buChar char="l"/>
              <a:tabLst>
                <a:tab pos="533400" algn="l"/>
              </a:tabLst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每调用函数一次，在内存堆栈区都要分配空间，用于存放函数变量、返回值等信息，所以应避免递归次数过多，以防止可能引起的堆栈溢出问题。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4F68AB0C-28D1-4797-88AB-BBBBDB160D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8.6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函数的嵌套与递归调用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EA4FBEAC-B2AD-4423-91D2-4F36FF4E1E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849" y="919389"/>
            <a:ext cx="571133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/>
            <a:r>
              <a:rPr lang="en-US" altLang="zh-CN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2</a:t>
            </a:r>
            <a:r>
              <a:rPr lang="zh-CN" altLang="en-US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、函数递归调用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028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028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812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812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812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812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812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812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8128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8128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2870" grpId="0"/>
      <p:bldP spid="9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874" name="Text Box 2"/>
          <p:cNvSpPr txBox="1">
            <a:spLocks noChangeArrowheads="1"/>
          </p:cNvSpPr>
          <p:nvPr/>
        </p:nvSpPr>
        <p:spPr bwMode="auto">
          <a:xfrm>
            <a:off x="879996" y="3260022"/>
            <a:ext cx="42799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【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1】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递归的执行情况分析</a:t>
            </a:r>
            <a:r>
              <a:rPr lang="zh-CN" altLang="en-US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</a:p>
        </p:txBody>
      </p:sp>
      <p:sp>
        <p:nvSpPr>
          <p:cNvPr id="1103875" name="Rectangle 3"/>
          <p:cNvSpPr>
            <a:spLocks noChangeArrowheads="1"/>
          </p:cNvSpPr>
          <p:nvPr/>
        </p:nvSpPr>
        <p:spPr bwMode="auto">
          <a:xfrm>
            <a:off x="1095536" y="1645358"/>
            <a:ext cx="7283450" cy="1370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zh-CN" sz="32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递归过程及其实现</a:t>
            </a:r>
          </a:p>
          <a:p>
            <a:pPr marL="742950" lvl="1" indent="-285750">
              <a:spcBef>
                <a:spcPct val="20000"/>
              </a:spcBef>
              <a:buClr>
                <a:srgbClr val="C01920"/>
              </a:buClr>
              <a:buFont typeface="Wingdings" pitchFamily="2" charset="2"/>
              <a:buChar char="l"/>
            </a:pPr>
            <a:r>
              <a:rPr lang="zh-CN" altLang="en-US" b="1" dirty="0">
                <a:latin typeface="+mn-lt"/>
                <a:ea typeface="楷体" pitchFamily="49" charset="-122"/>
              </a:rPr>
              <a:t> 递归：函数直接或间接的调用自身叫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递归</a:t>
            </a:r>
          </a:p>
          <a:p>
            <a:pPr marL="742950" lvl="1" indent="-285750">
              <a:spcBef>
                <a:spcPct val="20000"/>
              </a:spcBef>
              <a:buClr>
                <a:srgbClr val="C01920"/>
              </a:buClr>
              <a:buFont typeface="Wingdings" pitchFamily="2" charset="2"/>
              <a:buChar char="l"/>
            </a:pPr>
            <a:r>
              <a:rPr lang="zh-CN" altLang="en-US" b="1" dirty="0">
                <a:latin typeface="+mn-lt"/>
                <a:ea typeface="楷体" pitchFamily="49" charset="-122"/>
              </a:rPr>
              <a:t> 实现：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建立递归工作栈</a:t>
            </a:r>
          </a:p>
        </p:txBody>
      </p:sp>
      <p:sp>
        <p:nvSpPr>
          <p:cNvPr id="1103877" name="Text Box 5"/>
          <p:cNvSpPr txBox="1">
            <a:spLocks noChangeArrowheads="1"/>
          </p:cNvSpPr>
          <p:nvPr/>
        </p:nvSpPr>
        <p:spPr bwMode="auto">
          <a:xfrm>
            <a:off x="3215680" y="5057889"/>
            <a:ext cx="1944216" cy="1323439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sz="2000" b="1" dirty="0">
                <a:solidFill>
                  <a:srgbClr val="C01920"/>
                </a:solidFill>
                <a:latin typeface="隶书" pitchFamily="49" charset="-122"/>
                <a:ea typeface="隶书" pitchFamily="49" charset="-122"/>
              </a:rPr>
              <a:t>运行结果：</a:t>
            </a:r>
          </a:p>
          <a:p>
            <a:r>
              <a:rPr lang="en-US" altLang="zh-CN" sz="2000" dirty="0">
                <a:solidFill>
                  <a:srgbClr val="002060"/>
                </a:solidFill>
              </a:rPr>
              <a:t>1</a:t>
            </a:r>
            <a:r>
              <a:rPr lang="zh-CN" altLang="en-US" sz="2000" dirty="0">
                <a:solidFill>
                  <a:srgbClr val="002060"/>
                </a:solidFill>
              </a:rPr>
              <a:t>，</a:t>
            </a:r>
          </a:p>
          <a:p>
            <a:r>
              <a:rPr lang="en-US" altLang="zh-CN" sz="2000" dirty="0">
                <a:solidFill>
                  <a:srgbClr val="002060"/>
                </a:solidFill>
              </a:rPr>
              <a:t>2</a:t>
            </a:r>
            <a:r>
              <a:rPr lang="zh-CN" altLang="en-US" sz="2000" dirty="0">
                <a:solidFill>
                  <a:srgbClr val="002060"/>
                </a:solidFill>
              </a:rPr>
              <a:t>，</a:t>
            </a:r>
            <a:r>
              <a:rPr lang="en-US" altLang="zh-CN" sz="2000" dirty="0">
                <a:solidFill>
                  <a:srgbClr val="002060"/>
                </a:solidFill>
              </a:rPr>
              <a:t>2</a:t>
            </a:r>
            <a:r>
              <a:rPr lang="zh-CN" altLang="en-US" sz="2000" dirty="0">
                <a:solidFill>
                  <a:srgbClr val="002060"/>
                </a:solidFill>
              </a:rPr>
              <a:t>，</a:t>
            </a:r>
          </a:p>
          <a:p>
            <a:r>
              <a:rPr lang="en-US" altLang="zh-CN" sz="2000" dirty="0">
                <a:solidFill>
                  <a:srgbClr val="002060"/>
                </a:solidFill>
              </a:rPr>
              <a:t>3</a:t>
            </a:r>
            <a:r>
              <a:rPr lang="zh-CN" altLang="en-US" sz="2000" dirty="0">
                <a:solidFill>
                  <a:srgbClr val="002060"/>
                </a:solidFill>
              </a:rPr>
              <a:t>，</a:t>
            </a:r>
            <a:r>
              <a:rPr lang="en-US" altLang="zh-CN" sz="2000" dirty="0">
                <a:solidFill>
                  <a:srgbClr val="002060"/>
                </a:solidFill>
              </a:rPr>
              <a:t>3</a:t>
            </a:r>
            <a:r>
              <a:rPr lang="zh-CN" altLang="en-US" sz="2000" dirty="0">
                <a:solidFill>
                  <a:srgbClr val="002060"/>
                </a:solidFill>
              </a:rPr>
              <a:t>，</a:t>
            </a:r>
            <a:r>
              <a:rPr lang="en-US" altLang="zh-CN" sz="2000" dirty="0">
                <a:solidFill>
                  <a:srgbClr val="002060"/>
                </a:solidFill>
              </a:rPr>
              <a:t>3</a:t>
            </a:r>
            <a:r>
              <a:rPr lang="zh-CN" altLang="en-US" sz="2000" dirty="0">
                <a:solidFill>
                  <a:srgbClr val="002060"/>
                </a:solidFill>
              </a:rPr>
              <a:t>，</a:t>
            </a:r>
          </a:p>
        </p:txBody>
      </p:sp>
      <p:sp>
        <p:nvSpPr>
          <p:cNvPr id="1103881" name="Text Box 9" descr="信纸"/>
          <p:cNvSpPr txBox="1">
            <a:spLocks noChangeArrowheads="1"/>
          </p:cNvSpPr>
          <p:nvPr/>
        </p:nvSpPr>
        <p:spPr bwMode="auto">
          <a:xfrm>
            <a:off x="6490046" y="1270756"/>
            <a:ext cx="5083100" cy="5016758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#include &lt;</a:t>
            </a:r>
            <a:r>
              <a:rPr lang="en-US" altLang="zh-CN" sz="2000" b="1" dirty="0" err="1">
                <a:ea typeface="楷体_GB2312" pitchFamily="49" charset="-122"/>
              </a:rPr>
              <a:t>stdio.h</a:t>
            </a:r>
            <a:r>
              <a:rPr lang="en-US" altLang="zh-CN" sz="2000" b="1" dirty="0">
                <a:ea typeface="楷体_GB2312" pitchFamily="49" charset="-122"/>
              </a:rPr>
              <a:t>&gt;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void print (</a:t>
            </a:r>
            <a:r>
              <a:rPr lang="en-US" altLang="zh-CN" sz="2000" b="1" dirty="0" err="1">
                <a:ea typeface="楷体_GB2312" pitchFamily="49" charset="-122"/>
              </a:rPr>
              <a:t>int</a:t>
            </a:r>
            <a:r>
              <a:rPr lang="en-US" altLang="zh-CN" sz="2000" b="1" dirty="0">
                <a:ea typeface="楷体_GB2312" pitchFamily="49" charset="-122"/>
              </a:rPr>
              <a:t> w);</a:t>
            </a:r>
          </a:p>
          <a:p>
            <a:pPr marL="457200" indent="-457200"/>
            <a:r>
              <a:rPr lang="en-US" altLang="zh-CN" sz="2000" b="1" dirty="0" err="1">
                <a:solidFill>
                  <a:srgbClr val="CC0000"/>
                </a:solidFill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 main ( )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{  print ( 3 );  }</a:t>
            </a:r>
          </a:p>
          <a:p>
            <a:pPr marL="457200" indent="-457200"/>
            <a:r>
              <a:rPr lang="en-US" altLang="zh-CN" sz="2000" b="1" dirty="0">
                <a:solidFill>
                  <a:srgbClr val="7030A0"/>
                </a:solidFill>
                <a:ea typeface="楷体_GB2312" pitchFamily="49" charset="-122"/>
              </a:rPr>
              <a:t>void print (</a:t>
            </a:r>
            <a:r>
              <a:rPr lang="en-US" altLang="zh-CN" sz="2000" b="1" dirty="0" err="1">
                <a:solidFill>
                  <a:srgbClr val="7030A0"/>
                </a:solidFill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rgbClr val="7030A0"/>
                </a:solidFill>
                <a:ea typeface="楷体_GB2312" pitchFamily="49" charset="-122"/>
              </a:rPr>
              <a:t> w)  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递归函数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{      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    </a:t>
            </a:r>
            <a:r>
              <a:rPr lang="en-US" altLang="zh-CN" sz="2000" b="1" dirty="0" err="1">
                <a:ea typeface="楷体_GB2312" pitchFamily="49" charset="-122"/>
              </a:rPr>
              <a:t>int</a:t>
            </a:r>
            <a:r>
              <a:rPr lang="en-US" altLang="zh-CN" sz="2000" b="1" dirty="0">
                <a:ea typeface="楷体_GB2312" pitchFamily="49" charset="-122"/>
              </a:rPr>
              <a:t>  </a:t>
            </a:r>
            <a:r>
              <a:rPr lang="en-US" altLang="zh-CN" sz="2000" b="1" dirty="0" err="1">
                <a:ea typeface="楷体_GB2312" pitchFamily="49" charset="-122"/>
              </a:rPr>
              <a:t>i</a:t>
            </a:r>
            <a:r>
              <a:rPr lang="en-US" altLang="zh-CN" sz="2000" b="1" dirty="0">
                <a:ea typeface="楷体_GB2312" pitchFamily="49" charset="-122"/>
              </a:rPr>
              <a:t>;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    if ( w != 0)    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递归结束条件</a:t>
            </a:r>
          </a:p>
          <a:p>
            <a:pPr marL="457200" indent="-457200"/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   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{     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      </a:t>
            </a:r>
            <a:r>
              <a:rPr lang="en-US" altLang="zh-CN" sz="2000" b="1" dirty="0">
                <a:solidFill>
                  <a:srgbClr val="7030A0"/>
                </a:solidFill>
                <a:ea typeface="楷体_GB2312" pitchFamily="49" charset="-122"/>
              </a:rPr>
              <a:t>print (w-1);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      for (</a:t>
            </a:r>
            <a:r>
              <a:rPr lang="en-US" altLang="zh-CN" sz="2000" b="1" dirty="0" err="1">
                <a:ea typeface="楷体_GB2312" pitchFamily="49" charset="-122"/>
              </a:rPr>
              <a:t>i</a:t>
            </a:r>
            <a:r>
              <a:rPr lang="en-US" altLang="zh-CN" sz="2000" b="1" dirty="0">
                <a:ea typeface="楷体_GB2312" pitchFamily="49" charset="-122"/>
              </a:rPr>
              <a:t> = 1; </a:t>
            </a:r>
            <a:r>
              <a:rPr lang="en-US" altLang="zh-CN" sz="2000" b="1" dirty="0" err="1">
                <a:ea typeface="楷体_GB2312" pitchFamily="49" charset="-122"/>
              </a:rPr>
              <a:t>i</a:t>
            </a:r>
            <a:r>
              <a:rPr lang="en-US" altLang="zh-CN" sz="2000" b="1" dirty="0">
                <a:ea typeface="楷体_GB2312" pitchFamily="49" charset="-122"/>
              </a:rPr>
              <a:t> &lt;= w; ++</a:t>
            </a:r>
            <a:r>
              <a:rPr lang="en-US" altLang="zh-CN" sz="2000" b="1" dirty="0" err="1">
                <a:ea typeface="楷体_GB2312" pitchFamily="49" charset="-122"/>
              </a:rPr>
              <a:t>i</a:t>
            </a:r>
            <a:r>
              <a:rPr lang="en-US" altLang="zh-CN" sz="2000" b="1" dirty="0">
                <a:ea typeface="楷体_GB2312" pitchFamily="49" charset="-122"/>
              </a:rPr>
              <a:t>)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          </a:t>
            </a:r>
            <a:r>
              <a:rPr lang="en-US" altLang="zh-CN" sz="2000" b="1" dirty="0" err="1">
                <a:ea typeface="楷体_GB2312" pitchFamily="49" charset="-122"/>
              </a:rPr>
              <a:t>printf</a:t>
            </a:r>
            <a:r>
              <a:rPr lang="en-US" altLang="zh-CN" sz="2000" b="1" dirty="0">
                <a:ea typeface="楷体_GB2312" pitchFamily="49" charset="-122"/>
              </a:rPr>
              <a:t> ("%d ", w);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      </a:t>
            </a:r>
            <a:r>
              <a:rPr lang="en-US" altLang="zh-CN" sz="2000" b="1" dirty="0" err="1">
                <a:ea typeface="楷体_GB2312" pitchFamily="49" charset="-122"/>
              </a:rPr>
              <a:t>printf</a:t>
            </a:r>
            <a:r>
              <a:rPr lang="en-US" altLang="zh-CN" sz="2000" b="1" dirty="0">
                <a:ea typeface="楷体_GB2312" pitchFamily="49" charset="-122"/>
              </a:rPr>
              <a:t> ("\n");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    }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    return 0;</a:t>
            </a:r>
          </a:p>
          <a:p>
            <a:pPr marL="457200" indent="-457200"/>
            <a:r>
              <a:rPr lang="en-US" altLang="zh-CN" sz="2000" b="1" dirty="0">
                <a:ea typeface="楷体_GB2312" pitchFamily="49" charset="-122"/>
              </a:rPr>
              <a:t>}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A646ABDA-15B5-4D7C-B2CE-EF9B165B29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8.6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函数的嵌套与递归调用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53E2F990-FAEF-41BB-8DBD-3E286043F5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849" y="919389"/>
            <a:ext cx="571133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/>
            <a:r>
              <a:rPr lang="en-US" altLang="zh-CN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2</a:t>
            </a:r>
            <a:r>
              <a:rPr lang="zh-CN" altLang="en-US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、函数递归调用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03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03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03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03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03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03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11038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110388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1" dur="500"/>
                                        <p:tgtEl>
                                          <p:spTgt spid="11038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3874" grpId="0" build="p" autoUpdateAnimBg="0"/>
      <p:bldP spid="1103875" grpId="0" build="p" bldLvl="5" autoUpdateAnimBg="0"/>
      <p:bldP spid="1103877" grpId="0" animBg="1" autoUpdateAnimBg="0"/>
      <p:bldP spid="1103881" grpId="0" animBg="1" autoUpdateAnimBg="0"/>
      <p:bldP spid="10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ext Box 2"/>
          <p:cNvSpPr txBox="1">
            <a:spLocks noChangeArrowheads="1"/>
          </p:cNvSpPr>
          <p:nvPr/>
        </p:nvSpPr>
        <p:spPr bwMode="auto">
          <a:xfrm>
            <a:off x="855283" y="889414"/>
            <a:ext cx="3672210" cy="457200"/>
          </a:xfrm>
          <a:prstGeom prst="rect">
            <a:avLst/>
          </a:prstGeom>
          <a:noFill/>
          <a:ln>
            <a:noFill/>
            <a:headEnd/>
            <a:tailEnd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递归调用执行情况如下：</a:t>
            </a:r>
          </a:p>
        </p:txBody>
      </p:sp>
      <p:sp>
        <p:nvSpPr>
          <p:cNvPr id="326" name="Rectangle 4">
            <a:extLst>
              <a:ext uri="{FF2B5EF4-FFF2-40B4-BE49-F238E27FC236}">
                <a16:creationId xmlns:a16="http://schemas.microsoft.com/office/drawing/2014/main" id="{145FE9E5-2E1B-4F44-84ED-000DA2DDB5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8.6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函数的嵌套与递归调用</a:t>
            </a:r>
          </a:p>
        </p:txBody>
      </p:sp>
      <p:grpSp>
        <p:nvGrpSpPr>
          <p:cNvPr id="328" name="Group 3">
            <a:extLst>
              <a:ext uri="{FF2B5EF4-FFF2-40B4-BE49-F238E27FC236}">
                <a16:creationId xmlns:a16="http://schemas.microsoft.com/office/drawing/2014/main" id="{E7F11D47-D1C9-4FCB-AAEF-7B11F0EA20FA}"/>
              </a:ext>
            </a:extLst>
          </p:cNvPr>
          <p:cNvGrpSpPr>
            <a:grpSpLocks/>
          </p:cNvGrpSpPr>
          <p:nvPr/>
        </p:nvGrpSpPr>
        <p:grpSpPr bwMode="auto">
          <a:xfrm>
            <a:off x="2326704" y="1858094"/>
            <a:ext cx="1219200" cy="914400"/>
            <a:chOff x="528" y="1008"/>
            <a:chExt cx="768" cy="576"/>
          </a:xfrm>
        </p:grpSpPr>
        <p:sp>
          <p:nvSpPr>
            <p:cNvPr id="329" name="Text Box 4">
              <a:extLst>
                <a:ext uri="{FF2B5EF4-FFF2-40B4-BE49-F238E27FC236}">
                  <a16:creationId xmlns:a16="http://schemas.microsoft.com/office/drawing/2014/main" id="{6448340F-33EB-4B4D-A7B0-7E47E71168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1008"/>
              <a:ext cx="76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rgbClr val="C00000"/>
                  </a:solidFill>
                  <a:latin typeface="+mn-lt"/>
                  <a:ea typeface="楷体" pitchFamily="49" charset="-122"/>
                </a:rPr>
                <a:t>主程序</a:t>
              </a:r>
            </a:p>
          </p:txBody>
        </p:sp>
        <p:sp>
          <p:nvSpPr>
            <p:cNvPr id="330" name="Line 5">
              <a:extLst>
                <a:ext uri="{FF2B5EF4-FFF2-40B4-BE49-F238E27FC236}">
                  <a16:creationId xmlns:a16="http://schemas.microsoft.com/office/drawing/2014/main" id="{25C11343-9A44-4466-A6DF-002C8F532C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1296"/>
              <a:ext cx="1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" pitchFamily="49" charset="-122"/>
              </a:endParaRPr>
            </a:p>
          </p:txBody>
        </p:sp>
      </p:grpSp>
      <p:grpSp>
        <p:nvGrpSpPr>
          <p:cNvPr id="331" name="Group 6">
            <a:extLst>
              <a:ext uri="{FF2B5EF4-FFF2-40B4-BE49-F238E27FC236}">
                <a16:creationId xmlns:a16="http://schemas.microsoft.com/office/drawing/2014/main" id="{5EFB21DC-EE64-48A9-8AFF-20CD37E4B174}"/>
              </a:ext>
            </a:extLst>
          </p:cNvPr>
          <p:cNvGrpSpPr>
            <a:grpSpLocks/>
          </p:cNvGrpSpPr>
          <p:nvPr/>
        </p:nvGrpSpPr>
        <p:grpSpPr bwMode="auto">
          <a:xfrm>
            <a:off x="3622104" y="2315294"/>
            <a:ext cx="457200" cy="990600"/>
            <a:chOff x="1008" y="1536"/>
            <a:chExt cx="288" cy="624"/>
          </a:xfrm>
        </p:grpSpPr>
        <p:sp>
          <p:nvSpPr>
            <p:cNvPr id="332" name="Line 7">
              <a:extLst>
                <a:ext uri="{FF2B5EF4-FFF2-40B4-BE49-F238E27FC236}">
                  <a16:creationId xmlns:a16="http://schemas.microsoft.com/office/drawing/2014/main" id="{C40E30DE-C383-483E-8341-0528D0A731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160"/>
              <a:ext cx="144" cy="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3" name="Line 8">
              <a:extLst>
                <a:ext uri="{FF2B5EF4-FFF2-40B4-BE49-F238E27FC236}">
                  <a16:creationId xmlns:a16="http://schemas.microsoft.com/office/drawing/2014/main" id="{F4E3AEE7-4E00-4F68-8731-2B36990B4B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1536"/>
              <a:ext cx="144" cy="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4" name="Line 9">
              <a:extLst>
                <a:ext uri="{FF2B5EF4-FFF2-40B4-BE49-F238E27FC236}">
                  <a16:creationId xmlns:a16="http://schemas.microsoft.com/office/drawing/2014/main" id="{778EA5B6-7CEC-4167-B6D2-B70DFC1211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2" y="1536"/>
              <a:ext cx="0" cy="624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35" name="Group 10">
            <a:extLst>
              <a:ext uri="{FF2B5EF4-FFF2-40B4-BE49-F238E27FC236}">
                <a16:creationId xmlns:a16="http://schemas.microsoft.com/office/drawing/2014/main" id="{B75B931C-328C-4FAF-8CD9-F83EBD708C9D}"/>
              </a:ext>
            </a:extLst>
          </p:cNvPr>
          <p:cNvGrpSpPr>
            <a:grpSpLocks/>
          </p:cNvGrpSpPr>
          <p:nvPr/>
        </p:nvGrpSpPr>
        <p:grpSpPr bwMode="auto">
          <a:xfrm>
            <a:off x="7355904" y="1172294"/>
            <a:ext cx="457200" cy="990600"/>
            <a:chOff x="1008" y="1536"/>
            <a:chExt cx="288" cy="624"/>
          </a:xfrm>
        </p:grpSpPr>
        <p:sp>
          <p:nvSpPr>
            <p:cNvPr id="336" name="Line 11">
              <a:extLst>
                <a:ext uri="{FF2B5EF4-FFF2-40B4-BE49-F238E27FC236}">
                  <a16:creationId xmlns:a16="http://schemas.microsoft.com/office/drawing/2014/main" id="{6977577F-AC73-4A5C-8118-77D58A6A4A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160"/>
              <a:ext cx="144" cy="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7" name="Line 12">
              <a:extLst>
                <a:ext uri="{FF2B5EF4-FFF2-40B4-BE49-F238E27FC236}">
                  <a16:creationId xmlns:a16="http://schemas.microsoft.com/office/drawing/2014/main" id="{61CF6DEE-033C-4C80-B99A-CD8546C658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1536"/>
              <a:ext cx="144" cy="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" name="Line 13">
              <a:extLst>
                <a:ext uri="{FF2B5EF4-FFF2-40B4-BE49-F238E27FC236}">
                  <a16:creationId xmlns:a16="http://schemas.microsoft.com/office/drawing/2014/main" id="{705E4DAC-315F-4BBB-9353-0B8376C9B8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2" y="1536"/>
              <a:ext cx="0" cy="624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39" name="Group 14">
            <a:extLst>
              <a:ext uri="{FF2B5EF4-FFF2-40B4-BE49-F238E27FC236}">
                <a16:creationId xmlns:a16="http://schemas.microsoft.com/office/drawing/2014/main" id="{16FD8C5D-159F-40D1-8030-A1F7DF136CAE}"/>
              </a:ext>
            </a:extLst>
          </p:cNvPr>
          <p:cNvGrpSpPr>
            <a:grpSpLocks/>
          </p:cNvGrpSpPr>
          <p:nvPr/>
        </p:nvGrpSpPr>
        <p:grpSpPr bwMode="auto">
          <a:xfrm>
            <a:off x="5603304" y="1629494"/>
            <a:ext cx="533400" cy="1143000"/>
            <a:chOff x="2592" y="864"/>
            <a:chExt cx="336" cy="720"/>
          </a:xfrm>
        </p:grpSpPr>
        <p:sp>
          <p:nvSpPr>
            <p:cNvPr id="340" name="Line 15">
              <a:extLst>
                <a:ext uri="{FF2B5EF4-FFF2-40B4-BE49-F238E27FC236}">
                  <a16:creationId xmlns:a16="http://schemas.microsoft.com/office/drawing/2014/main" id="{C329792B-A3A0-4ACE-B42A-3FF850A23D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1584"/>
              <a:ext cx="144" cy="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1" name="Line 16">
              <a:extLst>
                <a:ext uri="{FF2B5EF4-FFF2-40B4-BE49-F238E27FC236}">
                  <a16:creationId xmlns:a16="http://schemas.microsoft.com/office/drawing/2014/main" id="{52E311AF-04C4-40EB-A226-F988DFAEFB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6" y="864"/>
              <a:ext cx="0" cy="72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" name="Line 17">
              <a:extLst>
                <a:ext uri="{FF2B5EF4-FFF2-40B4-BE49-F238E27FC236}">
                  <a16:creationId xmlns:a16="http://schemas.microsoft.com/office/drawing/2014/main" id="{416C6264-4184-4F41-9F1A-CF8BDFCAAD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864"/>
              <a:ext cx="192" cy="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43" name="Group 18">
            <a:extLst>
              <a:ext uri="{FF2B5EF4-FFF2-40B4-BE49-F238E27FC236}">
                <a16:creationId xmlns:a16="http://schemas.microsoft.com/office/drawing/2014/main" id="{4EEF5A18-2DE2-471B-AE22-5BF2E2E262BD}"/>
              </a:ext>
            </a:extLst>
          </p:cNvPr>
          <p:cNvGrpSpPr>
            <a:grpSpLocks/>
          </p:cNvGrpSpPr>
          <p:nvPr/>
        </p:nvGrpSpPr>
        <p:grpSpPr bwMode="auto">
          <a:xfrm>
            <a:off x="2045717" y="2772494"/>
            <a:ext cx="1676400" cy="3581400"/>
            <a:chOff x="288" y="1584"/>
            <a:chExt cx="1056" cy="2256"/>
          </a:xfrm>
        </p:grpSpPr>
        <p:sp>
          <p:nvSpPr>
            <p:cNvPr id="344" name="Text Box 19">
              <a:extLst>
                <a:ext uri="{FF2B5EF4-FFF2-40B4-BE49-F238E27FC236}">
                  <a16:creationId xmlns:a16="http://schemas.microsoft.com/office/drawing/2014/main" id="{20ECD0FE-B757-4CFA-95A1-48EB486B22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2016"/>
              <a:ext cx="864" cy="250"/>
            </a:xfrm>
            <a:prstGeom prst="rect">
              <a:avLst/>
            </a:prstGeom>
            <a:gradFill rotWithShape="1">
              <a:gsLst>
                <a:gs pos="0">
                  <a:srgbClr val="00FFFF"/>
                </a:gs>
                <a:gs pos="100000">
                  <a:srgbClr val="00FFFF">
                    <a:gamma/>
                    <a:shade val="69804"/>
                    <a:invGamma/>
                  </a:srgb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000" b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(1)</a:t>
              </a:r>
            </a:p>
          </p:txBody>
        </p:sp>
        <p:grpSp>
          <p:nvGrpSpPr>
            <p:cNvPr id="345" name="Group 20">
              <a:extLst>
                <a:ext uri="{FF2B5EF4-FFF2-40B4-BE49-F238E27FC236}">
                  <a16:creationId xmlns:a16="http://schemas.microsoft.com/office/drawing/2014/main" id="{4C986ECF-9409-4250-A6AB-F18395E17D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1584"/>
              <a:ext cx="1056" cy="2256"/>
              <a:chOff x="288" y="1584"/>
              <a:chExt cx="1056" cy="2256"/>
            </a:xfrm>
          </p:grpSpPr>
          <p:sp>
            <p:nvSpPr>
              <p:cNvPr id="346" name="Text Box 21">
                <a:extLst>
                  <a:ext uri="{FF2B5EF4-FFF2-40B4-BE49-F238E27FC236}">
                    <a16:creationId xmlns:a16="http://schemas.microsoft.com/office/drawing/2014/main" id="{86719846-DA87-4844-884B-07406E669C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0" y="1776"/>
                <a:ext cx="720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print(w)</a:t>
                </a:r>
              </a:p>
            </p:txBody>
          </p:sp>
          <p:sp>
            <p:nvSpPr>
              <p:cNvPr id="347" name="Text Box 22">
                <a:extLst>
                  <a:ext uri="{FF2B5EF4-FFF2-40B4-BE49-F238E27FC236}">
                    <a16:creationId xmlns:a16="http://schemas.microsoft.com/office/drawing/2014/main" id="{E9F37CA5-FEB8-42A2-B21B-E8F38FFD1B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2" y="1584"/>
                <a:ext cx="912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 w=3; </a:t>
                </a:r>
              </a:p>
            </p:txBody>
          </p:sp>
          <p:grpSp>
            <p:nvGrpSpPr>
              <p:cNvPr id="348" name="Group 23">
                <a:extLst>
                  <a:ext uri="{FF2B5EF4-FFF2-40B4-BE49-F238E27FC236}">
                    <a16:creationId xmlns:a16="http://schemas.microsoft.com/office/drawing/2014/main" id="{8E187A2C-0C4D-4281-B39C-AB31B296880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8" y="2976"/>
                <a:ext cx="672" cy="864"/>
                <a:chOff x="3168" y="3216"/>
                <a:chExt cx="672" cy="864"/>
              </a:xfrm>
            </p:grpSpPr>
            <p:grpSp>
              <p:nvGrpSpPr>
                <p:cNvPr id="349" name="Group 24">
                  <a:extLst>
                    <a:ext uri="{FF2B5EF4-FFF2-40B4-BE49-F238E27FC236}">
                      <a16:creationId xmlns:a16="http://schemas.microsoft.com/office/drawing/2014/main" id="{496DC376-252F-461B-9558-94592D28B21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168" y="3216"/>
                  <a:ext cx="672" cy="864"/>
                  <a:chOff x="3168" y="3216"/>
                  <a:chExt cx="672" cy="864"/>
                </a:xfrm>
              </p:grpSpPr>
              <p:sp>
                <p:nvSpPr>
                  <p:cNvPr id="351" name="Line 25">
                    <a:extLst>
                      <a:ext uri="{FF2B5EF4-FFF2-40B4-BE49-F238E27FC236}">
                        <a16:creationId xmlns:a16="http://schemas.microsoft.com/office/drawing/2014/main" id="{A84719A1-18EF-477B-920C-E8A10F80AAE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168" y="3216"/>
                    <a:ext cx="0" cy="86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52" name="Line 26">
                    <a:extLst>
                      <a:ext uri="{FF2B5EF4-FFF2-40B4-BE49-F238E27FC236}">
                        <a16:creationId xmlns:a16="http://schemas.microsoft.com/office/drawing/2014/main" id="{FC03C104-3D21-40CE-96AC-F8BAB80F561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840" y="3216"/>
                    <a:ext cx="0" cy="86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53" name="Line 27">
                    <a:extLst>
                      <a:ext uri="{FF2B5EF4-FFF2-40B4-BE49-F238E27FC236}">
                        <a16:creationId xmlns:a16="http://schemas.microsoft.com/office/drawing/2014/main" id="{A49FA515-3BBE-4E79-82CC-558624B65FA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168" y="4080"/>
                    <a:ext cx="672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50" name="Line 28">
                  <a:extLst>
                    <a:ext uri="{FF2B5EF4-FFF2-40B4-BE49-F238E27FC236}">
                      <a16:creationId xmlns:a16="http://schemas.microsoft.com/office/drawing/2014/main" id="{865227E8-5A50-4806-AB88-9385E51577E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68" y="3888"/>
                  <a:ext cx="67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354" name="Group 29">
            <a:extLst>
              <a:ext uri="{FF2B5EF4-FFF2-40B4-BE49-F238E27FC236}">
                <a16:creationId xmlns:a16="http://schemas.microsoft.com/office/drawing/2014/main" id="{C983B0E3-E385-4EE9-884E-A0F54B38DC5E}"/>
              </a:ext>
            </a:extLst>
          </p:cNvPr>
          <p:cNvGrpSpPr>
            <a:grpSpLocks/>
          </p:cNvGrpSpPr>
          <p:nvPr/>
        </p:nvGrpSpPr>
        <p:grpSpPr bwMode="auto">
          <a:xfrm>
            <a:off x="3164904" y="1781894"/>
            <a:ext cx="2819400" cy="4572000"/>
            <a:chOff x="1056" y="960"/>
            <a:chExt cx="1776" cy="2880"/>
          </a:xfrm>
        </p:grpSpPr>
        <p:grpSp>
          <p:nvGrpSpPr>
            <p:cNvPr id="355" name="Group 30">
              <a:extLst>
                <a:ext uri="{FF2B5EF4-FFF2-40B4-BE49-F238E27FC236}">
                  <a16:creationId xmlns:a16="http://schemas.microsoft.com/office/drawing/2014/main" id="{C7734CAD-1EE9-4029-A406-A665DFC85D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56" y="1200"/>
              <a:ext cx="1776" cy="2640"/>
              <a:chOff x="1056" y="1200"/>
              <a:chExt cx="1776" cy="2640"/>
            </a:xfrm>
          </p:grpSpPr>
          <p:grpSp>
            <p:nvGrpSpPr>
              <p:cNvPr id="357" name="Group 31">
                <a:extLst>
                  <a:ext uri="{FF2B5EF4-FFF2-40B4-BE49-F238E27FC236}">
                    <a16:creationId xmlns:a16="http://schemas.microsoft.com/office/drawing/2014/main" id="{ECAA90DF-C8AC-4DFF-B847-475E39E5D30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56" y="1200"/>
                <a:ext cx="1776" cy="2640"/>
                <a:chOff x="1056" y="1200"/>
                <a:chExt cx="1776" cy="2640"/>
              </a:xfrm>
            </p:grpSpPr>
            <p:grpSp>
              <p:nvGrpSpPr>
                <p:cNvPr id="359" name="Group 32">
                  <a:extLst>
                    <a:ext uri="{FF2B5EF4-FFF2-40B4-BE49-F238E27FC236}">
                      <a16:creationId xmlns:a16="http://schemas.microsoft.com/office/drawing/2014/main" id="{71CF93F3-8FAD-4C95-9846-8713C1029E4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56" y="1200"/>
                  <a:ext cx="1344" cy="2640"/>
                  <a:chOff x="1056" y="1200"/>
                  <a:chExt cx="1344" cy="2640"/>
                </a:xfrm>
              </p:grpSpPr>
              <p:grpSp>
                <p:nvGrpSpPr>
                  <p:cNvPr id="361" name="Group 33">
                    <a:extLst>
                      <a:ext uri="{FF2B5EF4-FFF2-40B4-BE49-F238E27FC236}">
                        <a16:creationId xmlns:a16="http://schemas.microsoft.com/office/drawing/2014/main" id="{EBD17345-3B45-4DD0-BE67-DFB5C824FBA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056" y="1200"/>
                    <a:ext cx="1344" cy="2640"/>
                    <a:chOff x="1056" y="1200"/>
                    <a:chExt cx="1344" cy="2640"/>
                  </a:xfrm>
                </p:grpSpPr>
                <p:grpSp>
                  <p:nvGrpSpPr>
                    <p:cNvPr id="363" name="Group 34">
                      <a:extLst>
                        <a:ext uri="{FF2B5EF4-FFF2-40B4-BE49-F238E27FC236}">
                          <a16:creationId xmlns:a16="http://schemas.microsoft.com/office/drawing/2014/main" id="{30A7C6D1-D2E2-4294-A907-B597E4521530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440" y="1200"/>
                      <a:ext cx="960" cy="2640"/>
                      <a:chOff x="1440" y="1200"/>
                      <a:chExt cx="960" cy="2640"/>
                    </a:xfrm>
                  </p:grpSpPr>
                  <p:sp>
                    <p:nvSpPr>
                      <p:cNvPr id="365" name="Rectangle 35">
                        <a:extLst>
                          <a:ext uri="{FF2B5EF4-FFF2-40B4-BE49-F238E27FC236}">
                            <a16:creationId xmlns:a16="http://schemas.microsoft.com/office/drawing/2014/main" id="{18F05F47-3927-4511-B5F0-130517248BB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824" y="1200"/>
                        <a:ext cx="192" cy="144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pPr algn="ctr" eaLnBrk="0" hangingPunct="0"/>
                        <a:r>
                          <a:rPr lang="en-US" altLang="zh-CN" sz="2000" b="1"/>
                          <a:t>3</a:t>
                        </a:r>
                      </a:p>
                    </p:txBody>
                  </p:sp>
                  <p:sp>
                    <p:nvSpPr>
                      <p:cNvPr id="366" name="Text Box 36">
                        <a:extLst>
                          <a:ext uri="{FF2B5EF4-FFF2-40B4-BE49-F238E27FC236}">
                            <a16:creationId xmlns:a16="http://schemas.microsoft.com/office/drawing/2014/main" id="{2E0A2EFA-5C39-463B-8A57-5E3A4FD377CD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824" y="1285"/>
                        <a:ext cx="116" cy="2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  <a:effectLst/>
                    </p:spPr>
                    <p:txBody>
                      <a:bodyPr wrap="none">
                        <a:spAutoFit/>
                      </a:bodyPr>
                      <a:lstStyle/>
                      <a:p>
                        <a:pPr eaLnBrk="0" hangingPunct="0"/>
                        <a:endParaRPr lang="zh-CN" altLang="zh-CN" sz="2000" b="1"/>
                      </a:p>
                    </p:txBody>
                  </p:sp>
                  <p:sp>
                    <p:nvSpPr>
                      <p:cNvPr id="367" name="Text Box 37">
                        <a:extLst>
                          <a:ext uri="{FF2B5EF4-FFF2-40B4-BE49-F238E27FC236}">
                            <a16:creationId xmlns:a16="http://schemas.microsoft.com/office/drawing/2014/main" id="{72E61C5F-50DA-494E-BBAC-AB08C24C4289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680" y="1440"/>
                        <a:ext cx="720" cy="2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  <a:effectLst/>
                    </p:spPr>
                    <p:txBody>
                      <a:bodyPr>
                        <a:spAutoFit/>
                      </a:bodyPr>
                      <a:lstStyle/>
                      <a:p>
                        <a:pPr eaLnBrk="0" hangingPunct="0">
                          <a:spcBef>
                            <a:spcPct val="50000"/>
                          </a:spcBef>
                        </a:pPr>
                        <a:r>
                          <a:rPr lang="en-US" altLang="zh-CN" sz="2000" b="1">
                            <a:effectLst>
                              <a:outerShdw blurRad="38100" dist="38100" dir="2700000" algn="tl">
                                <a:srgbClr val="FFFFFF"/>
                              </a:outerShdw>
                            </a:effectLst>
                          </a:rPr>
                          <a:t>print(2);</a:t>
                        </a:r>
                      </a:p>
                    </p:txBody>
                  </p:sp>
                  <p:grpSp>
                    <p:nvGrpSpPr>
                      <p:cNvPr id="368" name="Group 38">
                        <a:extLst>
                          <a:ext uri="{FF2B5EF4-FFF2-40B4-BE49-F238E27FC236}">
                            <a16:creationId xmlns:a16="http://schemas.microsoft.com/office/drawing/2014/main" id="{DD341631-B4F7-41A9-9C3F-0C719E514C92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440" y="2976"/>
                        <a:ext cx="672" cy="864"/>
                        <a:chOff x="1200" y="3024"/>
                        <a:chExt cx="672" cy="864"/>
                      </a:xfrm>
                    </p:grpSpPr>
                    <p:sp>
                      <p:nvSpPr>
                        <p:cNvPr id="369" name="Rectangle 39">
                          <a:extLst>
                            <a:ext uri="{FF2B5EF4-FFF2-40B4-BE49-F238E27FC236}">
                              <a16:creationId xmlns:a16="http://schemas.microsoft.com/office/drawing/2014/main" id="{A82BECD8-6CEF-4A0F-9359-DE425F8F1F7E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200" y="3696"/>
                          <a:ext cx="672" cy="192"/>
                        </a:xfrm>
                        <a:prstGeom prst="rect">
                          <a:avLst/>
                        </a:prstGeom>
                        <a:solidFill>
                          <a:srgbClr val="CCFFCC"/>
                        </a:solidFill>
                        <a:ln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pPr algn="ctr" eaLnBrk="0" hangingPunct="0"/>
                          <a:r>
                            <a:rPr lang="zh-CN" altLang="en-US" sz="2000" b="1"/>
                            <a:t>（</a:t>
                          </a:r>
                          <a:r>
                            <a:rPr lang="en-US" altLang="zh-CN" sz="2000" b="1"/>
                            <a:t>1</a:t>
                          </a:r>
                          <a:r>
                            <a:rPr lang="zh-CN" altLang="en-US" sz="2000" b="1"/>
                            <a:t>）</a:t>
                          </a:r>
                          <a:r>
                            <a:rPr lang="en-US" altLang="zh-CN" sz="2000" b="1"/>
                            <a:t>w=3  </a:t>
                          </a:r>
                        </a:p>
                      </p:txBody>
                    </p:sp>
                    <p:sp>
                      <p:nvSpPr>
                        <p:cNvPr id="370" name="Line 40">
                          <a:extLst>
                            <a:ext uri="{FF2B5EF4-FFF2-40B4-BE49-F238E27FC236}">
                              <a16:creationId xmlns:a16="http://schemas.microsoft.com/office/drawing/2014/main" id="{95EED4AE-E7FD-4748-B789-0A4A487EEB3F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1200" y="3024"/>
                          <a:ext cx="0" cy="864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ffectLst/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371" name="Line 41">
                          <a:extLst>
                            <a:ext uri="{FF2B5EF4-FFF2-40B4-BE49-F238E27FC236}">
                              <a16:creationId xmlns:a16="http://schemas.microsoft.com/office/drawing/2014/main" id="{E22E39F4-7AE0-42F8-A0DD-22D457B89336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1872" y="3024"/>
                          <a:ext cx="0" cy="864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ffectLst/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</p:grpSp>
                </p:grpSp>
                <p:sp>
                  <p:nvSpPr>
                    <p:cNvPr id="364" name="AutoShape 42">
                      <a:extLst>
                        <a:ext uri="{FF2B5EF4-FFF2-40B4-BE49-F238E27FC236}">
                          <a16:creationId xmlns:a16="http://schemas.microsoft.com/office/drawing/2014/main" id="{8110A328-CB07-4458-BFF5-103DEF5B729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56" y="3696"/>
                      <a:ext cx="336" cy="48"/>
                    </a:xfrm>
                    <a:prstGeom prst="rightArrow">
                      <a:avLst>
                        <a:gd name="adj1" fmla="val 50000"/>
                        <a:gd name="adj2" fmla="val 175000"/>
                      </a:avLst>
                    </a:prstGeom>
                    <a:solidFill>
                      <a:srgbClr val="FF505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362" name="Text Box 43">
                    <a:extLst>
                      <a:ext uri="{FF2B5EF4-FFF2-40B4-BE49-F238E27FC236}">
                        <a16:creationId xmlns:a16="http://schemas.microsoft.com/office/drawing/2014/main" id="{FCAD783E-E085-4724-ABE5-D03BBA7AE654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056" y="3408"/>
                    <a:ext cx="336" cy="23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r>
                      <a:rPr lang="en-US" altLang="zh-CN" sz="1800" b="1"/>
                      <a:t>top</a:t>
                    </a:r>
                  </a:p>
                </p:txBody>
              </p:sp>
            </p:grpSp>
            <p:sp>
              <p:nvSpPr>
                <p:cNvPr id="360" name="Text Box 44">
                  <a:extLst>
                    <a:ext uri="{FF2B5EF4-FFF2-40B4-BE49-F238E27FC236}">
                      <a16:creationId xmlns:a16="http://schemas.microsoft.com/office/drawing/2014/main" id="{6E184CF2-F091-4408-85AC-B374EEBE70A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536" y="1680"/>
                  <a:ext cx="1296" cy="250"/>
                </a:xfrm>
                <a:prstGeom prst="rect">
                  <a:avLst/>
                </a:prstGeom>
                <a:gradFill rotWithShape="1">
                  <a:gsLst>
                    <a:gs pos="0">
                      <a:srgbClr val="00FFFF"/>
                    </a:gs>
                    <a:gs pos="100000">
                      <a:srgbClr val="00FFFF">
                        <a:gamma/>
                        <a:shade val="72549"/>
                        <a:invGamma/>
                      </a:srgbClr>
                    </a:gs>
                  </a:gsLst>
                  <a:lin ang="5400000" scaled="1"/>
                </a:gra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US" altLang="zh-CN" sz="2000" b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ea typeface="楷体_GB2312" pitchFamily="49" charset="-122"/>
                    </a:rPr>
                    <a:t>(2) </a:t>
                  </a:r>
                  <a:r>
                    <a:rPr lang="zh-CN" altLang="en-US" sz="2000" b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ea typeface="楷体_GB2312" pitchFamily="49" charset="-122"/>
                    </a:rPr>
                    <a:t>输出：</a:t>
                  </a:r>
                  <a:r>
                    <a:rPr lang="en-US" altLang="zh-CN" sz="2000" b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ea typeface="楷体_GB2312" pitchFamily="49" charset="-122"/>
                    </a:rPr>
                    <a:t>3, 3, 3</a:t>
                  </a:r>
                </a:p>
              </p:txBody>
            </p:sp>
          </p:grpSp>
          <p:sp>
            <p:nvSpPr>
              <p:cNvPr id="358" name="Line 45">
                <a:extLst>
                  <a:ext uri="{FF2B5EF4-FFF2-40B4-BE49-F238E27FC236}">
                    <a16:creationId xmlns:a16="http://schemas.microsoft.com/office/drawing/2014/main" id="{03BEAEF6-35D3-4E61-9E6E-67B5E97D00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88" y="1920"/>
                <a:ext cx="13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56" name="Text Box 46" descr="花岗岩">
              <a:extLst>
                <a:ext uri="{FF2B5EF4-FFF2-40B4-BE49-F238E27FC236}">
                  <a16:creationId xmlns:a16="http://schemas.microsoft.com/office/drawing/2014/main" id="{7BEBFA62-46FA-483C-B9CE-1ADD807B7C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" y="960"/>
              <a:ext cx="24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b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w</a:t>
              </a:r>
            </a:p>
          </p:txBody>
        </p:sp>
      </p:grpSp>
      <p:grpSp>
        <p:nvGrpSpPr>
          <p:cNvPr id="372" name="Group 47">
            <a:extLst>
              <a:ext uri="{FF2B5EF4-FFF2-40B4-BE49-F238E27FC236}">
                <a16:creationId xmlns:a16="http://schemas.microsoft.com/office/drawing/2014/main" id="{FF3C646F-62C9-4616-B26B-16E8D7807213}"/>
              </a:ext>
            </a:extLst>
          </p:cNvPr>
          <p:cNvGrpSpPr>
            <a:grpSpLocks/>
          </p:cNvGrpSpPr>
          <p:nvPr/>
        </p:nvGrpSpPr>
        <p:grpSpPr bwMode="auto">
          <a:xfrm>
            <a:off x="4996879" y="1086569"/>
            <a:ext cx="2667000" cy="5257800"/>
            <a:chOff x="2208" y="528"/>
            <a:chExt cx="1680" cy="3312"/>
          </a:xfrm>
        </p:grpSpPr>
        <p:grpSp>
          <p:nvGrpSpPr>
            <p:cNvPr id="373" name="Group 48">
              <a:extLst>
                <a:ext uri="{FF2B5EF4-FFF2-40B4-BE49-F238E27FC236}">
                  <a16:creationId xmlns:a16="http://schemas.microsoft.com/office/drawing/2014/main" id="{5ADFF683-8020-4559-9E59-A1F34DEFED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8" y="768"/>
              <a:ext cx="1680" cy="3072"/>
              <a:chOff x="2208" y="768"/>
              <a:chExt cx="1680" cy="3072"/>
            </a:xfrm>
          </p:grpSpPr>
          <p:grpSp>
            <p:nvGrpSpPr>
              <p:cNvPr id="375" name="Group 49">
                <a:extLst>
                  <a:ext uri="{FF2B5EF4-FFF2-40B4-BE49-F238E27FC236}">
                    <a16:creationId xmlns:a16="http://schemas.microsoft.com/office/drawing/2014/main" id="{AE89F0C4-902F-4CBB-87A7-4EDBCDFAE62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08" y="768"/>
                <a:ext cx="1680" cy="3072"/>
                <a:chOff x="2208" y="768"/>
                <a:chExt cx="1680" cy="3072"/>
              </a:xfrm>
            </p:grpSpPr>
            <p:grpSp>
              <p:nvGrpSpPr>
                <p:cNvPr id="377" name="Group 50">
                  <a:extLst>
                    <a:ext uri="{FF2B5EF4-FFF2-40B4-BE49-F238E27FC236}">
                      <a16:creationId xmlns:a16="http://schemas.microsoft.com/office/drawing/2014/main" id="{764BD807-A475-4AC7-8BA3-38D8A61DE45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208" y="768"/>
                  <a:ext cx="1392" cy="3072"/>
                  <a:chOff x="2208" y="768"/>
                  <a:chExt cx="1392" cy="3072"/>
                </a:xfrm>
              </p:grpSpPr>
              <p:grpSp>
                <p:nvGrpSpPr>
                  <p:cNvPr id="379" name="Group 51">
                    <a:extLst>
                      <a:ext uri="{FF2B5EF4-FFF2-40B4-BE49-F238E27FC236}">
                        <a16:creationId xmlns:a16="http://schemas.microsoft.com/office/drawing/2014/main" id="{6ADD3A2E-55D2-48EE-A254-809AFCE6A68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208" y="768"/>
                    <a:ext cx="1392" cy="3072"/>
                    <a:chOff x="2208" y="768"/>
                    <a:chExt cx="1392" cy="3072"/>
                  </a:xfrm>
                </p:grpSpPr>
                <p:sp>
                  <p:nvSpPr>
                    <p:cNvPr id="381" name="Rectangle 52">
                      <a:extLst>
                        <a:ext uri="{FF2B5EF4-FFF2-40B4-BE49-F238E27FC236}">
                          <a16:creationId xmlns:a16="http://schemas.microsoft.com/office/drawing/2014/main" id="{69D9FB12-DD18-48DA-94AA-DD7D8F076E4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72" y="768"/>
                      <a:ext cx="192" cy="144"/>
                    </a:xfrm>
                    <a:prstGeom prst="rect">
                      <a:avLst/>
                    </a:prstGeom>
                    <a:solidFill>
                      <a:srgbClr val="CCECFF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pPr algn="ctr" eaLnBrk="0" hangingPunct="0"/>
                      <a:r>
                        <a:rPr lang="en-US" altLang="zh-CN" sz="2000" b="1"/>
                        <a:t>2</a:t>
                      </a:r>
                    </a:p>
                  </p:txBody>
                </p:sp>
                <p:sp>
                  <p:nvSpPr>
                    <p:cNvPr id="382" name="Text Box 53">
                      <a:extLst>
                        <a:ext uri="{FF2B5EF4-FFF2-40B4-BE49-F238E27FC236}">
                          <a16:creationId xmlns:a16="http://schemas.microsoft.com/office/drawing/2014/main" id="{F558D60D-8944-4AF6-8EB9-07314B5194A3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072" y="912"/>
                      <a:ext cx="288" cy="250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>
                      <a:spAutoFit/>
                    </a:bodyPr>
                    <a:lstStyle/>
                    <a:p>
                      <a:pPr eaLnBrk="0" hangingPunct="0">
                        <a:spcBef>
                          <a:spcPct val="50000"/>
                        </a:spcBef>
                      </a:pPr>
                      <a:endParaRPr lang="zh-CN" altLang="zh-CN" sz="2000" b="1"/>
                    </a:p>
                  </p:txBody>
                </p:sp>
                <p:sp>
                  <p:nvSpPr>
                    <p:cNvPr id="383" name="Text Box 54">
                      <a:extLst>
                        <a:ext uri="{FF2B5EF4-FFF2-40B4-BE49-F238E27FC236}">
                          <a16:creationId xmlns:a16="http://schemas.microsoft.com/office/drawing/2014/main" id="{A8037B03-244B-45B4-A862-890BD26ED7F7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928" y="1056"/>
                      <a:ext cx="672" cy="442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>
                      <a:spAutoFit/>
                    </a:bodyPr>
                    <a:lstStyle/>
                    <a:p>
                      <a:pPr eaLnBrk="0" hangingPunct="0">
                        <a:spcBef>
                          <a:spcPct val="50000"/>
                        </a:spcBef>
                      </a:pPr>
                      <a:r>
                        <a:rPr lang="en-US" altLang="zh-CN" sz="2000" b="1"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</a:rPr>
                        <a:t>print(1);</a:t>
                      </a:r>
                    </a:p>
                  </p:txBody>
                </p:sp>
                <p:grpSp>
                  <p:nvGrpSpPr>
                    <p:cNvPr id="384" name="Group 55">
                      <a:extLst>
                        <a:ext uri="{FF2B5EF4-FFF2-40B4-BE49-F238E27FC236}">
                          <a16:creationId xmlns:a16="http://schemas.microsoft.com/office/drawing/2014/main" id="{AD5D7796-019E-4336-9078-428900A94BDA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640" y="2976"/>
                      <a:ext cx="672" cy="864"/>
                      <a:chOff x="2736" y="2976"/>
                      <a:chExt cx="672" cy="864"/>
                    </a:xfrm>
                  </p:grpSpPr>
                  <p:sp>
                    <p:nvSpPr>
                      <p:cNvPr id="386" name="Rectangle 56">
                        <a:extLst>
                          <a:ext uri="{FF2B5EF4-FFF2-40B4-BE49-F238E27FC236}">
                            <a16:creationId xmlns:a16="http://schemas.microsoft.com/office/drawing/2014/main" id="{E4F2F735-18DF-4988-9A50-BFCDAA8316F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736" y="3456"/>
                        <a:ext cx="672" cy="192"/>
                      </a:xfrm>
                      <a:prstGeom prst="rect">
                        <a:avLst/>
                      </a:prstGeom>
                      <a:solidFill>
                        <a:srgbClr val="CCECFF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pPr algn="ctr" eaLnBrk="0" hangingPunct="0"/>
                        <a:r>
                          <a:rPr lang="zh-CN" altLang="en-US" sz="2000" b="1"/>
                          <a:t>（</a:t>
                        </a:r>
                        <a:r>
                          <a:rPr lang="en-US" altLang="zh-CN" sz="2000" b="1"/>
                          <a:t>2</a:t>
                        </a:r>
                        <a:r>
                          <a:rPr lang="zh-CN" altLang="en-US" sz="2000" b="1"/>
                          <a:t>）</a:t>
                        </a:r>
                        <a:r>
                          <a:rPr lang="en-US" altLang="zh-CN" sz="2000" b="1"/>
                          <a:t>w=2  </a:t>
                        </a:r>
                      </a:p>
                    </p:txBody>
                  </p:sp>
                  <p:sp>
                    <p:nvSpPr>
                      <p:cNvPr id="387" name="Rectangle 57">
                        <a:extLst>
                          <a:ext uri="{FF2B5EF4-FFF2-40B4-BE49-F238E27FC236}">
                            <a16:creationId xmlns:a16="http://schemas.microsoft.com/office/drawing/2014/main" id="{740C9CD7-BC69-4FE0-8BE5-5F5C518F8370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736" y="3648"/>
                        <a:ext cx="672" cy="192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pPr algn="ctr" eaLnBrk="0" hangingPunct="0"/>
                        <a:r>
                          <a:rPr lang="zh-CN" altLang="en-US" sz="2000" b="1"/>
                          <a:t>（</a:t>
                        </a:r>
                        <a:r>
                          <a:rPr lang="en-US" altLang="zh-CN" sz="2000" b="1"/>
                          <a:t>1</a:t>
                        </a:r>
                        <a:r>
                          <a:rPr lang="zh-CN" altLang="en-US" sz="2000" b="1"/>
                          <a:t>）</a:t>
                        </a:r>
                        <a:r>
                          <a:rPr lang="en-US" altLang="zh-CN" sz="2000" b="1"/>
                          <a:t>w=3  </a:t>
                        </a:r>
                      </a:p>
                    </p:txBody>
                  </p:sp>
                  <p:sp>
                    <p:nvSpPr>
                      <p:cNvPr id="388" name="Line 58">
                        <a:extLst>
                          <a:ext uri="{FF2B5EF4-FFF2-40B4-BE49-F238E27FC236}">
                            <a16:creationId xmlns:a16="http://schemas.microsoft.com/office/drawing/2014/main" id="{7525FC6C-D5C6-49AE-AB2E-F4A9B537F117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2736" y="2976"/>
                        <a:ext cx="0" cy="864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89" name="Line 59">
                        <a:extLst>
                          <a:ext uri="{FF2B5EF4-FFF2-40B4-BE49-F238E27FC236}">
                            <a16:creationId xmlns:a16="http://schemas.microsoft.com/office/drawing/2014/main" id="{B5ADFCD5-1A72-4657-9956-E2B2D5D39D8A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3408" y="2976"/>
                        <a:ext cx="0" cy="864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385" name="AutoShape 60">
                      <a:extLst>
                        <a:ext uri="{FF2B5EF4-FFF2-40B4-BE49-F238E27FC236}">
                          <a16:creationId xmlns:a16="http://schemas.microsoft.com/office/drawing/2014/main" id="{6C328619-D9BE-4CAB-A605-4057395390A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08" y="3504"/>
                      <a:ext cx="336" cy="48"/>
                    </a:xfrm>
                    <a:prstGeom prst="rightArrow">
                      <a:avLst>
                        <a:gd name="adj1" fmla="val 50000"/>
                        <a:gd name="adj2" fmla="val 175000"/>
                      </a:avLst>
                    </a:prstGeom>
                    <a:solidFill>
                      <a:srgbClr val="FF505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380" name="Text Box 61">
                    <a:extLst>
                      <a:ext uri="{FF2B5EF4-FFF2-40B4-BE49-F238E27FC236}">
                        <a16:creationId xmlns:a16="http://schemas.microsoft.com/office/drawing/2014/main" id="{CAAE2B33-8F70-4720-9EC7-D7973AB5A3B2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08" y="3264"/>
                    <a:ext cx="336" cy="23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r>
                      <a:rPr lang="en-US" altLang="zh-CN" sz="1800" b="1"/>
                      <a:t>top</a:t>
                    </a:r>
                  </a:p>
                </p:txBody>
              </p:sp>
            </p:grpSp>
            <p:sp>
              <p:nvSpPr>
                <p:cNvPr id="378" name="Text Box 62">
                  <a:extLst>
                    <a:ext uri="{FF2B5EF4-FFF2-40B4-BE49-F238E27FC236}">
                      <a16:creationId xmlns:a16="http://schemas.microsoft.com/office/drawing/2014/main" id="{7BF106EB-ECF7-44A2-9AFD-3F6FE9A07E2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84" y="1344"/>
                  <a:ext cx="1104" cy="250"/>
                </a:xfrm>
                <a:prstGeom prst="rect">
                  <a:avLst/>
                </a:prstGeom>
                <a:gradFill rotWithShape="1">
                  <a:gsLst>
                    <a:gs pos="0">
                      <a:srgbClr val="00FFFF"/>
                    </a:gs>
                    <a:gs pos="100000">
                      <a:srgbClr val="00FFFF">
                        <a:gamma/>
                        <a:shade val="66667"/>
                        <a:invGamma/>
                      </a:srgbClr>
                    </a:gs>
                  </a:gsLst>
                  <a:lin ang="5400000" scaled="1"/>
                </a:gra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US" altLang="zh-CN" sz="2000" b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ea typeface="楷体_GB2312" pitchFamily="49" charset="-122"/>
                    </a:rPr>
                    <a:t>(3) </a:t>
                  </a:r>
                  <a:r>
                    <a:rPr lang="zh-CN" altLang="en-US" sz="2000" b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ea typeface="楷体_GB2312" pitchFamily="49" charset="-122"/>
                    </a:rPr>
                    <a:t>输出：</a:t>
                  </a:r>
                  <a:r>
                    <a:rPr lang="en-US" altLang="zh-CN" sz="2000" b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ea typeface="楷体_GB2312" pitchFamily="49" charset="-122"/>
                    </a:rPr>
                    <a:t>2, 2</a:t>
                  </a:r>
                </a:p>
              </p:txBody>
            </p:sp>
          </p:grpSp>
          <p:sp>
            <p:nvSpPr>
              <p:cNvPr id="376" name="Line 63">
                <a:extLst>
                  <a:ext uri="{FF2B5EF4-FFF2-40B4-BE49-F238E27FC236}">
                    <a16:creationId xmlns:a16="http://schemas.microsoft.com/office/drawing/2014/main" id="{3549FA5D-EA00-43D3-A4F6-767355F105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6" y="1584"/>
                <a:ext cx="1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74" name="Text Box 64" descr="花岗岩">
              <a:extLst>
                <a:ext uri="{FF2B5EF4-FFF2-40B4-BE49-F238E27FC236}">
                  <a16:creationId xmlns:a16="http://schemas.microsoft.com/office/drawing/2014/main" id="{49B85BB1-9AC6-40E9-A9E6-1632F7E03B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528"/>
              <a:ext cx="24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b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w</a:t>
              </a:r>
            </a:p>
          </p:txBody>
        </p:sp>
      </p:grpSp>
      <p:grpSp>
        <p:nvGrpSpPr>
          <p:cNvPr id="390" name="Group 65">
            <a:extLst>
              <a:ext uri="{FF2B5EF4-FFF2-40B4-BE49-F238E27FC236}">
                <a16:creationId xmlns:a16="http://schemas.microsoft.com/office/drawing/2014/main" id="{4C6E0BC9-070C-4DFD-B6DE-E1C5251348A2}"/>
              </a:ext>
            </a:extLst>
          </p:cNvPr>
          <p:cNvGrpSpPr>
            <a:grpSpLocks/>
          </p:cNvGrpSpPr>
          <p:nvPr/>
        </p:nvGrpSpPr>
        <p:grpSpPr bwMode="auto">
          <a:xfrm>
            <a:off x="6746304" y="638894"/>
            <a:ext cx="2286000" cy="5715000"/>
            <a:chOff x="3360" y="240"/>
            <a:chExt cx="1392" cy="3600"/>
          </a:xfrm>
        </p:grpSpPr>
        <p:grpSp>
          <p:nvGrpSpPr>
            <p:cNvPr id="391" name="Group 66">
              <a:extLst>
                <a:ext uri="{FF2B5EF4-FFF2-40B4-BE49-F238E27FC236}">
                  <a16:creationId xmlns:a16="http://schemas.microsoft.com/office/drawing/2014/main" id="{9BEBA84F-E7C5-4286-86B8-9CE30C38DA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480"/>
              <a:ext cx="1392" cy="3360"/>
              <a:chOff x="3360" y="480"/>
              <a:chExt cx="1392" cy="3360"/>
            </a:xfrm>
          </p:grpSpPr>
          <p:grpSp>
            <p:nvGrpSpPr>
              <p:cNvPr id="393" name="Group 67">
                <a:extLst>
                  <a:ext uri="{FF2B5EF4-FFF2-40B4-BE49-F238E27FC236}">
                    <a16:creationId xmlns:a16="http://schemas.microsoft.com/office/drawing/2014/main" id="{3A627611-0830-44DA-AEAA-EAAD50D65BB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60" y="480"/>
                <a:ext cx="1392" cy="3360"/>
                <a:chOff x="3360" y="480"/>
                <a:chExt cx="1392" cy="3360"/>
              </a:xfrm>
            </p:grpSpPr>
            <p:grpSp>
              <p:nvGrpSpPr>
                <p:cNvPr id="395" name="Group 68">
                  <a:extLst>
                    <a:ext uri="{FF2B5EF4-FFF2-40B4-BE49-F238E27FC236}">
                      <a16:creationId xmlns:a16="http://schemas.microsoft.com/office/drawing/2014/main" id="{E2A86129-1847-49DC-A50B-F3D7AA1CC04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360" y="480"/>
                  <a:ext cx="1392" cy="3360"/>
                  <a:chOff x="3360" y="480"/>
                  <a:chExt cx="1392" cy="3360"/>
                </a:xfrm>
              </p:grpSpPr>
              <p:grpSp>
                <p:nvGrpSpPr>
                  <p:cNvPr id="399" name="Group 69">
                    <a:extLst>
                      <a:ext uri="{FF2B5EF4-FFF2-40B4-BE49-F238E27FC236}">
                        <a16:creationId xmlns:a16="http://schemas.microsoft.com/office/drawing/2014/main" id="{5B7A59F1-8844-49A0-99E8-71AF8694552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360" y="480"/>
                    <a:ext cx="1392" cy="3360"/>
                    <a:chOff x="3360" y="480"/>
                    <a:chExt cx="1392" cy="3360"/>
                  </a:xfrm>
                </p:grpSpPr>
                <p:sp>
                  <p:nvSpPr>
                    <p:cNvPr id="401" name="Rectangle 70">
                      <a:extLst>
                        <a:ext uri="{FF2B5EF4-FFF2-40B4-BE49-F238E27FC236}">
                          <a16:creationId xmlns:a16="http://schemas.microsoft.com/office/drawing/2014/main" id="{B96F90A2-D151-4B15-90D7-CF1B092D71B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76" y="480"/>
                      <a:ext cx="192" cy="144"/>
                    </a:xfrm>
                    <a:prstGeom prst="rect">
                      <a:avLst/>
                    </a:prstGeom>
                    <a:solidFill>
                      <a:srgbClr val="FFCCFF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pPr algn="ctr" eaLnBrk="0" hangingPunct="0"/>
                      <a:r>
                        <a:rPr lang="en-US" altLang="zh-CN" sz="2000" b="1"/>
                        <a:t>1</a:t>
                      </a:r>
                    </a:p>
                  </p:txBody>
                </p:sp>
                <p:sp>
                  <p:nvSpPr>
                    <p:cNvPr id="402" name="Text Box 71">
                      <a:extLst>
                        <a:ext uri="{FF2B5EF4-FFF2-40B4-BE49-F238E27FC236}">
                          <a16:creationId xmlns:a16="http://schemas.microsoft.com/office/drawing/2014/main" id="{C9D76340-8CDD-4909-81C2-07A798F2A8F2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032" y="720"/>
                      <a:ext cx="720" cy="250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>
                      <a:spAutoFit/>
                    </a:bodyPr>
                    <a:lstStyle/>
                    <a:p>
                      <a:pPr eaLnBrk="0" hangingPunct="0">
                        <a:spcBef>
                          <a:spcPct val="50000"/>
                        </a:spcBef>
                      </a:pPr>
                      <a:r>
                        <a:rPr lang="en-US" altLang="zh-CN" sz="2000" b="1"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</a:rPr>
                        <a:t>print(0);</a:t>
                      </a:r>
                    </a:p>
                  </p:txBody>
                </p:sp>
                <p:grpSp>
                  <p:nvGrpSpPr>
                    <p:cNvPr id="403" name="Group 72">
                      <a:extLst>
                        <a:ext uri="{FF2B5EF4-FFF2-40B4-BE49-F238E27FC236}">
                          <a16:creationId xmlns:a16="http://schemas.microsoft.com/office/drawing/2014/main" id="{824163B1-4ECC-4578-AA2E-99C74C354C65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744" y="2976"/>
                      <a:ext cx="672" cy="864"/>
                      <a:chOff x="2976" y="2112"/>
                      <a:chExt cx="672" cy="864"/>
                    </a:xfrm>
                  </p:grpSpPr>
                  <p:sp>
                    <p:nvSpPr>
                      <p:cNvPr id="406" name="Rectangle 73">
                        <a:extLst>
                          <a:ext uri="{FF2B5EF4-FFF2-40B4-BE49-F238E27FC236}">
                            <a16:creationId xmlns:a16="http://schemas.microsoft.com/office/drawing/2014/main" id="{1C8A2604-B3CF-43AF-A51D-04FC9DB53F5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76" y="2400"/>
                        <a:ext cx="672" cy="192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pPr algn="ctr" eaLnBrk="0" hangingPunct="0"/>
                        <a:r>
                          <a:rPr lang="zh-CN" altLang="en-US" sz="2000" b="1"/>
                          <a:t>（</a:t>
                        </a:r>
                        <a:r>
                          <a:rPr lang="en-US" altLang="zh-CN" sz="2000" b="1"/>
                          <a:t>3</a:t>
                        </a:r>
                        <a:r>
                          <a:rPr lang="zh-CN" altLang="en-US" sz="2000" b="1"/>
                          <a:t>）</a:t>
                        </a:r>
                        <a:r>
                          <a:rPr lang="en-US" altLang="zh-CN" sz="2000" b="1"/>
                          <a:t>w=1  </a:t>
                        </a:r>
                      </a:p>
                    </p:txBody>
                  </p:sp>
                  <p:sp>
                    <p:nvSpPr>
                      <p:cNvPr id="407" name="Rectangle 74">
                        <a:extLst>
                          <a:ext uri="{FF2B5EF4-FFF2-40B4-BE49-F238E27FC236}">
                            <a16:creationId xmlns:a16="http://schemas.microsoft.com/office/drawing/2014/main" id="{95320CF6-FD5F-4939-A0CA-D56849D27EB0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76" y="2592"/>
                        <a:ext cx="672" cy="192"/>
                      </a:xfrm>
                      <a:prstGeom prst="rect">
                        <a:avLst/>
                      </a:prstGeom>
                      <a:solidFill>
                        <a:srgbClr val="CCECFF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pPr algn="ctr" eaLnBrk="0" hangingPunct="0"/>
                        <a:r>
                          <a:rPr lang="zh-CN" altLang="en-US" sz="2000" b="1"/>
                          <a:t>（</a:t>
                        </a:r>
                        <a:r>
                          <a:rPr lang="en-US" altLang="zh-CN" sz="2000" b="1"/>
                          <a:t>2</a:t>
                        </a:r>
                        <a:r>
                          <a:rPr lang="zh-CN" altLang="en-US" sz="2000" b="1"/>
                          <a:t>）</a:t>
                        </a:r>
                        <a:r>
                          <a:rPr lang="en-US" altLang="zh-CN" sz="2000" b="1"/>
                          <a:t>w=2  </a:t>
                        </a:r>
                      </a:p>
                    </p:txBody>
                  </p:sp>
                  <p:sp>
                    <p:nvSpPr>
                      <p:cNvPr id="408" name="Rectangle 75">
                        <a:extLst>
                          <a:ext uri="{FF2B5EF4-FFF2-40B4-BE49-F238E27FC236}">
                            <a16:creationId xmlns:a16="http://schemas.microsoft.com/office/drawing/2014/main" id="{41B8D5F1-28AD-46D7-BF82-61768D0751DE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76" y="2784"/>
                        <a:ext cx="672" cy="192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pPr algn="ctr" eaLnBrk="0" hangingPunct="0"/>
                        <a:r>
                          <a:rPr lang="zh-CN" altLang="en-US" sz="2000" b="1"/>
                          <a:t>（</a:t>
                        </a:r>
                        <a:r>
                          <a:rPr lang="en-US" altLang="zh-CN" sz="2000" b="1"/>
                          <a:t>1</a:t>
                        </a:r>
                        <a:r>
                          <a:rPr lang="zh-CN" altLang="en-US" sz="2000" b="1"/>
                          <a:t>）</a:t>
                        </a:r>
                        <a:r>
                          <a:rPr lang="en-US" altLang="zh-CN" sz="2000" b="1"/>
                          <a:t>w=3  </a:t>
                        </a:r>
                      </a:p>
                    </p:txBody>
                  </p:sp>
                  <p:sp>
                    <p:nvSpPr>
                      <p:cNvPr id="409" name="Line 76">
                        <a:extLst>
                          <a:ext uri="{FF2B5EF4-FFF2-40B4-BE49-F238E27FC236}">
                            <a16:creationId xmlns:a16="http://schemas.microsoft.com/office/drawing/2014/main" id="{EB318649-B8C0-4CFA-A10C-6EDF5C3D1EC6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2976" y="2112"/>
                        <a:ext cx="0" cy="864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410" name="Line 77">
                        <a:extLst>
                          <a:ext uri="{FF2B5EF4-FFF2-40B4-BE49-F238E27FC236}">
                            <a16:creationId xmlns:a16="http://schemas.microsoft.com/office/drawing/2014/main" id="{F8BBB49E-C4D6-4F1A-8FD1-5A0DBCE8A42B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3648" y="2112"/>
                        <a:ext cx="0" cy="864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404" name="AutoShape 78">
                      <a:extLst>
                        <a:ext uri="{FF2B5EF4-FFF2-40B4-BE49-F238E27FC236}">
                          <a16:creationId xmlns:a16="http://schemas.microsoft.com/office/drawing/2014/main" id="{B5BB263E-7FAC-4D02-97B5-54DBCA0F222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360" y="3312"/>
                      <a:ext cx="336" cy="48"/>
                    </a:xfrm>
                    <a:prstGeom prst="rightArrow">
                      <a:avLst>
                        <a:gd name="adj1" fmla="val 50000"/>
                        <a:gd name="adj2" fmla="val 175000"/>
                      </a:avLst>
                    </a:prstGeom>
                    <a:solidFill>
                      <a:srgbClr val="FF505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05" name="Text Box 79">
                      <a:extLst>
                        <a:ext uri="{FF2B5EF4-FFF2-40B4-BE49-F238E27FC236}">
                          <a16:creationId xmlns:a16="http://schemas.microsoft.com/office/drawing/2014/main" id="{383B7CDC-8BC6-43DB-A089-6F4439BA5995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176" y="576"/>
                      <a:ext cx="192" cy="250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>
                      <a:spAutoFit/>
                    </a:bodyPr>
                    <a:lstStyle/>
                    <a:p>
                      <a:pPr eaLnBrk="0" hangingPunct="0">
                        <a:spcBef>
                          <a:spcPct val="50000"/>
                        </a:spcBef>
                      </a:pPr>
                      <a:endParaRPr lang="zh-CN" altLang="zh-CN" sz="2000" b="1"/>
                    </a:p>
                  </p:txBody>
                </p:sp>
              </p:grpSp>
              <p:sp>
                <p:nvSpPr>
                  <p:cNvPr id="400" name="Text Box 80">
                    <a:extLst>
                      <a:ext uri="{FF2B5EF4-FFF2-40B4-BE49-F238E27FC236}">
                        <a16:creationId xmlns:a16="http://schemas.microsoft.com/office/drawing/2014/main" id="{A3E88829-47EF-4D95-8E20-DD794CC687B5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360" y="3072"/>
                    <a:ext cx="336" cy="25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r>
                      <a:rPr lang="en-US" altLang="zh-CN" sz="2000" b="1"/>
                      <a:t>top</a:t>
                    </a:r>
                  </a:p>
                </p:txBody>
              </p:sp>
            </p:grpSp>
            <p:grpSp>
              <p:nvGrpSpPr>
                <p:cNvPr id="396" name="Group 81">
                  <a:extLst>
                    <a:ext uri="{FF2B5EF4-FFF2-40B4-BE49-F238E27FC236}">
                      <a16:creationId xmlns:a16="http://schemas.microsoft.com/office/drawing/2014/main" id="{97BF3BEF-25CF-42D2-8C0E-36A4903F931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888" y="960"/>
                  <a:ext cx="864" cy="250"/>
                  <a:chOff x="3840" y="960"/>
                  <a:chExt cx="864" cy="250"/>
                </a:xfrm>
              </p:grpSpPr>
              <p:sp>
                <p:nvSpPr>
                  <p:cNvPr id="397" name="Text Box 82">
                    <a:extLst>
                      <a:ext uri="{FF2B5EF4-FFF2-40B4-BE49-F238E27FC236}">
                        <a16:creationId xmlns:a16="http://schemas.microsoft.com/office/drawing/2014/main" id="{BA6923D6-A668-448A-9672-B29596A6238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840" y="960"/>
                    <a:ext cx="864" cy="250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00FFFF"/>
                      </a:gs>
                      <a:gs pos="100000">
                        <a:srgbClr val="00FFFF">
                          <a:gamma/>
                          <a:shade val="75686"/>
                          <a:invGamma/>
                        </a:srgbClr>
                      </a:gs>
                    </a:gsLst>
                    <a:lin ang="5400000" scaled="1"/>
                  </a:gra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r>
                      <a:rPr lang="en-US" altLang="zh-CN" sz="2000" b="1"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ea typeface="楷体_GB2312" pitchFamily="49" charset="-122"/>
                      </a:rPr>
                      <a:t>(4)</a:t>
                    </a:r>
                    <a:r>
                      <a:rPr lang="zh-CN" altLang="en-US" sz="2000" b="1"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ea typeface="楷体_GB2312" pitchFamily="49" charset="-122"/>
                      </a:rPr>
                      <a:t>输出：</a:t>
                    </a:r>
                    <a:r>
                      <a:rPr lang="en-US" altLang="zh-CN" sz="2000" b="1"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ea typeface="楷体_GB2312" pitchFamily="49" charset="-122"/>
                      </a:rPr>
                      <a:t>1</a:t>
                    </a:r>
                  </a:p>
                </p:txBody>
              </p:sp>
              <p:sp>
                <p:nvSpPr>
                  <p:cNvPr id="398" name="Line 83">
                    <a:extLst>
                      <a:ext uri="{FF2B5EF4-FFF2-40B4-BE49-F238E27FC236}">
                        <a16:creationId xmlns:a16="http://schemas.microsoft.com/office/drawing/2014/main" id="{3FF5BDF9-4AE2-46F7-80FD-F852C99D7CF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840" y="1200"/>
                    <a:ext cx="864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394" name="Line 84">
                <a:extLst>
                  <a:ext uri="{FF2B5EF4-FFF2-40B4-BE49-F238E27FC236}">
                    <a16:creationId xmlns:a16="http://schemas.microsoft.com/office/drawing/2014/main" id="{FAC95EC1-738F-4A86-8206-4CDFFDB230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1200"/>
                <a:ext cx="3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92" name="Text Box 85" descr="花岗岩">
              <a:extLst>
                <a:ext uri="{FF2B5EF4-FFF2-40B4-BE49-F238E27FC236}">
                  <a16:creationId xmlns:a16="http://schemas.microsoft.com/office/drawing/2014/main" id="{50BEEC79-8E35-41AA-97AF-194A09E3A1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240"/>
              <a:ext cx="24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b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w</a:t>
              </a:r>
            </a:p>
          </p:txBody>
        </p:sp>
      </p:grpSp>
      <p:grpSp>
        <p:nvGrpSpPr>
          <p:cNvPr id="411" name="Group 86">
            <a:extLst>
              <a:ext uri="{FF2B5EF4-FFF2-40B4-BE49-F238E27FC236}">
                <a16:creationId xmlns:a16="http://schemas.microsoft.com/office/drawing/2014/main" id="{00190A54-B230-4114-8D96-0F738BDA285E}"/>
              </a:ext>
            </a:extLst>
          </p:cNvPr>
          <p:cNvGrpSpPr>
            <a:grpSpLocks/>
          </p:cNvGrpSpPr>
          <p:nvPr/>
        </p:nvGrpSpPr>
        <p:grpSpPr bwMode="auto">
          <a:xfrm>
            <a:off x="8575104" y="638894"/>
            <a:ext cx="1676400" cy="5715000"/>
            <a:chOff x="4464" y="240"/>
            <a:chExt cx="1056" cy="3600"/>
          </a:xfrm>
        </p:grpSpPr>
        <p:grpSp>
          <p:nvGrpSpPr>
            <p:cNvPr id="412" name="Group 87">
              <a:extLst>
                <a:ext uri="{FF2B5EF4-FFF2-40B4-BE49-F238E27FC236}">
                  <a16:creationId xmlns:a16="http://schemas.microsoft.com/office/drawing/2014/main" id="{D36B2796-0918-4D70-8DB7-64D53B3EB5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4" y="480"/>
              <a:ext cx="1056" cy="3360"/>
              <a:chOff x="4464" y="480"/>
              <a:chExt cx="1056" cy="3360"/>
            </a:xfrm>
          </p:grpSpPr>
          <p:grpSp>
            <p:nvGrpSpPr>
              <p:cNvPr id="414" name="Group 88">
                <a:extLst>
                  <a:ext uri="{FF2B5EF4-FFF2-40B4-BE49-F238E27FC236}">
                    <a16:creationId xmlns:a16="http://schemas.microsoft.com/office/drawing/2014/main" id="{F6D4D6AF-3697-4F0D-8839-20319C557B4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64" y="480"/>
                <a:ext cx="1056" cy="3360"/>
                <a:chOff x="4464" y="480"/>
                <a:chExt cx="1056" cy="3360"/>
              </a:xfrm>
            </p:grpSpPr>
            <p:sp>
              <p:nvSpPr>
                <p:cNvPr id="416" name="Rectangle 89">
                  <a:extLst>
                    <a:ext uri="{FF2B5EF4-FFF2-40B4-BE49-F238E27FC236}">
                      <a16:creationId xmlns:a16="http://schemas.microsoft.com/office/drawing/2014/main" id="{B3B31975-0A49-4888-BD94-A1FF2022963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0" y="480"/>
                  <a:ext cx="192" cy="144"/>
                </a:xfrm>
                <a:prstGeom prst="rect">
                  <a:avLst/>
                </a:prstGeom>
                <a:solidFill>
                  <a:srgbClr val="CC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/>
                  <a:r>
                    <a:rPr lang="en-US" altLang="zh-CN" sz="2000" b="1"/>
                    <a:t>0</a:t>
                  </a:r>
                </a:p>
              </p:txBody>
            </p:sp>
            <p:sp>
              <p:nvSpPr>
                <p:cNvPr id="417" name="Line 90">
                  <a:extLst>
                    <a:ext uri="{FF2B5EF4-FFF2-40B4-BE49-F238E27FC236}">
                      <a16:creationId xmlns:a16="http://schemas.microsoft.com/office/drawing/2014/main" id="{7F283AB0-8C2B-41EE-AE2C-792C4E753E5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944" y="576"/>
                  <a:ext cx="0" cy="43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8" name="Line 91">
                  <a:extLst>
                    <a:ext uri="{FF2B5EF4-FFF2-40B4-BE49-F238E27FC236}">
                      <a16:creationId xmlns:a16="http://schemas.microsoft.com/office/drawing/2014/main" id="{9D8B1A5F-0FD5-4E6A-8057-61F3EE5FBA3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800" y="864"/>
                  <a:ext cx="14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9" name="Line 92">
                  <a:extLst>
                    <a:ext uri="{FF2B5EF4-FFF2-40B4-BE49-F238E27FC236}">
                      <a16:creationId xmlns:a16="http://schemas.microsoft.com/office/drawing/2014/main" id="{4229DEC1-1FB6-4C1F-ACB5-88D40C3736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944" y="576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0" name="Text Box 93">
                  <a:extLst>
                    <a:ext uri="{FF2B5EF4-FFF2-40B4-BE49-F238E27FC236}">
                      <a16:creationId xmlns:a16="http://schemas.microsoft.com/office/drawing/2014/main" id="{4B1BBB79-6575-420B-844B-BCC233A9764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280" y="576"/>
                  <a:ext cx="192" cy="2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zh-CN" sz="2000" b="1"/>
                </a:p>
              </p:txBody>
            </p:sp>
            <p:grpSp>
              <p:nvGrpSpPr>
                <p:cNvPr id="421" name="Group 94">
                  <a:extLst>
                    <a:ext uri="{FF2B5EF4-FFF2-40B4-BE49-F238E27FC236}">
                      <a16:creationId xmlns:a16="http://schemas.microsoft.com/office/drawing/2014/main" id="{0F89FA7B-9130-4E1B-9910-EA7992E5909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848" y="2976"/>
                  <a:ext cx="672" cy="864"/>
                  <a:chOff x="3792" y="2352"/>
                  <a:chExt cx="672" cy="864"/>
                </a:xfrm>
              </p:grpSpPr>
              <p:sp>
                <p:nvSpPr>
                  <p:cNvPr id="423" name="Rectangle 95">
                    <a:extLst>
                      <a:ext uri="{FF2B5EF4-FFF2-40B4-BE49-F238E27FC236}">
                        <a16:creationId xmlns:a16="http://schemas.microsoft.com/office/drawing/2014/main" id="{66DB7339-4FCA-4521-AE66-4C472784C37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792" y="2448"/>
                    <a:ext cx="672" cy="192"/>
                  </a:xfrm>
                  <a:prstGeom prst="rect">
                    <a:avLst/>
                  </a:prstGeom>
                  <a:solidFill>
                    <a:srgbClr val="CCFFFF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 algn="ctr" eaLnBrk="0" hangingPunct="0"/>
                    <a:r>
                      <a:rPr lang="zh-CN" altLang="en-US" sz="2000" b="1"/>
                      <a:t>（</a:t>
                    </a:r>
                    <a:r>
                      <a:rPr lang="en-US" altLang="zh-CN" sz="2000" b="1"/>
                      <a:t>4</a:t>
                    </a:r>
                    <a:r>
                      <a:rPr lang="zh-CN" altLang="en-US" sz="2000" b="1"/>
                      <a:t>）</a:t>
                    </a:r>
                    <a:r>
                      <a:rPr lang="en-US" altLang="zh-CN" sz="2000" b="1"/>
                      <a:t>w=0  </a:t>
                    </a:r>
                  </a:p>
                </p:txBody>
              </p:sp>
              <p:sp>
                <p:nvSpPr>
                  <p:cNvPr id="424" name="Rectangle 96">
                    <a:extLst>
                      <a:ext uri="{FF2B5EF4-FFF2-40B4-BE49-F238E27FC236}">
                        <a16:creationId xmlns:a16="http://schemas.microsoft.com/office/drawing/2014/main" id="{F8BBE860-C7B0-4671-B012-E2E9E159C84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792" y="2640"/>
                    <a:ext cx="672" cy="192"/>
                  </a:xfrm>
                  <a:prstGeom prst="rect">
                    <a:avLst/>
                  </a:prstGeom>
                  <a:solidFill>
                    <a:srgbClr val="FFCCFF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 algn="ctr" eaLnBrk="0" hangingPunct="0"/>
                    <a:r>
                      <a:rPr lang="zh-CN" altLang="en-US" sz="2000" b="1"/>
                      <a:t>（</a:t>
                    </a:r>
                    <a:r>
                      <a:rPr lang="en-US" altLang="zh-CN" sz="2000" b="1"/>
                      <a:t>3</a:t>
                    </a:r>
                    <a:r>
                      <a:rPr lang="zh-CN" altLang="en-US" sz="2000" b="1"/>
                      <a:t>）</a:t>
                    </a:r>
                    <a:r>
                      <a:rPr lang="en-US" altLang="zh-CN" sz="2000" b="1"/>
                      <a:t>w=1  </a:t>
                    </a:r>
                  </a:p>
                </p:txBody>
              </p:sp>
              <p:sp>
                <p:nvSpPr>
                  <p:cNvPr id="425" name="Rectangle 97">
                    <a:extLst>
                      <a:ext uri="{FF2B5EF4-FFF2-40B4-BE49-F238E27FC236}">
                        <a16:creationId xmlns:a16="http://schemas.microsoft.com/office/drawing/2014/main" id="{E653B213-07C6-4196-9587-FAC3703AE8A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792" y="2832"/>
                    <a:ext cx="672" cy="192"/>
                  </a:xfrm>
                  <a:prstGeom prst="rect">
                    <a:avLst/>
                  </a:prstGeom>
                  <a:solidFill>
                    <a:srgbClr val="CCECFF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 algn="ctr" eaLnBrk="0" hangingPunct="0"/>
                    <a:r>
                      <a:rPr lang="zh-CN" altLang="en-US" sz="2000" b="1"/>
                      <a:t>（</a:t>
                    </a:r>
                    <a:r>
                      <a:rPr lang="en-US" altLang="zh-CN" sz="2000" b="1"/>
                      <a:t>2</a:t>
                    </a:r>
                    <a:r>
                      <a:rPr lang="zh-CN" altLang="en-US" sz="2000" b="1"/>
                      <a:t>）</a:t>
                    </a:r>
                    <a:r>
                      <a:rPr lang="en-US" altLang="zh-CN" sz="2000" b="1"/>
                      <a:t>w=2  </a:t>
                    </a:r>
                  </a:p>
                </p:txBody>
              </p:sp>
              <p:sp>
                <p:nvSpPr>
                  <p:cNvPr id="426" name="Rectangle 98">
                    <a:extLst>
                      <a:ext uri="{FF2B5EF4-FFF2-40B4-BE49-F238E27FC236}">
                        <a16:creationId xmlns:a16="http://schemas.microsoft.com/office/drawing/2014/main" id="{E23C9DFD-729B-4164-AD5A-A120E86037B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792" y="3024"/>
                    <a:ext cx="672" cy="192"/>
                  </a:xfrm>
                  <a:prstGeom prst="rect">
                    <a:avLst/>
                  </a:prstGeom>
                  <a:solidFill>
                    <a:srgbClr val="CCFFCC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 algn="ctr" eaLnBrk="0" hangingPunct="0"/>
                    <a:r>
                      <a:rPr lang="zh-CN" altLang="en-US" sz="2000" b="1"/>
                      <a:t>（</a:t>
                    </a:r>
                    <a:r>
                      <a:rPr lang="en-US" altLang="zh-CN" sz="2000" b="1"/>
                      <a:t>1</a:t>
                    </a:r>
                    <a:r>
                      <a:rPr lang="zh-CN" altLang="en-US" sz="2000" b="1"/>
                      <a:t>）</a:t>
                    </a:r>
                    <a:r>
                      <a:rPr lang="en-US" altLang="zh-CN" sz="2000" b="1"/>
                      <a:t>w=3  </a:t>
                    </a:r>
                  </a:p>
                </p:txBody>
              </p:sp>
              <p:sp>
                <p:nvSpPr>
                  <p:cNvPr id="427" name="Line 99">
                    <a:extLst>
                      <a:ext uri="{FF2B5EF4-FFF2-40B4-BE49-F238E27FC236}">
                        <a16:creationId xmlns:a16="http://schemas.microsoft.com/office/drawing/2014/main" id="{1DA1AD42-C129-4566-948F-3576B4EE00E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792" y="2352"/>
                    <a:ext cx="0" cy="86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28" name="Line 100">
                    <a:extLst>
                      <a:ext uri="{FF2B5EF4-FFF2-40B4-BE49-F238E27FC236}">
                        <a16:creationId xmlns:a16="http://schemas.microsoft.com/office/drawing/2014/main" id="{5E79908E-B876-42F4-8DFD-FE17FC546C5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464" y="2352"/>
                    <a:ext cx="0" cy="86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422" name="AutoShape 101">
                  <a:extLst>
                    <a:ext uri="{FF2B5EF4-FFF2-40B4-BE49-F238E27FC236}">
                      <a16:creationId xmlns:a16="http://schemas.microsoft.com/office/drawing/2014/main" id="{3D086781-D2AA-4558-84A7-CF1D3530F0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64" y="3120"/>
                  <a:ext cx="336" cy="48"/>
                </a:xfrm>
                <a:prstGeom prst="rightArrow">
                  <a:avLst>
                    <a:gd name="adj1" fmla="val 50000"/>
                    <a:gd name="adj2" fmla="val 175000"/>
                  </a:avLst>
                </a:prstGeom>
                <a:solidFill>
                  <a:srgbClr val="FF505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415" name="Text Box 102">
                <a:extLst>
                  <a:ext uri="{FF2B5EF4-FFF2-40B4-BE49-F238E27FC236}">
                    <a16:creationId xmlns:a16="http://schemas.microsoft.com/office/drawing/2014/main" id="{33B1EAD3-9F5C-43C3-B262-268E998AB7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64" y="2880"/>
                <a:ext cx="336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 sz="1800" b="1"/>
                  <a:t>top</a:t>
                </a:r>
              </a:p>
            </p:txBody>
          </p:sp>
        </p:grpSp>
        <p:sp>
          <p:nvSpPr>
            <p:cNvPr id="413" name="Text Box 103" descr="花岗岩">
              <a:extLst>
                <a:ext uri="{FF2B5EF4-FFF2-40B4-BE49-F238E27FC236}">
                  <a16:creationId xmlns:a16="http://schemas.microsoft.com/office/drawing/2014/main" id="{D0E31AF5-8AD4-4356-9B37-B67EBC5C19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32" y="240"/>
              <a:ext cx="24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b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w</a:t>
              </a:r>
            </a:p>
          </p:txBody>
        </p:sp>
      </p:grpSp>
      <p:sp>
        <p:nvSpPr>
          <p:cNvPr id="429" name="Rectangle 104">
            <a:extLst>
              <a:ext uri="{FF2B5EF4-FFF2-40B4-BE49-F238E27FC236}">
                <a16:creationId xmlns:a16="http://schemas.microsoft.com/office/drawing/2014/main" id="{E49977D3-91CB-4CA0-9158-4D2E4E4706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0932" y="4696544"/>
            <a:ext cx="8572500" cy="1828800"/>
          </a:xfrm>
          <a:prstGeom prst="rect">
            <a:avLst/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430" name="Group 105">
            <a:extLst>
              <a:ext uri="{FF2B5EF4-FFF2-40B4-BE49-F238E27FC236}">
                <a16:creationId xmlns:a16="http://schemas.microsoft.com/office/drawing/2014/main" id="{3289C7C0-7467-478E-BC0C-8EFA28C4BBAD}"/>
              </a:ext>
            </a:extLst>
          </p:cNvPr>
          <p:cNvGrpSpPr>
            <a:grpSpLocks/>
          </p:cNvGrpSpPr>
          <p:nvPr/>
        </p:nvGrpSpPr>
        <p:grpSpPr bwMode="auto">
          <a:xfrm>
            <a:off x="4993704" y="2377207"/>
            <a:ext cx="2667000" cy="3962400"/>
            <a:chOff x="2208" y="1344"/>
            <a:chExt cx="1680" cy="2496"/>
          </a:xfrm>
        </p:grpSpPr>
        <p:sp>
          <p:nvSpPr>
            <p:cNvPr id="431" name="Text Box 106">
              <a:extLst>
                <a:ext uri="{FF2B5EF4-FFF2-40B4-BE49-F238E27FC236}">
                  <a16:creationId xmlns:a16="http://schemas.microsoft.com/office/drawing/2014/main" id="{39A09ABE-05D1-4899-A7EE-6C2E2C4E6E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1344"/>
              <a:ext cx="1104" cy="252"/>
            </a:xfrm>
            <a:prstGeom prst="rect">
              <a:avLst/>
            </a:prstGeom>
            <a:gradFill rotWithShape="1">
              <a:gsLst>
                <a:gs pos="0">
                  <a:srgbClr val="BAA1B9"/>
                </a:gs>
                <a:gs pos="100000">
                  <a:srgbClr val="FF99FF">
                    <a:gamma/>
                    <a:shade val="78824"/>
                    <a:invGamma/>
                  </a:srgb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0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+mn-lt"/>
                  <a:ea typeface="楷体" pitchFamily="49" charset="-122"/>
                </a:rPr>
                <a:t>(3) </a:t>
              </a:r>
              <a:r>
                <a:rPr lang="zh-CN" altLang="en-US" sz="20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+mn-lt"/>
                  <a:ea typeface="楷体" pitchFamily="49" charset="-122"/>
                </a:rPr>
                <a:t>输出：</a:t>
              </a:r>
              <a:r>
                <a:rPr lang="en-US" altLang="zh-CN" sz="20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+mn-lt"/>
                  <a:ea typeface="楷体" pitchFamily="49" charset="-122"/>
                </a:rPr>
                <a:t>2, 2</a:t>
              </a:r>
            </a:p>
          </p:txBody>
        </p:sp>
        <p:grpSp>
          <p:nvGrpSpPr>
            <p:cNvPr id="432" name="Group 107">
              <a:extLst>
                <a:ext uri="{FF2B5EF4-FFF2-40B4-BE49-F238E27FC236}">
                  <a16:creationId xmlns:a16="http://schemas.microsoft.com/office/drawing/2014/main" id="{66E0287C-0936-4C75-8442-F740A8959C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8" y="2976"/>
              <a:ext cx="1104" cy="864"/>
              <a:chOff x="2208" y="2208"/>
              <a:chExt cx="1104" cy="864"/>
            </a:xfrm>
          </p:grpSpPr>
          <p:sp>
            <p:nvSpPr>
              <p:cNvPr id="433" name="Rectangle 108">
                <a:extLst>
                  <a:ext uri="{FF2B5EF4-FFF2-40B4-BE49-F238E27FC236}">
                    <a16:creationId xmlns:a16="http://schemas.microsoft.com/office/drawing/2014/main" id="{96CB4025-402A-4F09-822E-930C708FD7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2688"/>
                <a:ext cx="672" cy="192"/>
              </a:xfrm>
              <a:prstGeom prst="rect">
                <a:avLst/>
              </a:prstGeom>
              <a:solidFill>
                <a:srgbClr val="CCE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sz="2000" b="1">
                    <a:latin typeface="+mn-lt"/>
                    <a:ea typeface="楷体" pitchFamily="49" charset="-122"/>
                  </a:rPr>
                  <a:t>(2)    2</a:t>
                </a:r>
              </a:p>
            </p:txBody>
          </p:sp>
          <p:sp>
            <p:nvSpPr>
              <p:cNvPr id="434" name="Rectangle 109">
                <a:extLst>
                  <a:ext uri="{FF2B5EF4-FFF2-40B4-BE49-F238E27FC236}">
                    <a16:creationId xmlns:a16="http://schemas.microsoft.com/office/drawing/2014/main" id="{0F915DB6-BCEA-49CF-B22A-650B3A4465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2880"/>
                <a:ext cx="672" cy="192"/>
              </a:xfrm>
              <a:prstGeom prst="rect">
                <a:avLst/>
              </a:prstGeom>
              <a:solidFill>
                <a:srgbClr val="CC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sz="2000" b="1">
                    <a:latin typeface="+mn-lt"/>
                    <a:ea typeface="楷体" pitchFamily="49" charset="-122"/>
                  </a:rPr>
                  <a:t>(1)    3</a:t>
                </a:r>
              </a:p>
            </p:txBody>
          </p:sp>
          <p:sp>
            <p:nvSpPr>
              <p:cNvPr id="435" name="Line 110">
                <a:extLst>
                  <a:ext uri="{FF2B5EF4-FFF2-40B4-BE49-F238E27FC236}">
                    <a16:creationId xmlns:a16="http://schemas.microsoft.com/office/drawing/2014/main" id="{99D52ABE-25F8-4D4F-8AF1-B77C3316AE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40" y="2208"/>
                <a:ext cx="0" cy="8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  <p:sp>
            <p:nvSpPr>
              <p:cNvPr id="436" name="Line 111">
                <a:extLst>
                  <a:ext uri="{FF2B5EF4-FFF2-40B4-BE49-F238E27FC236}">
                    <a16:creationId xmlns:a16="http://schemas.microsoft.com/office/drawing/2014/main" id="{9768113B-8E4B-4E37-BDB6-CD6330047A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12" y="2208"/>
                <a:ext cx="0" cy="8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  <p:grpSp>
            <p:nvGrpSpPr>
              <p:cNvPr id="437" name="Group 112">
                <a:extLst>
                  <a:ext uri="{FF2B5EF4-FFF2-40B4-BE49-F238E27FC236}">
                    <a16:creationId xmlns:a16="http://schemas.microsoft.com/office/drawing/2014/main" id="{9ECAF238-1D77-4557-ABA7-3C7A2E556F1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08" y="2496"/>
                <a:ext cx="384" cy="288"/>
                <a:chOff x="1440" y="3888"/>
                <a:chExt cx="384" cy="288"/>
              </a:xfrm>
            </p:grpSpPr>
            <p:sp>
              <p:nvSpPr>
                <p:cNvPr id="438" name="AutoShape 113">
                  <a:extLst>
                    <a:ext uri="{FF2B5EF4-FFF2-40B4-BE49-F238E27FC236}">
                      <a16:creationId xmlns:a16="http://schemas.microsoft.com/office/drawing/2014/main" id="{5AB50708-7DF2-47B7-9D48-33263FA21E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40" y="4128"/>
                  <a:ext cx="336" cy="48"/>
                </a:xfrm>
                <a:prstGeom prst="rightArrow">
                  <a:avLst>
                    <a:gd name="adj1" fmla="val 50000"/>
                    <a:gd name="adj2" fmla="val 175000"/>
                  </a:avLst>
                </a:prstGeom>
                <a:solidFill>
                  <a:srgbClr val="FF505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+mn-lt"/>
                    <a:ea typeface="楷体" pitchFamily="49" charset="-122"/>
                  </a:endParaRPr>
                </a:p>
              </p:txBody>
            </p:sp>
            <p:sp>
              <p:nvSpPr>
                <p:cNvPr id="439" name="Text Box 114">
                  <a:extLst>
                    <a:ext uri="{FF2B5EF4-FFF2-40B4-BE49-F238E27FC236}">
                      <a16:creationId xmlns:a16="http://schemas.microsoft.com/office/drawing/2014/main" id="{92BA1520-D665-4596-8F74-AD804BC5987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440" y="3888"/>
                  <a:ext cx="384" cy="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US" altLang="zh-CN" sz="1800" b="1">
                      <a:latin typeface="+mn-lt"/>
                      <a:ea typeface="楷体" pitchFamily="49" charset="-122"/>
                    </a:rPr>
                    <a:t>top</a:t>
                  </a:r>
                </a:p>
              </p:txBody>
            </p:sp>
          </p:grpSp>
        </p:grpSp>
      </p:grpSp>
      <p:grpSp>
        <p:nvGrpSpPr>
          <p:cNvPr id="440" name="Group 115">
            <a:extLst>
              <a:ext uri="{FF2B5EF4-FFF2-40B4-BE49-F238E27FC236}">
                <a16:creationId xmlns:a16="http://schemas.microsoft.com/office/drawing/2014/main" id="{A4A92B41-21BC-46B0-A495-5FCD49B02C55}"/>
              </a:ext>
            </a:extLst>
          </p:cNvPr>
          <p:cNvGrpSpPr>
            <a:grpSpLocks/>
          </p:cNvGrpSpPr>
          <p:nvPr/>
        </p:nvGrpSpPr>
        <p:grpSpPr bwMode="auto">
          <a:xfrm>
            <a:off x="6746304" y="1781894"/>
            <a:ext cx="2286000" cy="4572000"/>
            <a:chOff x="3360" y="960"/>
            <a:chExt cx="1392" cy="2880"/>
          </a:xfrm>
        </p:grpSpPr>
        <p:sp>
          <p:nvSpPr>
            <p:cNvPr id="441" name="Text Box 116">
              <a:extLst>
                <a:ext uri="{FF2B5EF4-FFF2-40B4-BE49-F238E27FC236}">
                  <a16:creationId xmlns:a16="http://schemas.microsoft.com/office/drawing/2014/main" id="{1DA9D12A-D413-4D69-B53F-87FEF1D850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960"/>
              <a:ext cx="864" cy="252"/>
            </a:xfrm>
            <a:prstGeom prst="rect">
              <a:avLst/>
            </a:prstGeom>
            <a:gradFill rotWithShape="1">
              <a:gsLst>
                <a:gs pos="0">
                  <a:srgbClr val="BAA1B9"/>
                </a:gs>
                <a:gs pos="100000">
                  <a:srgbClr val="FF99FF">
                    <a:gamma/>
                    <a:shade val="72549"/>
                    <a:invGamma/>
                  </a:srgb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0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+mn-lt"/>
                  <a:ea typeface="楷体" pitchFamily="49" charset="-122"/>
                </a:rPr>
                <a:t>(4)</a:t>
              </a:r>
              <a:r>
                <a:rPr lang="zh-CN" altLang="en-US" sz="20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+mn-lt"/>
                  <a:ea typeface="楷体" pitchFamily="49" charset="-122"/>
                </a:rPr>
                <a:t>输出：</a:t>
              </a:r>
              <a:r>
                <a:rPr lang="en-US" altLang="zh-CN" sz="20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+mn-lt"/>
                  <a:ea typeface="楷体" pitchFamily="49" charset="-122"/>
                </a:rPr>
                <a:t>1</a:t>
              </a:r>
            </a:p>
          </p:txBody>
        </p:sp>
        <p:grpSp>
          <p:nvGrpSpPr>
            <p:cNvPr id="442" name="Group 117">
              <a:extLst>
                <a:ext uri="{FF2B5EF4-FFF2-40B4-BE49-F238E27FC236}">
                  <a16:creationId xmlns:a16="http://schemas.microsoft.com/office/drawing/2014/main" id="{C4EE494A-317D-446B-BE55-D8E9D4648A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2976"/>
              <a:ext cx="1056" cy="864"/>
              <a:chOff x="3456" y="2976"/>
              <a:chExt cx="1056" cy="864"/>
            </a:xfrm>
          </p:grpSpPr>
          <p:sp>
            <p:nvSpPr>
              <p:cNvPr id="443" name="Rectangle 118">
                <a:extLst>
                  <a:ext uri="{FF2B5EF4-FFF2-40B4-BE49-F238E27FC236}">
                    <a16:creationId xmlns:a16="http://schemas.microsoft.com/office/drawing/2014/main" id="{D926BE77-05CA-422D-8A23-0A5A55FCFA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0" y="3264"/>
                <a:ext cx="672" cy="192"/>
              </a:xfrm>
              <a:prstGeom prst="rect">
                <a:avLst/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sz="2000" b="1">
                    <a:latin typeface="+mn-lt"/>
                    <a:ea typeface="楷体" pitchFamily="49" charset="-122"/>
                  </a:rPr>
                  <a:t>(3)       1</a:t>
                </a:r>
              </a:p>
            </p:txBody>
          </p:sp>
          <p:sp>
            <p:nvSpPr>
              <p:cNvPr id="444" name="Rectangle 119">
                <a:extLst>
                  <a:ext uri="{FF2B5EF4-FFF2-40B4-BE49-F238E27FC236}">
                    <a16:creationId xmlns:a16="http://schemas.microsoft.com/office/drawing/2014/main" id="{A3D3E53B-6877-4A88-BA28-EFE2719B8B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0" y="3456"/>
                <a:ext cx="672" cy="192"/>
              </a:xfrm>
              <a:prstGeom prst="rect">
                <a:avLst/>
              </a:prstGeom>
              <a:solidFill>
                <a:srgbClr val="CCE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sz="2000" b="1">
                    <a:latin typeface="+mn-lt"/>
                    <a:ea typeface="楷体" pitchFamily="49" charset="-122"/>
                  </a:rPr>
                  <a:t>(2)       2</a:t>
                </a:r>
              </a:p>
            </p:txBody>
          </p:sp>
          <p:sp>
            <p:nvSpPr>
              <p:cNvPr id="445" name="Rectangle 120">
                <a:extLst>
                  <a:ext uri="{FF2B5EF4-FFF2-40B4-BE49-F238E27FC236}">
                    <a16:creationId xmlns:a16="http://schemas.microsoft.com/office/drawing/2014/main" id="{6910D682-5BF7-4E22-B6A3-83AEE31E1A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0" y="3648"/>
                <a:ext cx="672" cy="192"/>
              </a:xfrm>
              <a:prstGeom prst="rect">
                <a:avLst/>
              </a:prstGeom>
              <a:solidFill>
                <a:srgbClr val="CC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sz="2000" b="1">
                    <a:latin typeface="+mn-lt"/>
                    <a:ea typeface="楷体" pitchFamily="49" charset="-122"/>
                  </a:rPr>
                  <a:t>(1)      3</a:t>
                </a:r>
              </a:p>
            </p:txBody>
          </p:sp>
          <p:sp>
            <p:nvSpPr>
              <p:cNvPr id="446" name="Line 121">
                <a:extLst>
                  <a:ext uri="{FF2B5EF4-FFF2-40B4-BE49-F238E27FC236}">
                    <a16:creationId xmlns:a16="http://schemas.microsoft.com/office/drawing/2014/main" id="{7CE0AB21-CDE3-440D-8C25-7BEFA40C0D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12" y="2976"/>
                <a:ext cx="0" cy="8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  <p:sp>
            <p:nvSpPr>
              <p:cNvPr id="447" name="Line 122">
                <a:extLst>
                  <a:ext uri="{FF2B5EF4-FFF2-40B4-BE49-F238E27FC236}">
                    <a16:creationId xmlns:a16="http://schemas.microsoft.com/office/drawing/2014/main" id="{76ED4627-1E83-4130-8C89-1582D51039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40" y="2976"/>
                <a:ext cx="0" cy="8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  <p:grpSp>
            <p:nvGrpSpPr>
              <p:cNvPr id="448" name="Group 123">
                <a:extLst>
                  <a:ext uri="{FF2B5EF4-FFF2-40B4-BE49-F238E27FC236}">
                    <a16:creationId xmlns:a16="http://schemas.microsoft.com/office/drawing/2014/main" id="{23AA3176-0AAF-48D2-A2FC-7C07FD0FCE3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56" y="3072"/>
                <a:ext cx="384" cy="288"/>
                <a:chOff x="1440" y="3888"/>
                <a:chExt cx="384" cy="288"/>
              </a:xfrm>
            </p:grpSpPr>
            <p:sp>
              <p:nvSpPr>
                <p:cNvPr id="449" name="AutoShape 124">
                  <a:extLst>
                    <a:ext uri="{FF2B5EF4-FFF2-40B4-BE49-F238E27FC236}">
                      <a16:creationId xmlns:a16="http://schemas.microsoft.com/office/drawing/2014/main" id="{3D5CECA3-21C7-4B03-A875-42B08DB07B5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40" y="4128"/>
                  <a:ext cx="336" cy="48"/>
                </a:xfrm>
                <a:prstGeom prst="rightArrow">
                  <a:avLst>
                    <a:gd name="adj1" fmla="val 50000"/>
                    <a:gd name="adj2" fmla="val 175000"/>
                  </a:avLst>
                </a:prstGeom>
                <a:solidFill>
                  <a:srgbClr val="FF505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+mn-lt"/>
                    <a:ea typeface="楷体" pitchFamily="49" charset="-122"/>
                  </a:endParaRPr>
                </a:p>
              </p:txBody>
            </p:sp>
            <p:sp>
              <p:nvSpPr>
                <p:cNvPr id="450" name="Text Box 125">
                  <a:extLst>
                    <a:ext uri="{FF2B5EF4-FFF2-40B4-BE49-F238E27FC236}">
                      <a16:creationId xmlns:a16="http://schemas.microsoft.com/office/drawing/2014/main" id="{BF3607B4-E549-4C94-A146-9C9F7A250BF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440" y="3888"/>
                  <a:ext cx="384" cy="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US" altLang="zh-CN" sz="1800" b="1">
                      <a:latin typeface="+mn-lt"/>
                      <a:ea typeface="楷体" pitchFamily="49" charset="-122"/>
                    </a:rPr>
                    <a:t>top</a:t>
                  </a:r>
                </a:p>
              </p:txBody>
            </p:sp>
          </p:grpSp>
        </p:grpSp>
      </p:grpSp>
      <p:grpSp>
        <p:nvGrpSpPr>
          <p:cNvPr id="451" name="Group 126">
            <a:extLst>
              <a:ext uri="{FF2B5EF4-FFF2-40B4-BE49-F238E27FC236}">
                <a16:creationId xmlns:a16="http://schemas.microsoft.com/office/drawing/2014/main" id="{13CC346F-F224-4001-A8F8-31ECF9D64528}"/>
              </a:ext>
            </a:extLst>
          </p:cNvPr>
          <p:cNvGrpSpPr>
            <a:grpSpLocks/>
          </p:cNvGrpSpPr>
          <p:nvPr/>
        </p:nvGrpSpPr>
        <p:grpSpPr bwMode="auto">
          <a:xfrm>
            <a:off x="3164904" y="2924894"/>
            <a:ext cx="2819400" cy="3429000"/>
            <a:chOff x="1056" y="1680"/>
            <a:chExt cx="1776" cy="2160"/>
          </a:xfrm>
        </p:grpSpPr>
        <p:sp>
          <p:nvSpPr>
            <p:cNvPr id="452" name="Text Box 127">
              <a:extLst>
                <a:ext uri="{FF2B5EF4-FFF2-40B4-BE49-F238E27FC236}">
                  <a16:creationId xmlns:a16="http://schemas.microsoft.com/office/drawing/2014/main" id="{0041ADFC-EAE5-4CD1-8ED5-0F5A9F56D5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680"/>
              <a:ext cx="1296" cy="252"/>
            </a:xfrm>
            <a:prstGeom prst="rect">
              <a:avLst/>
            </a:prstGeom>
            <a:gradFill rotWithShape="1">
              <a:gsLst>
                <a:gs pos="0">
                  <a:srgbClr val="BAA1B9"/>
                </a:gs>
                <a:gs pos="100000">
                  <a:srgbClr val="FF99FF">
                    <a:gamma/>
                    <a:shade val="69804"/>
                    <a:invGamma/>
                  </a:srgb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0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+mn-lt"/>
                  <a:ea typeface="楷体" pitchFamily="49" charset="-122"/>
                </a:rPr>
                <a:t>(2) </a:t>
              </a:r>
              <a:r>
                <a:rPr lang="zh-CN" altLang="en-US" sz="20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+mn-lt"/>
                  <a:ea typeface="楷体" pitchFamily="49" charset="-122"/>
                </a:rPr>
                <a:t>输出：</a:t>
              </a:r>
              <a:r>
                <a:rPr lang="en-US" altLang="zh-CN" sz="20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+mn-lt"/>
                  <a:ea typeface="楷体" pitchFamily="49" charset="-122"/>
                </a:rPr>
                <a:t>3, 3, 3  </a:t>
              </a:r>
            </a:p>
          </p:txBody>
        </p:sp>
        <p:grpSp>
          <p:nvGrpSpPr>
            <p:cNvPr id="453" name="Group 128">
              <a:extLst>
                <a:ext uri="{FF2B5EF4-FFF2-40B4-BE49-F238E27FC236}">
                  <a16:creationId xmlns:a16="http://schemas.microsoft.com/office/drawing/2014/main" id="{AD08ED53-7B47-4AC3-A6D5-DDD2172F37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56" y="2976"/>
              <a:ext cx="1056" cy="864"/>
              <a:chOff x="2160" y="1776"/>
              <a:chExt cx="1056" cy="864"/>
            </a:xfrm>
          </p:grpSpPr>
          <p:sp>
            <p:nvSpPr>
              <p:cNvPr id="454" name="Rectangle 129">
                <a:extLst>
                  <a:ext uri="{FF2B5EF4-FFF2-40B4-BE49-F238E27FC236}">
                    <a16:creationId xmlns:a16="http://schemas.microsoft.com/office/drawing/2014/main" id="{73C69910-54E6-42AE-A02B-2CB8E2D499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" y="2448"/>
                <a:ext cx="672" cy="192"/>
              </a:xfrm>
              <a:prstGeom prst="rect">
                <a:avLst/>
              </a:prstGeom>
              <a:solidFill>
                <a:srgbClr val="CC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sz="2000" b="1">
                    <a:latin typeface="+mn-lt"/>
                    <a:ea typeface="楷体" pitchFamily="49" charset="-122"/>
                  </a:rPr>
                  <a:t>(1 )    3</a:t>
                </a:r>
              </a:p>
            </p:txBody>
          </p:sp>
          <p:sp>
            <p:nvSpPr>
              <p:cNvPr id="455" name="Line 130">
                <a:extLst>
                  <a:ext uri="{FF2B5EF4-FFF2-40B4-BE49-F238E27FC236}">
                    <a16:creationId xmlns:a16="http://schemas.microsoft.com/office/drawing/2014/main" id="{1D774AD4-49F0-4A85-89C4-7D8EFC330E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44" y="1776"/>
                <a:ext cx="0" cy="8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  <p:sp>
            <p:nvSpPr>
              <p:cNvPr id="456" name="Line 131">
                <a:extLst>
                  <a:ext uri="{FF2B5EF4-FFF2-40B4-BE49-F238E27FC236}">
                    <a16:creationId xmlns:a16="http://schemas.microsoft.com/office/drawing/2014/main" id="{32C020A1-F797-41CB-B548-4073A84357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216" y="1776"/>
                <a:ext cx="0" cy="8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  <p:grpSp>
            <p:nvGrpSpPr>
              <p:cNvPr id="457" name="Group 132">
                <a:extLst>
                  <a:ext uri="{FF2B5EF4-FFF2-40B4-BE49-F238E27FC236}">
                    <a16:creationId xmlns:a16="http://schemas.microsoft.com/office/drawing/2014/main" id="{794E4F43-A383-44B6-91E6-281AC2BD037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60" y="2208"/>
                <a:ext cx="384" cy="336"/>
                <a:chOff x="1872" y="2160"/>
                <a:chExt cx="384" cy="336"/>
              </a:xfrm>
            </p:grpSpPr>
            <p:sp>
              <p:nvSpPr>
                <p:cNvPr id="458" name="AutoShape 133">
                  <a:extLst>
                    <a:ext uri="{FF2B5EF4-FFF2-40B4-BE49-F238E27FC236}">
                      <a16:creationId xmlns:a16="http://schemas.microsoft.com/office/drawing/2014/main" id="{3F5E14E5-E09A-47BA-84CB-374816C13E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2448"/>
                  <a:ext cx="336" cy="48"/>
                </a:xfrm>
                <a:prstGeom prst="rightArrow">
                  <a:avLst>
                    <a:gd name="adj1" fmla="val 50000"/>
                    <a:gd name="adj2" fmla="val 175000"/>
                  </a:avLst>
                </a:prstGeom>
                <a:solidFill>
                  <a:srgbClr val="FF505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+mn-lt"/>
                    <a:ea typeface="楷体" pitchFamily="49" charset="-122"/>
                  </a:endParaRPr>
                </a:p>
              </p:txBody>
            </p:sp>
            <p:sp>
              <p:nvSpPr>
                <p:cNvPr id="459" name="Text Box 134">
                  <a:extLst>
                    <a:ext uri="{FF2B5EF4-FFF2-40B4-BE49-F238E27FC236}">
                      <a16:creationId xmlns:a16="http://schemas.microsoft.com/office/drawing/2014/main" id="{F6ADA427-9615-406C-8C19-9AAA80483DB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72" y="2160"/>
                  <a:ext cx="384" cy="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US" altLang="zh-CN" sz="1800" b="1">
                      <a:latin typeface="+mn-lt"/>
                      <a:ea typeface="楷体" pitchFamily="49" charset="-122"/>
                    </a:rPr>
                    <a:t>top</a:t>
                  </a:r>
                </a:p>
              </p:txBody>
            </p:sp>
          </p:grpSp>
        </p:grpSp>
      </p:grpSp>
      <p:grpSp>
        <p:nvGrpSpPr>
          <p:cNvPr id="460" name="Group 135">
            <a:extLst>
              <a:ext uri="{FF2B5EF4-FFF2-40B4-BE49-F238E27FC236}">
                <a16:creationId xmlns:a16="http://schemas.microsoft.com/office/drawing/2014/main" id="{5EF1E5D8-6644-4EFA-BA1A-DD76319523D3}"/>
              </a:ext>
            </a:extLst>
          </p:cNvPr>
          <p:cNvGrpSpPr>
            <a:grpSpLocks/>
          </p:cNvGrpSpPr>
          <p:nvPr/>
        </p:nvGrpSpPr>
        <p:grpSpPr bwMode="auto">
          <a:xfrm>
            <a:off x="8651304" y="1724744"/>
            <a:ext cx="1981200" cy="4648200"/>
            <a:chOff x="4512" y="912"/>
            <a:chExt cx="1248" cy="2928"/>
          </a:xfrm>
        </p:grpSpPr>
        <p:grpSp>
          <p:nvGrpSpPr>
            <p:cNvPr id="461" name="Group 136">
              <a:extLst>
                <a:ext uri="{FF2B5EF4-FFF2-40B4-BE49-F238E27FC236}">
                  <a16:creationId xmlns:a16="http://schemas.microsoft.com/office/drawing/2014/main" id="{61714737-625E-4B20-9BB8-8D451F70CE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44" y="912"/>
              <a:ext cx="816" cy="250"/>
              <a:chOff x="4944" y="912"/>
              <a:chExt cx="816" cy="250"/>
            </a:xfrm>
          </p:grpSpPr>
          <p:sp>
            <p:nvSpPr>
              <p:cNvPr id="472" name="Line 137">
                <a:extLst>
                  <a:ext uri="{FF2B5EF4-FFF2-40B4-BE49-F238E27FC236}">
                    <a16:creationId xmlns:a16="http://schemas.microsoft.com/office/drawing/2014/main" id="{DEAD42B8-9D6F-4D52-89A2-FB015A89B7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44" y="1008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  <p:sp>
            <p:nvSpPr>
              <p:cNvPr id="473" name="Text Box 138">
                <a:extLst>
                  <a:ext uri="{FF2B5EF4-FFF2-40B4-BE49-F238E27FC236}">
                    <a16:creationId xmlns:a16="http://schemas.microsoft.com/office/drawing/2014/main" id="{4E98D9C6-DC69-44DF-BBA3-E3B2EB51450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84" y="912"/>
                <a:ext cx="576" cy="250"/>
              </a:xfrm>
              <a:prstGeom prst="rect">
                <a:avLst/>
              </a:prstGeom>
              <a:gradFill rotWithShape="1">
                <a:gsLst>
                  <a:gs pos="0">
                    <a:srgbClr val="BAA1B9"/>
                  </a:gs>
                  <a:gs pos="100000">
                    <a:srgbClr val="FF99FF">
                      <a:gamma/>
                      <a:shade val="75686"/>
                      <a:invGamma/>
                    </a:srgbClr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zh-CN" altLang="en-US" sz="2000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  <a:ea typeface="楷体" pitchFamily="49" charset="-122"/>
                  </a:rPr>
                  <a:t>返回</a:t>
                </a:r>
              </a:p>
            </p:txBody>
          </p:sp>
        </p:grpSp>
        <p:grpSp>
          <p:nvGrpSpPr>
            <p:cNvPr id="462" name="Group 139">
              <a:extLst>
                <a:ext uri="{FF2B5EF4-FFF2-40B4-BE49-F238E27FC236}">
                  <a16:creationId xmlns:a16="http://schemas.microsoft.com/office/drawing/2014/main" id="{FD4C44DB-9557-4115-834E-F752E7ECB5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12" y="2928"/>
              <a:ext cx="1056" cy="912"/>
              <a:chOff x="4464" y="2928"/>
              <a:chExt cx="1056" cy="912"/>
            </a:xfrm>
          </p:grpSpPr>
          <p:sp>
            <p:nvSpPr>
              <p:cNvPr id="463" name="Rectangle 140">
                <a:extLst>
                  <a:ext uri="{FF2B5EF4-FFF2-40B4-BE49-F238E27FC236}">
                    <a16:creationId xmlns:a16="http://schemas.microsoft.com/office/drawing/2014/main" id="{86F52763-6A20-472C-8E98-5580E3960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48" y="3264"/>
                <a:ext cx="672" cy="192"/>
              </a:xfrm>
              <a:prstGeom prst="rect">
                <a:avLst/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sz="2000" b="1">
                    <a:latin typeface="+mn-lt"/>
                    <a:ea typeface="楷体" pitchFamily="49" charset="-122"/>
                  </a:rPr>
                  <a:t>(3)      1</a:t>
                </a:r>
              </a:p>
            </p:txBody>
          </p:sp>
          <p:sp>
            <p:nvSpPr>
              <p:cNvPr id="464" name="Rectangle 141">
                <a:extLst>
                  <a:ext uri="{FF2B5EF4-FFF2-40B4-BE49-F238E27FC236}">
                    <a16:creationId xmlns:a16="http://schemas.microsoft.com/office/drawing/2014/main" id="{9B47246E-C075-4535-BE0F-28426CE181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48" y="3456"/>
                <a:ext cx="672" cy="192"/>
              </a:xfrm>
              <a:prstGeom prst="rect">
                <a:avLst/>
              </a:prstGeom>
              <a:solidFill>
                <a:srgbClr val="CCE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sz="2000" b="1">
                    <a:latin typeface="+mn-lt"/>
                    <a:ea typeface="楷体" pitchFamily="49" charset="-122"/>
                  </a:rPr>
                  <a:t>(2)      2</a:t>
                </a:r>
              </a:p>
            </p:txBody>
          </p:sp>
          <p:sp>
            <p:nvSpPr>
              <p:cNvPr id="465" name="Rectangle 142">
                <a:extLst>
                  <a:ext uri="{FF2B5EF4-FFF2-40B4-BE49-F238E27FC236}">
                    <a16:creationId xmlns:a16="http://schemas.microsoft.com/office/drawing/2014/main" id="{B664343B-F3DE-46EA-8E0E-580A35DB57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48" y="3648"/>
                <a:ext cx="672" cy="192"/>
              </a:xfrm>
              <a:prstGeom prst="rect">
                <a:avLst/>
              </a:prstGeom>
              <a:solidFill>
                <a:srgbClr val="CC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sz="2000" b="1">
                    <a:latin typeface="+mn-lt"/>
                    <a:ea typeface="楷体" pitchFamily="49" charset="-122"/>
                  </a:rPr>
                  <a:t>(1)     3</a:t>
                </a:r>
              </a:p>
            </p:txBody>
          </p:sp>
          <p:sp>
            <p:nvSpPr>
              <p:cNvPr id="466" name="Line 143">
                <a:extLst>
                  <a:ext uri="{FF2B5EF4-FFF2-40B4-BE49-F238E27FC236}">
                    <a16:creationId xmlns:a16="http://schemas.microsoft.com/office/drawing/2014/main" id="{795D3D72-1715-477D-8F42-602695AC04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520" y="2976"/>
                <a:ext cx="0" cy="8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  <p:sp>
            <p:nvSpPr>
              <p:cNvPr id="467" name="Line 144">
                <a:extLst>
                  <a:ext uri="{FF2B5EF4-FFF2-40B4-BE49-F238E27FC236}">
                    <a16:creationId xmlns:a16="http://schemas.microsoft.com/office/drawing/2014/main" id="{1BC554FF-C6F9-4794-964D-6CEF354F28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48" y="2976"/>
                <a:ext cx="0" cy="8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>
                  <a:latin typeface="+mn-lt"/>
                  <a:ea typeface="楷体" pitchFamily="49" charset="-122"/>
                </a:endParaRPr>
              </a:p>
            </p:txBody>
          </p:sp>
          <p:grpSp>
            <p:nvGrpSpPr>
              <p:cNvPr id="468" name="Group 145">
                <a:extLst>
                  <a:ext uri="{FF2B5EF4-FFF2-40B4-BE49-F238E27FC236}">
                    <a16:creationId xmlns:a16="http://schemas.microsoft.com/office/drawing/2014/main" id="{F0CF3F1A-219C-4225-B851-CDAA0B81D15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64" y="2928"/>
                <a:ext cx="384" cy="288"/>
                <a:chOff x="1440" y="3888"/>
                <a:chExt cx="384" cy="288"/>
              </a:xfrm>
            </p:grpSpPr>
            <p:sp>
              <p:nvSpPr>
                <p:cNvPr id="470" name="AutoShape 146">
                  <a:extLst>
                    <a:ext uri="{FF2B5EF4-FFF2-40B4-BE49-F238E27FC236}">
                      <a16:creationId xmlns:a16="http://schemas.microsoft.com/office/drawing/2014/main" id="{40481260-F093-4F12-8F81-8FF43618E1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40" y="4128"/>
                  <a:ext cx="336" cy="48"/>
                </a:xfrm>
                <a:prstGeom prst="rightArrow">
                  <a:avLst>
                    <a:gd name="adj1" fmla="val 50000"/>
                    <a:gd name="adj2" fmla="val 175000"/>
                  </a:avLst>
                </a:prstGeom>
                <a:solidFill>
                  <a:srgbClr val="FF505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+mn-lt"/>
                    <a:ea typeface="楷体" pitchFamily="49" charset="-122"/>
                  </a:endParaRPr>
                </a:p>
              </p:txBody>
            </p:sp>
            <p:sp>
              <p:nvSpPr>
                <p:cNvPr id="471" name="Text Box 147">
                  <a:extLst>
                    <a:ext uri="{FF2B5EF4-FFF2-40B4-BE49-F238E27FC236}">
                      <a16:creationId xmlns:a16="http://schemas.microsoft.com/office/drawing/2014/main" id="{118EDA26-EAC6-4B0C-BB32-A91BE491C68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440" y="3888"/>
                  <a:ext cx="384" cy="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US" altLang="zh-CN" sz="1800" b="1">
                      <a:latin typeface="+mn-lt"/>
                      <a:ea typeface="楷体" pitchFamily="49" charset="-122"/>
                    </a:rPr>
                    <a:t>top</a:t>
                  </a:r>
                </a:p>
              </p:txBody>
            </p:sp>
          </p:grpSp>
          <p:sp>
            <p:nvSpPr>
              <p:cNvPr id="469" name="Rectangle 148">
                <a:extLst>
                  <a:ext uri="{FF2B5EF4-FFF2-40B4-BE49-F238E27FC236}">
                    <a16:creationId xmlns:a16="http://schemas.microsoft.com/office/drawing/2014/main" id="{D002F3B9-B909-403A-B9BD-0E415953D7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48" y="3072"/>
                <a:ext cx="672" cy="192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sz="2000" b="1">
                    <a:latin typeface="+mn-lt"/>
                    <a:ea typeface="楷体" pitchFamily="49" charset="-122"/>
                  </a:rPr>
                  <a:t>(4)      0</a:t>
                </a:r>
              </a:p>
            </p:txBody>
          </p:sp>
        </p:grpSp>
      </p:grpSp>
      <p:grpSp>
        <p:nvGrpSpPr>
          <p:cNvPr id="474" name="Group 149">
            <a:extLst>
              <a:ext uri="{FF2B5EF4-FFF2-40B4-BE49-F238E27FC236}">
                <a16:creationId xmlns:a16="http://schemas.microsoft.com/office/drawing/2014/main" id="{C05048FA-AC27-4ED5-8EFF-169DE6964B0D}"/>
              </a:ext>
            </a:extLst>
          </p:cNvPr>
          <p:cNvGrpSpPr>
            <a:grpSpLocks/>
          </p:cNvGrpSpPr>
          <p:nvPr/>
        </p:nvGrpSpPr>
        <p:grpSpPr bwMode="auto">
          <a:xfrm>
            <a:off x="1969517" y="3458294"/>
            <a:ext cx="1447800" cy="2895600"/>
            <a:chOff x="240" y="2016"/>
            <a:chExt cx="912" cy="1824"/>
          </a:xfrm>
        </p:grpSpPr>
        <p:grpSp>
          <p:nvGrpSpPr>
            <p:cNvPr id="475" name="Group 150">
              <a:extLst>
                <a:ext uri="{FF2B5EF4-FFF2-40B4-BE49-F238E27FC236}">
                  <a16:creationId xmlns:a16="http://schemas.microsoft.com/office/drawing/2014/main" id="{17F43611-14AD-4219-827E-273DD7F0F0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" y="2352"/>
              <a:ext cx="912" cy="442"/>
              <a:chOff x="288" y="3744"/>
              <a:chExt cx="912" cy="442"/>
            </a:xfrm>
          </p:grpSpPr>
          <p:sp>
            <p:nvSpPr>
              <p:cNvPr id="482" name="Line 151">
                <a:extLst>
                  <a:ext uri="{FF2B5EF4-FFF2-40B4-BE49-F238E27FC236}">
                    <a16:creationId xmlns:a16="http://schemas.microsoft.com/office/drawing/2014/main" id="{41E76287-61AD-45FD-B86A-3C35E940E9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" y="3744"/>
                <a:ext cx="7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3" name="Text Box 152">
                <a:extLst>
                  <a:ext uri="{FF2B5EF4-FFF2-40B4-BE49-F238E27FC236}">
                    <a16:creationId xmlns:a16="http://schemas.microsoft.com/office/drawing/2014/main" id="{010B1668-550A-439C-B43B-5E591DFDF5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8" y="3936"/>
                <a:ext cx="528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zh-CN" altLang="en-US" sz="2000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  <a:ea typeface="楷体" pitchFamily="49" charset="-122"/>
                  </a:rPr>
                  <a:t>结束</a:t>
                </a:r>
              </a:p>
            </p:txBody>
          </p:sp>
          <p:sp>
            <p:nvSpPr>
              <p:cNvPr id="484" name="Line 153">
                <a:extLst>
                  <a:ext uri="{FF2B5EF4-FFF2-40B4-BE49-F238E27FC236}">
                    <a16:creationId xmlns:a16="http://schemas.microsoft.com/office/drawing/2014/main" id="{8324002D-20B2-49D2-AD05-7A20E944C3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8" y="374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5" name="Line 154">
                <a:extLst>
                  <a:ext uri="{FF2B5EF4-FFF2-40B4-BE49-F238E27FC236}">
                    <a16:creationId xmlns:a16="http://schemas.microsoft.com/office/drawing/2014/main" id="{774E1094-B3FB-419D-B9F6-23B12F1CC5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8" y="374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76" name="Text Box 155">
              <a:extLst>
                <a:ext uri="{FF2B5EF4-FFF2-40B4-BE49-F238E27FC236}">
                  <a16:creationId xmlns:a16="http://schemas.microsoft.com/office/drawing/2014/main" id="{805F2132-F7EF-4200-A024-82199A201E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2016"/>
              <a:ext cx="864" cy="250"/>
            </a:xfrm>
            <a:prstGeom prst="rect">
              <a:avLst/>
            </a:prstGeom>
            <a:gradFill rotWithShape="1">
              <a:gsLst>
                <a:gs pos="0">
                  <a:srgbClr val="BAA1B9"/>
                </a:gs>
                <a:gs pos="100000">
                  <a:srgbClr val="FF99FF">
                    <a:gamma/>
                    <a:shade val="60784"/>
                    <a:invGamma/>
                  </a:srgb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000" b="1">
                  <a:effectLst>
                    <a:outerShdw blurRad="38100" dist="38100" dir="2700000" algn="tl">
                      <a:srgbClr val="FFFFFF"/>
                    </a:outerShdw>
                  </a:effectLst>
                  <a:ea typeface="楷体_GB2312" pitchFamily="49" charset="-122"/>
                </a:rPr>
                <a:t>(1)</a:t>
              </a:r>
            </a:p>
          </p:txBody>
        </p:sp>
        <p:grpSp>
          <p:nvGrpSpPr>
            <p:cNvPr id="477" name="Group 156">
              <a:extLst>
                <a:ext uri="{FF2B5EF4-FFF2-40B4-BE49-F238E27FC236}">
                  <a16:creationId xmlns:a16="http://schemas.microsoft.com/office/drawing/2014/main" id="{684A2262-1438-409E-B68D-34720E10AC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2976"/>
              <a:ext cx="672" cy="864"/>
              <a:chOff x="2688" y="1728"/>
              <a:chExt cx="672" cy="864"/>
            </a:xfrm>
          </p:grpSpPr>
          <p:sp>
            <p:nvSpPr>
              <p:cNvPr id="478" name="Line 157">
                <a:extLst>
                  <a:ext uri="{FF2B5EF4-FFF2-40B4-BE49-F238E27FC236}">
                    <a16:creationId xmlns:a16="http://schemas.microsoft.com/office/drawing/2014/main" id="{8D6A26BE-040B-494C-98E6-1493EBA792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88" y="1728"/>
                <a:ext cx="0" cy="8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9" name="Line 158">
                <a:extLst>
                  <a:ext uri="{FF2B5EF4-FFF2-40B4-BE49-F238E27FC236}">
                    <a16:creationId xmlns:a16="http://schemas.microsoft.com/office/drawing/2014/main" id="{48630B28-27B9-43BF-8EC5-233EFE99A8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60" y="1728"/>
                <a:ext cx="0" cy="8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0" name="Line 159">
                <a:extLst>
                  <a:ext uri="{FF2B5EF4-FFF2-40B4-BE49-F238E27FC236}">
                    <a16:creationId xmlns:a16="http://schemas.microsoft.com/office/drawing/2014/main" id="{14287C9C-0BA5-4E4E-8759-F776B50B8E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88" y="2592"/>
                <a:ext cx="6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1" name="Line 160">
                <a:extLst>
                  <a:ext uri="{FF2B5EF4-FFF2-40B4-BE49-F238E27FC236}">
                    <a16:creationId xmlns:a16="http://schemas.microsoft.com/office/drawing/2014/main" id="{C9BDF215-3DD0-4C21-94A7-3F94548845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88" y="2400"/>
                <a:ext cx="6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4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4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4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4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4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9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22" name="Text Box 2"/>
          <p:cNvSpPr txBox="1">
            <a:spLocks noChangeArrowheads="1"/>
          </p:cNvSpPr>
          <p:nvPr/>
        </p:nvSpPr>
        <p:spPr bwMode="auto">
          <a:xfrm>
            <a:off x="695173" y="764704"/>
            <a:ext cx="401060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【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2】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求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的阶乘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n!</a:t>
            </a:r>
            <a:r>
              <a:rPr lang="en-US" altLang="zh-CN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</a:p>
        </p:txBody>
      </p:sp>
      <p:sp>
        <p:nvSpPr>
          <p:cNvPr id="1105928" name="Text Box 8" descr="信纸"/>
          <p:cNvSpPr txBox="1">
            <a:spLocks noChangeArrowheads="1"/>
          </p:cNvSpPr>
          <p:nvPr/>
        </p:nvSpPr>
        <p:spPr bwMode="auto">
          <a:xfrm>
            <a:off x="995603" y="3304351"/>
            <a:ext cx="4608512" cy="3051175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62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lang="en-US" altLang="zh-CN" b="1">
                <a:solidFill>
                  <a:srgbClr val="CC0000"/>
                </a:solidFill>
              </a:rPr>
              <a:t>long factn (int n)</a:t>
            </a:r>
          </a:p>
          <a:p>
            <a:pPr marL="457200" indent="-457200"/>
            <a:r>
              <a:rPr lang="en-US" altLang="zh-CN" b="1"/>
              <a:t>{</a:t>
            </a:r>
          </a:p>
          <a:p>
            <a:pPr marL="457200" indent="-457200"/>
            <a:r>
              <a:rPr lang="en-US" altLang="zh-CN" b="1"/>
              <a:t>  long L = 1;</a:t>
            </a:r>
          </a:p>
          <a:p>
            <a:pPr marL="457200" indent="-457200"/>
            <a:r>
              <a:rPr lang="en-US" altLang="zh-CN" b="1"/>
              <a:t>  int i;</a:t>
            </a:r>
          </a:p>
          <a:p>
            <a:pPr marL="457200" indent="-457200"/>
            <a:r>
              <a:rPr lang="en-US" altLang="zh-CN" b="1"/>
              <a:t>  for (i = 1; i &lt;= n; i++)</a:t>
            </a:r>
          </a:p>
          <a:p>
            <a:pPr marL="457200" indent="-457200"/>
            <a:r>
              <a:rPr lang="en-US" altLang="zh-CN" b="1"/>
              <a:t>     L *= i;</a:t>
            </a:r>
          </a:p>
          <a:p>
            <a:pPr marL="457200" indent="-457200"/>
            <a:r>
              <a:rPr lang="en-US" altLang="zh-CN" b="1"/>
              <a:t>  return ( L );</a:t>
            </a:r>
          </a:p>
          <a:p>
            <a:pPr marL="457200" indent="-457200"/>
            <a:r>
              <a:rPr lang="en-US" altLang="zh-CN" b="1"/>
              <a:t>}</a:t>
            </a:r>
          </a:p>
        </p:txBody>
      </p:sp>
      <p:sp>
        <p:nvSpPr>
          <p:cNvPr id="1105929" name="Rectangle 9"/>
          <p:cNvSpPr>
            <a:spLocks noChangeArrowheads="1"/>
          </p:cNvSpPr>
          <p:nvPr/>
        </p:nvSpPr>
        <p:spPr bwMode="auto">
          <a:xfrm>
            <a:off x="995603" y="1381889"/>
            <a:ext cx="4850540" cy="156966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r>
              <a:rPr lang="en-US" altLang="zh-CN" b="1" u="sng" dirty="0">
                <a:solidFill>
                  <a:srgbClr val="C00000"/>
                </a:solidFill>
                <a:ea typeface="楷体" pitchFamily="49" charset="-122"/>
              </a:rPr>
              <a:t> </a:t>
            </a:r>
            <a:r>
              <a:rPr lang="zh-CN" altLang="en-US" b="1" u="sng" dirty="0">
                <a:solidFill>
                  <a:srgbClr val="C00000"/>
                </a:solidFill>
                <a:ea typeface="楷体" pitchFamily="49" charset="-122"/>
              </a:rPr>
              <a:t>方法一：利用循环</a:t>
            </a:r>
          </a:p>
          <a:p>
            <a:r>
              <a:rPr lang="zh-CN" altLang="en-US" b="1" dirty="0">
                <a:ea typeface="楷体" pitchFamily="49" charset="-122"/>
              </a:rPr>
              <a:t>        因为</a:t>
            </a:r>
            <a:r>
              <a:rPr lang="en-US" altLang="zh-CN" b="1" dirty="0">
                <a:ea typeface="楷体" pitchFamily="49" charset="-122"/>
              </a:rPr>
              <a:t>n! = n * (n-1) * (n-2) * </a:t>
            </a:r>
            <a:r>
              <a:rPr lang="en-US" altLang="zh-CN" b="1" dirty="0">
                <a:latin typeface="+mn-ea"/>
              </a:rPr>
              <a:t>…</a:t>
            </a:r>
            <a:r>
              <a:rPr lang="en-US" altLang="zh-CN" b="1" dirty="0">
                <a:ea typeface="楷体" pitchFamily="49" charset="-122"/>
              </a:rPr>
              <a:t> * 2 * 1</a:t>
            </a:r>
            <a:r>
              <a:rPr lang="zh-CN" altLang="en-US" b="1" dirty="0">
                <a:ea typeface="楷体" pitchFamily="49" charset="-122"/>
              </a:rPr>
              <a:t>，我们完全可以用循环语句来编写这个非递归函数</a:t>
            </a:r>
            <a:r>
              <a:rPr lang="en-US" altLang="zh-CN" b="1" dirty="0" err="1">
                <a:ea typeface="楷体" pitchFamily="49" charset="-122"/>
              </a:rPr>
              <a:t>factn</a:t>
            </a:r>
            <a:r>
              <a:rPr lang="zh-CN" altLang="en-US" b="1" dirty="0">
                <a:ea typeface="楷体" pitchFamily="49" charset="-122"/>
              </a:rPr>
              <a:t>：</a:t>
            </a:r>
          </a:p>
        </p:txBody>
      </p:sp>
      <p:grpSp>
        <p:nvGrpSpPr>
          <p:cNvPr id="1105937" name="Group 17"/>
          <p:cNvGrpSpPr>
            <a:grpSpLocks/>
          </p:cNvGrpSpPr>
          <p:nvPr/>
        </p:nvGrpSpPr>
        <p:grpSpPr bwMode="auto">
          <a:xfrm>
            <a:off x="6240016" y="1381889"/>
            <a:ext cx="4643437" cy="1797050"/>
            <a:chOff x="2742" y="1806"/>
            <a:chExt cx="2925" cy="1132"/>
          </a:xfrm>
          <a:noFill/>
          <a:effectLst/>
        </p:grpSpPr>
        <p:sp>
          <p:nvSpPr>
            <p:cNvPr id="1105936" name="Rectangle 16"/>
            <p:cNvSpPr>
              <a:spLocks noChangeArrowheads="1"/>
            </p:cNvSpPr>
            <p:nvPr/>
          </p:nvSpPr>
          <p:spPr bwMode="auto">
            <a:xfrm>
              <a:off x="2742" y="1806"/>
              <a:ext cx="2925" cy="1132"/>
            </a:xfrm>
            <a:prstGeom prst="rect">
              <a:avLst/>
            </a:prstGeom>
            <a:grpFill/>
            <a:ln>
              <a:noFill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5930" name="Text Box 10"/>
            <p:cNvSpPr txBox="1">
              <a:spLocks noChangeArrowheads="1"/>
            </p:cNvSpPr>
            <p:nvPr/>
          </p:nvSpPr>
          <p:spPr bwMode="auto">
            <a:xfrm>
              <a:off x="2764" y="1814"/>
              <a:ext cx="1769" cy="288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 u="sng" dirty="0">
                  <a:solidFill>
                    <a:srgbClr val="C00000"/>
                  </a:solidFill>
                  <a:latin typeface="+mn-lt"/>
                  <a:ea typeface="楷体" pitchFamily="49" charset="-122"/>
                </a:rPr>
                <a:t>方法二：利用递归</a:t>
              </a:r>
            </a:p>
          </p:txBody>
        </p:sp>
        <p:grpSp>
          <p:nvGrpSpPr>
            <p:cNvPr id="1105935" name="Group 15"/>
            <p:cNvGrpSpPr>
              <a:grpSpLocks/>
            </p:cNvGrpSpPr>
            <p:nvPr/>
          </p:nvGrpSpPr>
          <p:grpSpPr bwMode="auto">
            <a:xfrm>
              <a:off x="2925" y="2124"/>
              <a:ext cx="2722" cy="661"/>
              <a:chOff x="2925" y="2124"/>
              <a:chExt cx="2722" cy="661"/>
            </a:xfrm>
            <a:grpFill/>
          </p:grpSpPr>
          <p:sp>
            <p:nvSpPr>
              <p:cNvPr id="1105931" name="Text Box 11"/>
              <p:cNvSpPr txBox="1">
                <a:spLocks noChangeArrowheads="1"/>
              </p:cNvSpPr>
              <p:nvPr/>
            </p:nvSpPr>
            <p:spPr bwMode="auto">
              <a:xfrm>
                <a:off x="2925" y="2296"/>
                <a:ext cx="590" cy="288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ea typeface="楷体_GB2312" pitchFamily="49" charset="-122"/>
                  </a:rPr>
                  <a:t>n! = </a:t>
                </a:r>
              </a:p>
            </p:txBody>
          </p:sp>
          <p:sp>
            <p:nvSpPr>
              <p:cNvPr id="1105932" name="Text Box 12"/>
              <p:cNvSpPr txBox="1">
                <a:spLocks noChangeArrowheads="1"/>
              </p:cNvSpPr>
              <p:nvPr/>
            </p:nvSpPr>
            <p:spPr bwMode="auto">
              <a:xfrm>
                <a:off x="3498" y="2124"/>
                <a:ext cx="2149" cy="291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 dirty="0">
                    <a:latin typeface="+mn-lt"/>
                    <a:ea typeface="楷体" pitchFamily="49" charset="-122"/>
                  </a:rPr>
                  <a:t>1                     </a:t>
                </a:r>
                <a:r>
                  <a:rPr lang="zh-CN" altLang="en-US" b="1" dirty="0">
                    <a:latin typeface="+mn-lt"/>
                    <a:ea typeface="楷体" pitchFamily="49" charset="-122"/>
                  </a:rPr>
                  <a:t>当</a:t>
                </a:r>
                <a:r>
                  <a:rPr lang="en-US" altLang="zh-CN" b="1" dirty="0">
                    <a:latin typeface="+mn-lt"/>
                    <a:ea typeface="楷体" pitchFamily="49" charset="-122"/>
                  </a:rPr>
                  <a:t>n = 1</a:t>
                </a:r>
                <a:r>
                  <a:rPr lang="zh-CN" altLang="en-US" b="1" dirty="0">
                    <a:latin typeface="+mn-lt"/>
                    <a:ea typeface="楷体" pitchFamily="49" charset="-122"/>
                  </a:rPr>
                  <a:t>时 </a:t>
                </a:r>
              </a:p>
            </p:txBody>
          </p:sp>
          <p:sp>
            <p:nvSpPr>
              <p:cNvPr id="1105933" name="Text Box 13"/>
              <p:cNvSpPr txBox="1">
                <a:spLocks noChangeArrowheads="1"/>
              </p:cNvSpPr>
              <p:nvPr/>
            </p:nvSpPr>
            <p:spPr bwMode="auto">
              <a:xfrm>
                <a:off x="3515" y="2494"/>
                <a:ext cx="2132" cy="291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 dirty="0">
                    <a:latin typeface="+mn-lt"/>
                    <a:ea typeface="楷体" pitchFamily="49" charset="-122"/>
                  </a:rPr>
                  <a:t>n * (n - 1)!     </a:t>
                </a:r>
                <a:r>
                  <a:rPr lang="zh-CN" altLang="en-US" b="1" dirty="0">
                    <a:latin typeface="+mn-lt"/>
                    <a:ea typeface="楷体" pitchFamily="49" charset="-122"/>
                  </a:rPr>
                  <a:t>当</a:t>
                </a:r>
                <a:r>
                  <a:rPr lang="en-US" altLang="zh-CN" b="1" dirty="0">
                    <a:latin typeface="+mn-lt"/>
                    <a:ea typeface="楷体" pitchFamily="49" charset="-122"/>
                  </a:rPr>
                  <a:t>n &gt; 1</a:t>
                </a:r>
                <a:r>
                  <a:rPr lang="zh-CN" altLang="en-US" b="1" dirty="0">
                    <a:latin typeface="+mn-lt"/>
                    <a:ea typeface="楷体" pitchFamily="49" charset="-122"/>
                  </a:rPr>
                  <a:t>时 </a:t>
                </a:r>
              </a:p>
            </p:txBody>
          </p:sp>
          <p:sp>
            <p:nvSpPr>
              <p:cNvPr id="1105934" name="AutoShape 14"/>
              <p:cNvSpPr>
                <a:spLocks/>
              </p:cNvSpPr>
              <p:nvPr/>
            </p:nvSpPr>
            <p:spPr bwMode="auto">
              <a:xfrm>
                <a:off x="3379" y="2233"/>
                <a:ext cx="91" cy="453"/>
              </a:xfrm>
              <a:prstGeom prst="leftBrace">
                <a:avLst>
                  <a:gd name="adj1" fmla="val 41484"/>
                  <a:gd name="adj2" fmla="val 50000"/>
                </a:avLst>
              </a:prstGeom>
              <a:grpFill/>
              <a:ln w="25400">
                <a:noFill/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1105938" name="Text Box 18" descr="信纸"/>
          <p:cNvSpPr txBox="1">
            <a:spLocks noChangeArrowheads="1"/>
          </p:cNvSpPr>
          <p:nvPr/>
        </p:nvSpPr>
        <p:spPr bwMode="auto">
          <a:xfrm>
            <a:off x="6274941" y="3304351"/>
            <a:ext cx="4608686" cy="3051175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62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lang="en-US" altLang="zh-CN" b="1" dirty="0">
                <a:solidFill>
                  <a:srgbClr val="C00000"/>
                </a:solidFill>
              </a:rPr>
              <a:t>long </a:t>
            </a:r>
            <a:r>
              <a:rPr lang="en-US" altLang="zh-CN" b="1" dirty="0" err="1">
                <a:solidFill>
                  <a:srgbClr val="C00000"/>
                </a:solidFill>
              </a:rPr>
              <a:t>factn</a:t>
            </a:r>
            <a:r>
              <a:rPr lang="en-US" altLang="zh-CN" b="1" dirty="0">
                <a:solidFill>
                  <a:srgbClr val="C00000"/>
                </a:solidFill>
              </a:rPr>
              <a:t> (</a:t>
            </a:r>
            <a:r>
              <a:rPr lang="en-US" altLang="zh-CN" b="1" dirty="0" err="1">
                <a:solidFill>
                  <a:srgbClr val="C00000"/>
                </a:solidFill>
              </a:rPr>
              <a:t>int</a:t>
            </a:r>
            <a:r>
              <a:rPr lang="en-US" altLang="zh-CN" b="1" dirty="0">
                <a:solidFill>
                  <a:srgbClr val="C00000"/>
                </a:solidFill>
              </a:rPr>
              <a:t> n) </a:t>
            </a:r>
          </a:p>
          <a:p>
            <a:pPr marL="457200" indent="-457200"/>
            <a:r>
              <a:rPr lang="en-US" altLang="zh-CN" b="1" dirty="0"/>
              <a:t>{</a:t>
            </a:r>
          </a:p>
          <a:p>
            <a:pPr marL="457200" indent="-457200"/>
            <a:r>
              <a:rPr lang="en-US" altLang="zh-CN" b="1" dirty="0"/>
              <a:t>    long L;</a:t>
            </a:r>
          </a:p>
          <a:p>
            <a:pPr marL="457200" indent="-457200"/>
            <a:r>
              <a:rPr lang="en-US" altLang="zh-CN" b="1" dirty="0"/>
              <a:t>    if (n == 1)</a:t>
            </a:r>
          </a:p>
          <a:p>
            <a:pPr marL="457200" indent="-457200"/>
            <a:r>
              <a:rPr lang="en-US" altLang="zh-CN" b="1" dirty="0"/>
              <a:t>        return (1);</a:t>
            </a:r>
          </a:p>
          <a:p>
            <a:pPr marL="457200" indent="-457200"/>
            <a:r>
              <a:rPr lang="en-US" altLang="zh-CN" b="1" dirty="0"/>
              <a:t>    L = n * fact (n-1);</a:t>
            </a:r>
          </a:p>
          <a:p>
            <a:pPr marL="457200" indent="-457200"/>
            <a:r>
              <a:rPr lang="en-US" altLang="zh-CN" b="1" dirty="0"/>
              <a:t>    return (L);</a:t>
            </a:r>
          </a:p>
          <a:p>
            <a:pPr marL="457200" indent="-457200"/>
            <a:r>
              <a:rPr lang="en-US" altLang="zh-CN" b="1" dirty="0"/>
              <a:t>  }</a:t>
            </a:r>
          </a:p>
        </p:txBody>
      </p:sp>
      <p:sp>
        <p:nvSpPr>
          <p:cNvPr id="17" name="Rectangle 4">
            <a:extLst>
              <a:ext uri="{FF2B5EF4-FFF2-40B4-BE49-F238E27FC236}">
                <a16:creationId xmlns:a16="http://schemas.microsoft.com/office/drawing/2014/main" id="{193CDFA9-1DEF-4DE6-9B94-8EA91E0286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8.6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函数的嵌套与递归调用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059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1059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1059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1059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1059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22" grpId="0" build="p" autoUpdateAnimBg="0"/>
      <p:bldP spid="1105928" grpId="0" animBg="1" autoUpdateAnimBg="0"/>
      <p:bldP spid="1105929" grpId="0"/>
      <p:bldP spid="1105938" grpId="0" animBg="1" autoUpdateAnimBg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4">
            <a:extLst>
              <a:ext uri="{FF2B5EF4-FFF2-40B4-BE49-F238E27FC236}">
                <a16:creationId xmlns:a16="http://schemas.microsoft.com/office/drawing/2014/main" id="{0BAE25B3-84CD-4495-BECC-CDC5D68ADB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8.6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函数的嵌套与递归调用</a:t>
            </a:r>
          </a:p>
        </p:txBody>
      </p:sp>
      <p:sp>
        <p:nvSpPr>
          <p:cNvPr id="1106960" name="Text Box 16" descr="信纸"/>
          <p:cNvSpPr txBox="1">
            <a:spLocks noChangeArrowheads="1"/>
          </p:cNvSpPr>
          <p:nvPr/>
        </p:nvSpPr>
        <p:spPr bwMode="auto">
          <a:xfrm>
            <a:off x="5159896" y="620688"/>
            <a:ext cx="2016125" cy="1958975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6200000" scaled="1"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marL="457200" indent="-457200"/>
            <a:r>
              <a:rPr lang="en-US" altLang="zh-CN" sz="2000" b="1" dirty="0" err="1">
                <a:solidFill>
                  <a:srgbClr val="CC0000"/>
                </a:solidFill>
              </a:rPr>
              <a:t>int</a:t>
            </a:r>
            <a:r>
              <a:rPr lang="en-US" altLang="zh-CN" sz="2000" b="1" dirty="0">
                <a:solidFill>
                  <a:srgbClr val="CC0000"/>
                </a:solidFill>
              </a:rPr>
              <a:t> main ( )</a:t>
            </a:r>
          </a:p>
          <a:p>
            <a:pPr marL="457200" indent="-457200"/>
            <a:r>
              <a:rPr lang="en-US" altLang="zh-CN" sz="2000" b="1" dirty="0"/>
              <a:t>{</a:t>
            </a:r>
          </a:p>
          <a:p>
            <a:pPr marL="457200" indent="-457200"/>
            <a:r>
              <a:rPr lang="en-US" altLang="zh-CN" sz="2000" b="1" dirty="0"/>
              <a:t>   …</a:t>
            </a:r>
          </a:p>
          <a:p>
            <a:pPr marL="457200" indent="-457200"/>
            <a:r>
              <a:rPr lang="en-US" altLang="zh-CN" sz="2000" b="1" dirty="0"/>
              <a:t>   L = </a:t>
            </a:r>
            <a:r>
              <a:rPr lang="en-US" altLang="zh-CN" sz="2000" b="1" dirty="0" err="1">
                <a:solidFill>
                  <a:srgbClr val="C01920"/>
                </a:solidFill>
              </a:rPr>
              <a:t>factn</a:t>
            </a:r>
            <a:r>
              <a:rPr lang="en-US" altLang="zh-CN" sz="2000" b="1" dirty="0">
                <a:solidFill>
                  <a:srgbClr val="C01920"/>
                </a:solidFill>
              </a:rPr>
              <a:t>(4);</a:t>
            </a:r>
          </a:p>
          <a:p>
            <a:pPr marL="457200" indent="-457200"/>
            <a:r>
              <a:rPr lang="en-US" altLang="zh-CN" sz="2000" b="1" dirty="0"/>
              <a:t>   …</a:t>
            </a:r>
          </a:p>
          <a:p>
            <a:pPr marL="457200" indent="-457200"/>
            <a:r>
              <a:rPr lang="en-US" altLang="zh-CN" sz="2000" b="1" dirty="0"/>
              <a:t>}</a:t>
            </a:r>
          </a:p>
        </p:txBody>
      </p:sp>
      <p:sp>
        <p:nvSpPr>
          <p:cNvPr id="1106962" name="Text Box 18" descr="信纸"/>
          <p:cNvSpPr txBox="1">
            <a:spLocks noChangeArrowheads="1"/>
          </p:cNvSpPr>
          <p:nvPr/>
        </p:nvSpPr>
        <p:spPr bwMode="auto">
          <a:xfrm>
            <a:off x="1127448" y="3028951"/>
            <a:ext cx="1914525" cy="2263775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62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marL="457200" indent="-457200"/>
            <a:r>
              <a:rPr lang="en-US" altLang="zh-CN" sz="2000" b="1" dirty="0">
                <a:solidFill>
                  <a:srgbClr val="002060"/>
                </a:solidFill>
              </a:rPr>
              <a:t>long </a:t>
            </a:r>
            <a:r>
              <a:rPr lang="en-US" altLang="zh-CN" sz="2000" b="1" dirty="0" err="1">
                <a:solidFill>
                  <a:srgbClr val="002060"/>
                </a:solidFill>
              </a:rPr>
              <a:t>factn</a:t>
            </a:r>
            <a:r>
              <a:rPr lang="en-US" altLang="zh-CN" sz="2000" b="1" dirty="0">
                <a:solidFill>
                  <a:srgbClr val="002060"/>
                </a:solidFill>
              </a:rPr>
              <a:t>(4)</a:t>
            </a:r>
          </a:p>
          <a:p>
            <a:pPr marL="457200" indent="-457200"/>
            <a:r>
              <a:rPr lang="en-US" altLang="zh-CN" sz="2000" b="1" dirty="0"/>
              <a:t>{</a:t>
            </a:r>
          </a:p>
          <a:p>
            <a:pPr marL="457200" indent="-457200"/>
            <a:r>
              <a:rPr lang="en-US" altLang="zh-CN" sz="2000" b="1" dirty="0"/>
              <a:t>  long L;</a:t>
            </a:r>
          </a:p>
          <a:p>
            <a:pPr marL="457200" indent="-457200"/>
            <a:r>
              <a:rPr lang="en-US" altLang="zh-CN" sz="2000" b="1" dirty="0"/>
              <a:t>   …</a:t>
            </a:r>
          </a:p>
          <a:p>
            <a:pPr marL="457200" indent="-457200"/>
            <a:r>
              <a:rPr lang="en-US" altLang="zh-CN" sz="2000" b="1" dirty="0"/>
              <a:t>  L = 4*</a:t>
            </a:r>
            <a:r>
              <a:rPr lang="en-US" altLang="zh-CN" sz="2000" b="1" dirty="0" err="1">
                <a:solidFill>
                  <a:srgbClr val="CC0000"/>
                </a:solidFill>
              </a:rPr>
              <a:t>factn</a:t>
            </a:r>
            <a:r>
              <a:rPr lang="en-US" altLang="zh-CN" sz="2000" b="1" dirty="0">
                <a:solidFill>
                  <a:srgbClr val="CC0000"/>
                </a:solidFill>
              </a:rPr>
              <a:t>(3)</a:t>
            </a:r>
            <a:r>
              <a:rPr lang="en-US" altLang="zh-CN" sz="2000" b="1" dirty="0"/>
              <a:t>;</a:t>
            </a:r>
          </a:p>
          <a:p>
            <a:pPr marL="457200" indent="-457200"/>
            <a:r>
              <a:rPr lang="en-US" altLang="zh-CN" sz="2000" b="1" dirty="0"/>
              <a:t>  return (L);</a:t>
            </a:r>
          </a:p>
          <a:p>
            <a:pPr marL="457200" indent="-457200"/>
            <a:r>
              <a:rPr lang="en-US" altLang="zh-CN" sz="2000" b="1" dirty="0"/>
              <a:t>}</a:t>
            </a:r>
          </a:p>
        </p:txBody>
      </p:sp>
      <p:sp>
        <p:nvSpPr>
          <p:cNvPr id="1106963" name="Text Box 19" descr="信纸"/>
          <p:cNvSpPr txBox="1">
            <a:spLocks noChangeArrowheads="1"/>
          </p:cNvSpPr>
          <p:nvPr/>
        </p:nvSpPr>
        <p:spPr bwMode="auto">
          <a:xfrm>
            <a:off x="4040956" y="3486151"/>
            <a:ext cx="1912937" cy="2263775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62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marL="457200" indent="-457200"/>
            <a:r>
              <a:rPr lang="en-US" altLang="zh-CN" sz="2000" b="1" dirty="0">
                <a:solidFill>
                  <a:srgbClr val="002060"/>
                </a:solidFill>
              </a:rPr>
              <a:t>long </a:t>
            </a:r>
            <a:r>
              <a:rPr lang="en-US" altLang="zh-CN" sz="2000" b="1" dirty="0" err="1">
                <a:solidFill>
                  <a:srgbClr val="002060"/>
                </a:solidFill>
              </a:rPr>
              <a:t>factn</a:t>
            </a:r>
            <a:r>
              <a:rPr lang="en-US" altLang="zh-CN" sz="2000" b="1" dirty="0">
                <a:solidFill>
                  <a:srgbClr val="002060"/>
                </a:solidFill>
              </a:rPr>
              <a:t>(3)</a:t>
            </a:r>
          </a:p>
          <a:p>
            <a:pPr marL="457200" indent="-457200"/>
            <a:r>
              <a:rPr lang="en-US" altLang="zh-CN" sz="2000" b="1" dirty="0"/>
              <a:t>{</a:t>
            </a:r>
          </a:p>
          <a:p>
            <a:pPr marL="457200" indent="-457200"/>
            <a:r>
              <a:rPr lang="en-US" altLang="zh-CN" sz="2000" b="1" dirty="0"/>
              <a:t>  long L;</a:t>
            </a:r>
          </a:p>
          <a:p>
            <a:pPr marL="457200" indent="-457200"/>
            <a:r>
              <a:rPr lang="en-US" altLang="zh-CN" sz="2000" b="1" dirty="0"/>
              <a:t>   …</a:t>
            </a:r>
          </a:p>
          <a:p>
            <a:pPr marL="457200" indent="-457200"/>
            <a:r>
              <a:rPr lang="en-US" altLang="zh-CN" sz="2000" b="1" dirty="0"/>
              <a:t>  L = 3*</a:t>
            </a:r>
            <a:r>
              <a:rPr lang="en-US" altLang="zh-CN" sz="2000" b="1" dirty="0" err="1">
                <a:solidFill>
                  <a:srgbClr val="CC0000"/>
                </a:solidFill>
              </a:rPr>
              <a:t>factn</a:t>
            </a:r>
            <a:r>
              <a:rPr lang="en-US" altLang="zh-CN" sz="2000" b="1" dirty="0">
                <a:solidFill>
                  <a:srgbClr val="CC0000"/>
                </a:solidFill>
              </a:rPr>
              <a:t>(2)</a:t>
            </a:r>
            <a:r>
              <a:rPr lang="en-US" altLang="zh-CN" sz="2000" b="1" dirty="0"/>
              <a:t>;</a:t>
            </a:r>
          </a:p>
          <a:p>
            <a:pPr marL="457200" indent="-457200"/>
            <a:r>
              <a:rPr lang="en-US" altLang="zh-CN" sz="2000" b="1" dirty="0"/>
              <a:t>  return (L);</a:t>
            </a:r>
          </a:p>
          <a:p>
            <a:pPr marL="457200" indent="-457200"/>
            <a:r>
              <a:rPr lang="en-US" altLang="zh-CN" sz="2000" b="1" dirty="0"/>
              <a:t>}</a:t>
            </a:r>
          </a:p>
        </p:txBody>
      </p:sp>
      <p:sp>
        <p:nvSpPr>
          <p:cNvPr id="1106964" name="Text Box 20" descr="信纸"/>
          <p:cNvSpPr txBox="1">
            <a:spLocks noChangeArrowheads="1"/>
          </p:cNvSpPr>
          <p:nvPr/>
        </p:nvSpPr>
        <p:spPr bwMode="auto">
          <a:xfrm>
            <a:off x="6775351" y="3971926"/>
            <a:ext cx="1912937" cy="2263775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62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marL="457200" indent="-457200"/>
            <a:r>
              <a:rPr lang="en-US" altLang="zh-CN" sz="2000" b="1" dirty="0">
                <a:solidFill>
                  <a:srgbClr val="002060"/>
                </a:solidFill>
              </a:rPr>
              <a:t>long </a:t>
            </a:r>
            <a:r>
              <a:rPr lang="en-US" altLang="zh-CN" sz="2000" b="1" dirty="0" err="1">
                <a:solidFill>
                  <a:srgbClr val="002060"/>
                </a:solidFill>
              </a:rPr>
              <a:t>factn</a:t>
            </a:r>
            <a:r>
              <a:rPr lang="en-US" altLang="zh-CN" sz="2000" b="1" dirty="0">
                <a:solidFill>
                  <a:srgbClr val="002060"/>
                </a:solidFill>
              </a:rPr>
              <a:t>(2)</a:t>
            </a:r>
          </a:p>
          <a:p>
            <a:pPr marL="457200" indent="-457200"/>
            <a:r>
              <a:rPr lang="en-US" altLang="zh-CN" sz="2000" b="1" dirty="0"/>
              <a:t>{</a:t>
            </a:r>
          </a:p>
          <a:p>
            <a:pPr marL="457200" indent="-457200"/>
            <a:r>
              <a:rPr lang="en-US" altLang="zh-CN" sz="2000" b="1" dirty="0"/>
              <a:t>  long L;</a:t>
            </a:r>
          </a:p>
          <a:p>
            <a:pPr marL="457200" indent="-457200"/>
            <a:r>
              <a:rPr lang="en-US" altLang="zh-CN" sz="2000" b="1" dirty="0"/>
              <a:t>   …</a:t>
            </a:r>
          </a:p>
          <a:p>
            <a:pPr marL="457200" indent="-457200"/>
            <a:r>
              <a:rPr lang="en-US" altLang="zh-CN" sz="2000" b="1" dirty="0"/>
              <a:t>  L = 2*</a:t>
            </a:r>
            <a:r>
              <a:rPr lang="en-US" altLang="zh-CN" sz="2000" b="1" dirty="0" err="1">
                <a:solidFill>
                  <a:srgbClr val="CC0000"/>
                </a:solidFill>
              </a:rPr>
              <a:t>factn</a:t>
            </a:r>
            <a:r>
              <a:rPr lang="en-US" altLang="zh-CN" sz="2000" b="1" dirty="0">
                <a:solidFill>
                  <a:srgbClr val="CC0000"/>
                </a:solidFill>
              </a:rPr>
              <a:t>(1)</a:t>
            </a:r>
            <a:r>
              <a:rPr lang="en-US" altLang="zh-CN" sz="2000" b="1" dirty="0"/>
              <a:t>;</a:t>
            </a:r>
          </a:p>
          <a:p>
            <a:pPr marL="457200" indent="-457200"/>
            <a:r>
              <a:rPr lang="en-US" altLang="zh-CN" sz="2000" b="1" dirty="0"/>
              <a:t>  return (L);</a:t>
            </a:r>
          </a:p>
          <a:p>
            <a:pPr marL="457200" indent="-457200"/>
            <a:r>
              <a:rPr lang="en-US" altLang="zh-CN" sz="2000" b="1" dirty="0"/>
              <a:t>}</a:t>
            </a:r>
          </a:p>
        </p:txBody>
      </p:sp>
      <p:sp>
        <p:nvSpPr>
          <p:cNvPr id="1106965" name="Text Box 21" descr="信纸"/>
          <p:cNvSpPr txBox="1">
            <a:spLocks noChangeArrowheads="1"/>
          </p:cNvSpPr>
          <p:nvPr/>
        </p:nvSpPr>
        <p:spPr bwMode="auto">
          <a:xfrm>
            <a:off x="9660309" y="4443414"/>
            <a:ext cx="1692275" cy="2263775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62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marL="457200" indent="-457200"/>
            <a:r>
              <a:rPr lang="en-US" altLang="zh-CN" sz="2000" b="1" dirty="0">
                <a:solidFill>
                  <a:srgbClr val="002060"/>
                </a:solidFill>
              </a:rPr>
              <a:t>long </a:t>
            </a:r>
            <a:r>
              <a:rPr lang="en-US" altLang="zh-CN" sz="2000" b="1" dirty="0" err="1">
                <a:solidFill>
                  <a:srgbClr val="002060"/>
                </a:solidFill>
              </a:rPr>
              <a:t>factn</a:t>
            </a:r>
            <a:r>
              <a:rPr lang="en-US" altLang="zh-CN" sz="2000" b="1" dirty="0">
                <a:solidFill>
                  <a:srgbClr val="002060"/>
                </a:solidFill>
              </a:rPr>
              <a:t>(1)</a:t>
            </a:r>
          </a:p>
          <a:p>
            <a:pPr marL="457200" indent="-457200"/>
            <a:r>
              <a:rPr lang="en-US" altLang="zh-CN" sz="2000" b="1" dirty="0"/>
              <a:t>{</a:t>
            </a:r>
          </a:p>
          <a:p>
            <a:pPr marL="457200" indent="-457200"/>
            <a:r>
              <a:rPr lang="en-US" altLang="zh-CN" sz="2000" b="1" dirty="0"/>
              <a:t>  long L;</a:t>
            </a:r>
          </a:p>
          <a:p>
            <a:pPr marL="457200" indent="-457200"/>
            <a:r>
              <a:rPr lang="en-US" altLang="zh-CN" sz="2000" b="1" dirty="0"/>
              <a:t>   …</a:t>
            </a:r>
          </a:p>
          <a:p>
            <a:pPr marL="457200" indent="-457200"/>
            <a:endParaRPr lang="en-US" altLang="zh-CN" sz="2000" b="1" dirty="0"/>
          </a:p>
          <a:p>
            <a:pPr marL="457200" indent="-457200"/>
            <a:r>
              <a:rPr lang="en-US" altLang="zh-CN" sz="2000" b="1" dirty="0"/>
              <a:t>  return (1);</a:t>
            </a:r>
          </a:p>
          <a:p>
            <a:pPr marL="457200" indent="-457200"/>
            <a:r>
              <a:rPr lang="en-US" altLang="zh-CN" sz="2000" b="1" dirty="0"/>
              <a:t>}</a:t>
            </a:r>
          </a:p>
        </p:txBody>
      </p:sp>
      <p:sp>
        <p:nvSpPr>
          <p:cNvPr id="1106966" name="Line 22"/>
          <p:cNvSpPr>
            <a:spLocks noChangeShapeType="1"/>
          </p:cNvSpPr>
          <p:nvPr/>
        </p:nvSpPr>
        <p:spPr bwMode="auto">
          <a:xfrm flipV="1">
            <a:off x="2699593" y="3645024"/>
            <a:ext cx="1380184" cy="696016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stealth" w="lg" len="lg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06973" name="Line 29"/>
          <p:cNvSpPr>
            <a:spLocks noChangeShapeType="1"/>
          </p:cNvSpPr>
          <p:nvPr/>
        </p:nvSpPr>
        <p:spPr bwMode="auto">
          <a:xfrm flipV="1">
            <a:off x="5320480" y="4221088"/>
            <a:ext cx="1495600" cy="61920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stealth" w="lg" len="lg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06974" name="Line 30"/>
          <p:cNvSpPr>
            <a:spLocks noChangeShapeType="1"/>
          </p:cNvSpPr>
          <p:nvPr/>
        </p:nvSpPr>
        <p:spPr bwMode="auto">
          <a:xfrm flipV="1">
            <a:off x="8040216" y="4725144"/>
            <a:ext cx="1656184" cy="575692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stealth" w="lg" len="lg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06978" name="Line 34"/>
          <p:cNvSpPr>
            <a:spLocks noChangeShapeType="1"/>
          </p:cNvSpPr>
          <p:nvPr/>
        </p:nvSpPr>
        <p:spPr bwMode="auto">
          <a:xfrm flipH="1">
            <a:off x="2567607" y="1844824"/>
            <a:ext cx="3312367" cy="1368151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stealth" w="lg" len="lg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zh-CN" altLang="en-US"/>
          </a:p>
        </p:txBody>
      </p:sp>
      <p:grpSp>
        <p:nvGrpSpPr>
          <p:cNvPr id="1106984" name="Group 40"/>
          <p:cNvGrpSpPr>
            <a:grpSpLocks/>
          </p:cNvGrpSpPr>
          <p:nvPr/>
        </p:nvGrpSpPr>
        <p:grpSpPr bwMode="auto">
          <a:xfrm>
            <a:off x="8147816" y="5516564"/>
            <a:ext cx="1692274" cy="730250"/>
            <a:chOff x="4344" y="3475"/>
            <a:chExt cx="1066" cy="460"/>
          </a:xfr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6200000" scaled="1"/>
          </a:gradFill>
        </p:grpSpPr>
        <p:sp>
          <p:nvSpPr>
            <p:cNvPr id="1106975" name="Line 31"/>
            <p:cNvSpPr>
              <a:spLocks noChangeShapeType="1"/>
            </p:cNvSpPr>
            <p:nvPr/>
          </p:nvSpPr>
          <p:spPr bwMode="auto">
            <a:xfrm flipH="1" flipV="1">
              <a:off x="4412" y="3475"/>
              <a:ext cx="998" cy="453"/>
            </a:xfrm>
            <a:prstGeom prst="line">
              <a:avLst/>
            </a:prstGeom>
            <a:grpFill/>
            <a:ln w="28575">
              <a:solidFill>
                <a:srgbClr val="002060"/>
              </a:solidFill>
              <a:round/>
              <a:headEnd/>
              <a:tailEnd type="stealth" w="lg" len="lg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zh-CN" altLang="en-US">
                <a:solidFill>
                  <a:srgbClr val="C00000"/>
                </a:solidFill>
                <a:latin typeface="+mn-lt"/>
                <a:ea typeface="楷体" pitchFamily="49" charset="-122"/>
              </a:endParaRPr>
            </a:p>
          </p:txBody>
        </p:sp>
        <p:sp>
          <p:nvSpPr>
            <p:cNvPr id="1106980" name="Text Box 36"/>
            <p:cNvSpPr txBox="1">
              <a:spLocks noChangeArrowheads="1"/>
            </p:cNvSpPr>
            <p:nvPr/>
          </p:nvSpPr>
          <p:spPr bwMode="auto">
            <a:xfrm>
              <a:off x="4344" y="3702"/>
              <a:ext cx="525" cy="233"/>
            </a:xfrm>
            <a:prstGeom prst="rect">
              <a:avLst/>
            </a:prstGeom>
            <a:grpFill/>
            <a:ln w="19050">
              <a:solidFill>
                <a:srgbClr val="002060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C00000"/>
                  </a:solidFill>
                  <a:latin typeface="+mn-lt"/>
                  <a:ea typeface="楷体" pitchFamily="49" charset="-122"/>
                </a:rPr>
                <a:t>返回</a:t>
              </a:r>
              <a:r>
                <a:rPr lang="en-US" altLang="zh-CN" sz="1800" b="1" dirty="0">
                  <a:solidFill>
                    <a:srgbClr val="C00000"/>
                  </a:solidFill>
                  <a:latin typeface="+mn-lt"/>
                  <a:ea typeface="楷体" pitchFamily="49" charset="-122"/>
                </a:rPr>
                <a:t>1</a:t>
              </a:r>
            </a:p>
          </p:txBody>
        </p:sp>
      </p:grpSp>
      <p:grpSp>
        <p:nvGrpSpPr>
          <p:cNvPr id="1106985" name="Group 41"/>
          <p:cNvGrpSpPr>
            <a:grpSpLocks/>
          </p:cNvGrpSpPr>
          <p:nvPr/>
        </p:nvGrpSpPr>
        <p:grpSpPr bwMode="auto">
          <a:xfrm>
            <a:off x="5363344" y="5070476"/>
            <a:ext cx="1597025" cy="773113"/>
            <a:chOff x="2590" y="3194"/>
            <a:chExt cx="1006" cy="487"/>
          </a:xfr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6200000" scaled="1"/>
          </a:gradFill>
        </p:grpSpPr>
        <p:sp>
          <p:nvSpPr>
            <p:cNvPr id="1106976" name="Line 32"/>
            <p:cNvSpPr>
              <a:spLocks noChangeShapeType="1"/>
            </p:cNvSpPr>
            <p:nvPr/>
          </p:nvSpPr>
          <p:spPr bwMode="auto">
            <a:xfrm flipH="1" flipV="1">
              <a:off x="2590" y="3194"/>
              <a:ext cx="1006" cy="417"/>
            </a:xfrm>
            <a:prstGeom prst="line">
              <a:avLst/>
            </a:prstGeom>
            <a:grpFill/>
            <a:ln w="28575">
              <a:solidFill>
                <a:srgbClr val="002060"/>
              </a:solidFill>
              <a:round/>
              <a:headEnd/>
              <a:tailEnd type="stealth" w="lg" len="lg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zh-CN" altLang="en-US">
                <a:solidFill>
                  <a:srgbClr val="C00000"/>
                </a:solidFill>
                <a:latin typeface="+mn-lt"/>
                <a:ea typeface="楷体" pitchFamily="49" charset="-122"/>
              </a:endParaRPr>
            </a:p>
          </p:txBody>
        </p:sp>
        <p:sp>
          <p:nvSpPr>
            <p:cNvPr id="1106981" name="Text Box 37"/>
            <p:cNvSpPr txBox="1">
              <a:spLocks noChangeArrowheads="1"/>
            </p:cNvSpPr>
            <p:nvPr/>
          </p:nvSpPr>
          <p:spPr bwMode="auto">
            <a:xfrm>
              <a:off x="2610" y="3448"/>
              <a:ext cx="525" cy="233"/>
            </a:xfrm>
            <a:prstGeom prst="rect">
              <a:avLst/>
            </a:prstGeom>
            <a:grpFill/>
            <a:ln w="19050">
              <a:solidFill>
                <a:srgbClr val="002060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C00000"/>
                  </a:solidFill>
                  <a:latin typeface="+mn-lt"/>
                  <a:ea typeface="楷体" pitchFamily="49" charset="-122"/>
                </a:rPr>
                <a:t>返回</a:t>
              </a:r>
              <a:r>
                <a:rPr lang="en-US" altLang="zh-CN" sz="1800" b="1" dirty="0">
                  <a:solidFill>
                    <a:srgbClr val="C00000"/>
                  </a:solidFill>
                  <a:latin typeface="+mn-lt"/>
                  <a:ea typeface="楷体" pitchFamily="49" charset="-122"/>
                </a:rPr>
                <a:t>2</a:t>
              </a:r>
            </a:p>
          </p:txBody>
        </p:sp>
      </p:grpSp>
      <p:grpSp>
        <p:nvGrpSpPr>
          <p:cNvPr id="1106986" name="Group 42"/>
          <p:cNvGrpSpPr>
            <a:grpSpLocks/>
          </p:cNvGrpSpPr>
          <p:nvPr/>
        </p:nvGrpSpPr>
        <p:grpSpPr bwMode="auto">
          <a:xfrm>
            <a:off x="2567755" y="4581523"/>
            <a:ext cx="1655763" cy="787399"/>
            <a:chOff x="829" y="2886"/>
            <a:chExt cx="1043" cy="496"/>
          </a:xfr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6200000" scaled="1"/>
          </a:gradFill>
        </p:grpSpPr>
        <p:sp>
          <p:nvSpPr>
            <p:cNvPr id="1106977" name="Line 33"/>
            <p:cNvSpPr>
              <a:spLocks noChangeShapeType="1"/>
            </p:cNvSpPr>
            <p:nvPr/>
          </p:nvSpPr>
          <p:spPr bwMode="auto">
            <a:xfrm flipH="1" flipV="1">
              <a:off x="829" y="2886"/>
              <a:ext cx="1043" cy="417"/>
            </a:xfrm>
            <a:prstGeom prst="line">
              <a:avLst/>
            </a:prstGeom>
            <a:grpFill/>
            <a:ln w="28575">
              <a:solidFill>
                <a:srgbClr val="002060"/>
              </a:solidFill>
              <a:round/>
              <a:headEnd/>
              <a:tailEnd type="stealth" w="lg" len="lg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zh-CN" altLang="en-US">
                <a:solidFill>
                  <a:srgbClr val="C00000"/>
                </a:solidFill>
                <a:latin typeface="+mn-lt"/>
                <a:ea typeface="楷体" pitchFamily="49" charset="-122"/>
              </a:endParaRPr>
            </a:p>
          </p:txBody>
        </p:sp>
        <p:sp>
          <p:nvSpPr>
            <p:cNvPr id="1106982" name="Text Box 38"/>
            <p:cNvSpPr txBox="1">
              <a:spLocks noChangeArrowheads="1"/>
            </p:cNvSpPr>
            <p:nvPr/>
          </p:nvSpPr>
          <p:spPr bwMode="auto">
            <a:xfrm>
              <a:off x="881" y="3149"/>
              <a:ext cx="525" cy="233"/>
            </a:xfrm>
            <a:prstGeom prst="rect">
              <a:avLst/>
            </a:prstGeom>
            <a:grpFill/>
            <a:ln w="19050">
              <a:solidFill>
                <a:srgbClr val="002060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C00000"/>
                  </a:solidFill>
                  <a:latin typeface="+mn-lt"/>
                  <a:ea typeface="楷体" pitchFamily="49" charset="-122"/>
                </a:rPr>
                <a:t>返回</a:t>
              </a:r>
              <a:r>
                <a:rPr lang="en-US" altLang="zh-CN" sz="1800" b="1" dirty="0">
                  <a:solidFill>
                    <a:srgbClr val="C00000"/>
                  </a:solidFill>
                  <a:latin typeface="+mn-lt"/>
                  <a:ea typeface="楷体" pitchFamily="49" charset="-122"/>
                </a:rPr>
                <a:t>6</a:t>
              </a:r>
            </a:p>
          </p:txBody>
        </p:sp>
      </p:grpSp>
      <p:grpSp>
        <p:nvGrpSpPr>
          <p:cNvPr id="1106987" name="Group 43"/>
          <p:cNvGrpSpPr>
            <a:grpSpLocks/>
          </p:cNvGrpSpPr>
          <p:nvPr/>
        </p:nvGrpSpPr>
        <p:grpSpPr bwMode="auto">
          <a:xfrm>
            <a:off x="1847031" y="1916113"/>
            <a:ext cx="4321175" cy="2808288"/>
            <a:chOff x="375" y="1207"/>
            <a:chExt cx="2722" cy="1769"/>
          </a:xfr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6200000" scaled="1"/>
          </a:gradFill>
        </p:grpSpPr>
        <p:sp>
          <p:nvSpPr>
            <p:cNvPr id="1106979" name="Line 35"/>
            <p:cNvSpPr>
              <a:spLocks noChangeShapeType="1"/>
            </p:cNvSpPr>
            <p:nvPr/>
          </p:nvSpPr>
          <p:spPr bwMode="auto">
            <a:xfrm flipV="1">
              <a:off x="375" y="1207"/>
              <a:ext cx="2722" cy="1769"/>
            </a:xfrm>
            <a:prstGeom prst="line">
              <a:avLst/>
            </a:prstGeom>
            <a:grpFill/>
            <a:ln w="28575">
              <a:solidFill>
                <a:srgbClr val="002060"/>
              </a:solidFill>
              <a:round/>
              <a:headEnd/>
              <a:tailEnd type="stealth" w="lg" len="lg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zh-CN" altLang="en-US">
                <a:solidFill>
                  <a:srgbClr val="C00000"/>
                </a:solidFill>
                <a:latin typeface="+mn-lt"/>
                <a:ea typeface="楷体" pitchFamily="49" charset="-122"/>
              </a:endParaRPr>
            </a:p>
          </p:txBody>
        </p:sp>
        <p:sp>
          <p:nvSpPr>
            <p:cNvPr id="1106983" name="Text Box 39"/>
            <p:cNvSpPr txBox="1">
              <a:spLocks noChangeArrowheads="1"/>
            </p:cNvSpPr>
            <p:nvPr/>
          </p:nvSpPr>
          <p:spPr bwMode="auto">
            <a:xfrm>
              <a:off x="2200" y="1842"/>
              <a:ext cx="589" cy="233"/>
            </a:xfrm>
            <a:prstGeom prst="rect">
              <a:avLst/>
            </a:prstGeom>
            <a:grpFill/>
            <a:ln w="19050">
              <a:solidFill>
                <a:srgbClr val="002060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C00000"/>
                  </a:solidFill>
                  <a:latin typeface="+mn-lt"/>
                  <a:ea typeface="楷体" pitchFamily="49" charset="-122"/>
                </a:rPr>
                <a:t>返回</a:t>
              </a:r>
              <a:r>
                <a:rPr lang="en-US" altLang="zh-CN" sz="1800" b="1" dirty="0">
                  <a:solidFill>
                    <a:srgbClr val="C00000"/>
                  </a:solidFill>
                  <a:latin typeface="+mn-lt"/>
                  <a:ea typeface="楷体" pitchFamily="49" charset="-122"/>
                </a:rPr>
                <a:t>24</a:t>
              </a:r>
            </a:p>
          </p:txBody>
        </p:sp>
      </p:grpSp>
      <p:sp>
        <p:nvSpPr>
          <p:cNvPr id="27" name="Text Box 2">
            <a:extLst>
              <a:ext uri="{FF2B5EF4-FFF2-40B4-BE49-F238E27FC236}">
                <a16:creationId xmlns:a16="http://schemas.microsoft.com/office/drawing/2014/main" id="{5DB79500-1177-4A44-8D2B-0EEACAE892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5283" y="889414"/>
            <a:ext cx="3672210" cy="457200"/>
          </a:xfrm>
          <a:prstGeom prst="rect">
            <a:avLst/>
          </a:prstGeom>
          <a:noFill/>
          <a:ln>
            <a:noFill/>
            <a:headEnd/>
            <a:tailEnd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递归调用执行情况如下：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069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11069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3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" dur="500"/>
                                        <p:tgtEl>
                                          <p:spTgt spid="11069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0" dur="500"/>
                                        <p:tgtEl>
                                          <p:spTgt spid="11069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500"/>
                                        <p:tgtEl>
                                          <p:spTgt spid="11069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9" dur="500"/>
                                        <p:tgtEl>
                                          <p:spTgt spid="11069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11069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8" dur="500"/>
                                        <p:tgtEl>
                                          <p:spTgt spid="11069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11069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7" dur="500"/>
                                        <p:tgtEl>
                                          <p:spTgt spid="11069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2" dur="500"/>
                                        <p:tgtEl>
                                          <p:spTgt spid="11069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7" dur="500"/>
                                        <p:tgtEl>
                                          <p:spTgt spid="11069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2" dur="500"/>
                                        <p:tgtEl>
                                          <p:spTgt spid="11069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6960" grpId="0" animBg="1"/>
      <p:bldP spid="1106962" grpId="0" animBg="1"/>
      <p:bldP spid="1106963" grpId="0" animBg="1"/>
      <p:bldP spid="1106964" grpId="0" animBg="1"/>
      <p:bldP spid="1106965" grpId="0" animBg="1"/>
      <p:bldP spid="1106966" grpId="0" animBg="1"/>
      <p:bldP spid="1106973" grpId="0" animBg="1"/>
      <p:bldP spid="1106974" grpId="0" animBg="1"/>
      <p:bldP spid="1106978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972" name="Rectangle 4"/>
          <p:cNvSpPr>
            <a:spLocks noChangeArrowheads="1"/>
          </p:cNvSpPr>
          <p:nvPr/>
        </p:nvSpPr>
        <p:spPr bwMode="auto">
          <a:xfrm>
            <a:off x="1200878" y="5589240"/>
            <a:ext cx="7666038" cy="107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C01920"/>
              </a:buClr>
              <a:buFont typeface="Wingdings" pitchFamily="2" charset="2"/>
              <a:buChar char="Ø"/>
            </a:pPr>
            <a:r>
              <a:rPr lang="zh-CN" altLang="en-US" sz="2000" b="1" dirty="0">
                <a:solidFill>
                  <a:srgbClr val="C0192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执行情况：</a:t>
            </a:r>
          </a:p>
          <a:p>
            <a:pPr marL="742950" lvl="1" indent="-285750">
              <a:spcBef>
                <a:spcPct val="20000"/>
              </a:spcBef>
              <a:buClr>
                <a:srgbClr val="002060"/>
              </a:buClr>
              <a:buFont typeface="Wingdings" pitchFamily="2" charset="2"/>
              <a:buChar char="l"/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递归工作栈保存内容：形参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n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，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A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，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B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，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C</a:t>
            </a:r>
            <a:r>
              <a:rPr lang="zh-CN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和返回地址</a:t>
            </a:r>
          </a:p>
          <a:p>
            <a:pPr marL="742950" lvl="1" indent="-285750">
              <a:spcBef>
                <a:spcPct val="20000"/>
              </a:spcBef>
              <a:buClr>
                <a:srgbClr val="002060"/>
              </a:buClr>
              <a:buFont typeface="Wingdings" pitchFamily="2" charset="2"/>
              <a:buChar char="l"/>
            </a:pPr>
            <a:r>
              <a:rPr lang="zh-CN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返回地址用行编号表示</a:t>
            </a:r>
            <a:endParaRPr lang="zh-CN" altLang="en-US" sz="2000" b="1" dirty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楷体" pitchFamily="49" charset="-122"/>
            </a:endParaRPr>
          </a:p>
        </p:txBody>
      </p:sp>
      <p:sp>
        <p:nvSpPr>
          <p:cNvPr id="1107970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95400" y="908720"/>
            <a:ext cx="9418638" cy="28956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2400" dirty="0">
                <a:solidFill>
                  <a:srgbClr val="CC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【</a:t>
            </a:r>
            <a:r>
              <a:rPr lang="zh-CN" altLang="en-US" sz="2400" dirty="0">
                <a:solidFill>
                  <a:srgbClr val="CC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sz="2400" dirty="0">
                <a:solidFill>
                  <a:srgbClr val="CC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3】Tower of Hanoi</a:t>
            </a:r>
            <a:r>
              <a:rPr lang="zh-CN" altLang="zh-CN" sz="2400" dirty="0">
                <a:solidFill>
                  <a:srgbClr val="CC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问题</a:t>
            </a:r>
          </a:p>
          <a:p>
            <a:pPr lvl="1">
              <a:buClr>
                <a:srgbClr val="C01920"/>
              </a:buClr>
              <a:buFont typeface="Wingdings" pitchFamily="2" charset="2"/>
              <a:buChar char="Ø"/>
            </a:pPr>
            <a:r>
              <a:rPr lang="zh-CN" altLang="en-US" sz="2000" dirty="0">
                <a:solidFill>
                  <a:srgbClr val="C01920"/>
                </a:solidFill>
                <a:effectLst/>
                <a:ea typeface="楷体" pitchFamily="49" charset="-122"/>
              </a:rPr>
              <a:t>问题描述：</a:t>
            </a:r>
            <a:r>
              <a:rPr lang="zh-CN" altLang="en-US" sz="2000" dirty="0">
                <a:effectLst/>
                <a:ea typeface="楷体" pitchFamily="49" charset="-122"/>
              </a:rPr>
              <a:t>有</a:t>
            </a:r>
            <a:r>
              <a:rPr lang="en-US" altLang="zh-CN" sz="2000" dirty="0">
                <a:effectLst/>
                <a:ea typeface="楷体" pitchFamily="49" charset="-122"/>
              </a:rPr>
              <a:t>A</a:t>
            </a:r>
            <a:r>
              <a:rPr lang="zh-CN" altLang="en-US" sz="2000" dirty="0">
                <a:effectLst/>
                <a:ea typeface="楷体" pitchFamily="49" charset="-122"/>
              </a:rPr>
              <a:t>、</a:t>
            </a:r>
            <a:r>
              <a:rPr lang="en-US" altLang="zh-CN" sz="2000" dirty="0">
                <a:effectLst/>
                <a:ea typeface="楷体" pitchFamily="49" charset="-122"/>
              </a:rPr>
              <a:t>B</a:t>
            </a:r>
            <a:r>
              <a:rPr lang="zh-CN" altLang="en-US" sz="2000" dirty="0">
                <a:effectLst/>
                <a:ea typeface="楷体" pitchFamily="49" charset="-122"/>
              </a:rPr>
              <a:t>、</a:t>
            </a:r>
            <a:r>
              <a:rPr lang="en-US" altLang="zh-CN" sz="2000" dirty="0">
                <a:effectLst/>
                <a:ea typeface="楷体" pitchFamily="49" charset="-122"/>
              </a:rPr>
              <a:t>C</a:t>
            </a:r>
            <a:r>
              <a:rPr lang="zh-CN" altLang="zh-CN" sz="2000" dirty="0">
                <a:effectLst/>
                <a:ea typeface="楷体" pitchFamily="49" charset="-122"/>
              </a:rPr>
              <a:t>三个塔座，</a:t>
            </a:r>
            <a:r>
              <a:rPr lang="en-US" altLang="zh-CN" sz="2000" dirty="0">
                <a:effectLst/>
                <a:ea typeface="楷体" pitchFamily="49" charset="-122"/>
              </a:rPr>
              <a:t>A</a:t>
            </a:r>
            <a:r>
              <a:rPr lang="zh-CN" altLang="zh-CN" sz="2000" dirty="0">
                <a:effectLst/>
                <a:ea typeface="楷体" pitchFamily="49" charset="-122"/>
              </a:rPr>
              <a:t>上套有</a:t>
            </a:r>
            <a:r>
              <a:rPr lang="en-US" altLang="zh-CN" sz="2000" dirty="0">
                <a:effectLst/>
                <a:ea typeface="楷体" pitchFamily="49" charset="-122"/>
              </a:rPr>
              <a:t>n</a:t>
            </a:r>
            <a:r>
              <a:rPr lang="zh-CN" altLang="zh-CN" sz="2000" dirty="0">
                <a:effectLst/>
                <a:ea typeface="楷体" pitchFamily="49" charset="-122"/>
              </a:rPr>
              <a:t>个直径不同的圆盘，按直径从小到大叠放，形如宝塔</a:t>
            </a:r>
            <a:r>
              <a:rPr lang="zh-CN" altLang="en-US" sz="2000" dirty="0">
                <a:effectLst/>
                <a:ea typeface="楷体" pitchFamily="49" charset="-122"/>
              </a:rPr>
              <a:t>，</a:t>
            </a:r>
            <a:r>
              <a:rPr lang="zh-CN" altLang="zh-CN" sz="2000" dirty="0">
                <a:effectLst/>
                <a:ea typeface="楷体" pitchFamily="49" charset="-122"/>
              </a:rPr>
              <a:t>编号1</a:t>
            </a:r>
            <a:r>
              <a:rPr lang="zh-CN" altLang="en-US" sz="2000" dirty="0">
                <a:effectLst/>
                <a:ea typeface="楷体" pitchFamily="49" charset="-122"/>
              </a:rPr>
              <a:t>、</a:t>
            </a:r>
            <a:r>
              <a:rPr lang="zh-CN" altLang="zh-CN" sz="2000" dirty="0">
                <a:effectLst/>
                <a:ea typeface="楷体" pitchFamily="49" charset="-122"/>
              </a:rPr>
              <a:t>2</a:t>
            </a:r>
            <a:r>
              <a:rPr lang="zh-CN" altLang="en-US" sz="2000" dirty="0">
                <a:effectLst/>
                <a:ea typeface="楷体" pitchFamily="49" charset="-122"/>
              </a:rPr>
              <a:t>、</a:t>
            </a:r>
            <a:r>
              <a:rPr lang="zh-CN" altLang="zh-CN" sz="2000" dirty="0">
                <a:effectLst/>
                <a:ea typeface="楷体" pitchFamily="49" charset="-122"/>
              </a:rPr>
              <a:t>3</a:t>
            </a:r>
            <a:r>
              <a:rPr lang="zh-CN" altLang="en-US" sz="2000" dirty="0">
                <a:effectLst/>
                <a:ea typeface="楷体" pitchFamily="49" charset="-122"/>
              </a:rPr>
              <a:t>、</a:t>
            </a:r>
            <a:r>
              <a:rPr lang="zh-CN" altLang="zh-CN" sz="2000" dirty="0">
                <a:effectLst/>
                <a:ea typeface="楷体" pitchFamily="49" charset="-122"/>
              </a:rPr>
              <a:t>…</a:t>
            </a:r>
            <a:r>
              <a:rPr lang="zh-CN" altLang="en-US" sz="2000" dirty="0">
                <a:effectLst/>
                <a:ea typeface="楷体" pitchFamily="49" charset="-122"/>
              </a:rPr>
              <a:t>、</a:t>
            </a:r>
            <a:r>
              <a:rPr lang="en-US" altLang="zh-CN" sz="2000" dirty="0">
                <a:effectLst/>
                <a:ea typeface="楷体" pitchFamily="49" charset="-122"/>
              </a:rPr>
              <a:t>n</a:t>
            </a:r>
            <a:r>
              <a:rPr lang="zh-CN" altLang="en-US" sz="2000" dirty="0">
                <a:effectLst/>
                <a:ea typeface="楷体" pitchFamily="49" charset="-122"/>
              </a:rPr>
              <a:t>。</a:t>
            </a:r>
            <a:r>
              <a:rPr lang="zh-CN" altLang="zh-CN" sz="2000" dirty="0">
                <a:effectLst/>
                <a:ea typeface="楷体" pitchFamily="49" charset="-122"/>
              </a:rPr>
              <a:t>要求将</a:t>
            </a:r>
            <a:r>
              <a:rPr lang="en-US" altLang="zh-CN" sz="2000" dirty="0">
                <a:effectLst/>
                <a:ea typeface="楷体" pitchFamily="49" charset="-122"/>
              </a:rPr>
              <a:t>n</a:t>
            </a:r>
            <a:r>
              <a:rPr lang="zh-CN" altLang="zh-CN" sz="2000" dirty="0">
                <a:effectLst/>
                <a:ea typeface="楷体" pitchFamily="49" charset="-122"/>
              </a:rPr>
              <a:t>个圆盘从</a:t>
            </a:r>
            <a:r>
              <a:rPr lang="en-US" altLang="zh-CN" sz="2000" dirty="0">
                <a:effectLst/>
                <a:ea typeface="楷体" pitchFamily="49" charset="-122"/>
              </a:rPr>
              <a:t>A</a:t>
            </a:r>
            <a:r>
              <a:rPr lang="zh-CN" altLang="zh-CN" sz="2000" dirty="0">
                <a:effectLst/>
                <a:ea typeface="楷体" pitchFamily="49" charset="-122"/>
              </a:rPr>
              <a:t>移到</a:t>
            </a:r>
            <a:r>
              <a:rPr lang="en-US" altLang="zh-CN" sz="2000" dirty="0">
                <a:effectLst/>
                <a:ea typeface="楷体" pitchFamily="49" charset="-122"/>
              </a:rPr>
              <a:t>C</a:t>
            </a:r>
            <a:r>
              <a:rPr lang="zh-CN" altLang="en-US" sz="2000" dirty="0">
                <a:effectLst/>
                <a:ea typeface="楷体" pitchFamily="49" charset="-122"/>
              </a:rPr>
              <a:t>，</a:t>
            </a:r>
            <a:r>
              <a:rPr lang="zh-CN" altLang="zh-CN" sz="2000" dirty="0">
                <a:effectLst/>
                <a:ea typeface="楷体" pitchFamily="49" charset="-122"/>
              </a:rPr>
              <a:t>叠放顺序不变，移动过程中遵循下列原则：</a:t>
            </a:r>
          </a:p>
          <a:p>
            <a:pPr lvl="2">
              <a:buClr>
                <a:srgbClr val="002060"/>
              </a:buClr>
              <a:buFont typeface="Wingdings" pitchFamily="2" charset="2"/>
              <a:buChar char="l"/>
            </a:pPr>
            <a:r>
              <a:rPr lang="zh-CN" altLang="en-US" sz="2000" dirty="0">
                <a:solidFill>
                  <a:srgbClr val="002060"/>
                </a:solidFill>
                <a:effectLst/>
                <a:ea typeface="楷体" pitchFamily="49" charset="-122"/>
              </a:rPr>
              <a:t>每次只能移一个圆盘</a:t>
            </a:r>
          </a:p>
          <a:p>
            <a:pPr lvl="2">
              <a:buClr>
                <a:srgbClr val="002060"/>
              </a:buClr>
              <a:buFont typeface="Wingdings" pitchFamily="2" charset="2"/>
              <a:buChar char="l"/>
            </a:pPr>
            <a:r>
              <a:rPr lang="zh-CN" altLang="en-US" sz="2000" dirty="0">
                <a:solidFill>
                  <a:srgbClr val="002060"/>
                </a:solidFill>
                <a:effectLst/>
                <a:ea typeface="楷体" pitchFamily="49" charset="-122"/>
              </a:rPr>
              <a:t>圆盘可在三个塔座上任意移动</a:t>
            </a:r>
          </a:p>
          <a:p>
            <a:pPr lvl="2">
              <a:buClr>
                <a:srgbClr val="002060"/>
              </a:buClr>
              <a:buFont typeface="Wingdings" pitchFamily="2" charset="2"/>
              <a:buChar char="l"/>
            </a:pPr>
            <a:r>
              <a:rPr lang="zh-CN" altLang="en-US" sz="2000" dirty="0">
                <a:solidFill>
                  <a:srgbClr val="002060"/>
                </a:solidFill>
                <a:effectLst/>
                <a:ea typeface="楷体" pitchFamily="49" charset="-122"/>
              </a:rPr>
              <a:t>任何时刻，每个塔座上不能将大盘压到小盘上</a:t>
            </a:r>
          </a:p>
        </p:txBody>
      </p:sp>
      <p:sp>
        <p:nvSpPr>
          <p:cNvPr id="1107971" name="Rectangle 3"/>
          <p:cNvSpPr>
            <a:spLocks noChangeArrowheads="1"/>
          </p:cNvSpPr>
          <p:nvPr/>
        </p:nvSpPr>
        <p:spPr bwMode="auto">
          <a:xfrm>
            <a:off x="1199456" y="3431255"/>
            <a:ext cx="9023580" cy="20859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C01920"/>
              </a:buClr>
              <a:buFont typeface="Wingdings" pitchFamily="2" charset="2"/>
              <a:buChar char="Ø"/>
            </a:pPr>
            <a:r>
              <a:rPr lang="zh-CN" altLang="en-US" sz="2000" b="1" dirty="0">
                <a:solidFill>
                  <a:srgbClr val="C0192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解决方法：</a:t>
            </a:r>
          </a:p>
          <a:p>
            <a:pPr marL="742950" lvl="1" indent="-285750">
              <a:spcBef>
                <a:spcPct val="20000"/>
              </a:spcBef>
              <a:buClr>
                <a:srgbClr val="002060"/>
              </a:buClr>
              <a:buFont typeface="Wingdings" pitchFamily="2" charset="2"/>
              <a:buChar char="l"/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n=1</a:t>
            </a:r>
            <a:r>
              <a:rPr lang="zh-CN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时，直接把圆盘从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A</a:t>
            </a:r>
            <a:r>
              <a:rPr lang="zh-CN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移到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C</a:t>
            </a:r>
          </a:p>
          <a:p>
            <a:pPr marL="742950" lvl="1" indent="-285750">
              <a:spcBef>
                <a:spcPct val="20000"/>
              </a:spcBef>
              <a:buClr>
                <a:srgbClr val="002060"/>
              </a:buClr>
              <a:buFont typeface="Wingdings" pitchFamily="2" charset="2"/>
              <a:buChar char="l"/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n&gt;1</a:t>
            </a:r>
            <a:r>
              <a:rPr lang="zh-CN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时，先把上面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n-1</a:t>
            </a:r>
            <a:r>
              <a:rPr lang="zh-CN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个圆盘从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A</a:t>
            </a:r>
            <a:r>
              <a:rPr lang="zh-CN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移到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B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，</a:t>
            </a:r>
            <a:r>
              <a:rPr lang="zh-CN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然后将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n</a:t>
            </a:r>
            <a:r>
              <a:rPr lang="zh-CN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号盘从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A</a:t>
            </a:r>
            <a:r>
              <a:rPr lang="zh-CN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移到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C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，</a:t>
            </a:r>
            <a:r>
              <a:rPr lang="zh-CN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再将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n-1</a:t>
            </a:r>
            <a:r>
              <a:rPr lang="zh-CN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个盘从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B</a:t>
            </a:r>
            <a:r>
              <a:rPr lang="zh-CN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移到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C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。</a:t>
            </a:r>
            <a:r>
              <a:rPr lang="zh-CN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即把求解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n</a:t>
            </a:r>
            <a:r>
              <a:rPr lang="zh-CN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个圆盘的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Hanoi</a:t>
            </a:r>
            <a:r>
              <a:rPr lang="zh-CN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问题转化为求解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n-1</a:t>
            </a:r>
            <a:r>
              <a:rPr lang="zh-CN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个圆盘的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Hanoi</a:t>
            </a:r>
            <a:r>
              <a:rPr lang="zh-CN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问题，依次类推，直至转化成只有一个圆盘的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Hanoi</a:t>
            </a:r>
            <a:r>
              <a:rPr lang="zh-CN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问题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。</a:t>
            </a:r>
            <a:endParaRPr lang="zh-CN" altLang="zh-CN" sz="2000" b="1" dirty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楷体" pitchFamily="49" charset="-122"/>
            </a:endParaRPr>
          </a:p>
          <a:p>
            <a:pPr marL="342900" indent="-342900">
              <a:spcBef>
                <a:spcPct val="20000"/>
              </a:spcBef>
              <a:buClr>
                <a:srgbClr val="C01920"/>
              </a:buClr>
              <a:buFont typeface="Wingdings" pitchFamily="2" charset="2"/>
              <a:buChar char="Ø"/>
            </a:pPr>
            <a:r>
              <a:rPr lang="zh-CN" altLang="en-US" sz="2000" b="1" dirty="0">
                <a:solidFill>
                  <a:srgbClr val="C0192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算法：</a:t>
            </a:r>
          </a:p>
        </p:txBody>
      </p:sp>
      <p:grpSp>
        <p:nvGrpSpPr>
          <p:cNvPr id="1107973" name="Group 5"/>
          <p:cNvGrpSpPr>
            <a:grpSpLocks/>
          </p:cNvGrpSpPr>
          <p:nvPr/>
        </p:nvGrpSpPr>
        <p:grpSpPr bwMode="auto">
          <a:xfrm>
            <a:off x="5618639" y="6259165"/>
            <a:ext cx="2959100" cy="409575"/>
            <a:chOff x="1761" y="2900"/>
            <a:chExt cx="1864" cy="258"/>
          </a:xfrm>
        </p:grpSpPr>
        <p:sp>
          <p:nvSpPr>
            <p:cNvPr id="1107974" name="Rectangle 6"/>
            <p:cNvSpPr>
              <a:spLocks noChangeArrowheads="1"/>
            </p:cNvSpPr>
            <p:nvPr/>
          </p:nvSpPr>
          <p:spPr bwMode="auto">
            <a:xfrm>
              <a:off x="1761" y="2906"/>
              <a:ext cx="1864" cy="252"/>
            </a:xfrm>
            <a:prstGeom prst="rect">
              <a:avLst/>
            </a:prstGeom>
            <a:gradFill flip="none" rotWithShape="1">
              <a:gsLst>
                <a:gs pos="0">
                  <a:srgbClr val="BEDFC4"/>
                </a:gs>
                <a:gs pos="100000">
                  <a:schemeClr val="bg1">
                    <a:lumMod val="95000"/>
                  </a:schemeClr>
                </a:gs>
              </a:gsLst>
              <a:lin ang="10800000" scaled="1"/>
              <a:tileRect/>
            </a:gra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>
              <a:spAutoFit/>
            </a:bodyPr>
            <a:lstStyle/>
            <a:p>
              <a:r>
                <a:rPr lang="en-US" altLang="zh-CN" sz="20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+mn-lt"/>
                  <a:ea typeface="楷体" pitchFamily="49" charset="-122"/>
                </a:rPr>
                <a:t>n    A    B    C     </a:t>
              </a:r>
              <a:r>
                <a:rPr lang="zh-CN" altLang="zh-CN" sz="20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+mn-lt"/>
                  <a:ea typeface="楷体" pitchFamily="49" charset="-122"/>
                </a:rPr>
                <a:t>返回地址</a:t>
              </a:r>
              <a:r>
                <a:rPr lang="zh-CN" altLang="zh-CN" sz="2000" dirty="0">
                  <a:latin typeface="+mn-lt"/>
                  <a:ea typeface="楷体" pitchFamily="49" charset="-122"/>
                </a:rPr>
                <a:t>   </a:t>
              </a:r>
              <a:endParaRPr lang="zh-CN" altLang="en-US" sz="2000" dirty="0">
                <a:latin typeface="+mn-lt"/>
                <a:ea typeface="楷体" pitchFamily="49" charset="-122"/>
              </a:endParaRPr>
            </a:p>
          </p:txBody>
        </p:sp>
        <p:sp>
          <p:nvSpPr>
            <p:cNvPr id="1107975" name="Line 7"/>
            <p:cNvSpPr>
              <a:spLocks noChangeShapeType="1"/>
            </p:cNvSpPr>
            <p:nvPr/>
          </p:nvSpPr>
          <p:spPr bwMode="auto">
            <a:xfrm flipH="1">
              <a:off x="2000" y="2900"/>
              <a:ext cx="0" cy="25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>
                <a:latin typeface="+mn-lt"/>
                <a:ea typeface="楷体" pitchFamily="49" charset="-122"/>
              </a:endParaRPr>
            </a:p>
          </p:txBody>
        </p:sp>
        <p:sp>
          <p:nvSpPr>
            <p:cNvPr id="1107976" name="Line 8"/>
            <p:cNvSpPr>
              <a:spLocks noChangeShapeType="1"/>
            </p:cNvSpPr>
            <p:nvPr/>
          </p:nvSpPr>
          <p:spPr bwMode="auto">
            <a:xfrm>
              <a:off x="2234" y="2900"/>
              <a:ext cx="0" cy="25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>
                <a:latin typeface="+mn-lt"/>
                <a:ea typeface="楷体" pitchFamily="49" charset="-122"/>
              </a:endParaRPr>
            </a:p>
          </p:txBody>
        </p:sp>
        <p:sp>
          <p:nvSpPr>
            <p:cNvPr id="1107977" name="Line 9"/>
            <p:cNvSpPr>
              <a:spLocks noChangeShapeType="1"/>
            </p:cNvSpPr>
            <p:nvPr/>
          </p:nvSpPr>
          <p:spPr bwMode="auto">
            <a:xfrm>
              <a:off x="2489" y="2900"/>
              <a:ext cx="0" cy="25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>
                <a:latin typeface="+mn-lt"/>
                <a:ea typeface="楷体" pitchFamily="49" charset="-122"/>
              </a:endParaRPr>
            </a:p>
          </p:txBody>
        </p:sp>
        <p:sp>
          <p:nvSpPr>
            <p:cNvPr id="1107978" name="Line 10"/>
            <p:cNvSpPr>
              <a:spLocks noChangeShapeType="1"/>
            </p:cNvSpPr>
            <p:nvPr/>
          </p:nvSpPr>
          <p:spPr bwMode="auto">
            <a:xfrm>
              <a:off x="2767" y="2900"/>
              <a:ext cx="0" cy="25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>
                <a:latin typeface="+mn-lt"/>
                <a:ea typeface="楷体" pitchFamily="49" charset="-122"/>
              </a:endParaRPr>
            </a:p>
          </p:txBody>
        </p:sp>
      </p:grpSp>
      <p:grpSp>
        <p:nvGrpSpPr>
          <p:cNvPr id="21" name="Group 29"/>
          <p:cNvGrpSpPr>
            <a:grpSpLocks/>
          </p:cNvGrpSpPr>
          <p:nvPr/>
        </p:nvGrpSpPr>
        <p:grpSpPr bwMode="auto">
          <a:xfrm>
            <a:off x="10128870" y="1008088"/>
            <a:ext cx="1655762" cy="3429024"/>
            <a:chOff x="412" y="709"/>
            <a:chExt cx="1043" cy="2631"/>
          </a:xfrm>
        </p:grpSpPr>
        <p:sp>
          <p:nvSpPr>
            <p:cNvPr id="22" name="Rectangle 24"/>
            <p:cNvSpPr>
              <a:spLocks noChangeArrowheads="1"/>
            </p:cNvSpPr>
            <p:nvPr/>
          </p:nvSpPr>
          <p:spPr bwMode="auto">
            <a:xfrm>
              <a:off x="412" y="709"/>
              <a:ext cx="1043" cy="2631"/>
            </a:xfrm>
            <a:prstGeom prst="rect">
              <a:avLst/>
            </a:prstGeom>
            <a:gradFill flip="none" rotWithShape="1">
              <a:gsLst>
                <a:gs pos="0">
                  <a:srgbClr val="BEDFC4"/>
                </a:gs>
                <a:gs pos="85000">
                  <a:schemeClr val="bg1">
                    <a:lumMod val="95000"/>
                  </a:schemeClr>
                </a:gs>
              </a:gsLst>
              <a:lin ang="5400000" scaled="1"/>
              <a:tileRect/>
            </a:gradFill>
            <a:ln w="38100">
              <a:solidFill>
                <a:schemeClr val="accent1">
                  <a:lumMod val="50000"/>
                </a:schemeClr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3" name="Group 10"/>
            <p:cNvGrpSpPr>
              <a:grpSpLocks/>
            </p:cNvGrpSpPr>
            <p:nvPr/>
          </p:nvGrpSpPr>
          <p:grpSpPr bwMode="auto">
            <a:xfrm>
              <a:off x="514" y="1652"/>
              <a:ext cx="824" cy="643"/>
              <a:chOff x="2112" y="0"/>
              <a:chExt cx="1248" cy="1679"/>
            </a:xfrm>
          </p:grpSpPr>
          <p:grpSp>
            <p:nvGrpSpPr>
              <p:cNvPr id="38" name="Group 11"/>
              <p:cNvGrpSpPr>
                <a:grpSpLocks/>
              </p:cNvGrpSpPr>
              <p:nvPr/>
            </p:nvGrpSpPr>
            <p:grpSpPr bwMode="auto">
              <a:xfrm>
                <a:off x="2112" y="0"/>
                <a:ext cx="1248" cy="1104"/>
                <a:chOff x="720" y="0"/>
                <a:chExt cx="1248" cy="1104"/>
              </a:xfrm>
            </p:grpSpPr>
            <p:sp>
              <p:nvSpPr>
                <p:cNvPr id="40" name="Line 12"/>
                <p:cNvSpPr>
                  <a:spLocks noChangeShapeType="1"/>
                </p:cNvSpPr>
                <p:nvPr/>
              </p:nvSpPr>
              <p:spPr bwMode="auto">
                <a:xfrm>
                  <a:off x="720" y="1104"/>
                  <a:ext cx="12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1" name="Line 13"/>
                <p:cNvSpPr>
                  <a:spLocks noChangeShapeType="1"/>
                </p:cNvSpPr>
                <p:nvPr/>
              </p:nvSpPr>
              <p:spPr bwMode="auto">
                <a:xfrm>
                  <a:off x="1296" y="0"/>
                  <a:ext cx="0" cy="110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39" name="Text Box 14"/>
              <p:cNvSpPr txBox="1">
                <a:spLocks noChangeArrowheads="1"/>
              </p:cNvSpPr>
              <p:nvPr/>
            </p:nvSpPr>
            <p:spPr bwMode="auto">
              <a:xfrm>
                <a:off x="2538" y="878"/>
                <a:ext cx="340" cy="80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lang="en-US" altLang="zh-CN" sz="2000" b="1">
                    <a:solidFill>
                      <a:srgbClr val="C01920"/>
                    </a:solidFill>
                  </a:rPr>
                  <a:t>B</a:t>
                </a:r>
              </a:p>
            </p:txBody>
          </p:sp>
        </p:grpSp>
        <p:grpSp>
          <p:nvGrpSpPr>
            <p:cNvPr id="24" name="Group 15"/>
            <p:cNvGrpSpPr>
              <a:grpSpLocks/>
            </p:cNvGrpSpPr>
            <p:nvPr/>
          </p:nvGrpSpPr>
          <p:grpSpPr bwMode="auto">
            <a:xfrm>
              <a:off x="487" y="2468"/>
              <a:ext cx="878" cy="643"/>
              <a:chOff x="3456" y="0"/>
              <a:chExt cx="1248" cy="1679"/>
            </a:xfrm>
          </p:grpSpPr>
          <p:grpSp>
            <p:nvGrpSpPr>
              <p:cNvPr id="34" name="Group 16"/>
              <p:cNvGrpSpPr>
                <a:grpSpLocks/>
              </p:cNvGrpSpPr>
              <p:nvPr/>
            </p:nvGrpSpPr>
            <p:grpSpPr bwMode="auto">
              <a:xfrm>
                <a:off x="3456" y="0"/>
                <a:ext cx="1248" cy="1104"/>
                <a:chOff x="720" y="0"/>
                <a:chExt cx="1248" cy="1104"/>
              </a:xfrm>
            </p:grpSpPr>
            <p:sp>
              <p:nvSpPr>
                <p:cNvPr id="36" name="Line 17"/>
                <p:cNvSpPr>
                  <a:spLocks noChangeShapeType="1"/>
                </p:cNvSpPr>
                <p:nvPr/>
              </p:nvSpPr>
              <p:spPr bwMode="auto">
                <a:xfrm>
                  <a:off x="720" y="1104"/>
                  <a:ext cx="12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7" name="Line 18"/>
                <p:cNvSpPr>
                  <a:spLocks noChangeShapeType="1"/>
                </p:cNvSpPr>
                <p:nvPr/>
              </p:nvSpPr>
              <p:spPr bwMode="auto">
                <a:xfrm>
                  <a:off x="1296" y="0"/>
                  <a:ext cx="0" cy="110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35" name="Text Box 19"/>
              <p:cNvSpPr txBox="1">
                <a:spLocks noChangeArrowheads="1"/>
              </p:cNvSpPr>
              <p:nvPr/>
            </p:nvSpPr>
            <p:spPr bwMode="auto">
              <a:xfrm>
                <a:off x="3886" y="878"/>
                <a:ext cx="332" cy="80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lang="en-US" altLang="zh-CN" sz="2000" b="1" dirty="0">
                    <a:solidFill>
                      <a:srgbClr val="C01920"/>
                    </a:solidFill>
                  </a:rPr>
                  <a:t>C</a:t>
                </a:r>
              </a:p>
            </p:txBody>
          </p:sp>
        </p:grpSp>
        <p:grpSp>
          <p:nvGrpSpPr>
            <p:cNvPr id="25" name="Group 23"/>
            <p:cNvGrpSpPr>
              <a:grpSpLocks/>
            </p:cNvGrpSpPr>
            <p:nvPr/>
          </p:nvGrpSpPr>
          <p:grpSpPr bwMode="auto">
            <a:xfrm>
              <a:off x="476" y="878"/>
              <a:ext cx="953" cy="731"/>
              <a:chOff x="153" y="1305"/>
              <a:chExt cx="534" cy="620"/>
            </a:xfrm>
          </p:grpSpPr>
          <p:grpSp>
            <p:nvGrpSpPr>
              <p:cNvPr id="26" name="Group 5"/>
              <p:cNvGrpSpPr>
                <a:grpSpLocks/>
              </p:cNvGrpSpPr>
              <p:nvPr/>
            </p:nvGrpSpPr>
            <p:grpSpPr bwMode="auto">
              <a:xfrm>
                <a:off x="153" y="1305"/>
                <a:ext cx="534" cy="620"/>
                <a:chOff x="720" y="0"/>
                <a:chExt cx="1248" cy="1617"/>
              </a:xfrm>
            </p:grpSpPr>
            <p:grpSp>
              <p:nvGrpSpPr>
                <p:cNvPr id="30" name="Group 6"/>
                <p:cNvGrpSpPr>
                  <a:grpSpLocks/>
                </p:cNvGrpSpPr>
                <p:nvPr/>
              </p:nvGrpSpPr>
              <p:grpSpPr bwMode="auto">
                <a:xfrm>
                  <a:off x="720" y="0"/>
                  <a:ext cx="1248" cy="1104"/>
                  <a:chOff x="720" y="0"/>
                  <a:chExt cx="1248" cy="1104"/>
                </a:xfrm>
              </p:grpSpPr>
              <p:sp>
                <p:nvSpPr>
                  <p:cNvPr id="32" name="Line 7"/>
                  <p:cNvSpPr>
                    <a:spLocks noChangeShapeType="1"/>
                  </p:cNvSpPr>
                  <p:nvPr/>
                </p:nvSpPr>
                <p:spPr bwMode="auto">
                  <a:xfrm>
                    <a:off x="720" y="1104"/>
                    <a:ext cx="1248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3" name="Line 8"/>
                  <p:cNvSpPr>
                    <a:spLocks noChangeShapeType="1"/>
                  </p:cNvSpPr>
                  <p:nvPr/>
                </p:nvSpPr>
                <p:spPr bwMode="auto">
                  <a:xfrm>
                    <a:off x="1296" y="0"/>
                    <a:ext cx="0" cy="110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1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1163" y="938"/>
                  <a:ext cx="306" cy="67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 eaLnBrk="0" hangingPunct="0"/>
                  <a:r>
                    <a:rPr lang="en-US" altLang="zh-CN" sz="2000" b="1">
                      <a:solidFill>
                        <a:srgbClr val="C01920"/>
                      </a:solidFill>
                    </a:rPr>
                    <a:t>A</a:t>
                  </a:r>
                </a:p>
              </p:txBody>
            </p:sp>
          </p:grpSp>
          <p:sp>
            <p:nvSpPr>
              <p:cNvPr id="27" name="Rectangle 20"/>
              <p:cNvSpPr>
                <a:spLocks noChangeArrowheads="1"/>
              </p:cNvSpPr>
              <p:nvPr/>
            </p:nvSpPr>
            <p:spPr bwMode="auto">
              <a:xfrm>
                <a:off x="235" y="1673"/>
                <a:ext cx="329" cy="5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" name="Rectangle 21"/>
              <p:cNvSpPr>
                <a:spLocks noChangeArrowheads="1"/>
              </p:cNvSpPr>
              <p:nvPr/>
            </p:nvSpPr>
            <p:spPr bwMode="auto">
              <a:xfrm>
                <a:off x="297" y="1618"/>
                <a:ext cx="205" cy="5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" name="Rectangle 22"/>
              <p:cNvSpPr>
                <a:spLocks noChangeArrowheads="1"/>
              </p:cNvSpPr>
              <p:nvPr/>
            </p:nvSpPr>
            <p:spPr bwMode="auto">
              <a:xfrm>
                <a:off x="338" y="1562"/>
                <a:ext cx="123" cy="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42" name="Group 22"/>
          <p:cNvGrpSpPr>
            <a:grpSpLocks/>
          </p:cNvGrpSpPr>
          <p:nvPr/>
        </p:nvGrpSpPr>
        <p:grpSpPr bwMode="auto">
          <a:xfrm>
            <a:off x="2878614" y="3225676"/>
            <a:ext cx="6769100" cy="2376487"/>
            <a:chOff x="884" y="1389"/>
            <a:chExt cx="4264" cy="1497"/>
          </a:xfrm>
        </p:grpSpPr>
        <p:sp>
          <p:nvSpPr>
            <p:cNvPr id="43" name="Rectangle 14"/>
            <p:cNvSpPr>
              <a:spLocks noChangeArrowheads="1"/>
            </p:cNvSpPr>
            <p:nvPr/>
          </p:nvSpPr>
          <p:spPr bwMode="auto">
            <a:xfrm>
              <a:off x="884" y="1389"/>
              <a:ext cx="4264" cy="1497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shade val="30000"/>
                    <a:satMod val="115000"/>
                  </a:schemeClr>
                </a:gs>
                <a:gs pos="50000">
                  <a:schemeClr val="bg1">
                    <a:shade val="67500"/>
                    <a:satMod val="11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lin ang="13500000" scaled="1"/>
              <a:tileRect/>
            </a:gradFill>
            <a:ln w="38100">
              <a:solidFill>
                <a:srgbClr val="C00000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" name="Text Box 16"/>
            <p:cNvSpPr txBox="1">
              <a:spLocks noChangeArrowheads="1"/>
            </p:cNvSpPr>
            <p:nvPr/>
          </p:nvSpPr>
          <p:spPr bwMode="auto">
            <a:xfrm>
              <a:off x="930" y="1979"/>
              <a:ext cx="1406" cy="3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just"/>
              <a:r>
                <a:rPr lang="en-US" altLang="zh-CN" sz="2000" b="1" dirty="0" err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hanio</a:t>
              </a:r>
              <a:r>
                <a:rPr lang="en-US" altLang="zh-CN" sz="2000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(n, A, B, C) =</a:t>
              </a:r>
              <a:r>
                <a:rPr lang="en-US" altLang="zh-CN" sz="2000" dirty="0"/>
                <a:t> </a:t>
              </a:r>
            </a:p>
          </p:txBody>
        </p:sp>
        <p:sp>
          <p:nvSpPr>
            <p:cNvPr id="45" name="AutoShape 17"/>
            <p:cNvSpPr>
              <a:spLocks/>
            </p:cNvSpPr>
            <p:nvPr/>
          </p:nvSpPr>
          <p:spPr bwMode="auto">
            <a:xfrm>
              <a:off x="2331" y="1701"/>
              <a:ext cx="88" cy="847"/>
            </a:xfrm>
            <a:prstGeom prst="leftBrace">
              <a:avLst>
                <a:gd name="adj1" fmla="val 80208"/>
                <a:gd name="adj2" fmla="val 50000"/>
              </a:avLst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Text Box 18"/>
            <p:cNvSpPr txBox="1">
              <a:spLocks noChangeArrowheads="1"/>
            </p:cNvSpPr>
            <p:nvPr/>
          </p:nvSpPr>
          <p:spPr bwMode="auto">
            <a:xfrm>
              <a:off x="2419" y="1580"/>
              <a:ext cx="2547" cy="3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just"/>
              <a:r>
                <a:rPr lang="en-US" altLang="zh-CN" sz="2000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move(A, C)                        </a:t>
              </a:r>
              <a:r>
                <a:rPr lang="zh-CN" altLang="en-US" sz="20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楷体" pitchFamily="49" charset="-122"/>
                  <a:ea typeface="楷体" pitchFamily="49" charset="-122"/>
                </a:rPr>
                <a:t>当</a:t>
              </a:r>
              <a:r>
                <a:rPr lang="en-US" altLang="zh-CN" sz="2000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n = 1</a:t>
              </a:r>
            </a:p>
          </p:txBody>
        </p:sp>
        <p:sp>
          <p:nvSpPr>
            <p:cNvPr id="47" name="Text Box 19"/>
            <p:cNvSpPr txBox="1">
              <a:spLocks noChangeArrowheads="1"/>
            </p:cNvSpPr>
            <p:nvPr/>
          </p:nvSpPr>
          <p:spPr bwMode="auto">
            <a:xfrm>
              <a:off x="2698" y="2002"/>
              <a:ext cx="2139" cy="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just"/>
              <a:r>
                <a:rPr lang="en-US" altLang="zh-CN" sz="2000" b="1" dirty="0" err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hanio</a:t>
              </a:r>
              <a:r>
                <a:rPr lang="en-US" altLang="zh-CN" sz="2000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(n-1, A, C, B)   </a:t>
              </a:r>
            </a:p>
            <a:p>
              <a:pPr algn="just"/>
              <a:r>
                <a:rPr lang="en-US" altLang="zh-CN" sz="2000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move(A, C)                 </a:t>
              </a:r>
              <a:r>
                <a:rPr lang="zh-CN" altLang="en-US" sz="20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楷体" pitchFamily="49" charset="-122"/>
                  <a:ea typeface="楷体" pitchFamily="49" charset="-122"/>
                </a:rPr>
                <a:t>当</a:t>
              </a:r>
              <a:r>
                <a:rPr lang="en-US" altLang="zh-CN" sz="2000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n &gt; 1</a:t>
              </a:r>
            </a:p>
            <a:p>
              <a:pPr algn="just"/>
              <a:r>
                <a:rPr lang="en-US" altLang="zh-CN" sz="2000" b="1" dirty="0" err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hanio</a:t>
              </a:r>
              <a:r>
                <a:rPr lang="en-US" altLang="zh-CN" sz="2000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(n-1, B, A, C)</a:t>
              </a:r>
            </a:p>
          </p:txBody>
        </p:sp>
        <p:sp>
          <p:nvSpPr>
            <p:cNvPr id="48" name="AutoShape 20"/>
            <p:cNvSpPr>
              <a:spLocks/>
            </p:cNvSpPr>
            <p:nvPr/>
          </p:nvSpPr>
          <p:spPr bwMode="auto">
            <a:xfrm>
              <a:off x="2522" y="2036"/>
              <a:ext cx="88" cy="605"/>
            </a:xfrm>
            <a:prstGeom prst="leftBrace">
              <a:avLst>
                <a:gd name="adj1" fmla="val 57292"/>
                <a:gd name="adj2" fmla="val 50000"/>
              </a:avLst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9" name="Rectangle 4">
            <a:extLst>
              <a:ext uri="{FF2B5EF4-FFF2-40B4-BE49-F238E27FC236}">
                <a16:creationId xmlns:a16="http://schemas.microsoft.com/office/drawing/2014/main" id="{C0B4544E-D18E-478C-8E6B-8C1D04DFA8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8.6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函数的嵌套与递归调用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9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079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079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9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079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079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9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079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079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9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079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079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9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079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079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07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07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07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07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107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107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107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107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9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1079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1079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9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1079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1079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9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1079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1079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1079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1079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7970" grpId="0" uiExpand="1" build="p" bldLvl="5" autoUpdateAnimBg="0"/>
      <p:bldP spid="1107971" grpId="0" uiExpand="1" build="p" bldLvl="5" autoUpdateAnimBg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4">
            <a:extLst>
              <a:ext uri="{FF2B5EF4-FFF2-40B4-BE49-F238E27FC236}">
                <a16:creationId xmlns:a16="http://schemas.microsoft.com/office/drawing/2014/main" id="{EAA8F1CA-31C3-4F68-A27A-CB4899474B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8.6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函数的嵌套与递归调用</a:t>
            </a:r>
          </a:p>
        </p:txBody>
      </p:sp>
      <p:sp>
        <p:nvSpPr>
          <p:cNvPr id="1108994" name="Text Box 2"/>
          <p:cNvSpPr txBox="1">
            <a:spLocks noChangeArrowheads="1"/>
          </p:cNvSpPr>
          <p:nvPr/>
        </p:nvSpPr>
        <p:spPr bwMode="auto">
          <a:xfrm>
            <a:off x="856279" y="1011580"/>
            <a:ext cx="1592262" cy="457200"/>
          </a:xfrm>
          <a:prstGeom prst="rect">
            <a:avLst/>
          </a:prstGeom>
          <a:noFill/>
          <a:ln>
            <a:noFill/>
            <a:headEnd/>
            <a:tailEnd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eaLnBrk="0" hangingPunct="0">
              <a:spcBef>
                <a:spcPct val="50000"/>
              </a:spcBef>
              <a:defRPr b="1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en-US" altLang="zh-CN" dirty="0"/>
              <a:t>Hanoi</a:t>
            </a:r>
            <a:r>
              <a:rPr lang="zh-CN" altLang="zh-CN" dirty="0"/>
              <a:t>问题</a:t>
            </a:r>
            <a:endParaRPr lang="zh-CN" altLang="en-US" dirty="0"/>
          </a:p>
        </p:txBody>
      </p:sp>
      <p:sp>
        <p:nvSpPr>
          <p:cNvPr id="1108995" name="Rectangle 3" descr="信纸"/>
          <p:cNvSpPr>
            <a:spLocks noChangeArrowheads="1"/>
          </p:cNvSpPr>
          <p:nvPr/>
        </p:nvSpPr>
        <p:spPr bwMode="auto">
          <a:xfrm>
            <a:off x="3960789" y="128665"/>
            <a:ext cx="6671715" cy="6555641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eaLnBrk="0" hangingPunct="0"/>
            <a:r>
              <a:rPr lang="en-US" altLang="zh-CN" sz="2000" b="1" dirty="0">
                <a:solidFill>
                  <a:srgbClr val="C00000"/>
                </a:solidFill>
              </a:rPr>
              <a:t>void move(char  </a:t>
            </a:r>
            <a:r>
              <a:rPr lang="en-US" altLang="zh-CN" sz="2000" b="1" dirty="0" err="1">
                <a:solidFill>
                  <a:srgbClr val="C00000"/>
                </a:solidFill>
              </a:rPr>
              <a:t>getone</a:t>
            </a:r>
            <a:r>
              <a:rPr lang="en-US" altLang="zh-CN" sz="2000" b="1" dirty="0">
                <a:solidFill>
                  <a:srgbClr val="C00000"/>
                </a:solidFill>
              </a:rPr>
              <a:t>, char  </a:t>
            </a:r>
            <a:r>
              <a:rPr lang="en-US" altLang="zh-CN" sz="2000" b="1" dirty="0" err="1">
                <a:solidFill>
                  <a:srgbClr val="C00000"/>
                </a:solidFill>
              </a:rPr>
              <a:t>putone</a:t>
            </a:r>
            <a:r>
              <a:rPr lang="en-US" altLang="zh-CN" sz="2000" b="1" dirty="0">
                <a:solidFill>
                  <a:srgbClr val="C00000"/>
                </a:solidFill>
              </a:rPr>
              <a:t>)</a:t>
            </a:r>
          </a:p>
          <a:p>
            <a:pPr eaLnBrk="0" hangingPunct="0"/>
            <a:r>
              <a:rPr lang="en-US" altLang="zh-CN" sz="2000" b="1" dirty="0"/>
              <a:t>{   </a:t>
            </a:r>
            <a:r>
              <a:rPr lang="en-US" altLang="zh-CN" sz="2000" b="1" dirty="0" err="1"/>
              <a:t>printf</a:t>
            </a:r>
            <a:r>
              <a:rPr lang="en-US" altLang="zh-CN" sz="2000" b="1" dirty="0"/>
              <a:t>("%c---&gt;%c\n", </a:t>
            </a:r>
            <a:r>
              <a:rPr lang="en-US" altLang="zh-CN" sz="2000" b="1" dirty="0" err="1"/>
              <a:t>getone</a:t>
            </a:r>
            <a:r>
              <a:rPr lang="en-US" altLang="zh-CN" sz="2000" b="1" dirty="0"/>
              <a:t>, </a:t>
            </a:r>
            <a:r>
              <a:rPr lang="en-US" altLang="zh-CN" sz="2000" b="1" dirty="0" err="1"/>
              <a:t>putone</a:t>
            </a:r>
            <a:r>
              <a:rPr lang="en-US" altLang="zh-CN" sz="2000" b="1" dirty="0"/>
              <a:t>); }</a:t>
            </a:r>
          </a:p>
          <a:p>
            <a:pPr eaLnBrk="0" hangingPunct="0"/>
            <a:endParaRPr lang="en-US" altLang="zh-CN" sz="2000" b="1" dirty="0"/>
          </a:p>
          <a:p>
            <a:pPr eaLnBrk="0" hangingPunct="0"/>
            <a:r>
              <a:rPr lang="en-US" altLang="zh-CN" sz="2000" b="1" dirty="0">
                <a:solidFill>
                  <a:srgbClr val="CC0000"/>
                </a:solidFill>
              </a:rPr>
              <a:t>void </a:t>
            </a:r>
            <a:r>
              <a:rPr lang="en-US" altLang="zh-CN" sz="2000" b="1" dirty="0" err="1">
                <a:solidFill>
                  <a:srgbClr val="CC0000"/>
                </a:solidFill>
              </a:rPr>
              <a:t>hanoi</a:t>
            </a:r>
            <a:r>
              <a:rPr lang="en-US" altLang="zh-CN" sz="2000" b="1" dirty="0">
                <a:solidFill>
                  <a:srgbClr val="CC0000"/>
                </a:solidFill>
              </a:rPr>
              <a:t>(</a:t>
            </a:r>
            <a:r>
              <a:rPr lang="en-US" altLang="zh-CN" sz="2000" b="1" dirty="0" err="1">
                <a:solidFill>
                  <a:srgbClr val="CC0000"/>
                </a:solidFill>
              </a:rPr>
              <a:t>int</a:t>
            </a:r>
            <a:r>
              <a:rPr lang="en-US" altLang="zh-CN" sz="2000" b="1" dirty="0">
                <a:solidFill>
                  <a:srgbClr val="CC0000"/>
                </a:solidFill>
              </a:rPr>
              <a:t> </a:t>
            </a:r>
            <a:r>
              <a:rPr lang="en-US" altLang="zh-CN" sz="2000" b="1" dirty="0" err="1">
                <a:solidFill>
                  <a:srgbClr val="CC0000"/>
                </a:solidFill>
              </a:rPr>
              <a:t>n,char</a:t>
            </a:r>
            <a:r>
              <a:rPr lang="en-US" altLang="zh-CN" sz="2000" b="1" dirty="0">
                <a:solidFill>
                  <a:srgbClr val="CC0000"/>
                </a:solidFill>
              </a:rPr>
              <a:t> </a:t>
            </a:r>
            <a:r>
              <a:rPr lang="en-US" altLang="zh-CN" sz="2000" b="1" dirty="0" err="1">
                <a:solidFill>
                  <a:srgbClr val="CC0000"/>
                </a:solidFill>
              </a:rPr>
              <a:t>one,char</a:t>
            </a:r>
            <a:r>
              <a:rPr lang="en-US" altLang="zh-CN" sz="2000" b="1" dirty="0">
                <a:solidFill>
                  <a:srgbClr val="CC0000"/>
                </a:solidFill>
              </a:rPr>
              <a:t> </a:t>
            </a:r>
            <a:r>
              <a:rPr lang="en-US" altLang="zh-CN" sz="2000" b="1" dirty="0" err="1">
                <a:solidFill>
                  <a:srgbClr val="CC0000"/>
                </a:solidFill>
              </a:rPr>
              <a:t>two,char</a:t>
            </a:r>
            <a:r>
              <a:rPr lang="en-US" altLang="zh-CN" sz="2000" b="1" dirty="0">
                <a:solidFill>
                  <a:srgbClr val="CC0000"/>
                </a:solidFill>
              </a:rPr>
              <a:t> three)</a:t>
            </a:r>
          </a:p>
          <a:p>
            <a:pPr eaLnBrk="0" hangingPunct="0"/>
            <a:r>
              <a:rPr lang="en-US" altLang="zh-CN" sz="2000" b="1" dirty="0"/>
              <a:t>{  </a:t>
            </a:r>
          </a:p>
          <a:p>
            <a:pPr eaLnBrk="0" hangingPunct="0"/>
            <a:r>
              <a:rPr lang="en-US" altLang="zh-CN" sz="2000" b="1" dirty="0"/>
              <a:t>    if(n==1)  move(</a:t>
            </a:r>
            <a:r>
              <a:rPr lang="en-US" altLang="zh-CN" sz="2000" b="1" dirty="0" err="1"/>
              <a:t>one,three</a:t>
            </a:r>
            <a:r>
              <a:rPr lang="en-US" altLang="zh-CN" sz="2000" b="1" dirty="0"/>
              <a:t>);</a:t>
            </a:r>
          </a:p>
          <a:p>
            <a:pPr eaLnBrk="0" hangingPunct="0"/>
            <a:r>
              <a:rPr lang="en-US" altLang="zh-CN" sz="2000" b="1" dirty="0"/>
              <a:t>    else</a:t>
            </a:r>
          </a:p>
          <a:p>
            <a:pPr eaLnBrk="0" hangingPunct="0"/>
            <a:r>
              <a:rPr lang="en-US" altLang="zh-CN" sz="2000" b="1" dirty="0"/>
              <a:t>    {     </a:t>
            </a:r>
            <a:r>
              <a:rPr lang="en-US" altLang="zh-CN" sz="2000" b="1" dirty="0" err="1">
                <a:solidFill>
                  <a:srgbClr val="002060"/>
                </a:solidFill>
              </a:rPr>
              <a:t>hanoi</a:t>
            </a:r>
            <a:r>
              <a:rPr lang="en-US" altLang="zh-CN" sz="2000" b="1" dirty="0">
                <a:solidFill>
                  <a:srgbClr val="002060"/>
                </a:solidFill>
              </a:rPr>
              <a:t>(n-1, one, three, two);</a:t>
            </a:r>
          </a:p>
          <a:p>
            <a:pPr eaLnBrk="0" hangingPunct="0"/>
            <a:r>
              <a:rPr lang="en-US" altLang="zh-CN" sz="2000" b="1" dirty="0"/>
              <a:t>           move(one, three);</a:t>
            </a:r>
          </a:p>
          <a:p>
            <a:pPr eaLnBrk="0" hangingPunct="0"/>
            <a:r>
              <a:rPr lang="en-US" altLang="zh-CN" sz="2000" b="1" dirty="0"/>
              <a:t>           </a:t>
            </a:r>
            <a:r>
              <a:rPr lang="en-US" altLang="zh-CN" sz="2000" b="1" dirty="0" err="1">
                <a:solidFill>
                  <a:srgbClr val="002060"/>
                </a:solidFill>
              </a:rPr>
              <a:t>hanoi</a:t>
            </a:r>
            <a:r>
              <a:rPr lang="en-US" altLang="zh-CN" sz="2000" b="1" dirty="0">
                <a:solidFill>
                  <a:srgbClr val="002060"/>
                </a:solidFill>
              </a:rPr>
              <a:t>(n-1,two,one,three);</a:t>
            </a:r>
          </a:p>
          <a:p>
            <a:pPr eaLnBrk="0" hangingPunct="0"/>
            <a:r>
              <a:rPr lang="en-US" altLang="zh-CN" sz="2000" b="1" dirty="0"/>
              <a:t>    }</a:t>
            </a:r>
          </a:p>
          <a:p>
            <a:pPr eaLnBrk="0" hangingPunct="0"/>
            <a:r>
              <a:rPr lang="en-US" altLang="zh-CN" sz="2000" b="1" dirty="0"/>
              <a:t>}</a:t>
            </a:r>
          </a:p>
          <a:p>
            <a:pPr eaLnBrk="0" hangingPunct="0"/>
            <a:endParaRPr lang="en-US" altLang="zh-CN" sz="2000" b="1" dirty="0"/>
          </a:p>
          <a:p>
            <a:pPr eaLnBrk="0" hangingPunct="0"/>
            <a:r>
              <a:rPr lang="en-US" altLang="zh-CN" sz="2000" b="1" dirty="0" err="1">
                <a:solidFill>
                  <a:srgbClr val="CC0000"/>
                </a:solidFill>
              </a:rPr>
              <a:t>int</a:t>
            </a:r>
            <a:r>
              <a:rPr lang="en-US" altLang="zh-CN" sz="2000" b="1" dirty="0">
                <a:solidFill>
                  <a:srgbClr val="CC0000"/>
                </a:solidFill>
              </a:rPr>
              <a:t> main( )</a:t>
            </a:r>
          </a:p>
          <a:p>
            <a:pPr eaLnBrk="0" hangingPunct="0"/>
            <a:r>
              <a:rPr lang="en-US" altLang="zh-CN" sz="2000" b="1" dirty="0"/>
              <a:t>{   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m;</a:t>
            </a:r>
          </a:p>
          <a:p>
            <a:pPr eaLnBrk="0" hangingPunct="0"/>
            <a:r>
              <a:rPr lang="en-US" altLang="zh-CN" sz="2000" b="1" dirty="0"/>
              <a:t>    </a:t>
            </a:r>
            <a:r>
              <a:rPr lang="en-US" altLang="zh-CN" sz="2000" b="1" dirty="0" err="1"/>
              <a:t>printf</a:t>
            </a:r>
            <a:r>
              <a:rPr lang="en-US" altLang="zh-CN" sz="2000" b="1" dirty="0"/>
              <a:t>("Input the number of disks:");</a:t>
            </a:r>
          </a:p>
          <a:p>
            <a:pPr eaLnBrk="0" hangingPunct="0"/>
            <a:r>
              <a:rPr lang="en-US" altLang="zh-CN" sz="2000" b="1" dirty="0"/>
              <a:t>    </a:t>
            </a:r>
            <a:r>
              <a:rPr lang="en-US" altLang="zh-CN" sz="2000" b="1" dirty="0" err="1"/>
              <a:t>scanf</a:t>
            </a:r>
            <a:r>
              <a:rPr lang="en-US" altLang="zh-CN" sz="2000" b="1" dirty="0"/>
              <a:t>("%</a:t>
            </a:r>
            <a:r>
              <a:rPr lang="en-US" altLang="zh-CN" sz="2000" b="1" dirty="0" err="1"/>
              <a:t>d",&amp;m</a:t>
            </a:r>
            <a:r>
              <a:rPr lang="en-US" altLang="zh-CN" sz="2000" b="1" dirty="0"/>
              <a:t>);</a:t>
            </a:r>
          </a:p>
          <a:p>
            <a:pPr eaLnBrk="0" hangingPunct="0"/>
            <a:r>
              <a:rPr lang="en-US" altLang="zh-CN" sz="2000" b="1" dirty="0"/>
              <a:t>    </a:t>
            </a:r>
            <a:r>
              <a:rPr lang="en-US" altLang="zh-CN" sz="2000" b="1" dirty="0" err="1"/>
              <a:t>printf</a:t>
            </a:r>
            <a:r>
              <a:rPr lang="en-US" altLang="zh-CN" sz="2000" b="1" dirty="0"/>
              <a:t>("The steps to moving %3d disks:\</a:t>
            </a:r>
            <a:r>
              <a:rPr lang="en-US" altLang="zh-CN" sz="2000" b="1" dirty="0" err="1"/>
              <a:t>n",m</a:t>
            </a:r>
            <a:r>
              <a:rPr lang="en-US" altLang="zh-CN" sz="2000" b="1" dirty="0"/>
              <a:t>);</a:t>
            </a:r>
          </a:p>
          <a:p>
            <a:pPr eaLnBrk="0" hangingPunct="0"/>
            <a:r>
              <a:rPr lang="en-US" altLang="zh-CN" sz="2000" b="1" dirty="0"/>
              <a:t>    </a:t>
            </a:r>
            <a:r>
              <a:rPr lang="en-US" altLang="zh-CN" sz="2000" b="1" dirty="0" err="1"/>
              <a:t>hanoi</a:t>
            </a:r>
            <a:r>
              <a:rPr lang="en-US" altLang="zh-CN" sz="2000" b="1" dirty="0"/>
              <a:t>(</a:t>
            </a:r>
            <a:r>
              <a:rPr lang="en-US" altLang="zh-CN" sz="2000" b="1" dirty="0" err="1"/>
              <a:t>m,'A','B','C</a:t>
            </a:r>
            <a:r>
              <a:rPr lang="en-US" altLang="zh-CN" sz="2000" b="1" dirty="0"/>
              <a:t>');</a:t>
            </a:r>
          </a:p>
          <a:p>
            <a:pPr eaLnBrk="0" hangingPunct="0"/>
            <a:r>
              <a:rPr lang="en-US" altLang="zh-CN" sz="2000" b="1" dirty="0"/>
              <a:t>    return 0;</a:t>
            </a:r>
          </a:p>
          <a:p>
            <a:pPr eaLnBrk="0" hangingPunct="0"/>
            <a:r>
              <a:rPr lang="en-US" altLang="zh-CN" sz="2000" b="1" dirty="0"/>
              <a:t>}</a:t>
            </a:r>
          </a:p>
        </p:txBody>
      </p:sp>
      <p:grpSp>
        <p:nvGrpSpPr>
          <p:cNvPr id="1109021" name="Group 29"/>
          <p:cNvGrpSpPr>
            <a:grpSpLocks/>
          </p:cNvGrpSpPr>
          <p:nvPr/>
        </p:nvGrpSpPr>
        <p:grpSpPr bwMode="auto">
          <a:xfrm>
            <a:off x="1055440" y="2132856"/>
            <a:ext cx="1921123" cy="4176713"/>
            <a:chOff x="412" y="709"/>
            <a:chExt cx="1043" cy="2631"/>
          </a:xfrm>
        </p:grpSpPr>
        <p:sp>
          <p:nvSpPr>
            <p:cNvPr id="1109016" name="Rectangle 24"/>
            <p:cNvSpPr>
              <a:spLocks noChangeArrowheads="1"/>
            </p:cNvSpPr>
            <p:nvPr/>
          </p:nvSpPr>
          <p:spPr bwMode="auto">
            <a:xfrm>
              <a:off x="412" y="709"/>
              <a:ext cx="1043" cy="2631"/>
            </a:xfrm>
            <a:prstGeom prst="rect">
              <a:avLst/>
            </a:prstGeom>
            <a:gradFill rotWithShape="1">
              <a:gsLst>
                <a:gs pos="0">
                  <a:srgbClr val="BEDFC4"/>
                </a:gs>
                <a:gs pos="100000">
                  <a:schemeClr val="bg1"/>
                </a:gs>
              </a:gsLst>
              <a:lin ang="5400000" scaled="1"/>
            </a:gradFill>
            <a:ln w="38100">
              <a:solidFill>
                <a:schemeClr val="accent1">
                  <a:lumMod val="50000"/>
                </a:schemeClr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109002" name="Group 10"/>
            <p:cNvGrpSpPr>
              <a:grpSpLocks/>
            </p:cNvGrpSpPr>
            <p:nvPr/>
          </p:nvGrpSpPr>
          <p:grpSpPr bwMode="auto">
            <a:xfrm>
              <a:off x="514" y="1652"/>
              <a:ext cx="824" cy="615"/>
              <a:chOff x="2112" y="0"/>
              <a:chExt cx="1248" cy="1605"/>
            </a:xfrm>
          </p:grpSpPr>
          <p:grpSp>
            <p:nvGrpSpPr>
              <p:cNvPr id="1109003" name="Group 11"/>
              <p:cNvGrpSpPr>
                <a:grpSpLocks/>
              </p:cNvGrpSpPr>
              <p:nvPr/>
            </p:nvGrpSpPr>
            <p:grpSpPr bwMode="auto">
              <a:xfrm>
                <a:off x="2112" y="0"/>
                <a:ext cx="1248" cy="1104"/>
                <a:chOff x="720" y="0"/>
                <a:chExt cx="1248" cy="1104"/>
              </a:xfrm>
            </p:grpSpPr>
            <p:sp>
              <p:nvSpPr>
                <p:cNvPr id="1109004" name="Line 12"/>
                <p:cNvSpPr>
                  <a:spLocks noChangeShapeType="1"/>
                </p:cNvSpPr>
                <p:nvPr/>
              </p:nvSpPr>
              <p:spPr bwMode="auto">
                <a:xfrm>
                  <a:off x="720" y="1104"/>
                  <a:ext cx="12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09005" name="Line 13"/>
                <p:cNvSpPr>
                  <a:spLocks noChangeShapeType="1"/>
                </p:cNvSpPr>
                <p:nvPr/>
              </p:nvSpPr>
              <p:spPr bwMode="auto">
                <a:xfrm>
                  <a:off x="1296" y="0"/>
                  <a:ext cx="0" cy="110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109006" name="Text Box 14"/>
              <p:cNvSpPr txBox="1">
                <a:spLocks noChangeArrowheads="1"/>
              </p:cNvSpPr>
              <p:nvPr/>
            </p:nvSpPr>
            <p:spPr bwMode="auto">
              <a:xfrm>
                <a:off x="2539" y="953"/>
                <a:ext cx="338" cy="6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lang="en-US" altLang="zh-CN" sz="2000" b="1">
                    <a:solidFill>
                      <a:srgbClr val="CC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B</a:t>
                </a:r>
              </a:p>
            </p:txBody>
          </p:sp>
        </p:grpSp>
        <p:grpSp>
          <p:nvGrpSpPr>
            <p:cNvPr id="1109007" name="Group 15"/>
            <p:cNvGrpSpPr>
              <a:grpSpLocks/>
            </p:cNvGrpSpPr>
            <p:nvPr/>
          </p:nvGrpSpPr>
          <p:grpSpPr bwMode="auto">
            <a:xfrm>
              <a:off x="487" y="2468"/>
              <a:ext cx="878" cy="615"/>
              <a:chOff x="3456" y="0"/>
              <a:chExt cx="1248" cy="1605"/>
            </a:xfrm>
          </p:grpSpPr>
          <p:grpSp>
            <p:nvGrpSpPr>
              <p:cNvPr id="1109008" name="Group 16"/>
              <p:cNvGrpSpPr>
                <a:grpSpLocks/>
              </p:cNvGrpSpPr>
              <p:nvPr/>
            </p:nvGrpSpPr>
            <p:grpSpPr bwMode="auto">
              <a:xfrm>
                <a:off x="3456" y="0"/>
                <a:ext cx="1248" cy="1104"/>
                <a:chOff x="720" y="0"/>
                <a:chExt cx="1248" cy="1104"/>
              </a:xfrm>
            </p:grpSpPr>
            <p:sp>
              <p:nvSpPr>
                <p:cNvPr id="1109009" name="Line 17"/>
                <p:cNvSpPr>
                  <a:spLocks noChangeShapeType="1"/>
                </p:cNvSpPr>
                <p:nvPr/>
              </p:nvSpPr>
              <p:spPr bwMode="auto">
                <a:xfrm>
                  <a:off x="720" y="1104"/>
                  <a:ext cx="12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09010" name="Line 18"/>
                <p:cNvSpPr>
                  <a:spLocks noChangeShapeType="1"/>
                </p:cNvSpPr>
                <p:nvPr/>
              </p:nvSpPr>
              <p:spPr bwMode="auto">
                <a:xfrm>
                  <a:off x="1296" y="0"/>
                  <a:ext cx="0" cy="110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109011" name="Text Box 19"/>
              <p:cNvSpPr txBox="1">
                <a:spLocks noChangeArrowheads="1"/>
              </p:cNvSpPr>
              <p:nvPr/>
            </p:nvSpPr>
            <p:spPr bwMode="auto">
              <a:xfrm>
                <a:off x="3887" y="953"/>
                <a:ext cx="329" cy="6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lang="en-US" altLang="zh-CN" sz="2000" b="1">
                    <a:solidFill>
                      <a:srgbClr val="CC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C</a:t>
                </a:r>
              </a:p>
            </p:txBody>
          </p:sp>
        </p:grpSp>
        <p:grpSp>
          <p:nvGrpSpPr>
            <p:cNvPr id="1109015" name="Group 23"/>
            <p:cNvGrpSpPr>
              <a:grpSpLocks/>
            </p:cNvGrpSpPr>
            <p:nvPr/>
          </p:nvGrpSpPr>
          <p:grpSpPr bwMode="auto">
            <a:xfrm>
              <a:off x="476" y="881"/>
              <a:ext cx="953" cy="702"/>
              <a:chOff x="153" y="1305"/>
              <a:chExt cx="534" cy="595"/>
            </a:xfrm>
          </p:grpSpPr>
          <p:grpSp>
            <p:nvGrpSpPr>
              <p:cNvPr id="1108997" name="Group 5"/>
              <p:cNvGrpSpPr>
                <a:grpSpLocks/>
              </p:cNvGrpSpPr>
              <p:nvPr/>
            </p:nvGrpSpPr>
            <p:grpSpPr bwMode="auto">
              <a:xfrm>
                <a:off x="153" y="1305"/>
                <a:ext cx="534" cy="595"/>
                <a:chOff x="720" y="0"/>
                <a:chExt cx="1248" cy="1554"/>
              </a:xfrm>
            </p:grpSpPr>
            <p:grpSp>
              <p:nvGrpSpPr>
                <p:cNvPr id="1108998" name="Group 6"/>
                <p:cNvGrpSpPr>
                  <a:grpSpLocks/>
                </p:cNvGrpSpPr>
                <p:nvPr/>
              </p:nvGrpSpPr>
              <p:grpSpPr bwMode="auto">
                <a:xfrm>
                  <a:off x="720" y="0"/>
                  <a:ext cx="1248" cy="1104"/>
                  <a:chOff x="720" y="0"/>
                  <a:chExt cx="1248" cy="1104"/>
                </a:xfrm>
              </p:grpSpPr>
              <p:sp>
                <p:nvSpPr>
                  <p:cNvPr id="1108999" name="Line 7"/>
                  <p:cNvSpPr>
                    <a:spLocks noChangeShapeType="1"/>
                  </p:cNvSpPr>
                  <p:nvPr/>
                </p:nvSpPr>
                <p:spPr bwMode="auto">
                  <a:xfrm>
                    <a:off x="720" y="1104"/>
                    <a:ext cx="1248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09000" name="Line 8"/>
                  <p:cNvSpPr>
                    <a:spLocks noChangeShapeType="1"/>
                  </p:cNvSpPr>
                  <p:nvPr/>
                </p:nvSpPr>
                <p:spPr bwMode="auto">
                  <a:xfrm>
                    <a:off x="1296" y="0"/>
                    <a:ext cx="0" cy="110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109001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1164" y="1001"/>
                  <a:ext cx="304" cy="55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 eaLnBrk="0" hangingPunct="0"/>
                  <a:r>
                    <a:rPr lang="en-US" altLang="zh-CN" sz="2000" b="1">
                      <a:solidFill>
                        <a:srgbClr val="CC0000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</a:rPr>
                    <a:t>A</a:t>
                  </a:r>
                </a:p>
              </p:txBody>
            </p:sp>
          </p:grpSp>
          <p:sp>
            <p:nvSpPr>
              <p:cNvPr id="1109012" name="Rectangle 20"/>
              <p:cNvSpPr>
                <a:spLocks noChangeArrowheads="1"/>
              </p:cNvSpPr>
              <p:nvPr/>
            </p:nvSpPr>
            <p:spPr bwMode="auto">
              <a:xfrm>
                <a:off x="235" y="1673"/>
                <a:ext cx="329" cy="5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09013" name="Rectangle 21"/>
              <p:cNvSpPr>
                <a:spLocks noChangeArrowheads="1"/>
              </p:cNvSpPr>
              <p:nvPr/>
            </p:nvSpPr>
            <p:spPr bwMode="auto">
              <a:xfrm>
                <a:off x="297" y="1618"/>
                <a:ext cx="205" cy="5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09014" name="Rectangle 22"/>
              <p:cNvSpPr>
                <a:spLocks noChangeArrowheads="1"/>
              </p:cNvSpPr>
              <p:nvPr/>
            </p:nvSpPr>
            <p:spPr bwMode="auto">
              <a:xfrm>
                <a:off x="338" y="1562"/>
                <a:ext cx="123" cy="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089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8995" grpId="0" animBg="1" autoUpdateAnimBg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018" name="Rectangle 2"/>
          <p:cNvSpPr>
            <a:spLocks noChangeArrowheads="1"/>
          </p:cNvSpPr>
          <p:nvPr/>
        </p:nvSpPr>
        <p:spPr bwMode="auto">
          <a:xfrm>
            <a:off x="1419746" y="4090839"/>
            <a:ext cx="4725987" cy="334963"/>
          </a:xfrm>
          <a:prstGeom prst="rect">
            <a:avLst/>
          </a:prstGeom>
          <a:solidFill>
            <a:srgbClr val="BEDFC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0019" name="Rectangle 3"/>
          <p:cNvSpPr>
            <a:spLocks noChangeArrowheads="1"/>
          </p:cNvSpPr>
          <p:nvPr/>
        </p:nvSpPr>
        <p:spPr bwMode="auto">
          <a:xfrm>
            <a:off x="1415480" y="3755876"/>
            <a:ext cx="4725987" cy="334962"/>
          </a:xfrm>
          <a:prstGeom prst="rect">
            <a:avLst/>
          </a:prstGeom>
          <a:solidFill>
            <a:srgbClr val="BEDFC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0020" name="Rectangle 4"/>
          <p:cNvSpPr>
            <a:spLocks noChangeArrowheads="1"/>
          </p:cNvSpPr>
          <p:nvPr/>
        </p:nvSpPr>
        <p:spPr bwMode="auto">
          <a:xfrm>
            <a:off x="1415480" y="3401864"/>
            <a:ext cx="4725987" cy="334963"/>
          </a:xfrm>
          <a:prstGeom prst="rect">
            <a:avLst/>
          </a:prstGeom>
          <a:solidFill>
            <a:srgbClr val="BEDFC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0021" name="Rectangle 5"/>
          <p:cNvSpPr>
            <a:spLocks noChangeArrowheads="1"/>
          </p:cNvSpPr>
          <p:nvPr/>
        </p:nvSpPr>
        <p:spPr bwMode="auto">
          <a:xfrm>
            <a:off x="1432942" y="3027213"/>
            <a:ext cx="4708525" cy="369888"/>
          </a:xfrm>
          <a:prstGeom prst="rect">
            <a:avLst/>
          </a:prstGeom>
          <a:solidFill>
            <a:srgbClr val="BEDFC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0022" name="Rectangle 6"/>
          <p:cNvSpPr>
            <a:spLocks noChangeArrowheads="1"/>
          </p:cNvSpPr>
          <p:nvPr/>
        </p:nvSpPr>
        <p:spPr bwMode="auto">
          <a:xfrm>
            <a:off x="1415480" y="3401864"/>
            <a:ext cx="4725987" cy="334963"/>
          </a:xfrm>
          <a:prstGeom prst="rect">
            <a:avLst/>
          </a:prstGeom>
          <a:solidFill>
            <a:srgbClr val="BEDFC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0023" name="Rectangle 7"/>
          <p:cNvSpPr>
            <a:spLocks noChangeArrowheads="1"/>
          </p:cNvSpPr>
          <p:nvPr/>
        </p:nvSpPr>
        <p:spPr bwMode="auto">
          <a:xfrm>
            <a:off x="1415480" y="3782864"/>
            <a:ext cx="4725987" cy="334963"/>
          </a:xfrm>
          <a:prstGeom prst="rect">
            <a:avLst/>
          </a:prstGeom>
          <a:solidFill>
            <a:srgbClr val="BEDFC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0024" name="Rectangle 8"/>
          <p:cNvSpPr>
            <a:spLocks noChangeArrowheads="1"/>
          </p:cNvSpPr>
          <p:nvPr/>
        </p:nvSpPr>
        <p:spPr bwMode="auto">
          <a:xfrm>
            <a:off x="1415480" y="4489301"/>
            <a:ext cx="4725987" cy="334962"/>
          </a:xfrm>
          <a:prstGeom prst="rect">
            <a:avLst/>
          </a:prstGeom>
          <a:solidFill>
            <a:srgbClr val="BEDFC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0025" name="Rectangle 9"/>
          <p:cNvSpPr>
            <a:spLocks noChangeArrowheads="1"/>
          </p:cNvSpPr>
          <p:nvPr/>
        </p:nvSpPr>
        <p:spPr bwMode="auto">
          <a:xfrm>
            <a:off x="1415480" y="4894114"/>
            <a:ext cx="4725987" cy="334963"/>
          </a:xfrm>
          <a:prstGeom prst="rect">
            <a:avLst/>
          </a:prstGeom>
          <a:solidFill>
            <a:srgbClr val="BEDFC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0026" name="Rectangle 10"/>
          <p:cNvSpPr>
            <a:spLocks noChangeArrowheads="1"/>
          </p:cNvSpPr>
          <p:nvPr/>
        </p:nvSpPr>
        <p:spPr bwMode="auto">
          <a:xfrm>
            <a:off x="1415480" y="3051027"/>
            <a:ext cx="4725987" cy="369887"/>
          </a:xfrm>
          <a:prstGeom prst="rect">
            <a:avLst/>
          </a:prstGeom>
          <a:solidFill>
            <a:srgbClr val="BEDFC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0027" name="Rectangle 11"/>
          <p:cNvSpPr>
            <a:spLocks noChangeArrowheads="1"/>
          </p:cNvSpPr>
          <p:nvPr/>
        </p:nvSpPr>
        <p:spPr bwMode="auto">
          <a:xfrm>
            <a:off x="1419746" y="3039914"/>
            <a:ext cx="4725987" cy="334963"/>
          </a:xfrm>
          <a:prstGeom prst="rect">
            <a:avLst/>
          </a:prstGeom>
          <a:solidFill>
            <a:srgbClr val="BEDFC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0028" name="Rectangle 12"/>
          <p:cNvSpPr>
            <a:spLocks noChangeArrowheads="1"/>
          </p:cNvSpPr>
          <p:nvPr/>
        </p:nvSpPr>
        <p:spPr bwMode="auto">
          <a:xfrm>
            <a:off x="1419746" y="3390751"/>
            <a:ext cx="4725987" cy="334962"/>
          </a:xfrm>
          <a:prstGeom prst="rect">
            <a:avLst/>
          </a:prstGeom>
          <a:solidFill>
            <a:srgbClr val="BEDFC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0029" name="Rectangle 13"/>
          <p:cNvSpPr>
            <a:spLocks noChangeArrowheads="1"/>
          </p:cNvSpPr>
          <p:nvPr/>
        </p:nvSpPr>
        <p:spPr bwMode="auto">
          <a:xfrm>
            <a:off x="1419746" y="3744764"/>
            <a:ext cx="4725987" cy="334963"/>
          </a:xfrm>
          <a:prstGeom prst="rect">
            <a:avLst/>
          </a:prstGeom>
          <a:solidFill>
            <a:srgbClr val="BEDFC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0030" name="Rectangle 14"/>
          <p:cNvSpPr>
            <a:spLocks noChangeArrowheads="1"/>
          </p:cNvSpPr>
          <p:nvPr/>
        </p:nvSpPr>
        <p:spPr bwMode="auto">
          <a:xfrm>
            <a:off x="1419746" y="4484539"/>
            <a:ext cx="4725987" cy="334963"/>
          </a:xfrm>
          <a:prstGeom prst="rect">
            <a:avLst/>
          </a:prstGeom>
          <a:solidFill>
            <a:srgbClr val="BEDFC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0031" name="Rectangle 15"/>
          <p:cNvSpPr>
            <a:spLocks noChangeArrowheads="1"/>
          </p:cNvSpPr>
          <p:nvPr/>
        </p:nvSpPr>
        <p:spPr bwMode="auto">
          <a:xfrm>
            <a:off x="1419746" y="4856014"/>
            <a:ext cx="4725987" cy="334963"/>
          </a:xfrm>
          <a:prstGeom prst="rect">
            <a:avLst/>
          </a:prstGeom>
          <a:solidFill>
            <a:srgbClr val="BEDFC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0032" name="Rectangle 16"/>
          <p:cNvSpPr>
            <a:spLocks noChangeArrowheads="1"/>
          </p:cNvSpPr>
          <p:nvPr/>
        </p:nvSpPr>
        <p:spPr bwMode="auto">
          <a:xfrm>
            <a:off x="1419746" y="825351"/>
            <a:ext cx="4725987" cy="334962"/>
          </a:xfrm>
          <a:prstGeom prst="rect">
            <a:avLst/>
          </a:prstGeom>
          <a:solidFill>
            <a:srgbClr val="BEDFC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0033" name="Rectangle 17"/>
          <p:cNvSpPr>
            <a:spLocks noChangeArrowheads="1"/>
          </p:cNvSpPr>
          <p:nvPr/>
        </p:nvSpPr>
        <p:spPr bwMode="auto">
          <a:xfrm>
            <a:off x="1419746" y="460226"/>
            <a:ext cx="4725987" cy="334962"/>
          </a:xfrm>
          <a:prstGeom prst="rect">
            <a:avLst/>
          </a:prstGeom>
          <a:solidFill>
            <a:srgbClr val="BEDFC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0034" name="Rectangle 18"/>
          <p:cNvSpPr>
            <a:spLocks noChangeArrowheads="1"/>
          </p:cNvSpPr>
          <p:nvPr/>
        </p:nvSpPr>
        <p:spPr bwMode="auto">
          <a:xfrm>
            <a:off x="1419746" y="1211114"/>
            <a:ext cx="4725987" cy="334963"/>
          </a:xfrm>
          <a:prstGeom prst="rect">
            <a:avLst/>
          </a:prstGeom>
          <a:solidFill>
            <a:srgbClr val="BEDFC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0035" name="Rectangle 19"/>
          <p:cNvSpPr>
            <a:spLocks noChangeArrowheads="1"/>
          </p:cNvSpPr>
          <p:nvPr/>
        </p:nvSpPr>
        <p:spPr bwMode="auto">
          <a:xfrm>
            <a:off x="1419746" y="1547664"/>
            <a:ext cx="4725987" cy="334963"/>
          </a:xfrm>
          <a:prstGeom prst="rect">
            <a:avLst/>
          </a:prstGeom>
          <a:solidFill>
            <a:srgbClr val="BEDFC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0036" name="Rectangle 20"/>
          <p:cNvSpPr>
            <a:spLocks noChangeArrowheads="1"/>
          </p:cNvSpPr>
          <p:nvPr/>
        </p:nvSpPr>
        <p:spPr bwMode="auto">
          <a:xfrm>
            <a:off x="1419746" y="1935014"/>
            <a:ext cx="4725987" cy="334963"/>
          </a:xfrm>
          <a:prstGeom prst="rect">
            <a:avLst/>
          </a:prstGeom>
          <a:solidFill>
            <a:srgbClr val="BEDFC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0037" name="Rectangle 21"/>
          <p:cNvSpPr>
            <a:spLocks noChangeArrowheads="1"/>
          </p:cNvSpPr>
          <p:nvPr/>
        </p:nvSpPr>
        <p:spPr bwMode="auto">
          <a:xfrm>
            <a:off x="1419746" y="2287439"/>
            <a:ext cx="4725987" cy="334963"/>
          </a:xfrm>
          <a:prstGeom prst="rect">
            <a:avLst/>
          </a:prstGeom>
          <a:solidFill>
            <a:srgbClr val="BEDFC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0038" name="Text Box 22"/>
          <p:cNvSpPr txBox="1">
            <a:spLocks noChangeArrowheads="1"/>
          </p:cNvSpPr>
          <p:nvPr/>
        </p:nvSpPr>
        <p:spPr bwMode="auto">
          <a:xfrm>
            <a:off x="1372399" y="383857"/>
            <a:ext cx="4723601" cy="637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altLang="zh-CN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2060"/>
                </a:solidFill>
              </a:rPr>
              <a:t>void main ( )</a:t>
            </a:r>
          </a:p>
          <a:p>
            <a:pPr eaLnBrk="0" hangingPunct="0"/>
            <a:r>
              <a:rPr lang="en-US" altLang="zh-CN" dirty="0"/>
              <a:t>   {  </a:t>
            </a:r>
            <a:r>
              <a:rPr lang="en-US" altLang="zh-CN" dirty="0" err="1"/>
              <a:t>int</a:t>
            </a:r>
            <a:r>
              <a:rPr lang="en-US" altLang="zh-CN" dirty="0"/>
              <a:t> m;</a:t>
            </a:r>
          </a:p>
          <a:p>
            <a:pPr eaLnBrk="0" hangingPunct="0"/>
            <a:r>
              <a:rPr lang="en-US" altLang="zh-CN" dirty="0"/>
              <a:t>       </a:t>
            </a:r>
            <a:r>
              <a:rPr lang="en-US" altLang="zh-CN" dirty="0" err="1"/>
              <a:t>printf</a:t>
            </a:r>
            <a:r>
              <a:rPr lang="en-US" altLang="zh-CN" dirty="0"/>
              <a:t>("Input number of disks”);</a:t>
            </a:r>
          </a:p>
          <a:p>
            <a:pPr eaLnBrk="0" hangingPunct="0"/>
            <a:r>
              <a:rPr lang="en-US" altLang="zh-CN" dirty="0"/>
              <a:t>       </a:t>
            </a:r>
            <a:r>
              <a:rPr lang="en-US" altLang="zh-CN" dirty="0" err="1"/>
              <a:t>scanf</a:t>
            </a:r>
            <a:r>
              <a:rPr lang="en-US" altLang="zh-CN" dirty="0"/>
              <a:t>("%</a:t>
            </a:r>
            <a:r>
              <a:rPr lang="en-US" altLang="zh-CN" dirty="0" err="1"/>
              <a:t>d",&amp;m</a:t>
            </a:r>
            <a:r>
              <a:rPr lang="en-US" altLang="zh-CN" dirty="0"/>
              <a:t>);</a:t>
            </a:r>
          </a:p>
          <a:p>
            <a:pPr eaLnBrk="0" hangingPunct="0"/>
            <a:r>
              <a:rPr lang="en-US" altLang="zh-CN" dirty="0"/>
              <a:t>       </a:t>
            </a:r>
            <a:r>
              <a:rPr lang="en-US" altLang="zh-CN" dirty="0" err="1"/>
              <a:t>printf</a:t>
            </a:r>
            <a:r>
              <a:rPr lang="en-US" altLang="zh-CN" dirty="0"/>
              <a:t>(”Steps : %3d </a:t>
            </a:r>
            <a:r>
              <a:rPr lang="en-US" altLang="zh-CN" dirty="0" err="1"/>
              <a:t>disks”,m</a:t>
            </a:r>
            <a:r>
              <a:rPr lang="en-US" altLang="zh-CN" dirty="0"/>
              <a:t>);</a:t>
            </a:r>
          </a:p>
          <a:p>
            <a:pPr eaLnBrk="0" hangingPunct="0"/>
            <a:r>
              <a:rPr lang="en-US" altLang="zh-CN" dirty="0"/>
              <a:t>       </a:t>
            </a:r>
            <a:r>
              <a:rPr lang="en-US" altLang="zh-CN" dirty="0" err="1"/>
              <a:t>hanoi</a:t>
            </a:r>
            <a:r>
              <a:rPr lang="en-US" altLang="zh-CN" dirty="0"/>
              <a:t>(</a:t>
            </a:r>
            <a:r>
              <a:rPr lang="en-US" altLang="zh-CN" dirty="0" err="1"/>
              <a:t>m,'A','B','C</a:t>
            </a:r>
            <a:r>
              <a:rPr lang="en-US" altLang="zh-CN" dirty="0"/>
              <a:t>');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</a:rPr>
              <a:t>(0)</a:t>
            </a:r>
            <a:r>
              <a:rPr lang="en-US" altLang="zh-CN" dirty="0"/>
              <a:t> }</a:t>
            </a:r>
          </a:p>
          <a:p>
            <a:pPr eaLnBrk="0" hangingPunct="0"/>
            <a:r>
              <a:rPr lang="en-US" altLang="zh-CN" dirty="0">
                <a:solidFill>
                  <a:srgbClr val="002060"/>
                </a:solidFill>
              </a:rPr>
              <a:t>void </a:t>
            </a:r>
            <a:r>
              <a:rPr lang="en-US" altLang="zh-CN" dirty="0" err="1">
                <a:solidFill>
                  <a:srgbClr val="002060"/>
                </a:solidFill>
              </a:rPr>
              <a:t>hanoi</a:t>
            </a:r>
            <a:r>
              <a:rPr lang="en-US" altLang="zh-CN" dirty="0">
                <a:solidFill>
                  <a:srgbClr val="002060"/>
                </a:solidFill>
              </a:rPr>
              <a:t>(</a:t>
            </a:r>
            <a:r>
              <a:rPr lang="en-US" altLang="zh-CN" dirty="0" err="1">
                <a:solidFill>
                  <a:srgbClr val="002060"/>
                </a:solidFill>
              </a:rPr>
              <a:t>int</a:t>
            </a:r>
            <a:r>
              <a:rPr lang="en-US" altLang="zh-CN" dirty="0">
                <a:solidFill>
                  <a:srgbClr val="002060"/>
                </a:solidFill>
              </a:rPr>
              <a:t> </a:t>
            </a:r>
            <a:r>
              <a:rPr lang="en-US" altLang="zh-CN" dirty="0" err="1">
                <a:solidFill>
                  <a:srgbClr val="002060"/>
                </a:solidFill>
              </a:rPr>
              <a:t>n,char</a:t>
            </a:r>
            <a:r>
              <a:rPr lang="en-US" altLang="zh-CN" dirty="0">
                <a:solidFill>
                  <a:srgbClr val="002060"/>
                </a:solidFill>
              </a:rPr>
              <a:t> </a:t>
            </a:r>
            <a:r>
              <a:rPr lang="en-US" altLang="zh-CN" dirty="0" err="1">
                <a:solidFill>
                  <a:srgbClr val="002060"/>
                </a:solidFill>
              </a:rPr>
              <a:t>x,char</a:t>
            </a:r>
            <a:r>
              <a:rPr lang="en-US" altLang="zh-CN" dirty="0">
                <a:solidFill>
                  <a:srgbClr val="002060"/>
                </a:solidFill>
              </a:rPr>
              <a:t> </a:t>
            </a:r>
            <a:r>
              <a:rPr lang="en-US" altLang="zh-CN" dirty="0" err="1">
                <a:solidFill>
                  <a:srgbClr val="002060"/>
                </a:solidFill>
              </a:rPr>
              <a:t>y,char</a:t>
            </a:r>
            <a:r>
              <a:rPr lang="en-US" altLang="zh-CN" dirty="0">
                <a:solidFill>
                  <a:srgbClr val="002060"/>
                </a:solidFill>
              </a:rPr>
              <a:t> z)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</a:rPr>
              <a:t>(1)</a:t>
            </a:r>
            <a:r>
              <a:rPr lang="en-US" altLang="zh-CN" dirty="0"/>
              <a:t>  {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</a:rPr>
              <a:t>(2)</a:t>
            </a:r>
            <a:r>
              <a:rPr lang="en-US" altLang="zh-CN" dirty="0"/>
              <a:t>     if(n==1)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</a:rPr>
              <a:t>(3)</a:t>
            </a:r>
            <a:r>
              <a:rPr lang="en-US" altLang="zh-CN" dirty="0"/>
              <a:t>         move(1,x,z);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</a:rPr>
              <a:t>(4)</a:t>
            </a:r>
            <a:r>
              <a:rPr lang="en-US" altLang="zh-CN" dirty="0"/>
              <a:t>     else{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</a:rPr>
              <a:t>(5)</a:t>
            </a:r>
            <a:r>
              <a:rPr lang="en-US" altLang="zh-CN" dirty="0"/>
              <a:t>            </a:t>
            </a:r>
            <a:r>
              <a:rPr lang="en-US" altLang="zh-CN" dirty="0" err="1"/>
              <a:t>hanoi</a:t>
            </a:r>
            <a:r>
              <a:rPr lang="en-US" altLang="zh-CN" dirty="0"/>
              <a:t>(n-1,x,z,y);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</a:rPr>
              <a:t>(6)</a:t>
            </a:r>
            <a:r>
              <a:rPr lang="en-US" altLang="zh-CN" dirty="0"/>
              <a:t>            move(</a:t>
            </a:r>
            <a:r>
              <a:rPr lang="en-US" altLang="zh-CN" dirty="0" err="1"/>
              <a:t>n,x,z</a:t>
            </a:r>
            <a:r>
              <a:rPr lang="en-US" altLang="zh-CN" dirty="0"/>
              <a:t>);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</a:rPr>
              <a:t>(7)</a:t>
            </a:r>
            <a:r>
              <a:rPr lang="en-US" altLang="zh-CN" dirty="0"/>
              <a:t>            </a:t>
            </a:r>
            <a:r>
              <a:rPr lang="en-US" altLang="zh-CN" dirty="0" err="1"/>
              <a:t>hanoi</a:t>
            </a:r>
            <a:r>
              <a:rPr lang="en-US" altLang="zh-CN" dirty="0"/>
              <a:t>(n-1,y,x,z);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</a:rPr>
              <a:t>(8)</a:t>
            </a:r>
            <a:r>
              <a:rPr lang="en-US" altLang="zh-CN" dirty="0"/>
              <a:t>         }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</a:rPr>
              <a:t>(9)</a:t>
            </a:r>
            <a:r>
              <a:rPr lang="en-US" altLang="zh-CN" dirty="0"/>
              <a:t>  }</a:t>
            </a:r>
          </a:p>
        </p:txBody>
      </p:sp>
      <p:grpSp>
        <p:nvGrpSpPr>
          <p:cNvPr id="1110039" name="Group 23"/>
          <p:cNvGrpSpPr>
            <a:grpSpLocks/>
          </p:cNvGrpSpPr>
          <p:nvPr/>
        </p:nvGrpSpPr>
        <p:grpSpPr bwMode="auto">
          <a:xfrm>
            <a:off x="7384157" y="244476"/>
            <a:ext cx="3608387" cy="1274763"/>
            <a:chOff x="287" y="0"/>
            <a:chExt cx="3984" cy="1513"/>
          </a:xfrm>
        </p:grpSpPr>
        <p:grpSp>
          <p:nvGrpSpPr>
            <p:cNvPr id="1110040" name="Group 24"/>
            <p:cNvGrpSpPr>
              <a:grpSpLocks/>
            </p:cNvGrpSpPr>
            <p:nvPr/>
          </p:nvGrpSpPr>
          <p:grpSpPr bwMode="auto">
            <a:xfrm>
              <a:off x="287" y="0"/>
              <a:ext cx="3984" cy="1513"/>
              <a:chOff x="720" y="0"/>
              <a:chExt cx="3984" cy="1513"/>
            </a:xfrm>
          </p:grpSpPr>
          <p:grpSp>
            <p:nvGrpSpPr>
              <p:cNvPr id="1110041" name="Group 25"/>
              <p:cNvGrpSpPr>
                <a:grpSpLocks/>
              </p:cNvGrpSpPr>
              <p:nvPr/>
            </p:nvGrpSpPr>
            <p:grpSpPr bwMode="auto">
              <a:xfrm>
                <a:off x="720" y="0"/>
                <a:ext cx="1248" cy="1513"/>
                <a:chOff x="720" y="0"/>
                <a:chExt cx="1248" cy="1513"/>
              </a:xfrm>
            </p:grpSpPr>
            <p:grpSp>
              <p:nvGrpSpPr>
                <p:cNvPr id="1110042" name="Group 26"/>
                <p:cNvGrpSpPr>
                  <a:grpSpLocks/>
                </p:cNvGrpSpPr>
                <p:nvPr/>
              </p:nvGrpSpPr>
              <p:grpSpPr bwMode="auto">
                <a:xfrm>
                  <a:off x="720" y="0"/>
                  <a:ext cx="1248" cy="1104"/>
                  <a:chOff x="720" y="0"/>
                  <a:chExt cx="1248" cy="1104"/>
                </a:xfrm>
              </p:grpSpPr>
              <p:sp>
                <p:nvSpPr>
                  <p:cNvPr id="1110043" name="Line 27"/>
                  <p:cNvSpPr>
                    <a:spLocks noChangeShapeType="1"/>
                  </p:cNvSpPr>
                  <p:nvPr/>
                </p:nvSpPr>
                <p:spPr bwMode="auto">
                  <a:xfrm>
                    <a:off x="720" y="1104"/>
                    <a:ext cx="1248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10044" name="Line 28"/>
                  <p:cNvSpPr>
                    <a:spLocks noChangeShapeType="1"/>
                  </p:cNvSpPr>
                  <p:nvPr/>
                </p:nvSpPr>
                <p:spPr bwMode="auto">
                  <a:xfrm>
                    <a:off x="1296" y="0"/>
                    <a:ext cx="0" cy="110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110045" name="Text Box 29"/>
                <p:cNvSpPr txBox="1">
                  <a:spLocks noChangeArrowheads="1"/>
                </p:cNvSpPr>
                <p:nvPr/>
              </p:nvSpPr>
              <p:spPr bwMode="auto">
                <a:xfrm>
                  <a:off x="1116" y="1042"/>
                  <a:ext cx="407" cy="47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 eaLnBrk="0" hangingPunct="0"/>
                  <a:r>
                    <a:rPr lang="en-US" altLang="zh-CN" sz="2000" b="1" dirty="0">
                      <a:solidFill>
                        <a:srgbClr val="C01920"/>
                      </a:solidFill>
                    </a:rPr>
                    <a:t>A</a:t>
                  </a:r>
                </a:p>
              </p:txBody>
            </p:sp>
          </p:grpSp>
          <p:grpSp>
            <p:nvGrpSpPr>
              <p:cNvPr id="1110046" name="Group 30"/>
              <p:cNvGrpSpPr>
                <a:grpSpLocks/>
              </p:cNvGrpSpPr>
              <p:nvPr/>
            </p:nvGrpSpPr>
            <p:grpSpPr bwMode="auto">
              <a:xfrm>
                <a:off x="2112" y="0"/>
                <a:ext cx="1248" cy="1513"/>
                <a:chOff x="2112" y="0"/>
                <a:chExt cx="1248" cy="1513"/>
              </a:xfrm>
            </p:grpSpPr>
            <p:grpSp>
              <p:nvGrpSpPr>
                <p:cNvPr id="1110047" name="Group 31"/>
                <p:cNvGrpSpPr>
                  <a:grpSpLocks/>
                </p:cNvGrpSpPr>
                <p:nvPr/>
              </p:nvGrpSpPr>
              <p:grpSpPr bwMode="auto">
                <a:xfrm>
                  <a:off x="2112" y="0"/>
                  <a:ext cx="1248" cy="1104"/>
                  <a:chOff x="720" y="0"/>
                  <a:chExt cx="1248" cy="1104"/>
                </a:xfrm>
              </p:grpSpPr>
              <p:sp>
                <p:nvSpPr>
                  <p:cNvPr id="1110048" name="Line 32"/>
                  <p:cNvSpPr>
                    <a:spLocks noChangeShapeType="1"/>
                  </p:cNvSpPr>
                  <p:nvPr/>
                </p:nvSpPr>
                <p:spPr bwMode="auto">
                  <a:xfrm>
                    <a:off x="720" y="1104"/>
                    <a:ext cx="1248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10049" name="Line 33"/>
                  <p:cNvSpPr>
                    <a:spLocks noChangeShapeType="1"/>
                  </p:cNvSpPr>
                  <p:nvPr/>
                </p:nvSpPr>
                <p:spPr bwMode="auto">
                  <a:xfrm>
                    <a:off x="1296" y="0"/>
                    <a:ext cx="0" cy="110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110050" name="Text Box 34"/>
                <p:cNvSpPr txBox="1">
                  <a:spLocks noChangeArrowheads="1"/>
                </p:cNvSpPr>
                <p:nvPr/>
              </p:nvSpPr>
              <p:spPr bwMode="auto">
                <a:xfrm>
                  <a:off x="2511" y="1042"/>
                  <a:ext cx="391" cy="47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 eaLnBrk="0" hangingPunct="0"/>
                  <a:r>
                    <a:rPr lang="en-US" altLang="zh-CN" sz="2000" b="1">
                      <a:solidFill>
                        <a:srgbClr val="C01920"/>
                      </a:solidFill>
                    </a:rPr>
                    <a:t>B</a:t>
                  </a:r>
                </a:p>
              </p:txBody>
            </p:sp>
          </p:grpSp>
          <p:grpSp>
            <p:nvGrpSpPr>
              <p:cNvPr id="1110051" name="Group 35"/>
              <p:cNvGrpSpPr>
                <a:grpSpLocks/>
              </p:cNvGrpSpPr>
              <p:nvPr/>
            </p:nvGrpSpPr>
            <p:grpSpPr bwMode="auto">
              <a:xfrm>
                <a:off x="3456" y="0"/>
                <a:ext cx="1248" cy="1513"/>
                <a:chOff x="3456" y="0"/>
                <a:chExt cx="1248" cy="1513"/>
              </a:xfrm>
            </p:grpSpPr>
            <p:grpSp>
              <p:nvGrpSpPr>
                <p:cNvPr id="1110052" name="Group 36"/>
                <p:cNvGrpSpPr>
                  <a:grpSpLocks/>
                </p:cNvGrpSpPr>
                <p:nvPr/>
              </p:nvGrpSpPr>
              <p:grpSpPr bwMode="auto">
                <a:xfrm>
                  <a:off x="3456" y="0"/>
                  <a:ext cx="1248" cy="1104"/>
                  <a:chOff x="720" y="0"/>
                  <a:chExt cx="1248" cy="1104"/>
                </a:xfrm>
              </p:grpSpPr>
              <p:sp>
                <p:nvSpPr>
                  <p:cNvPr id="1110053" name="Line 37"/>
                  <p:cNvSpPr>
                    <a:spLocks noChangeShapeType="1"/>
                  </p:cNvSpPr>
                  <p:nvPr/>
                </p:nvSpPr>
                <p:spPr bwMode="auto">
                  <a:xfrm>
                    <a:off x="720" y="1104"/>
                    <a:ext cx="1248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10054" name="Line 38"/>
                  <p:cNvSpPr>
                    <a:spLocks noChangeShapeType="1"/>
                  </p:cNvSpPr>
                  <p:nvPr/>
                </p:nvSpPr>
                <p:spPr bwMode="auto">
                  <a:xfrm>
                    <a:off x="1296" y="0"/>
                    <a:ext cx="0" cy="110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110055" name="Text Box 39"/>
                <p:cNvSpPr txBox="1">
                  <a:spLocks noChangeArrowheads="1"/>
                </p:cNvSpPr>
                <p:nvPr/>
              </p:nvSpPr>
              <p:spPr bwMode="auto">
                <a:xfrm>
                  <a:off x="3843" y="1042"/>
                  <a:ext cx="407" cy="47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 eaLnBrk="0" hangingPunct="0"/>
                  <a:r>
                    <a:rPr lang="en-US" altLang="zh-CN" sz="2000" b="1">
                      <a:solidFill>
                        <a:srgbClr val="C01920"/>
                      </a:solidFill>
                    </a:rPr>
                    <a:t>C</a:t>
                  </a:r>
                </a:p>
              </p:txBody>
            </p:sp>
          </p:grpSp>
          <p:sp>
            <p:nvSpPr>
              <p:cNvPr id="1110056" name="Rectangle 40"/>
              <p:cNvSpPr>
                <a:spLocks noChangeArrowheads="1"/>
              </p:cNvSpPr>
              <p:nvPr/>
            </p:nvSpPr>
            <p:spPr bwMode="auto">
              <a:xfrm>
                <a:off x="912" y="960"/>
                <a:ext cx="768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10057" name="Rectangle 41"/>
              <p:cNvSpPr>
                <a:spLocks noChangeArrowheads="1"/>
              </p:cNvSpPr>
              <p:nvPr/>
            </p:nvSpPr>
            <p:spPr bwMode="auto">
              <a:xfrm>
                <a:off x="1056" y="816"/>
                <a:ext cx="480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10058" name="Rectangle 42"/>
              <p:cNvSpPr>
                <a:spLocks noChangeArrowheads="1"/>
              </p:cNvSpPr>
              <p:nvPr/>
            </p:nvSpPr>
            <p:spPr bwMode="auto">
              <a:xfrm>
                <a:off x="1152" y="672"/>
                <a:ext cx="288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110059" name="Text Box 43"/>
            <p:cNvSpPr txBox="1">
              <a:spLocks noChangeArrowheads="1"/>
            </p:cNvSpPr>
            <p:nvPr/>
          </p:nvSpPr>
          <p:spPr bwMode="auto">
            <a:xfrm>
              <a:off x="618" y="509"/>
              <a:ext cx="344" cy="4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000"/>
                <a:t>1</a:t>
              </a:r>
            </a:p>
          </p:txBody>
        </p:sp>
        <p:sp>
          <p:nvSpPr>
            <p:cNvPr id="1110060" name="Text Box 44"/>
            <p:cNvSpPr txBox="1">
              <a:spLocks noChangeArrowheads="1"/>
            </p:cNvSpPr>
            <p:nvPr/>
          </p:nvSpPr>
          <p:spPr bwMode="auto">
            <a:xfrm>
              <a:off x="618" y="656"/>
              <a:ext cx="344" cy="4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000"/>
                <a:t>2</a:t>
              </a:r>
            </a:p>
          </p:txBody>
        </p:sp>
        <p:sp>
          <p:nvSpPr>
            <p:cNvPr id="1110061" name="Text Box 45"/>
            <p:cNvSpPr txBox="1">
              <a:spLocks noChangeArrowheads="1"/>
            </p:cNvSpPr>
            <p:nvPr/>
          </p:nvSpPr>
          <p:spPr bwMode="auto">
            <a:xfrm>
              <a:off x="618" y="808"/>
              <a:ext cx="344" cy="4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000"/>
                <a:t>3</a:t>
              </a:r>
            </a:p>
          </p:txBody>
        </p:sp>
      </p:grpSp>
      <p:grpSp>
        <p:nvGrpSpPr>
          <p:cNvPr id="1110062" name="Group 46"/>
          <p:cNvGrpSpPr>
            <a:grpSpLocks/>
          </p:cNvGrpSpPr>
          <p:nvPr/>
        </p:nvGrpSpPr>
        <p:grpSpPr bwMode="auto">
          <a:xfrm>
            <a:off x="7781032" y="1409700"/>
            <a:ext cx="2130425" cy="660400"/>
            <a:chOff x="4174" y="622"/>
            <a:chExt cx="1342" cy="416"/>
          </a:xfrm>
        </p:grpSpPr>
        <p:grpSp>
          <p:nvGrpSpPr>
            <p:cNvPr id="1110063" name="Group 47"/>
            <p:cNvGrpSpPr>
              <a:grpSpLocks/>
            </p:cNvGrpSpPr>
            <p:nvPr/>
          </p:nvGrpSpPr>
          <p:grpSpPr bwMode="auto">
            <a:xfrm>
              <a:off x="4174" y="778"/>
              <a:ext cx="1342" cy="260"/>
              <a:chOff x="3628" y="1745"/>
              <a:chExt cx="1342" cy="260"/>
            </a:xfrm>
          </p:grpSpPr>
          <p:sp>
            <p:nvSpPr>
              <p:cNvPr id="1110064" name="Rectangle 48"/>
              <p:cNvSpPr>
                <a:spLocks noChangeArrowheads="1"/>
              </p:cNvSpPr>
              <p:nvPr/>
            </p:nvSpPr>
            <p:spPr bwMode="auto">
              <a:xfrm>
                <a:off x="3628" y="1749"/>
                <a:ext cx="1342" cy="2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r>
                  <a:rPr lang="zh-CN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3    </a:t>
                </a:r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A    B    C     0</a:t>
                </a:r>
              </a:p>
            </p:txBody>
          </p:sp>
          <p:sp>
            <p:nvSpPr>
              <p:cNvPr id="1110065" name="Line 49"/>
              <p:cNvSpPr>
                <a:spLocks noChangeShapeType="1"/>
              </p:cNvSpPr>
              <p:nvPr/>
            </p:nvSpPr>
            <p:spPr bwMode="auto">
              <a:xfrm flipH="1">
                <a:off x="3867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0066" name="Line 50"/>
              <p:cNvSpPr>
                <a:spLocks noChangeShapeType="1"/>
              </p:cNvSpPr>
              <p:nvPr/>
            </p:nvSpPr>
            <p:spPr bwMode="auto">
              <a:xfrm>
                <a:off x="4101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0067" name="Line 51"/>
              <p:cNvSpPr>
                <a:spLocks noChangeShapeType="1"/>
              </p:cNvSpPr>
              <p:nvPr/>
            </p:nvSpPr>
            <p:spPr bwMode="auto">
              <a:xfrm>
                <a:off x="4356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0068" name="Line 52"/>
              <p:cNvSpPr>
                <a:spLocks noChangeShapeType="1"/>
              </p:cNvSpPr>
              <p:nvPr/>
            </p:nvSpPr>
            <p:spPr bwMode="auto">
              <a:xfrm>
                <a:off x="4634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110069" name="Line 53"/>
            <p:cNvSpPr>
              <a:spLocks noChangeShapeType="1"/>
            </p:cNvSpPr>
            <p:nvPr/>
          </p:nvSpPr>
          <p:spPr bwMode="auto">
            <a:xfrm flipV="1">
              <a:off x="4178" y="622"/>
              <a:ext cx="0" cy="1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10070" name="Line 54"/>
            <p:cNvSpPr>
              <a:spLocks noChangeShapeType="1"/>
            </p:cNvSpPr>
            <p:nvPr/>
          </p:nvSpPr>
          <p:spPr bwMode="auto">
            <a:xfrm flipV="1">
              <a:off x="5512" y="644"/>
              <a:ext cx="0" cy="1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110071" name="Group 55"/>
          <p:cNvGrpSpPr>
            <a:grpSpLocks/>
          </p:cNvGrpSpPr>
          <p:nvPr/>
        </p:nvGrpSpPr>
        <p:grpSpPr bwMode="auto">
          <a:xfrm>
            <a:off x="7769919" y="2024063"/>
            <a:ext cx="2138363" cy="1066800"/>
            <a:chOff x="4236" y="608"/>
            <a:chExt cx="1347" cy="672"/>
          </a:xfrm>
        </p:grpSpPr>
        <p:grpSp>
          <p:nvGrpSpPr>
            <p:cNvPr id="1110072" name="Group 56"/>
            <p:cNvGrpSpPr>
              <a:grpSpLocks/>
            </p:cNvGrpSpPr>
            <p:nvPr/>
          </p:nvGrpSpPr>
          <p:grpSpPr bwMode="auto">
            <a:xfrm>
              <a:off x="4236" y="1020"/>
              <a:ext cx="1342" cy="260"/>
              <a:chOff x="3628" y="1745"/>
              <a:chExt cx="1342" cy="260"/>
            </a:xfrm>
          </p:grpSpPr>
          <p:sp>
            <p:nvSpPr>
              <p:cNvPr id="1110073" name="Rectangle 57"/>
              <p:cNvSpPr>
                <a:spLocks noChangeArrowheads="1"/>
              </p:cNvSpPr>
              <p:nvPr/>
            </p:nvSpPr>
            <p:spPr bwMode="auto">
              <a:xfrm>
                <a:off x="3628" y="1749"/>
                <a:ext cx="1342" cy="2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r>
                  <a:rPr lang="zh-CN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3    </a:t>
                </a:r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A    B    C     0</a:t>
                </a:r>
              </a:p>
            </p:txBody>
          </p:sp>
          <p:sp>
            <p:nvSpPr>
              <p:cNvPr id="1110074" name="Line 58"/>
              <p:cNvSpPr>
                <a:spLocks noChangeShapeType="1"/>
              </p:cNvSpPr>
              <p:nvPr/>
            </p:nvSpPr>
            <p:spPr bwMode="auto">
              <a:xfrm flipH="1">
                <a:off x="3867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0075" name="Line 59"/>
              <p:cNvSpPr>
                <a:spLocks noChangeShapeType="1"/>
              </p:cNvSpPr>
              <p:nvPr/>
            </p:nvSpPr>
            <p:spPr bwMode="auto">
              <a:xfrm>
                <a:off x="4101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0076" name="Line 60"/>
              <p:cNvSpPr>
                <a:spLocks noChangeShapeType="1"/>
              </p:cNvSpPr>
              <p:nvPr/>
            </p:nvSpPr>
            <p:spPr bwMode="auto">
              <a:xfrm>
                <a:off x="4356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0077" name="Line 61"/>
              <p:cNvSpPr>
                <a:spLocks noChangeShapeType="1"/>
              </p:cNvSpPr>
              <p:nvPr/>
            </p:nvSpPr>
            <p:spPr bwMode="auto">
              <a:xfrm>
                <a:off x="4634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110078" name="Group 62"/>
            <p:cNvGrpSpPr>
              <a:grpSpLocks/>
            </p:cNvGrpSpPr>
            <p:nvPr/>
          </p:nvGrpSpPr>
          <p:grpSpPr bwMode="auto">
            <a:xfrm>
              <a:off x="4237" y="608"/>
              <a:ext cx="1346" cy="416"/>
              <a:chOff x="4174" y="622"/>
              <a:chExt cx="1346" cy="416"/>
            </a:xfrm>
          </p:grpSpPr>
          <p:grpSp>
            <p:nvGrpSpPr>
              <p:cNvPr id="1110079" name="Group 63"/>
              <p:cNvGrpSpPr>
                <a:grpSpLocks/>
              </p:cNvGrpSpPr>
              <p:nvPr/>
            </p:nvGrpSpPr>
            <p:grpSpPr bwMode="auto">
              <a:xfrm>
                <a:off x="4174" y="778"/>
                <a:ext cx="1342" cy="260"/>
                <a:chOff x="3628" y="1745"/>
                <a:chExt cx="1342" cy="260"/>
              </a:xfrm>
            </p:grpSpPr>
            <p:sp>
              <p:nvSpPr>
                <p:cNvPr id="1110080" name="Rectangle 64"/>
                <p:cNvSpPr>
                  <a:spLocks noChangeArrowheads="1"/>
                </p:cNvSpPr>
                <p:nvPr/>
              </p:nvSpPr>
              <p:spPr bwMode="auto">
                <a:xfrm>
                  <a:off x="3628" y="1749"/>
                  <a:ext cx="134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r>
                    <a:rPr lang="zh-CN" altLang="zh-CN" sz="2000" b="1" dirty="0">
                      <a:effectLst>
                        <a:outerShdw blurRad="38100" dist="38100" dir="2700000" algn="tl">
                          <a:srgbClr val="FFFFFF"/>
                        </a:outerShdw>
                      </a:effectLst>
                    </a:rPr>
                    <a:t>2    </a:t>
                  </a:r>
                  <a:r>
                    <a:rPr lang="en-US" altLang="zh-CN" sz="2000" b="1" dirty="0">
                      <a:effectLst>
                        <a:outerShdw blurRad="38100" dist="38100" dir="2700000" algn="tl">
                          <a:srgbClr val="FFFFFF"/>
                        </a:outerShdw>
                      </a:effectLst>
                    </a:rPr>
                    <a:t>A    C    B     6</a:t>
                  </a:r>
                </a:p>
              </p:txBody>
            </p:sp>
            <p:sp>
              <p:nvSpPr>
                <p:cNvPr id="1110081" name="Line 65"/>
                <p:cNvSpPr>
                  <a:spLocks noChangeShapeType="1"/>
                </p:cNvSpPr>
                <p:nvPr/>
              </p:nvSpPr>
              <p:spPr bwMode="auto">
                <a:xfrm flipH="1">
                  <a:off x="3867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0082" name="Line 66"/>
                <p:cNvSpPr>
                  <a:spLocks noChangeShapeType="1"/>
                </p:cNvSpPr>
                <p:nvPr/>
              </p:nvSpPr>
              <p:spPr bwMode="auto">
                <a:xfrm>
                  <a:off x="4101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0083" name="Line 67"/>
                <p:cNvSpPr>
                  <a:spLocks noChangeShapeType="1"/>
                </p:cNvSpPr>
                <p:nvPr/>
              </p:nvSpPr>
              <p:spPr bwMode="auto">
                <a:xfrm>
                  <a:off x="4356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0084" name="Line 68"/>
                <p:cNvSpPr>
                  <a:spLocks noChangeShapeType="1"/>
                </p:cNvSpPr>
                <p:nvPr/>
              </p:nvSpPr>
              <p:spPr bwMode="auto">
                <a:xfrm>
                  <a:off x="4634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1110085" name="Line 69"/>
              <p:cNvSpPr>
                <a:spLocks noChangeShapeType="1"/>
              </p:cNvSpPr>
              <p:nvPr/>
            </p:nvSpPr>
            <p:spPr bwMode="auto">
              <a:xfrm flipV="1">
                <a:off x="4186" y="622"/>
                <a:ext cx="0" cy="17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0086" name="Line 70"/>
              <p:cNvSpPr>
                <a:spLocks noChangeShapeType="1"/>
              </p:cNvSpPr>
              <p:nvPr/>
            </p:nvSpPr>
            <p:spPr bwMode="auto">
              <a:xfrm flipV="1">
                <a:off x="5520" y="644"/>
                <a:ext cx="0" cy="1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1110087" name="Group 71"/>
          <p:cNvGrpSpPr>
            <a:grpSpLocks/>
          </p:cNvGrpSpPr>
          <p:nvPr/>
        </p:nvGrpSpPr>
        <p:grpSpPr bwMode="auto">
          <a:xfrm>
            <a:off x="7781034" y="3097213"/>
            <a:ext cx="2136775" cy="1466850"/>
            <a:chOff x="4263" y="1385"/>
            <a:chExt cx="1346" cy="924"/>
          </a:xfrm>
        </p:grpSpPr>
        <p:grpSp>
          <p:nvGrpSpPr>
            <p:cNvPr id="1110088" name="Group 72"/>
            <p:cNvGrpSpPr>
              <a:grpSpLocks/>
            </p:cNvGrpSpPr>
            <p:nvPr/>
          </p:nvGrpSpPr>
          <p:grpSpPr bwMode="auto">
            <a:xfrm>
              <a:off x="4265" y="2049"/>
              <a:ext cx="1342" cy="260"/>
              <a:chOff x="3628" y="1745"/>
              <a:chExt cx="1342" cy="260"/>
            </a:xfrm>
          </p:grpSpPr>
          <p:sp>
            <p:nvSpPr>
              <p:cNvPr id="1110089" name="Rectangle 73"/>
              <p:cNvSpPr>
                <a:spLocks noChangeArrowheads="1"/>
              </p:cNvSpPr>
              <p:nvPr/>
            </p:nvSpPr>
            <p:spPr bwMode="auto">
              <a:xfrm>
                <a:off x="3628" y="1749"/>
                <a:ext cx="1342" cy="2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r>
                  <a:rPr lang="zh-CN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3    </a:t>
                </a:r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A    B    C     0</a:t>
                </a:r>
              </a:p>
            </p:txBody>
          </p:sp>
          <p:sp>
            <p:nvSpPr>
              <p:cNvPr id="1110090" name="Line 74"/>
              <p:cNvSpPr>
                <a:spLocks noChangeShapeType="1"/>
              </p:cNvSpPr>
              <p:nvPr/>
            </p:nvSpPr>
            <p:spPr bwMode="auto">
              <a:xfrm flipH="1">
                <a:off x="3867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0091" name="Line 75"/>
              <p:cNvSpPr>
                <a:spLocks noChangeShapeType="1"/>
              </p:cNvSpPr>
              <p:nvPr/>
            </p:nvSpPr>
            <p:spPr bwMode="auto">
              <a:xfrm>
                <a:off x="4101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0092" name="Line 76"/>
              <p:cNvSpPr>
                <a:spLocks noChangeShapeType="1"/>
              </p:cNvSpPr>
              <p:nvPr/>
            </p:nvSpPr>
            <p:spPr bwMode="auto">
              <a:xfrm>
                <a:off x="4356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0093" name="Line 77"/>
              <p:cNvSpPr>
                <a:spLocks noChangeShapeType="1"/>
              </p:cNvSpPr>
              <p:nvPr/>
            </p:nvSpPr>
            <p:spPr bwMode="auto">
              <a:xfrm>
                <a:off x="4634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110094" name="Group 78"/>
            <p:cNvGrpSpPr>
              <a:grpSpLocks/>
            </p:cNvGrpSpPr>
            <p:nvPr/>
          </p:nvGrpSpPr>
          <p:grpSpPr bwMode="auto">
            <a:xfrm>
              <a:off x="4266" y="1793"/>
              <a:ext cx="1342" cy="260"/>
              <a:chOff x="3628" y="1745"/>
              <a:chExt cx="1342" cy="260"/>
            </a:xfrm>
          </p:grpSpPr>
          <p:sp>
            <p:nvSpPr>
              <p:cNvPr id="1110095" name="Rectangle 79"/>
              <p:cNvSpPr>
                <a:spLocks noChangeArrowheads="1"/>
              </p:cNvSpPr>
              <p:nvPr/>
            </p:nvSpPr>
            <p:spPr bwMode="auto">
              <a:xfrm>
                <a:off x="3628" y="1749"/>
                <a:ext cx="1342" cy="2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r>
                  <a:rPr lang="zh-CN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2    </a:t>
                </a:r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A    C    B     6</a:t>
                </a:r>
              </a:p>
            </p:txBody>
          </p:sp>
          <p:sp>
            <p:nvSpPr>
              <p:cNvPr id="1110096" name="Line 80"/>
              <p:cNvSpPr>
                <a:spLocks noChangeShapeType="1"/>
              </p:cNvSpPr>
              <p:nvPr/>
            </p:nvSpPr>
            <p:spPr bwMode="auto">
              <a:xfrm flipH="1">
                <a:off x="3867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0097" name="Line 81"/>
              <p:cNvSpPr>
                <a:spLocks noChangeShapeType="1"/>
              </p:cNvSpPr>
              <p:nvPr/>
            </p:nvSpPr>
            <p:spPr bwMode="auto">
              <a:xfrm>
                <a:off x="4101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0098" name="Line 82"/>
              <p:cNvSpPr>
                <a:spLocks noChangeShapeType="1"/>
              </p:cNvSpPr>
              <p:nvPr/>
            </p:nvSpPr>
            <p:spPr bwMode="auto">
              <a:xfrm>
                <a:off x="4356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0099" name="Line 83"/>
              <p:cNvSpPr>
                <a:spLocks noChangeShapeType="1"/>
              </p:cNvSpPr>
              <p:nvPr/>
            </p:nvSpPr>
            <p:spPr bwMode="auto">
              <a:xfrm>
                <a:off x="4634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110100" name="Group 84"/>
            <p:cNvGrpSpPr>
              <a:grpSpLocks/>
            </p:cNvGrpSpPr>
            <p:nvPr/>
          </p:nvGrpSpPr>
          <p:grpSpPr bwMode="auto">
            <a:xfrm>
              <a:off x="4263" y="1385"/>
              <a:ext cx="1346" cy="416"/>
              <a:chOff x="4178" y="622"/>
              <a:chExt cx="1346" cy="416"/>
            </a:xfrm>
          </p:grpSpPr>
          <p:grpSp>
            <p:nvGrpSpPr>
              <p:cNvPr id="1110101" name="Group 85"/>
              <p:cNvGrpSpPr>
                <a:grpSpLocks/>
              </p:cNvGrpSpPr>
              <p:nvPr/>
            </p:nvGrpSpPr>
            <p:grpSpPr bwMode="auto">
              <a:xfrm>
                <a:off x="4182" y="778"/>
                <a:ext cx="1342" cy="260"/>
                <a:chOff x="3636" y="1745"/>
                <a:chExt cx="1342" cy="260"/>
              </a:xfrm>
            </p:grpSpPr>
            <p:sp>
              <p:nvSpPr>
                <p:cNvPr id="1110102" name="Rectangle 86"/>
                <p:cNvSpPr>
                  <a:spLocks noChangeArrowheads="1"/>
                </p:cNvSpPr>
                <p:nvPr/>
              </p:nvSpPr>
              <p:spPr bwMode="auto">
                <a:xfrm>
                  <a:off x="3636" y="1749"/>
                  <a:ext cx="134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r>
                    <a:rPr lang="zh-CN" altLang="zh-CN" sz="2000" b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</a:rPr>
                    <a:t>1    </a:t>
                  </a:r>
                  <a:r>
                    <a:rPr lang="en-US" altLang="zh-CN" sz="2000" b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</a:rPr>
                    <a:t>A    B    C    6</a:t>
                  </a:r>
                </a:p>
              </p:txBody>
            </p:sp>
            <p:sp>
              <p:nvSpPr>
                <p:cNvPr id="1110103" name="Line 87"/>
                <p:cNvSpPr>
                  <a:spLocks noChangeShapeType="1"/>
                </p:cNvSpPr>
                <p:nvPr/>
              </p:nvSpPr>
              <p:spPr bwMode="auto">
                <a:xfrm flipH="1">
                  <a:off x="3867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0104" name="Line 88"/>
                <p:cNvSpPr>
                  <a:spLocks noChangeShapeType="1"/>
                </p:cNvSpPr>
                <p:nvPr/>
              </p:nvSpPr>
              <p:spPr bwMode="auto">
                <a:xfrm>
                  <a:off x="4101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0105" name="Line 89"/>
                <p:cNvSpPr>
                  <a:spLocks noChangeShapeType="1"/>
                </p:cNvSpPr>
                <p:nvPr/>
              </p:nvSpPr>
              <p:spPr bwMode="auto">
                <a:xfrm>
                  <a:off x="4356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0106" name="Line 90"/>
                <p:cNvSpPr>
                  <a:spLocks noChangeShapeType="1"/>
                </p:cNvSpPr>
                <p:nvPr/>
              </p:nvSpPr>
              <p:spPr bwMode="auto">
                <a:xfrm>
                  <a:off x="4634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1110107" name="Line 91"/>
              <p:cNvSpPr>
                <a:spLocks noChangeShapeType="1"/>
              </p:cNvSpPr>
              <p:nvPr/>
            </p:nvSpPr>
            <p:spPr bwMode="auto">
              <a:xfrm flipV="1">
                <a:off x="4178" y="622"/>
                <a:ext cx="0" cy="17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0108" name="Line 92"/>
              <p:cNvSpPr>
                <a:spLocks noChangeShapeType="1"/>
              </p:cNvSpPr>
              <p:nvPr/>
            </p:nvSpPr>
            <p:spPr bwMode="auto">
              <a:xfrm flipV="1">
                <a:off x="5512" y="636"/>
                <a:ext cx="0" cy="1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1110109" name="Group 93"/>
          <p:cNvGrpSpPr>
            <a:grpSpLocks/>
          </p:cNvGrpSpPr>
          <p:nvPr/>
        </p:nvGrpSpPr>
        <p:grpSpPr bwMode="auto">
          <a:xfrm>
            <a:off x="7368281" y="4578350"/>
            <a:ext cx="3078162" cy="1150938"/>
            <a:chOff x="720" y="1440"/>
            <a:chExt cx="3984" cy="1545"/>
          </a:xfrm>
        </p:grpSpPr>
        <p:grpSp>
          <p:nvGrpSpPr>
            <p:cNvPr id="1110110" name="Group 94"/>
            <p:cNvGrpSpPr>
              <a:grpSpLocks/>
            </p:cNvGrpSpPr>
            <p:nvPr/>
          </p:nvGrpSpPr>
          <p:grpSpPr bwMode="auto">
            <a:xfrm>
              <a:off x="720" y="1440"/>
              <a:ext cx="1248" cy="1545"/>
              <a:chOff x="720" y="0"/>
              <a:chExt cx="1248" cy="1545"/>
            </a:xfrm>
          </p:grpSpPr>
          <p:grpSp>
            <p:nvGrpSpPr>
              <p:cNvPr id="1110111" name="Group 95"/>
              <p:cNvGrpSpPr>
                <a:grpSpLocks/>
              </p:cNvGrpSpPr>
              <p:nvPr/>
            </p:nvGrpSpPr>
            <p:grpSpPr bwMode="auto">
              <a:xfrm>
                <a:off x="720" y="0"/>
                <a:ext cx="1248" cy="1104"/>
                <a:chOff x="720" y="0"/>
                <a:chExt cx="1248" cy="1104"/>
              </a:xfrm>
            </p:grpSpPr>
            <p:sp>
              <p:nvSpPr>
                <p:cNvPr id="1110112" name="Line 96"/>
                <p:cNvSpPr>
                  <a:spLocks noChangeShapeType="1"/>
                </p:cNvSpPr>
                <p:nvPr/>
              </p:nvSpPr>
              <p:spPr bwMode="auto">
                <a:xfrm>
                  <a:off x="720" y="1104"/>
                  <a:ext cx="12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10113" name="Line 97"/>
                <p:cNvSpPr>
                  <a:spLocks noChangeShapeType="1"/>
                </p:cNvSpPr>
                <p:nvPr/>
              </p:nvSpPr>
              <p:spPr bwMode="auto">
                <a:xfrm>
                  <a:off x="1296" y="0"/>
                  <a:ext cx="0" cy="110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110114" name="Text Box 98"/>
              <p:cNvSpPr txBox="1">
                <a:spLocks noChangeArrowheads="1"/>
              </p:cNvSpPr>
              <p:nvPr/>
            </p:nvSpPr>
            <p:spPr bwMode="auto">
              <a:xfrm>
                <a:off x="1075" y="1012"/>
                <a:ext cx="477" cy="5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lang="en-US" altLang="zh-CN" sz="2000" b="1" dirty="0">
                    <a:solidFill>
                      <a:srgbClr val="CC0000"/>
                    </a:solidFill>
                  </a:rPr>
                  <a:t>A</a:t>
                </a:r>
              </a:p>
            </p:txBody>
          </p:sp>
        </p:grpSp>
        <p:grpSp>
          <p:nvGrpSpPr>
            <p:cNvPr id="1110115" name="Group 99"/>
            <p:cNvGrpSpPr>
              <a:grpSpLocks/>
            </p:cNvGrpSpPr>
            <p:nvPr/>
          </p:nvGrpSpPr>
          <p:grpSpPr bwMode="auto">
            <a:xfrm>
              <a:off x="2112" y="1440"/>
              <a:ext cx="1248" cy="1545"/>
              <a:chOff x="2112" y="0"/>
              <a:chExt cx="1248" cy="1545"/>
            </a:xfrm>
          </p:grpSpPr>
          <p:grpSp>
            <p:nvGrpSpPr>
              <p:cNvPr id="1110116" name="Group 100"/>
              <p:cNvGrpSpPr>
                <a:grpSpLocks/>
              </p:cNvGrpSpPr>
              <p:nvPr/>
            </p:nvGrpSpPr>
            <p:grpSpPr bwMode="auto">
              <a:xfrm>
                <a:off x="2112" y="0"/>
                <a:ext cx="1248" cy="1104"/>
                <a:chOff x="720" y="0"/>
                <a:chExt cx="1248" cy="1104"/>
              </a:xfrm>
            </p:grpSpPr>
            <p:sp>
              <p:nvSpPr>
                <p:cNvPr id="1110117" name="Line 101"/>
                <p:cNvSpPr>
                  <a:spLocks noChangeShapeType="1"/>
                </p:cNvSpPr>
                <p:nvPr/>
              </p:nvSpPr>
              <p:spPr bwMode="auto">
                <a:xfrm>
                  <a:off x="720" y="1104"/>
                  <a:ext cx="12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10118" name="Line 102"/>
                <p:cNvSpPr>
                  <a:spLocks noChangeShapeType="1"/>
                </p:cNvSpPr>
                <p:nvPr/>
              </p:nvSpPr>
              <p:spPr bwMode="auto">
                <a:xfrm>
                  <a:off x="1296" y="0"/>
                  <a:ext cx="0" cy="110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110119" name="Text Box 103"/>
              <p:cNvSpPr txBox="1">
                <a:spLocks noChangeArrowheads="1"/>
              </p:cNvSpPr>
              <p:nvPr/>
            </p:nvSpPr>
            <p:spPr bwMode="auto">
              <a:xfrm>
                <a:off x="2479" y="1012"/>
                <a:ext cx="458" cy="5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lang="en-US" altLang="zh-CN" sz="2000" b="1">
                    <a:solidFill>
                      <a:srgbClr val="CC0000"/>
                    </a:solidFill>
                  </a:rPr>
                  <a:t>B</a:t>
                </a:r>
              </a:p>
            </p:txBody>
          </p:sp>
        </p:grpSp>
        <p:grpSp>
          <p:nvGrpSpPr>
            <p:cNvPr id="1110120" name="Group 104"/>
            <p:cNvGrpSpPr>
              <a:grpSpLocks/>
            </p:cNvGrpSpPr>
            <p:nvPr/>
          </p:nvGrpSpPr>
          <p:grpSpPr bwMode="auto">
            <a:xfrm>
              <a:off x="3456" y="1440"/>
              <a:ext cx="1248" cy="1545"/>
              <a:chOff x="3456" y="0"/>
              <a:chExt cx="1248" cy="1545"/>
            </a:xfrm>
          </p:grpSpPr>
          <p:grpSp>
            <p:nvGrpSpPr>
              <p:cNvPr id="1110121" name="Group 105"/>
              <p:cNvGrpSpPr>
                <a:grpSpLocks/>
              </p:cNvGrpSpPr>
              <p:nvPr/>
            </p:nvGrpSpPr>
            <p:grpSpPr bwMode="auto">
              <a:xfrm>
                <a:off x="3456" y="0"/>
                <a:ext cx="1248" cy="1104"/>
                <a:chOff x="720" y="0"/>
                <a:chExt cx="1248" cy="1104"/>
              </a:xfrm>
            </p:grpSpPr>
            <p:sp>
              <p:nvSpPr>
                <p:cNvPr id="1110122" name="Line 106"/>
                <p:cNvSpPr>
                  <a:spLocks noChangeShapeType="1"/>
                </p:cNvSpPr>
                <p:nvPr/>
              </p:nvSpPr>
              <p:spPr bwMode="auto">
                <a:xfrm>
                  <a:off x="720" y="1104"/>
                  <a:ext cx="12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10123" name="Line 107"/>
                <p:cNvSpPr>
                  <a:spLocks noChangeShapeType="1"/>
                </p:cNvSpPr>
                <p:nvPr/>
              </p:nvSpPr>
              <p:spPr bwMode="auto">
                <a:xfrm>
                  <a:off x="1296" y="0"/>
                  <a:ext cx="0" cy="110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110124" name="Text Box 108"/>
              <p:cNvSpPr txBox="1">
                <a:spLocks noChangeArrowheads="1"/>
              </p:cNvSpPr>
              <p:nvPr/>
            </p:nvSpPr>
            <p:spPr bwMode="auto">
              <a:xfrm>
                <a:off x="3810" y="1012"/>
                <a:ext cx="477" cy="5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lang="en-US" altLang="zh-CN" sz="2000" b="1">
                    <a:solidFill>
                      <a:srgbClr val="CC0000"/>
                    </a:solidFill>
                  </a:rPr>
                  <a:t>C</a:t>
                </a:r>
              </a:p>
            </p:txBody>
          </p:sp>
        </p:grpSp>
        <p:sp>
          <p:nvSpPr>
            <p:cNvPr id="1110125" name="Rectangle 109"/>
            <p:cNvSpPr>
              <a:spLocks noChangeArrowheads="1"/>
            </p:cNvSpPr>
            <p:nvPr/>
          </p:nvSpPr>
          <p:spPr bwMode="auto">
            <a:xfrm>
              <a:off x="912" y="2400"/>
              <a:ext cx="768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0126" name="Rectangle 110"/>
            <p:cNvSpPr>
              <a:spLocks noChangeArrowheads="1"/>
            </p:cNvSpPr>
            <p:nvPr/>
          </p:nvSpPr>
          <p:spPr bwMode="auto">
            <a:xfrm>
              <a:off x="1056" y="2256"/>
              <a:ext cx="480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0127" name="Rectangle 111"/>
            <p:cNvSpPr>
              <a:spLocks noChangeArrowheads="1"/>
            </p:cNvSpPr>
            <p:nvPr/>
          </p:nvSpPr>
          <p:spPr bwMode="auto">
            <a:xfrm>
              <a:off x="3888" y="2400"/>
              <a:ext cx="288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10128" name="Group 112"/>
          <p:cNvGrpSpPr>
            <a:grpSpLocks/>
          </p:cNvGrpSpPr>
          <p:nvPr/>
        </p:nvGrpSpPr>
        <p:grpSpPr bwMode="auto">
          <a:xfrm>
            <a:off x="7773094" y="5543550"/>
            <a:ext cx="2132013" cy="1066800"/>
            <a:chOff x="4236" y="608"/>
            <a:chExt cx="1343" cy="672"/>
          </a:xfrm>
        </p:grpSpPr>
        <p:grpSp>
          <p:nvGrpSpPr>
            <p:cNvPr id="1110129" name="Group 113"/>
            <p:cNvGrpSpPr>
              <a:grpSpLocks/>
            </p:cNvGrpSpPr>
            <p:nvPr/>
          </p:nvGrpSpPr>
          <p:grpSpPr bwMode="auto">
            <a:xfrm>
              <a:off x="4236" y="1020"/>
              <a:ext cx="1342" cy="260"/>
              <a:chOff x="3628" y="1745"/>
              <a:chExt cx="1342" cy="260"/>
            </a:xfrm>
          </p:grpSpPr>
          <p:sp>
            <p:nvSpPr>
              <p:cNvPr id="1110130" name="Rectangle 114"/>
              <p:cNvSpPr>
                <a:spLocks noChangeArrowheads="1"/>
              </p:cNvSpPr>
              <p:nvPr/>
            </p:nvSpPr>
            <p:spPr bwMode="auto">
              <a:xfrm>
                <a:off x="3628" y="1749"/>
                <a:ext cx="1342" cy="2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r>
                  <a:rPr lang="zh-CN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3    </a:t>
                </a:r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A    B    C     0</a:t>
                </a:r>
              </a:p>
            </p:txBody>
          </p:sp>
          <p:sp>
            <p:nvSpPr>
              <p:cNvPr id="1110131" name="Line 115"/>
              <p:cNvSpPr>
                <a:spLocks noChangeShapeType="1"/>
              </p:cNvSpPr>
              <p:nvPr/>
            </p:nvSpPr>
            <p:spPr bwMode="auto">
              <a:xfrm flipH="1">
                <a:off x="3867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0132" name="Line 116"/>
              <p:cNvSpPr>
                <a:spLocks noChangeShapeType="1"/>
              </p:cNvSpPr>
              <p:nvPr/>
            </p:nvSpPr>
            <p:spPr bwMode="auto">
              <a:xfrm>
                <a:off x="4101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0133" name="Line 117"/>
              <p:cNvSpPr>
                <a:spLocks noChangeShapeType="1"/>
              </p:cNvSpPr>
              <p:nvPr/>
            </p:nvSpPr>
            <p:spPr bwMode="auto">
              <a:xfrm>
                <a:off x="4356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0134" name="Line 118"/>
              <p:cNvSpPr>
                <a:spLocks noChangeShapeType="1"/>
              </p:cNvSpPr>
              <p:nvPr/>
            </p:nvSpPr>
            <p:spPr bwMode="auto">
              <a:xfrm>
                <a:off x="4634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110135" name="Group 119"/>
            <p:cNvGrpSpPr>
              <a:grpSpLocks/>
            </p:cNvGrpSpPr>
            <p:nvPr/>
          </p:nvGrpSpPr>
          <p:grpSpPr bwMode="auto">
            <a:xfrm>
              <a:off x="4237" y="608"/>
              <a:ext cx="1342" cy="416"/>
              <a:chOff x="4174" y="622"/>
              <a:chExt cx="1342" cy="416"/>
            </a:xfrm>
          </p:grpSpPr>
          <p:grpSp>
            <p:nvGrpSpPr>
              <p:cNvPr id="1110136" name="Group 120"/>
              <p:cNvGrpSpPr>
                <a:grpSpLocks/>
              </p:cNvGrpSpPr>
              <p:nvPr/>
            </p:nvGrpSpPr>
            <p:grpSpPr bwMode="auto">
              <a:xfrm>
                <a:off x="4174" y="778"/>
                <a:ext cx="1342" cy="260"/>
                <a:chOff x="3628" y="1745"/>
                <a:chExt cx="1342" cy="260"/>
              </a:xfrm>
            </p:grpSpPr>
            <p:sp>
              <p:nvSpPr>
                <p:cNvPr id="1110137" name="Rectangle 121"/>
                <p:cNvSpPr>
                  <a:spLocks noChangeArrowheads="1"/>
                </p:cNvSpPr>
                <p:nvPr/>
              </p:nvSpPr>
              <p:spPr bwMode="auto">
                <a:xfrm>
                  <a:off x="3628" y="1749"/>
                  <a:ext cx="134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r>
                    <a:rPr lang="zh-CN" altLang="zh-CN" sz="2000" b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</a:rPr>
                    <a:t>2    </a:t>
                  </a:r>
                  <a:r>
                    <a:rPr lang="en-US" altLang="zh-CN" sz="2000" b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</a:rPr>
                    <a:t>A    C    B     6</a:t>
                  </a:r>
                </a:p>
              </p:txBody>
            </p:sp>
            <p:sp>
              <p:nvSpPr>
                <p:cNvPr id="1110138" name="Line 122"/>
                <p:cNvSpPr>
                  <a:spLocks noChangeShapeType="1"/>
                </p:cNvSpPr>
                <p:nvPr/>
              </p:nvSpPr>
              <p:spPr bwMode="auto">
                <a:xfrm flipH="1">
                  <a:off x="3867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0139" name="Line 123"/>
                <p:cNvSpPr>
                  <a:spLocks noChangeShapeType="1"/>
                </p:cNvSpPr>
                <p:nvPr/>
              </p:nvSpPr>
              <p:spPr bwMode="auto">
                <a:xfrm>
                  <a:off x="4101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0140" name="Line 124"/>
                <p:cNvSpPr>
                  <a:spLocks noChangeShapeType="1"/>
                </p:cNvSpPr>
                <p:nvPr/>
              </p:nvSpPr>
              <p:spPr bwMode="auto">
                <a:xfrm>
                  <a:off x="4356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0141" name="Line 125"/>
                <p:cNvSpPr>
                  <a:spLocks noChangeShapeType="1"/>
                </p:cNvSpPr>
                <p:nvPr/>
              </p:nvSpPr>
              <p:spPr bwMode="auto">
                <a:xfrm>
                  <a:off x="4634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1110142" name="Line 126"/>
              <p:cNvSpPr>
                <a:spLocks noChangeShapeType="1"/>
              </p:cNvSpPr>
              <p:nvPr/>
            </p:nvSpPr>
            <p:spPr bwMode="auto">
              <a:xfrm flipV="1">
                <a:off x="4178" y="622"/>
                <a:ext cx="0" cy="17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0143" name="Line 127"/>
              <p:cNvSpPr>
                <a:spLocks noChangeShapeType="1"/>
              </p:cNvSpPr>
              <p:nvPr/>
            </p:nvSpPr>
            <p:spPr bwMode="auto">
              <a:xfrm flipV="1">
                <a:off x="5512" y="644"/>
                <a:ext cx="0" cy="1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0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0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0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0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0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0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0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0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0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0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0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0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11100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11100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0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0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0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0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0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0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0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0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0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0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1" dur="500"/>
                                        <p:tgtEl>
                                          <p:spTgt spid="11100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0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0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0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0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0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0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0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0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0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0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6" dur="500"/>
                                        <p:tgtEl>
                                          <p:spTgt spid="11100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0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0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0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0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0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0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0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0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7" dur="500"/>
                                        <p:tgtEl>
                                          <p:spTgt spid="11101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2" dur="500"/>
                                        <p:tgtEl>
                                          <p:spTgt spid="11101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0018" grpId="0" animBg="1"/>
      <p:bldP spid="1110019" grpId="0" animBg="1"/>
      <p:bldP spid="1110020" grpId="0" animBg="1"/>
      <p:bldP spid="1110021" grpId="0" animBg="1"/>
      <p:bldP spid="1110022" grpId="0" animBg="1"/>
      <p:bldP spid="1110023" grpId="0" animBg="1"/>
      <p:bldP spid="1110024" grpId="0" animBg="1"/>
      <p:bldP spid="1110025" grpId="0" animBg="1"/>
      <p:bldP spid="1110026" grpId="0" animBg="1"/>
      <p:bldP spid="1110027" grpId="0" animBg="1"/>
      <p:bldP spid="1110028" grpId="0" animBg="1"/>
      <p:bldP spid="1110029" grpId="0" animBg="1"/>
      <p:bldP spid="1110030" grpId="0" animBg="1"/>
      <p:bldP spid="1110031" grpId="0" animBg="1"/>
      <p:bldP spid="1110032" grpId="0" animBg="1"/>
      <p:bldP spid="1110033" grpId="0" animBg="1"/>
      <p:bldP spid="1110034" grpId="0" animBg="1"/>
      <p:bldP spid="1110035" grpId="0" animBg="1"/>
      <p:bldP spid="1110036" grpId="0" animBg="1"/>
      <p:bldP spid="1110037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042" name="Rectangle 2"/>
          <p:cNvSpPr>
            <a:spLocks noChangeArrowheads="1"/>
          </p:cNvSpPr>
          <p:nvPr/>
        </p:nvSpPr>
        <p:spPr bwMode="auto">
          <a:xfrm>
            <a:off x="911424" y="3230391"/>
            <a:ext cx="4725988" cy="334963"/>
          </a:xfrm>
          <a:prstGeom prst="rect">
            <a:avLst/>
          </a:prstGeom>
          <a:solidFill>
            <a:srgbClr val="BEDFC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1043" name="Rectangle 3"/>
          <p:cNvSpPr>
            <a:spLocks noChangeArrowheads="1"/>
          </p:cNvSpPr>
          <p:nvPr/>
        </p:nvSpPr>
        <p:spPr bwMode="auto">
          <a:xfrm>
            <a:off x="911424" y="3619328"/>
            <a:ext cx="4725988" cy="334962"/>
          </a:xfrm>
          <a:prstGeom prst="rect">
            <a:avLst/>
          </a:prstGeom>
          <a:solidFill>
            <a:srgbClr val="BEDFC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1044" name="Rectangle 4"/>
          <p:cNvSpPr>
            <a:spLocks noChangeArrowheads="1"/>
          </p:cNvSpPr>
          <p:nvPr/>
        </p:nvSpPr>
        <p:spPr bwMode="auto">
          <a:xfrm>
            <a:off x="911424" y="3971753"/>
            <a:ext cx="4725988" cy="334962"/>
          </a:xfrm>
          <a:prstGeom prst="rect">
            <a:avLst/>
          </a:prstGeom>
          <a:solidFill>
            <a:srgbClr val="BEDFC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1045" name="Rectangle 5"/>
          <p:cNvSpPr>
            <a:spLocks noChangeArrowheads="1"/>
          </p:cNvSpPr>
          <p:nvPr/>
        </p:nvSpPr>
        <p:spPr bwMode="auto">
          <a:xfrm>
            <a:off x="911424" y="4305128"/>
            <a:ext cx="4725988" cy="334962"/>
          </a:xfrm>
          <a:prstGeom prst="rect">
            <a:avLst/>
          </a:prstGeom>
          <a:solidFill>
            <a:srgbClr val="BEDFC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1046" name="Rectangle 6"/>
          <p:cNvSpPr>
            <a:spLocks noChangeArrowheads="1"/>
          </p:cNvSpPr>
          <p:nvPr/>
        </p:nvSpPr>
        <p:spPr bwMode="auto">
          <a:xfrm>
            <a:off x="911424" y="5417966"/>
            <a:ext cx="4725988" cy="334963"/>
          </a:xfrm>
          <a:prstGeom prst="rect">
            <a:avLst/>
          </a:prstGeom>
          <a:solidFill>
            <a:srgbClr val="BEDFC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1047" name="Rectangle 7"/>
          <p:cNvSpPr>
            <a:spLocks noChangeArrowheads="1"/>
          </p:cNvSpPr>
          <p:nvPr/>
        </p:nvSpPr>
        <p:spPr bwMode="auto">
          <a:xfrm>
            <a:off x="937964" y="5417966"/>
            <a:ext cx="4725988" cy="334963"/>
          </a:xfrm>
          <a:prstGeom prst="rect">
            <a:avLst/>
          </a:prstGeom>
          <a:solidFill>
            <a:srgbClr val="BEDFC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1048" name="Rectangle 8"/>
          <p:cNvSpPr>
            <a:spLocks noChangeArrowheads="1"/>
          </p:cNvSpPr>
          <p:nvPr/>
        </p:nvSpPr>
        <p:spPr bwMode="auto">
          <a:xfrm>
            <a:off x="911424" y="5803728"/>
            <a:ext cx="4725988" cy="334962"/>
          </a:xfrm>
          <a:prstGeom prst="rect">
            <a:avLst/>
          </a:prstGeom>
          <a:solidFill>
            <a:srgbClr val="BEDFC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1049" name="Rectangle 9"/>
          <p:cNvSpPr>
            <a:spLocks noChangeArrowheads="1"/>
          </p:cNvSpPr>
          <p:nvPr/>
        </p:nvSpPr>
        <p:spPr bwMode="auto">
          <a:xfrm>
            <a:off x="911424" y="6175203"/>
            <a:ext cx="4725988" cy="334962"/>
          </a:xfrm>
          <a:prstGeom prst="rect">
            <a:avLst/>
          </a:prstGeom>
          <a:solidFill>
            <a:srgbClr val="BEDFC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1050" name="Rectangle 10"/>
          <p:cNvSpPr>
            <a:spLocks noChangeArrowheads="1"/>
          </p:cNvSpPr>
          <p:nvPr/>
        </p:nvSpPr>
        <p:spPr bwMode="auto">
          <a:xfrm>
            <a:off x="911424" y="6537153"/>
            <a:ext cx="4725988" cy="334962"/>
          </a:xfrm>
          <a:prstGeom prst="rect">
            <a:avLst/>
          </a:prstGeom>
          <a:solidFill>
            <a:srgbClr val="BEDFC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1051" name="Text Box 11"/>
          <p:cNvSpPr txBox="1">
            <a:spLocks noChangeArrowheads="1"/>
          </p:cNvSpPr>
          <p:nvPr/>
        </p:nvSpPr>
        <p:spPr bwMode="auto">
          <a:xfrm>
            <a:off x="797042" y="614191"/>
            <a:ext cx="4794902" cy="637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altLang="zh-CN" dirty="0">
                <a:solidFill>
                  <a:srgbClr val="002060"/>
                </a:solidFill>
              </a:rPr>
              <a:t> void main ( )</a:t>
            </a:r>
          </a:p>
          <a:p>
            <a:pPr eaLnBrk="0" hangingPunct="0"/>
            <a:r>
              <a:rPr lang="en-US" altLang="zh-CN" dirty="0"/>
              <a:t>   {   </a:t>
            </a:r>
            <a:r>
              <a:rPr lang="en-US" altLang="zh-CN" dirty="0" err="1"/>
              <a:t>int</a:t>
            </a:r>
            <a:r>
              <a:rPr lang="en-US" altLang="zh-CN" dirty="0"/>
              <a:t> m;</a:t>
            </a:r>
          </a:p>
          <a:p>
            <a:pPr eaLnBrk="0" hangingPunct="0"/>
            <a:r>
              <a:rPr lang="en-US" altLang="zh-CN" dirty="0"/>
              <a:t>       </a:t>
            </a:r>
            <a:r>
              <a:rPr lang="en-US" altLang="zh-CN" dirty="0" err="1"/>
              <a:t>printf</a:t>
            </a:r>
            <a:r>
              <a:rPr lang="en-US" altLang="zh-CN" dirty="0"/>
              <a:t>("Input the number of disks</a:t>
            </a:r>
          </a:p>
          <a:p>
            <a:pPr eaLnBrk="0" hangingPunct="0"/>
            <a:r>
              <a:rPr lang="en-US" altLang="zh-CN" dirty="0"/>
              <a:t>       </a:t>
            </a:r>
            <a:r>
              <a:rPr lang="en-US" altLang="zh-CN" dirty="0" err="1"/>
              <a:t>scanf</a:t>
            </a:r>
            <a:r>
              <a:rPr lang="en-US" altLang="zh-CN" dirty="0"/>
              <a:t>("%</a:t>
            </a:r>
            <a:r>
              <a:rPr lang="en-US" altLang="zh-CN" dirty="0" err="1"/>
              <a:t>d",&amp;m</a:t>
            </a:r>
            <a:r>
              <a:rPr lang="en-US" altLang="zh-CN" dirty="0"/>
              <a:t>);</a:t>
            </a:r>
          </a:p>
          <a:p>
            <a:pPr eaLnBrk="0" hangingPunct="0"/>
            <a:r>
              <a:rPr lang="en-US" altLang="zh-CN" dirty="0"/>
              <a:t>       </a:t>
            </a:r>
            <a:r>
              <a:rPr lang="en-US" altLang="zh-CN" dirty="0" err="1"/>
              <a:t>printf</a:t>
            </a:r>
            <a:r>
              <a:rPr lang="en-US" altLang="zh-CN" dirty="0"/>
              <a:t>("The steps to moving %3d</a:t>
            </a:r>
          </a:p>
          <a:p>
            <a:pPr eaLnBrk="0" hangingPunct="0"/>
            <a:r>
              <a:rPr lang="en-US" altLang="zh-CN" dirty="0"/>
              <a:t>       </a:t>
            </a:r>
            <a:r>
              <a:rPr lang="en-US" altLang="zh-CN" dirty="0" err="1"/>
              <a:t>hanoi</a:t>
            </a:r>
            <a:r>
              <a:rPr lang="en-US" altLang="zh-CN" dirty="0"/>
              <a:t>(</a:t>
            </a:r>
            <a:r>
              <a:rPr lang="en-US" altLang="zh-CN" dirty="0" err="1"/>
              <a:t>m,'A','B','C</a:t>
            </a:r>
            <a:r>
              <a:rPr lang="en-US" altLang="zh-CN" dirty="0"/>
              <a:t>');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</a:rPr>
              <a:t>(0)</a:t>
            </a:r>
            <a:r>
              <a:rPr lang="en-US" altLang="zh-CN" dirty="0"/>
              <a:t> }</a:t>
            </a:r>
          </a:p>
          <a:p>
            <a:pPr eaLnBrk="0" hangingPunct="0"/>
            <a:r>
              <a:rPr lang="en-US" altLang="zh-CN" dirty="0">
                <a:solidFill>
                  <a:srgbClr val="002060"/>
                </a:solidFill>
              </a:rPr>
              <a:t>void </a:t>
            </a:r>
            <a:r>
              <a:rPr lang="en-US" altLang="zh-CN" dirty="0" err="1">
                <a:solidFill>
                  <a:srgbClr val="002060"/>
                </a:solidFill>
              </a:rPr>
              <a:t>hanoi</a:t>
            </a:r>
            <a:r>
              <a:rPr lang="en-US" altLang="zh-CN" dirty="0">
                <a:solidFill>
                  <a:srgbClr val="002060"/>
                </a:solidFill>
              </a:rPr>
              <a:t>(</a:t>
            </a:r>
            <a:r>
              <a:rPr lang="en-US" altLang="zh-CN" dirty="0" err="1">
                <a:solidFill>
                  <a:srgbClr val="002060"/>
                </a:solidFill>
              </a:rPr>
              <a:t>int</a:t>
            </a:r>
            <a:r>
              <a:rPr lang="en-US" altLang="zh-CN" dirty="0">
                <a:solidFill>
                  <a:srgbClr val="002060"/>
                </a:solidFill>
              </a:rPr>
              <a:t> </a:t>
            </a:r>
            <a:r>
              <a:rPr lang="en-US" altLang="zh-CN" dirty="0" err="1">
                <a:solidFill>
                  <a:srgbClr val="002060"/>
                </a:solidFill>
              </a:rPr>
              <a:t>n,char</a:t>
            </a:r>
            <a:r>
              <a:rPr lang="en-US" altLang="zh-CN" dirty="0">
                <a:solidFill>
                  <a:srgbClr val="002060"/>
                </a:solidFill>
              </a:rPr>
              <a:t> </a:t>
            </a:r>
            <a:r>
              <a:rPr lang="en-US" altLang="zh-CN" dirty="0" err="1">
                <a:solidFill>
                  <a:srgbClr val="002060"/>
                </a:solidFill>
              </a:rPr>
              <a:t>x,char</a:t>
            </a:r>
            <a:r>
              <a:rPr lang="en-US" altLang="zh-CN" dirty="0">
                <a:solidFill>
                  <a:srgbClr val="002060"/>
                </a:solidFill>
              </a:rPr>
              <a:t> </a:t>
            </a:r>
            <a:r>
              <a:rPr lang="en-US" altLang="zh-CN" dirty="0" err="1">
                <a:solidFill>
                  <a:srgbClr val="002060"/>
                </a:solidFill>
              </a:rPr>
              <a:t>y,char</a:t>
            </a:r>
            <a:r>
              <a:rPr lang="en-US" altLang="zh-CN" dirty="0">
                <a:solidFill>
                  <a:srgbClr val="002060"/>
                </a:solidFill>
              </a:rPr>
              <a:t> z)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</a:rPr>
              <a:t>(1)</a:t>
            </a:r>
            <a:r>
              <a:rPr lang="en-US" altLang="zh-CN" dirty="0"/>
              <a:t>  {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</a:rPr>
              <a:t>(2)</a:t>
            </a:r>
            <a:r>
              <a:rPr lang="en-US" altLang="zh-CN" dirty="0"/>
              <a:t>     if(n==1)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</a:rPr>
              <a:t>(3)</a:t>
            </a:r>
            <a:r>
              <a:rPr lang="en-US" altLang="zh-CN" dirty="0"/>
              <a:t>         move(1,x,z);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</a:rPr>
              <a:t>(4)</a:t>
            </a:r>
            <a:r>
              <a:rPr lang="en-US" altLang="zh-CN" dirty="0"/>
              <a:t>     else{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</a:rPr>
              <a:t>(5)</a:t>
            </a:r>
            <a:r>
              <a:rPr lang="en-US" altLang="zh-CN" dirty="0"/>
              <a:t>            </a:t>
            </a:r>
            <a:r>
              <a:rPr lang="en-US" altLang="zh-CN" dirty="0" err="1"/>
              <a:t>hanoi</a:t>
            </a:r>
            <a:r>
              <a:rPr lang="en-US" altLang="zh-CN" dirty="0"/>
              <a:t>(n-1,x,z,y);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</a:rPr>
              <a:t>(6)</a:t>
            </a:r>
            <a:r>
              <a:rPr lang="en-US" altLang="zh-CN" dirty="0"/>
              <a:t>            move(</a:t>
            </a:r>
            <a:r>
              <a:rPr lang="en-US" altLang="zh-CN" dirty="0" err="1"/>
              <a:t>n,x,z</a:t>
            </a:r>
            <a:r>
              <a:rPr lang="en-US" altLang="zh-CN" dirty="0"/>
              <a:t>);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</a:rPr>
              <a:t>(7)</a:t>
            </a:r>
            <a:r>
              <a:rPr lang="en-US" altLang="zh-CN" dirty="0"/>
              <a:t>            </a:t>
            </a:r>
            <a:r>
              <a:rPr lang="en-US" altLang="zh-CN" dirty="0" err="1"/>
              <a:t>hanoi</a:t>
            </a:r>
            <a:r>
              <a:rPr lang="en-US" altLang="zh-CN" dirty="0"/>
              <a:t>(n-1,y,x,z);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</a:rPr>
              <a:t>(8)</a:t>
            </a:r>
            <a:r>
              <a:rPr lang="en-US" altLang="zh-CN" dirty="0"/>
              <a:t>         }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</a:rPr>
              <a:t>(9)</a:t>
            </a:r>
            <a:r>
              <a:rPr lang="en-US" altLang="zh-CN" dirty="0"/>
              <a:t>  }</a:t>
            </a:r>
          </a:p>
        </p:txBody>
      </p:sp>
      <p:grpSp>
        <p:nvGrpSpPr>
          <p:cNvPr id="1111052" name="Group 12"/>
          <p:cNvGrpSpPr>
            <a:grpSpLocks/>
          </p:cNvGrpSpPr>
          <p:nvPr/>
        </p:nvGrpSpPr>
        <p:grpSpPr bwMode="auto">
          <a:xfrm>
            <a:off x="8498459" y="456778"/>
            <a:ext cx="3108325" cy="1090612"/>
            <a:chOff x="720" y="2918"/>
            <a:chExt cx="3984" cy="1564"/>
          </a:xfrm>
        </p:grpSpPr>
        <p:grpSp>
          <p:nvGrpSpPr>
            <p:cNvPr id="1111053" name="Group 13"/>
            <p:cNvGrpSpPr>
              <a:grpSpLocks/>
            </p:cNvGrpSpPr>
            <p:nvPr/>
          </p:nvGrpSpPr>
          <p:grpSpPr bwMode="auto">
            <a:xfrm>
              <a:off x="720" y="2918"/>
              <a:ext cx="1248" cy="1564"/>
              <a:chOff x="720" y="0"/>
              <a:chExt cx="1248" cy="1564"/>
            </a:xfrm>
          </p:grpSpPr>
          <p:grpSp>
            <p:nvGrpSpPr>
              <p:cNvPr id="1111054" name="Group 14"/>
              <p:cNvGrpSpPr>
                <a:grpSpLocks/>
              </p:cNvGrpSpPr>
              <p:nvPr/>
            </p:nvGrpSpPr>
            <p:grpSpPr bwMode="auto">
              <a:xfrm>
                <a:off x="720" y="0"/>
                <a:ext cx="1248" cy="1104"/>
                <a:chOff x="720" y="0"/>
                <a:chExt cx="1248" cy="1104"/>
              </a:xfrm>
            </p:grpSpPr>
            <p:sp>
              <p:nvSpPr>
                <p:cNvPr id="1111055" name="Line 15"/>
                <p:cNvSpPr>
                  <a:spLocks noChangeShapeType="1"/>
                </p:cNvSpPr>
                <p:nvPr/>
              </p:nvSpPr>
              <p:spPr bwMode="auto">
                <a:xfrm>
                  <a:off x="720" y="1104"/>
                  <a:ext cx="12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11056" name="Line 16"/>
                <p:cNvSpPr>
                  <a:spLocks noChangeShapeType="1"/>
                </p:cNvSpPr>
                <p:nvPr/>
              </p:nvSpPr>
              <p:spPr bwMode="auto">
                <a:xfrm>
                  <a:off x="1296" y="0"/>
                  <a:ext cx="0" cy="110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111057" name="Text Box 17"/>
              <p:cNvSpPr txBox="1">
                <a:spLocks noChangeArrowheads="1"/>
              </p:cNvSpPr>
              <p:nvPr/>
            </p:nvSpPr>
            <p:spPr bwMode="auto">
              <a:xfrm>
                <a:off x="1080" y="995"/>
                <a:ext cx="472" cy="56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lang="en-US" altLang="zh-CN" sz="2000" b="1" dirty="0">
                    <a:solidFill>
                      <a:srgbClr val="CC0000"/>
                    </a:solidFill>
                  </a:rPr>
                  <a:t>A</a:t>
                </a:r>
              </a:p>
            </p:txBody>
          </p:sp>
        </p:grpSp>
        <p:grpSp>
          <p:nvGrpSpPr>
            <p:cNvPr id="1111058" name="Group 18"/>
            <p:cNvGrpSpPr>
              <a:grpSpLocks/>
            </p:cNvGrpSpPr>
            <p:nvPr/>
          </p:nvGrpSpPr>
          <p:grpSpPr bwMode="auto">
            <a:xfrm>
              <a:off x="2112" y="2918"/>
              <a:ext cx="1248" cy="1564"/>
              <a:chOff x="2112" y="0"/>
              <a:chExt cx="1248" cy="1564"/>
            </a:xfrm>
          </p:grpSpPr>
          <p:grpSp>
            <p:nvGrpSpPr>
              <p:cNvPr id="1111059" name="Group 19"/>
              <p:cNvGrpSpPr>
                <a:grpSpLocks/>
              </p:cNvGrpSpPr>
              <p:nvPr/>
            </p:nvGrpSpPr>
            <p:grpSpPr bwMode="auto">
              <a:xfrm>
                <a:off x="2112" y="0"/>
                <a:ext cx="1248" cy="1104"/>
                <a:chOff x="720" y="0"/>
                <a:chExt cx="1248" cy="1104"/>
              </a:xfrm>
            </p:grpSpPr>
            <p:sp>
              <p:nvSpPr>
                <p:cNvPr id="1111060" name="Line 20"/>
                <p:cNvSpPr>
                  <a:spLocks noChangeShapeType="1"/>
                </p:cNvSpPr>
                <p:nvPr/>
              </p:nvSpPr>
              <p:spPr bwMode="auto">
                <a:xfrm>
                  <a:off x="720" y="1104"/>
                  <a:ext cx="12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11061" name="Line 21"/>
                <p:cNvSpPr>
                  <a:spLocks noChangeShapeType="1"/>
                </p:cNvSpPr>
                <p:nvPr/>
              </p:nvSpPr>
              <p:spPr bwMode="auto">
                <a:xfrm>
                  <a:off x="1296" y="0"/>
                  <a:ext cx="0" cy="110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111062" name="Text Box 22"/>
              <p:cNvSpPr txBox="1">
                <a:spLocks noChangeArrowheads="1"/>
              </p:cNvSpPr>
              <p:nvPr/>
            </p:nvSpPr>
            <p:spPr bwMode="auto">
              <a:xfrm>
                <a:off x="2480" y="995"/>
                <a:ext cx="454" cy="56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lang="en-US" altLang="zh-CN" sz="2000" b="1">
                    <a:solidFill>
                      <a:srgbClr val="CC0000"/>
                    </a:solidFill>
                  </a:rPr>
                  <a:t>B</a:t>
                </a:r>
              </a:p>
            </p:txBody>
          </p:sp>
        </p:grpSp>
        <p:grpSp>
          <p:nvGrpSpPr>
            <p:cNvPr id="1111063" name="Group 23"/>
            <p:cNvGrpSpPr>
              <a:grpSpLocks/>
            </p:cNvGrpSpPr>
            <p:nvPr/>
          </p:nvGrpSpPr>
          <p:grpSpPr bwMode="auto">
            <a:xfrm>
              <a:off x="3456" y="2918"/>
              <a:ext cx="1248" cy="1564"/>
              <a:chOff x="3456" y="0"/>
              <a:chExt cx="1248" cy="1564"/>
            </a:xfrm>
          </p:grpSpPr>
          <p:grpSp>
            <p:nvGrpSpPr>
              <p:cNvPr id="1111064" name="Group 24"/>
              <p:cNvGrpSpPr>
                <a:grpSpLocks/>
              </p:cNvGrpSpPr>
              <p:nvPr/>
            </p:nvGrpSpPr>
            <p:grpSpPr bwMode="auto">
              <a:xfrm>
                <a:off x="3456" y="0"/>
                <a:ext cx="1248" cy="1104"/>
                <a:chOff x="720" y="0"/>
                <a:chExt cx="1248" cy="1104"/>
              </a:xfrm>
            </p:grpSpPr>
            <p:sp>
              <p:nvSpPr>
                <p:cNvPr id="1111065" name="Line 25"/>
                <p:cNvSpPr>
                  <a:spLocks noChangeShapeType="1"/>
                </p:cNvSpPr>
                <p:nvPr/>
              </p:nvSpPr>
              <p:spPr bwMode="auto">
                <a:xfrm>
                  <a:off x="720" y="1104"/>
                  <a:ext cx="12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11066" name="Line 26"/>
                <p:cNvSpPr>
                  <a:spLocks noChangeShapeType="1"/>
                </p:cNvSpPr>
                <p:nvPr/>
              </p:nvSpPr>
              <p:spPr bwMode="auto">
                <a:xfrm>
                  <a:off x="1296" y="0"/>
                  <a:ext cx="0" cy="110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111067" name="Text Box 27"/>
              <p:cNvSpPr txBox="1">
                <a:spLocks noChangeArrowheads="1"/>
              </p:cNvSpPr>
              <p:nvPr/>
            </p:nvSpPr>
            <p:spPr bwMode="auto">
              <a:xfrm>
                <a:off x="3814" y="995"/>
                <a:ext cx="473" cy="56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lang="en-US" altLang="zh-CN" sz="2000" b="1">
                    <a:solidFill>
                      <a:srgbClr val="CC0000"/>
                    </a:solidFill>
                  </a:rPr>
                  <a:t>C</a:t>
                </a:r>
              </a:p>
            </p:txBody>
          </p:sp>
        </p:grpSp>
        <p:sp>
          <p:nvSpPr>
            <p:cNvPr id="1111068" name="Rectangle 28"/>
            <p:cNvSpPr>
              <a:spLocks noChangeArrowheads="1"/>
            </p:cNvSpPr>
            <p:nvPr/>
          </p:nvSpPr>
          <p:spPr bwMode="auto">
            <a:xfrm>
              <a:off x="912" y="3878"/>
              <a:ext cx="768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1069" name="Rectangle 29"/>
            <p:cNvSpPr>
              <a:spLocks noChangeArrowheads="1"/>
            </p:cNvSpPr>
            <p:nvPr/>
          </p:nvSpPr>
          <p:spPr bwMode="auto">
            <a:xfrm>
              <a:off x="3888" y="3878"/>
              <a:ext cx="288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1070" name="Rectangle 30"/>
            <p:cNvSpPr>
              <a:spLocks noChangeArrowheads="1"/>
            </p:cNvSpPr>
            <p:nvPr/>
          </p:nvSpPr>
          <p:spPr bwMode="auto">
            <a:xfrm>
              <a:off x="2459" y="3877"/>
              <a:ext cx="480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11071" name="Group 31"/>
          <p:cNvGrpSpPr>
            <a:grpSpLocks/>
          </p:cNvGrpSpPr>
          <p:nvPr/>
        </p:nvGrpSpPr>
        <p:grpSpPr bwMode="auto">
          <a:xfrm>
            <a:off x="8841359" y="1537865"/>
            <a:ext cx="2141537" cy="1466850"/>
            <a:chOff x="4259" y="1385"/>
            <a:chExt cx="1349" cy="924"/>
          </a:xfrm>
        </p:grpSpPr>
        <p:grpSp>
          <p:nvGrpSpPr>
            <p:cNvPr id="1111072" name="Group 32"/>
            <p:cNvGrpSpPr>
              <a:grpSpLocks/>
            </p:cNvGrpSpPr>
            <p:nvPr/>
          </p:nvGrpSpPr>
          <p:grpSpPr bwMode="auto">
            <a:xfrm>
              <a:off x="4265" y="2049"/>
              <a:ext cx="1342" cy="260"/>
              <a:chOff x="3628" y="1745"/>
              <a:chExt cx="1342" cy="260"/>
            </a:xfrm>
          </p:grpSpPr>
          <p:sp>
            <p:nvSpPr>
              <p:cNvPr id="1111073" name="Rectangle 33"/>
              <p:cNvSpPr>
                <a:spLocks noChangeArrowheads="1"/>
              </p:cNvSpPr>
              <p:nvPr/>
            </p:nvSpPr>
            <p:spPr bwMode="auto">
              <a:xfrm>
                <a:off x="3628" y="1749"/>
                <a:ext cx="1342" cy="2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r>
                  <a:rPr lang="zh-CN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3    </a:t>
                </a:r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A    B    C     0</a:t>
                </a:r>
              </a:p>
            </p:txBody>
          </p:sp>
          <p:sp>
            <p:nvSpPr>
              <p:cNvPr id="1111074" name="Line 34"/>
              <p:cNvSpPr>
                <a:spLocks noChangeShapeType="1"/>
              </p:cNvSpPr>
              <p:nvPr/>
            </p:nvSpPr>
            <p:spPr bwMode="auto">
              <a:xfrm flipH="1">
                <a:off x="3867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1075" name="Line 35"/>
              <p:cNvSpPr>
                <a:spLocks noChangeShapeType="1"/>
              </p:cNvSpPr>
              <p:nvPr/>
            </p:nvSpPr>
            <p:spPr bwMode="auto">
              <a:xfrm>
                <a:off x="4101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1076" name="Line 36"/>
              <p:cNvSpPr>
                <a:spLocks noChangeShapeType="1"/>
              </p:cNvSpPr>
              <p:nvPr/>
            </p:nvSpPr>
            <p:spPr bwMode="auto">
              <a:xfrm>
                <a:off x="4356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1077" name="Line 37"/>
              <p:cNvSpPr>
                <a:spLocks noChangeShapeType="1"/>
              </p:cNvSpPr>
              <p:nvPr/>
            </p:nvSpPr>
            <p:spPr bwMode="auto">
              <a:xfrm>
                <a:off x="4634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111078" name="Group 38"/>
            <p:cNvGrpSpPr>
              <a:grpSpLocks/>
            </p:cNvGrpSpPr>
            <p:nvPr/>
          </p:nvGrpSpPr>
          <p:grpSpPr bwMode="auto">
            <a:xfrm>
              <a:off x="4266" y="1793"/>
              <a:ext cx="1342" cy="260"/>
              <a:chOff x="3628" y="1745"/>
              <a:chExt cx="1342" cy="260"/>
            </a:xfrm>
          </p:grpSpPr>
          <p:sp>
            <p:nvSpPr>
              <p:cNvPr id="1111079" name="Rectangle 39"/>
              <p:cNvSpPr>
                <a:spLocks noChangeArrowheads="1"/>
              </p:cNvSpPr>
              <p:nvPr/>
            </p:nvSpPr>
            <p:spPr bwMode="auto">
              <a:xfrm>
                <a:off x="3628" y="1749"/>
                <a:ext cx="1342" cy="2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r>
                  <a:rPr lang="zh-CN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2    </a:t>
                </a:r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A    C    B     6</a:t>
                </a:r>
              </a:p>
            </p:txBody>
          </p:sp>
          <p:sp>
            <p:nvSpPr>
              <p:cNvPr id="1111080" name="Line 40"/>
              <p:cNvSpPr>
                <a:spLocks noChangeShapeType="1"/>
              </p:cNvSpPr>
              <p:nvPr/>
            </p:nvSpPr>
            <p:spPr bwMode="auto">
              <a:xfrm flipH="1">
                <a:off x="3867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1081" name="Line 41"/>
              <p:cNvSpPr>
                <a:spLocks noChangeShapeType="1"/>
              </p:cNvSpPr>
              <p:nvPr/>
            </p:nvSpPr>
            <p:spPr bwMode="auto">
              <a:xfrm>
                <a:off x="4101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1082" name="Line 42"/>
              <p:cNvSpPr>
                <a:spLocks noChangeShapeType="1"/>
              </p:cNvSpPr>
              <p:nvPr/>
            </p:nvSpPr>
            <p:spPr bwMode="auto">
              <a:xfrm>
                <a:off x="4356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1083" name="Line 43"/>
              <p:cNvSpPr>
                <a:spLocks noChangeShapeType="1"/>
              </p:cNvSpPr>
              <p:nvPr/>
            </p:nvSpPr>
            <p:spPr bwMode="auto">
              <a:xfrm>
                <a:off x="4634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111084" name="Group 44"/>
            <p:cNvGrpSpPr>
              <a:grpSpLocks/>
            </p:cNvGrpSpPr>
            <p:nvPr/>
          </p:nvGrpSpPr>
          <p:grpSpPr bwMode="auto">
            <a:xfrm>
              <a:off x="4259" y="1385"/>
              <a:ext cx="1342" cy="416"/>
              <a:chOff x="4174" y="622"/>
              <a:chExt cx="1342" cy="416"/>
            </a:xfrm>
          </p:grpSpPr>
          <p:grpSp>
            <p:nvGrpSpPr>
              <p:cNvPr id="1111085" name="Group 45"/>
              <p:cNvGrpSpPr>
                <a:grpSpLocks/>
              </p:cNvGrpSpPr>
              <p:nvPr/>
            </p:nvGrpSpPr>
            <p:grpSpPr bwMode="auto">
              <a:xfrm>
                <a:off x="4174" y="778"/>
                <a:ext cx="1342" cy="260"/>
                <a:chOff x="3628" y="1745"/>
                <a:chExt cx="1342" cy="260"/>
              </a:xfrm>
            </p:grpSpPr>
            <p:sp>
              <p:nvSpPr>
                <p:cNvPr id="1111086" name="Rectangle 46"/>
                <p:cNvSpPr>
                  <a:spLocks noChangeArrowheads="1"/>
                </p:cNvSpPr>
                <p:nvPr/>
              </p:nvSpPr>
              <p:spPr bwMode="auto">
                <a:xfrm>
                  <a:off x="3628" y="1749"/>
                  <a:ext cx="134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r>
                    <a:rPr lang="zh-CN" altLang="zh-CN" sz="2000" b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</a:rPr>
                    <a:t>1    </a:t>
                  </a:r>
                  <a:r>
                    <a:rPr lang="en-US" altLang="zh-CN" sz="2000" b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</a:rPr>
                    <a:t>C    A    B    8</a:t>
                  </a:r>
                </a:p>
              </p:txBody>
            </p:sp>
            <p:sp>
              <p:nvSpPr>
                <p:cNvPr id="1111087" name="Line 47"/>
                <p:cNvSpPr>
                  <a:spLocks noChangeShapeType="1"/>
                </p:cNvSpPr>
                <p:nvPr/>
              </p:nvSpPr>
              <p:spPr bwMode="auto">
                <a:xfrm flipH="1">
                  <a:off x="3867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1088" name="Line 48"/>
                <p:cNvSpPr>
                  <a:spLocks noChangeShapeType="1"/>
                </p:cNvSpPr>
                <p:nvPr/>
              </p:nvSpPr>
              <p:spPr bwMode="auto">
                <a:xfrm>
                  <a:off x="4101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1089" name="Line 49"/>
                <p:cNvSpPr>
                  <a:spLocks noChangeShapeType="1"/>
                </p:cNvSpPr>
                <p:nvPr/>
              </p:nvSpPr>
              <p:spPr bwMode="auto">
                <a:xfrm>
                  <a:off x="4356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1090" name="Line 50"/>
                <p:cNvSpPr>
                  <a:spLocks noChangeShapeType="1"/>
                </p:cNvSpPr>
                <p:nvPr/>
              </p:nvSpPr>
              <p:spPr bwMode="auto">
                <a:xfrm>
                  <a:off x="4634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1111091" name="Line 51"/>
              <p:cNvSpPr>
                <a:spLocks noChangeShapeType="1"/>
              </p:cNvSpPr>
              <p:nvPr/>
            </p:nvSpPr>
            <p:spPr bwMode="auto">
              <a:xfrm flipV="1">
                <a:off x="4178" y="622"/>
                <a:ext cx="0" cy="17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1092" name="Line 52"/>
              <p:cNvSpPr>
                <a:spLocks noChangeShapeType="1"/>
              </p:cNvSpPr>
              <p:nvPr/>
            </p:nvSpPr>
            <p:spPr bwMode="auto">
              <a:xfrm flipV="1">
                <a:off x="5512" y="644"/>
                <a:ext cx="0" cy="1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1111093" name="Group 53"/>
          <p:cNvGrpSpPr>
            <a:grpSpLocks/>
          </p:cNvGrpSpPr>
          <p:nvPr/>
        </p:nvGrpSpPr>
        <p:grpSpPr bwMode="auto">
          <a:xfrm>
            <a:off x="8498458" y="3179341"/>
            <a:ext cx="3008312" cy="1198563"/>
            <a:chOff x="698" y="0"/>
            <a:chExt cx="3984" cy="1532"/>
          </a:xfrm>
        </p:grpSpPr>
        <p:grpSp>
          <p:nvGrpSpPr>
            <p:cNvPr id="1111094" name="Group 54"/>
            <p:cNvGrpSpPr>
              <a:grpSpLocks/>
            </p:cNvGrpSpPr>
            <p:nvPr/>
          </p:nvGrpSpPr>
          <p:grpSpPr bwMode="auto">
            <a:xfrm>
              <a:off x="698" y="0"/>
              <a:ext cx="1248" cy="1532"/>
              <a:chOff x="720" y="0"/>
              <a:chExt cx="1248" cy="1532"/>
            </a:xfrm>
          </p:grpSpPr>
          <p:grpSp>
            <p:nvGrpSpPr>
              <p:cNvPr id="1111095" name="Group 55"/>
              <p:cNvGrpSpPr>
                <a:grpSpLocks/>
              </p:cNvGrpSpPr>
              <p:nvPr/>
            </p:nvGrpSpPr>
            <p:grpSpPr bwMode="auto">
              <a:xfrm>
                <a:off x="720" y="0"/>
                <a:ext cx="1248" cy="1104"/>
                <a:chOff x="720" y="0"/>
                <a:chExt cx="1248" cy="1104"/>
              </a:xfrm>
            </p:grpSpPr>
            <p:sp>
              <p:nvSpPr>
                <p:cNvPr id="1111096" name="Line 56"/>
                <p:cNvSpPr>
                  <a:spLocks noChangeShapeType="1"/>
                </p:cNvSpPr>
                <p:nvPr/>
              </p:nvSpPr>
              <p:spPr bwMode="auto">
                <a:xfrm>
                  <a:off x="720" y="1104"/>
                  <a:ext cx="12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11097" name="Line 57"/>
                <p:cNvSpPr>
                  <a:spLocks noChangeShapeType="1"/>
                </p:cNvSpPr>
                <p:nvPr/>
              </p:nvSpPr>
              <p:spPr bwMode="auto">
                <a:xfrm>
                  <a:off x="1296" y="0"/>
                  <a:ext cx="0" cy="110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111098" name="Text Box 58"/>
              <p:cNvSpPr txBox="1">
                <a:spLocks noChangeArrowheads="1"/>
              </p:cNvSpPr>
              <p:nvPr/>
            </p:nvSpPr>
            <p:spPr bwMode="auto">
              <a:xfrm>
                <a:off x="1071" y="1025"/>
                <a:ext cx="488" cy="5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lang="en-US" altLang="zh-CN" sz="2000" b="1" dirty="0">
                    <a:solidFill>
                      <a:srgbClr val="CC0000"/>
                    </a:solidFill>
                  </a:rPr>
                  <a:t>A</a:t>
                </a:r>
              </a:p>
            </p:txBody>
          </p:sp>
        </p:grpSp>
        <p:grpSp>
          <p:nvGrpSpPr>
            <p:cNvPr id="1111099" name="Group 59"/>
            <p:cNvGrpSpPr>
              <a:grpSpLocks/>
            </p:cNvGrpSpPr>
            <p:nvPr/>
          </p:nvGrpSpPr>
          <p:grpSpPr bwMode="auto">
            <a:xfrm>
              <a:off x="2090" y="0"/>
              <a:ext cx="1248" cy="1532"/>
              <a:chOff x="2112" y="0"/>
              <a:chExt cx="1248" cy="1532"/>
            </a:xfrm>
          </p:grpSpPr>
          <p:grpSp>
            <p:nvGrpSpPr>
              <p:cNvPr id="1111100" name="Group 60"/>
              <p:cNvGrpSpPr>
                <a:grpSpLocks/>
              </p:cNvGrpSpPr>
              <p:nvPr/>
            </p:nvGrpSpPr>
            <p:grpSpPr bwMode="auto">
              <a:xfrm>
                <a:off x="2112" y="0"/>
                <a:ext cx="1248" cy="1104"/>
                <a:chOff x="720" y="0"/>
                <a:chExt cx="1248" cy="1104"/>
              </a:xfrm>
            </p:grpSpPr>
            <p:sp>
              <p:nvSpPr>
                <p:cNvPr id="1111101" name="Line 61"/>
                <p:cNvSpPr>
                  <a:spLocks noChangeShapeType="1"/>
                </p:cNvSpPr>
                <p:nvPr/>
              </p:nvSpPr>
              <p:spPr bwMode="auto">
                <a:xfrm>
                  <a:off x="720" y="1104"/>
                  <a:ext cx="12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11102" name="Line 62"/>
                <p:cNvSpPr>
                  <a:spLocks noChangeShapeType="1"/>
                </p:cNvSpPr>
                <p:nvPr/>
              </p:nvSpPr>
              <p:spPr bwMode="auto">
                <a:xfrm>
                  <a:off x="1296" y="0"/>
                  <a:ext cx="0" cy="110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111103" name="Text Box 63"/>
              <p:cNvSpPr txBox="1">
                <a:spLocks noChangeArrowheads="1"/>
              </p:cNvSpPr>
              <p:nvPr/>
            </p:nvSpPr>
            <p:spPr bwMode="auto">
              <a:xfrm>
                <a:off x="2473" y="1025"/>
                <a:ext cx="469" cy="5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lang="en-US" altLang="zh-CN" sz="2000" b="1">
                    <a:solidFill>
                      <a:srgbClr val="CC0000"/>
                    </a:solidFill>
                  </a:rPr>
                  <a:t>B</a:t>
                </a:r>
              </a:p>
            </p:txBody>
          </p:sp>
        </p:grpSp>
        <p:grpSp>
          <p:nvGrpSpPr>
            <p:cNvPr id="1111104" name="Group 64"/>
            <p:cNvGrpSpPr>
              <a:grpSpLocks/>
            </p:cNvGrpSpPr>
            <p:nvPr/>
          </p:nvGrpSpPr>
          <p:grpSpPr bwMode="auto">
            <a:xfrm>
              <a:off x="3434" y="0"/>
              <a:ext cx="1248" cy="1532"/>
              <a:chOff x="3456" y="0"/>
              <a:chExt cx="1248" cy="1532"/>
            </a:xfrm>
          </p:grpSpPr>
          <p:grpSp>
            <p:nvGrpSpPr>
              <p:cNvPr id="1111105" name="Group 65"/>
              <p:cNvGrpSpPr>
                <a:grpSpLocks/>
              </p:cNvGrpSpPr>
              <p:nvPr/>
            </p:nvGrpSpPr>
            <p:grpSpPr bwMode="auto">
              <a:xfrm>
                <a:off x="3456" y="0"/>
                <a:ext cx="1248" cy="1104"/>
                <a:chOff x="720" y="0"/>
                <a:chExt cx="1248" cy="1104"/>
              </a:xfrm>
            </p:grpSpPr>
            <p:sp>
              <p:nvSpPr>
                <p:cNvPr id="1111106" name="Line 66"/>
                <p:cNvSpPr>
                  <a:spLocks noChangeShapeType="1"/>
                </p:cNvSpPr>
                <p:nvPr/>
              </p:nvSpPr>
              <p:spPr bwMode="auto">
                <a:xfrm>
                  <a:off x="720" y="1104"/>
                  <a:ext cx="12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11107" name="Line 67"/>
                <p:cNvSpPr>
                  <a:spLocks noChangeShapeType="1"/>
                </p:cNvSpPr>
                <p:nvPr/>
              </p:nvSpPr>
              <p:spPr bwMode="auto">
                <a:xfrm>
                  <a:off x="1296" y="0"/>
                  <a:ext cx="0" cy="110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111108" name="Text Box 68"/>
              <p:cNvSpPr txBox="1">
                <a:spLocks noChangeArrowheads="1"/>
              </p:cNvSpPr>
              <p:nvPr/>
            </p:nvSpPr>
            <p:spPr bwMode="auto">
              <a:xfrm>
                <a:off x="3805" y="1025"/>
                <a:ext cx="487" cy="5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lang="en-US" altLang="zh-CN" sz="2000" b="1">
                    <a:solidFill>
                      <a:srgbClr val="CC0000"/>
                    </a:solidFill>
                  </a:rPr>
                  <a:t>C</a:t>
                </a:r>
              </a:p>
            </p:txBody>
          </p:sp>
        </p:grpSp>
        <p:sp>
          <p:nvSpPr>
            <p:cNvPr id="1111109" name="Rectangle 69"/>
            <p:cNvSpPr>
              <a:spLocks noChangeArrowheads="1"/>
            </p:cNvSpPr>
            <p:nvPr/>
          </p:nvSpPr>
          <p:spPr bwMode="auto">
            <a:xfrm>
              <a:off x="890" y="960"/>
              <a:ext cx="768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1110" name="Rectangle 70"/>
            <p:cNvSpPr>
              <a:spLocks noChangeArrowheads="1"/>
            </p:cNvSpPr>
            <p:nvPr/>
          </p:nvSpPr>
          <p:spPr bwMode="auto">
            <a:xfrm>
              <a:off x="2437" y="959"/>
              <a:ext cx="480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1111" name="Rectangle 71"/>
            <p:cNvSpPr>
              <a:spLocks noChangeArrowheads="1"/>
            </p:cNvSpPr>
            <p:nvPr/>
          </p:nvSpPr>
          <p:spPr bwMode="auto">
            <a:xfrm>
              <a:off x="2524" y="815"/>
              <a:ext cx="288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11112" name="Group 72"/>
          <p:cNvGrpSpPr>
            <a:grpSpLocks/>
          </p:cNvGrpSpPr>
          <p:nvPr/>
        </p:nvGrpSpPr>
        <p:grpSpPr bwMode="auto">
          <a:xfrm>
            <a:off x="8885808" y="4366790"/>
            <a:ext cx="2132012" cy="1066800"/>
            <a:chOff x="4236" y="608"/>
            <a:chExt cx="1343" cy="672"/>
          </a:xfrm>
        </p:grpSpPr>
        <p:grpSp>
          <p:nvGrpSpPr>
            <p:cNvPr id="1111113" name="Group 73"/>
            <p:cNvGrpSpPr>
              <a:grpSpLocks/>
            </p:cNvGrpSpPr>
            <p:nvPr/>
          </p:nvGrpSpPr>
          <p:grpSpPr bwMode="auto">
            <a:xfrm>
              <a:off x="4236" y="1020"/>
              <a:ext cx="1342" cy="260"/>
              <a:chOff x="3628" y="1745"/>
              <a:chExt cx="1342" cy="260"/>
            </a:xfrm>
          </p:grpSpPr>
          <p:sp>
            <p:nvSpPr>
              <p:cNvPr id="1111114" name="Rectangle 74"/>
              <p:cNvSpPr>
                <a:spLocks noChangeArrowheads="1"/>
              </p:cNvSpPr>
              <p:nvPr/>
            </p:nvSpPr>
            <p:spPr bwMode="auto">
              <a:xfrm>
                <a:off x="3628" y="1749"/>
                <a:ext cx="1342" cy="2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r>
                  <a:rPr lang="zh-CN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3    </a:t>
                </a:r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A    B    C     0</a:t>
                </a:r>
              </a:p>
            </p:txBody>
          </p:sp>
          <p:sp>
            <p:nvSpPr>
              <p:cNvPr id="1111115" name="Line 75"/>
              <p:cNvSpPr>
                <a:spLocks noChangeShapeType="1"/>
              </p:cNvSpPr>
              <p:nvPr/>
            </p:nvSpPr>
            <p:spPr bwMode="auto">
              <a:xfrm flipH="1">
                <a:off x="3867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1116" name="Line 76"/>
              <p:cNvSpPr>
                <a:spLocks noChangeShapeType="1"/>
              </p:cNvSpPr>
              <p:nvPr/>
            </p:nvSpPr>
            <p:spPr bwMode="auto">
              <a:xfrm>
                <a:off x="4101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1117" name="Line 77"/>
              <p:cNvSpPr>
                <a:spLocks noChangeShapeType="1"/>
              </p:cNvSpPr>
              <p:nvPr/>
            </p:nvSpPr>
            <p:spPr bwMode="auto">
              <a:xfrm>
                <a:off x="4356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1118" name="Line 78"/>
              <p:cNvSpPr>
                <a:spLocks noChangeShapeType="1"/>
              </p:cNvSpPr>
              <p:nvPr/>
            </p:nvSpPr>
            <p:spPr bwMode="auto">
              <a:xfrm>
                <a:off x="4634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111119" name="Group 79"/>
            <p:cNvGrpSpPr>
              <a:grpSpLocks/>
            </p:cNvGrpSpPr>
            <p:nvPr/>
          </p:nvGrpSpPr>
          <p:grpSpPr bwMode="auto">
            <a:xfrm>
              <a:off x="4237" y="608"/>
              <a:ext cx="1342" cy="416"/>
              <a:chOff x="4174" y="622"/>
              <a:chExt cx="1342" cy="416"/>
            </a:xfrm>
          </p:grpSpPr>
          <p:grpSp>
            <p:nvGrpSpPr>
              <p:cNvPr id="1111120" name="Group 80"/>
              <p:cNvGrpSpPr>
                <a:grpSpLocks/>
              </p:cNvGrpSpPr>
              <p:nvPr/>
            </p:nvGrpSpPr>
            <p:grpSpPr bwMode="auto">
              <a:xfrm>
                <a:off x="4174" y="778"/>
                <a:ext cx="1342" cy="260"/>
                <a:chOff x="3628" y="1745"/>
                <a:chExt cx="1342" cy="260"/>
              </a:xfrm>
            </p:grpSpPr>
            <p:sp>
              <p:nvSpPr>
                <p:cNvPr id="1111121" name="Rectangle 81"/>
                <p:cNvSpPr>
                  <a:spLocks noChangeArrowheads="1"/>
                </p:cNvSpPr>
                <p:nvPr/>
              </p:nvSpPr>
              <p:spPr bwMode="auto">
                <a:xfrm>
                  <a:off x="3628" y="1749"/>
                  <a:ext cx="134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r>
                    <a:rPr lang="zh-CN" altLang="zh-CN" sz="2000" b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</a:rPr>
                    <a:t>2    </a:t>
                  </a:r>
                  <a:r>
                    <a:rPr lang="en-US" altLang="zh-CN" sz="2000" b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</a:rPr>
                    <a:t>A    C    B     6</a:t>
                  </a:r>
                </a:p>
              </p:txBody>
            </p:sp>
            <p:sp>
              <p:nvSpPr>
                <p:cNvPr id="1111122" name="Line 82"/>
                <p:cNvSpPr>
                  <a:spLocks noChangeShapeType="1"/>
                </p:cNvSpPr>
                <p:nvPr/>
              </p:nvSpPr>
              <p:spPr bwMode="auto">
                <a:xfrm flipH="1">
                  <a:off x="3867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1123" name="Line 83"/>
                <p:cNvSpPr>
                  <a:spLocks noChangeShapeType="1"/>
                </p:cNvSpPr>
                <p:nvPr/>
              </p:nvSpPr>
              <p:spPr bwMode="auto">
                <a:xfrm>
                  <a:off x="4101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1124" name="Line 84"/>
                <p:cNvSpPr>
                  <a:spLocks noChangeShapeType="1"/>
                </p:cNvSpPr>
                <p:nvPr/>
              </p:nvSpPr>
              <p:spPr bwMode="auto">
                <a:xfrm>
                  <a:off x="4356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1125" name="Line 85"/>
                <p:cNvSpPr>
                  <a:spLocks noChangeShapeType="1"/>
                </p:cNvSpPr>
                <p:nvPr/>
              </p:nvSpPr>
              <p:spPr bwMode="auto">
                <a:xfrm>
                  <a:off x="4634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1111126" name="Line 86"/>
              <p:cNvSpPr>
                <a:spLocks noChangeShapeType="1"/>
              </p:cNvSpPr>
              <p:nvPr/>
            </p:nvSpPr>
            <p:spPr bwMode="auto">
              <a:xfrm flipV="1">
                <a:off x="4178" y="622"/>
                <a:ext cx="0" cy="17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1127" name="Line 87"/>
              <p:cNvSpPr>
                <a:spLocks noChangeShapeType="1"/>
              </p:cNvSpPr>
              <p:nvPr/>
            </p:nvSpPr>
            <p:spPr bwMode="auto">
              <a:xfrm flipV="1">
                <a:off x="5512" y="644"/>
                <a:ext cx="0" cy="1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1111128" name="Group 88"/>
          <p:cNvGrpSpPr>
            <a:grpSpLocks/>
          </p:cNvGrpSpPr>
          <p:nvPr/>
        </p:nvGrpSpPr>
        <p:grpSpPr bwMode="auto">
          <a:xfrm>
            <a:off x="8884221" y="5720928"/>
            <a:ext cx="2130425" cy="660400"/>
            <a:chOff x="4174" y="622"/>
            <a:chExt cx="1342" cy="416"/>
          </a:xfrm>
        </p:grpSpPr>
        <p:grpSp>
          <p:nvGrpSpPr>
            <p:cNvPr id="1111129" name="Group 89"/>
            <p:cNvGrpSpPr>
              <a:grpSpLocks/>
            </p:cNvGrpSpPr>
            <p:nvPr/>
          </p:nvGrpSpPr>
          <p:grpSpPr bwMode="auto">
            <a:xfrm>
              <a:off x="4174" y="778"/>
              <a:ext cx="1342" cy="260"/>
              <a:chOff x="3628" y="1745"/>
              <a:chExt cx="1342" cy="260"/>
            </a:xfrm>
          </p:grpSpPr>
          <p:sp>
            <p:nvSpPr>
              <p:cNvPr id="1111130" name="Rectangle 90"/>
              <p:cNvSpPr>
                <a:spLocks noChangeArrowheads="1"/>
              </p:cNvSpPr>
              <p:nvPr/>
            </p:nvSpPr>
            <p:spPr bwMode="auto">
              <a:xfrm>
                <a:off x="3628" y="1749"/>
                <a:ext cx="1342" cy="2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r>
                  <a:rPr lang="zh-CN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3    </a:t>
                </a:r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A    B    C     0</a:t>
                </a:r>
              </a:p>
            </p:txBody>
          </p:sp>
          <p:sp>
            <p:nvSpPr>
              <p:cNvPr id="1111131" name="Line 91"/>
              <p:cNvSpPr>
                <a:spLocks noChangeShapeType="1"/>
              </p:cNvSpPr>
              <p:nvPr/>
            </p:nvSpPr>
            <p:spPr bwMode="auto">
              <a:xfrm flipH="1">
                <a:off x="3867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1132" name="Line 92"/>
              <p:cNvSpPr>
                <a:spLocks noChangeShapeType="1"/>
              </p:cNvSpPr>
              <p:nvPr/>
            </p:nvSpPr>
            <p:spPr bwMode="auto">
              <a:xfrm>
                <a:off x="4101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1133" name="Line 93"/>
              <p:cNvSpPr>
                <a:spLocks noChangeShapeType="1"/>
              </p:cNvSpPr>
              <p:nvPr/>
            </p:nvSpPr>
            <p:spPr bwMode="auto">
              <a:xfrm>
                <a:off x="4356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1134" name="Line 94"/>
              <p:cNvSpPr>
                <a:spLocks noChangeShapeType="1"/>
              </p:cNvSpPr>
              <p:nvPr/>
            </p:nvSpPr>
            <p:spPr bwMode="auto">
              <a:xfrm>
                <a:off x="4634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111135" name="Line 95"/>
            <p:cNvSpPr>
              <a:spLocks noChangeShapeType="1"/>
            </p:cNvSpPr>
            <p:nvPr/>
          </p:nvSpPr>
          <p:spPr bwMode="auto">
            <a:xfrm flipV="1">
              <a:off x="4178" y="622"/>
              <a:ext cx="0" cy="1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11136" name="Line 96"/>
            <p:cNvSpPr>
              <a:spLocks noChangeShapeType="1"/>
            </p:cNvSpPr>
            <p:nvPr/>
          </p:nvSpPr>
          <p:spPr bwMode="auto">
            <a:xfrm flipV="1">
              <a:off x="5512" y="644"/>
              <a:ext cx="0" cy="1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111139" name="Group 99"/>
          <p:cNvGrpSpPr>
            <a:grpSpLocks/>
          </p:cNvGrpSpPr>
          <p:nvPr/>
        </p:nvGrpSpPr>
        <p:grpSpPr bwMode="auto">
          <a:xfrm>
            <a:off x="6168008" y="1138064"/>
            <a:ext cx="2132012" cy="1066800"/>
            <a:chOff x="4236" y="608"/>
            <a:chExt cx="1343" cy="672"/>
          </a:xfrm>
        </p:grpSpPr>
        <p:grpSp>
          <p:nvGrpSpPr>
            <p:cNvPr id="1111140" name="Group 100"/>
            <p:cNvGrpSpPr>
              <a:grpSpLocks/>
            </p:cNvGrpSpPr>
            <p:nvPr/>
          </p:nvGrpSpPr>
          <p:grpSpPr bwMode="auto">
            <a:xfrm>
              <a:off x="4236" y="1020"/>
              <a:ext cx="1342" cy="260"/>
              <a:chOff x="3628" y="1745"/>
              <a:chExt cx="1342" cy="260"/>
            </a:xfrm>
          </p:grpSpPr>
          <p:sp>
            <p:nvSpPr>
              <p:cNvPr id="1111141" name="Rectangle 101"/>
              <p:cNvSpPr>
                <a:spLocks noChangeArrowheads="1"/>
              </p:cNvSpPr>
              <p:nvPr/>
            </p:nvSpPr>
            <p:spPr bwMode="auto">
              <a:xfrm>
                <a:off x="3628" y="1749"/>
                <a:ext cx="1342" cy="2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r>
                  <a:rPr lang="zh-CN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3    </a:t>
                </a:r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A    B    C     0</a:t>
                </a:r>
              </a:p>
            </p:txBody>
          </p:sp>
          <p:sp>
            <p:nvSpPr>
              <p:cNvPr id="1111142" name="Line 102"/>
              <p:cNvSpPr>
                <a:spLocks noChangeShapeType="1"/>
              </p:cNvSpPr>
              <p:nvPr/>
            </p:nvSpPr>
            <p:spPr bwMode="auto">
              <a:xfrm flipH="1">
                <a:off x="3867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1143" name="Line 103"/>
              <p:cNvSpPr>
                <a:spLocks noChangeShapeType="1"/>
              </p:cNvSpPr>
              <p:nvPr/>
            </p:nvSpPr>
            <p:spPr bwMode="auto">
              <a:xfrm>
                <a:off x="4101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1144" name="Line 104"/>
              <p:cNvSpPr>
                <a:spLocks noChangeShapeType="1"/>
              </p:cNvSpPr>
              <p:nvPr/>
            </p:nvSpPr>
            <p:spPr bwMode="auto">
              <a:xfrm>
                <a:off x="4356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1145" name="Line 105"/>
              <p:cNvSpPr>
                <a:spLocks noChangeShapeType="1"/>
              </p:cNvSpPr>
              <p:nvPr/>
            </p:nvSpPr>
            <p:spPr bwMode="auto">
              <a:xfrm>
                <a:off x="4634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111146" name="Group 106"/>
            <p:cNvGrpSpPr>
              <a:grpSpLocks/>
            </p:cNvGrpSpPr>
            <p:nvPr/>
          </p:nvGrpSpPr>
          <p:grpSpPr bwMode="auto">
            <a:xfrm>
              <a:off x="4237" y="608"/>
              <a:ext cx="1342" cy="416"/>
              <a:chOff x="4174" y="622"/>
              <a:chExt cx="1342" cy="416"/>
            </a:xfrm>
          </p:grpSpPr>
          <p:grpSp>
            <p:nvGrpSpPr>
              <p:cNvPr id="1111147" name="Group 107"/>
              <p:cNvGrpSpPr>
                <a:grpSpLocks/>
              </p:cNvGrpSpPr>
              <p:nvPr/>
            </p:nvGrpSpPr>
            <p:grpSpPr bwMode="auto">
              <a:xfrm>
                <a:off x="4174" y="778"/>
                <a:ext cx="1342" cy="260"/>
                <a:chOff x="3628" y="1745"/>
                <a:chExt cx="1342" cy="260"/>
              </a:xfrm>
            </p:grpSpPr>
            <p:sp>
              <p:nvSpPr>
                <p:cNvPr id="1111148" name="Rectangle 108"/>
                <p:cNvSpPr>
                  <a:spLocks noChangeArrowheads="1"/>
                </p:cNvSpPr>
                <p:nvPr/>
              </p:nvSpPr>
              <p:spPr bwMode="auto">
                <a:xfrm>
                  <a:off x="3628" y="1749"/>
                  <a:ext cx="134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r>
                    <a:rPr lang="zh-CN" altLang="zh-CN" sz="2000" b="1" dirty="0">
                      <a:effectLst>
                        <a:outerShdw blurRad="38100" dist="38100" dir="2700000" algn="tl">
                          <a:srgbClr val="FFFFFF"/>
                        </a:outerShdw>
                      </a:effectLst>
                    </a:rPr>
                    <a:t>2    </a:t>
                  </a:r>
                  <a:r>
                    <a:rPr lang="en-US" altLang="zh-CN" sz="2000" b="1" dirty="0">
                      <a:effectLst>
                        <a:outerShdw blurRad="38100" dist="38100" dir="2700000" algn="tl">
                          <a:srgbClr val="FFFFFF"/>
                        </a:outerShdw>
                      </a:effectLst>
                    </a:rPr>
                    <a:t>A    C    B     6</a:t>
                  </a:r>
                </a:p>
              </p:txBody>
            </p:sp>
            <p:sp>
              <p:nvSpPr>
                <p:cNvPr id="1111149" name="Line 109"/>
                <p:cNvSpPr>
                  <a:spLocks noChangeShapeType="1"/>
                </p:cNvSpPr>
                <p:nvPr/>
              </p:nvSpPr>
              <p:spPr bwMode="auto">
                <a:xfrm flipH="1">
                  <a:off x="3867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1150" name="Line 110"/>
                <p:cNvSpPr>
                  <a:spLocks noChangeShapeType="1"/>
                </p:cNvSpPr>
                <p:nvPr/>
              </p:nvSpPr>
              <p:spPr bwMode="auto">
                <a:xfrm>
                  <a:off x="4101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1151" name="Line 111"/>
                <p:cNvSpPr>
                  <a:spLocks noChangeShapeType="1"/>
                </p:cNvSpPr>
                <p:nvPr/>
              </p:nvSpPr>
              <p:spPr bwMode="auto">
                <a:xfrm>
                  <a:off x="4356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1152" name="Line 112"/>
                <p:cNvSpPr>
                  <a:spLocks noChangeShapeType="1"/>
                </p:cNvSpPr>
                <p:nvPr/>
              </p:nvSpPr>
              <p:spPr bwMode="auto">
                <a:xfrm>
                  <a:off x="4634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1111153" name="Line 113"/>
              <p:cNvSpPr>
                <a:spLocks noChangeShapeType="1"/>
              </p:cNvSpPr>
              <p:nvPr/>
            </p:nvSpPr>
            <p:spPr bwMode="auto">
              <a:xfrm flipV="1">
                <a:off x="4178" y="622"/>
                <a:ext cx="0" cy="17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1154" name="Line 114"/>
              <p:cNvSpPr>
                <a:spLocks noChangeShapeType="1"/>
              </p:cNvSpPr>
              <p:nvPr/>
            </p:nvSpPr>
            <p:spPr bwMode="auto">
              <a:xfrm flipV="1">
                <a:off x="5512" y="644"/>
                <a:ext cx="0" cy="1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11110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0" dur="500"/>
                                        <p:tgtEl>
                                          <p:spTgt spid="11110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1" dur="500"/>
                                        <p:tgtEl>
                                          <p:spTgt spid="11110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6" dur="500"/>
                                        <p:tgtEl>
                                          <p:spTgt spid="11111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9" dur="500"/>
                                        <p:tgtEl>
                                          <p:spTgt spid="11111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1042" grpId="0" animBg="1"/>
      <p:bldP spid="1111043" grpId="0" animBg="1"/>
      <p:bldP spid="1111044" grpId="0" animBg="1"/>
      <p:bldP spid="1111045" grpId="0" animBg="1"/>
      <p:bldP spid="1111046" grpId="0" animBg="1"/>
      <p:bldP spid="1111047" grpId="0" animBg="1"/>
      <p:bldP spid="1111048" grpId="0" animBg="1"/>
      <p:bldP spid="1111049" grpId="0" animBg="1"/>
      <p:bldP spid="1111050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066" name="Rectangle 2"/>
          <p:cNvSpPr>
            <a:spLocks noChangeArrowheads="1"/>
          </p:cNvSpPr>
          <p:nvPr/>
        </p:nvSpPr>
        <p:spPr bwMode="auto">
          <a:xfrm>
            <a:off x="773009" y="5451450"/>
            <a:ext cx="4725987" cy="334962"/>
          </a:xfrm>
          <a:prstGeom prst="rect">
            <a:avLst/>
          </a:prstGeom>
          <a:solidFill>
            <a:srgbClr val="BEDFC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2067" name="Rectangle 3"/>
          <p:cNvSpPr>
            <a:spLocks noChangeArrowheads="1"/>
          </p:cNvSpPr>
          <p:nvPr/>
        </p:nvSpPr>
        <p:spPr bwMode="auto">
          <a:xfrm>
            <a:off x="773009" y="3278163"/>
            <a:ext cx="4725987" cy="334963"/>
          </a:xfrm>
          <a:prstGeom prst="rect">
            <a:avLst/>
          </a:prstGeom>
          <a:solidFill>
            <a:srgbClr val="BEDFC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2068" name="Rectangle 4"/>
          <p:cNvSpPr>
            <a:spLocks noChangeArrowheads="1"/>
          </p:cNvSpPr>
          <p:nvPr/>
        </p:nvSpPr>
        <p:spPr bwMode="auto">
          <a:xfrm>
            <a:off x="773009" y="3641700"/>
            <a:ext cx="4725987" cy="334962"/>
          </a:xfrm>
          <a:prstGeom prst="rect">
            <a:avLst/>
          </a:prstGeom>
          <a:solidFill>
            <a:srgbClr val="BEDFC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2069" name="Rectangle 5"/>
          <p:cNvSpPr>
            <a:spLocks noChangeArrowheads="1"/>
          </p:cNvSpPr>
          <p:nvPr/>
        </p:nvSpPr>
        <p:spPr bwMode="auto">
          <a:xfrm>
            <a:off x="773009" y="4011588"/>
            <a:ext cx="4725987" cy="334963"/>
          </a:xfrm>
          <a:prstGeom prst="rect">
            <a:avLst/>
          </a:prstGeom>
          <a:solidFill>
            <a:srgbClr val="BEDFC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2070" name="Rectangle 6"/>
          <p:cNvSpPr>
            <a:spLocks noChangeArrowheads="1"/>
          </p:cNvSpPr>
          <p:nvPr/>
        </p:nvSpPr>
        <p:spPr bwMode="auto">
          <a:xfrm>
            <a:off x="767408" y="4364013"/>
            <a:ext cx="4725987" cy="334963"/>
          </a:xfrm>
          <a:prstGeom prst="rect">
            <a:avLst/>
          </a:prstGeom>
          <a:solidFill>
            <a:srgbClr val="BEDFC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2071" name="Rectangle 7"/>
          <p:cNvSpPr>
            <a:spLocks noChangeArrowheads="1"/>
          </p:cNvSpPr>
          <p:nvPr/>
        </p:nvSpPr>
        <p:spPr bwMode="auto">
          <a:xfrm>
            <a:off x="767408" y="3267050"/>
            <a:ext cx="4725987" cy="334962"/>
          </a:xfrm>
          <a:prstGeom prst="rect">
            <a:avLst/>
          </a:prstGeom>
          <a:solidFill>
            <a:srgbClr val="BEDFC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2072" name="Rectangle 8"/>
          <p:cNvSpPr>
            <a:spLocks noChangeArrowheads="1"/>
          </p:cNvSpPr>
          <p:nvPr/>
        </p:nvSpPr>
        <p:spPr bwMode="auto">
          <a:xfrm>
            <a:off x="767408" y="3613125"/>
            <a:ext cx="4725987" cy="334962"/>
          </a:xfrm>
          <a:prstGeom prst="rect">
            <a:avLst/>
          </a:prstGeom>
          <a:solidFill>
            <a:srgbClr val="BEDFC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2073" name="Rectangle 9"/>
          <p:cNvSpPr>
            <a:spLocks noChangeArrowheads="1"/>
          </p:cNvSpPr>
          <p:nvPr/>
        </p:nvSpPr>
        <p:spPr bwMode="auto">
          <a:xfrm>
            <a:off x="767408" y="4000475"/>
            <a:ext cx="4725987" cy="334962"/>
          </a:xfrm>
          <a:prstGeom prst="rect">
            <a:avLst/>
          </a:prstGeom>
          <a:solidFill>
            <a:srgbClr val="BEDFC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2074" name="Rectangle 10"/>
          <p:cNvSpPr>
            <a:spLocks noChangeArrowheads="1"/>
          </p:cNvSpPr>
          <p:nvPr/>
        </p:nvSpPr>
        <p:spPr bwMode="auto">
          <a:xfrm>
            <a:off x="773009" y="4706913"/>
            <a:ext cx="4725987" cy="334963"/>
          </a:xfrm>
          <a:prstGeom prst="rect">
            <a:avLst/>
          </a:prstGeom>
          <a:solidFill>
            <a:srgbClr val="BEDFC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2075" name="Rectangle 11"/>
          <p:cNvSpPr>
            <a:spLocks noChangeArrowheads="1"/>
          </p:cNvSpPr>
          <p:nvPr/>
        </p:nvSpPr>
        <p:spPr bwMode="auto">
          <a:xfrm>
            <a:off x="773009" y="5059338"/>
            <a:ext cx="4725987" cy="334963"/>
          </a:xfrm>
          <a:prstGeom prst="rect">
            <a:avLst/>
          </a:prstGeom>
          <a:solidFill>
            <a:srgbClr val="BEDFC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2076" name="Rectangle 12"/>
          <p:cNvSpPr>
            <a:spLocks noChangeArrowheads="1"/>
          </p:cNvSpPr>
          <p:nvPr/>
        </p:nvSpPr>
        <p:spPr bwMode="auto">
          <a:xfrm>
            <a:off x="773009" y="5792763"/>
            <a:ext cx="4725987" cy="334963"/>
          </a:xfrm>
          <a:prstGeom prst="rect">
            <a:avLst/>
          </a:prstGeom>
          <a:solidFill>
            <a:srgbClr val="BEDFC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2077" name="Text Box 13"/>
          <p:cNvSpPr txBox="1">
            <a:spLocks noChangeArrowheads="1"/>
          </p:cNvSpPr>
          <p:nvPr/>
        </p:nvSpPr>
        <p:spPr bwMode="auto">
          <a:xfrm>
            <a:off x="759699" y="620688"/>
            <a:ext cx="4794902" cy="637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altLang="zh-CN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2060"/>
                </a:solidFill>
              </a:rPr>
              <a:t>void main( )</a:t>
            </a:r>
          </a:p>
          <a:p>
            <a:pPr eaLnBrk="0" hangingPunct="0"/>
            <a:r>
              <a:rPr lang="en-US" altLang="zh-CN" dirty="0"/>
              <a:t>   {  </a:t>
            </a:r>
            <a:r>
              <a:rPr lang="en-US" altLang="zh-CN" dirty="0" err="1"/>
              <a:t>int</a:t>
            </a:r>
            <a:r>
              <a:rPr lang="en-US" altLang="zh-CN" dirty="0"/>
              <a:t> m;</a:t>
            </a:r>
          </a:p>
          <a:p>
            <a:pPr eaLnBrk="0" hangingPunct="0"/>
            <a:r>
              <a:rPr lang="en-US" altLang="zh-CN" dirty="0"/>
              <a:t>       </a:t>
            </a:r>
            <a:r>
              <a:rPr lang="en-US" altLang="zh-CN" dirty="0" err="1"/>
              <a:t>printf</a:t>
            </a:r>
            <a:r>
              <a:rPr lang="en-US" altLang="zh-CN" dirty="0"/>
              <a:t>("Input the number of disks</a:t>
            </a:r>
          </a:p>
          <a:p>
            <a:pPr eaLnBrk="0" hangingPunct="0"/>
            <a:r>
              <a:rPr lang="en-US" altLang="zh-CN" dirty="0"/>
              <a:t>       </a:t>
            </a:r>
            <a:r>
              <a:rPr lang="en-US" altLang="zh-CN" dirty="0" err="1"/>
              <a:t>scanf</a:t>
            </a:r>
            <a:r>
              <a:rPr lang="en-US" altLang="zh-CN" dirty="0"/>
              <a:t>("%</a:t>
            </a:r>
            <a:r>
              <a:rPr lang="en-US" altLang="zh-CN" dirty="0" err="1"/>
              <a:t>d",&amp;m</a:t>
            </a:r>
            <a:r>
              <a:rPr lang="en-US" altLang="zh-CN" dirty="0"/>
              <a:t>);</a:t>
            </a:r>
          </a:p>
          <a:p>
            <a:pPr eaLnBrk="0" hangingPunct="0"/>
            <a:r>
              <a:rPr lang="en-US" altLang="zh-CN" dirty="0"/>
              <a:t>       </a:t>
            </a:r>
            <a:r>
              <a:rPr lang="en-US" altLang="zh-CN" dirty="0" err="1"/>
              <a:t>printf</a:t>
            </a:r>
            <a:r>
              <a:rPr lang="en-US" altLang="zh-CN" dirty="0"/>
              <a:t>("The steps to moving %3d</a:t>
            </a:r>
          </a:p>
          <a:p>
            <a:pPr eaLnBrk="0" hangingPunct="0"/>
            <a:r>
              <a:rPr lang="en-US" altLang="zh-CN" dirty="0"/>
              <a:t>       </a:t>
            </a:r>
            <a:r>
              <a:rPr lang="en-US" altLang="zh-CN" dirty="0" err="1"/>
              <a:t>hanoi</a:t>
            </a:r>
            <a:r>
              <a:rPr lang="en-US" altLang="zh-CN" dirty="0"/>
              <a:t>(</a:t>
            </a:r>
            <a:r>
              <a:rPr lang="en-US" altLang="zh-CN" dirty="0" err="1"/>
              <a:t>m,'A','B','C</a:t>
            </a:r>
            <a:r>
              <a:rPr lang="en-US" altLang="zh-CN" dirty="0"/>
              <a:t>');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</a:rPr>
              <a:t>(0)</a:t>
            </a:r>
            <a:r>
              <a:rPr lang="en-US" altLang="zh-CN" dirty="0"/>
              <a:t> }</a:t>
            </a:r>
          </a:p>
          <a:p>
            <a:pPr eaLnBrk="0" hangingPunct="0"/>
            <a:r>
              <a:rPr lang="en-US" altLang="zh-CN" dirty="0">
                <a:solidFill>
                  <a:srgbClr val="002060"/>
                </a:solidFill>
              </a:rPr>
              <a:t>void </a:t>
            </a:r>
            <a:r>
              <a:rPr lang="en-US" altLang="zh-CN" dirty="0" err="1">
                <a:solidFill>
                  <a:srgbClr val="002060"/>
                </a:solidFill>
              </a:rPr>
              <a:t>hanoi</a:t>
            </a:r>
            <a:r>
              <a:rPr lang="en-US" altLang="zh-CN" dirty="0">
                <a:solidFill>
                  <a:srgbClr val="002060"/>
                </a:solidFill>
              </a:rPr>
              <a:t>(</a:t>
            </a:r>
            <a:r>
              <a:rPr lang="en-US" altLang="zh-CN" dirty="0" err="1">
                <a:solidFill>
                  <a:srgbClr val="002060"/>
                </a:solidFill>
              </a:rPr>
              <a:t>int</a:t>
            </a:r>
            <a:r>
              <a:rPr lang="en-US" altLang="zh-CN" dirty="0">
                <a:solidFill>
                  <a:srgbClr val="002060"/>
                </a:solidFill>
              </a:rPr>
              <a:t> </a:t>
            </a:r>
            <a:r>
              <a:rPr lang="en-US" altLang="zh-CN" dirty="0" err="1">
                <a:solidFill>
                  <a:srgbClr val="002060"/>
                </a:solidFill>
              </a:rPr>
              <a:t>n,char</a:t>
            </a:r>
            <a:r>
              <a:rPr lang="en-US" altLang="zh-CN" dirty="0">
                <a:solidFill>
                  <a:srgbClr val="002060"/>
                </a:solidFill>
              </a:rPr>
              <a:t> </a:t>
            </a:r>
            <a:r>
              <a:rPr lang="en-US" altLang="zh-CN" dirty="0" err="1">
                <a:solidFill>
                  <a:srgbClr val="002060"/>
                </a:solidFill>
              </a:rPr>
              <a:t>x,char</a:t>
            </a:r>
            <a:r>
              <a:rPr lang="en-US" altLang="zh-CN" dirty="0">
                <a:solidFill>
                  <a:srgbClr val="002060"/>
                </a:solidFill>
              </a:rPr>
              <a:t> </a:t>
            </a:r>
            <a:r>
              <a:rPr lang="en-US" altLang="zh-CN" dirty="0" err="1">
                <a:solidFill>
                  <a:srgbClr val="002060"/>
                </a:solidFill>
              </a:rPr>
              <a:t>y,char</a:t>
            </a:r>
            <a:r>
              <a:rPr lang="en-US" altLang="zh-CN" dirty="0">
                <a:solidFill>
                  <a:srgbClr val="002060"/>
                </a:solidFill>
              </a:rPr>
              <a:t> z)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</a:rPr>
              <a:t>(1)</a:t>
            </a:r>
            <a:r>
              <a:rPr lang="en-US" altLang="zh-CN" dirty="0"/>
              <a:t>  {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</a:rPr>
              <a:t>(2)</a:t>
            </a:r>
            <a:r>
              <a:rPr lang="en-US" altLang="zh-CN" dirty="0"/>
              <a:t>     if(n==1)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</a:rPr>
              <a:t>(3)</a:t>
            </a:r>
            <a:r>
              <a:rPr lang="en-US" altLang="zh-CN" dirty="0"/>
              <a:t>         move(1,x,z);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</a:rPr>
              <a:t>(4)</a:t>
            </a:r>
            <a:r>
              <a:rPr lang="en-US" altLang="zh-CN" dirty="0"/>
              <a:t>     else{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</a:rPr>
              <a:t>(5)</a:t>
            </a:r>
            <a:r>
              <a:rPr lang="en-US" altLang="zh-CN" dirty="0"/>
              <a:t>            </a:t>
            </a:r>
            <a:r>
              <a:rPr lang="en-US" altLang="zh-CN" dirty="0" err="1"/>
              <a:t>hanoi</a:t>
            </a:r>
            <a:r>
              <a:rPr lang="en-US" altLang="zh-CN" dirty="0"/>
              <a:t>(n-1,x,z,y);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</a:rPr>
              <a:t>(6)</a:t>
            </a:r>
            <a:r>
              <a:rPr lang="en-US" altLang="zh-CN" dirty="0"/>
              <a:t>            move(</a:t>
            </a:r>
            <a:r>
              <a:rPr lang="en-US" altLang="zh-CN" dirty="0" err="1"/>
              <a:t>n,x,z</a:t>
            </a:r>
            <a:r>
              <a:rPr lang="en-US" altLang="zh-CN" dirty="0"/>
              <a:t>);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</a:rPr>
              <a:t>(7)</a:t>
            </a:r>
            <a:r>
              <a:rPr lang="en-US" altLang="zh-CN" dirty="0"/>
              <a:t>            </a:t>
            </a:r>
            <a:r>
              <a:rPr lang="en-US" altLang="zh-CN" dirty="0" err="1"/>
              <a:t>hanoi</a:t>
            </a:r>
            <a:r>
              <a:rPr lang="en-US" altLang="zh-CN" dirty="0"/>
              <a:t>(n-1,y,x,z);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</a:rPr>
              <a:t>(8)</a:t>
            </a:r>
            <a:r>
              <a:rPr lang="en-US" altLang="zh-CN" dirty="0"/>
              <a:t>         }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</a:rPr>
              <a:t>(9)</a:t>
            </a:r>
            <a:r>
              <a:rPr lang="en-US" altLang="zh-CN" dirty="0"/>
              <a:t>  }</a:t>
            </a:r>
          </a:p>
        </p:txBody>
      </p:sp>
      <p:grpSp>
        <p:nvGrpSpPr>
          <p:cNvPr id="1112078" name="Group 14"/>
          <p:cNvGrpSpPr>
            <a:grpSpLocks/>
          </p:cNvGrpSpPr>
          <p:nvPr/>
        </p:nvGrpSpPr>
        <p:grpSpPr bwMode="auto">
          <a:xfrm>
            <a:off x="7979841" y="328614"/>
            <a:ext cx="3660775" cy="1374775"/>
            <a:chOff x="694" y="1385"/>
            <a:chExt cx="3984" cy="1493"/>
          </a:xfrm>
        </p:grpSpPr>
        <p:grpSp>
          <p:nvGrpSpPr>
            <p:cNvPr id="1112079" name="Group 15"/>
            <p:cNvGrpSpPr>
              <a:grpSpLocks/>
            </p:cNvGrpSpPr>
            <p:nvPr/>
          </p:nvGrpSpPr>
          <p:grpSpPr bwMode="auto">
            <a:xfrm>
              <a:off x="694" y="1385"/>
              <a:ext cx="1248" cy="1493"/>
              <a:chOff x="720" y="0"/>
              <a:chExt cx="1248" cy="1493"/>
            </a:xfrm>
          </p:grpSpPr>
          <p:grpSp>
            <p:nvGrpSpPr>
              <p:cNvPr id="1112080" name="Group 16"/>
              <p:cNvGrpSpPr>
                <a:grpSpLocks/>
              </p:cNvGrpSpPr>
              <p:nvPr/>
            </p:nvGrpSpPr>
            <p:grpSpPr bwMode="auto">
              <a:xfrm>
                <a:off x="720" y="0"/>
                <a:ext cx="1248" cy="1104"/>
                <a:chOff x="720" y="0"/>
                <a:chExt cx="1248" cy="1104"/>
              </a:xfrm>
            </p:grpSpPr>
            <p:sp>
              <p:nvSpPr>
                <p:cNvPr id="1112081" name="Line 17"/>
                <p:cNvSpPr>
                  <a:spLocks noChangeShapeType="1"/>
                </p:cNvSpPr>
                <p:nvPr/>
              </p:nvSpPr>
              <p:spPr bwMode="auto">
                <a:xfrm>
                  <a:off x="720" y="1104"/>
                  <a:ext cx="12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12082" name="Line 18"/>
                <p:cNvSpPr>
                  <a:spLocks noChangeShapeType="1"/>
                </p:cNvSpPr>
                <p:nvPr/>
              </p:nvSpPr>
              <p:spPr bwMode="auto">
                <a:xfrm>
                  <a:off x="1296" y="0"/>
                  <a:ext cx="0" cy="110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112083" name="Text Box 19"/>
              <p:cNvSpPr txBox="1">
                <a:spLocks noChangeArrowheads="1"/>
              </p:cNvSpPr>
              <p:nvPr/>
            </p:nvSpPr>
            <p:spPr bwMode="auto">
              <a:xfrm>
                <a:off x="1116" y="1062"/>
                <a:ext cx="400" cy="4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lang="en-US" altLang="zh-CN" sz="2000" b="1" dirty="0">
                    <a:solidFill>
                      <a:srgbClr val="CC0000"/>
                    </a:solidFill>
                  </a:rPr>
                  <a:t>A</a:t>
                </a:r>
              </a:p>
            </p:txBody>
          </p:sp>
        </p:grpSp>
        <p:grpSp>
          <p:nvGrpSpPr>
            <p:cNvPr id="1112084" name="Group 20"/>
            <p:cNvGrpSpPr>
              <a:grpSpLocks/>
            </p:cNvGrpSpPr>
            <p:nvPr/>
          </p:nvGrpSpPr>
          <p:grpSpPr bwMode="auto">
            <a:xfrm>
              <a:off x="2086" y="1385"/>
              <a:ext cx="1248" cy="1493"/>
              <a:chOff x="2112" y="0"/>
              <a:chExt cx="1248" cy="1493"/>
            </a:xfrm>
          </p:grpSpPr>
          <p:grpSp>
            <p:nvGrpSpPr>
              <p:cNvPr id="1112085" name="Group 21"/>
              <p:cNvGrpSpPr>
                <a:grpSpLocks/>
              </p:cNvGrpSpPr>
              <p:nvPr/>
            </p:nvGrpSpPr>
            <p:grpSpPr bwMode="auto">
              <a:xfrm>
                <a:off x="2112" y="0"/>
                <a:ext cx="1248" cy="1104"/>
                <a:chOff x="720" y="0"/>
                <a:chExt cx="1248" cy="1104"/>
              </a:xfrm>
            </p:grpSpPr>
            <p:sp>
              <p:nvSpPr>
                <p:cNvPr id="1112086" name="Line 22"/>
                <p:cNvSpPr>
                  <a:spLocks noChangeShapeType="1"/>
                </p:cNvSpPr>
                <p:nvPr/>
              </p:nvSpPr>
              <p:spPr bwMode="auto">
                <a:xfrm>
                  <a:off x="720" y="1104"/>
                  <a:ext cx="12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12087" name="Line 23"/>
                <p:cNvSpPr>
                  <a:spLocks noChangeShapeType="1"/>
                </p:cNvSpPr>
                <p:nvPr/>
              </p:nvSpPr>
              <p:spPr bwMode="auto">
                <a:xfrm>
                  <a:off x="1296" y="0"/>
                  <a:ext cx="0" cy="110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112088" name="Text Box 24"/>
              <p:cNvSpPr txBox="1">
                <a:spLocks noChangeArrowheads="1"/>
              </p:cNvSpPr>
              <p:nvPr/>
            </p:nvSpPr>
            <p:spPr bwMode="auto">
              <a:xfrm>
                <a:off x="2515" y="1062"/>
                <a:ext cx="385" cy="4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lang="en-US" altLang="zh-CN" sz="2000" b="1">
                    <a:solidFill>
                      <a:srgbClr val="CC0000"/>
                    </a:solidFill>
                  </a:rPr>
                  <a:t>B</a:t>
                </a:r>
              </a:p>
            </p:txBody>
          </p:sp>
        </p:grpSp>
        <p:grpSp>
          <p:nvGrpSpPr>
            <p:cNvPr id="1112089" name="Group 25"/>
            <p:cNvGrpSpPr>
              <a:grpSpLocks/>
            </p:cNvGrpSpPr>
            <p:nvPr/>
          </p:nvGrpSpPr>
          <p:grpSpPr bwMode="auto">
            <a:xfrm>
              <a:off x="3430" y="1385"/>
              <a:ext cx="1248" cy="1493"/>
              <a:chOff x="3456" y="0"/>
              <a:chExt cx="1248" cy="1493"/>
            </a:xfrm>
          </p:grpSpPr>
          <p:grpSp>
            <p:nvGrpSpPr>
              <p:cNvPr id="1112090" name="Group 26"/>
              <p:cNvGrpSpPr>
                <a:grpSpLocks/>
              </p:cNvGrpSpPr>
              <p:nvPr/>
            </p:nvGrpSpPr>
            <p:grpSpPr bwMode="auto">
              <a:xfrm>
                <a:off x="3456" y="0"/>
                <a:ext cx="1248" cy="1104"/>
                <a:chOff x="720" y="0"/>
                <a:chExt cx="1248" cy="1104"/>
              </a:xfrm>
            </p:grpSpPr>
            <p:sp>
              <p:nvSpPr>
                <p:cNvPr id="1112091" name="Line 27"/>
                <p:cNvSpPr>
                  <a:spLocks noChangeShapeType="1"/>
                </p:cNvSpPr>
                <p:nvPr/>
              </p:nvSpPr>
              <p:spPr bwMode="auto">
                <a:xfrm>
                  <a:off x="720" y="1104"/>
                  <a:ext cx="12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12092" name="Line 28"/>
                <p:cNvSpPr>
                  <a:spLocks noChangeShapeType="1"/>
                </p:cNvSpPr>
                <p:nvPr/>
              </p:nvSpPr>
              <p:spPr bwMode="auto">
                <a:xfrm>
                  <a:off x="1296" y="0"/>
                  <a:ext cx="0" cy="110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112093" name="Text Box 29"/>
              <p:cNvSpPr txBox="1">
                <a:spLocks noChangeArrowheads="1"/>
              </p:cNvSpPr>
              <p:nvPr/>
            </p:nvSpPr>
            <p:spPr bwMode="auto">
              <a:xfrm>
                <a:off x="3848" y="1062"/>
                <a:ext cx="401" cy="4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lang="en-US" altLang="zh-CN" sz="2000" b="1">
                    <a:solidFill>
                      <a:srgbClr val="CC0000"/>
                    </a:solidFill>
                  </a:rPr>
                  <a:t>C</a:t>
                </a:r>
              </a:p>
            </p:txBody>
          </p:sp>
        </p:grpSp>
        <p:sp>
          <p:nvSpPr>
            <p:cNvPr id="1112094" name="Rectangle 30"/>
            <p:cNvSpPr>
              <a:spLocks noChangeArrowheads="1"/>
            </p:cNvSpPr>
            <p:nvPr/>
          </p:nvSpPr>
          <p:spPr bwMode="auto">
            <a:xfrm>
              <a:off x="2433" y="2343"/>
              <a:ext cx="480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2095" name="Rectangle 31"/>
            <p:cNvSpPr>
              <a:spLocks noChangeArrowheads="1"/>
            </p:cNvSpPr>
            <p:nvPr/>
          </p:nvSpPr>
          <p:spPr bwMode="auto">
            <a:xfrm>
              <a:off x="2520" y="2199"/>
              <a:ext cx="288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2096" name="Rectangle 32"/>
            <p:cNvSpPr>
              <a:spLocks noChangeArrowheads="1"/>
            </p:cNvSpPr>
            <p:nvPr/>
          </p:nvSpPr>
          <p:spPr bwMode="auto">
            <a:xfrm>
              <a:off x="3623" y="2349"/>
              <a:ext cx="768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12097" name="Group 33"/>
          <p:cNvGrpSpPr>
            <a:grpSpLocks/>
          </p:cNvGrpSpPr>
          <p:nvPr/>
        </p:nvGrpSpPr>
        <p:grpSpPr bwMode="auto">
          <a:xfrm>
            <a:off x="8430691" y="1622425"/>
            <a:ext cx="2132013" cy="1066800"/>
            <a:chOff x="4236" y="608"/>
            <a:chExt cx="1343" cy="672"/>
          </a:xfrm>
        </p:grpSpPr>
        <p:grpSp>
          <p:nvGrpSpPr>
            <p:cNvPr id="1112098" name="Group 34"/>
            <p:cNvGrpSpPr>
              <a:grpSpLocks/>
            </p:cNvGrpSpPr>
            <p:nvPr/>
          </p:nvGrpSpPr>
          <p:grpSpPr bwMode="auto">
            <a:xfrm>
              <a:off x="4236" y="1020"/>
              <a:ext cx="1342" cy="260"/>
              <a:chOff x="3628" y="1745"/>
              <a:chExt cx="1342" cy="260"/>
            </a:xfrm>
          </p:grpSpPr>
          <p:sp>
            <p:nvSpPr>
              <p:cNvPr id="1112099" name="Rectangle 35"/>
              <p:cNvSpPr>
                <a:spLocks noChangeArrowheads="1"/>
              </p:cNvSpPr>
              <p:nvPr/>
            </p:nvSpPr>
            <p:spPr bwMode="auto">
              <a:xfrm>
                <a:off x="3628" y="1749"/>
                <a:ext cx="1342" cy="2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r>
                  <a:rPr lang="zh-CN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3    </a:t>
                </a:r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A    B    C     0</a:t>
                </a:r>
              </a:p>
            </p:txBody>
          </p:sp>
          <p:sp>
            <p:nvSpPr>
              <p:cNvPr id="1112100" name="Line 36"/>
              <p:cNvSpPr>
                <a:spLocks noChangeShapeType="1"/>
              </p:cNvSpPr>
              <p:nvPr/>
            </p:nvSpPr>
            <p:spPr bwMode="auto">
              <a:xfrm flipH="1">
                <a:off x="3867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2101" name="Line 37"/>
              <p:cNvSpPr>
                <a:spLocks noChangeShapeType="1"/>
              </p:cNvSpPr>
              <p:nvPr/>
            </p:nvSpPr>
            <p:spPr bwMode="auto">
              <a:xfrm>
                <a:off x="4101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2102" name="Line 38"/>
              <p:cNvSpPr>
                <a:spLocks noChangeShapeType="1"/>
              </p:cNvSpPr>
              <p:nvPr/>
            </p:nvSpPr>
            <p:spPr bwMode="auto">
              <a:xfrm>
                <a:off x="4356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2103" name="Line 39"/>
              <p:cNvSpPr>
                <a:spLocks noChangeShapeType="1"/>
              </p:cNvSpPr>
              <p:nvPr/>
            </p:nvSpPr>
            <p:spPr bwMode="auto">
              <a:xfrm>
                <a:off x="4634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112104" name="Group 40"/>
            <p:cNvGrpSpPr>
              <a:grpSpLocks/>
            </p:cNvGrpSpPr>
            <p:nvPr/>
          </p:nvGrpSpPr>
          <p:grpSpPr bwMode="auto">
            <a:xfrm>
              <a:off x="4237" y="608"/>
              <a:ext cx="1342" cy="416"/>
              <a:chOff x="4174" y="622"/>
              <a:chExt cx="1342" cy="416"/>
            </a:xfrm>
          </p:grpSpPr>
          <p:grpSp>
            <p:nvGrpSpPr>
              <p:cNvPr id="1112105" name="Group 41"/>
              <p:cNvGrpSpPr>
                <a:grpSpLocks/>
              </p:cNvGrpSpPr>
              <p:nvPr/>
            </p:nvGrpSpPr>
            <p:grpSpPr bwMode="auto">
              <a:xfrm>
                <a:off x="4174" y="778"/>
                <a:ext cx="1342" cy="260"/>
                <a:chOff x="3628" y="1745"/>
                <a:chExt cx="1342" cy="260"/>
              </a:xfrm>
            </p:grpSpPr>
            <p:sp>
              <p:nvSpPr>
                <p:cNvPr id="1112106" name="Rectangle 42"/>
                <p:cNvSpPr>
                  <a:spLocks noChangeArrowheads="1"/>
                </p:cNvSpPr>
                <p:nvPr/>
              </p:nvSpPr>
              <p:spPr bwMode="auto">
                <a:xfrm>
                  <a:off x="3628" y="1749"/>
                  <a:ext cx="134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r>
                    <a:rPr lang="zh-CN" altLang="zh-CN" sz="2000" b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</a:rPr>
                    <a:t>2    </a:t>
                  </a:r>
                  <a:r>
                    <a:rPr lang="en-US" altLang="zh-CN" sz="2000" b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</a:rPr>
                    <a:t>B    A    C     8</a:t>
                  </a:r>
                </a:p>
              </p:txBody>
            </p:sp>
            <p:sp>
              <p:nvSpPr>
                <p:cNvPr id="1112107" name="Line 43"/>
                <p:cNvSpPr>
                  <a:spLocks noChangeShapeType="1"/>
                </p:cNvSpPr>
                <p:nvPr/>
              </p:nvSpPr>
              <p:spPr bwMode="auto">
                <a:xfrm flipH="1">
                  <a:off x="3867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2108" name="Line 44"/>
                <p:cNvSpPr>
                  <a:spLocks noChangeShapeType="1"/>
                </p:cNvSpPr>
                <p:nvPr/>
              </p:nvSpPr>
              <p:spPr bwMode="auto">
                <a:xfrm>
                  <a:off x="4101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2109" name="Line 45"/>
                <p:cNvSpPr>
                  <a:spLocks noChangeShapeType="1"/>
                </p:cNvSpPr>
                <p:nvPr/>
              </p:nvSpPr>
              <p:spPr bwMode="auto">
                <a:xfrm>
                  <a:off x="4356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2110" name="Line 46"/>
                <p:cNvSpPr>
                  <a:spLocks noChangeShapeType="1"/>
                </p:cNvSpPr>
                <p:nvPr/>
              </p:nvSpPr>
              <p:spPr bwMode="auto">
                <a:xfrm>
                  <a:off x="4634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1112111" name="Line 47"/>
              <p:cNvSpPr>
                <a:spLocks noChangeShapeType="1"/>
              </p:cNvSpPr>
              <p:nvPr/>
            </p:nvSpPr>
            <p:spPr bwMode="auto">
              <a:xfrm flipV="1">
                <a:off x="4178" y="622"/>
                <a:ext cx="0" cy="17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2112" name="Line 48"/>
              <p:cNvSpPr>
                <a:spLocks noChangeShapeType="1"/>
              </p:cNvSpPr>
              <p:nvPr/>
            </p:nvSpPr>
            <p:spPr bwMode="auto">
              <a:xfrm flipV="1">
                <a:off x="5512" y="644"/>
                <a:ext cx="0" cy="1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1112113" name="Group 49"/>
          <p:cNvGrpSpPr>
            <a:grpSpLocks/>
          </p:cNvGrpSpPr>
          <p:nvPr/>
        </p:nvGrpSpPr>
        <p:grpSpPr bwMode="auto">
          <a:xfrm>
            <a:off x="8421165" y="2708275"/>
            <a:ext cx="2141538" cy="1466850"/>
            <a:chOff x="4259" y="1385"/>
            <a:chExt cx="1349" cy="924"/>
          </a:xfrm>
        </p:grpSpPr>
        <p:grpSp>
          <p:nvGrpSpPr>
            <p:cNvPr id="1112114" name="Group 50"/>
            <p:cNvGrpSpPr>
              <a:grpSpLocks/>
            </p:cNvGrpSpPr>
            <p:nvPr/>
          </p:nvGrpSpPr>
          <p:grpSpPr bwMode="auto">
            <a:xfrm>
              <a:off x="4265" y="2049"/>
              <a:ext cx="1342" cy="260"/>
              <a:chOff x="3628" y="1745"/>
              <a:chExt cx="1342" cy="260"/>
            </a:xfrm>
          </p:grpSpPr>
          <p:sp>
            <p:nvSpPr>
              <p:cNvPr id="1112115" name="Rectangle 51"/>
              <p:cNvSpPr>
                <a:spLocks noChangeArrowheads="1"/>
              </p:cNvSpPr>
              <p:nvPr/>
            </p:nvSpPr>
            <p:spPr bwMode="auto">
              <a:xfrm>
                <a:off x="3628" y="1749"/>
                <a:ext cx="1342" cy="2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r>
                  <a:rPr lang="zh-CN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3    </a:t>
                </a:r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A    B    C     0</a:t>
                </a:r>
              </a:p>
            </p:txBody>
          </p:sp>
          <p:sp>
            <p:nvSpPr>
              <p:cNvPr id="1112116" name="Line 52"/>
              <p:cNvSpPr>
                <a:spLocks noChangeShapeType="1"/>
              </p:cNvSpPr>
              <p:nvPr/>
            </p:nvSpPr>
            <p:spPr bwMode="auto">
              <a:xfrm flipH="1">
                <a:off x="3867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2117" name="Line 53"/>
              <p:cNvSpPr>
                <a:spLocks noChangeShapeType="1"/>
              </p:cNvSpPr>
              <p:nvPr/>
            </p:nvSpPr>
            <p:spPr bwMode="auto">
              <a:xfrm>
                <a:off x="4101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2118" name="Line 54"/>
              <p:cNvSpPr>
                <a:spLocks noChangeShapeType="1"/>
              </p:cNvSpPr>
              <p:nvPr/>
            </p:nvSpPr>
            <p:spPr bwMode="auto">
              <a:xfrm>
                <a:off x="4356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2119" name="Line 55"/>
              <p:cNvSpPr>
                <a:spLocks noChangeShapeType="1"/>
              </p:cNvSpPr>
              <p:nvPr/>
            </p:nvSpPr>
            <p:spPr bwMode="auto">
              <a:xfrm>
                <a:off x="4634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112120" name="Group 56"/>
            <p:cNvGrpSpPr>
              <a:grpSpLocks/>
            </p:cNvGrpSpPr>
            <p:nvPr/>
          </p:nvGrpSpPr>
          <p:grpSpPr bwMode="auto">
            <a:xfrm>
              <a:off x="4266" y="1793"/>
              <a:ext cx="1342" cy="260"/>
              <a:chOff x="3628" y="1745"/>
              <a:chExt cx="1342" cy="260"/>
            </a:xfrm>
          </p:grpSpPr>
          <p:sp>
            <p:nvSpPr>
              <p:cNvPr id="1112121" name="Rectangle 57"/>
              <p:cNvSpPr>
                <a:spLocks noChangeArrowheads="1"/>
              </p:cNvSpPr>
              <p:nvPr/>
            </p:nvSpPr>
            <p:spPr bwMode="auto">
              <a:xfrm>
                <a:off x="3628" y="1749"/>
                <a:ext cx="1342" cy="2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r>
                  <a:rPr lang="zh-CN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2    </a:t>
                </a:r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B    A    C     8</a:t>
                </a:r>
              </a:p>
            </p:txBody>
          </p:sp>
          <p:sp>
            <p:nvSpPr>
              <p:cNvPr id="1112122" name="Line 58"/>
              <p:cNvSpPr>
                <a:spLocks noChangeShapeType="1"/>
              </p:cNvSpPr>
              <p:nvPr/>
            </p:nvSpPr>
            <p:spPr bwMode="auto">
              <a:xfrm flipH="1">
                <a:off x="3867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2123" name="Line 59"/>
              <p:cNvSpPr>
                <a:spLocks noChangeShapeType="1"/>
              </p:cNvSpPr>
              <p:nvPr/>
            </p:nvSpPr>
            <p:spPr bwMode="auto">
              <a:xfrm>
                <a:off x="4101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2124" name="Line 60"/>
              <p:cNvSpPr>
                <a:spLocks noChangeShapeType="1"/>
              </p:cNvSpPr>
              <p:nvPr/>
            </p:nvSpPr>
            <p:spPr bwMode="auto">
              <a:xfrm>
                <a:off x="4356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2125" name="Line 61"/>
              <p:cNvSpPr>
                <a:spLocks noChangeShapeType="1"/>
              </p:cNvSpPr>
              <p:nvPr/>
            </p:nvSpPr>
            <p:spPr bwMode="auto">
              <a:xfrm>
                <a:off x="4634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112126" name="Group 62"/>
            <p:cNvGrpSpPr>
              <a:grpSpLocks/>
            </p:cNvGrpSpPr>
            <p:nvPr/>
          </p:nvGrpSpPr>
          <p:grpSpPr bwMode="auto">
            <a:xfrm>
              <a:off x="4259" y="1385"/>
              <a:ext cx="1342" cy="416"/>
              <a:chOff x="4174" y="622"/>
              <a:chExt cx="1342" cy="416"/>
            </a:xfrm>
          </p:grpSpPr>
          <p:grpSp>
            <p:nvGrpSpPr>
              <p:cNvPr id="1112127" name="Group 63"/>
              <p:cNvGrpSpPr>
                <a:grpSpLocks/>
              </p:cNvGrpSpPr>
              <p:nvPr/>
            </p:nvGrpSpPr>
            <p:grpSpPr bwMode="auto">
              <a:xfrm>
                <a:off x="4174" y="778"/>
                <a:ext cx="1342" cy="260"/>
                <a:chOff x="3628" y="1745"/>
                <a:chExt cx="1342" cy="260"/>
              </a:xfrm>
            </p:grpSpPr>
            <p:sp>
              <p:nvSpPr>
                <p:cNvPr id="1112128" name="Rectangle 64"/>
                <p:cNvSpPr>
                  <a:spLocks noChangeArrowheads="1"/>
                </p:cNvSpPr>
                <p:nvPr/>
              </p:nvSpPr>
              <p:spPr bwMode="auto">
                <a:xfrm>
                  <a:off x="3628" y="1749"/>
                  <a:ext cx="134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r>
                    <a:rPr lang="zh-CN" altLang="zh-CN" sz="2000" b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</a:rPr>
                    <a:t>1    </a:t>
                  </a:r>
                  <a:r>
                    <a:rPr lang="en-US" altLang="zh-CN" sz="2000" b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</a:rPr>
                    <a:t>B    C    A    6</a:t>
                  </a:r>
                </a:p>
              </p:txBody>
            </p:sp>
            <p:sp>
              <p:nvSpPr>
                <p:cNvPr id="1112129" name="Line 65"/>
                <p:cNvSpPr>
                  <a:spLocks noChangeShapeType="1"/>
                </p:cNvSpPr>
                <p:nvPr/>
              </p:nvSpPr>
              <p:spPr bwMode="auto">
                <a:xfrm flipH="1">
                  <a:off x="3867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2130" name="Line 66"/>
                <p:cNvSpPr>
                  <a:spLocks noChangeShapeType="1"/>
                </p:cNvSpPr>
                <p:nvPr/>
              </p:nvSpPr>
              <p:spPr bwMode="auto">
                <a:xfrm>
                  <a:off x="4101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2131" name="Line 67"/>
                <p:cNvSpPr>
                  <a:spLocks noChangeShapeType="1"/>
                </p:cNvSpPr>
                <p:nvPr/>
              </p:nvSpPr>
              <p:spPr bwMode="auto">
                <a:xfrm>
                  <a:off x="4356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2132" name="Line 68"/>
                <p:cNvSpPr>
                  <a:spLocks noChangeShapeType="1"/>
                </p:cNvSpPr>
                <p:nvPr/>
              </p:nvSpPr>
              <p:spPr bwMode="auto">
                <a:xfrm>
                  <a:off x="4634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1112133" name="Line 69"/>
              <p:cNvSpPr>
                <a:spLocks noChangeShapeType="1"/>
              </p:cNvSpPr>
              <p:nvPr/>
            </p:nvSpPr>
            <p:spPr bwMode="auto">
              <a:xfrm flipV="1">
                <a:off x="4178" y="622"/>
                <a:ext cx="0" cy="17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2134" name="Line 70"/>
              <p:cNvSpPr>
                <a:spLocks noChangeShapeType="1"/>
              </p:cNvSpPr>
              <p:nvPr/>
            </p:nvSpPr>
            <p:spPr bwMode="auto">
              <a:xfrm flipV="1">
                <a:off x="5512" y="644"/>
                <a:ext cx="0" cy="1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1112135" name="Group 71"/>
          <p:cNvGrpSpPr>
            <a:grpSpLocks/>
          </p:cNvGrpSpPr>
          <p:nvPr/>
        </p:nvGrpSpPr>
        <p:grpSpPr bwMode="auto">
          <a:xfrm>
            <a:off x="7967141" y="4314826"/>
            <a:ext cx="3395663" cy="1228725"/>
            <a:chOff x="690" y="2918"/>
            <a:chExt cx="3984" cy="1525"/>
          </a:xfrm>
        </p:grpSpPr>
        <p:grpSp>
          <p:nvGrpSpPr>
            <p:cNvPr id="1112136" name="Group 72"/>
            <p:cNvGrpSpPr>
              <a:grpSpLocks/>
            </p:cNvGrpSpPr>
            <p:nvPr/>
          </p:nvGrpSpPr>
          <p:grpSpPr bwMode="auto">
            <a:xfrm>
              <a:off x="690" y="2918"/>
              <a:ext cx="1248" cy="1525"/>
              <a:chOff x="720" y="0"/>
              <a:chExt cx="1248" cy="1525"/>
            </a:xfrm>
          </p:grpSpPr>
          <p:grpSp>
            <p:nvGrpSpPr>
              <p:cNvPr id="1112137" name="Group 73"/>
              <p:cNvGrpSpPr>
                <a:grpSpLocks/>
              </p:cNvGrpSpPr>
              <p:nvPr/>
            </p:nvGrpSpPr>
            <p:grpSpPr bwMode="auto">
              <a:xfrm>
                <a:off x="720" y="0"/>
                <a:ext cx="1248" cy="1104"/>
                <a:chOff x="720" y="0"/>
                <a:chExt cx="1248" cy="1104"/>
              </a:xfrm>
            </p:grpSpPr>
            <p:sp>
              <p:nvSpPr>
                <p:cNvPr id="1112138" name="Line 74"/>
                <p:cNvSpPr>
                  <a:spLocks noChangeShapeType="1"/>
                </p:cNvSpPr>
                <p:nvPr/>
              </p:nvSpPr>
              <p:spPr bwMode="auto">
                <a:xfrm>
                  <a:off x="720" y="1104"/>
                  <a:ext cx="12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12139" name="Line 75"/>
                <p:cNvSpPr>
                  <a:spLocks noChangeShapeType="1"/>
                </p:cNvSpPr>
                <p:nvPr/>
              </p:nvSpPr>
              <p:spPr bwMode="auto">
                <a:xfrm>
                  <a:off x="1296" y="0"/>
                  <a:ext cx="0" cy="110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112140" name="Text Box 76"/>
              <p:cNvSpPr txBox="1">
                <a:spLocks noChangeArrowheads="1"/>
              </p:cNvSpPr>
              <p:nvPr/>
            </p:nvSpPr>
            <p:spPr bwMode="auto">
              <a:xfrm>
                <a:off x="1100" y="1032"/>
                <a:ext cx="432" cy="49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lang="en-US" altLang="zh-CN" sz="2000" b="1">
                    <a:solidFill>
                      <a:srgbClr val="CC0000"/>
                    </a:solidFill>
                  </a:rPr>
                  <a:t>A</a:t>
                </a:r>
              </a:p>
            </p:txBody>
          </p:sp>
        </p:grpSp>
        <p:grpSp>
          <p:nvGrpSpPr>
            <p:cNvPr id="1112141" name="Group 77"/>
            <p:cNvGrpSpPr>
              <a:grpSpLocks/>
            </p:cNvGrpSpPr>
            <p:nvPr/>
          </p:nvGrpSpPr>
          <p:grpSpPr bwMode="auto">
            <a:xfrm>
              <a:off x="2082" y="2918"/>
              <a:ext cx="1248" cy="1525"/>
              <a:chOff x="2112" y="0"/>
              <a:chExt cx="1248" cy="1525"/>
            </a:xfrm>
          </p:grpSpPr>
          <p:grpSp>
            <p:nvGrpSpPr>
              <p:cNvPr id="1112142" name="Group 78"/>
              <p:cNvGrpSpPr>
                <a:grpSpLocks/>
              </p:cNvGrpSpPr>
              <p:nvPr/>
            </p:nvGrpSpPr>
            <p:grpSpPr bwMode="auto">
              <a:xfrm>
                <a:off x="2112" y="0"/>
                <a:ext cx="1248" cy="1104"/>
                <a:chOff x="720" y="0"/>
                <a:chExt cx="1248" cy="1104"/>
              </a:xfrm>
            </p:grpSpPr>
            <p:sp>
              <p:nvSpPr>
                <p:cNvPr id="1112143" name="Line 79"/>
                <p:cNvSpPr>
                  <a:spLocks noChangeShapeType="1"/>
                </p:cNvSpPr>
                <p:nvPr/>
              </p:nvSpPr>
              <p:spPr bwMode="auto">
                <a:xfrm>
                  <a:off x="720" y="1104"/>
                  <a:ext cx="12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12144" name="Line 80"/>
                <p:cNvSpPr>
                  <a:spLocks noChangeShapeType="1"/>
                </p:cNvSpPr>
                <p:nvPr/>
              </p:nvSpPr>
              <p:spPr bwMode="auto">
                <a:xfrm>
                  <a:off x="1296" y="0"/>
                  <a:ext cx="0" cy="110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112145" name="Text Box 81"/>
              <p:cNvSpPr txBox="1">
                <a:spLocks noChangeArrowheads="1"/>
              </p:cNvSpPr>
              <p:nvPr/>
            </p:nvSpPr>
            <p:spPr bwMode="auto">
              <a:xfrm>
                <a:off x="2501" y="1032"/>
                <a:ext cx="415" cy="49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lang="en-US" altLang="zh-CN" sz="2000" b="1">
                    <a:solidFill>
                      <a:srgbClr val="CC0000"/>
                    </a:solidFill>
                  </a:rPr>
                  <a:t>B</a:t>
                </a:r>
              </a:p>
            </p:txBody>
          </p:sp>
        </p:grpSp>
        <p:grpSp>
          <p:nvGrpSpPr>
            <p:cNvPr id="1112146" name="Group 82"/>
            <p:cNvGrpSpPr>
              <a:grpSpLocks/>
            </p:cNvGrpSpPr>
            <p:nvPr/>
          </p:nvGrpSpPr>
          <p:grpSpPr bwMode="auto">
            <a:xfrm>
              <a:off x="3426" y="2918"/>
              <a:ext cx="1248" cy="1525"/>
              <a:chOff x="3456" y="0"/>
              <a:chExt cx="1248" cy="1525"/>
            </a:xfrm>
          </p:grpSpPr>
          <p:grpSp>
            <p:nvGrpSpPr>
              <p:cNvPr id="1112147" name="Group 83"/>
              <p:cNvGrpSpPr>
                <a:grpSpLocks/>
              </p:cNvGrpSpPr>
              <p:nvPr/>
            </p:nvGrpSpPr>
            <p:grpSpPr bwMode="auto">
              <a:xfrm>
                <a:off x="3456" y="0"/>
                <a:ext cx="1248" cy="1104"/>
                <a:chOff x="720" y="0"/>
                <a:chExt cx="1248" cy="1104"/>
              </a:xfrm>
            </p:grpSpPr>
            <p:sp>
              <p:nvSpPr>
                <p:cNvPr id="1112148" name="Line 84"/>
                <p:cNvSpPr>
                  <a:spLocks noChangeShapeType="1"/>
                </p:cNvSpPr>
                <p:nvPr/>
              </p:nvSpPr>
              <p:spPr bwMode="auto">
                <a:xfrm>
                  <a:off x="720" y="1104"/>
                  <a:ext cx="12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12149" name="Line 85"/>
                <p:cNvSpPr>
                  <a:spLocks noChangeShapeType="1"/>
                </p:cNvSpPr>
                <p:nvPr/>
              </p:nvSpPr>
              <p:spPr bwMode="auto">
                <a:xfrm>
                  <a:off x="1296" y="0"/>
                  <a:ext cx="0" cy="110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112150" name="Text Box 86"/>
              <p:cNvSpPr txBox="1">
                <a:spLocks noChangeArrowheads="1"/>
              </p:cNvSpPr>
              <p:nvPr/>
            </p:nvSpPr>
            <p:spPr bwMode="auto">
              <a:xfrm>
                <a:off x="3832" y="1032"/>
                <a:ext cx="432" cy="49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lang="en-US" altLang="zh-CN" sz="2000" b="1">
                    <a:solidFill>
                      <a:srgbClr val="CC0000"/>
                    </a:solidFill>
                  </a:rPr>
                  <a:t>C</a:t>
                </a:r>
              </a:p>
            </p:txBody>
          </p:sp>
        </p:grpSp>
        <p:sp>
          <p:nvSpPr>
            <p:cNvPr id="1112151" name="Rectangle 87"/>
            <p:cNvSpPr>
              <a:spLocks noChangeArrowheads="1"/>
            </p:cNvSpPr>
            <p:nvPr/>
          </p:nvSpPr>
          <p:spPr bwMode="auto">
            <a:xfrm>
              <a:off x="2429" y="3876"/>
              <a:ext cx="480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2152" name="Rectangle 88"/>
            <p:cNvSpPr>
              <a:spLocks noChangeArrowheads="1"/>
            </p:cNvSpPr>
            <p:nvPr/>
          </p:nvSpPr>
          <p:spPr bwMode="auto">
            <a:xfrm>
              <a:off x="3619" y="3882"/>
              <a:ext cx="768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2153" name="Rectangle 89"/>
            <p:cNvSpPr>
              <a:spLocks noChangeArrowheads="1"/>
            </p:cNvSpPr>
            <p:nvPr/>
          </p:nvSpPr>
          <p:spPr bwMode="auto">
            <a:xfrm>
              <a:off x="1135" y="3882"/>
              <a:ext cx="288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12154" name="Group 90"/>
          <p:cNvGrpSpPr>
            <a:grpSpLocks/>
          </p:cNvGrpSpPr>
          <p:nvPr/>
        </p:nvGrpSpPr>
        <p:grpSpPr bwMode="auto">
          <a:xfrm>
            <a:off x="8413228" y="5451475"/>
            <a:ext cx="2132012" cy="1066800"/>
            <a:chOff x="4236" y="608"/>
            <a:chExt cx="1343" cy="672"/>
          </a:xfrm>
        </p:grpSpPr>
        <p:grpSp>
          <p:nvGrpSpPr>
            <p:cNvPr id="1112155" name="Group 91"/>
            <p:cNvGrpSpPr>
              <a:grpSpLocks/>
            </p:cNvGrpSpPr>
            <p:nvPr/>
          </p:nvGrpSpPr>
          <p:grpSpPr bwMode="auto">
            <a:xfrm>
              <a:off x="4236" y="1020"/>
              <a:ext cx="1342" cy="260"/>
              <a:chOff x="3628" y="1745"/>
              <a:chExt cx="1342" cy="260"/>
            </a:xfrm>
          </p:grpSpPr>
          <p:sp>
            <p:nvSpPr>
              <p:cNvPr id="1112156" name="Rectangle 92"/>
              <p:cNvSpPr>
                <a:spLocks noChangeArrowheads="1"/>
              </p:cNvSpPr>
              <p:nvPr/>
            </p:nvSpPr>
            <p:spPr bwMode="auto">
              <a:xfrm>
                <a:off x="3628" y="1749"/>
                <a:ext cx="1342" cy="2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r>
                  <a:rPr lang="zh-CN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3    </a:t>
                </a:r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A    B    C     0</a:t>
                </a:r>
              </a:p>
            </p:txBody>
          </p:sp>
          <p:sp>
            <p:nvSpPr>
              <p:cNvPr id="1112157" name="Line 93"/>
              <p:cNvSpPr>
                <a:spLocks noChangeShapeType="1"/>
              </p:cNvSpPr>
              <p:nvPr/>
            </p:nvSpPr>
            <p:spPr bwMode="auto">
              <a:xfrm flipH="1">
                <a:off x="3867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2158" name="Line 94"/>
              <p:cNvSpPr>
                <a:spLocks noChangeShapeType="1"/>
              </p:cNvSpPr>
              <p:nvPr/>
            </p:nvSpPr>
            <p:spPr bwMode="auto">
              <a:xfrm>
                <a:off x="4101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2159" name="Line 95"/>
              <p:cNvSpPr>
                <a:spLocks noChangeShapeType="1"/>
              </p:cNvSpPr>
              <p:nvPr/>
            </p:nvSpPr>
            <p:spPr bwMode="auto">
              <a:xfrm>
                <a:off x="4356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2160" name="Line 96"/>
              <p:cNvSpPr>
                <a:spLocks noChangeShapeType="1"/>
              </p:cNvSpPr>
              <p:nvPr/>
            </p:nvSpPr>
            <p:spPr bwMode="auto">
              <a:xfrm>
                <a:off x="4634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112161" name="Group 97"/>
            <p:cNvGrpSpPr>
              <a:grpSpLocks/>
            </p:cNvGrpSpPr>
            <p:nvPr/>
          </p:nvGrpSpPr>
          <p:grpSpPr bwMode="auto">
            <a:xfrm>
              <a:off x="4237" y="608"/>
              <a:ext cx="1342" cy="416"/>
              <a:chOff x="4174" y="622"/>
              <a:chExt cx="1342" cy="416"/>
            </a:xfrm>
          </p:grpSpPr>
          <p:grpSp>
            <p:nvGrpSpPr>
              <p:cNvPr id="1112162" name="Group 98"/>
              <p:cNvGrpSpPr>
                <a:grpSpLocks/>
              </p:cNvGrpSpPr>
              <p:nvPr/>
            </p:nvGrpSpPr>
            <p:grpSpPr bwMode="auto">
              <a:xfrm>
                <a:off x="4174" y="778"/>
                <a:ext cx="1342" cy="260"/>
                <a:chOff x="3628" y="1745"/>
                <a:chExt cx="1342" cy="260"/>
              </a:xfrm>
            </p:grpSpPr>
            <p:sp>
              <p:nvSpPr>
                <p:cNvPr id="1112163" name="Rectangle 99"/>
                <p:cNvSpPr>
                  <a:spLocks noChangeArrowheads="1"/>
                </p:cNvSpPr>
                <p:nvPr/>
              </p:nvSpPr>
              <p:spPr bwMode="auto">
                <a:xfrm>
                  <a:off x="3628" y="1749"/>
                  <a:ext cx="134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r>
                    <a:rPr lang="zh-CN" altLang="zh-CN" sz="2000" b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</a:rPr>
                    <a:t>2    </a:t>
                  </a:r>
                  <a:r>
                    <a:rPr lang="en-US" altLang="zh-CN" sz="2000" b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</a:rPr>
                    <a:t>B    A    C     8</a:t>
                  </a:r>
                </a:p>
              </p:txBody>
            </p:sp>
            <p:sp>
              <p:nvSpPr>
                <p:cNvPr id="1112164" name="Line 100"/>
                <p:cNvSpPr>
                  <a:spLocks noChangeShapeType="1"/>
                </p:cNvSpPr>
                <p:nvPr/>
              </p:nvSpPr>
              <p:spPr bwMode="auto">
                <a:xfrm flipH="1">
                  <a:off x="3867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2165" name="Line 101"/>
                <p:cNvSpPr>
                  <a:spLocks noChangeShapeType="1"/>
                </p:cNvSpPr>
                <p:nvPr/>
              </p:nvSpPr>
              <p:spPr bwMode="auto">
                <a:xfrm>
                  <a:off x="4101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2166" name="Line 102"/>
                <p:cNvSpPr>
                  <a:spLocks noChangeShapeType="1"/>
                </p:cNvSpPr>
                <p:nvPr/>
              </p:nvSpPr>
              <p:spPr bwMode="auto">
                <a:xfrm>
                  <a:off x="4356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2167" name="Line 103"/>
                <p:cNvSpPr>
                  <a:spLocks noChangeShapeType="1"/>
                </p:cNvSpPr>
                <p:nvPr/>
              </p:nvSpPr>
              <p:spPr bwMode="auto">
                <a:xfrm>
                  <a:off x="4634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1112168" name="Line 104"/>
              <p:cNvSpPr>
                <a:spLocks noChangeShapeType="1"/>
              </p:cNvSpPr>
              <p:nvPr/>
            </p:nvSpPr>
            <p:spPr bwMode="auto">
              <a:xfrm flipV="1">
                <a:off x="4178" y="622"/>
                <a:ext cx="0" cy="17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2169" name="Line 105"/>
              <p:cNvSpPr>
                <a:spLocks noChangeShapeType="1"/>
              </p:cNvSpPr>
              <p:nvPr/>
            </p:nvSpPr>
            <p:spPr bwMode="auto">
              <a:xfrm flipV="1">
                <a:off x="5512" y="644"/>
                <a:ext cx="0" cy="1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1112172" name="Group 108"/>
          <p:cNvGrpSpPr>
            <a:grpSpLocks/>
          </p:cNvGrpSpPr>
          <p:nvPr/>
        </p:nvGrpSpPr>
        <p:grpSpPr bwMode="auto">
          <a:xfrm>
            <a:off x="5807968" y="896392"/>
            <a:ext cx="2130425" cy="660400"/>
            <a:chOff x="4174" y="622"/>
            <a:chExt cx="1342" cy="416"/>
          </a:xfrm>
        </p:grpSpPr>
        <p:grpSp>
          <p:nvGrpSpPr>
            <p:cNvPr id="1112173" name="Group 109"/>
            <p:cNvGrpSpPr>
              <a:grpSpLocks/>
            </p:cNvGrpSpPr>
            <p:nvPr/>
          </p:nvGrpSpPr>
          <p:grpSpPr bwMode="auto">
            <a:xfrm>
              <a:off x="4174" y="778"/>
              <a:ext cx="1342" cy="260"/>
              <a:chOff x="3628" y="1745"/>
              <a:chExt cx="1342" cy="260"/>
            </a:xfrm>
          </p:grpSpPr>
          <p:sp>
            <p:nvSpPr>
              <p:cNvPr id="1112174" name="Rectangle 110"/>
              <p:cNvSpPr>
                <a:spLocks noChangeArrowheads="1"/>
              </p:cNvSpPr>
              <p:nvPr/>
            </p:nvSpPr>
            <p:spPr bwMode="auto">
              <a:xfrm>
                <a:off x="3628" y="1749"/>
                <a:ext cx="1342" cy="2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r>
                  <a:rPr lang="zh-CN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3    </a:t>
                </a:r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A    B    C     0</a:t>
                </a:r>
              </a:p>
            </p:txBody>
          </p:sp>
          <p:sp>
            <p:nvSpPr>
              <p:cNvPr id="1112175" name="Line 111"/>
              <p:cNvSpPr>
                <a:spLocks noChangeShapeType="1"/>
              </p:cNvSpPr>
              <p:nvPr/>
            </p:nvSpPr>
            <p:spPr bwMode="auto">
              <a:xfrm flipH="1">
                <a:off x="3867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2176" name="Line 112"/>
              <p:cNvSpPr>
                <a:spLocks noChangeShapeType="1"/>
              </p:cNvSpPr>
              <p:nvPr/>
            </p:nvSpPr>
            <p:spPr bwMode="auto">
              <a:xfrm>
                <a:off x="4101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2177" name="Line 113"/>
              <p:cNvSpPr>
                <a:spLocks noChangeShapeType="1"/>
              </p:cNvSpPr>
              <p:nvPr/>
            </p:nvSpPr>
            <p:spPr bwMode="auto">
              <a:xfrm>
                <a:off x="4356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2178" name="Line 114"/>
              <p:cNvSpPr>
                <a:spLocks noChangeShapeType="1"/>
              </p:cNvSpPr>
              <p:nvPr/>
            </p:nvSpPr>
            <p:spPr bwMode="auto">
              <a:xfrm>
                <a:off x="4634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112179" name="Line 115"/>
            <p:cNvSpPr>
              <a:spLocks noChangeShapeType="1"/>
            </p:cNvSpPr>
            <p:nvPr/>
          </p:nvSpPr>
          <p:spPr bwMode="auto">
            <a:xfrm flipV="1">
              <a:off x="4178" y="622"/>
              <a:ext cx="0" cy="1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12180" name="Line 116"/>
            <p:cNvSpPr>
              <a:spLocks noChangeShapeType="1"/>
            </p:cNvSpPr>
            <p:nvPr/>
          </p:nvSpPr>
          <p:spPr bwMode="auto">
            <a:xfrm flipV="1">
              <a:off x="5512" y="644"/>
              <a:ext cx="0" cy="1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120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2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2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11120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2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2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2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2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2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2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2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2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1" dur="500"/>
                                        <p:tgtEl>
                                          <p:spTgt spid="11121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2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2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2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2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2" dur="500"/>
                                        <p:tgtEl>
                                          <p:spTgt spid="11121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7" dur="500"/>
                                        <p:tgtEl>
                                          <p:spTgt spid="11121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2066" grpId="0" animBg="1"/>
      <p:bldP spid="1112067" grpId="0" animBg="1"/>
      <p:bldP spid="1112068" grpId="0" animBg="1"/>
      <p:bldP spid="1112069" grpId="0" animBg="1"/>
      <p:bldP spid="1112070" grpId="0" animBg="1"/>
      <p:bldP spid="1112071" grpId="0" animBg="1"/>
      <p:bldP spid="1112072" grpId="0" animBg="1"/>
      <p:bldP spid="1112073" grpId="0" animBg="1"/>
      <p:bldP spid="1112074" grpId="0" animBg="1"/>
      <p:bldP spid="1112075" grpId="0" animBg="1"/>
      <p:bldP spid="1112076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090" name="Rectangle 2"/>
          <p:cNvSpPr>
            <a:spLocks noChangeArrowheads="1"/>
          </p:cNvSpPr>
          <p:nvPr/>
        </p:nvSpPr>
        <p:spPr bwMode="auto">
          <a:xfrm>
            <a:off x="897333" y="6159476"/>
            <a:ext cx="4743450" cy="369887"/>
          </a:xfrm>
          <a:prstGeom prst="rect">
            <a:avLst/>
          </a:prstGeom>
          <a:solidFill>
            <a:srgbClr val="BEDFC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3091" name="Rectangle 3"/>
          <p:cNvSpPr>
            <a:spLocks noChangeArrowheads="1"/>
          </p:cNvSpPr>
          <p:nvPr/>
        </p:nvSpPr>
        <p:spPr bwMode="auto">
          <a:xfrm>
            <a:off x="897333" y="6505550"/>
            <a:ext cx="4725988" cy="334962"/>
          </a:xfrm>
          <a:prstGeom prst="rect">
            <a:avLst/>
          </a:prstGeom>
          <a:solidFill>
            <a:srgbClr val="BEDFC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3092" name="Rectangle 4"/>
          <p:cNvSpPr>
            <a:spLocks noChangeArrowheads="1"/>
          </p:cNvSpPr>
          <p:nvPr/>
        </p:nvSpPr>
        <p:spPr bwMode="auto">
          <a:xfrm>
            <a:off x="911424" y="6165826"/>
            <a:ext cx="4743450" cy="369887"/>
          </a:xfrm>
          <a:prstGeom prst="rect">
            <a:avLst/>
          </a:prstGeom>
          <a:solidFill>
            <a:srgbClr val="BEDFC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3093" name="Rectangle 5"/>
          <p:cNvSpPr>
            <a:spLocks noChangeArrowheads="1"/>
          </p:cNvSpPr>
          <p:nvPr/>
        </p:nvSpPr>
        <p:spPr bwMode="auto">
          <a:xfrm>
            <a:off x="911424" y="6527775"/>
            <a:ext cx="4725988" cy="334962"/>
          </a:xfrm>
          <a:prstGeom prst="rect">
            <a:avLst/>
          </a:prstGeom>
          <a:solidFill>
            <a:srgbClr val="BEDFC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3094" name="Rectangle 6"/>
          <p:cNvSpPr>
            <a:spLocks noChangeArrowheads="1"/>
          </p:cNvSpPr>
          <p:nvPr/>
        </p:nvSpPr>
        <p:spPr bwMode="auto">
          <a:xfrm>
            <a:off x="911425" y="2841600"/>
            <a:ext cx="4689475" cy="387350"/>
          </a:xfrm>
          <a:prstGeom prst="rect">
            <a:avLst/>
          </a:prstGeom>
          <a:solidFill>
            <a:srgbClr val="BEDFC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3095" name="Rectangle 7"/>
          <p:cNvSpPr>
            <a:spLocks noChangeArrowheads="1"/>
          </p:cNvSpPr>
          <p:nvPr/>
        </p:nvSpPr>
        <p:spPr bwMode="auto">
          <a:xfrm>
            <a:off x="911424" y="3230538"/>
            <a:ext cx="4725988" cy="334963"/>
          </a:xfrm>
          <a:prstGeom prst="rect">
            <a:avLst/>
          </a:prstGeom>
          <a:solidFill>
            <a:srgbClr val="BEDFC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3096" name="Rectangle 8"/>
          <p:cNvSpPr>
            <a:spLocks noChangeArrowheads="1"/>
          </p:cNvSpPr>
          <p:nvPr/>
        </p:nvSpPr>
        <p:spPr bwMode="auto">
          <a:xfrm>
            <a:off x="911424" y="3594075"/>
            <a:ext cx="4725988" cy="334962"/>
          </a:xfrm>
          <a:prstGeom prst="rect">
            <a:avLst/>
          </a:prstGeom>
          <a:solidFill>
            <a:srgbClr val="BEDFC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3097" name="Rectangle 9"/>
          <p:cNvSpPr>
            <a:spLocks noChangeArrowheads="1"/>
          </p:cNvSpPr>
          <p:nvPr/>
        </p:nvSpPr>
        <p:spPr bwMode="auto">
          <a:xfrm>
            <a:off x="911424" y="3940150"/>
            <a:ext cx="4725988" cy="334962"/>
          </a:xfrm>
          <a:prstGeom prst="rect">
            <a:avLst/>
          </a:prstGeom>
          <a:solidFill>
            <a:srgbClr val="BEDFC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3098" name="Rectangle 10"/>
          <p:cNvSpPr>
            <a:spLocks noChangeArrowheads="1"/>
          </p:cNvSpPr>
          <p:nvPr/>
        </p:nvSpPr>
        <p:spPr bwMode="auto">
          <a:xfrm>
            <a:off x="911424" y="4310038"/>
            <a:ext cx="4725988" cy="334963"/>
          </a:xfrm>
          <a:prstGeom prst="rect">
            <a:avLst/>
          </a:prstGeom>
          <a:solidFill>
            <a:srgbClr val="BEDFC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3099" name="Rectangle 11"/>
          <p:cNvSpPr>
            <a:spLocks noChangeArrowheads="1"/>
          </p:cNvSpPr>
          <p:nvPr/>
        </p:nvSpPr>
        <p:spPr bwMode="auto">
          <a:xfrm>
            <a:off x="911425" y="5810225"/>
            <a:ext cx="4741863" cy="334962"/>
          </a:xfrm>
          <a:prstGeom prst="rect">
            <a:avLst/>
          </a:prstGeom>
          <a:solidFill>
            <a:srgbClr val="BEDFC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3100" name="Text Box 12"/>
          <p:cNvSpPr txBox="1">
            <a:spLocks noChangeArrowheads="1"/>
          </p:cNvSpPr>
          <p:nvPr/>
        </p:nvSpPr>
        <p:spPr bwMode="auto">
          <a:xfrm>
            <a:off x="839416" y="620688"/>
            <a:ext cx="4794902" cy="637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altLang="zh-CN" dirty="0">
                <a:solidFill>
                  <a:srgbClr val="002060"/>
                </a:solidFill>
              </a:rPr>
              <a:t> void main ( )</a:t>
            </a:r>
          </a:p>
          <a:p>
            <a:pPr eaLnBrk="0" hangingPunct="0"/>
            <a:r>
              <a:rPr lang="en-US" altLang="zh-CN" dirty="0"/>
              <a:t>   {   </a:t>
            </a:r>
            <a:r>
              <a:rPr lang="en-US" altLang="zh-CN" dirty="0" err="1"/>
              <a:t>int</a:t>
            </a:r>
            <a:r>
              <a:rPr lang="en-US" altLang="zh-CN" dirty="0"/>
              <a:t> m;</a:t>
            </a:r>
          </a:p>
          <a:p>
            <a:pPr eaLnBrk="0" hangingPunct="0"/>
            <a:r>
              <a:rPr lang="en-US" altLang="zh-CN" dirty="0"/>
              <a:t>       </a:t>
            </a:r>
            <a:r>
              <a:rPr lang="en-US" altLang="zh-CN" dirty="0" err="1"/>
              <a:t>printf</a:t>
            </a:r>
            <a:r>
              <a:rPr lang="en-US" altLang="zh-CN" dirty="0"/>
              <a:t>("Input the number of disks</a:t>
            </a:r>
          </a:p>
          <a:p>
            <a:pPr eaLnBrk="0" hangingPunct="0"/>
            <a:r>
              <a:rPr lang="en-US" altLang="zh-CN" dirty="0"/>
              <a:t>       </a:t>
            </a:r>
            <a:r>
              <a:rPr lang="en-US" altLang="zh-CN" dirty="0" err="1"/>
              <a:t>scanf</a:t>
            </a:r>
            <a:r>
              <a:rPr lang="en-US" altLang="zh-CN" dirty="0"/>
              <a:t>("%</a:t>
            </a:r>
            <a:r>
              <a:rPr lang="en-US" altLang="zh-CN" dirty="0" err="1"/>
              <a:t>d",&amp;m</a:t>
            </a:r>
            <a:r>
              <a:rPr lang="en-US" altLang="zh-CN" dirty="0"/>
              <a:t>);</a:t>
            </a:r>
          </a:p>
          <a:p>
            <a:pPr eaLnBrk="0" hangingPunct="0"/>
            <a:r>
              <a:rPr lang="en-US" altLang="zh-CN" dirty="0"/>
              <a:t>       </a:t>
            </a:r>
            <a:r>
              <a:rPr lang="en-US" altLang="zh-CN" dirty="0" err="1"/>
              <a:t>printf</a:t>
            </a:r>
            <a:r>
              <a:rPr lang="en-US" altLang="zh-CN" dirty="0"/>
              <a:t>("The steps to moving %3d</a:t>
            </a:r>
          </a:p>
          <a:p>
            <a:pPr eaLnBrk="0" hangingPunct="0"/>
            <a:r>
              <a:rPr lang="en-US" altLang="zh-CN" dirty="0"/>
              <a:t>       </a:t>
            </a:r>
            <a:r>
              <a:rPr lang="en-US" altLang="zh-CN" dirty="0" err="1"/>
              <a:t>hanoi</a:t>
            </a:r>
            <a:r>
              <a:rPr lang="en-US" altLang="zh-CN" dirty="0"/>
              <a:t>(</a:t>
            </a:r>
            <a:r>
              <a:rPr lang="en-US" altLang="zh-CN" dirty="0" err="1"/>
              <a:t>m,'A','B','C</a:t>
            </a:r>
            <a:r>
              <a:rPr lang="en-US" altLang="zh-CN" dirty="0"/>
              <a:t>');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</a:rPr>
              <a:t>(0)</a:t>
            </a:r>
            <a:r>
              <a:rPr lang="en-US" altLang="zh-CN" dirty="0"/>
              <a:t> }</a:t>
            </a:r>
          </a:p>
          <a:p>
            <a:pPr eaLnBrk="0" hangingPunct="0"/>
            <a:r>
              <a:rPr lang="en-US" altLang="zh-CN" dirty="0">
                <a:solidFill>
                  <a:srgbClr val="002060"/>
                </a:solidFill>
              </a:rPr>
              <a:t>void </a:t>
            </a:r>
            <a:r>
              <a:rPr lang="en-US" altLang="zh-CN" dirty="0" err="1">
                <a:solidFill>
                  <a:srgbClr val="002060"/>
                </a:solidFill>
              </a:rPr>
              <a:t>hanoi</a:t>
            </a:r>
            <a:r>
              <a:rPr lang="en-US" altLang="zh-CN" dirty="0">
                <a:solidFill>
                  <a:srgbClr val="002060"/>
                </a:solidFill>
              </a:rPr>
              <a:t>(</a:t>
            </a:r>
            <a:r>
              <a:rPr lang="en-US" altLang="zh-CN" dirty="0" err="1">
                <a:solidFill>
                  <a:srgbClr val="002060"/>
                </a:solidFill>
              </a:rPr>
              <a:t>int</a:t>
            </a:r>
            <a:r>
              <a:rPr lang="en-US" altLang="zh-CN" dirty="0">
                <a:solidFill>
                  <a:srgbClr val="002060"/>
                </a:solidFill>
              </a:rPr>
              <a:t> </a:t>
            </a:r>
            <a:r>
              <a:rPr lang="en-US" altLang="zh-CN" dirty="0" err="1">
                <a:solidFill>
                  <a:srgbClr val="002060"/>
                </a:solidFill>
              </a:rPr>
              <a:t>n,char</a:t>
            </a:r>
            <a:r>
              <a:rPr lang="en-US" altLang="zh-CN" dirty="0">
                <a:solidFill>
                  <a:srgbClr val="002060"/>
                </a:solidFill>
              </a:rPr>
              <a:t> </a:t>
            </a:r>
            <a:r>
              <a:rPr lang="en-US" altLang="zh-CN" dirty="0" err="1">
                <a:solidFill>
                  <a:srgbClr val="002060"/>
                </a:solidFill>
              </a:rPr>
              <a:t>x,char</a:t>
            </a:r>
            <a:r>
              <a:rPr lang="en-US" altLang="zh-CN" dirty="0">
                <a:solidFill>
                  <a:srgbClr val="002060"/>
                </a:solidFill>
              </a:rPr>
              <a:t> </a:t>
            </a:r>
            <a:r>
              <a:rPr lang="en-US" altLang="zh-CN" dirty="0" err="1">
                <a:solidFill>
                  <a:srgbClr val="002060"/>
                </a:solidFill>
              </a:rPr>
              <a:t>y,char</a:t>
            </a:r>
            <a:r>
              <a:rPr lang="en-US" altLang="zh-CN" dirty="0">
                <a:solidFill>
                  <a:srgbClr val="002060"/>
                </a:solidFill>
              </a:rPr>
              <a:t> z)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</a:rPr>
              <a:t>(1)</a:t>
            </a:r>
            <a:r>
              <a:rPr lang="en-US" altLang="zh-CN" dirty="0"/>
              <a:t>  {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</a:rPr>
              <a:t>(2)</a:t>
            </a:r>
            <a:r>
              <a:rPr lang="en-US" altLang="zh-CN" dirty="0"/>
              <a:t>     if(n==1)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</a:rPr>
              <a:t>(3)</a:t>
            </a:r>
            <a:r>
              <a:rPr lang="en-US" altLang="zh-CN" dirty="0"/>
              <a:t>         move(1,x,z);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</a:rPr>
              <a:t>(4)</a:t>
            </a:r>
            <a:r>
              <a:rPr lang="en-US" altLang="zh-CN" dirty="0"/>
              <a:t>     else{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</a:rPr>
              <a:t>(5)</a:t>
            </a:r>
            <a:r>
              <a:rPr lang="en-US" altLang="zh-CN" dirty="0"/>
              <a:t>            </a:t>
            </a:r>
            <a:r>
              <a:rPr lang="en-US" altLang="zh-CN" dirty="0" err="1"/>
              <a:t>hanoi</a:t>
            </a:r>
            <a:r>
              <a:rPr lang="en-US" altLang="zh-CN" dirty="0"/>
              <a:t>(n-1,x,z,y);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</a:rPr>
              <a:t>(6)</a:t>
            </a:r>
            <a:r>
              <a:rPr lang="en-US" altLang="zh-CN" dirty="0"/>
              <a:t>            move(</a:t>
            </a:r>
            <a:r>
              <a:rPr lang="en-US" altLang="zh-CN" dirty="0" err="1"/>
              <a:t>n,x,z</a:t>
            </a:r>
            <a:r>
              <a:rPr lang="en-US" altLang="zh-CN" dirty="0"/>
              <a:t>);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</a:rPr>
              <a:t>(7)</a:t>
            </a:r>
            <a:r>
              <a:rPr lang="en-US" altLang="zh-CN" dirty="0"/>
              <a:t>            </a:t>
            </a:r>
            <a:r>
              <a:rPr lang="en-US" altLang="zh-CN" dirty="0" err="1"/>
              <a:t>hanoi</a:t>
            </a:r>
            <a:r>
              <a:rPr lang="en-US" altLang="zh-CN" dirty="0"/>
              <a:t>(n-1,y,x,z);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</a:rPr>
              <a:t>(8)</a:t>
            </a:r>
            <a:r>
              <a:rPr lang="en-US" altLang="zh-CN" dirty="0"/>
              <a:t>         }</a:t>
            </a:r>
          </a:p>
          <a:p>
            <a:pPr eaLnBrk="0" hangingPunct="0"/>
            <a:r>
              <a:rPr lang="en-US" altLang="zh-CN" dirty="0">
                <a:solidFill>
                  <a:srgbClr val="CC0000"/>
                </a:solidFill>
              </a:rPr>
              <a:t>(9)</a:t>
            </a:r>
            <a:r>
              <a:rPr lang="en-US" altLang="zh-CN" dirty="0"/>
              <a:t>  }</a:t>
            </a:r>
          </a:p>
        </p:txBody>
      </p:sp>
      <p:grpSp>
        <p:nvGrpSpPr>
          <p:cNvPr id="1113101" name="Group 13"/>
          <p:cNvGrpSpPr>
            <a:grpSpLocks/>
          </p:cNvGrpSpPr>
          <p:nvPr/>
        </p:nvGrpSpPr>
        <p:grpSpPr bwMode="auto">
          <a:xfrm>
            <a:off x="8054281" y="1"/>
            <a:ext cx="3697287" cy="1274763"/>
            <a:chOff x="790" y="0"/>
            <a:chExt cx="3984" cy="1514"/>
          </a:xfrm>
        </p:grpSpPr>
        <p:grpSp>
          <p:nvGrpSpPr>
            <p:cNvPr id="1113102" name="Group 14"/>
            <p:cNvGrpSpPr>
              <a:grpSpLocks/>
            </p:cNvGrpSpPr>
            <p:nvPr/>
          </p:nvGrpSpPr>
          <p:grpSpPr bwMode="auto">
            <a:xfrm>
              <a:off x="790" y="0"/>
              <a:ext cx="1248" cy="1514"/>
              <a:chOff x="720" y="0"/>
              <a:chExt cx="1248" cy="1514"/>
            </a:xfrm>
          </p:grpSpPr>
          <p:grpSp>
            <p:nvGrpSpPr>
              <p:cNvPr id="1113103" name="Group 15"/>
              <p:cNvGrpSpPr>
                <a:grpSpLocks/>
              </p:cNvGrpSpPr>
              <p:nvPr/>
            </p:nvGrpSpPr>
            <p:grpSpPr bwMode="auto">
              <a:xfrm>
                <a:off x="720" y="0"/>
                <a:ext cx="1248" cy="1104"/>
                <a:chOff x="720" y="0"/>
                <a:chExt cx="1248" cy="1104"/>
              </a:xfrm>
            </p:grpSpPr>
            <p:sp>
              <p:nvSpPr>
                <p:cNvPr id="1113104" name="Line 16"/>
                <p:cNvSpPr>
                  <a:spLocks noChangeShapeType="1"/>
                </p:cNvSpPr>
                <p:nvPr/>
              </p:nvSpPr>
              <p:spPr bwMode="auto">
                <a:xfrm>
                  <a:off x="720" y="1104"/>
                  <a:ext cx="12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13105" name="Line 17"/>
                <p:cNvSpPr>
                  <a:spLocks noChangeShapeType="1"/>
                </p:cNvSpPr>
                <p:nvPr/>
              </p:nvSpPr>
              <p:spPr bwMode="auto">
                <a:xfrm>
                  <a:off x="1296" y="0"/>
                  <a:ext cx="0" cy="110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113106" name="Text Box 18"/>
              <p:cNvSpPr txBox="1">
                <a:spLocks noChangeArrowheads="1"/>
              </p:cNvSpPr>
              <p:nvPr/>
            </p:nvSpPr>
            <p:spPr bwMode="auto">
              <a:xfrm>
                <a:off x="1119" y="1043"/>
                <a:ext cx="396" cy="4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lang="en-US" altLang="zh-CN" sz="2000" b="1" dirty="0">
                    <a:solidFill>
                      <a:srgbClr val="CC0000"/>
                    </a:solidFill>
                  </a:rPr>
                  <a:t>A</a:t>
                </a:r>
              </a:p>
            </p:txBody>
          </p:sp>
        </p:grpSp>
        <p:grpSp>
          <p:nvGrpSpPr>
            <p:cNvPr id="1113107" name="Group 19"/>
            <p:cNvGrpSpPr>
              <a:grpSpLocks/>
            </p:cNvGrpSpPr>
            <p:nvPr/>
          </p:nvGrpSpPr>
          <p:grpSpPr bwMode="auto">
            <a:xfrm>
              <a:off x="2182" y="0"/>
              <a:ext cx="1248" cy="1514"/>
              <a:chOff x="2112" y="0"/>
              <a:chExt cx="1248" cy="1514"/>
            </a:xfrm>
          </p:grpSpPr>
          <p:grpSp>
            <p:nvGrpSpPr>
              <p:cNvPr id="1113108" name="Group 20"/>
              <p:cNvGrpSpPr>
                <a:grpSpLocks/>
              </p:cNvGrpSpPr>
              <p:nvPr/>
            </p:nvGrpSpPr>
            <p:grpSpPr bwMode="auto">
              <a:xfrm>
                <a:off x="2112" y="0"/>
                <a:ext cx="1248" cy="1104"/>
                <a:chOff x="720" y="0"/>
                <a:chExt cx="1248" cy="1104"/>
              </a:xfrm>
            </p:grpSpPr>
            <p:sp>
              <p:nvSpPr>
                <p:cNvPr id="1113109" name="Line 21"/>
                <p:cNvSpPr>
                  <a:spLocks noChangeShapeType="1"/>
                </p:cNvSpPr>
                <p:nvPr/>
              </p:nvSpPr>
              <p:spPr bwMode="auto">
                <a:xfrm>
                  <a:off x="720" y="1104"/>
                  <a:ext cx="12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13110" name="Line 22"/>
                <p:cNvSpPr>
                  <a:spLocks noChangeShapeType="1"/>
                </p:cNvSpPr>
                <p:nvPr/>
              </p:nvSpPr>
              <p:spPr bwMode="auto">
                <a:xfrm>
                  <a:off x="1296" y="0"/>
                  <a:ext cx="0" cy="110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113111" name="Text Box 23"/>
              <p:cNvSpPr txBox="1">
                <a:spLocks noChangeArrowheads="1"/>
              </p:cNvSpPr>
              <p:nvPr/>
            </p:nvSpPr>
            <p:spPr bwMode="auto">
              <a:xfrm>
                <a:off x="2518" y="1043"/>
                <a:ext cx="381" cy="4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lang="en-US" altLang="zh-CN" sz="2000" b="1">
                    <a:solidFill>
                      <a:srgbClr val="CC0000"/>
                    </a:solidFill>
                  </a:rPr>
                  <a:t>B</a:t>
                </a:r>
              </a:p>
            </p:txBody>
          </p:sp>
        </p:grpSp>
        <p:grpSp>
          <p:nvGrpSpPr>
            <p:cNvPr id="1113112" name="Group 24"/>
            <p:cNvGrpSpPr>
              <a:grpSpLocks/>
            </p:cNvGrpSpPr>
            <p:nvPr/>
          </p:nvGrpSpPr>
          <p:grpSpPr bwMode="auto">
            <a:xfrm>
              <a:off x="3526" y="0"/>
              <a:ext cx="1248" cy="1514"/>
              <a:chOff x="3456" y="0"/>
              <a:chExt cx="1248" cy="1514"/>
            </a:xfrm>
          </p:grpSpPr>
          <p:grpSp>
            <p:nvGrpSpPr>
              <p:cNvPr id="1113113" name="Group 25"/>
              <p:cNvGrpSpPr>
                <a:grpSpLocks/>
              </p:cNvGrpSpPr>
              <p:nvPr/>
            </p:nvGrpSpPr>
            <p:grpSpPr bwMode="auto">
              <a:xfrm>
                <a:off x="3456" y="0"/>
                <a:ext cx="1248" cy="1104"/>
                <a:chOff x="720" y="0"/>
                <a:chExt cx="1248" cy="1104"/>
              </a:xfrm>
            </p:grpSpPr>
            <p:sp>
              <p:nvSpPr>
                <p:cNvPr id="1113114" name="Line 26"/>
                <p:cNvSpPr>
                  <a:spLocks noChangeShapeType="1"/>
                </p:cNvSpPr>
                <p:nvPr/>
              </p:nvSpPr>
              <p:spPr bwMode="auto">
                <a:xfrm>
                  <a:off x="720" y="1104"/>
                  <a:ext cx="12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13115" name="Line 27"/>
                <p:cNvSpPr>
                  <a:spLocks noChangeShapeType="1"/>
                </p:cNvSpPr>
                <p:nvPr/>
              </p:nvSpPr>
              <p:spPr bwMode="auto">
                <a:xfrm>
                  <a:off x="1296" y="0"/>
                  <a:ext cx="0" cy="110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113116" name="Text Box 28"/>
              <p:cNvSpPr txBox="1">
                <a:spLocks noChangeArrowheads="1"/>
              </p:cNvSpPr>
              <p:nvPr/>
            </p:nvSpPr>
            <p:spPr bwMode="auto">
              <a:xfrm>
                <a:off x="3849" y="1043"/>
                <a:ext cx="397" cy="4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lang="en-US" altLang="zh-CN" sz="2000" b="1">
                    <a:solidFill>
                      <a:srgbClr val="CC0000"/>
                    </a:solidFill>
                  </a:rPr>
                  <a:t>C</a:t>
                </a:r>
              </a:p>
            </p:txBody>
          </p:sp>
        </p:grpSp>
        <p:sp>
          <p:nvSpPr>
            <p:cNvPr id="1113117" name="Rectangle 29"/>
            <p:cNvSpPr>
              <a:spLocks noChangeArrowheads="1"/>
            </p:cNvSpPr>
            <p:nvPr/>
          </p:nvSpPr>
          <p:spPr bwMode="auto">
            <a:xfrm>
              <a:off x="3730" y="953"/>
              <a:ext cx="768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3118" name="Rectangle 30"/>
            <p:cNvSpPr>
              <a:spLocks noChangeArrowheads="1"/>
            </p:cNvSpPr>
            <p:nvPr/>
          </p:nvSpPr>
          <p:spPr bwMode="auto">
            <a:xfrm>
              <a:off x="1234" y="953"/>
              <a:ext cx="288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3119" name="Rectangle 31"/>
            <p:cNvSpPr>
              <a:spLocks noChangeArrowheads="1"/>
            </p:cNvSpPr>
            <p:nvPr/>
          </p:nvSpPr>
          <p:spPr bwMode="auto">
            <a:xfrm>
              <a:off x="3870" y="808"/>
              <a:ext cx="480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13120" name="Group 32"/>
          <p:cNvGrpSpPr>
            <a:grpSpLocks/>
          </p:cNvGrpSpPr>
          <p:nvPr/>
        </p:nvGrpSpPr>
        <p:grpSpPr bwMode="auto">
          <a:xfrm>
            <a:off x="8497192" y="1173163"/>
            <a:ext cx="2141538" cy="1466850"/>
            <a:chOff x="4259" y="1385"/>
            <a:chExt cx="1349" cy="924"/>
          </a:xfrm>
        </p:grpSpPr>
        <p:grpSp>
          <p:nvGrpSpPr>
            <p:cNvPr id="1113121" name="Group 33"/>
            <p:cNvGrpSpPr>
              <a:grpSpLocks/>
            </p:cNvGrpSpPr>
            <p:nvPr/>
          </p:nvGrpSpPr>
          <p:grpSpPr bwMode="auto">
            <a:xfrm>
              <a:off x="4265" y="2049"/>
              <a:ext cx="1342" cy="260"/>
              <a:chOff x="3628" y="1745"/>
              <a:chExt cx="1342" cy="260"/>
            </a:xfrm>
          </p:grpSpPr>
          <p:sp>
            <p:nvSpPr>
              <p:cNvPr id="1113122" name="Rectangle 34"/>
              <p:cNvSpPr>
                <a:spLocks noChangeArrowheads="1"/>
              </p:cNvSpPr>
              <p:nvPr/>
            </p:nvSpPr>
            <p:spPr bwMode="auto">
              <a:xfrm>
                <a:off x="3628" y="1749"/>
                <a:ext cx="1342" cy="2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r>
                  <a:rPr lang="zh-CN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3    </a:t>
                </a:r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A    B    C     0</a:t>
                </a:r>
              </a:p>
            </p:txBody>
          </p:sp>
          <p:sp>
            <p:nvSpPr>
              <p:cNvPr id="1113123" name="Line 35"/>
              <p:cNvSpPr>
                <a:spLocks noChangeShapeType="1"/>
              </p:cNvSpPr>
              <p:nvPr/>
            </p:nvSpPr>
            <p:spPr bwMode="auto">
              <a:xfrm flipH="1">
                <a:off x="3867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3124" name="Line 36"/>
              <p:cNvSpPr>
                <a:spLocks noChangeShapeType="1"/>
              </p:cNvSpPr>
              <p:nvPr/>
            </p:nvSpPr>
            <p:spPr bwMode="auto">
              <a:xfrm>
                <a:off x="4101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3125" name="Line 37"/>
              <p:cNvSpPr>
                <a:spLocks noChangeShapeType="1"/>
              </p:cNvSpPr>
              <p:nvPr/>
            </p:nvSpPr>
            <p:spPr bwMode="auto">
              <a:xfrm>
                <a:off x="4356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3126" name="Line 38"/>
              <p:cNvSpPr>
                <a:spLocks noChangeShapeType="1"/>
              </p:cNvSpPr>
              <p:nvPr/>
            </p:nvSpPr>
            <p:spPr bwMode="auto">
              <a:xfrm>
                <a:off x="4634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113127" name="Group 39"/>
            <p:cNvGrpSpPr>
              <a:grpSpLocks/>
            </p:cNvGrpSpPr>
            <p:nvPr/>
          </p:nvGrpSpPr>
          <p:grpSpPr bwMode="auto">
            <a:xfrm>
              <a:off x="4266" y="1793"/>
              <a:ext cx="1342" cy="260"/>
              <a:chOff x="3628" y="1745"/>
              <a:chExt cx="1342" cy="260"/>
            </a:xfrm>
          </p:grpSpPr>
          <p:sp>
            <p:nvSpPr>
              <p:cNvPr id="1113128" name="Rectangle 40"/>
              <p:cNvSpPr>
                <a:spLocks noChangeArrowheads="1"/>
              </p:cNvSpPr>
              <p:nvPr/>
            </p:nvSpPr>
            <p:spPr bwMode="auto">
              <a:xfrm>
                <a:off x="3628" y="1749"/>
                <a:ext cx="1342" cy="2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r>
                  <a:rPr lang="zh-CN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2    </a:t>
                </a:r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B    A    C     8</a:t>
                </a:r>
              </a:p>
            </p:txBody>
          </p:sp>
          <p:sp>
            <p:nvSpPr>
              <p:cNvPr id="1113129" name="Line 41"/>
              <p:cNvSpPr>
                <a:spLocks noChangeShapeType="1"/>
              </p:cNvSpPr>
              <p:nvPr/>
            </p:nvSpPr>
            <p:spPr bwMode="auto">
              <a:xfrm flipH="1">
                <a:off x="3867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3130" name="Line 42"/>
              <p:cNvSpPr>
                <a:spLocks noChangeShapeType="1"/>
              </p:cNvSpPr>
              <p:nvPr/>
            </p:nvSpPr>
            <p:spPr bwMode="auto">
              <a:xfrm>
                <a:off x="4101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3131" name="Line 43"/>
              <p:cNvSpPr>
                <a:spLocks noChangeShapeType="1"/>
              </p:cNvSpPr>
              <p:nvPr/>
            </p:nvSpPr>
            <p:spPr bwMode="auto">
              <a:xfrm>
                <a:off x="4356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3132" name="Line 44"/>
              <p:cNvSpPr>
                <a:spLocks noChangeShapeType="1"/>
              </p:cNvSpPr>
              <p:nvPr/>
            </p:nvSpPr>
            <p:spPr bwMode="auto">
              <a:xfrm>
                <a:off x="4634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113133" name="Group 45"/>
            <p:cNvGrpSpPr>
              <a:grpSpLocks/>
            </p:cNvGrpSpPr>
            <p:nvPr/>
          </p:nvGrpSpPr>
          <p:grpSpPr bwMode="auto">
            <a:xfrm>
              <a:off x="4259" y="1385"/>
              <a:ext cx="1342" cy="416"/>
              <a:chOff x="4174" y="622"/>
              <a:chExt cx="1342" cy="416"/>
            </a:xfrm>
          </p:grpSpPr>
          <p:grpSp>
            <p:nvGrpSpPr>
              <p:cNvPr id="1113134" name="Group 46"/>
              <p:cNvGrpSpPr>
                <a:grpSpLocks/>
              </p:cNvGrpSpPr>
              <p:nvPr/>
            </p:nvGrpSpPr>
            <p:grpSpPr bwMode="auto">
              <a:xfrm>
                <a:off x="4174" y="778"/>
                <a:ext cx="1342" cy="260"/>
                <a:chOff x="3628" y="1745"/>
                <a:chExt cx="1342" cy="260"/>
              </a:xfrm>
            </p:grpSpPr>
            <p:sp>
              <p:nvSpPr>
                <p:cNvPr id="1113135" name="Rectangle 47"/>
                <p:cNvSpPr>
                  <a:spLocks noChangeArrowheads="1"/>
                </p:cNvSpPr>
                <p:nvPr/>
              </p:nvSpPr>
              <p:spPr bwMode="auto">
                <a:xfrm>
                  <a:off x="3628" y="1749"/>
                  <a:ext cx="134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r>
                    <a:rPr lang="zh-CN" altLang="zh-CN" sz="2000" b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</a:rPr>
                    <a:t>1    </a:t>
                  </a:r>
                  <a:r>
                    <a:rPr lang="en-US" altLang="zh-CN" sz="2000" b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</a:rPr>
                    <a:t>A    B    C    8</a:t>
                  </a:r>
                </a:p>
              </p:txBody>
            </p:sp>
            <p:sp>
              <p:nvSpPr>
                <p:cNvPr id="1113136" name="Line 48"/>
                <p:cNvSpPr>
                  <a:spLocks noChangeShapeType="1"/>
                </p:cNvSpPr>
                <p:nvPr/>
              </p:nvSpPr>
              <p:spPr bwMode="auto">
                <a:xfrm flipH="1">
                  <a:off x="3867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3137" name="Line 49"/>
                <p:cNvSpPr>
                  <a:spLocks noChangeShapeType="1"/>
                </p:cNvSpPr>
                <p:nvPr/>
              </p:nvSpPr>
              <p:spPr bwMode="auto">
                <a:xfrm>
                  <a:off x="4101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3138" name="Line 50"/>
                <p:cNvSpPr>
                  <a:spLocks noChangeShapeType="1"/>
                </p:cNvSpPr>
                <p:nvPr/>
              </p:nvSpPr>
              <p:spPr bwMode="auto">
                <a:xfrm>
                  <a:off x="4356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3139" name="Line 51"/>
                <p:cNvSpPr>
                  <a:spLocks noChangeShapeType="1"/>
                </p:cNvSpPr>
                <p:nvPr/>
              </p:nvSpPr>
              <p:spPr bwMode="auto">
                <a:xfrm>
                  <a:off x="4634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1113140" name="Line 52"/>
              <p:cNvSpPr>
                <a:spLocks noChangeShapeType="1"/>
              </p:cNvSpPr>
              <p:nvPr/>
            </p:nvSpPr>
            <p:spPr bwMode="auto">
              <a:xfrm flipV="1">
                <a:off x="4178" y="622"/>
                <a:ext cx="0" cy="17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3141" name="Line 53"/>
              <p:cNvSpPr>
                <a:spLocks noChangeShapeType="1"/>
              </p:cNvSpPr>
              <p:nvPr/>
            </p:nvSpPr>
            <p:spPr bwMode="auto">
              <a:xfrm flipV="1">
                <a:off x="5512" y="644"/>
                <a:ext cx="0" cy="1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1113142" name="Group 54"/>
          <p:cNvGrpSpPr>
            <a:grpSpLocks/>
          </p:cNvGrpSpPr>
          <p:nvPr/>
        </p:nvGrpSpPr>
        <p:grpSpPr bwMode="auto">
          <a:xfrm>
            <a:off x="8144767" y="2746376"/>
            <a:ext cx="3606800" cy="1135063"/>
            <a:chOff x="786" y="1474"/>
            <a:chExt cx="3984" cy="1549"/>
          </a:xfrm>
        </p:grpSpPr>
        <p:grpSp>
          <p:nvGrpSpPr>
            <p:cNvPr id="1113143" name="Group 55"/>
            <p:cNvGrpSpPr>
              <a:grpSpLocks/>
            </p:cNvGrpSpPr>
            <p:nvPr/>
          </p:nvGrpSpPr>
          <p:grpSpPr bwMode="auto">
            <a:xfrm>
              <a:off x="786" y="1474"/>
              <a:ext cx="1248" cy="1549"/>
              <a:chOff x="720" y="0"/>
              <a:chExt cx="1248" cy="1549"/>
            </a:xfrm>
          </p:grpSpPr>
          <p:grpSp>
            <p:nvGrpSpPr>
              <p:cNvPr id="1113144" name="Group 56"/>
              <p:cNvGrpSpPr>
                <a:grpSpLocks/>
              </p:cNvGrpSpPr>
              <p:nvPr/>
            </p:nvGrpSpPr>
            <p:grpSpPr bwMode="auto">
              <a:xfrm>
                <a:off x="720" y="0"/>
                <a:ext cx="1248" cy="1104"/>
                <a:chOff x="720" y="0"/>
                <a:chExt cx="1248" cy="1104"/>
              </a:xfrm>
            </p:grpSpPr>
            <p:sp>
              <p:nvSpPr>
                <p:cNvPr id="1113145" name="Line 57"/>
                <p:cNvSpPr>
                  <a:spLocks noChangeShapeType="1"/>
                </p:cNvSpPr>
                <p:nvPr/>
              </p:nvSpPr>
              <p:spPr bwMode="auto">
                <a:xfrm>
                  <a:off x="720" y="1104"/>
                  <a:ext cx="12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13146" name="Line 58"/>
                <p:cNvSpPr>
                  <a:spLocks noChangeShapeType="1"/>
                </p:cNvSpPr>
                <p:nvPr/>
              </p:nvSpPr>
              <p:spPr bwMode="auto">
                <a:xfrm>
                  <a:off x="1296" y="0"/>
                  <a:ext cx="0" cy="110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113147" name="Text Box 59"/>
              <p:cNvSpPr txBox="1">
                <a:spLocks noChangeArrowheads="1"/>
              </p:cNvSpPr>
              <p:nvPr/>
            </p:nvSpPr>
            <p:spPr bwMode="auto">
              <a:xfrm>
                <a:off x="1113" y="1007"/>
                <a:ext cx="407" cy="54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lang="en-US" altLang="zh-CN" sz="2000" b="1" dirty="0">
                    <a:solidFill>
                      <a:srgbClr val="CC0000"/>
                    </a:solidFill>
                  </a:rPr>
                  <a:t>A</a:t>
                </a:r>
              </a:p>
            </p:txBody>
          </p:sp>
        </p:grpSp>
        <p:grpSp>
          <p:nvGrpSpPr>
            <p:cNvPr id="1113148" name="Group 60"/>
            <p:cNvGrpSpPr>
              <a:grpSpLocks/>
            </p:cNvGrpSpPr>
            <p:nvPr/>
          </p:nvGrpSpPr>
          <p:grpSpPr bwMode="auto">
            <a:xfrm>
              <a:off x="2178" y="1474"/>
              <a:ext cx="1248" cy="1549"/>
              <a:chOff x="2112" y="0"/>
              <a:chExt cx="1248" cy="1549"/>
            </a:xfrm>
          </p:grpSpPr>
          <p:grpSp>
            <p:nvGrpSpPr>
              <p:cNvPr id="1113149" name="Group 61"/>
              <p:cNvGrpSpPr>
                <a:grpSpLocks/>
              </p:cNvGrpSpPr>
              <p:nvPr/>
            </p:nvGrpSpPr>
            <p:grpSpPr bwMode="auto">
              <a:xfrm>
                <a:off x="2112" y="0"/>
                <a:ext cx="1248" cy="1104"/>
                <a:chOff x="720" y="0"/>
                <a:chExt cx="1248" cy="1104"/>
              </a:xfrm>
            </p:grpSpPr>
            <p:sp>
              <p:nvSpPr>
                <p:cNvPr id="1113150" name="Line 62"/>
                <p:cNvSpPr>
                  <a:spLocks noChangeShapeType="1"/>
                </p:cNvSpPr>
                <p:nvPr/>
              </p:nvSpPr>
              <p:spPr bwMode="auto">
                <a:xfrm>
                  <a:off x="720" y="1104"/>
                  <a:ext cx="12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13151" name="Line 63"/>
                <p:cNvSpPr>
                  <a:spLocks noChangeShapeType="1"/>
                </p:cNvSpPr>
                <p:nvPr/>
              </p:nvSpPr>
              <p:spPr bwMode="auto">
                <a:xfrm>
                  <a:off x="1296" y="0"/>
                  <a:ext cx="0" cy="110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113152" name="Text Box 64"/>
              <p:cNvSpPr txBox="1">
                <a:spLocks noChangeArrowheads="1"/>
              </p:cNvSpPr>
              <p:nvPr/>
            </p:nvSpPr>
            <p:spPr bwMode="auto">
              <a:xfrm>
                <a:off x="2514" y="1007"/>
                <a:ext cx="391" cy="54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lang="en-US" altLang="zh-CN" sz="2000" b="1" dirty="0">
                    <a:solidFill>
                      <a:srgbClr val="CC0000"/>
                    </a:solidFill>
                  </a:rPr>
                  <a:t>B</a:t>
                </a:r>
              </a:p>
            </p:txBody>
          </p:sp>
        </p:grpSp>
        <p:grpSp>
          <p:nvGrpSpPr>
            <p:cNvPr id="1113153" name="Group 65"/>
            <p:cNvGrpSpPr>
              <a:grpSpLocks/>
            </p:cNvGrpSpPr>
            <p:nvPr/>
          </p:nvGrpSpPr>
          <p:grpSpPr bwMode="auto">
            <a:xfrm>
              <a:off x="3522" y="1474"/>
              <a:ext cx="1248" cy="1549"/>
              <a:chOff x="3456" y="0"/>
              <a:chExt cx="1248" cy="1549"/>
            </a:xfrm>
          </p:grpSpPr>
          <p:grpSp>
            <p:nvGrpSpPr>
              <p:cNvPr id="1113154" name="Group 66"/>
              <p:cNvGrpSpPr>
                <a:grpSpLocks/>
              </p:cNvGrpSpPr>
              <p:nvPr/>
            </p:nvGrpSpPr>
            <p:grpSpPr bwMode="auto">
              <a:xfrm>
                <a:off x="3456" y="0"/>
                <a:ext cx="1248" cy="1104"/>
                <a:chOff x="720" y="0"/>
                <a:chExt cx="1248" cy="1104"/>
              </a:xfrm>
            </p:grpSpPr>
            <p:sp>
              <p:nvSpPr>
                <p:cNvPr id="1113155" name="Line 67"/>
                <p:cNvSpPr>
                  <a:spLocks noChangeShapeType="1"/>
                </p:cNvSpPr>
                <p:nvPr/>
              </p:nvSpPr>
              <p:spPr bwMode="auto">
                <a:xfrm>
                  <a:off x="720" y="1104"/>
                  <a:ext cx="12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13156" name="Line 68"/>
                <p:cNvSpPr>
                  <a:spLocks noChangeShapeType="1"/>
                </p:cNvSpPr>
                <p:nvPr/>
              </p:nvSpPr>
              <p:spPr bwMode="auto">
                <a:xfrm>
                  <a:off x="1296" y="0"/>
                  <a:ext cx="0" cy="110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113157" name="Text Box 69"/>
              <p:cNvSpPr txBox="1">
                <a:spLocks noChangeArrowheads="1"/>
              </p:cNvSpPr>
              <p:nvPr/>
            </p:nvSpPr>
            <p:spPr bwMode="auto">
              <a:xfrm>
                <a:off x="3847" y="1007"/>
                <a:ext cx="407" cy="54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lang="en-US" altLang="zh-CN" sz="2000" b="1">
                    <a:solidFill>
                      <a:srgbClr val="CC0000"/>
                    </a:solidFill>
                  </a:rPr>
                  <a:t>C</a:t>
                </a:r>
              </a:p>
            </p:txBody>
          </p:sp>
        </p:grpSp>
        <p:sp>
          <p:nvSpPr>
            <p:cNvPr id="1113158" name="Rectangle 70"/>
            <p:cNvSpPr>
              <a:spLocks noChangeArrowheads="1"/>
            </p:cNvSpPr>
            <p:nvPr/>
          </p:nvSpPr>
          <p:spPr bwMode="auto">
            <a:xfrm>
              <a:off x="3726" y="2438"/>
              <a:ext cx="768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3159" name="Rectangle 71"/>
            <p:cNvSpPr>
              <a:spLocks noChangeArrowheads="1"/>
            </p:cNvSpPr>
            <p:nvPr/>
          </p:nvSpPr>
          <p:spPr bwMode="auto">
            <a:xfrm>
              <a:off x="3866" y="2293"/>
              <a:ext cx="480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3160" name="Rectangle 72"/>
            <p:cNvSpPr>
              <a:spLocks noChangeArrowheads="1"/>
            </p:cNvSpPr>
            <p:nvPr/>
          </p:nvSpPr>
          <p:spPr bwMode="auto">
            <a:xfrm>
              <a:off x="3969" y="2148"/>
              <a:ext cx="288" cy="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13161" name="Group 73"/>
          <p:cNvGrpSpPr>
            <a:grpSpLocks/>
          </p:cNvGrpSpPr>
          <p:nvPr/>
        </p:nvGrpSpPr>
        <p:grpSpPr bwMode="auto">
          <a:xfrm>
            <a:off x="8571805" y="3752850"/>
            <a:ext cx="2132012" cy="1066800"/>
            <a:chOff x="4236" y="608"/>
            <a:chExt cx="1343" cy="672"/>
          </a:xfrm>
        </p:grpSpPr>
        <p:grpSp>
          <p:nvGrpSpPr>
            <p:cNvPr id="1113162" name="Group 74"/>
            <p:cNvGrpSpPr>
              <a:grpSpLocks/>
            </p:cNvGrpSpPr>
            <p:nvPr/>
          </p:nvGrpSpPr>
          <p:grpSpPr bwMode="auto">
            <a:xfrm>
              <a:off x="4236" y="1020"/>
              <a:ext cx="1342" cy="260"/>
              <a:chOff x="3628" y="1745"/>
              <a:chExt cx="1342" cy="260"/>
            </a:xfrm>
          </p:grpSpPr>
          <p:sp>
            <p:nvSpPr>
              <p:cNvPr id="1113163" name="Rectangle 75"/>
              <p:cNvSpPr>
                <a:spLocks noChangeArrowheads="1"/>
              </p:cNvSpPr>
              <p:nvPr/>
            </p:nvSpPr>
            <p:spPr bwMode="auto">
              <a:xfrm>
                <a:off x="3628" y="1749"/>
                <a:ext cx="1342" cy="2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r>
                  <a:rPr lang="zh-CN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3    </a:t>
                </a:r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A    B    C     0</a:t>
                </a:r>
              </a:p>
            </p:txBody>
          </p:sp>
          <p:sp>
            <p:nvSpPr>
              <p:cNvPr id="1113164" name="Line 76"/>
              <p:cNvSpPr>
                <a:spLocks noChangeShapeType="1"/>
              </p:cNvSpPr>
              <p:nvPr/>
            </p:nvSpPr>
            <p:spPr bwMode="auto">
              <a:xfrm flipH="1">
                <a:off x="3867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3165" name="Line 77"/>
              <p:cNvSpPr>
                <a:spLocks noChangeShapeType="1"/>
              </p:cNvSpPr>
              <p:nvPr/>
            </p:nvSpPr>
            <p:spPr bwMode="auto">
              <a:xfrm>
                <a:off x="4101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3166" name="Line 78"/>
              <p:cNvSpPr>
                <a:spLocks noChangeShapeType="1"/>
              </p:cNvSpPr>
              <p:nvPr/>
            </p:nvSpPr>
            <p:spPr bwMode="auto">
              <a:xfrm>
                <a:off x="4356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3167" name="Line 79"/>
              <p:cNvSpPr>
                <a:spLocks noChangeShapeType="1"/>
              </p:cNvSpPr>
              <p:nvPr/>
            </p:nvSpPr>
            <p:spPr bwMode="auto">
              <a:xfrm>
                <a:off x="4634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113168" name="Group 80"/>
            <p:cNvGrpSpPr>
              <a:grpSpLocks/>
            </p:cNvGrpSpPr>
            <p:nvPr/>
          </p:nvGrpSpPr>
          <p:grpSpPr bwMode="auto">
            <a:xfrm>
              <a:off x="4237" y="608"/>
              <a:ext cx="1342" cy="416"/>
              <a:chOff x="4174" y="622"/>
              <a:chExt cx="1342" cy="416"/>
            </a:xfrm>
          </p:grpSpPr>
          <p:grpSp>
            <p:nvGrpSpPr>
              <p:cNvPr id="1113169" name="Group 81"/>
              <p:cNvGrpSpPr>
                <a:grpSpLocks/>
              </p:cNvGrpSpPr>
              <p:nvPr/>
            </p:nvGrpSpPr>
            <p:grpSpPr bwMode="auto">
              <a:xfrm>
                <a:off x="4174" y="778"/>
                <a:ext cx="1342" cy="260"/>
                <a:chOff x="3628" y="1745"/>
                <a:chExt cx="1342" cy="260"/>
              </a:xfrm>
            </p:grpSpPr>
            <p:sp>
              <p:nvSpPr>
                <p:cNvPr id="1113170" name="Rectangle 82"/>
                <p:cNvSpPr>
                  <a:spLocks noChangeArrowheads="1"/>
                </p:cNvSpPr>
                <p:nvPr/>
              </p:nvSpPr>
              <p:spPr bwMode="auto">
                <a:xfrm>
                  <a:off x="3628" y="1749"/>
                  <a:ext cx="134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r>
                    <a:rPr lang="zh-CN" altLang="zh-CN" sz="2000" b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</a:rPr>
                    <a:t>2    </a:t>
                  </a:r>
                  <a:r>
                    <a:rPr lang="en-US" altLang="zh-CN" sz="2000" b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</a:rPr>
                    <a:t>B    A    C     8</a:t>
                  </a:r>
                </a:p>
              </p:txBody>
            </p:sp>
            <p:sp>
              <p:nvSpPr>
                <p:cNvPr id="1113171" name="Line 83"/>
                <p:cNvSpPr>
                  <a:spLocks noChangeShapeType="1"/>
                </p:cNvSpPr>
                <p:nvPr/>
              </p:nvSpPr>
              <p:spPr bwMode="auto">
                <a:xfrm flipH="1">
                  <a:off x="3867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3172" name="Line 84"/>
                <p:cNvSpPr>
                  <a:spLocks noChangeShapeType="1"/>
                </p:cNvSpPr>
                <p:nvPr/>
              </p:nvSpPr>
              <p:spPr bwMode="auto">
                <a:xfrm>
                  <a:off x="4101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3173" name="Line 85"/>
                <p:cNvSpPr>
                  <a:spLocks noChangeShapeType="1"/>
                </p:cNvSpPr>
                <p:nvPr/>
              </p:nvSpPr>
              <p:spPr bwMode="auto">
                <a:xfrm>
                  <a:off x="4356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3174" name="Line 86"/>
                <p:cNvSpPr>
                  <a:spLocks noChangeShapeType="1"/>
                </p:cNvSpPr>
                <p:nvPr/>
              </p:nvSpPr>
              <p:spPr bwMode="auto">
                <a:xfrm>
                  <a:off x="4634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1113175" name="Line 87"/>
              <p:cNvSpPr>
                <a:spLocks noChangeShapeType="1"/>
              </p:cNvSpPr>
              <p:nvPr/>
            </p:nvSpPr>
            <p:spPr bwMode="auto">
              <a:xfrm flipV="1">
                <a:off x="4178" y="622"/>
                <a:ext cx="0" cy="17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3176" name="Line 88"/>
              <p:cNvSpPr>
                <a:spLocks noChangeShapeType="1"/>
              </p:cNvSpPr>
              <p:nvPr/>
            </p:nvSpPr>
            <p:spPr bwMode="auto">
              <a:xfrm flipV="1">
                <a:off x="5512" y="644"/>
                <a:ext cx="0" cy="1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1113177" name="Group 89"/>
          <p:cNvGrpSpPr>
            <a:grpSpLocks/>
          </p:cNvGrpSpPr>
          <p:nvPr/>
        </p:nvGrpSpPr>
        <p:grpSpPr bwMode="auto">
          <a:xfrm>
            <a:off x="8582918" y="4922838"/>
            <a:ext cx="2130425" cy="660400"/>
            <a:chOff x="4174" y="622"/>
            <a:chExt cx="1342" cy="416"/>
          </a:xfrm>
        </p:grpSpPr>
        <p:grpSp>
          <p:nvGrpSpPr>
            <p:cNvPr id="1113178" name="Group 90"/>
            <p:cNvGrpSpPr>
              <a:grpSpLocks/>
            </p:cNvGrpSpPr>
            <p:nvPr/>
          </p:nvGrpSpPr>
          <p:grpSpPr bwMode="auto">
            <a:xfrm>
              <a:off x="4174" y="778"/>
              <a:ext cx="1342" cy="260"/>
              <a:chOff x="3628" y="1745"/>
              <a:chExt cx="1342" cy="260"/>
            </a:xfrm>
          </p:grpSpPr>
          <p:sp>
            <p:nvSpPr>
              <p:cNvPr id="1113179" name="Rectangle 91"/>
              <p:cNvSpPr>
                <a:spLocks noChangeArrowheads="1"/>
              </p:cNvSpPr>
              <p:nvPr/>
            </p:nvSpPr>
            <p:spPr bwMode="auto">
              <a:xfrm>
                <a:off x="3628" y="1749"/>
                <a:ext cx="1342" cy="2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r>
                  <a:rPr lang="zh-CN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3    </a:t>
                </a:r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A    B    C     0</a:t>
                </a:r>
              </a:p>
            </p:txBody>
          </p:sp>
          <p:sp>
            <p:nvSpPr>
              <p:cNvPr id="1113180" name="Line 92"/>
              <p:cNvSpPr>
                <a:spLocks noChangeShapeType="1"/>
              </p:cNvSpPr>
              <p:nvPr/>
            </p:nvSpPr>
            <p:spPr bwMode="auto">
              <a:xfrm flipH="1">
                <a:off x="3867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3181" name="Line 93"/>
              <p:cNvSpPr>
                <a:spLocks noChangeShapeType="1"/>
              </p:cNvSpPr>
              <p:nvPr/>
            </p:nvSpPr>
            <p:spPr bwMode="auto">
              <a:xfrm>
                <a:off x="4101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3182" name="Line 94"/>
              <p:cNvSpPr>
                <a:spLocks noChangeShapeType="1"/>
              </p:cNvSpPr>
              <p:nvPr/>
            </p:nvSpPr>
            <p:spPr bwMode="auto">
              <a:xfrm>
                <a:off x="4356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3183" name="Line 95"/>
              <p:cNvSpPr>
                <a:spLocks noChangeShapeType="1"/>
              </p:cNvSpPr>
              <p:nvPr/>
            </p:nvSpPr>
            <p:spPr bwMode="auto">
              <a:xfrm>
                <a:off x="4634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113184" name="Line 96"/>
            <p:cNvSpPr>
              <a:spLocks noChangeShapeType="1"/>
            </p:cNvSpPr>
            <p:nvPr/>
          </p:nvSpPr>
          <p:spPr bwMode="auto">
            <a:xfrm flipV="1">
              <a:off x="4178" y="622"/>
              <a:ext cx="0" cy="1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13185" name="Line 97"/>
            <p:cNvSpPr>
              <a:spLocks noChangeShapeType="1"/>
            </p:cNvSpPr>
            <p:nvPr/>
          </p:nvSpPr>
          <p:spPr bwMode="auto">
            <a:xfrm flipV="1">
              <a:off x="5512" y="644"/>
              <a:ext cx="0" cy="1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113186" name="Group 98"/>
          <p:cNvGrpSpPr>
            <a:grpSpLocks/>
          </p:cNvGrpSpPr>
          <p:nvPr/>
        </p:nvGrpSpPr>
        <p:grpSpPr bwMode="auto">
          <a:xfrm>
            <a:off x="8570217" y="5643567"/>
            <a:ext cx="2063750" cy="809625"/>
            <a:chOff x="4245" y="3711"/>
            <a:chExt cx="1300" cy="510"/>
          </a:xfrm>
        </p:grpSpPr>
        <p:grpSp>
          <p:nvGrpSpPr>
            <p:cNvPr id="1113187" name="Group 99"/>
            <p:cNvGrpSpPr>
              <a:grpSpLocks/>
            </p:cNvGrpSpPr>
            <p:nvPr/>
          </p:nvGrpSpPr>
          <p:grpSpPr bwMode="auto">
            <a:xfrm>
              <a:off x="4245" y="3711"/>
              <a:ext cx="1300" cy="311"/>
              <a:chOff x="4223" y="3744"/>
              <a:chExt cx="1300" cy="311"/>
            </a:xfrm>
          </p:grpSpPr>
          <p:sp>
            <p:nvSpPr>
              <p:cNvPr id="1113188" name="Line 100"/>
              <p:cNvSpPr>
                <a:spLocks noChangeShapeType="1"/>
              </p:cNvSpPr>
              <p:nvPr/>
            </p:nvSpPr>
            <p:spPr bwMode="auto">
              <a:xfrm>
                <a:off x="4223" y="3744"/>
                <a:ext cx="0" cy="31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3189" name="Line 101"/>
              <p:cNvSpPr>
                <a:spLocks noChangeShapeType="1"/>
              </p:cNvSpPr>
              <p:nvPr/>
            </p:nvSpPr>
            <p:spPr bwMode="auto">
              <a:xfrm>
                <a:off x="4223" y="4055"/>
                <a:ext cx="1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3190" name="Line 102"/>
              <p:cNvSpPr>
                <a:spLocks noChangeShapeType="1"/>
              </p:cNvSpPr>
              <p:nvPr/>
            </p:nvSpPr>
            <p:spPr bwMode="auto">
              <a:xfrm flipV="1">
                <a:off x="5512" y="3766"/>
                <a:ext cx="0" cy="2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113191" name="Text Box 103"/>
            <p:cNvSpPr txBox="1">
              <a:spLocks noChangeArrowheads="1"/>
            </p:cNvSpPr>
            <p:nvPr/>
          </p:nvSpPr>
          <p:spPr bwMode="auto">
            <a:xfrm>
              <a:off x="4612" y="3969"/>
              <a:ext cx="441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CC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栈空</a:t>
              </a:r>
            </a:p>
          </p:txBody>
        </p:sp>
      </p:grpSp>
      <p:grpSp>
        <p:nvGrpSpPr>
          <p:cNvPr id="1113194" name="Group 106"/>
          <p:cNvGrpSpPr>
            <a:grpSpLocks/>
          </p:cNvGrpSpPr>
          <p:nvPr/>
        </p:nvGrpSpPr>
        <p:grpSpPr bwMode="auto">
          <a:xfrm>
            <a:off x="5807968" y="850032"/>
            <a:ext cx="2132013" cy="1066800"/>
            <a:chOff x="4236" y="608"/>
            <a:chExt cx="1343" cy="672"/>
          </a:xfrm>
        </p:grpSpPr>
        <p:grpSp>
          <p:nvGrpSpPr>
            <p:cNvPr id="1113195" name="Group 107"/>
            <p:cNvGrpSpPr>
              <a:grpSpLocks/>
            </p:cNvGrpSpPr>
            <p:nvPr/>
          </p:nvGrpSpPr>
          <p:grpSpPr bwMode="auto">
            <a:xfrm>
              <a:off x="4236" y="1020"/>
              <a:ext cx="1342" cy="260"/>
              <a:chOff x="3628" y="1745"/>
              <a:chExt cx="1342" cy="260"/>
            </a:xfrm>
          </p:grpSpPr>
          <p:sp>
            <p:nvSpPr>
              <p:cNvPr id="1113196" name="Rectangle 108"/>
              <p:cNvSpPr>
                <a:spLocks noChangeArrowheads="1"/>
              </p:cNvSpPr>
              <p:nvPr/>
            </p:nvSpPr>
            <p:spPr bwMode="auto">
              <a:xfrm>
                <a:off x="3628" y="1749"/>
                <a:ext cx="1342" cy="2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r>
                  <a:rPr lang="zh-CN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3    </a:t>
                </a:r>
                <a:r>
                  <a:rPr lang="en-US" altLang="zh-CN" sz="2000" b="1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A    B    C     0</a:t>
                </a:r>
              </a:p>
            </p:txBody>
          </p:sp>
          <p:sp>
            <p:nvSpPr>
              <p:cNvPr id="1113197" name="Line 109"/>
              <p:cNvSpPr>
                <a:spLocks noChangeShapeType="1"/>
              </p:cNvSpPr>
              <p:nvPr/>
            </p:nvSpPr>
            <p:spPr bwMode="auto">
              <a:xfrm flipH="1">
                <a:off x="3867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3198" name="Line 110"/>
              <p:cNvSpPr>
                <a:spLocks noChangeShapeType="1"/>
              </p:cNvSpPr>
              <p:nvPr/>
            </p:nvSpPr>
            <p:spPr bwMode="auto">
              <a:xfrm>
                <a:off x="4101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3199" name="Line 111"/>
              <p:cNvSpPr>
                <a:spLocks noChangeShapeType="1"/>
              </p:cNvSpPr>
              <p:nvPr/>
            </p:nvSpPr>
            <p:spPr bwMode="auto">
              <a:xfrm>
                <a:off x="4356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3200" name="Line 112"/>
              <p:cNvSpPr>
                <a:spLocks noChangeShapeType="1"/>
              </p:cNvSpPr>
              <p:nvPr/>
            </p:nvSpPr>
            <p:spPr bwMode="auto">
              <a:xfrm>
                <a:off x="4634" y="1745"/>
                <a:ext cx="0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113201" name="Group 113"/>
            <p:cNvGrpSpPr>
              <a:grpSpLocks/>
            </p:cNvGrpSpPr>
            <p:nvPr/>
          </p:nvGrpSpPr>
          <p:grpSpPr bwMode="auto">
            <a:xfrm>
              <a:off x="4237" y="608"/>
              <a:ext cx="1342" cy="416"/>
              <a:chOff x="4174" y="622"/>
              <a:chExt cx="1342" cy="416"/>
            </a:xfrm>
          </p:grpSpPr>
          <p:grpSp>
            <p:nvGrpSpPr>
              <p:cNvPr id="1113202" name="Group 114"/>
              <p:cNvGrpSpPr>
                <a:grpSpLocks/>
              </p:cNvGrpSpPr>
              <p:nvPr/>
            </p:nvGrpSpPr>
            <p:grpSpPr bwMode="auto">
              <a:xfrm>
                <a:off x="4174" y="778"/>
                <a:ext cx="1342" cy="260"/>
                <a:chOff x="3628" y="1745"/>
                <a:chExt cx="1342" cy="260"/>
              </a:xfrm>
            </p:grpSpPr>
            <p:sp>
              <p:nvSpPr>
                <p:cNvPr id="1113203" name="Rectangle 115"/>
                <p:cNvSpPr>
                  <a:spLocks noChangeArrowheads="1"/>
                </p:cNvSpPr>
                <p:nvPr/>
              </p:nvSpPr>
              <p:spPr bwMode="auto">
                <a:xfrm>
                  <a:off x="3628" y="1749"/>
                  <a:ext cx="134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r>
                    <a:rPr lang="zh-CN" altLang="zh-CN" sz="2000" b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</a:rPr>
                    <a:t>2    </a:t>
                  </a:r>
                  <a:r>
                    <a:rPr lang="en-US" altLang="zh-CN" sz="2000" b="1">
                      <a:effectLst>
                        <a:outerShdw blurRad="38100" dist="38100" dir="2700000" algn="tl">
                          <a:srgbClr val="FFFFFF"/>
                        </a:outerShdw>
                      </a:effectLst>
                    </a:rPr>
                    <a:t>B    A    C     8</a:t>
                  </a:r>
                </a:p>
              </p:txBody>
            </p:sp>
            <p:sp>
              <p:nvSpPr>
                <p:cNvPr id="1113204" name="Line 116"/>
                <p:cNvSpPr>
                  <a:spLocks noChangeShapeType="1"/>
                </p:cNvSpPr>
                <p:nvPr/>
              </p:nvSpPr>
              <p:spPr bwMode="auto">
                <a:xfrm flipH="1">
                  <a:off x="3867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3205" name="Line 117"/>
                <p:cNvSpPr>
                  <a:spLocks noChangeShapeType="1"/>
                </p:cNvSpPr>
                <p:nvPr/>
              </p:nvSpPr>
              <p:spPr bwMode="auto">
                <a:xfrm>
                  <a:off x="4101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3206" name="Line 118"/>
                <p:cNvSpPr>
                  <a:spLocks noChangeShapeType="1"/>
                </p:cNvSpPr>
                <p:nvPr/>
              </p:nvSpPr>
              <p:spPr bwMode="auto">
                <a:xfrm>
                  <a:off x="4356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3207" name="Line 119"/>
                <p:cNvSpPr>
                  <a:spLocks noChangeShapeType="1"/>
                </p:cNvSpPr>
                <p:nvPr/>
              </p:nvSpPr>
              <p:spPr bwMode="auto">
                <a:xfrm>
                  <a:off x="4634" y="1745"/>
                  <a:ext cx="0" cy="2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1113208" name="Line 120"/>
              <p:cNvSpPr>
                <a:spLocks noChangeShapeType="1"/>
              </p:cNvSpPr>
              <p:nvPr/>
            </p:nvSpPr>
            <p:spPr bwMode="auto">
              <a:xfrm flipV="1">
                <a:off x="4178" y="622"/>
                <a:ext cx="0" cy="17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13209" name="Line 121"/>
              <p:cNvSpPr>
                <a:spLocks noChangeShapeType="1"/>
              </p:cNvSpPr>
              <p:nvPr/>
            </p:nvSpPr>
            <p:spPr bwMode="auto">
              <a:xfrm flipV="1">
                <a:off x="5512" y="644"/>
                <a:ext cx="0" cy="1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1310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3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3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11131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3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3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3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3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3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3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3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3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11131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11131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3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3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3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3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5" dur="500"/>
                                        <p:tgtEl>
                                          <p:spTgt spid="11131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3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3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3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3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8" dur="500"/>
                                        <p:tgtEl>
                                          <p:spTgt spid="11131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3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3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3090" grpId="0" animBg="1"/>
      <p:bldP spid="1113091" grpId="0" animBg="1"/>
      <p:bldP spid="1113092" grpId="0" animBg="1"/>
      <p:bldP spid="1113093" grpId="0" animBg="1"/>
      <p:bldP spid="1113094" grpId="0" animBg="1"/>
      <p:bldP spid="1113095" grpId="0" animBg="1"/>
      <p:bldP spid="1113096" grpId="0" animBg="1"/>
      <p:bldP spid="1113097" grpId="0" animBg="1"/>
      <p:bldP spid="1113098" grpId="0" animBg="1"/>
      <p:bldP spid="1113099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434098" y="863643"/>
            <a:ext cx="11278526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indent="304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【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4】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分书问题</a:t>
            </a:r>
          </a:p>
          <a:p>
            <a:pPr indent="304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solidFill>
                  <a:srgbClr val="3333FF"/>
                </a:solidFill>
                <a:latin typeface="隶书" pitchFamily="49" charset="-122"/>
                <a:ea typeface="隶书" pitchFamily="49" charset="-122"/>
              </a:rPr>
              <a:t> 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有编号分别为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本书，准备分给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个人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E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，每个人阅读兴趣用一个二维数组加以描述，公式如下：   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2063552" y="1980952"/>
            <a:ext cx="4784725" cy="1016000"/>
            <a:chOff x="1045" y="1752"/>
            <a:chExt cx="3014" cy="640"/>
          </a:xfrm>
        </p:grpSpPr>
        <p:sp>
          <p:nvSpPr>
            <p:cNvPr id="3129" name="Text Box 3"/>
            <p:cNvSpPr txBox="1">
              <a:spLocks noChangeArrowheads="1"/>
            </p:cNvSpPr>
            <p:nvPr/>
          </p:nvSpPr>
          <p:spPr bwMode="auto">
            <a:xfrm>
              <a:off x="1045" y="1917"/>
              <a:ext cx="107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solidFill>
                    <a:schemeClr val="accent1">
                      <a:lumMod val="50000"/>
                    </a:schemeClr>
                  </a:solidFill>
                </a:rPr>
                <a:t>Like[</a:t>
              </a:r>
              <a:r>
                <a:rPr lang="en-US" altLang="zh-CN" b="1" dirty="0" err="1">
                  <a:solidFill>
                    <a:schemeClr val="accent1">
                      <a:lumMod val="50000"/>
                    </a:schemeClr>
                  </a:solidFill>
                </a:rPr>
                <a:t>i</a:t>
              </a:r>
              <a:r>
                <a:rPr lang="en-US" altLang="zh-CN" b="1" dirty="0">
                  <a:solidFill>
                    <a:schemeClr val="accent1">
                      <a:lumMod val="50000"/>
                    </a:schemeClr>
                  </a:solidFill>
                </a:rPr>
                <a:t>][j] =</a:t>
              </a:r>
              <a:r>
                <a:rPr lang="en-US" altLang="zh-CN" dirty="0">
                  <a:solidFill>
                    <a:schemeClr val="accent1">
                      <a:lumMod val="50000"/>
                    </a:schemeClr>
                  </a:solidFill>
                  <a:latin typeface="Calibri" pitchFamily="34" charset="0"/>
                </a:rPr>
                <a:t> </a:t>
              </a:r>
            </a:p>
          </p:txBody>
        </p:sp>
        <p:sp>
          <p:nvSpPr>
            <p:cNvPr id="3130" name="AutoShape 4"/>
            <p:cNvSpPr>
              <a:spLocks/>
            </p:cNvSpPr>
            <p:nvPr/>
          </p:nvSpPr>
          <p:spPr bwMode="auto">
            <a:xfrm>
              <a:off x="2109" y="1888"/>
              <a:ext cx="181" cy="363"/>
            </a:xfrm>
            <a:prstGeom prst="leftBrace">
              <a:avLst>
                <a:gd name="adj1" fmla="val 16713"/>
                <a:gd name="adj2" fmla="val 50000"/>
              </a:avLst>
            </a:prstGeom>
            <a:noFill/>
            <a:ln w="22225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solidFill>
                  <a:schemeClr val="accent1">
                    <a:lumMod val="50000"/>
                  </a:schemeClr>
                </a:solidFill>
                <a:latin typeface="Calibri" pitchFamily="34" charset="0"/>
              </a:endParaRPr>
            </a:p>
          </p:txBody>
        </p:sp>
        <p:sp>
          <p:nvSpPr>
            <p:cNvPr id="3131" name="Text Box 5"/>
            <p:cNvSpPr txBox="1">
              <a:spLocks noChangeArrowheads="1"/>
            </p:cNvSpPr>
            <p:nvPr/>
          </p:nvSpPr>
          <p:spPr bwMode="auto">
            <a:xfrm>
              <a:off x="2381" y="1752"/>
              <a:ext cx="1225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accent1">
                      <a:lumMod val="50000"/>
                    </a:schemeClr>
                  </a:solidFill>
                  <a:latin typeface="+mn-lt"/>
                  <a:ea typeface="隶书" pitchFamily="49" charset="-122"/>
                </a:rPr>
                <a:t>1   </a:t>
              </a:r>
              <a:r>
                <a:rPr lang="en-US" altLang="zh-CN" b="1" dirty="0" err="1">
                  <a:solidFill>
                    <a:schemeClr val="accent1">
                      <a:lumMod val="50000"/>
                    </a:schemeClr>
                  </a:solidFill>
                  <a:latin typeface="+mn-lt"/>
                  <a:ea typeface="隶书" pitchFamily="49" charset="-122"/>
                </a:rPr>
                <a:t>i</a:t>
              </a:r>
              <a:r>
                <a:rPr lang="zh-CN" altLang="en-US" b="1" dirty="0">
                  <a:solidFill>
                    <a:schemeClr val="accent1">
                      <a:lumMod val="50000"/>
                    </a:schemeClr>
                  </a:solidFill>
                  <a:latin typeface="+mn-lt"/>
                  <a:ea typeface="隶书" pitchFamily="49" charset="-122"/>
                </a:rPr>
                <a:t>喜欢</a:t>
              </a:r>
              <a:r>
                <a:rPr lang="en-US" altLang="zh-CN" b="1" dirty="0">
                  <a:solidFill>
                    <a:schemeClr val="accent1">
                      <a:lumMod val="50000"/>
                    </a:schemeClr>
                  </a:solidFill>
                  <a:latin typeface="+mn-lt"/>
                  <a:ea typeface="隶书" pitchFamily="49" charset="-122"/>
                </a:rPr>
                <a:t>j</a:t>
              </a:r>
              <a:r>
                <a:rPr lang="zh-CN" altLang="en-US" b="1" dirty="0">
                  <a:solidFill>
                    <a:schemeClr val="accent1">
                      <a:lumMod val="50000"/>
                    </a:schemeClr>
                  </a:solidFill>
                  <a:latin typeface="+mn-lt"/>
                  <a:ea typeface="隶书" pitchFamily="49" charset="-122"/>
                </a:rPr>
                <a:t>书</a:t>
              </a:r>
            </a:p>
          </p:txBody>
        </p:sp>
        <p:sp>
          <p:nvSpPr>
            <p:cNvPr id="3132" name="Text Box 6"/>
            <p:cNvSpPr txBox="1">
              <a:spLocks noChangeArrowheads="1"/>
            </p:cNvSpPr>
            <p:nvPr/>
          </p:nvSpPr>
          <p:spPr bwMode="auto">
            <a:xfrm>
              <a:off x="2373" y="2104"/>
              <a:ext cx="168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chemeClr val="accent1">
                      <a:lumMod val="50000"/>
                    </a:schemeClr>
                  </a:solidFill>
                  <a:latin typeface="+mn-lt"/>
                  <a:ea typeface="隶书" pitchFamily="49" charset="-122"/>
                </a:rPr>
                <a:t>0   i</a:t>
              </a:r>
              <a:r>
                <a:rPr lang="zh-CN" altLang="en-US" b="1">
                  <a:solidFill>
                    <a:schemeClr val="accent1">
                      <a:lumMod val="50000"/>
                    </a:schemeClr>
                  </a:solidFill>
                  <a:latin typeface="+mn-lt"/>
                  <a:ea typeface="隶书" pitchFamily="49" charset="-122"/>
                </a:rPr>
                <a:t>不喜欢</a:t>
              </a:r>
              <a:r>
                <a:rPr lang="en-US" altLang="zh-CN" b="1">
                  <a:solidFill>
                    <a:schemeClr val="accent1">
                      <a:lumMod val="50000"/>
                    </a:schemeClr>
                  </a:solidFill>
                  <a:latin typeface="+mn-lt"/>
                  <a:ea typeface="隶书" pitchFamily="49" charset="-122"/>
                </a:rPr>
                <a:t>j</a:t>
              </a:r>
              <a:r>
                <a:rPr lang="zh-CN" altLang="en-US" b="1">
                  <a:solidFill>
                    <a:schemeClr val="accent1">
                      <a:lumMod val="50000"/>
                    </a:schemeClr>
                  </a:solidFill>
                  <a:latin typeface="+mn-lt"/>
                  <a:ea typeface="隶书" pitchFamily="49" charset="-122"/>
                </a:rPr>
                <a:t>书</a:t>
              </a:r>
            </a:p>
          </p:txBody>
        </p:sp>
      </p:grpSp>
      <p:sp>
        <p:nvSpPr>
          <p:cNvPr id="12296" name="Text Box 8"/>
          <p:cNvSpPr txBox="1">
            <a:spLocks noChangeArrowheads="1"/>
          </p:cNvSpPr>
          <p:nvPr/>
        </p:nvSpPr>
        <p:spPr bwMode="auto">
          <a:xfrm>
            <a:off x="403648" y="2958043"/>
            <a:ext cx="1117368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写一个程序，输出所有分书方案，让人人皆大欢喜。假定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个人对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本书的阅读兴趣如下图所示。</a:t>
            </a:r>
          </a:p>
        </p:txBody>
      </p:sp>
      <p:graphicFrame>
        <p:nvGraphicFramePr>
          <p:cNvPr id="12357" name="Group 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1948424"/>
              </p:ext>
            </p:extLst>
          </p:nvPr>
        </p:nvGraphicFramePr>
        <p:xfrm>
          <a:off x="3024336" y="3766140"/>
          <a:ext cx="6096000" cy="254318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143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  <a:ea typeface="楷体" pitchFamily="49" charset="-122"/>
                        </a:rPr>
                        <a:t>       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  <a:ea typeface="楷体" pitchFamily="49" charset="-122"/>
                        </a:rPr>
                        <a:t>书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1920"/>
                          </a:solidFill>
                          <a:effectLst/>
                          <a:latin typeface="+mn-lt"/>
                          <a:ea typeface="楷体" pitchFamily="49" charset="-122"/>
                        </a:rPr>
                        <a:t>  人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rgbClr val="BEDFC4"/>
                        </a:gs>
                        <a:gs pos="100000">
                          <a:schemeClr val="accent1">
                            <a:lumMod val="60000"/>
                            <a:lumOff val="40000"/>
                            <a:tint val="23500"/>
                            <a:satMod val="16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  <a:ea typeface="楷体" pitchFamily="49" charset="-122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rgbClr val="BEDFC4"/>
                        </a:gs>
                        <a:gs pos="100000">
                          <a:schemeClr val="accent1">
                            <a:lumMod val="60000"/>
                            <a:lumOff val="40000"/>
                            <a:tint val="23500"/>
                            <a:satMod val="16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  <a:ea typeface="楷体" pitchFamily="49" charset="-122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rgbClr val="BEDFC4"/>
                        </a:gs>
                        <a:gs pos="100000">
                          <a:schemeClr val="accent1">
                            <a:lumMod val="60000"/>
                            <a:lumOff val="40000"/>
                            <a:tint val="23500"/>
                            <a:satMod val="16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  <a:ea typeface="楷体" pitchFamily="49" charset="-122"/>
                        </a:rPr>
                        <a:t>2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rgbClr val="BEDFC4"/>
                        </a:gs>
                        <a:gs pos="100000">
                          <a:schemeClr val="accent1">
                            <a:lumMod val="60000"/>
                            <a:lumOff val="40000"/>
                            <a:tint val="23500"/>
                            <a:satMod val="16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  <a:ea typeface="楷体" pitchFamily="49" charset="-122"/>
                        </a:rPr>
                        <a:t>3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rgbClr val="BEDFC4"/>
                        </a:gs>
                        <a:gs pos="100000">
                          <a:schemeClr val="accent1">
                            <a:lumMod val="60000"/>
                            <a:lumOff val="40000"/>
                            <a:tint val="23500"/>
                            <a:satMod val="16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  <a:ea typeface="楷体" pitchFamily="49" charset="-122"/>
                        </a:rPr>
                        <a:t>4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rgbClr val="BEDFC4"/>
                        </a:gs>
                        <a:gs pos="100000">
                          <a:schemeClr val="accent1">
                            <a:lumMod val="60000"/>
                            <a:lumOff val="40000"/>
                            <a:tint val="23500"/>
                            <a:satMod val="16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1920"/>
                          </a:solidFill>
                          <a:effectLst/>
                          <a:latin typeface="+mn-lt"/>
                          <a:ea typeface="楷体" pitchFamily="49" charset="-122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rgbClr val="FF7C80">
                            <a:tint val="66000"/>
                            <a:satMod val="160000"/>
                          </a:srgbClr>
                        </a:gs>
                        <a:gs pos="50000">
                          <a:srgbClr val="FF7C80">
                            <a:tint val="44500"/>
                            <a:satMod val="160000"/>
                          </a:srgbClr>
                        </a:gs>
                        <a:gs pos="100000">
                          <a:srgbClr val="FF7C80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itchFamily="49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itchFamily="49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itchFamily="49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itchFamily="49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itchFamily="49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1920"/>
                          </a:solidFill>
                          <a:effectLst/>
                          <a:latin typeface="+mn-lt"/>
                          <a:ea typeface="楷体" pitchFamily="49" charset="-122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rgbClr val="FF7C80">
                            <a:tint val="66000"/>
                            <a:satMod val="160000"/>
                          </a:srgbClr>
                        </a:gs>
                        <a:gs pos="50000">
                          <a:srgbClr val="FF7C80">
                            <a:tint val="44500"/>
                            <a:satMod val="160000"/>
                          </a:srgbClr>
                        </a:gs>
                        <a:gs pos="100000">
                          <a:srgbClr val="FF7C80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itchFamily="49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itchFamily="49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itchFamily="49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itchFamily="49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itchFamily="49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1920"/>
                          </a:solidFill>
                          <a:effectLst/>
                          <a:latin typeface="+mn-lt"/>
                          <a:ea typeface="楷体" pitchFamily="49" charset="-122"/>
                        </a:rPr>
                        <a:t>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rgbClr val="FF7C80">
                            <a:tint val="66000"/>
                            <a:satMod val="160000"/>
                          </a:srgbClr>
                        </a:gs>
                        <a:gs pos="50000">
                          <a:srgbClr val="FF7C80">
                            <a:tint val="44500"/>
                            <a:satMod val="160000"/>
                          </a:srgbClr>
                        </a:gs>
                        <a:gs pos="100000">
                          <a:srgbClr val="FF7C80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itchFamily="49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itchFamily="49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itchFamily="49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itchFamily="49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itchFamily="49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1920"/>
                          </a:solidFill>
                          <a:effectLst/>
                          <a:latin typeface="+mn-lt"/>
                          <a:ea typeface="楷体" pitchFamily="49" charset="-122"/>
                        </a:rPr>
                        <a:t>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rgbClr val="FF7C80">
                            <a:tint val="66000"/>
                            <a:satMod val="160000"/>
                          </a:srgbClr>
                        </a:gs>
                        <a:gs pos="50000">
                          <a:srgbClr val="FF7C80">
                            <a:tint val="44500"/>
                            <a:satMod val="160000"/>
                          </a:srgbClr>
                        </a:gs>
                        <a:gs pos="100000">
                          <a:srgbClr val="FF7C80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itchFamily="49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itchFamily="49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itchFamily="49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itchFamily="49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itchFamily="49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1920"/>
                          </a:solidFill>
                          <a:effectLst/>
                          <a:latin typeface="+mn-lt"/>
                          <a:ea typeface="楷体" pitchFamily="49" charset="-122"/>
                        </a:rPr>
                        <a:t>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rgbClr val="FF7C80">
                            <a:tint val="66000"/>
                            <a:satMod val="160000"/>
                          </a:srgbClr>
                        </a:gs>
                        <a:gs pos="50000">
                          <a:srgbClr val="FF7C80">
                            <a:tint val="44500"/>
                            <a:satMod val="160000"/>
                          </a:srgbClr>
                        </a:gs>
                        <a:gs pos="100000">
                          <a:srgbClr val="FF7C80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itchFamily="49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itchFamily="49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itchFamily="49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itchFamily="49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itchFamily="49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128" name="Line 68"/>
          <p:cNvSpPr>
            <a:spLocks noChangeShapeType="1"/>
          </p:cNvSpPr>
          <p:nvPr/>
        </p:nvSpPr>
        <p:spPr bwMode="auto">
          <a:xfrm>
            <a:off x="3035752" y="3717032"/>
            <a:ext cx="1000132" cy="71438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5E33F671-B991-49D1-8FAD-DC425E71B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8.6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函数的嵌套与递归调用</a:t>
            </a:r>
          </a:p>
        </p:txBody>
      </p:sp>
    </p:spTree>
  </p:cSld>
  <p:clrMapOvr>
    <a:masterClrMapping/>
  </p:clrMapOvr>
  <p:transition>
    <p:zoom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902578" y="1346688"/>
            <a:ext cx="10522660" cy="5262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b="1" u="sng" dirty="0">
                <a:solidFill>
                  <a:srgbClr val="FF0000"/>
                </a:solidFill>
                <a:latin typeface="+mn-lt"/>
                <a:ea typeface="楷体" pitchFamily="49" charset="-122"/>
              </a:rPr>
              <a:t> </a:t>
            </a:r>
            <a:r>
              <a:rPr lang="zh-CN" altLang="en-US" b="1" u="sng" dirty="0">
                <a:solidFill>
                  <a:srgbClr val="C01920"/>
                </a:solidFill>
                <a:latin typeface="+mn-lt"/>
                <a:ea typeface="楷体" pitchFamily="49" charset="-122"/>
              </a:rPr>
              <a:t>解题思路：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solidFill>
                  <a:srgbClr val="006600"/>
                </a:solidFill>
                <a:latin typeface="+mn-lt"/>
                <a:ea typeface="楷体" pitchFamily="49" charset="-122"/>
              </a:rPr>
              <a:t>        </a:t>
            </a:r>
            <a:r>
              <a:rPr lang="en-US" altLang="zh-CN" b="1" dirty="0">
                <a:latin typeface="+mn-lt"/>
                <a:ea typeface="楷体" pitchFamily="49" charset="-122"/>
              </a:rPr>
              <a:t>(1) </a:t>
            </a:r>
            <a:r>
              <a:rPr lang="zh-CN" altLang="en-US" b="1" dirty="0">
                <a:latin typeface="+mn-lt"/>
                <a:ea typeface="楷体" pitchFamily="49" charset="-122"/>
              </a:rPr>
              <a:t>定义一个整型的二维数组，将表中的阅读喜好用初始化方法赋给这个二维数组。可定义：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latin typeface="+mn-lt"/>
                <a:ea typeface="楷体" pitchFamily="49" charset="-122"/>
              </a:rPr>
              <a:t>        </a:t>
            </a:r>
            <a:r>
              <a:rPr lang="en-US" altLang="zh-CN" b="1" dirty="0" err="1">
                <a:solidFill>
                  <a:schemeClr val="accent1">
                    <a:lumMod val="50000"/>
                  </a:schemeClr>
                </a:solidFill>
                <a:latin typeface="+mn-lt"/>
                <a:ea typeface="楷体" pitchFamily="49" charset="-122"/>
              </a:rPr>
              <a:t>int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  <a:latin typeface="+mn-lt"/>
                <a:ea typeface="楷体" pitchFamily="49" charset="-122"/>
              </a:rPr>
              <a:t> like[5][5] = { {0,0,1,1,0}, {1,1,0,0,1}, {0,1,1,0,1}, {0,0,0,1,0}, {0,1,0,0,1} };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b="1" dirty="0">
                <a:latin typeface="+mn-lt"/>
                <a:ea typeface="楷体" pitchFamily="49" charset="-122"/>
              </a:rPr>
              <a:t>   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b="1" dirty="0">
                <a:latin typeface="+mn-lt"/>
                <a:ea typeface="楷体" pitchFamily="49" charset="-122"/>
              </a:rPr>
              <a:t>        (2) </a:t>
            </a:r>
            <a:r>
              <a:rPr lang="zh-CN" altLang="en-US" b="1" dirty="0">
                <a:latin typeface="+mn-lt"/>
                <a:ea typeface="楷体" pitchFamily="49" charset="-122"/>
              </a:rPr>
              <a:t>定义一个整型一维数组</a:t>
            </a:r>
            <a:r>
              <a:rPr lang="en-US" altLang="zh-CN" b="1" dirty="0">
                <a:latin typeface="+mn-lt"/>
                <a:ea typeface="楷体" pitchFamily="49" charset="-122"/>
              </a:rPr>
              <a:t>book[5]</a:t>
            </a:r>
            <a:r>
              <a:rPr lang="zh-CN" altLang="en-US" b="1" dirty="0">
                <a:latin typeface="+mn-lt"/>
                <a:ea typeface="楷体" pitchFamily="49" charset="-122"/>
              </a:rPr>
              <a:t>，用来记录书是否已被选用。用下标作为</a:t>
            </a:r>
            <a:r>
              <a:rPr lang="en-US" altLang="zh-CN" b="1" dirty="0">
                <a:latin typeface="+mn-lt"/>
                <a:ea typeface="楷体" pitchFamily="49" charset="-122"/>
              </a:rPr>
              <a:t>5</a:t>
            </a:r>
            <a:r>
              <a:rPr lang="zh-CN" altLang="en-US" b="1" dirty="0">
                <a:latin typeface="+mn-lt"/>
                <a:ea typeface="楷体" pitchFamily="49" charset="-122"/>
              </a:rPr>
              <a:t>本书的编号，被选过元素值为</a:t>
            </a:r>
            <a:r>
              <a:rPr lang="en-US" altLang="zh-CN" b="1" dirty="0">
                <a:latin typeface="+mn-lt"/>
                <a:ea typeface="楷体" pitchFamily="49" charset="-122"/>
              </a:rPr>
              <a:t>1</a:t>
            </a:r>
            <a:r>
              <a:rPr lang="zh-CN" altLang="en-US" b="1" dirty="0">
                <a:latin typeface="+mn-lt"/>
                <a:ea typeface="楷体" pitchFamily="49" charset="-122"/>
              </a:rPr>
              <a:t>，未被选过元素值为</a:t>
            </a:r>
            <a:r>
              <a:rPr lang="en-US" altLang="zh-CN" b="1" dirty="0">
                <a:latin typeface="+mn-lt"/>
                <a:ea typeface="楷体" pitchFamily="49" charset="-122"/>
              </a:rPr>
              <a:t>0</a:t>
            </a:r>
            <a:r>
              <a:rPr lang="zh-CN" altLang="en-US" b="1" dirty="0">
                <a:latin typeface="+mn-lt"/>
                <a:ea typeface="楷体" pitchFamily="49" charset="-122"/>
              </a:rPr>
              <a:t>，初始化皆为</a:t>
            </a:r>
            <a:r>
              <a:rPr lang="en-US" altLang="zh-CN" b="1" dirty="0">
                <a:latin typeface="+mn-lt"/>
                <a:ea typeface="楷体" pitchFamily="49" charset="-122"/>
              </a:rPr>
              <a:t>0</a:t>
            </a:r>
            <a:r>
              <a:rPr lang="zh-CN" altLang="en-US" b="1" dirty="0">
                <a:latin typeface="+mn-lt"/>
                <a:ea typeface="楷体" pitchFamily="49" charset="-122"/>
              </a:rPr>
              <a:t>。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latin typeface="+mn-lt"/>
                <a:ea typeface="楷体" pitchFamily="49" charset="-122"/>
              </a:rPr>
              <a:t>        </a:t>
            </a:r>
            <a:r>
              <a:rPr lang="en-US" altLang="zh-CN" b="1" dirty="0" err="1">
                <a:solidFill>
                  <a:schemeClr val="accent1">
                    <a:lumMod val="50000"/>
                  </a:schemeClr>
                </a:solidFill>
                <a:latin typeface="+mn-lt"/>
                <a:ea typeface="楷体" pitchFamily="49" charset="-122"/>
              </a:rPr>
              <a:t>int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  <a:latin typeface="+mn-lt"/>
                <a:ea typeface="楷体" pitchFamily="49" charset="-122"/>
              </a:rPr>
              <a:t> book[5] = {0,0,0,0,0};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b="1" dirty="0">
                <a:latin typeface="+mn-lt"/>
                <a:ea typeface="楷体" pitchFamily="49" charset="-122"/>
              </a:rPr>
              <a:t>   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b="1" dirty="0">
                <a:solidFill>
                  <a:srgbClr val="CC0099"/>
                </a:solidFill>
                <a:latin typeface="+mn-lt"/>
                <a:ea typeface="楷体" pitchFamily="49" charset="-122"/>
              </a:rPr>
              <a:t>       </a:t>
            </a: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(3) 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画出思路图</a:t>
            </a:r>
            <a:r>
              <a:rPr lang="zh-CN" altLang="en-US" b="1" dirty="0">
                <a:latin typeface="+mn-lt"/>
                <a:ea typeface="楷体" pitchFamily="49" charset="-122"/>
              </a:rPr>
              <a:t>。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latin typeface="+mn-lt"/>
                <a:ea typeface="楷体" pitchFamily="49" charset="-122"/>
              </a:rPr>
              <a:t>       ① 定义试着给第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i</a:t>
            </a:r>
            <a:r>
              <a:rPr lang="zh-CN" altLang="en-US" b="1" dirty="0">
                <a:latin typeface="+mn-lt"/>
                <a:ea typeface="楷体" pitchFamily="49" charset="-122"/>
              </a:rPr>
              <a:t>人分书的函数</a:t>
            </a: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Try(</a:t>
            </a:r>
            <a:r>
              <a:rPr lang="en-US" altLang="zh-CN" b="1" dirty="0" err="1">
                <a:solidFill>
                  <a:srgbClr val="C01920"/>
                </a:solidFill>
                <a:latin typeface="+mn-lt"/>
                <a:ea typeface="楷体" pitchFamily="49" charset="-122"/>
              </a:rPr>
              <a:t>i</a:t>
            </a: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)</a:t>
            </a:r>
            <a:r>
              <a:rPr lang="zh-CN" altLang="en-US" b="1" dirty="0">
                <a:latin typeface="+mn-lt"/>
                <a:ea typeface="楷体" pitchFamily="49" charset="-122"/>
              </a:rPr>
              <a:t>，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i</a:t>
            </a:r>
            <a:r>
              <a:rPr lang="en-US" altLang="zh-CN" b="1" dirty="0">
                <a:latin typeface="+mn-lt"/>
                <a:ea typeface="楷体" pitchFamily="49" charset="-122"/>
              </a:rPr>
              <a:t> = 0,1,2,3,4</a:t>
            </a:r>
            <a:r>
              <a:rPr lang="zh-CN" altLang="en-US" b="1" dirty="0">
                <a:latin typeface="+mn-lt"/>
                <a:ea typeface="楷体" pitchFamily="49" charset="-122"/>
              </a:rPr>
              <a:t>。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latin typeface="+mn-lt"/>
                <a:ea typeface="楷体" pitchFamily="49" charset="-122"/>
              </a:rPr>
              <a:t>       ② 试着给第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i</a:t>
            </a:r>
            <a:r>
              <a:rPr lang="zh-CN" altLang="en-US" b="1" dirty="0">
                <a:latin typeface="+mn-lt"/>
                <a:ea typeface="楷体" pitchFamily="49" charset="-122"/>
              </a:rPr>
              <a:t>个人分书，先试分</a:t>
            </a:r>
            <a:r>
              <a:rPr lang="en-US" altLang="zh-CN" b="1" dirty="0">
                <a:latin typeface="+mn-lt"/>
                <a:ea typeface="楷体" pitchFamily="49" charset="-122"/>
              </a:rPr>
              <a:t>0</a:t>
            </a:r>
            <a:r>
              <a:rPr lang="zh-CN" altLang="en-US" b="1" dirty="0">
                <a:latin typeface="+mn-lt"/>
                <a:ea typeface="楷体" pitchFamily="49" charset="-122"/>
              </a:rPr>
              <a:t>号书，再分</a:t>
            </a:r>
            <a:r>
              <a:rPr lang="en-US" altLang="zh-CN" b="1" dirty="0">
                <a:latin typeface="+mn-lt"/>
                <a:ea typeface="楷体" pitchFamily="49" charset="-122"/>
              </a:rPr>
              <a:t>1</a:t>
            </a:r>
            <a:r>
              <a:rPr lang="zh-CN" altLang="en-US" b="1" dirty="0">
                <a:latin typeface="+mn-lt"/>
                <a:ea typeface="楷体" pitchFamily="49" charset="-122"/>
              </a:rPr>
              <a:t>号书，分</a:t>
            </a:r>
            <a:r>
              <a:rPr lang="en-US" altLang="zh-CN" b="1" dirty="0">
                <a:latin typeface="+mn-lt"/>
                <a:ea typeface="楷体" pitchFamily="49" charset="-122"/>
              </a:rPr>
              <a:t>2</a:t>
            </a:r>
            <a:r>
              <a:rPr lang="zh-CN" altLang="en-US" b="1" dirty="0">
                <a:latin typeface="+mn-lt"/>
                <a:ea typeface="楷体" pitchFamily="49" charset="-122"/>
              </a:rPr>
              <a:t>号书，</a:t>
            </a:r>
            <a:r>
              <a:rPr lang="en-US" altLang="zh-CN" b="1" dirty="0">
                <a:latin typeface="+mn-lt"/>
                <a:ea typeface="楷体" pitchFamily="49" charset="-122"/>
              </a:rPr>
              <a:t>……</a:t>
            </a:r>
            <a:r>
              <a:rPr lang="zh-CN" altLang="en-US" b="1" dirty="0">
                <a:latin typeface="+mn-lt"/>
                <a:ea typeface="楷体" pitchFamily="49" charset="-122"/>
              </a:rPr>
              <a:t>，因此有一个与结点，让</a:t>
            </a:r>
            <a:r>
              <a:rPr lang="en-US" altLang="zh-CN" b="1" dirty="0">
                <a:latin typeface="+mn-lt"/>
                <a:ea typeface="楷体" pitchFamily="49" charset="-122"/>
              </a:rPr>
              <a:t>j</a:t>
            </a:r>
            <a:r>
              <a:rPr lang="zh-CN" altLang="en-US" b="1" dirty="0">
                <a:latin typeface="+mn-lt"/>
                <a:ea typeface="楷体" pitchFamily="49" charset="-122"/>
              </a:rPr>
              <a:t>表示书，</a:t>
            </a:r>
            <a:r>
              <a:rPr lang="en-US" altLang="zh-CN" b="1" dirty="0">
                <a:latin typeface="+mn-lt"/>
                <a:ea typeface="楷体" pitchFamily="49" charset="-122"/>
              </a:rPr>
              <a:t>j=0</a:t>
            </a:r>
            <a:r>
              <a:rPr lang="zh-CN" altLang="en-US" b="1" dirty="0">
                <a:latin typeface="+mn-lt"/>
                <a:ea typeface="楷体" pitchFamily="49" charset="-122"/>
              </a:rPr>
              <a:t>，</a:t>
            </a:r>
            <a:r>
              <a:rPr lang="en-US" altLang="zh-CN" b="1" dirty="0">
                <a:latin typeface="+mn-lt"/>
                <a:ea typeface="楷体" pitchFamily="49" charset="-122"/>
              </a:rPr>
              <a:t>1</a:t>
            </a:r>
            <a:r>
              <a:rPr lang="zh-CN" altLang="en-US" b="1" dirty="0">
                <a:latin typeface="+mn-lt"/>
                <a:ea typeface="楷体" pitchFamily="49" charset="-122"/>
              </a:rPr>
              <a:t>，</a:t>
            </a:r>
            <a:r>
              <a:rPr lang="en-US" altLang="zh-CN" b="1" dirty="0">
                <a:latin typeface="+mn-lt"/>
                <a:ea typeface="楷体" pitchFamily="49" charset="-122"/>
              </a:rPr>
              <a:t>2</a:t>
            </a:r>
            <a:r>
              <a:rPr lang="zh-CN" altLang="en-US" b="1" dirty="0">
                <a:latin typeface="+mn-lt"/>
                <a:ea typeface="楷体" pitchFamily="49" charset="-122"/>
              </a:rPr>
              <a:t>，</a:t>
            </a:r>
            <a:r>
              <a:rPr lang="en-US" altLang="zh-CN" b="1" dirty="0">
                <a:latin typeface="+mn-lt"/>
                <a:ea typeface="楷体" pitchFamily="49" charset="-122"/>
              </a:rPr>
              <a:t>3</a:t>
            </a:r>
            <a:r>
              <a:rPr lang="zh-CN" altLang="en-US" b="1" dirty="0">
                <a:latin typeface="+mn-lt"/>
                <a:ea typeface="楷体" pitchFamily="49" charset="-122"/>
              </a:rPr>
              <a:t>，</a:t>
            </a:r>
            <a:r>
              <a:rPr lang="en-US" altLang="zh-CN" b="1" dirty="0">
                <a:latin typeface="+mn-lt"/>
                <a:ea typeface="楷体" pitchFamily="49" charset="-122"/>
              </a:rPr>
              <a:t>4</a:t>
            </a:r>
            <a:r>
              <a:rPr lang="zh-CN" altLang="en-US" b="1" dirty="0">
                <a:latin typeface="+mn-lt"/>
                <a:ea typeface="楷体" pitchFamily="49" charset="-122"/>
              </a:rPr>
              <a:t>。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latin typeface="+mn-lt"/>
                <a:ea typeface="楷体" pitchFamily="49" charset="-122"/>
              </a:rPr>
              <a:t>      ③ </a:t>
            </a:r>
            <a:r>
              <a:rPr lang="en-US" altLang="zh-CN" b="1" dirty="0">
                <a:latin typeface="+mn-lt"/>
                <a:ea typeface="楷体" pitchFamily="49" charset="-122"/>
              </a:rPr>
              <a:t>LP</a:t>
            </a:r>
            <a:r>
              <a:rPr lang="zh-CN" altLang="en-US" b="1" dirty="0">
                <a:latin typeface="+mn-lt"/>
                <a:ea typeface="楷体" pitchFamily="49" charset="-122"/>
              </a:rPr>
              <a:t>为循环结构的循环体，如下图所示。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9B33413-EBE0-4F2D-B946-164451EA84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368" y="836712"/>
            <a:ext cx="1127852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indent="304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【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4】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分书问题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48DF883-2B79-4928-B8B4-7C771FE616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8.6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函数的嵌套与递归调用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2">
            <a:extLst>
              <a:ext uri="{FF2B5EF4-FFF2-40B4-BE49-F238E27FC236}">
                <a16:creationId xmlns:a16="http://schemas.microsoft.com/office/drawing/2014/main" id="{7495FE2D-BA4A-4424-9C8A-D1B6AEE02B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368" y="836712"/>
            <a:ext cx="1127852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indent="304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【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4】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分书问题</a:t>
            </a:r>
          </a:p>
        </p:txBody>
      </p:sp>
      <p:sp>
        <p:nvSpPr>
          <p:cNvPr id="115" name="Rectangle 4">
            <a:extLst>
              <a:ext uri="{FF2B5EF4-FFF2-40B4-BE49-F238E27FC236}">
                <a16:creationId xmlns:a16="http://schemas.microsoft.com/office/drawing/2014/main" id="{C0A8DCE3-277B-48B8-A959-6208370A41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8.6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函数的嵌套与递归调用</a:t>
            </a:r>
          </a:p>
        </p:txBody>
      </p:sp>
      <p:grpSp>
        <p:nvGrpSpPr>
          <p:cNvPr id="2" name="Group 27"/>
          <p:cNvGrpSpPr>
            <a:grpSpLocks/>
          </p:cNvGrpSpPr>
          <p:nvPr/>
        </p:nvGrpSpPr>
        <p:grpSpPr bwMode="auto">
          <a:xfrm>
            <a:off x="5592105" y="334223"/>
            <a:ext cx="2646362" cy="2279650"/>
            <a:chOff x="441" y="482"/>
            <a:chExt cx="1667" cy="1436"/>
          </a:xfrm>
        </p:grpSpPr>
        <p:sp>
          <p:nvSpPr>
            <p:cNvPr id="5157" name="Oval 3"/>
            <p:cNvSpPr>
              <a:spLocks noChangeArrowheads="1"/>
            </p:cNvSpPr>
            <p:nvPr/>
          </p:nvSpPr>
          <p:spPr bwMode="auto">
            <a:xfrm>
              <a:off x="1111" y="482"/>
              <a:ext cx="181" cy="181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Calibri" pitchFamily="34" charset="0"/>
              </a:endParaRPr>
            </a:p>
          </p:txBody>
        </p:sp>
        <p:sp>
          <p:nvSpPr>
            <p:cNvPr id="5158" name="Line 4"/>
            <p:cNvSpPr>
              <a:spLocks noChangeShapeType="1"/>
            </p:cNvSpPr>
            <p:nvPr/>
          </p:nvSpPr>
          <p:spPr bwMode="auto">
            <a:xfrm>
              <a:off x="1202" y="663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59" name="Oval 5"/>
            <p:cNvSpPr>
              <a:spLocks noChangeArrowheads="1"/>
            </p:cNvSpPr>
            <p:nvPr/>
          </p:nvSpPr>
          <p:spPr bwMode="auto">
            <a:xfrm>
              <a:off x="1111" y="935"/>
              <a:ext cx="181" cy="181"/>
            </a:xfrm>
            <a:prstGeom prst="ellipse">
              <a:avLst/>
            </a:prstGeom>
            <a:solidFill>
              <a:srgbClr val="C0192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zh-CN">
                <a:solidFill>
                  <a:srgbClr val="CC0000"/>
                </a:solidFill>
                <a:latin typeface="Calibri" pitchFamily="34" charset="0"/>
              </a:endParaRPr>
            </a:p>
          </p:txBody>
        </p:sp>
        <p:sp>
          <p:nvSpPr>
            <p:cNvPr id="5160" name="Oval 6"/>
            <p:cNvSpPr>
              <a:spLocks noChangeArrowheads="1"/>
            </p:cNvSpPr>
            <p:nvPr/>
          </p:nvSpPr>
          <p:spPr bwMode="auto">
            <a:xfrm>
              <a:off x="505" y="1509"/>
              <a:ext cx="181" cy="181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Calibri" pitchFamily="34" charset="0"/>
              </a:endParaRPr>
            </a:p>
          </p:txBody>
        </p:sp>
        <p:sp>
          <p:nvSpPr>
            <p:cNvPr id="5161" name="Oval 7"/>
            <p:cNvSpPr>
              <a:spLocks noChangeArrowheads="1"/>
            </p:cNvSpPr>
            <p:nvPr/>
          </p:nvSpPr>
          <p:spPr bwMode="auto">
            <a:xfrm>
              <a:off x="817" y="1509"/>
              <a:ext cx="181" cy="181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Calibri" pitchFamily="34" charset="0"/>
              </a:endParaRPr>
            </a:p>
          </p:txBody>
        </p:sp>
        <p:sp>
          <p:nvSpPr>
            <p:cNvPr id="5162" name="Oval 8"/>
            <p:cNvSpPr>
              <a:spLocks noChangeArrowheads="1"/>
            </p:cNvSpPr>
            <p:nvPr/>
          </p:nvSpPr>
          <p:spPr bwMode="auto">
            <a:xfrm>
              <a:off x="1121" y="1509"/>
              <a:ext cx="181" cy="181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Calibri" pitchFamily="34" charset="0"/>
              </a:endParaRPr>
            </a:p>
          </p:txBody>
        </p:sp>
        <p:sp>
          <p:nvSpPr>
            <p:cNvPr id="5163" name="Oval 9"/>
            <p:cNvSpPr>
              <a:spLocks noChangeArrowheads="1"/>
            </p:cNvSpPr>
            <p:nvPr/>
          </p:nvSpPr>
          <p:spPr bwMode="auto">
            <a:xfrm>
              <a:off x="1449" y="1501"/>
              <a:ext cx="181" cy="181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Calibri" pitchFamily="34" charset="0"/>
              </a:endParaRPr>
            </a:p>
          </p:txBody>
        </p:sp>
        <p:sp>
          <p:nvSpPr>
            <p:cNvPr id="5164" name="Oval 10"/>
            <p:cNvSpPr>
              <a:spLocks noChangeArrowheads="1"/>
            </p:cNvSpPr>
            <p:nvPr/>
          </p:nvSpPr>
          <p:spPr bwMode="auto">
            <a:xfrm>
              <a:off x="1776" y="1509"/>
              <a:ext cx="181" cy="181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Calibri" pitchFamily="34" charset="0"/>
              </a:endParaRPr>
            </a:p>
          </p:txBody>
        </p:sp>
        <p:sp>
          <p:nvSpPr>
            <p:cNvPr id="5165" name="Line 11"/>
            <p:cNvSpPr>
              <a:spLocks noChangeShapeType="1"/>
            </p:cNvSpPr>
            <p:nvPr/>
          </p:nvSpPr>
          <p:spPr bwMode="auto">
            <a:xfrm flipH="1">
              <a:off x="612" y="1117"/>
              <a:ext cx="544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66" name="Line 12"/>
            <p:cNvSpPr>
              <a:spLocks noChangeShapeType="1"/>
            </p:cNvSpPr>
            <p:nvPr/>
          </p:nvSpPr>
          <p:spPr bwMode="auto">
            <a:xfrm flipH="1">
              <a:off x="930" y="1117"/>
              <a:ext cx="272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67" name="Line 13"/>
            <p:cNvSpPr>
              <a:spLocks noChangeShapeType="1"/>
            </p:cNvSpPr>
            <p:nvPr/>
          </p:nvSpPr>
          <p:spPr bwMode="auto">
            <a:xfrm flipH="1">
              <a:off x="1202" y="1111"/>
              <a:ext cx="21" cy="3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68" name="Line 14"/>
            <p:cNvSpPr>
              <a:spLocks noChangeShapeType="1"/>
            </p:cNvSpPr>
            <p:nvPr/>
          </p:nvSpPr>
          <p:spPr bwMode="auto">
            <a:xfrm>
              <a:off x="1247" y="1117"/>
              <a:ext cx="272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69" name="Line 15"/>
            <p:cNvSpPr>
              <a:spLocks noChangeShapeType="1"/>
            </p:cNvSpPr>
            <p:nvPr/>
          </p:nvSpPr>
          <p:spPr bwMode="auto">
            <a:xfrm>
              <a:off x="1268" y="1095"/>
              <a:ext cx="569" cy="4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70" name="Text Box 16"/>
            <p:cNvSpPr txBox="1">
              <a:spLocks noChangeArrowheads="1"/>
            </p:cNvSpPr>
            <p:nvPr/>
          </p:nvSpPr>
          <p:spPr bwMode="auto">
            <a:xfrm>
              <a:off x="1292" y="482"/>
              <a:ext cx="772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latin typeface="+mn-lt"/>
                </a:rPr>
                <a:t>Try(</a:t>
              </a:r>
              <a:r>
                <a:rPr lang="en-US" altLang="zh-CN" sz="2000" b="1" dirty="0" err="1">
                  <a:latin typeface="+mn-lt"/>
                </a:rPr>
                <a:t>i</a:t>
              </a:r>
              <a:r>
                <a:rPr lang="en-US" altLang="zh-CN" sz="2000" b="1" dirty="0">
                  <a:latin typeface="+mn-lt"/>
                </a:rPr>
                <a:t>)</a:t>
              </a:r>
            </a:p>
          </p:txBody>
        </p:sp>
        <p:sp>
          <p:nvSpPr>
            <p:cNvPr id="5171" name="Text Box 17"/>
            <p:cNvSpPr txBox="1">
              <a:spLocks noChangeArrowheads="1"/>
            </p:cNvSpPr>
            <p:nvPr/>
          </p:nvSpPr>
          <p:spPr bwMode="auto">
            <a:xfrm>
              <a:off x="567" y="1207"/>
              <a:ext cx="363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</a:rPr>
                <a:t>j=0</a:t>
              </a:r>
            </a:p>
          </p:txBody>
        </p:sp>
        <p:sp>
          <p:nvSpPr>
            <p:cNvPr id="5172" name="Text Box 18"/>
            <p:cNvSpPr txBox="1">
              <a:spLocks noChangeArrowheads="1"/>
            </p:cNvSpPr>
            <p:nvPr/>
          </p:nvSpPr>
          <p:spPr bwMode="auto">
            <a:xfrm>
              <a:off x="874" y="1261"/>
              <a:ext cx="181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</a:rPr>
                <a:t>1</a:t>
              </a:r>
            </a:p>
          </p:txBody>
        </p:sp>
        <p:sp>
          <p:nvSpPr>
            <p:cNvPr id="5173" name="Text Box 19"/>
            <p:cNvSpPr txBox="1">
              <a:spLocks noChangeArrowheads="1"/>
            </p:cNvSpPr>
            <p:nvPr/>
          </p:nvSpPr>
          <p:spPr bwMode="auto">
            <a:xfrm>
              <a:off x="1074" y="1269"/>
              <a:ext cx="181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</a:rPr>
                <a:t>2</a:t>
              </a:r>
            </a:p>
          </p:txBody>
        </p:sp>
        <p:sp>
          <p:nvSpPr>
            <p:cNvPr id="5174" name="Text Box 20"/>
            <p:cNvSpPr txBox="1">
              <a:spLocks noChangeArrowheads="1"/>
            </p:cNvSpPr>
            <p:nvPr/>
          </p:nvSpPr>
          <p:spPr bwMode="auto">
            <a:xfrm>
              <a:off x="1266" y="1269"/>
              <a:ext cx="181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</a:rPr>
                <a:t>3</a:t>
              </a:r>
            </a:p>
          </p:txBody>
        </p:sp>
        <p:sp>
          <p:nvSpPr>
            <p:cNvPr id="5175" name="Text Box 21"/>
            <p:cNvSpPr txBox="1">
              <a:spLocks noChangeArrowheads="1"/>
            </p:cNvSpPr>
            <p:nvPr/>
          </p:nvSpPr>
          <p:spPr bwMode="auto">
            <a:xfrm>
              <a:off x="1485" y="1261"/>
              <a:ext cx="181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</a:rPr>
                <a:t>4</a:t>
              </a:r>
            </a:p>
          </p:txBody>
        </p:sp>
        <p:sp>
          <p:nvSpPr>
            <p:cNvPr id="5176" name="Text Box 22"/>
            <p:cNvSpPr txBox="1">
              <a:spLocks noChangeArrowheads="1"/>
            </p:cNvSpPr>
            <p:nvPr/>
          </p:nvSpPr>
          <p:spPr bwMode="auto">
            <a:xfrm>
              <a:off x="441" y="1685"/>
              <a:ext cx="363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</a:rPr>
                <a:t>LP</a:t>
              </a:r>
            </a:p>
          </p:txBody>
        </p:sp>
        <p:sp>
          <p:nvSpPr>
            <p:cNvPr id="5177" name="Text Box 23"/>
            <p:cNvSpPr txBox="1">
              <a:spLocks noChangeArrowheads="1"/>
            </p:cNvSpPr>
            <p:nvPr/>
          </p:nvSpPr>
          <p:spPr bwMode="auto">
            <a:xfrm>
              <a:off x="769" y="1677"/>
              <a:ext cx="363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</a:rPr>
                <a:t>LP</a:t>
              </a:r>
            </a:p>
          </p:txBody>
        </p:sp>
        <p:sp>
          <p:nvSpPr>
            <p:cNvPr id="5178" name="Text Box 24"/>
            <p:cNvSpPr txBox="1">
              <a:spLocks noChangeArrowheads="1"/>
            </p:cNvSpPr>
            <p:nvPr/>
          </p:nvSpPr>
          <p:spPr bwMode="auto">
            <a:xfrm>
              <a:off x="1065" y="1677"/>
              <a:ext cx="363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</a:rPr>
                <a:t>LP</a:t>
              </a:r>
            </a:p>
          </p:txBody>
        </p:sp>
        <p:sp>
          <p:nvSpPr>
            <p:cNvPr id="5179" name="Text Box 25"/>
            <p:cNvSpPr txBox="1">
              <a:spLocks noChangeArrowheads="1"/>
            </p:cNvSpPr>
            <p:nvPr/>
          </p:nvSpPr>
          <p:spPr bwMode="auto">
            <a:xfrm>
              <a:off x="1401" y="1677"/>
              <a:ext cx="363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</a:rPr>
                <a:t>LP</a:t>
              </a:r>
            </a:p>
          </p:txBody>
        </p:sp>
        <p:sp>
          <p:nvSpPr>
            <p:cNvPr id="5180" name="Text Box 26"/>
            <p:cNvSpPr txBox="1">
              <a:spLocks noChangeArrowheads="1"/>
            </p:cNvSpPr>
            <p:nvPr/>
          </p:nvSpPr>
          <p:spPr bwMode="auto">
            <a:xfrm>
              <a:off x="1745" y="1664"/>
              <a:ext cx="363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</a:rPr>
                <a:t>LP</a:t>
              </a:r>
            </a:p>
          </p:txBody>
        </p:sp>
      </p:grpSp>
      <p:grpSp>
        <p:nvGrpSpPr>
          <p:cNvPr id="3" name="Group 59"/>
          <p:cNvGrpSpPr>
            <a:grpSpLocks/>
          </p:cNvGrpSpPr>
          <p:nvPr/>
        </p:nvGrpSpPr>
        <p:grpSpPr bwMode="auto">
          <a:xfrm>
            <a:off x="8094004" y="1104160"/>
            <a:ext cx="4068763" cy="4330701"/>
            <a:chOff x="2540" y="189"/>
            <a:chExt cx="2563" cy="2728"/>
          </a:xfrm>
        </p:grpSpPr>
        <p:sp>
          <p:nvSpPr>
            <p:cNvPr id="5126" name="Oval 28"/>
            <p:cNvSpPr>
              <a:spLocks noChangeArrowheads="1"/>
            </p:cNvSpPr>
            <p:nvPr/>
          </p:nvSpPr>
          <p:spPr bwMode="auto">
            <a:xfrm>
              <a:off x="3598" y="594"/>
              <a:ext cx="181" cy="181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+mn-lt"/>
                <a:ea typeface="楷体" pitchFamily="49" charset="-122"/>
              </a:endParaRPr>
            </a:p>
          </p:txBody>
        </p:sp>
        <p:sp>
          <p:nvSpPr>
            <p:cNvPr id="5127" name="Oval 29"/>
            <p:cNvSpPr>
              <a:spLocks noChangeArrowheads="1"/>
            </p:cNvSpPr>
            <p:nvPr/>
          </p:nvSpPr>
          <p:spPr bwMode="auto">
            <a:xfrm>
              <a:off x="3008" y="1047"/>
              <a:ext cx="181" cy="181"/>
            </a:xfrm>
            <a:prstGeom prst="ellipse">
              <a:avLst/>
            </a:prstGeom>
            <a:solidFill>
              <a:srgbClr val="00206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+mn-lt"/>
                <a:ea typeface="楷体" pitchFamily="49" charset="-122"/>
              </a:endParaRPr>
            </a:p>
          </p:txBody>
        </p:sp>
        <p:sp>
          <p:nvSpPr>
            <p:cNvPr id="5128" name="Oval 30"/>
            <p:cNvSpPr>
              <a:spLocks noChangeArrowheads="1"/>
            </p:cNvSpPr>
            <p:nvPr/>
          </p:nvSpPr>
          <p:spPr bwMode="auto">
            <a:xfrm>
              <a:off x="3603" y="1055"/>
              <a:ext cx="181" cy="181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+mn-lt"/>
                <a:ea typeface="楷体" pitchFamily="49" charset="-122"/>
              </a:endParaRPr>
            </a:p>
          </p:txBody>
        </p:sp>
        <p:sp>
          <p:nvSpPr>
            <p:cNvPr id="5129" name="Oval 31"/>
            <p:cNvSpPr>
              <a:spLocks noChangeArrowheads="1"/>
            </p:cNvSpPr>
            <p:nvPr/>
          </p:nvSpPr>
          <p:spPr bwMode="auto">
            <a:xfrm>
              <a:off x="3093" y="1682"/>
              <a:ext cx="181" cy="181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+mn-lt"/>
                <a:ea typeface="楷体" pitchFamily="49" charset="-122"/>
              </a:endParaRPr>
            </a:p>
          </p:txBody>
        </p:sp>
        <p:sp>
          <p:nvSpPr>
            <p:cNvPr id="5130" name="Oval 32"/>
            <p:cNvSpPr>
              <a:spLocks noChangeArrowheads="1"/>
            </p:cNvSpPr>
            <p:nvPr/>
          </p:nvSpPr>
          <p:spPr bwMode="auto">
            <a:xfrm>
              <a:off x="3600" y="1682"/>
              <a:ext cx="181" cy="181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+mn-lt"/>
                <a:ea typeface="楷体" pitchFamily="49" charset="-122"/>
              </a:endParaRPr>
            </a:p>
          </p:txBody>
        </p:sp>
        <p:sp>
          <p:nvSpPr>
            <p:cNvPr id="5131" name="Oval 33"/>
            <p:cNvSpPr>
              <a:spLocks noChangeArrowheads="1"/>
            </p:cNvSpPr>
            <p:nvPr/>
          </p:nvSpPr>
          <p:spPr bwMode="auto">
            <a:xfrm>
              <a:off x="4150" y="1661"/>
              <a:ext cx="181" cy="181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+mn-lt"/>
                <a:ea typeface="楷体" pitchFamily="49" charset="-122"/>
              </a:endParaRPr>
            </a:p>
          </p:txBody>
        </p:sp>
        <p:sp>
          <p:nvSpPr>
            <p:cNvPr id="5132" name="Oval 34"/>
            <p:cNvSpPr>
              <a:spLocks noChangeArrowheads="1"/>
            </p:cNvSpPr>
            <p:nvPr/>
          </p:nvSpPr>
          <p:spPr bwMode="auto">
            <a:xfrm>
              <a:off x="3368" y="2363"/>
              <a:ext cx="181" cy="181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+mn-lt"/>
                <a:ea typeface="楷体" pitchFamily="49" charset="-122"/>
              </a:endParaRPr>
            </a:p>
          </p:txBody>
        </p:sp>
        <p:sp>
          <p:nvSpPr>
            <p:cNvPr id="5133" name="Oval 35"/>
            <p:cNvSpPr>
              <a:spLocks noChangeArrowheads="1"/>
            </p:cNvSpPr>
            <p:nvPr/>
          </p:nvSpPr>
          <p:spPr bwMode="auto">
            <a:xfrm>
              <a:off x="4006" y="2363"/>
              <a:ext cx="181" cy="181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+mn-lt"/>
                <a:ea typeface="楷体" pitchFamily="49" charset="-122"/>
              </a:endParaRPr>
            </a:p>
          </p:txBody>
        </p:sp>
        <p:sp>
          <p:nvSpPr>
            <p:cNvPr id="5134" name="Line 36"/>
            <p:cNvSpPr>
              <a:spLocks noChangeShapeType="1"/>
            </p:cNvSpPr>
            <p:nvPr/>
          </p:nvSpPr>
          <p:spPr bwMode="auto">
            <a:xfrm flipH="1">
              <a:off x="3144" y="684"/>
              <a:ext cx="454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>
                <a:latin typeface="+mn-lt"/>
                <a:ea typeface="楷体" pitchFamily="49" charset="-122"/>
              </a:endParaRPr>
            </a:p>
          </p:txBody>
        </p:sp>
        <p:sp>
          <p:nvSpPr>
            <p:cNvPr id="5135" name="Line 37"/>
            <p:cNvSpPr>
              <a:spLocks noChangeShapeType="1"/>
            </p:cNvSpPr>
            <p:nvPr/>
          </p:nvSpPr>
          <p:spPr bwMode="auto">
            <a:xfrm>
              <a:off x="3688" y="775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>
                <a:latin typeface="+mn-lt"/>
                <a:ea typeface="楷体" pitchFamily="49" charset="-122"/>
              </a:endParaRPr>
            </a:p>
          </p:txBody>
        </p:sp>
        <p:sp>
          <p:nvSpPr>
            <p:cNvPr id="5136" name="Line 38"/>
            <p:cNvSpPr>
              <a:spLocks noChangeShapeType="1"/>
            </p:cNvSpPr>
            <p:nvPr/>
          </p:nvSpPr>
          <p:spPr bwMode="auto">
            <a:xfrm>
              <a:off x="3688" y="1229"/>
              <a:ext cx="0" cy="4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>
                <a:latin typeface="+mn-lt"/>
                <a:ea typeface="楷体" pitchFamily="49" charset="-122"/>
              </a:endParaRPr>
            </a:p>
          </p:txBody>
        </p:sp>
        <p:sp>
          <p:nvSpPr>
            <p:cNvPr id="5137" name="Line 39"/>
            <p:cNvSpPr>
              <a:spLocks noChangeShapeType="1"/>
            </p:cNvSpPr>
            <p:nvPr/>
          </p:nvSpPr>
          <p:spPr bwMode="auto">
            <a:xfrm flipH="1">
              <a:off x="3189" y="1229"/>
              <a:ext cx="454" cy="4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>
                <a:latin typeface="+mn-lt"/>
                <a:ea typeface="楷体" pitchFamily="49" charset="-122"/>
              </a:endParaRPr>
            </a:p>
          </p:txBody>
        </p:sp>
        <p:sp>
          <p:nvSpPr>
            <p:cNvPr id="5138" name="Line 40"/>
            <p:cNvSpPr>
              <a:spLocks noChangeShapeType="1"/>
            </p:cNvSpPr>
            <p:nvPr/>
          </p:nvSpPr>
          <p:spPr bwMode="auto">
            <a:xfrm>
              <a:off x="3755" y="1229"/>
              <a:ext cx="408" cy="4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>
                <a:latin typeface="+mn-lt"/>
                <a:ea typeface="楷体" pitchFamily="49" charset="-122"/>
              </a:endParaRPr>
            </a:p>
          </p:txBody>
        </p:sp>
        <p:sp>
          <p:nvSpPr>
            <p:cNvPr id="5139" name="Line 41"/>
            <p:cNvSpPr>
              <a:spLocks noChangeShapeType="1"/>
            </p:cNvSpPr>
            <p:nvPr/>
          </p:nvSpPr>
          <p:spPr bwMode="auto">
            <a:xfrm flipH="1">
              <a:off x="3462" y="1864"/>
              <a:ext cx="181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>
                <a:latin typeface="+mn-lt"/>
                <a:ea typeface="楷体" pitchFamily="49" charset="-122"/>
              </a:endParaRPr>
            </a:p>
          </p:txBody>
        </p:sp>
        <p:sp>
          <p:nvSpPr>
            <p:cNvPr id="5140" name="Line 42"/>
            <p:cNvSpPr>
              <a:spLocks noChangeShapeType="1"/>
            </p:cNvSpPr>
            <p:nvPr/>
          </p:nvSpPr>
          <p:spPr bwMode="auto">
            <a:xfrm>
              <a:off x="3734" y="1864"/>
              <a:ext cx="317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>
                <a:latin typeface="+mn-lt"/>
                <a:ea typeface="楷体" pitchFamily="49" charset="-122"/>
              </a:endParaRPr>
            </a:p>
          </p:txBody>
        </p:sp>
        <p:sp>
          <p:nvSpPr>
            <p:cNvPr id="5141" name="Text Box 43"/>
            <p:cNvSpPr txBox="1">
              <a:spLocks noChangeArrowheads="1"/>
            </p:cNvSpPr>
            <p:nvPr/>
          </p:nvSpPr>
          <p:spPr bwMode="auto">
            <a:xfrm>
              <a:off x="2608" y="189"/>
              <a:ext cx="2495" cy="233"/>
            </a:xfrm>
            <a:prstGeom prst="rect">
              <a:avLst/>
            </a:prstGeom>
            <a:noFill/>
            <a:ln>
              <a:noFill/>
              <a:headEnd/>
              <a:tailEnd/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002060"/>
                  </a:solidFill>
                  <a:ea typeface="楷体" pitchFamily="49" charset="-122"/>
                </a:rPr>
                <a:t>条件：</a:t>
              </a:r>
              <a:r>
                <a:rPr lang="en-US" altLang="zh-CN" sz="1800" b="1" dirty="0">
                  <a:solidFill>
                    <a:srgbClr val="002060"/>
                  </a:solidFill>
                  <a:ea typeface="楷体" pitchFamily="49" charset="-122"/>
                </a:rPr>
                <a:t>c = (like[</a:t>
              </a:r>
              <a:r>
                <a:rPr lang="en-US" altLang="zh-CN" sz="1800" b="1" dirty="0" err="1">
                  <a:solidFill>
                    <a:srgbClr val="002060"/>
                  </a:solidFill>
                  <a:ea typeface="楷体" pitchFamily="49" charset="-122"/>
                </a:rPr>
                <a:t>i</a:t>
              </a:r>
              <a:r>
                <a:rPr lang="en-US" altLang="zh-CN" sz="1800" b="1" dirty="0">
                  <a:solidFill>
                    <a:srgbClr val="002060"/>
                  </a:solidFill>
                  <a:ea typeface="楷体" pitchFamily="49" charset="-122"/>
                </a:rPr>
                <a:t>][j]&gt;0 &amp;&amp; book[j]=0)</a:t>
              </a:r>
            </a:p>
          </p:txBody>
        </p:sp>
        <p:sp>
          <p:nvSpPr>
            <p:cNvPr id="5142" name="Text Box 44"/>
            <p:cNvSpPr txBox="1">
              <a:spLocks noChangeArrowheads="1"/>
            </p:cNvSpPr>
            <p:nvPr/>
          </p:nvSpPr>
          <p:spPr bwMode="auto">
            <a:xfrm>
              <a:off x="3339" y="519"/>
              <a:ext cx="453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b="1" dirty="0">
                  <a:latin typeface="+mn-lt"/>
                  <a:ea typeface="楷体" pitchFamily="49" charset="-122"/>
                </a:rPr>
                <a:t>LP</a:t>
              </a:r>
            </a:p>
          </p:txBody>
        </p:sp>
        <p:sp>
          <p:nvSpPr>
            <p:cNvPr id="5143" name="Text Box 45"/>
            <p:cNvSpPr txBox="1">
              <a:spLocks noChangeArrowheads="1"/>
            </p:cNvSpPr>
            <p:nvPr/>
          </p:nvSpPr>
          <p:spPr bwMode="auto">
            <a:xfrm>
              <a:off x="2944" y="735"/>
              <a:ext cx="590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b="1">
                  <a:latin typeface="+mn-lt"/>
                  <a:ea typeface="楷体" pitchFamily="49" charset="-122"/>
                </a:rPr>
                <a:t>c != 1</a:t>
              </a:r>
            </a:p>
          </p:txBody>
        </p:sp>
        <p:sp>
          <p:nvSpPr>
            <p:cNvPr id="5144" name="Text Box 46"/>
            <p:cNvSpPr txBox="1">
              <a:spLocks noChangeArrowheads="1"/>
            </p:cNvSpPr>
            <p:nvPr/>
          </p:nvSpPr>
          <p:spPr bwMode="auto">
            <a:xfrm>
              <a:off x="3664" y="775"/>
              <a:ext cx="590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b="1">
                  <a:latin typeface="+mn-lt"/>
                  <a:ea typeface="楷体" pitchFamily="49" charset="-122"/>
                </a:rPr>
                <a:t>c == 1</a:t>
              </a:r>
            </a:p>
          </p:txBody>
        </p:sp>
        <p:sp>
          <p:nvSpPr>
            <p:cNvPr id="5145" name="Text Box 47"/>
            <p:cNvSpPr txBox="1">
              <a:spLocks noChangeArrowheads="1"/>
            </p:cNvSpPr>
            <p:nvPr/>
          </p:nvSpPr>
          <p:spPr bwMode="auto">
            <a:xfrm>
              <a:off x="2736" y="1183"/>
              <a:ext cx="590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600" b="1">
                  <a:solidFill>
                    <a:srgbClr val="CC0000"/>
                  </a:solidFill>
                  <a:latin typeface="+mn-lt"/>
                  <a:ea typeface="楷体" pitchFamily="49" charset="-122"/>
                </a:rPr>
                <a:t>什么也不做</a:t>
              </a:r>
            </a:p>
          </p:txBody>
        </p:sp>
        <p:sp>
          <p:nvSpPr>
            <p:cNvPr id="5146" name="Text Box 48"/>
            <p:cNvSpPr txBox="1">
              <a:spLocks noChangeArrowheads="1"/>
            </p:cNvSpPr>
            <p:nvPr/>
          </p:nvSpPr>
          <p:spPr bwMode="auto">
            <a:xfrm>
              <a:off x="2763" y="1634"/>
              <a:ext cx="362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b="1">
                  <a:latin typeface="+mn-lt"/>
                  <a:ea typeface="楷体" pitchFamily="49" charset="-122"/>
                </a:rPr>
                <a:t>sh1</a:t>
              </a:r>
            </a:p>
          </p:txBody>
        </p:sp>
        <p:sp>
          <p:nvSpPr>
            <p:cNvPr id="5147" name="Text Box 49"/>
            <p:cNvSpPr txBox="1">
              <a:spLocks noChangeArrowheads="1"/>
            </p:cNvSpPr>
            <p:nvPr/>
          </p:nvSpPr>
          <p:spPr bwMode="auto">
            <a:xfrm>
              <a:off x="2554" y="1875"/>
              <a:ext cx="817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b="1">
                  <a:solidFill>
                    <a:srgbClr val="CC0000"/>
                  </a:solidFill>
                  <a:latin typeface="+mn-lt"/>
                  <a:ea typeface="楷体" pitchFamily="49" charset="-122"/>
                </a:rPr>
                <a:t>take[i] = j;</a:t>
              </a:r>
            </a:p>
          </p:txBody>
        </p:sp>
        <p:sp>
          <p:nvSpPr>
            <p:cNvPr id="5148" name="Text Box 50"/>
            <p:cNvSpPr txBox="1">
              <a:spLocks noChangeArrowheads="1"/>
            </p:cNvSpPr>
            <p:nvPr/>
          </p:nvSpPr>
          <p:spPr bwMode="auto">
            <a:xfrm>
              <a:off x="3315" y="1642"/>
              <a:ext cx="362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b="1">
                  <a:latin typeface="+mn-lt"/>
                  <a:ea typeface="楷体" pitchFamily="49" charset="-122"/>
                </a:rPr>
                <a:t>sh2</a:t>
              </a:r>
            </a:p>
          </p:txBody>
        </p:sp>
        <p:sp>
          <p:nvSpPr>
            <p:cNvPr id="5149" name="Text Box 51"/>
            <p:cNvSpPr txBox="1">
              <a:spLocks noChangeArrowheads="1"/>
            </p:cNvSpPr>
            <p:nvPr/>
          </p:nvSpPr>
          <p:spPr bwMode="auto">
            <a:xfrm>
              <a:off x="3867" y="1634"/>
              <a:ext cx="362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b="1">
                  <a:latin typeface="+mn-lt"/>
                  <a:ea typeface="楷体" pitchFamily="49" charset="-122"/>
                </a:rPr>
                <a:t>sh3</a:t>
              </a:r>
            </a:p>
          </p:txBody>
        </p:sp>
        <p:sp>
          <p:nvSpPr>
            <p:cNvPr id="5150" name="Rectangle 52"/>
            <p:cNvSpPr>
              <a:spLocks noChangeArrowheads="1"/>
            </p:cNvSpPr>
            <p:nvPr/>
          </p:nvSpPr>
          <p:spPr bwMode="auto">
            <a:xfrm>
              <a:off x="2540" y="2021"/>
              <a:ext cx="766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600" b="1">
                  <a:solidFill>
                    <a:srgbClr val="CC0000"/>
                  </a:solidFill>
                  <a:latin typeface="+mn-lt"/>
                  <a:ea typeface="楷体" pitchFamily="49" charset="-122"/>
                </a:rPr>
                <a:t>book[j] = 1;</a:t>
              </a:r>
            </a:p>
          </p:txBody>
        </p:sp>
        <p:sp>
          <p:nvSpPr>
            <p:cNvPr id="5151" name="Text Box 53"/>
            <p:cNvSpPr txBox="1">
              <a:spLocks noChangeArrowheads="1"/>
            </p:cNvSpPr>
            <p:nvPr/>
          </p:nvSpPr>
          <p:spPr bwMode="auto">
            <a:xfrm>
              <a:off x="3288" y="2024"/>
              <a:ext cx="590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b="1">
                  <a:latin typeface="+mn-lt"/>
                  <a:ea typeface="楷体" pitchFamily="49" charset="-122"/>
                </a:rPr>
                <a:t>i == 4</a:t>
              </a:r>
            </a:p>
          </p:txBody>
        </p:sp>
        <p:sp>
          <p:nvSpPr>
            <p:cNvPr id="5152" name="Text Box 54"/>
            <p:cNvSpPr txBox="1">
              <a:spLocks noChangeArrowheads="1"/>
            </p:cNvSpPr>
            <p:nvPr/>
          </p:nvSpPr>
          <p:spPr bwMode="auto">
            <a:xfrm>
              <a:off x="3904" y="2016"/>
              <a:ext cx="590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b="1">
                  <a:latin typeface="+mn-lt"/>
                  <a:ea typeface="楷体" pitchFamily="49" charset="-122"/>
                </a:rPr>
                <a:t>i != 4</a:t>
              </a:r>
            </a:p>
          </p:txBody>
        </p:sp>
        <p:sp>
          <p:nvSpPr>
            <p:cNvPr id="5153" name="Text Box 55"/>
            <p:cNvSpPr txBox="1">
              <a:spLocks noChangeArrowheads="1"/>
            </p:cNvSpPr>
            <p:nvPr/>
          </p:nvSpPr>
          <p:spPr bwMode="auto">
            <a:xfrm>
              <a:off x="3016" y="2568"/>
              <a:ext cx="817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b="1" dirty="0">
                  <a:solidFill>
                    <a:srgbClr val="CC0000"/>
                  </a:solidFill>
                  <a:latin typeface="+mn-lt"/>
                  <a:ea typeface="楷体" pitchFamily="49" charset="-122"/>
                </a:rPr>
                <a:t>n = n + 1;</a:t>
              </a:r>
            </a:p>
          </p:txBody>
        </p:sp>
        <p:sp>
          <p:nvSpPr>
            <p:cNvPr id="5154" name="Text Box 56"/>
            <p:cNvSpPr txBox="1">
              <a:spLocks noChangeArrowheads="1"/>
            </p:cNvSpPr>
            <p:nvPr/>
          </p:nvSpPr>
          <p:spPr bwMode="auto">
            <a:xfrm>
              <a:off x="3016" y="2704"/>
              <a:ext cx="817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600" b="1">
                  <a:solidFill>
                    <a:srgbClr val="CC0000"/>
                  </a:solidFill>
                  <a:latin typeface="+mn-lt"/>
                  <a:ea typeface="楷体" pitchFamily="49" charset="-122"/>
                </a:rPr>
                <a:t>输出方案</a:t>
              </a:r>
              <a:r>
                <a:rPr lang="en-US" altLang="zh-CN" sz="1600" b="1">
                  <a:solidFill>
                    <a:srgbClr val="CC0000"/>
                  </a:solidFill>
                  <a:latin typeface="+mn-lt"/>
                  <a:ea typeface="楷体" pitchFamily="49" charset="-122"/>
                </a:rPr>
                <a:t>n</a:t>
              </a:r>
            </a:p>
          </p:txBody>
        </p:sp>
        <p:sp>
          <p:nvSpPr>
            <p:cNvPr id="5155" name="Text Box 57"/>
            <p:cNvSpPr txBox="1">
              <a:spLocks noChangeArrowheads="1"/>
            </p:cNvSpPr>
            <p:nvPr/>
          </p:nvSpPr>
          <p:spPr bwMode="auto">
            <a:xfrm>
              <a:off x="3816" y="2552"/>
              <a:ext cx="817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b="1">
                  <a:solidFill>
                    <a:srgbClr val="CC0000"/>
                  </a:solidFill>
                  <a:latin typeface="+mn-lt"/>
                  <a:ea typeface="楷体" pitchFamily="49" charset="-122"/>
                </a:rPr>
                <a:t>Try(i+1)</a:t>
              </a:r>
            </a:p>
          </p:txBody>
        </p:sp>
        <p:sp>
          <p:nvSpPr>
            <p:cNvPr id="5156" name="Text Box 58"/>
            <p:cNvSpPr txBox="1">
              <a:spLocks noChangeArrowheads="1"/>
            </p:cNvSpPr>
            <p:nvPr/>
          </p:nvSpPr>
          <p:spPr bwMode="auto">
            <a:xfrm>
              <a:off x="4105" y="1797"/>
              <a:ext cx="817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b="1">
                  <a:solidFill>
                    <a:srgbClr val="CC0000"/>
                  </a:solidFill>
                  <a:latin typeface="+mn-lt"/>
                  <a:ea typeface="楷体" pitchFamily="49" charset="-122"/>
                </a:rPr>
                <a:t>book[j]=0;</a:t>
              </a:r>
            </a:p>
          </p:txBody>
        </p:sp>
      </p:grpSp>
      <p:sp>
        <p:nvSpPr>
          <p:cNvPr id="5124" name="Text Box 60"/>
          <p:cNvSpPr txBox="1">
            <a:spLocks noChangeArrowheads="1"/>
          </p:cNvSpPr>
          <p:nvPr/>
        </p:nvSpPr>
        <p:spPr bwMode="auto">
          <a:xfrm>
            <a:off x="538936" y="2492896"/>
            <a:ext cx="7429272" cy="10618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b="1" dirty="0">
                <a:latin typeface="+mn-lt"/>
                <a:ea typeface="楷体" pitchFamily="49" charset="-122"/>
              </a:rPr>
              <a:t>④ </a:t>
            </a:r>
            <a:r>
              <a:rPr lang="zh-CN" altLang="en-US" sz="1800" b="1" dirty="0">
                <a:latin typeface="+mn-lt"/>
                <a:ea typeface="楷体" pitchFamily="49" charset="-122"/>
              </a:rPr>
              <a:t>条件</a:t>
            </a:r>
            <a:r>
              <a:rPr lang="en-US" altLang="zh-CN" sz="1800" b="1" dirty="0">
                <a:latin typeface="+mn-lt"/>
                <a:ea typeface="楷体" pitchFamily="49" charset="-122"/>
              </a:rPr>
              <a:t>c</a:t>
            </a:r>
            <a:r>
              <a:rPr lang="zh-CN" altLang="en-US" sz="1800" b="1" dirty="0">
                <a:latin typeface="+mn-lt"/>
                <a:ea typeface="楷体" pitchFamily="49" charset="-122"/>
              </a:rPr>
              <a:t>是由两部分“与”起来的，“第</a:t>
            </a:r>
            <a:r>
              <a:rPr lang="en-US" altLang="zh-CN" sz="1800" b="1" dirty="0" err="1">
                <a:latin typeface="+mn-lt"/>
                <a:ea typeface="楷体" pitchFamily="49" charset="-122"/>
              </a:rPr>
              <a:t>i</a:t>
            </a:r>
            <a:r>
              <a:rPr lang="zh-CN" altLang="en-US" sz="1800" b="1" dirty="0">
                <a:latin typeface="+mn-lt"/>
                <a:ea typeface="楷体" pitchFamily="49" charset="-122"/>
              </a:rPr>
              <a:t>个人喜欢</a:t>
            </a:r>
            <a:r>
              <a:rPr lang="en-US" altLang="zh-CN" sz="1800" b="1" dirty="0">
                <a:latin typeface="+mn-lt"/>
                <a:ea typeface="楷体" pitchFamily="49" charset="-122"/>
              </a:rPr>
              <a:t>j</a:t>
            </a:r>
            <a:r>
              <a:rPr lang="zh-CN" altLang="en-US" sz="1800" b="1" dirty="0">
                <a:latin typeface="+mn-lt"/>
                <a:ea typeface="楷体" pitchFamily="49" charset="-122"/>
              </a:rPr>
              <a:t>书，且</a:t>
            </a:r>
            <a:r>
              <a:rPr lang="en-US" altLang="zh-CN" sz="1800" b="1" dirty="0">
                <a:latin typeface="+mn-lt"/>
                <a:ea typeface="楷体" pitchFamily="49" charset="-122"/>
              </a:rPr>
              <a:t>j</a:t>
            </a:r>
            <a:r>
              <a:rPr lang="zh-CN" altLang="en-US" sz="1800" b="1" dirty="0">
                <a:latin typeface="+mn-lt"/>
                <a:ea typeface="楷体" pitchFamily="49" charset="-122"/>
              </a:rPr>
              <a:t>书尚未被分走”。满足这个条件是</a:t>
            </a:r>
            <a:r>
              <a:rPr lang="en-US" altLang="zh-CN" sz="1800" b="1" dirty="0" err="1">
                <a:latin typeface="+mn-lt"/>
                <a:ea typeface="楷体" pitchFamily="49" charset="-122"/>
              </a:rPr>
              <a:t>i</a:t>
            </a:r>
            <a:r>
              <a:rPr lang="zh-CN" altLang="en-US" sz="1800" b="1" dirty="0">
                <a:latin typeface="+mn-lt"/>
                <a:ea typeface="楷体" pitchFamily="49" charset="-122"/>
              </a:rPr>
              <a:t>人能够得到</a:t>
            </a:r>
            <a:r>
              <a:rPr lang="en-US" altLang="zh-CN" sz="1800" b="1" dirty="0">
                <a:latin typeface="+mn-lt"/>
                <a:ea typeface="楷体" pitchFamily="49" charset="-122"/>
              </a:rPr>
              <a:t>j</a:t>
            </a:r>
            <a:r>
              <a:rPr lang="zh-CN" altLang="en-US" sz="1800" b="1" dirty="0">
                <a:latin typeface="+mn-lt"/>
                <a:ea typeface="楷体" pitchFamily="49" charset="-122"/>
              </a:rPr>
              <a:t>书的条件。</a:t>
            </a:r>
          </a:p>
          <a:p>
            <a:pPr>
              <a:spcBef>
                <a:spcPct val="50000"/>
              </a:spcBef>
            </a:pPr>
            <a:r>
              <a:rPr lang="zh-CN" altLang="en-US" sz="1800" b="1" dirty="0">
                <a:latin typeface="+mn-lt"/>
                <a:ea typeface="楷体" pitchFamily="49" charset="-122"/>
              </a:rPr>
              <a:t>⑤ 如果不满足</a:t>
            </a:r>
            <a:r>
              <a:rPr lang="en-US" altLang="zh-CN" sz="1800" b="1" dirty="0">
                <a:latin typeface="+mn-lt"/>
                <a:ea typeface="楷体" pitchFamily="49" charset="-122"/>
              </a:rPr>
              <a:t>c</a:t>
            </a:r>
            <a:r>
              <a:rPr lang="zh-CN" altLang="en-US" sz="1800" b="1" dirty="0">
                <a:latin typeface="+mn-lt"/>
                <a:ea typeface="楷体" pitchFamily="49" charset="-122"/>
              </a:rPr>
              <a:t>条件，则什么也不做，这是直接可解结点。</a:t>
            </a:r>
          </a:p>
        </p:txBody>
      </p:sp>
      <p:sp>
        <p:nvSpPr>
          <p:cNvPr id="5125" name="Text Box 61"/>
          <p:cNvSpPr txBox="1">
            <a:spLocks noChangeArrowheads="1"/>
          </p:cNvSpPr>
          <p:nvPr/>
        </p:nvSpPr>
        <p:spPr bwMode="auto">
          <a:xfrm>
            <a:off x="538936" y="3657504"/>
            <a:ext cx="7429272" cy="30008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b="1" dirty="0">
                <a:latin typeface="+mn-lt"/>
                <a:ea typeface="楷体" pitchFamily="49" charset="-122"/>
              </a:rPr>
              <a:t>⑥ </a:t>
            </a:r>
            <a:r>
              <a:rPr lang="zh-CN" altLang="en-US" sz="1800" b="1" dirty="0">
                <a:latin typeface="+mn-lt"/>
                <a:ea typeface="楷体" pitchFamily="49" charset="-122"/>
              </a:rPr>
              <a:t>满足</a:t>
            </a:r>
            <a:r>
              <a:rPr lang="en-US" altLang="zh-CN" sz="1800" b="1" dirty="0">
                <a:latin typeface="+mn-lt"/>
                <a:ea typeface="楷体" pitchFamily="49" charset="-122"/>
              </a:rPr>
              <a:t>c</a:t>
            </a:r>
            <a:r>
              <a:rPr lang="zh-CN" altLang="en-US" sz="1800" b="1" dirty="0">
                <a:latin typeface="+mn-lt"/>
                <a:ea typeface="楷体" pitchFamily="49" charset="-122"/>
              </a:rPr>
              <a:t>条件，做三件事：</a:t>
            </a:r>
          </a:p>
          <a:p>
            <a:pPr>
              <a:spcBef>
                <a:spcPct val="50000"/>
              </a:spcBef>
            </a:pPr>
            <a:r>
              <a:rPr lang="zh-CN" altLang="en-US" sz="1800" b="1" dirty="0">
                <a:solidFill>
                  <a:srgbClr val="0000FF"/>
                </a:solidFill>
                <a:latin typeface="+mn-lt"/>
                <a:ea typeface="楷体" pitchFamily="49" charset="-122"/>
              </a:rPr>
              <a:t>      </a:t>
            </a:r>
            <a:r>
              <a:rPr lang="zh-CN" altLang="en-US" sz="1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第一件事：</a:t>
            </a:r>
            <a:r>
              <a:rPr lang="zh-CN" altLang="en-US" sz="1800" b="1" dirty="0">
                <a:latin typeface="+mn-lt"/>
                <a:ea typeface="楷体" pitchFamily="49" charset="-122"/>
              </a:rPr>
              <a:t>将</a:t>
            </a:r>
            <a:r>
              <a:rPr lang="en-US" altLang="zh-CN" sz="1800" b="1" dirty="0">
                <a:latin typeface="+mn-lt"/>
                <a:ea typeface="楷体" pitchFamily="49" charset="-122"/>
              </a:rPr>
              <a:t>j</a:t>
            </a:r>
            <a:r>
              <a:rPr lang="zh-CN" altLang="en-US" sz="1800" b="1" dirty="0">
                <a:latin typeface="+mn-lt"/>
                <a:ea typeface="楷体" pitchFamily="49" charset="-122"/>
              </a:rPr>
              <a:t>书分给</a:t>
            </a:r>
            <a:r>
              <a:rPr lang="en-US" altLang="zh-CN" sz="1800" b="1" dirty="0" err="1">
                <a:latin typeface="+mn-lt"/>
                <a:ea typeface="楷体" pitchFamily="49" charset="-122"/>
              </a:rPr>
              <a:t>i</a:t>
            </a:r>
            <a:r>
              <a:rPr lang="zh-CN" altLang="en-US" sz="1800" b="1" dirty="0">
                <a:latin typeface="+mn-lt"/>
                <a:ea typeface="楷体" pitchFamily="49" charset="-122"/>
              </a:rPr>
              <a:t>，用一个数组</a:t>
            </a:r>
            <a:r>
              <a:rPr lang="en-US" altLang="zh-CN" sz="1800" b="1" dirty="0">
                <a:latin typeface="+mn-lt"/>
                <a:ea typeface="楷体" pitchFamily="49" charset="-122"/>
              </a:rPr>
              <a:t>take[</a:t>
            </a:r>
            <a:r>
              <a:rPr lang="en-US" altLang="zh-CN" sz="1800" b="1" dirty="0" err="1">
                <a:latin typeface="+mn-lt"/>
                <a:ea typeface="楷体" pitchFamily="49" charset="-122"/>
              </a:rPr>
              <a:t>i</a:t>
            </a:r>
            <a:r>
              <a:rPr lang="en-US" altLang="zh-CN" sz="1800" b="1" dirty="0">
                <a:latin typeface="+mn-lt"/>
                <a:ea typeface="楷体" pitchFamily="49" charset="-122"/>
              </a:rPr>
              <a:t>]=j,</a:t>
            </a:r>
            <a:r>
              <a:rPr lang="zh-CN" altLang="en-US" sz="1800" b="1" dirty="0">
                <a:latin typeface="+mn-lt"/>
                <a:ea typeface="楷体" pitchFamily="49" charset="-122"/>
              </a:rPr>
              <a:t>记住书</a:t>
            </a:r>
            <a:r>
              <a:rPr lang="en-US" altLang="zh-CN" sz="1800" b="1" dirty="0">
                <a:latin typeface="+mn-lt"/>
                <a:ea typeface="楷体" pitchFamily="49" charset="-122"/>
              </a:rPr>
              <a:t>j</a:t>
            </a:r>
            <a:r>
              <a:rPr lang="zh-CN" altLang="en-US" sz="1800" b="1" dirty="0">
                <a:latin typeface="+mn-lt"/>
                <a:ea typeface="楷体" pitchFamily="49" charset="-122"/>
              </a:rPr>
              <a:t>给了</a:t>
            </a:r>
            <a:r>
              <a:rPr lang="en-US" altLang="zh-CN" sz="1800" b="1" dirty="0" err="1">
                <a:latin typeface="+mn-lt"/>
                <a:ea typeface="楷体" pitchFamily="49" charset="-122"/>
              </a:rPr>
              <a:t>i</a:t>
            </a:r>
            <a:r>
              <a:rPr lang="zh-CN" altLang="en-US" sz="1800" b="1" dirty="0">
                <a:latin typeface="+mn-lt"/>
                <a:ea typeface="楷体" pitchFamily="49" charset="-122"/>
              </a:rPr>
              <a:t>，同时记录</a:t>
            </a:r>
            <a:r>
              <a:rPr lang="en-US" altLang="zh-CN" sz="1800" b="1" dirty="0">
                <a:latin typeface="+mn-lt"/>
                <a:ea typeface="楷体" pitchFamily="49" charset="-122"/>
              </a:rPr>
              <a:t>j</a:t>
            </a:r>
            <a:r>
              <a:rPr lang="zh-CN" altLang="en-US" sz="1800" b="1" dirty="0">
                <a:latin typeface="+mn-lt"/>
                <a:ea typeface="楷体" pitchFamily="49" charset="-122"/>
              </a:rPr>
              <a:t>书已被选用，</a:t>
            </a:r>
            <a:r>
              <a:rPr lang="en-US" altLang="zh-CN" sz="1800" b="1" dirty="0">
                <a:latin typeface="+mn-lt"/>
                <a:ea typeface="楷体" pitchFamily="49" charset="-122"/>
              </a:rPr>
              <a:t>book[j]=1.</a:t>
            </a:r>
          </a:p>
          <a:p>
            <a:pPr>
              <a:spcBef>
                <a:spcPct val="50000"/>
              </a:spcBef>
            </a:pPr>
            <a:r>
              <a:rPr lang="zh-CN" altLang="en-US" sz="1800" b="1" dirty="0">
                <a:solidFill>
                  <a:srgbClr val="0000FF"/>
                </a:solidFill>
                <a:latin typeface="+mn-lt"/>
                <a:ea typeface="楷体" pitchFamily="49" charset="-122"/>
              </a:rPr>
              <a:t>      </a:t>
            </a:r>
            <a:r>
              <a:rPr lang="zh-CN" altLang="en-US" sz="1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第二件事：</a:t>
            </a:r>
            <a:r>
              <a:rPr lang="zh-CN" altLang="en-US" sz="1800" b="1" dirty="0">
                <a:latin typeface="+mn-lt"/>
                <a:ea typeface="楷体" pitchFamily="49" charset="-122"/>
              </a:rPr>
              <a:t>查看</a:t>
            </a:r>
            <a:r>
              <a:rPr lang="en-US" altLang="zh-CN" sz="1800" b="1" dirty="0" err="1">
                <a:latin typeface="+mn-lt"/>
                <a:ea typeface="楷体" pitchFamily="49" charset="-122"/>
              </a:rPr>
              <a:t>i</a:t>
            </a:r>
            <a:r>
              <a:rPr lang="zh-CN" altLang="en-US" sz="1800" b="1" dirty="0">
                <a:latin typeface="+mn-lt"/>
                <a:ea typeface="楷体" pitchFamily="49" charset="-122"/>
              </a:rPr>
              <a:t>是否为</a:t>
            </a:r>
            <a:r>
              <a:rPr lang="en-US" altLang="zh-CN" sz="1800" b="1" dirty="0">
                <a:latin typeface="+mn-lt"/>
                <a:ea typeface="楷体" pitchFamily="49" charset="-122"/>
              </a:rPr>
              <a:t>4</a:t>
            </a:r>
            <a:r>
              <a:rPr lang="zh-CN" altLang="en-US" sz="1800" b="1" dirty="0">
                <a:latin typeface="+mn-lt"/>
                <a:ea typeface="楷体" pitchFamily="49" charset="-122"/>
              </a:rPr>
              <a:t>，如果不为</a:t>
            </a:r>
            <a:r>
              <a:rPr lang="en-US" altLang="zh-CN" sz="1800" b="1" dirty="0">
                <a:latin typeface="+mn-lt"/>
                <a:ea typeface="楷体" pitchFamily="49" charset="-122"/>
              </a:rPr>
              <a:t>4</a:t>
            </a:r>
            <a:r>
              <a:rPr lang="zh-CN" altLang="en-US" sz="1800" b="1" dirty="0">
                <a:latin typeface="+mn-lt"/>
                <a:ea typeface="楷体" pitchFamily="49" charset="-122"/>
              </a:rPr>
              <a:t>，表示尚未将所有</a:t>
            </a:r>
            <a:r>
              <a:rPr lang="en-US" altLang="zh-CN" sz="1800" b="1" dirty="0">
                <a:latin typeface="+mn-lt"/>
                <a:ea typeface="楷体" pitchFamily="49" charset="-122"/>
              </a:rPr>
              <a:t>5</a:t>
            </a:r>
            <a:r>
              <a:rPr lang="zh-CN" altLang="en-US" sz="1800" b="1" dirty="0">
                <a:latin typeface="+mn-lt"/>
                <a:ea typeface="楷体" pitchFamily="49" charset="-122"/>
              </a:rPr>
              <a:t>个人所要的书分完，这时应递归再试下一个人，即</a:t>
            </a:r>
            <a:r>
              <a:rPr lang="en-US" altLang="zh-CN" sz="1800" b="1" dirty="0">
                <a:latin typeface="+mn-lt"/>
                <a:ea typeface="楷体" pitchFamily="49" charset="-122"/>
              </a:rPr>
              <a:t>Try(i+1)</a:t>
            </a:r>
            <a:r>
              <a:rPr lang="zh-CN" altLang="en-US" sz="1800" b="1" dirty="0">
                <a:latin typeface="+mn-lt"/>
                <a:ea typeface="楷体" pitchFamily="49" charset="-122"/>
              </a:rPr>
              <a:t>。若果</a:t>
            </a:r>
            <a:r>
              <a:rPr lang="en-US" altLang="zh-CN" sz="1800" b="1" dirty="0" err="1">
                <a:latin typeface="+mn-lt"/>
                <a:ea typeface="楷体" pitchFamily="49" charset="-122"/>
              </a:rPr>
              <a:t>i</a:t>
            </a:r>
            <a:r>
              <a:rPr lang="en-US" altLang="zh-CN" sz="1800" b="1" dirty="0">
                <a:latin typeface="+mn-lt"/>
                <a:ea typeface="楷体" pitchFamily="49" charset="-122"/>
              </a:rPr>
              <a:t>==4</a:t>
            </a:r>
            <a:r>
              <a:rPr lang="zh-CN" altLang="en-US" sz="1800" b="1" dirty="0">
                <a:latin typeface="+mn-lt"/>
                <a:ea typeface="楷体" pitchFamily="49" charset="-122"/>
              </a:rPr>
              <a:t>，则应先使方案数</a:t>
            </a:r>
            <a:r>
              <a:rPr lang="en-US" altLang="zh-CN" sz="1800" b="1" dirty="0">
                <a:latin typeface="+mn-lt"/>
                <a:ea typeface="楷体" pitchFamily="49" charset="-122"/>
              </a:rPr>
              <a:t>n=n+1</a:t>
            </a:r>
            <a:r>
              <a:rPr lang="zh-CN" altLang="en-US" sz="1800" b="1" dirty="0">
                <a:latin typeface="+mn-lt"/>
                <a:ea typeface="楷体" pitchFamily="49" charset="-122"/>
              </a:rPr>
              <a:t>，然后输出第</a:t>
            </a:r>
            <a:r>
              <a:rPr lang="en-US" altLang="zh-CN" sz="1800" b="1" dirty="0">
                <a:latin typeface="+mn-lt"/>
                <a:ea typeface="楷体" pitchFamily="49" charset="-122"/>
              </a:rPr>
              <a:t>n</a:t>
            </a:r>
            <a:r>
              <a:rPr lang="zh-CN" altLang="en-US" sz="1800" b="1" dirty="0">
                <a:latin typeface="+mn-lt"/>
                <a:ea typeface="楷体" pitchFamily="49" charset="-122"/>
              </a:rPr>
              <a:t>个方案下的每个人所得之书。</a:t>
            </a:r>
          </a:p>
          <a:p>
            <a:pPr>
              <a:spcBef>
                <a:spcPct val="50000"/>
              </a:spcBef>
            </a:pPr>
            <a:r>
              <a:rPr lang="zh-CN" altLang="en-US" sz="1800" b="1" dirty="0">
                <a:solidFill>
                  <a:srgbClr val="0000FF"/>
                </a:solidFill>
                <a:latin typeface="+mn-lt"/>
                <a:ea typeface="楷体" pitchFamily="49" charset="-122"/>
              </a:rPr>
              <a:t>      </a:t>
            </a:r>
            <a:r>
              <a:rPr lang="zh-CN" altLang="en-US" sz="1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第三件事：</a:t>
            </a:r>
            <a:r>
              <a:rPr lang="zh-CN" altLang="en-US" sz="1800" b="1" dirty="0">
                <a:latin typeface="+mn-lt"/>
                <a:ea typeface="楷体" pitchFamily="49" charset="-122"/>
              </a:rPr>
              <a:t>回溯。让第</a:t>
            </a:r>
            <a:r>
              <a:rPr lang="en-US" altLang="zh-CN" sz="1800" b="1" dirty="0" err="1">
                <a:latin typeface="+mn-lt"/>
                <a:ea typeface="楷体" pitchFamily="49" charset="-122"/>
              </a:rPr>
              <a:t>i</a:t>
            </a:r>
            <a:r>
              <a:rPr lang="zh-CN" altLang="en-US" sz="1800" b="1" dirty="0">
                <a:latin typeface="+mn-lt"/>
                <a:ea typeface="楷体" pitchFamily="49" charset="-122"/>
              </a:rPr>
              <a:t>人退回</a:t>
            </a:r>
            <a:r>
              <a:rPr lang="en-US" altLang="zh-CN" sz="1800" b="1" dirty="0">
                <a:latin typeface="+mn-lt"/>
                <a:ea typeface="楷体" pitchFamily="49" charset="-122"/>
              </a:rPr>
              <a:t>j</a:t>
            </a:r>
            <a:r>
              <a:rPr lang="zh-CN" altLang="en-US" sz="1800" b="1" dirty="0">
                <a:latin typeface="+mn-lt"/>
                <a:ea typeface="楷体" pitchFamily="49" charset="-122"/>
              </a:rPr>
              <a:t>书，恢复</a:t>
            </a:r>
            <a:r>
              <a:rPr lang="en-US" altLang="zh-CN" sz="1800" b="1" dirty="0">
                <a:latin typeface="+mn-lt"/>
                <a:ea typeface="楷体" pitchFamily="49" charset="-122"/>
              </a:rPr>
              <a:t>j</a:t>
            </a:r>
            <a:r>
              <a:rPr lang="zh-CN" altLang="en-US" sz="1800" b="1" dirty="0">
                <a:latin typeface="+mn-lt"/>
                <a:ea typeface="楷体" pitchFamily="49" charset="-122"/>
              </a:rPr>
              <a:t>书尚未被选的标志，即</a:t>
            </a:r>
            <a:r>
              <a:rPr lang="en-US" altLang="zh-CN" sz="1800" b="1" dirty="0">
                <a:latin typeface="+mn-lt"/>
                <a:ea typeface="楷体" pitchFamily="49" charset="-122"/>
              </a:rPr>
              <a:t>book[j]=0.</a:t>
            </a:r>
            <a:r>
              <a:rPr lang="zh-CN" altLang="en-US" sz="1800" b="1" dirty="0">
                <a:latin typeface="+mn-lt"/>
                <a:ea typeface="楷体" pitchFamily="49" charset="-122"/>
              </a:rPr>
              <a:t>这是在已输出第</a:t>
            </a:r>
            <a:r>
              <a:rPr lang="en-US" altLang="zh-CN" sz="1800" b="1" dirty="0">
                <a:latin typeface="+mn-lt"/>
                <a:ea typeface="楷体" pitchFamily="49" charset="-122"/>
              </a:rPr>
              <a:t>n</a:t>
            </a:r>
            <a:r>
              <a:rPr lang="zh-CN" altLang="en-US" sz="1800" b="1" dirty="0">
                <a:latin typeface="+mn-lt"/>
                <a:ea typeface="楷体" pitchFamily="49" charset="-122"/>
              </a:rPr>
              <a:t>个方案之后，去寻找下一个分书方案所必需的。</a:t>
            </a:r>
          </a:p>
        </p:txBody>
      </p:sp>
      <p:grpSp>
        <p:nvGrpSpPr>
          <p:cNvPr id="113" name="组合 112"/>
          <p:cNvGrpSpPr/>
          <p:nvPr/>
        </p:nvGrpSpPr>
        <p:grpSpPr>
          <a:xfrm>
            <a:off x="1558925" y="1944906"/>
            <a:ext cx="7056784" cy="4680520"/>
            <a:chOff x="1259632" y="1772816"/>
            <a:chExt cx="7056784" cy="4680520"/>
          </a:xfrm>
        </p:grpSpPr>
        <p:sp>
          <p:nvSpPr>
            <p:cNvPr id="64" name="矩形 63"/>
            <p:cNvSpPr/>
            <p:nvPr/>
          </p:nvSpPr>
          <p:spPr bwMode="auto">
            <a:xfrm>
              <a:off x="1259632" y="1772816"/>
              <a:ext cx="7056784" cy="4680520"/>
            </a:xfrm>
            <a:prstGeom prst="rect">
              <a:avLst/>
            </a:prstGeom>
            <a:gradFill flip="none" rotWithShape="1">
              <a:gsLst>
                <a:gs pos="0">
                  <a:srgbClr val="CFCFD1"/>
                </a:gs>
                <a:gs pos="100000">
                  <a:schemeClr val="bg1">
                    <a:lumMod val="95000"/>
                  </a:schemeClr>
                </a:gs>
              </a:gsLst>
              <a:lin ang="16200000" scaled="1"/>
              <a:tileRect/>
            </a:gradFill>
            <a:ln w="38100" cap="flat" cmpd="sng" algn="ctr">
              <a:solidFill>
                <a:srgbClr val="C0192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7" name="Text Box 9"/>
            <p:cNvSpPr txBox="1">
              <a:spLocks noChangeArrowheads="1"/>
            </p:cNvSpPr>
            <p:nvPr/>
          </p:nvSpPr>
          <p:spPr bwMode="auto">
            <a:xfrm>
              <a:off x="1403648" y="1904984"/>
              <a:ext cx="3312368" cy="504056"/>
            </a:xfrm>
            <a:prstGeom prst="rect">
              <a:avLst/>
            </a:prstGeom>
            <a:noFill/>
            <a:ln>
              <a:noFill/>
              <a:headEnd/>
              <a:tailEnd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kumimoji="0" lang="zh-CN" altLang="en-US" b="1" dirty="0">
                  <a:solidFill>
                    <a:srgbClr val="C00000"/>
                  </a:solidFill>
                  <a:ea typeface="隶书" pitchFamily="49" charset="-122"/>
                  <a:cs typeface="宋体" pitchFamily="2" charset="-122"/>
                </a:rPr>
                <a:t>函数</a:t>
              </a:r>
              <a:r>
                <a:rPr kumimoji="0" lang="en-US" altLang="zh-CN" b="1" dirty="0">
                  <a:solidFill>
                    <a:srgbClr val="C00000"/>
                  </a:solidFill>
                  <a:ea typeface="隶书" pitchFamily="49" charset="-122"/>
                  <a:cs typeface="宋体" pitchFamily="2" charset="-122"/>
                </a:rPr>
                <a:t>Try(</a:t>
              </a:r>
              <a:r>
                <a:rPr kumimoji="0" lang="en-US" altLang="zh-CN" b="1" dirty="0" err="1">
                  <a:solidFill>
                    <a:srgbClr val="C00000"/>
                  </a:solidFill>
                  <a:ea typeface="隶书" pitchFamily="49" charset="-122"/>
                  <a:cs typeface="宋体" pitchFamily="2" charset="-122"/>
                </a:rPr>
                <a:t>i</a:t>
              </a:r>
              <a:r>
                <a:rPr kumimoji="0" lang="en-US" altLang="zh-CN" b="1" dirty="0">
                  <a:solidFill>
                    <a:srgbClr val="C00000"/>
                  </a:solidFill>
                  <a:ea typeface="隶书" pitchFamily="49" charset="-122"/>
                  <a:cs typeface="宋体" pitchFamily="2" charset="-122"/>
                </a:rPr>
                <a:t>)</a:t>
              </a:r>
              <a:r>
                <a:rPr kumimoji="0" lang="zh-CN" altLang="en-US" b="1" dirty="0">
                  <a:solidFill>
                    <a:srgbClr val="C00000"/>
                  </a:solidFill>
                  <a:ea typeface="隶书" pitchFamily="49" charset="-122"/>
                  <a:cs typeface="宋体" pitchFamily="2" charset="-122"/>
                </a:rPr>
                <a:t>的</a:t>
              </a:r>
              <a:r>
                <a:rPr kumimoji="0" lang="en-US" altLang="zh-CN" b="1" dirty="0">
                  <a:solidFill>
                    <a:srgbClr val="C00000"/>
                  </a:solidFill>
                  <a:ea typeface="隶书" pitchFamily="49" charset="-122"/>
                  <a:cs typeface="宋体" pitchFamily="2" charset="-122"/>
                </a:rPr>
                <a:t>N-S</a:t>
              </a:r>
              <a:r>
                <a:rPr kumimoji="0" lang="zh-CN" altLang="en-US" b="1" dirty="0">
                  <a:solidFill>
                    <a:srgbClr val="C00000"/>
                  </a:solidFill>
                  <a:ea typeface="隶书" pitchFamily="49" charset="-122"/>
                  <a:cs typeface="宋体" pitchFamily="2" charset="-122"/>
                </a:rPr>
                <a:t>流程图</a:t>
              </a:r>
            </a:p>
          </p:txBody>
        </p:sp>
        <p:grpSp>
          <p:nvGrpSpPr>
            <p:cNvPr id="112" name="组合 111"/>
            <p:cNvGrpSpPr/>
            <p:nvPr/>
          </p:nvGrpSpPr>
          <p:grpSpPr>
            <a:xfrm>
              <a:off x="2987824" y="2528902"/>
              <a:ext cx="3816368" cy="3636402"/>
              <a:chOff x="2987824" y="2528902"/>
              <a:chExt cx="3816368" cy="3636402"/>
            </a:xfrm>
          </p:grpSpPr>
          <p:grpSp>
            <p:nvGrpSpPr>
              <p:cNvPr id="612354" name="组合 1095"/>
              <p:cNvGrpSpPr>
                <a:grpSpLocks/>
              </p:cNvGrpSpPr>
              <p:nvPr/>
            </p:nvGrpSpPr>
            <p:grpSpPr bwMode="auto">
              <a:xfrm>
                <a:off x="2987824" y="2528902"/>
                <a:ext cx="3816368" cy="3636402"/>
                <a:chOff x="2204" y="551"/>
                <a:chExt cx="21381" cy="18550"/>
              </a:xfrm>
            </p:grpSpPr>
            <p:grpSp>
              <p:nvGrpSpPr>
                <p:cNvPr id="1092" name="组合 1092"/>
                <p:cNvGrpSpPr>
                  <a:grpSpLocks/>
                </p:cNvGrpSpPr>
                <p:nvPr/>
              </p:nvGrpSpPr>
              <p:grpSpPr bwMode="auto">
                <a:xfrm>
                  <a:off x="2204" y="551"/>
                  <a:ext cx="21364" cy="18550"/>
                  <a:chOff x="2204" y="551"/>
                  <a:chExt cx="21364" cy="18550"/>
                </a:xfrm>
              </p:grpSpPr>
              <p:grpSp>
                <p:nvGrpSpPr>
                  <p:cNvPr id="1090" name="组合 1090"/>
                  <p:cNvGrpSpPr>
                    <a:grpSpLocks/>
                  </p:cNvGrpSpPr>
                  <p:nvPr/>
                </p:nvGrpSpPr>
                <p:grpSpPr bwMode="auto">
                  <a:xfrm>
                    <a:off x="3011" y="2351"/>
                    <a:ext cx="20557" cy="16750"/>
                    <a:chOff x="3011" y="192"/>
                    <a:chExt cx="20556" cy="16750"/>
                  </a:xfrm>
                </p:grpSpPr>
                <p:sp>
                  <p:nvSpPr>
                    <p:cNvPr id="1087" name="文本框 2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2961" y="11531"/>
                      <a:ext cx="7911" cy="1676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algn="ctr"/>
                      <a:r>
                        <a:rPr kumimoji="0" lang="en-US" altLang="zh-CN" sz="1600" b="1" dirty="0">
                          <a:solidFill>
                            <a:srgbClr val="000000"/>
                          </a:solidFill>
                          <a:latin typeface="+mn-lt"/>
                          <a:ea typeface="楷体" pitchFamily="49" charset="-122"/>
                          <a:cs typeface="宋体" pitchFamily="2" charset="-122"/>
                        </a:rPr>
                        <a:t>//</a:t>
                      </a:r>
                      <a:r>
                        <a:rPr kumimoji="0" lang="zh-CN" altLang="en-US" sz="1600" b="1" dirty="0">
                          <a:solidFill>
                            <a:srgbClr val="000000"/>
                          </a:solidFill>
                          <a:latin typeface="+mn-lt"/>
                          <a:ea typeface="楷体" pitchFamily="49" charset="-122"/>
                          <a:cs typeface="宋体" pitchFamily="2" charset="-122"/>
                        </a:rPr>
                        <a:t>试分下一人</a:t>
                      </a:r>
                      <a:endParaRPr kumimoji="0" lang="zh-CN" altLang="en-US" sz="1600" b="1" dirty="0">
                        <a:latin typeface="+mn-lt"/>
                        <a:ea typeface="楷体" pitchFamily="49" charset="-122"/>
                        <a:cs typeface="宋体" pitchFamily="2" charset="-122"/>
                      </a:endParaRPr>
                    </a:p>
                  </p:txBody>
                </p:sp>
                <p:grpSp>
                  <p:nvGrpSpPr>
                    <p:cNvPr id="1089" name="组合 1089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011" y="192"/>
                      <a:ext cx="20556" cy="16750"/>
                      <a:chOff x="3011" y="192"/>
                      <a:chExt cx="20555" cy="16750"/>
                    </a:xfrm>
                  </p:grpSpPr>
                  <p:grpSp>
                    <p:nvGrpSpPr>
                      <p:cNvPr id="1088" name="组合 1088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3011" y="192"/>
                        <a:ext cx="20555" cy="16750"/>
                        <a:chOff x="3011" y="192"/>
                        <a:chExt cx="20554" cy="16750"/>
                      </a:xfrm>
                    </p:grpSpPr>
                    <p:grpSp>
                      <p:nvGrpSpPr>
                        <p:cNvPr id="304" name="组合 304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3011" y="192"/>
                          <a:ext cx="20554" cy="16750"/>
                          <a:chOff x="3011" y="192"/>
                          <a:chExt cx="20553" cy="16750"/>
                        </a:xfrm>
                      </p:grpSpPr>
                      <p:grpSp>
                        <p:nvGrpSpPr>
                          <p:cNvPr id="1017" name="组合 1017"/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3011" y="192"/>
                            <a:ext cx="20553" cy="16750"/>
                            <a:chOff x="1354" y="276"/>
                            <a:chExt cx="20552" cy="16753"/>
                          </a:xfrm>
                        </p:grpSpPr>
                        <p:grpSp>
                          <p:nvGrpSpPr>
                            <p:cNvPr id="1020" name="组合 1020"/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1354" y="276"/>
                              <a:ext cx="20552" cy="16753"/>
                              <a:chOff x="-118" y="276"/>
                              <a:chExt cx="20551" cy="16756"/>
                            </a:xfrm>
                          </p:grpSpPr>
                          <p:grpSp>
                            <p:nvGrpSpPr>
                              <p:cNvPr id="1021" name="组合 1021"/>
                              <p:cNvGrpSpPr>
                                <a:grpSpLocks/>
                              </p:cNvGrpSpPr>
                              <p:nvPr/>
                            </p:nvGrpSpPr>
                            <p:grpSpPr bwMode="auto">
                              <a:xfrm>
                                <a:off x="0" y="276"/>
                                <a:ext cx="20433" cy="16756"/>
                                <a:chOff x="0" y="0"/>
                                <a:chExt cx="20434" cy="16756"/>
                              </a:xfrm>
                            </p:grpSpPr>
                            <p:sp>
                              <p:nvSpPr>
                                <p:cNvPr id="1029" name="Text Box 19"/>
                                <p:cNvSpPr txBox="1"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2174" y="8304"/>
                                  <a:ext cx="1807" cy="1640"/>
                                </a:xfrm>
                                <a:prstGeom prst="rect">
                                  <a:avLst/>
                                </a:prstGeom>
                                <a:noFill/>
                                <a:ln w="9525">
                                  <a:noFill/>
                                  <a:miter lim="800000"/>
                                  <a:headEnd/>
                                  <a:tailEnd/>
                                </a:ln>
                              </p:spPr>
                              <p:txBody>
                                <a:bodyPr vert="horz" wrap="square" lIns="91440" tIns="45720" rIns="91440" bIns="45720" numCol="1" anchor="t" anchorCtr="0" compatLnSpc="1">
                                  <a:prstTxWarp prst="textNoShape">
                                    <a:avLst/>
                                  </a:prstTxWarp>
                                </a:bodyPr>
                                <a:lstStyle/>
                                <a:p>
                                  <a:pPr algn="just"/>
                                  <a:r>
                                    <a:rPr kumimoji="0" lang="en-US" altLang="zh-CN" sz="1600" b="1" dirty="0">
                                      <a:latin typeface="+mn-lt"/>
                                      <a:ea typeface="楷体" pitchFamily="49" charset="-122"/>
                                      <a:cs typeface="宋体" pitchFamily="2" charset="-122"/>
                                    </a:rPr>
                                    <a:t>T</a:t>
                                  </a:r>
                                  <a:endParaRPr kumimoji="0" lang="zh-CN" altLang="zh-CN" sz="1600" b="1" dirty="0">
                                    <a:latin typeface="+mn-lt"/>
                                    <a:ea typeface="楷体" pitchFamily="49" charset="-122"/>
                                    <a:cs typeface="宋体" pitchFamily="2" charset="-122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1030" name="Text Box 19"/>
                                <p:cNvSpPr txBox="1"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15112" y="8248"/>
                                  <a:ext cx="1372" cy="1588"/>
                                </a:xfrm>
                                <a:prstGeom prst="rect">
                                  <a:avLst/>
                                </a:prstGeom>
                                <a:noFill/>
                                <a:ln w="9525">
                                  <a:noFill/>
                                  <a:miter lim="800000"/>
                                  <a:headEnd/>
                                  <a:tailEnd/>
                                </a:ln>
                              </p:spPr>
                              <p:txBody>
                                <a:bodyPr vert="horz" wrap="square" lIns="91440" tIns="45720" rIns="91440" bIns="45720" numCol="1" anchor="t" anchorCtr="0" compatLnSpc="1">
                                  <a:prstTxWarp prst="textNoShape">
                                    <a:avLst/>
                                  </a:prstTxWarp>
                                </a:bodyPr>
                                <a:lstStyle/>
                                <a:p>
                                  <a:pPr algn="just"/>
                                  <a:r>
                                    <a:rPr kumimoji="0" lang="en-US" altLang="zh-CN" sz="1600" b="1" dirty="0">
                                      <a:latin typeface="+mn-lt"/>
                                      <a:ea typeface="楷体" pitchFamily="49" charset="-122"/>
                                      <a:cs typeface="宋体" pitchFamily="2" charset="-122"/>
                                    </a:rPr>
                                    <a:t>F</a:t>
                                  </a:r>
                                  <a:endParaRPr kumimoji="0" lang="zh-CN" altLang="zh-CN" sz="1600" b="1" dirty="0">
                                    <a:latin typeface="+mn-lt"/>
                                    <a:ea typeface="楷体" pitchFamily="49" charset="-122"/>
                                    <a:cs typeface="宋体" pitchFamily="2" charset="-122"/>
                                  </a:endParaRPr>
                                </a:p>
                              </p:txBody>
                            </p:sp>
                            <p:grpSp>
                              <p:nvGrpSpPr>
                                <p:cNvPr id="1031" name="组合 1031"/>
                                <p:cNvGrpSpPr>
                                  <a:grpSpLocks/>
                                </p:cNvGrpSpPr>
                                <p:nvPr/>
                              </p:nvGrpSpPr>
                              <p:grpSpPr bwMode="auto">
                                <a:xfrm>
                                  <a:off x="0" y="0"/>
                                  <a:ext cx="20434" cy="16756"/>
                                  <a:chOff x="0" y="0"/>
                                  <a:chExt cx="20435" cy="16756"/>
                                </a:xfrm>
                              </p:grpSpPr>
                              <p:sp>
                                <p:nvSpPr>
                                  <p:cNvPr id="1033" name="矩形 1033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0" y="0"/>
                                    <a:ext cx="20433" cy="16756"/>
                                  </a:xfrm>
                                  <a:prstGeom prst="rect">
                                    <a:avLst/>
                                  </a:prstGeom>
                                  <a:gradFill flip="none" rotWithShape="1">
                                    <a:gsLst>
                                      <a:gs pos="0">
                                        <a:schemeClr val="bg1"/>
                                      </a:gs>
                                      <a:gs pos="69000">
                                        <a:srgbClr val="F0E5B7"/>
                                      </a:gs>
                                    </a:gsLst>
                                    <a:lin ang="13500000" scaled="1"/>
                                    <a:tileRect/>
                                  </a:gradFill>
                                  <a:ln w="19050">
                                    <a:solidFill>
                                      <a:srgbClr val="007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ffectLst>
                                    <a:outerShdw blurRad="50800" dist="38100" dir="2700000" algn="tl" rotWithShape="0">
                                      <a:prstClr val="black">
                                        <a:alpha val="40000"/>
                                      </a:prstClr>
                                    </a:outerShdw>
                                  </a:effectLst>
                                </p:spPr>
                                <p:txBody>
                                  <a:bodyPr vert="horz" wrap="square" lIns="91440" tIns="45720" rIns="91440" bIns="45720" numCol="1" anchor="ctr" anchorCtr="0" compatLnSpc="1">
                                    <a:prstTxWarp prst="textNoShape">
                                      <a:avLst/>
                                    </a:prstTxWarp>
                                  </a:bodyPr>
                                  <a:lstStyle/>
                                  <a:p>
                                    <a:endParaRPr lang="zh-CN" altLang="en-US" sz="1600" b="1">
                                      <a:latin typeface="+mn-lt"/>
                                      <a:ea typeface="楷体" pitchFamily="49" charset="-122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1034" name="直接连接符 1034"/>
                                  <p:cNvSpPr>
                                    <a:spLocks noChangeShapeType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1963" y="2424"/>
                                    <a:ext cx="18467" cy="0"/>
                                  </a:xfrm>
                                  <a:prstGeom prst="line">
                                    <a:avLst/>
                                  </a:prstGeom>
                                  <a:noFill/>
                                  <a:ln w="19050">
                                    <a:solidFill>
                                      <a:srgbClr val="007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</p:spPr>
                                <p:txBody>
                                  <a:bodyPr vert="horz" wrap="square" lIns="91440" tIns="45720" rIns="91440" bIns="45720" numCol="1" anchor="t" anchorCtr="0" compatLnSpc="1">
                                    <a:prstTxWarp prst="textNoShape">
                                      <a:avLst/>
                                    </a:prstTxWarp>
                                  </a:bodyPr>
                                  <a:lstStyle/>
                                  <a:p>
                                    <a:endParaRPr lang="zh-CN" altLang="en-US" sz="1600" b="1">
                                      <a:latin typeface="+mn-lt"/>
                                      <a:ea typeface="楷体" pitchFamily="49" charset="-122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1035" name="直接连接符 1035"/>
                                  <p:cNvSpPr>
                                    <a:spLocks noChangeShapeType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1933" y="4756"/>
                                    <a:ext cx="18501" cy="0"/>
                                  </a:xfrm>
                                  <a:prstGeom prst="line">
                                    <a:avLst/>
                                  </a:prstGeom>
                                  <a:noFill/>
                                  <a:ln w="19050">
                                    <a:solidFill>
                                      <a:srgbClr val="007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</p:spPr>
                                <p:txBody>
                                  <a:bodyPr vert="horz" wrap="square" lIns="91440" tIns="45720" rIns="91440" bIns="45720" numCol="1" anchor="t" anchorCtr="0" compatLnSpc="1">
                                    <a:prstTxWarp prst="textNoShape">
                                      <a:avLst/>
                                    </a:prstTxWarp>
                                  </a:bodyPr>
                                  <a:lstStyle/>
                                  <a:p>
                                    <a:endParaRPr lang="zh-CN" altLang="en-US" sz="1600" b="1">
                                      <a:latin typeface="+mn-lt"/>
                                      <a:ea typeface="楷体" pitchFamily="49" charset="-122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1036" name="直接连接符 1036"/>
                                  <p:cNvSpPr>
                                    <a:spLocks noChangeShapeType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1960" y="7880"/>
                                    <a:ext cx="8101" cy="2113"/>
                                  </a:xfrm>
                                  <a:prstGeom prst="line">
                                    <a:avLst/>
                                  </a:prstGeom>
                                  <a:noFill/>
                                  <a:ln w="19050">
                                    <a:solidFill>
                                      <a:srgbClr val="007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</p:spPr>
                                <p:txBody>
                                  <a:bodyPr vert="horz" wrap="square" lIns="91440" tIns="45720" rIns="91440" bIns="45720" numCol="1" anchor="t" anchorCtr="0" compatLnSpc="1">
                                    <a:prstTxWarp prst="textNoShape">
                                      <a:avLst/>
                                    </a:prstTxWarp>
                                  </a:bodyPr>
                                  <a:lstStyle/>
                                  <a:p>
                                    <a:endParaRPr lang="zh-CN" altLang="en-US" sz="1600" b="1">
                                      <a:latin typeface="+mn-lt"/>
                                      <a:ea typeface="楷体" pitchFamily="49" charset="-122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1038" name="直接连接符 1038"/>
                                  <p:cNvSpPr>
                                    <a:spLocks noChangeShapeType="1"/>
                                  </p:cNvSpPr>
                                  <p:nvPr/>
                                </p:nvSpPr>
                                <p:spPr bwMode="auto">
                                  <a:xfrm flipH="1">
                                    <a:off x="10062" y="7879"/>
                                    <a:ext cx="7096" cy="2116"/>
                                  </a:xfrm>
                                  <a:prstGeom prst="line">
                                    <a:avLst/>
                                  </a:prstGeom>
                                  <a:noFill/>
                                  <a:ln w="19050">
                                    <a:solidFill>
                                      <a:srgbClr val="007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</p:spPr>
                                <p:txBody>
                                  <a:bodyPr vert="horz" wrap="square" lIns="91440" tIns="45720" rIns="91440" bIns="45720" numCol="1" anchor="t" anchorCtr="0" compatLnSpc="1">
                                    <a:prstTxWarp prst="textNoShape">
                                      <a:avLst/>
                                    </a:prstTxWarp>
                                  </a:bodyPr>
                                  <a:lstStyle/>
                                  <a:p>
                                    <a:endParaRPr lang="zh-CN" altLang="en-US" sz="1600" b="1">
                                      <a:latin typeface="+mn-lt"/>
                                      <a:ea typeface="楷体" pitchFamily="49" charset="-122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1039" name="直接连接符 1039"/>
                                  <p:cNvSpPr>
                                    <a:spLocks noChangeShapeType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10066" y="10066"/>
                                    <a:ext cx="0" cy="3091"/>
                                  </a:xfrm>
                                  <a:prstGeom prst="line">
                                    <a:avLst/>
                                  </a:prstGeom>
                                  <a:noFill/>
                                  <a:ln w="19050">
                                    <a:solidFill>
                                      <a:srgbClr val="007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</p:spPr>
                                <p:txBody>
                                  <a:bodyPr vert="horz" wrap="square" lIns="91440" tIns="45720" rIns="91440" bIns="45720" numCol="1" anchor="t" anchorCtr="0" compatLnSpc="1">
                                    <a:prstTxWarp prst="textNoShape">
                                      <a:avLst/>
                                    </a:prstTxWarp>
                                  </a:bodyPr>
                                  <a:lstStyle/>
                                  <a:p>
                                    <a:endParaRPr lang="zh-CN" altLang="en-US" sz="1600" b="1">
                                      <a:latin typeface="+mn-lt"/>
                                      <a:ea typeface="楷体" pitchFamily="49" charset="-122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1041" name="直接连接符 1041"/>
                                  <p:cNvSpPr>
                                    <a:spLocks noChangeShapeType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1994" y="7819"/>
                                    <a:ext cx="15196" cy="0"/>
                                  </a:xfrm>
                                  <a:prstGeom prst="line">
                                    <a:avLst/>
                                  </a:prstGeom>
                                  <a:noFill/>
                                  <a:ln w="19050">
                                    <a:solidFill>
                                      <a:srgbClr val="007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</p:spPr>
                                <p:txBody>
                                  <a:bodyPr vert="horz" wrap="square" lIns="91440" tIns="45720" rIns="91440" bIns="45720" numCol="1" anchor="t" anchorCtr="0" compatLnSpc="1">
                                    <a:prstTxWarp prst="textNoShape">
                                      <a:avLst/>
                                    </a:prstTxWarp>
                                  </a:bodyPr>
                                  <a:lstStyle/>
                                  <a:p>
                                    <a:endParaRPr lang="zh-CN" altLang="en-US" sz="1600" b="1">
                                      <a:latin typeface="+mn-lt"/>
                                      <a:ea typeface="楷体" pitchFamily="49" charset="-122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1054" name="直接连接符 1054"/>
                                  <p:cNvSpPr>
                                    <a:spLocks noChangeShapeType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1901" y="13131"/>
                                    <a:ext cx="15257" cy="0"/>
                                  </a:xfrm>
                                  <a:prstGeom prst="line">
                                    <a:avLst/>
                                  </a:prstGeom>
                                  <a:noFill/>
                                  <a:ln w="19050">
                                    <a:solidFill>
                                      <a:srgbClr val="007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</p:spPr>
                                <p:txBody>
                                  <a:bodyPr vert="horz" wrap="square" lIns="91440" tIns="45720" rIns="91440" bIns="45720" numCol="1" anchor="t" anchorCtr="0" compatLnSpc="1">
                                    <a:prstTxWarp prst="textNoShape">
                                      <a:avLst/>
                                    </a:prstTxWarp>
                                  </a:bodyPr>
                                  <a:lstStyle/>
                                  <a:p>
                                    <a:endParaRPr lang="zh-CN" altLang="en-US" sz="1600" b="1">
                                      <a:latin typeface="+mn-lt"/>
                                      <a:ea typeface="楷体" pitchFamily="49" charset="-122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1032" name="直接连接符 1032"/>
                                  <p:cNvSpPr>
                                    <a:spLocks noChangeShapeType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1962" y="2423"/>
                                    <a:ext cx="0" cy="14333"/>
                                  </a:xfrm>
                                  <a:prstGeom prst="line">
                                    <a:avLst/>
                                  </a:prstGeom>
                                  <a:noFill/>
                                  <a:ln w="19050">
                                    <a:solidFill>
                                      <a:srgbClr val="0070C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</p:spPr>
                                <p:txBody>
                                  <a:bodyPr vert="horz" wrap="square" lIns="91440" tIns="45720" rIns="91440" bIns="45720" numCol="1" anchor="t" anchorCtr="0" compatLnSpc="1">
                                    <a:prstTxWarp prst="textNoShape">
                                      <a:avLst/>
                                    </a:prstTxWarp>
                                  </a:bodyPr>
                                  <a:lstStyle/>
                                  <a:p>
                                    <a:endParaRPr lang="zh-CN" altLang="en-US" sz="1600" b="1">
                                      <a:latin typeface="+mn-lt"/>
                                      <a:ea typeface="楷体" pitchFamily="49" charset="-122"/>
                                    </a:endParaRPr>
                                  </a:p>
                                </p:txBody>
                              </p:sp>
                            </p:grpSp>
                          </p:grpSp>
                          <p:grpSp>
                            <p:nvGrpSpPr>
                              <p:cNvPr id="1058" name="组合 1058"/>
                              <p:cNvGrpSpPr>
                                <a:grpSpLocks/>
                              </p:cNvGrpSpPr>
                              <p:nvPr/>
                            </p:nvGrpSpPr>
                            <p:grpSpPr bwMode="auto">
                              <a:xfrm>
                                <a:off x="-118" y="496"/>
                                <a:ext cx="18889" cy="15641"/>
                                <a:chOff x="-1805" y="496"/>
                                <a:chExt cx="18889" cy="15641"/>
                              </a:xfrm>
                            </p:grpSpPr>
                            <p:sp>
                              <p:nvSpPr>
                                <p:cNvPr id="1060" name="Text Box 25"/>
                                <p:cNvSpPr txBox="1"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-1805" y="496"/>
                                  <a:ext cx="10458" cy="1882"/>
                                </a:xfrm>
                                <a:prstGeom prst="rect">
                                  <a:avLst/>
                                </a:prstGeom>
                                <a:noFill/>
                                <a:ln w="9525">
                                  <a:noFill/>
                                  <a:miter lim="800000"/>
                                  <a:headEnd/>
                                  <a:tailEnd/>
                                </a:ln>
                              </p:spPr>
                              <p:txBody>
                                <a:bodyPr vert="horz" wrap="square" lIns="91440" tIns="45720" rIns="91440" bIns="45720" numCol="1" anchor="t" anchorCtr="0" compatLnSpc="1">
                                  <a:prstTxWarp prst="textNoShape">
                                    <a:avLst/>
                                  </a:prstTxWarp>
                                </a:bodyPr>
                                <a:lstStyle/>
                                <a:p>
                                  <a:pPr algn="ctr"/>
                                  <a:r>
                                    <a:rPr kumimoji="0" lang="en-US" altLang="zh-CN" sz="1600" b="1" dirty="0">
                                      <a:solidFill>
                                        <a:srgbClr val="C00000"/>
                                      </a:solidFill>
                                      <a:latin typeface="+mn-lt"/>
                                      <a:ea typeface="楷体" pitchFamily="49" charset="-122"/>
                                      <a:cs typeface="宋体" pitchFamily="2" charset="-122"/>
                                    </a:rPr>
                                    <a:t>for( j=0;j&lt;=4;j++)</a:t>
                                  </a:r>
                                </a:p>
                                <a:p>
                                  <a:pPr algn="ctr"/>
                                  <a:endParaRPr kumimoji="0" lang="en-US" altLang="zh-CN" sz="1600" b="1" dirty="0">
                                    <a:solidFill>
                                      <a:srgbClr val="C00000"/>
                                    </a:solidFill>
                                    <a:latin typeface="+mn-lt"/>
                                    <a:ea typeface="楷体" pitchFamily="49" charset="-122"/>
                                    <a:cs typeface="宋体" pitchFamily="2" charset="-122"/>
                                  </a:endParaRPr>
                                </a:p>
                                <a:p>
                                  <a:endParaRPr kumimoji="0" lang="zh-CN" altLang="zh-CN" sz="1600" b="1" dirty="0">
                                    <a:solidFill>
                                      <a:srgbClr val="C00000"/>
                                    </a:solidFill>
                                    <a:latin typeface="+mn-lt"/>
                                    <a:ea typeface="楷体" pitchFamily="49" charset="-122"/>
                                    <a:cs typeface="宋体" pitchFamily="2" charset="-122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1068" name="文本框 2"/>
                                <p:cNvSpPr txBox="1"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1727" y="4844"/>
                                  <a:ext cx="12331" cy="1470"/>
                                </a:xfrm>
                                <a:prstGeom prst="rect">
                                  <a:avLst/>
                                </a:prstGeom>
                                <a:noFill/>
                                <a:ln w="9525">
                                  <a:noFill/>
                                  <a:miter lim="800000"/>
                                  <a:headEnd/>
                                  <a:tailEnd/>
                                </a:ln>
                              </p:spPr>
                              <p:txBody>
                                <a:bodyPr vert="horz" wrap="square" lIns="91440" tIns="45720" rIns="91440" bIns="45720" numCol="1" anchor="t" anchorCtr="0" compatLnSpc="1">
                                  <a:prstTxWarp prst="textNoShape">
                                    <a:avLst/>
                                  </a:prstTxWarp>
                                </a:bodyPr>
                                <a:lstStyle/>
                                <a:p>
                                  <a:pPr algn="ctr"/>
                                  <a:r>
                                    <a:rPr kumimoji="0" lang="en-US" altLang="zh-CN" sz="1600" b="1" dirty="0">
                                      <a:solidFill>
                                        <a:srgbClr val="000000"/>
                                      </a:solidFill>
                                      <a:latin typeface="+mn-lt"/>
                                      <a:ea typeface="楷体" pitchFamily="49" charset="-122"/>
                                      <a:cs typeface="宋体" pitchFamily="2" charset="-122"/>
                                    </a:rPr>
                                    <a:t>take[</a:t>
                                  </a:r>
                                  <a:r>
                                    <a:rPr kumimoji="0" lang="en-US" altLang="zh-CN" sz="1600" b="1" dirty="0" err="1">
                                      <a:solidFill>
                                        <a:srgbClr val="000000"/>
                                      </a:solidFill>
                                      <a:latin typeface="+mn-lt"/>
                                      <a:ea typeface="楷体" pitchFamily="49" charset="-122"/>
                                      <a:cs typeface="宋体" pitchFamily="2" charset="-122"/>
                                    </a:rPr>
                                    <a:t>i</a:t>
                                  </a:r>
                                  <a:r>
                                    <a:rPr kumimoji="0" lang="en-US" altLang="zh-CN" sz="1600" b="1" dirty="0">
                                      <a:solidFill>
                                        <a:srgbClr val="000000"/>
                                      </a:solidFill>
                                      <a:latin typeface="+mn-lt"/>
                                      <a:ea typeface="楷体" pitchFamily="49" charset="-122"/>
                                      <a:cs typeface="宋体" pitchFamily="2" charset="-122"/>
                                    </a:rPr>
                                    <a:t>]=j;   </a:t>
                                  </a:r>
                                  <a:r>
                                    <a:rPr kumimoji="0" lang="en-US" altLang="zh-CN" sz="1600" b="1" dirty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+mn-lt"/>
                                      <a:ea typeface="楷体" pitchFamily="49" charset="-122"/>
                                      <a:cs typeface="宋体" pitchFamily="2" charset="-122"/>
                                    </a:rPr>
                                    <a:t>//</a:t>
                                  </a:r>
                                  <a:r>
                                    <a:rPr kumimoji="0" lang="zh-CN" altLang="en-US" sz="1600" b="1" dirty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+mn-lt"/>
                                      <a:ea typeface="楷体" pitchFamily="49" charset="-122"/>
                                      <a:cs typeface="宋体" pitchFamily="2" charset="-122"/>
                                    </a:rPr>
                                    <a:t>将书</a:t>
                                  </a:r>
                                  <a:r>
                                    <a:rPr kumimoji="0" lang="en-US" altLang="zh-CN" sz="1600" b="1" dirty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+mn-lt"/>
                                      <a:ea typeface="楷体" pitchFamily="49" charset="-122"/>
                                      <a:cs typeface="宋体" pitchFamily="2" charset="-122"/>
                                    </a:rPr>
                                    <a:t>j</a:t>
                                  </a:r>
                                  <a:r>
                                    <a:rPr kumimoji="0" lang="zh-CN" altLang="en-US" sz="1600" b="1" dirty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+mn-lt"/>
                                      <a:ea typeface="楷体" pitchFamily="49" charset="-122"/>
                                      <a:cs typeface="宋体" pitchFamily="2" charset="-122"/>
                                    </a:rPr>
                                    <a:t>给</a:t>
                                  </a:r>
                                  <a:r>
                                    <a:rPr kumimoji="0" lang="en-US" altLang="zh-CN" sz="1600" b="1" dirty="0" err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+mn-lt"/>
                                      <a:ea typeface="楷体" pitchFamily="49" charset="-122"/>
                                      <a:cs typeface="宋体" pitchFamily="2" charset="-122"/>
                                    </a:rPr>
                                    <a:t>i</a:t>
                                  </a:r>
                                  <a:endParaRPr kumimoji="0" lang="en-US" altLang="zh-CN" sz="1600" b="1" dirty="0">
                                    <a:solidFill>
                                      <a:schemeClr val="accent1">
                                        <a:lumMod val="50000"/>
                                      </a:schemeClr>
                                    </a:solidFill>
                                    <a:latin typeface="+mn-lt"/>
                                    <a:ea typeface="楷体" pitchFamily="49" charset="-122"/>
                                    <a:cs typeface="宋体" pitchFamily="2" charset="-122"/>
                                  </a:endParaRPr>
                                </a:p>
                                <a:p>
                                  <a:endParaRPr kumimoji="0" lang="zh-CN" altLang="zh-CN" sz="1600" b="1" dirty="0">
                                    <a:latin typeface="+mn-lt"/>
                                    <a:ea typeface="楷体" pitchFamily="49" charset="-122"/>
                                    <a:cs typeface="宋体" pitchFamily="2" charset="-122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1070" name="文本框 2"/>
                                <p:cNvSpPr txBox="1"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3129" y="2701"/>
                                  <a:ext cx="13955" cy="1493"/>
                                </a:xfrm>
                                <a:prstGeom prst="rect">
                                  <a:avLst/>
                                </a:prstGeom>
                                <a:noFill/>
                                <a:ln w="9525">
                                  <a:noFill/>
                                  <a:miter lim="800000"/>
                                  <a:headEnd/>
                                  <a:tailEnd/>
                                </a:ln>
                              </p:spPr>
                              <p:txBody>
                                <a:bodyPr vert="horz" wrap="square" lIns="91440" tIns="45720" rIns="91440" bIns="45720" numCol="1" anchor="t" anchorCtr="0" compatLnSpc="1">
                                  <a:prstTxWarp prst="textNoShape">
                                    <a:avLst/>
                                  </a:prstTxWarp>
                                </a:bodyPr>
                                <a:lstStyle/>
                                <a:p>
                                  <a:pPr algn="ctr"/>
                                  <a:r>
                                    <a:rPr kumimoji="0" lang="en-US" altLang="zh-CN" sz="1600" b="1" dirty="0">
                                      <a:solidFill>
                                        <a:srgbClr val="002060"/>
                                      </a:solidFill>
                                      <a:latin typeface="+mn-lt"/>
                                      <a:ea typeface="楷体" pitchFamily="49" charset="-122"/>
                                      <a:cs typeface="宋体" pitchFamily="2" charset="-122"/>
                                    </a:rPr>
                                    <a:t>like[</a:t>
                                  </a:r>
                                  <a:r>
                                    <a:rPr kumimoji="0" lang="en-US" altLang="zh-CN" sz="1600" b="1" dirty="0" err="1">
                                      <a:solidFill>
                                        <a:srgbClr val="002060"/>
                                      </a:solidFill>
                                      <a:latin typeface="+mn-lt"/>
                                      <a:ea typeface="楷体" pitchFamily="49" charset="-122"/>
                                      <a:cs typeface="宋体" pitchFamily="2" charset="-122"/>
                                    </a:rPr>
                                    <a:t>i</a:t>
                                  </a:r>
                                  <a:r>
                                    <a:rPr kumimoji="0" lang="en-US" altLang="zh-CN" sz="1600" b="1" dirty="0">
                                      <a:solidFill>
                                        <a:srgbClr val="002060"/>
                                      </a:solidFill>
                                      <a:latin typeface="+mn-lt"/>
                                      <a:ea typeface="楷体" pitchFamily="49" charset="-122"/>
                                      <a:cs typeface="宋体" pitchFamily="2" charset="-122"/>
                                    </a:rPr>
                                    <a:t>][j]&gt;0&amp;&amp;book[j]==0</a:t>
                                  </a:r>
                                  <a:endParaRPr kumimoji="0" lang="zh-CN" altLang="zh-CN" sz="1600" b="1" dirty="0">
                                    <a:solidFill>
                                      <a:srgbClr val="002060"/>
                                    </a:solidFill>
                                    <a:latin typeface="+mn-lt"/>
                                    <a:ea typeface="楷体" pitchFamily="49" charset="-122"/>
                                    <a:cs typeface="宋体" pitchFamily="2" charset="-122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1072" name="文本框 2"/>
                                <p:cNvSpPr txBox="1"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6070" y="8244"/>
                                  <a:ext cx="4426" cy="1808"/>
                                </a:xfrm>
                                <a:prstGeom prst="rect">
                                  <a:avLst/>
                                </a:prstGeom>
                                <a:noFill/>
                                <a:ln w="9525">
                                  <a:noFill/>
                                  <a:miter lim="800000"/>
                                  <a:headEnd/>
                                  <a:tailEnd/>
                                </a:ln>
                              </p:spPr>
                              <p:txBody>
                                <a:bodyPr vert="horz" wrap="square" lIns="91440" tIns="45720" rIns="91440" bIns="45720" numCol="1" anchor="t" anchorCtr="0" compatLnSpc="1">
                                  <a:prstTxWarp prst="textNoShape">
                                    <a:avLst/>
                                  </a:prstTxWarp>
                                </a:bodyPr>
                                <a:lstStyle/>
                                <a:p>
                                  <a:pPr algn="ctr"/>
                                  <a:r>
                                    <a:rPr kumimoji="0" lang="en-US" altLang="zh-CN" sz="1600" b="1" dirty="0" err="1">
                                      <a:solidFill>
                                        <a:srgbClr val="000000"/>
                                      </a:solidFill>
                                      <a:latin typeface="+mn-lt"/>
                                      <a:ea typeface="楷体" pitchFamily="49" charset="-122"/>
                                      <a:cs typeface="宋体" pitchFamily="2" charset="-122"/>
                                    </a:rPr>
                                    <a:t>i</a:t>
                                  </a:r>
                                  <a:r>
                                    <a:rPr kumimoji="0" lang="en-US" altLang="zh-CN" sz="1600" b="1" dirty="0">
                                      <a:solidFill>
                                        <a:srgbClr val="000000"/>
                                      </a:solidFill>
                                      <a:latin typeface="+mn-lt"/>
                                      <a:ea typeface="楷体" pitchFamily="49" charset="-122"/>
                                      <a:cs typeface="宋体" pitchFamily="2" charset="-122"/>
                                    </a:rPr>
                                    <a:t>==4</a:t>
                                  </a:r>
                                  <a:endParaRPr kumimoji="0" lang="zh-CN" altLang="zh-CN" sz="1600" b="1" dirty="0">
                                    <a:latin typeface="+mn-lt"/>
                                    <a:ea typeface="楷体" pitchFamily="49" charset="-122"/>
                                    <a:cs typeface="宋体" pitchFamily="2" charset="-122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1073" name="文本框 2"/>
                                <p:cNvSpPr txBox="1"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1471" y="10312"/>
                                  <a:ext cx="5397" cy="1391"/>
                                </a:xfrm>
                                <a:prstGeom prst="rect">
                                  <a:avLst/>
                                </a:prstGeom>
                                <a:noFill/>
                                <a:ln w="9525">
                                  <a:noFill/>
                                  <a:miter lim="800000"/>
                                  <a:headEnd/>
                                  <a:tailEnd/>
                                </a:ln>
                              </p:spPr>
                              <p:txBody>
                                <a:bodyPr vert="horz" wrap="square" lIns="91440" tIns="45720" rIns="91440" bIns="45720" numCol="1" anchor="t" anchorCtr="0" compatLnSpc="1">
                                  <a:prstTxWarp prst="textNoShape">
                                    <a:avLst/>
                                  </a:prstTxWarp>
                                </a:bodyPr>
                                <a:lstStyle/>
                                <a:p>
                                  <a:pPr algn="ctr"/>
                                  <a:r>
                                    <a:rPr kumimoji="0" lang="en-US" altLang="zh-CN" sz="1600" b="1" dirty="0">
                                      <a:solidFill>
                                        <a:srgbClr val="000000"/>
                                      </a:solidFill>
                                      <a:latin typeface="+mn-lt"/>
                                      <a:ea typeface="楷体" pitchFamily="49" charset="-122"/>
                                      <a:cs typeface="宋体" pitchFamily="2" charset="-122"/>
                                    </a:rPr>
                                    <a:t>n=n+1</a:t>
                                  </a:r>
                                </a:p>
                                <a:p>
                                  <a:endParaRPr kumimoji="0" lang="zh-CN" altLang="zh-CN" sz="1600" b="1" dirty="0">
                                    <a:latin typeface="+mn-lt"/>
                                    <a:ea typeface="楷体" pitchFamily="49" charset="-122"/>
                                    <a:cs typeface="宋体" pitchFamily="2" charset="-122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1074" name="文本框 2"/>
                                <p:cNvSpPr txBox="1"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633" y="11606"/>
                                  <a:ext cx="7241" cy="1752"/>
                                </a:xfrm>
                                <a:prstGeom prst="rect">
                                  <a:avLst/>
                                </a:prstGeom>
                                <a:noFill/>
                                <a:ln w="9525">
                                  <a:noFill/>
                                  <a:miter lim="800000"/>
                                  <a:headEnd/>
                                  <a:tailEnd/>
                                </a:ln>
                              </p:spPr>
                              <p:txBody>
                                <a:bodyPr vert="horz" wrap="square" lIns="91440" tIns="45720" rIns="91440" bIns="45720" numCol="1" anchor="t" anchorCtr="0" compatLnSpc="1">
                                  <a:prstTxWarp prst="textNoShape">
                                    <a:avLst/>
                                  </a:prstTxWarp>
                                </a:bodyPr>
                                <a:lstStyle/>
                                <a:p>
                                  <a:pPr algn="ctr"/>
                                  <a:r>
                                    <a:rPr kumimoji="0" lang="zh-CN" altLang="en-US" sz="1600" b="1" dirty="0">
                                      <a:solidFill>
                                        <a:srgbClr val="000000"/>
                                      </a:solidFill>
                                      <a:latin typeface="+mn-lt"/>
                                      <a:ea typeface="楷体" pitchFamily="49" charset="-122"/>
                                      <a:cs typeface="宋体" pitchFamily="2" charset="-122"/>
                                    </a:rPr>
                                    <a:t>输出方案</a:t>
                                  </a:r>
                                  <a:r>
                                    <a:rPr kumimoji="0" lang="en-US" altLang="zh-CN" sz="1600" b="1" dirty="0">
                                      <a:solidFill>
                                        <a:srgbClr val="000000"/>
                                      </a:solidFill>
                                      <a:latin typeface="+mn-lt"/>
                                      <a:ea typeface="楷体" pitchFamily="49" charset="-122"/>
                                      <a:cs typeface="宋体" pitchFamily="2" charset="-122"/>
                                    </a:rPr>
                                    <a:t>n</a:t>
                                  </a:r>
                                </a:p>
                                <a:p>
                                  <a:endParaRPr kumimoji="0" lang="zh-CN" altLang="zh-CN" sz="1600" b="1" dirty="0">
                                    <a:latin typeface="+mn-lt"/>
                                    <a:ea typeface="楷体" pitchFamily="49" charset="-122"/>
                                    <a:cs typeface="宋体" pitchFamily="2" charset="-122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1075" name="文本框 2"/>
                                <p:cNvSpPr txBox="1"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2096" y="6192"/>
                                  <a:ext cx="11424" cy="1687"/>
                                </a:xfrm>
                                <a:prstGeom prst="rect">
                                  <a:avLst/>
                                </a:prstGeom>
                                <a:noFill/>
                                <a:ln w="9525">
                                  <a:noFill/>
                                  <a:miter lim="800000"/>
                                  <a:headEnd/>
                                  <a:tailEnd/>
                                </a:ln>
                              </p:spPr>
                              <p:txBody>
                                <a:bodyPr vert="horz" wrap="square" lIns="91440" tIns="45720" rIns="91440" bIns="45720" numCol="1" anchor="t" anchorCtr="0" compatLnSpc="1">
                                  <a:prstTxWarp prst="textNoShape">
                                    <a:avLst/>
                                  </a:prstTxWarp>
                                </a:bodyPr>
                                <a:lstStyle/>
                                <a:p>
                                  <a:pPr algn="ctr"/>
                                  <a:r>
                                    <a:rPr kumimoji="0" lang="en-US" altLang="zh-CN" sz="1600" b="1" dirty="0">
                                      <a:solidFill>
                                        <a:srgbClr val="000000"/>
                                      </a:solidFill>
                                      <a:latin typeface="+mn-lt"/>
                                      <a:ea typeface="楷体" pitchFamily="49" charset="-122"/>
                                      <a:cs typeface="宋体" pitchFamily="2" charset="-122"/>
                                    </a:rPr>
                                    <a:t>book[j]=1   </a:t>
                                  </a:r>
                                  <a:r>
                                    <a:rPr kumimoji="0" lang="en-US" altLang="zh-CN" sz="1600" b="1" dirty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+mn-lt"/>
                                      <a:ea typeface="楷体" pitchFamily="49" charset="-122"/>
                                      <a:cs typeface="宋体" pitchFamily="2" charset="-122"/>
                                    </a:rPr>
                                    <a:t>//j</a:t>
                                  </a:r>
                                  <a:r>
                                    <a:rPr kumimoji="0" lang="zh-CN" altLang="en-US" sz="1600" b="1" dirty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+mn-lt"/>
                                      <a:ea typeface="楷体" pitchFamily="49" charset="-122"/>
                                      <a:cs typeface="宋体" pitchFamily="2" charset="-122"/>
                                    </a:rPr>
                                    <a:t>书已分</a:t>
                                  </a:r>
                                </a:p>
                              </p:txBody>
                            </p:sp>
                            <p:sp>
                              <p:nvSpPr>
                                <p:cNvPr id="1076" name="文本框 2"/>
                                <p:cNvSpPr txBox="1"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8784" y="10347"/>
                                  <a:ext cx="5947" cy="1664"/>
                                </a:xfrm>
                                <a:prstGeom prst="rect">
                                  <a:avLst/>
                                </a:prstGeom>
                                <a:noFill/>
                                <a:ln w="9525">
                                  <a:noFill/>
                                  <a:miter lim="800000"/>
                                  <a:headEnd/>
                                  <a:tailEnd/>
                                </a:ln>
                              </p:spPr>
                              <p:txBody>
                                <a:bodyPr vert="horz" wrap="square" lIns="91440" tIns="45720" rIns="91440" bIns="45720" numCol="1" anchor="t" anchorCtr="0" compatLnSpc="1">
                                  <a:prstTxWarp prst="textNoShape">
                                    <a:avLst/>
                                  </a:prstTxWarp>
                                </a:bodyPr>
                                <a:lstStyle/>
                                <a:p>
                                  <a:pPr algn="ctr"/>
                                  <a:r>
                                    <a:rPr kumimoji="0" lang="en-US" altLang="zh-CN" sz="1600" b="1" dirty="0">
                                      <a:solidFill>
                                        <a:srgbClr val="000000"/>
                                      </a:solidFill>
                                      <a:latin typeface="+mn-lt"/>
                                      <a:ea typeface="楷体" pitchFamily="49" charset="-122"/>
                                      <a:cs typeface="宋体" pitchFamily="2" charset="-122"/>
                                    </a:rPr>
                                    <a:t>Try(i+1) </a:t>
                                  </a:r>
                                </a:p>
                                <a:p>
                                  <a:endParaRPr kumimoji="0" lang="zh-CN" altLang="zh-CN" sz="1600" b="1" dirty="0">
                                    <a:latin typeface="+mn-lt"/>
                                    <a:ea typeface="楷体" pitchFamily="49" charset="-122"/>
                                    <a:cs typeface="宋体" pitchFamily="2" charset="-122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1077" name="文本框 2"/>
                                <p:cNvSpPr txBox="1"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2241" y="14277"/>
                                  <a:ext cx="12019" cy="1860"/>
                                </a:xfrm>
                                <a:prstGeom prst="rect">
                                  <a:avLst/>
                                </a:prstGeom>
                                <a:noFill/>
                                <a:ln w="9525">
                                  <a:noFill/>
                                  <a:miter lim="800000"/>
                                  <a:headEnd/>
                                  <a:tailEnd/>
                                </a:ln>
                              </p:spPr>
                              <p:txBody>
                                <a:bodyPr vert="horz" wrap="square" lIns="91440" tIns="45720" rIns="91440" bIns="45720" numCol="1" anchor="t" anchorCtr="0" compatLnSpc="1">
                                  <a:prstTxWarp prst="textNoShape">
                                    <a:avLst/>
                                  </a:prstTxWarp>
                                </a:bodyPr>
                                <a:lstStyle/>
                                <a:p>
                                  <a:pPr algn="ctr"/>
                                  <a:r>
                                    <a:rPr kumimoji="0" lang="en-US" altLang="zh-CN" sz="1600" b="1" dirty="0">
                                      <a:solidFill>
                                        <a:srgbClr val="000000"/>
                                      </a:solidFill>
                                      <a:latin typeface="+mn-lt"/>
                                      <a:ea typeface="楷体" pitchFamily="49" charset="-122"/>
                                      <a:cs typeface="宋体" pitchFamily="2" charset="-122"/>
                                    </a:rPr>
                                    <a:t>book[j]=0   </a:t>
                                  </a:r>
                                  <a:r>
                                    <a:rPr kumimoji="0" lang="en-US" altLang="zh-CN" sz="1600" b="1" dirty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+mn-lt"/>
                                      <a:ea typeface="楷体" pitchFamily="49" charset="-122"/>
                                      <a:cs typeface="宋体" pitchFamily="2" charset="-122"/>
                                    </a:rPr>
                                    <a:t>//</a:t>
                                  </a:r>
                                  <a:r>
                                    <a:rPr kumimoji="0" lang="zh-CN" altLang="en-US" sz="1600" b="1" dirty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+mn-lt"/>
                                      <a:ea typeface="楷体" pitchFamily="49" charset="-122"/>
                                      <a:cs typeface="宋体" pitchFamily="2" charset="-122"/>
                                    </a:rPr>
                                    <a:t>书</a:t>
                                  </a:r>
                                  <a:r>
                                    <a:rPr kumimoji="0" lang="en-US" altLang="zh-CN" sz="1600" b="1" dirty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+mn-lt"/>
                                      <a:ea typeface="楷体" pitchFamily="49" charset="-122"/>
                                      <a:cs typeface="宋体" pitchFamily="2" charset="-122"/>
                                    </a:rPr>
                                    <a:t>j</a:t>
                                  </a:r>
                                  <a:r>
                                    <a:rPr kumimoji="0" lang="zh-CN" altLang="en-US" sz="1600" b="1" dirty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+mn-lt"/>
                                      <a:ea typeface="楷体" pitchFamily="49" charset="-122"/>
                                      <a:cs typeface="宋体" pitchFamily="2" charset="-122"/>
                                    </a:rPr>
                                    <a:t>待选</a:t>
                                  </a:r>
                                </a:p>
                                <a:p>
                                  <a:endParaRPr kumimoji="0" lang="zh-CN" altLang="en-US" sz="1600" b="1" dirty="0">
                                    <a:latin typeface="+mn-lt"/>
                                    <a:ea typeface="楷体" pitchFamily="49" charset="-122"/>
                                    <a:cs typeface="宋体" pitchFamily="2" charset="-122"/>
                                  </a:endParaRPr>
                                </a:p>
                              </p:txBody>
                            </p:sp>
                          </p:grpSp>
                        </p:grpSp>
                        <p:sp>
                          <p:nvSpPr>
                            <p:cNvPr id="1082" name="直接连接符 1082"/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>
                              <a:off x="3423" y="10303"/>
                              <a:ext cx="15240" cy="0"/>
                            </a:xfrm>
                            <a:prstGeom prst="line">
                              <a:avLst/>
                            </a:prstGeom>
                            <a:noFill/>
                            <a:ln w="19050">
                              <a:solidFill>
                                <a:srgbClr val="0070C0"/>
                              </a:solidFill>
                              <a:miter lim="800000"/>
                              <a:headEnd/>
                              <a:tailEnd/>
                            </a:ln>
                          </p:spPr>
                          <p:txBody>
                            <a:bodyPr vert="horz" wrap="square" lIns="91440" tIns="45720" rIns="91440" bIns="45720" numCol="1" anchor="t" anchorCtr="0" compatLnSpc="1">
                              <a:prstTxWarp prst="textNoShape">
                                <a:avLst/>
                              </a:prstTxWarp>
                            </a:bodyPr>
                            <a:lstStyle/>
                            <a:p>
                              <a:endParaRPr lang="zh-CN" altLang="en-US" sz="1600" b="1">
                                <a:latin typeface="+mn-lt"/>
                                <a:ea typeface="楷体" pitchFamily="49" charset="-122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084" name="直接连接符 1084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5016" y="2603"/>
                            <a:ext cx="5080" cy="2307"/>
                          </a:xfrm>
                          <a:prstGeom prst="line">
                            <a:avLst/>
                          </a:prstGeom>
                          <a:noFill/>
                          <a:ln w="19050">
                            <a:solidFill>
                              <a:srgbClr val="0070C0"/>
                            </a:solidFill>
                            <a:miter lim="800000"/>
                            <a:headEnd/>
                            <a:tailEnd/>
                          </a:ln>
                        </p:spPr>
                        <p:txBody>
                          <a:bodyPr vert="horz" wrap="square" lIns="91440" tIns="45720" rIns="91440" bIns="45720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zh-CN" altLang="en-US" sz="1600" b="1">
                              <a:latin typeface="+mn-lt"/>
                              <a:ea typeface="楷体" pitchFamily="49" charset="-122"/>
                            </a:endParaRPr>
                          </a:p>
                        </p:txBody>
                      </p:sp>
                      <p:sp>
                        <p:nvSpPr>
                          <p:cNvPr id="1085" name="直接连接符 1085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20288" y="2603"/>
                            <a:ext cx="3258" cy="2342"/>
                          </a:xfrm>
                          <a:prstGeom prst="line">
                            <a:avLst/>
                          </a:prstGeom>
                          <a:noFill/>
                          <a:ln w="19050">
                            <a:solidFill>
                              <a:srgbClr val="0070C0"/>
                            </a:solidFill>
                            <a:miter lim="800000"/>
                            <a:headEnd/>
                            <a:tailEnd/>
                          </a:ln>
                        </p:spPr>
                        <p:txBody>
                          <a:bodyPr vert="horz" wrap="square" lIns="91440" tIns="45720" rIns="91440" bIns="45720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zh-CN" altLang="en-US" sz="1600" b="1">
                              <a:latin typeface="+mn-lt"/>
                              <a:ea typeface="楷体" pitchFamily="49" charset="-122"/>
                            </a:endParaRPr>
                          </a:p>
                        </p:txBody>
                      </p:sp>
                    </p:grpSp>
                    <p:sp>
                      <p:nvSpPr>
                        <p:cNvPr id="1086" name="直接连接符 1086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0320" y="4984"/>
                          <a:ext cx="0" cy="11958"/>
                        </a:xfrm>
                        <a:prstGeom prst="line">
                          <a:avLst/>
                        </a:prstGeom>
                        <a:noFill/>
                        <a:ln w="19050">
                          <a:solidFill>
                            <a:srgbClr val="0070C0"/>
                          </a:solidFill>
                          <a:miter lim="800000"/>
                          <a:headEnd/>
                          <a:tailEnd/>
                        </a:ln>
                      </p:spPr>
                      <p:txBody>
                        <a:bodyPr vert="horz" wrap="square" lIns="91440" tIns="45720" rIns="91440" bIns="45720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zh-CN" altLang="en-US" sz="1600" b="1">
                            <a:latin typeface="+mn-lt"/>
                            <a:ea typeface="楷体" pitchFamily="49" charset="-122"/>
                          </a:endParaRPr>
                        </a:p>
                      </p:txBody>
                    </p:sp>
                  </p:grpSp>
                  <p:sp>
                    <p:nvSpPr>
                      <p:cNvPr id="258" name="文本框 2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20527" y="7501"/>
                        <a:ext cx="2720" cy="417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algn="ctr"/>
                        <a:r>
                          <a:rPr kumimoji="0" lang="zh-CN" altLang="en-US" sz="1600" b="1" dirty="0">
                            <a:solidFill>
                              <a:srgbClr val="000000"/>
                            </a:solidFill>
                            <a:latin typeface="+mn-lt"/>
                            <a:ea typeface="楷体" pitchFamily="49" charset="-122"/>
                            <a:cs typeface="宋体" pitchFamily="2" charset="-122"/>
                          </a:rPr>
                          <a:t>什么也不做</a:t>
                        </a:r>
                        <a:endParaRPr kumimoji="0" lang="zh-CN" altLang="en-US" sz="1600" b="1" dirty="0">
                          <a:latin typeface="+mn-lt"/>
                          <a:ea typeface="楷体" pitchFamily="49" charset="-122"/>
                          <a:cs typeface="宋体" pitchFamily="2" charset="-122"/>
                        </a:endParaRPr>
                      </a:p>
                    </p:txBody>
                  </p:sp>
                </p:grpSp>
              </p:grpSp>
              <p:sp>
                <p:nvSpPr>
                  <p:cNvPr id="1091" name="Text Box 4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04" y="551"/>
                    <a:ext cx="8472" cy="146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algn="ctr"/>
                    <a:r>
                      <a:rPr kumimoji="0" lang="en-US" altLang="zh-CN" sz="1600" b="1" dirty="0">
                        <a:solidFill>
                          <a:srgbClr val="C00000"/>
                        </a:solidFill>
                        <a:latin typeface="+mn-lt"/>
                        <a:ea typeface="楷体" pitchFamily="49" charset="-122"/>
                        <a:cs typeface="宋体" pitchFamily="2" charset="-122"/>
                      </a:rPr>
                      <a:t>void Try(</a:t>
                    </a:r>
                    <a:r>
                      <a:rPr kumimoji="0" lang="en-US" altLang="zh-CN" sz="1600" b="1" dirty="0" err="1">
                        <a:solidFill>
                          <a:srgbClr val="C00000"/>
                        </a:solidFill>
                        <a:latin typeface="+mn-lt"/>
                        <a:ea typeface="楷体" pitchFamily="49" charset="-122"/>
                        <a:cs typeface="宋体" pitchFamily="2" charset="-122"/>
                      </a:rPr>
                      <a:t>int</a:t>
                    </a:r>
                    <a:r>
                      <a:rPr kumimoji="0" lang="en-US" altLang="zh-CN" sz="1600" b="1" dirty="0">
                        <a:solidFill>
                          <a:srgbClr val="C00000"/>
                        </a:solidFill>
                        <a:latin typeface="+mn-lt"/>
                        <a:ea typeface="楷体" pitchFamily="49" charset="-122"/>
                        <a:cs typeface="宋体" pitchFamily="2" charset="-122"/>
                      </a:rPr>
                      <a:t> </a:t>
                    </a:r>
                    <a:r>
                      <a:rPr kumimoji="0" lang="en-US" altLang="zh-CN" sz="1600" b="1" dirty="0" err="1">
                        <a:solidFill>
                          <a:srgbClr val="C00000"/>
                        </a:solidFill>
                        <a:latin typeface="+mn-lt"/>
                        <a:ea typeface="楷体" pitchFamily="49" charset="-122"/>
                        <a:cs typeface="宋体" pitchFamily="2" charset="-122"/>
                      </a:rPr>
                      <a:t>i</a:t>
                    </a:r>
                    <a:r>
                      <a:rPr kumimoji="0" lang="en-US" altLang="zh-CN" sz="1600" b="1" dirty="0">
                        <a:solidFill>
                          <a:srgbClr val="C00000"/>
                        </a:solidFill>
                        <a:latin typeface="+mn-lt"/>
                        <a:ea typeface="楷体" pitchFamily="49" charset="-122"/>
                        <a:cs typeface="宋体" pitchFamily="2" charset="-122"/>
                      </a:rPr>
                      <a:t>)</a:t>
                    </a:r>
                  </a:p>
                  <a:p>
                    <a:pPr algn="ctr"/>
                    <a:endParaRPr kumimoji="0" lang="en-US" altLang="zh-CN" sz="1600" b="1" dirty="0">
                      <a:solidFill>
                        <a:srgbClr val="C00000"/>
                      </a:solidFill>
                      <a:latin typeface="+mn-lt"/>
                      <a:ea typeface="楷体" pitchFamily="49" charset="-122"/>
                      <a:cs typeface="宋体" pitchFamily="2" charset="-122"/>
                    </a:endParaRPr>
                  </a:p>
                  <a:p>
                    <a:endParaRPr kumimoji="0" lang="zh-CN" altLang="zh-CN" sz="1600" b="1" dirty="0">
                      <a:solidFill>
                        <a:srgbClr val="C00000"/>
                      </a:solidFill>
                      <a:latin typeface="+mn-lt"/>
                      <a:ea typeface="楷体" pitchFamily="49" charset="-122"/>
                      <a:cs typeface="宋体" pitchFamily="2" charset="-122"/>
                    </a:endParaRPr>
                  </a:p>
                </p:txBody>
              </p:sp>
            </p:grpSp>
            <p:sp>
              <p:nvSpPr>
                <p:cNvPr id="1093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5462" y="5388"/>
                  <a:ext cx="1784" cy="148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algn="just"/>
                  <a:r>
                    <a:rPr kumimoji="0" lang="en-US" altLang="zh-CN" sz="1600" b="1" dirty="0">
                      <a:latin typeface="+mn-lt"/>
                      <a:ea typeface="楷体" pitchFamily="49" charset="-122"/>
                      <a:cs typeface="宋体" pitchFamily="2" charset="-122"/>
                    </a:rPr>
                    <a:t>T</a:t>
                  </a:r>
                  <a:endParaRPr kumimoji="0" lang="zh-CN" altLang="zh-CN" sz="1600" b="1" dirty="0">
                    <a:latin typeface="+mn-lt"/>
                    <a:ea typeface="楷体" pitchFamily="49" charset="-122"/>
                    <a:cs typeface="宋体" pitchFamily="2" charset="-122"/>
                  </a:endParaRPr>
                </a:p>
              </p:txBody>
            </p:sp>
            <p:sp>
              <p:nvSpPr>
                <p:cNvPr id="1094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21834" y="5510"/>
                  <a:ext cx="1751" cy="165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algn="just"/>
                  <a:r>
                    <a:rPr kumimoji="0" lang="en-US" altLang="zh-CN" sz="1600" b="1" dirty="0">
                      <a:latin typeface="+mn-lt"/>
                      <a:ea typeface="楷体" pitchFamily="49" charset="-122"/>
                      <a:cs typeface="宋体" pitchFamily="2" charset="-122"/>
                    </a:rPr>
                    <a:t>F</a:t>
                  </a:r>
                  <a:endParaRPr kumimoji="0" lang="zh-CN" altLang="zh-CN" sz="1600" b="1" dirty="0">
                    <a:latin typeface="+mn-lt"/>
                    <a:ea typeface="楷体" pitchFamily="49" charset="-122"/>
                    <a:cs typeface="宋体" pitchFamily="2" charset="-122"/>
                  </a:endParaRPr>
                </a:p>
              </p:txBody>
            </p:sp>
          </p:grpSp>
          <p:sp>
            <p:nvSpPr>
              <p:cNvPr id="109" name="Text Box 19"/>
              <p:cNvSpPr txBox="1">
                <a:spLocks noChangeArrowheads="1"/>
              </p:cNvSpPr>
              <p:nvPr/>
            </p:nvSpPr>
            <p:spPr bwMode="auto">
              <a:xfrm>
                <a:off x="3574036" y="4509665"/>
                <a:ext cx="318432" cy="29071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just"/>
                <a:r>
                  <a:rPr kumimoji="0" lang="en-US" altLang="zh-CN" sz="1600" b="1" dirty="0">
                    <a:latin typeface="+mn-lt"/>
                    <a:ea typeface="楷体" pitchFamily="49" charset="-122"/>
                    <a:cs typeface="宋体" pitchFamily="2" charset="-122"/>
                  </a:rPr>
                  <a:t>T</a:t>
                </a:r>
                <a:endParaRPr kumimoji="0" lang="zh-CN" altLang="zh-CN" sz="1600" b="1" dirty="0">
                  <a:latin typeface="+mn-lt"/>
                  <a:ea typeface="楷体" pitchFamily="49" charset="-122"/>
                  <a:cs typeface="宋体" pitchFamily="2" charset="-122"/>
                </a:endParaRPr>
              </a:p>
            </p:txBody>
          </p:sp>
          <p:sp>
            <p:nvSpPr>
              <p:cNvPr id="110" name="Text Box 19"/>
              <p:cNvSpPr txBox="1">
                <a:spLocks noChangeArrowheads="1"/>
              </p:cNvSpPr>
              <p:nvPr/>
            </p:nvSpPr>
            <p:spPr bwMode="auto">
              <a:xfrm>
                <a:off x="5878665" y="4498402"/>
                <a:ext cx="312542" cy="32521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just"/>
                <a:r>
                  <a:rPr kumimoji="0" lang="en-US" altLang="zh-CN" sz="1600" b="1" dirty="0">
                    <a:latin typeface="+mn-lt"/>
                    <a:ea typeface="楷体" pitchFamily="49" charset="-122"/>
                    <a:cs typeface="宋体" pitchFamily="2" charset="-122"/>
                  </a:rPr>
                  <a:t>F</a:t>
                </a:r>
                <a:endParaRPr kumimoji="0" lang="zh-CN" altLang="zh-CN" sz="1600" b="1" dirty="0">
                  <a:latin typeface="+mn-lt"/>
                  <a:ea typeface="楷体" pitchFamily="49" charset="-122"/>
                  <a:cs typeface="宋体" pitchFamily="2" charset="-122"/>
                </a:endParaRPr>
              </a:p>
            </p:txBody>
          </p:sp>
          <p:sp>
            <p:nvSpPr>
              <p:cNvPr id="111" name="文本框 2"/>
              <p:cNvSpPr txBox="1">
                <a:spLocks noChangeArrowheads="1"/>
              </p:cNvSpPr>
              <p:nvPr/>
            </p:nvSpPr>
            <p:spPr bwMode="auto">
              <a:xfrm>
                <a:off x="4871606" y="5106719"/>
                <a:ext cx="1428760" cy="3433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kumimoji="0" lang="en-US" altLang="zh-CN" sz="1600" b="1" dirty="0">
                    <a:solidFill>
                      <a:schemeClr val="accent1">
                        <a:lumMod val="50000"/>
                      </a:schemeClr>
                    </a:solidFill>
                    <a:latin typeface="+mn-lt"/>
                    <a:ea typeface="楷体" pitchFamily="49" charset="-122"/>
                    <a:cs typeface="宋体" pitchFamily="2" charset="-122"/>
                  </a:rPr>
                  <a:t>//</a:t>
                </a:r>
                <a:r>
                  <a:rPr kumimoji="0" lang="zh-CN" altLang="en-US" sz="1600" b="1" dirty="0">
                    <a:solidFill>
                      <a:schemeClr val="accent1">
                        <a:lumMod val="50000"/>
                      </a:schemeClr>
                    </a:solidFill>
                    <a:latin typeface="+mn-lt"/>
                    <a:ea typeface="楷体" pitchFamily="49" charset="-122"/>
                    <a:cs typeface="宋体" pitchFamily="2" charset="-122"/>
                  </a:rPr>
                  <a:t>试分下一人</a:t>
                </a:r>
                <a:endParaRPr kumimoji="0" lang="en-US" altLang="zh-CN" sz="1600" b="1" dirty="0">
                  <a:solidFill>
                    <a:schemeClr val="accent1">
                      <a:lumMod val="50000"/>
                    </a:schemeClr>
                  </a:solidFill>
                  <a:latin typeface="+mn-lt"/>
                  <a:ea typeface="楷体" pitchFamily="49" charset="-122"/>
                  <a:cs typeface="宋体" pitchFamily="2" charset="-122"/>
                </a:endParaRPr>
              </a:p>
              <a:p>
                <a:endParaRPr kumimoji="0" lang="zh-CN" altLang="zh-CN" sz="1600" b="1" dirty="0">
                  <a:solidFill>
                    <a:schemeClr val="accent1">
                      <a:lumMod val="50000"/>
                    </a:schemeClr>
                  </a:solidFill>
                  <a:latin typeface="+mn-lt"/>
                  <a:ea typeface="楷体" pitchFamily="49" charset="-122"/>
                  <a:cs typeface="宋体" pitchFamily="2" charset="-122"/>
                </a:endParaRPr>
              </a:p>
            </p:txBody>
          </p:sp>
        </p:grpSp>
      </p:grp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3" dur="2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AF9406A2-52FC-42F4-8767-0DA62AC39D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368" y="836712"/>
            <a:ext cx="1127852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indent="304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【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4】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分书问题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717127D1-C3C8-4752-8BD1-C8F8540DF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8.6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函数的嵌套与递归调用</a:t>
            </a:r>
          </a:p>
        </p:txBody>
      </p:sp>
      <p:sp>
        <p:nvSpPr>
          <p:cNvPr id="1108995" name="Rectangle 3" descr="信纸"/>
          <p:cNvSpPr>
            <a:spLocks noChangeArrowheads="1"/>
          </p:cNvSpPr>
          <p:nvPr/>
        </p:nvSpPr>
        <p:spPr bwMode="auto">
          <a:xfrm>
            <a:off x="767408" y="2163106"/>
            <a:ext cx="4536503" cy="4401205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62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eaLnBrk="0" hangingPunct="0"/>
            <a:r>
              <a:rPr lang="en-US" altLang="zh-CN" sz="2000" b="1" dirty="0"/>
              <a:t>#include &lt;</a:t>
            </a:r>
            <a:r>
              <a:rPr lang="en-US" altLang="zh-CN" sz="2000" b="1" dirty="0" err="1"/>
              <a:t>stdio.h</a:t>
            </a:r>
            <a:r>
              <a:rPr lang="en-US" altLang="zh-CN" sz="2000" b="1" dirty="0"/>
              <a:t>&gt;</a:t>
            </a:r>
          </a:p>
          <a:p>
            <a:pPr eaLnBrk="0" hangingPunct="0"/>
            <a:r>
              <a:rPr lang="en-US" altLang="zh-CN" sz="2000" b="1" dirty="0" err="1"/>
              <a:t>int</a:t>
            </a:r>
            <a:r>
              <a:rPr lang="en-US" altLang="zh-CN" sz="2000" b="1" dirty="0"/>
              <a:t> take[5], n = 0;</a:t>
            </a:r>
          </a:p>
          <a:p>
            <a:pPr eaLnBrk="0" hangingPunct="0"/>
            <a:r>
              <a:rPr lang="en-US" altLang="zh-CN" sz="2000" b="1" dirty="0" err="1"/>
              <a:t>int</a:t>
            </a:r>
            <a:r>
              <a:rPr lang="en-US" altLang="zh-CN" sz="2000" b="1" dirty="0"/>
              <a:t> like[5][5] = { {0,0,1,1,0}, {1,1,0,0,1}, </a:t>
            </a:r>
          </a:p>
          <a:p>
            <a:pPr eaLnBrk="0" hangingPunct="0"/>
            <a:r>
              <a:rPr lang="en-US" altLang="zh-CN" sz="2000" b="1" dirty="0"/>
              <a:t>                            {0,1,1,0,1}, {0,0,0,1,0}, </a:t>
            </a:r>
          </a:p>
          <a:p>
            <a:pPr eaLnBrk="0" hangingPunct="0"/>
            <a:r>
              <a:rPr lang="en-US" altLang="zh-CN" sz="2000" b="1" dirty="0"/>
              <a:t>                            {0,1,0,0,1} };</a:t>
            </a:r>
          </a:p>
          <a:p>
            <a:pPr eaLnBrk="0" hangingPunct="0"/>
            <a:r>
              <a:rPr lang="en-US" altLang="zh-CN" sz="2000" b="1" dirty="0" err="1"/>
              <a:t>int</a:t>
            </a:r>
            <a:r>
              <a:rPr lang="en-US" altLang="zh-CN" sz="2000" b="1" dirty="0"/>
              <a:t> book[5] = {0,0,0,0,0};</a:t>
            </a:r>
          </a:p>
          <a:p>
            <a:pPr eaLnBrk="0" hangingPunct="0"/>
            <a:endParaRPr lang="en-US" altLang="zh-CN" sz="2000" b="1" dirty="0"/>
          </a:p>
          <a:p>
            <a:pPr eaLnBrk="0" hangingPunct="0"/>
            <a:r>
              <a:rPr lang="en-US" altLang="zh-CN" sz="2000" b="1" dirty="0"/>
              <a:t>void Try(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</a:t>
            </a:r>
            <a:r>
              <a:rPr lang="en-US" altLang="zh-CN" sz="2000" b="1" dirty="0" err="1"/>
              <a:t>i</a:t>
            </a:r>
            <a:r>
              <a:rPr lang="en-US" altLang="zh-CN" sz="2000" b="1" dirty="0"/>
              <a:t>);</a:t>
            </a:r>
          </a:p>
          <a:p>
            <a:pPr eaLnBrk="0" hangingPunct="0"/>
            <a:endParaRPr lang="en-US" altLang="zh-CN" sz="2000" b="1" dirty="0"/>
          </a:p>
          <a:p>
            <a:pPr eaLnBrk="0" hangingPunct="0"/>
            <a:r>
              <a:rPr lang="en-US" altLang="zh-CN" sz="2000" b="1" dirty="0" err="1">
                <a:solidFill>
                  <a:srgbClr val="C00000"/>
                </a:solidFill>
              </a:rPr>
              <a:t>int</a:t>
            </a:r>
            <a:r>
              <a:rPr lang="en-US" altLang="zh-CN" sz="2000" b="1" dirty="0">
                <a:solidFill>
                  <a:srgbClr val="C00000"/>
                </a:solidFill>
              </a:rPr>
              <a:t> main(  )</a:t>
            </a:r>
          </a:p>
          <a:p>
            <a:pPr eaLnBrk="0" hangingPunct="0"/>
            <a:r>
              <a:rPr lang="en-US" altLang="zh-CN" sz="2000" b="1" dirty="0"/>
              <a:t>{</a:t>
            </a:r>
          </a:p>
          <a:p>
            <a:pPr eaLnBrk="0" hangingPunct="0"/>
            <a:r>
              <a:rPr lang="en-US" altLang="zh-CN" sz="2000" b="1" dirty="0"/>
              <a:t>  Try(0);</a:t>
            </a:r>
          </a:p>
          <a:p>
            <a:pPr eaLnBrk="0" hangingPunct="0"/>
            <a:r>
              <a:rPr lang="en-US" altLang="zh-CN" sz="2000" b="1" dirty="0"/>
              <a:t>  return 0;</a:t>
            </a:r>
          </a:p>
          <a:p>
            <a:pPr eaLnBrk="0" hangingPunct="0"/>
            <a:r>
              <a:rPr lang="en-US" altLang="zh-CN" sz="2000" b="1" dirty="0"/>
              <a:t>}</a:t>
            </a:r>
          </a:p>
        </p:txBody>
      </p:sp>
      <p:sp>
        <p:nvSpPr>
          <p:cNvPr id="28" name="Rectangle 3" descr="信纸"/>
          <p:cNvSpPr>
            <a:spLocks noChangeArrowheads="1"/>
          </p:cNvSpPr>
          <p:nvPr/>
        </p:nvSpPr>
        <p:spPr bwMode="auto">
          <a:xfrm>
            <a:off x="2783632" y="144498"/>
            <a:ext cx="6552728" cy="6524863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62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eaLnBrk="0" hangingPunct="0"/>
            <a:r>
              <a:rPr lang="en-US" altLang="zh-CN" sz="2000" b="1" dirty="0">
                <a:solidFill>
                  <a:srgbClr val="C00000"/>
                </a:solidFill>
              </a:rPr>
              <a:t>void Try(</a:t>
            </a:r>
            <a:r>
              <a:rPr lang="en-US" altLang="zh-CN" sz="2000" b="1" dirty="0" err="1">
                <a:solidFill>
                  <a:srgbClr val="C00000"/>
                </a:solidFill>
              </a:rPr>
              <a:t>int</a:t>
            </a:r>
            <a:r>
              <a:rPr lang="en-US" altLang="zh-CN" sz="2000" b="1" dirty="0">
                <a:solidFill>
                  <a:srgbClr val="C00000"/>
                </a:solidFill>
              </a:rPr>
              <a:t> </a:t>
            </a:r>
            <a:r>
              <a:rPr lang="en-US" altLang="zh-CN" sz="2000" b="1" dirty="0" err="1">
                <a:solidFill>
                  <a:srgbClr val="C00000"/>
                </a:solidFill>
              </a:rPr>
              <a:t>i</a:t>
            </a:r>
            <a:r>
              <a:rPr lang="en-US" altLang="zh-CN" sz="2000" b="1" dirty="0">
                <a:solidFill>
                  <a:srgbClr val="C00000"/>
                </a:solidFill>
              </a:rPr>
              <a:t>)</a:t>
            </a:r>
          </a:p>
          <a:p>
            <a:pPr eaLnBrk="0" hangingPunct="0"/>
            <a:r>
              <a:rPr lang="en-US" altLang="zh-CN" sz="2000" b="1" dirty="0"/>
              <a:t>{</a:t>
            </a:r>
          </a:p>
          <a:p>
            <a:pPr eaLnBrk="0" hangingPunct="0"/>
            <a:r>
              <a:rPr lang="en-US" altLang="zh-CN" sz="2000" b="1" dirty="0"/>
              <a:t>  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j, k;</a:t>
            </a:r>
          </a:p>
          <a:p>
            <a:pPr eaLnBrk="0" hangingPunct="0"/>
            <a:r>
              <a:rPr lang="en-US" altLang="zh-CN" sz="2000" b="1" dirty="0"/>
              <a:t>  for(j = 0; j &lt;=4; j++)   { 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//j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代表书号</a:t>
            </a:r>
            <a:endParaRPr lang="en-US" altLang="zh-CN" sz="2000" b="1" dirty="0">
              <a:solidFill>
                <a:srgbClr val="002060"/>
              </a:solidFill>
            </a:endParaRPr>
          </a:p>
          <a:p>
            <a:pPr eaLnBrk="0" hangingPunct="0"/>
            <a:r>
              <a:rPr lang="en-US" altLang="zh-CN" sz="2000" b="1" dirty="0"/>
              <a:t>      if (like[</a:t>
            </a:r>
            <a:r>
              <a:rPr lang="en-US" altLang="zh-CN" sz="2000" b="1" dirty="0" err="1"/>
              <a:t>i</a:t>
            </a:r>
            <a:r>
              <a:rPr lang="en-US" altLang="zh-CN" sz="2000" b="1" dirty="0"/>
              <a:t>][j] &gt; 0 &amp;&amp; book[j] == 0)   {  </a:t>
            </a:r>
          </a:p>
          <a:p>
            <a:pPr eaLnBrk="0" hangingPunct="0"/>
            <a:r>
              <a:rPr lang="en-US" altLang="zh-CN" sz="2000" b="1" dirty="0">
                <a:solidFill>
                  <a:srgbClr val="0000FF"/>
                </a:solidFill>
                <a:latin typeface="+mn-lt"/>
                <a:ea typeface="楷体" pitchFamily="49" charset="-122"/>
              </a:rPr>
              <a:t>                                      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en-US" altLang="zh-CN" sz="1800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i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喜欢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j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书，且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j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书未被分走</a:t>
            </a:r>
            <a:endParaRPr lang="en-US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  <a:p>
            <a:pPr eaLnBrk="0" hangingPunct="0"/>
            <a:r>
              <a:rPr lang="en-US" altLang="zh-CN" sz="2000" b="1" dirty="0"/>
              <a:t>          take[</a:t>
            </a:r>
            <a:r>
              <a:rPr lang="en-US" altLang="zh-CN" sz="2000" b="1" dirty="0" err="1"/>
              <a:t>i</a:t>
            </a:r>
            <a:r>
              <a:rPr lang="en-US" altLang="zh-CN" sz="2000" b="1" dirty="0"/>
              <a:t>] = j;  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//j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书分给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I</a:t>
            </a:r>
          </a:p>
          <a:p>
            <a:pPr eaLnBrk="0" hangingPunct="0"/>
            <a:r>
              <a:rPr lang="en-US" altLang="zh-CN" sz="1800" b="1" dirty="0">
                <a:solidFill>
                  <a:srgbClr val="0000FF"/>
                </a:solidFill>
                <a:latin typeface="+mn-lt"/>
                <a:ea typeface="楷体" pitchFamily="49" charset="-122"/>
              </a:rPr>
              <a:t>           </a:t>
            </a:r>
            <a:r>
              <a:rPr lang="en-US" altLang="zh-CN" sz="2000" b="1" dirty="0"/>
              <a:t>book[j] = 1;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记录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j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书已分</a:t>
            </a:r>
          </a:p>
          <a:p>
            <a:pPr eaLnBrk="0" hangingPunct="0"/>
            <a:r>
              <a:rPr lang="zh-CN" altLang="en-US" sz="2000" b="1" dirty="0"/>
              <a:t>          </a:t>
            </a:r>
            <a:r>
              <a:rPr lang="en-US" altLang="zh-CN" sz="2000" b="1" dirty="0"/>
              <a:t>if (</a:t>
            </a:r>
            <a:r>
              <a:rPr lang="en-US" altLang="zh-CN" sz="2000" b="1" dirty="0" err="1"/>
              <a:t>i</a:t>
            </a:r>
            <a:r>
              <a:rPr lang="en-US" altLang="zh-CN" sz="2000" b="1" dirty="0"/>
              <a:t> == 4)  {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如果</a:t>
            </a:r>
            <a:r>
              <a:rPr lang="en-US" altLang="zh-CN" sz="1800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i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==4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，输出分书方案 </a:t>
            </a:r>
            <a:endParaRPr lang="en-US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  <a:p>
            <a:pPr eaLnBrk="0" hangingPunct="0"/>
            <a:r>
              <a:rPr lang="en-US" altLang="zh-CN" sz="2000" b="1" dirty="0"/>
              <a:t>               n++;      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方案数加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1</a:t>
            </a:r>
          </a:p>
          <a:p>
            <a:pPr eaLnBrk="0" hangingPunct="0"/>
            <a:r>
              <a:rPr lang="en-US" altLang="zh-CN" sz="2000" b="1" dirty="0"/>
              <a:t>	</a:t>
            </a:r>
            <a:r>
              <a:rPr lang="en-US" altLang="zh-CN" sz="2000" b="1" dirty="0" err="1"/>
              <a:t>printf</a:t>
            </a:r>
            <a:r>
              <a:rPr lang="en-US" altLang="zh-CN" sz="2000" b="1" dirty="0"/>
              <a:t>("===</a:t>
            </a:r>
            <a:r>
              <a:rPr lang="zh-CN" altLang="en-US" sz="2000" b="1" dirty="0">
                <a:latin typeface="+mn-lt"/>
                <a:ea typeface="楷体" pitchFamily="49" charset="-122"/>
              </a:rPr>
              <a:t>第</a:t>
            </a:r>
            <a:r>
              <a:rPr lang="en-US" altLang="zh-CN" sz="2000" b="1" dirty="0">
                <a:latin typeface="+mn-lt"/>
                <a:ea typeface="楷体" pitchFamily="49" charset="-122"/>
              </a:rPr>
              <a:t>%d</a:t>
            </a:r>
            <a:r>
              <a:rPr lang="zh-CN" altLang="en-US" sz="2000" b="1" dirty="0">
                <a:latin typeface="+mn-lt"/>
                <a:ea typeface="楷体" pitchFamily="49" charset="-122"/>
              </a:rPr>
              <a:t>个方案</a:t>
            </a:r>
            <a:r>
              <a:rPr lang="en-US" altLang="zh-CN" sz="2000" b="1" dirty="0"/>
              <a:t>===\n", n);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输出方案号</a:t>
            </a:r>
          </a:p>
          <a:p>
            <a:pPr eaLnBrk="0" hangingPunct="0"/>
            <a:r>
              <a:rPr lang="zh-CN" altLang="en-US" sz="2000" b="1" dirty="0"/>
              <a:t>	</a:t>
            </a:r>
            <a:r>
              <a:rPr lang="en-US" altLang="zh-CN" sz="2000" b="1" dirty="0"/>
              <a:t>for(k = 0; k &lt;=4; k++) 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输出分书方案</a:t>
            </a:r>
          </a:p>
          <a:p>
            <a:pPr eaLnBrk="0" hangingPunct="0"/>
            <a:r>
              <a:rPr lang="zh-CN" altLang="en-US" sz="2000" b="1" dirty="0"/>
              <a:t>	    </a:t>
            </a:r>
            <a:r>
              <a:rPr lang="en-US" altLang="zh-CN" sz="2000" b="1" dirty="0" err="1"/>
              <a:t>printf</a:t>
            </a:r>
            <a:r>
              <a:rPr lang="en-US" altLang="zh-CN" sz="2000" b="1" dirty="0">
                <a:latin typeface="+mn-lt"/>
                <a:ea typeface="楷体" pitchFamily="49" charset="-122"/>
              </a:rPr>
              <a:t>("%d</a:t>
            </a:r>
            <a:r>
              <a:rPr lang="zh-CN" altLang="en-US" sz="2000" b="1" dirty="0">
                <a:latin typeface="+mn-lt"/>
                <a:ea typeface="楷体" pitchFamily="49" charset="-122"/>
              </a:rPr>
              <a:t>号书分给</a:t>
            </a:r>
            <a:r>
              <a:rPr lang="en-US" altLang="zh-CN" sz="2000" b="1" dirty="0">
                <a:latin typeface="+mn-lt"/>
                <a:ea typeface="楷体" pitchFamily="49" charset="-122"/>
              </a:rPr>
              <a:t>%c\n</a:t>
            </a:r>
            <a:r>
              <a:rPr lang="en-US" altLang="zh-CN" sz="2000" b="1" dirty="0"/>
              <a:t>", take[k], '</a:t>
            </a:r>
            <a:r>
              <a:rPr lang="en-US" altLang="zh-CN" sz="2000" b="1" dirty="0" err="1"/>
              <a:t>A'+k</a:t>
            </a:r>
            <a:r>
              <a:rPr lang="en-US" altLang="zh-CN" sz="2000" b="1" dirty="0"/>
              <a:t>);</a:t>
            </a:r>
          </a:p>
          <a:p>
            <a:pPr eaLnBrk="0" hangingPunct="0"/>
            <a:r>
              <a:rPr lang="en-US" altLang="zh-CN" sz="2000" b="1" dirty="0"/>
              <a:t>	</a:t>
            </a:r>
            <a:r>
              <a:rPr lang="en-US" altLang="zh-CN" sz="2000" b="1" dirty="0" err="1"/>
              <a:t>printf</a:t>
            </a:r>
            <a:r>
              <a:rPr lang="en-US" altLang="zh-CN" sz="2000" b="1" dirty="0"/>
              <a:t>("\n");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换行</a:t>
            </a:r>
          </a:p>
          <a:p>
            <a:pPr eaLnBrk="0" hangingPunct="0"/>
            <a:r>
              <a:rPr lang="zh-CN" altLang="en-US" sz="2000" b="1" dirty="0"/>
              <a:t>           </a:t>
            </a:r>
            <a:r>
              <a:rPr lang="en-US" altLang="zh-CN" sz="2000" b="1" dirty="0"/>
              <a:t>}</a:t>
            </a:r>
          </a:p>
          <a:p>
            <a:pPr eaLnBrk="0" hangingPunct="0"/>
            <a:r>
              <a:rPr lang="en-US" altLang="zh-CN" sz="2000" b="1" dirty="0"/>
              <a:t>           else              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如果</a:t>
            </a:r>
            <a:r>
              <a:rPr lang="en-US" altLang="zh-CN" sz="1800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i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!=4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，继续给下一人分书 </a:t>
            </a:r>
            <a:r>
              <a:rPr lang="zh-CN" altLang="en-US" sz="1800" b="1" dirty="0">
                <a:solidFill>
                  <a:srgbClr val="0000FF"/>
                </a:solidFill>
                <a:latin typeface="+mn-lt"/>
                <a:ea typeface="楷体" pitchFamily="49" charset="-122"/>
              </a:rPr>
              <a:t> </a:t>
            </a:r>
            <a:endParaRPr lang="en-US" altLang="zh-CN" sz="1800" b="1" dirty="0">
              <a:solidFill>
                <a:srgbClr val="0000FF"/>
              </a:solidFill>
              <a:latin typeface="+mn-lt"/>
              <a:ea typeface="楷体" pitchFamily="49" charset="-122"/>
            </a:endParaRPr>
          </a:p>
          <a:p>
            <a:pPr eaLnBrk="0" hangingPunct="0"/>
            <a:r>
              <a:rPr lang="en-US" altLang="zh-CN" sz="1800" b="1" dirty="0">
                <a:solidFill>
                  <a:srgbClr val="0000FF"/>
                </a:solidFill>
                <a:latin typeface="+mn-lt"/>
                <a:ea typeface="楷体" pitchFamily="49" charset="-122"/>
              </a:rPr>
              <a:t>                </a:t>
            </a:r>
            <a:r>
              <a:rPr lang="en-US" altLang="zh-CN" sz="2000" b="1" dirty="0">
                <a:solidFill>
                  <a:srgbClr val="C01920"/>
                </a:solidFill>
              </a:rPr>
              <a:t>Try(i+1); 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递归调用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Try(i+1)</a:t>
            </a:r>
          </a:p>
          <a:p>
            <a:pPr eaLnBrk="0" hangingPunct="0"/>
            <a:r>
              <a:rPr lang="en-US" altLang="zh-CN" sz="2000" b="1" dirty="0"/>
              <a:t>           book[j] = 0;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记录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j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书待分</a:t>
            </a:r>
          </a:p>
          <a:p>
            <a:pPr eaLnBrk="0" hangingPunct="0"/>
            <a:r>
              <a:rPr lang="zh-CN" altLang="en-US" sz="2000" b="1" dirty="0"/>
              <a:t>       </a:t>
            </a:r>
            <a:r>
              <a:rPr lang="en-US" altLang="zh-CN" sz="2000" b="1" dirty="0"/>
              <a:t>}   </a:t>
            </a:r>
          </a:p>
          <a:p>
            <a:pPr eaLnBrk="0" hangingPunct="0"/>
            <a:r>
              <a:rPr lang="en-US" altLang="zh-CN" sz="2000" b="1" dirty="0"/>
              <a:t>   }</a:t>
            </a:r>
          </a:p>
          <a:p>
            <a:pPr eaLnBrk="0" hangingPunct="0"/>
            <a:r>
              <a:rPr lang="en-US" altLang="zh-CN" sz="2000" b="1" dirty="0"/>
              <a:t>}</a:t>
            </a:r>
          </a:p>
        </p:txBody>
      </p:sp>
      <p:sp>
        <p:nvSpPr>
          <p:cNvPr id="29" name="Rectangle 68"/>
          <p:cNvSpPr>
            <a:spLocks noChangeArrowheads="1"/>
          </p:cNvSpPr>
          <p:nvPr/>
        </p:nvSpPr>
        <p:spPr bwMode="auto">
          <a:xfrm>
            <a:off x="9552384" y="2170688"/>
            <a:ext cx="2376264" cy="4462760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6200000" scaled="1"/>
          </a:gradFill>
          <a:ln w="38100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隶书" pitchFamily="49" charset="-122"/>
                <a:ea typeface="隶书" pitchFamily="49" charset="-122"/>
              </a:rPr>
              <a:t>运行结果：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===</a:t>
            </a:r>
            <a:r>
              <a:rPr lang="zh-CN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第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1</a:t>
            </a:r>
            <a:r>
              <a:rPr lang="zh-CN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个方案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===</a:t>
            </a:r>
            <a:endParaRPr lang="zh-CN" altLang="zh-CN" sz="20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  <a:p>
            <a:r>
              <a:rPr lang="en-US" altLang="zh-CN" sz="2000" b="1" dirty="0">
                <a:latin typeface="+mn-lt"/>
                <a:ea typeface="楷体" pitchFamily="49" charset="-122"/>
              </a:rPr>
              <a:t>2</a:t>
            </a:r>
            <a:r>
              <a:rPr lang="zh-CN" altLang="zh-CN" sz="2000" b="1" dirty="0">
                <a:latin typeface="+mn-lt"/>
                <a:ea typeface="楷体" pitchFamily="49" charset="-122"/>
              </a:rPr>
              <a:t>号书分给</a:t>
            </a:r>
            <a:r>
              <a:rPr lang="en-US" altLang="zh-CN" sz="2000" b="1" dirty="0">
                <a:latin typeface="+mn-lt"/>
                <a:ea typeface="楷体" pitchFamily="49" charset="-122"/>
              </a:rPr>
              <a:t>A</a:t>
            </a:r>
            <a:endParaRPr lang="zh-CN" altLang="zh-CN" sz="2000" b="1" dirty="0">
              <a:latin typeface="+mn-lt"/>
              <a:ea typeface="楷体" pitchFamily="49" charset="-122"/>
            </a:endParaRPr>
          </a:p>
          <a:p>
            <a:r>
              <a:rPr lang="en-US" altLang="zh-CN" sz="2000" b="1" dirty="0">
                <a:latin typeface="+mn-lt"/>
                <a:ea typeface="楷体" pitchFamily="49" charset="-122"/>
              </a:rPr>
              <a:t>0</a:t>
            </a:r>
            <a:r>
              <a:rPr lang="zh-CN" altLang="zh-CN" sz="2000" b="1" dirty="0">
                <a:latin typeface="+mn-lt"/>
                <a:ea typeface="楷体" pitchFamily="49" charset="-122"/>
              </a:rPr>
              <a:t>号书分给</a:t>
            </a:r>
            <a:r>
              <a:rPr lang="en-US" altLang="zh-CN" sz="2000" b="1" dirty="0">
                <a:latin typeface="+mn-lt"/>
                <a:ea typeface="楷体" pitchFamily="49" charset="-122"/>
              </a:rPr>
              <a:t>B</a:t>
            </a:r>
            <a:endParaRPr lang="zh-CN" altLang="zh-CN" sz="2000" b="1" dirty="0">
              <a:latin typeface="+mn-lt"/>
              <a:ea typeface="楷体" pitchFamily="49" charset="-122"/>
            </a:endParaRPr>
          </a:p>
          <a:p>
            <a:r>
              <a:rPr lang="en-US" altLang="zh-CN" sz="2000" b="1" dirty="0">
                <a:latin typeface="+mn-lt"/>
                <a:ea typeface="楷体" pitchFamily="49" charset="-122"/>
              </a:rPr>
              <a:t>1</a:t>
            </a:r>
            <a:r>
              <a:rPr lang="zh-CN" altLang="zh-CN" sz="2000" b="1" dirty="0">
                <a:latin typeface="+mn-lt"/>
                <a:ea typeface="楷体" pitchFamily="49" charset="-122"/>
              </a:rPr>
              <a:t>号书分给</a:t>
            </a:r>
            <a:r>
              <a:rPr lang="en-US" altLang="zh-CN" sz="2000" b="1" dirty="0">
                <a:latin typeface="+mn-lt"/>
                <a:ea typeface="楷体" pitchFamily="49" charset="-122"/>
              </a:rPr>
              <a:t>C</a:t>
            </a:r>
            <a:endParaRPr lang="zh-CN" altLang="zh-CN" sz="2000" b="1" dirty="0">
              <a:latin typeface="+mn-lt"/>
              <a:ea typeface="楷体" pitchFamily="49" charset="-122"/>
            </a:endParaRPr>
          </a:p>
          <a:p>
            <a:r>
              <a:rPr lang="en-US" altLang="zh-CN" sz="2000" b="1" dirty="0">
                <a:latin typeface="+mn-lt"/>
                <a:ea typeface="楷体" pitchFamily="49" charset="-122"/>
              </a:rPr>
              <a:t>3</a:t>
            </a:r>
            <a:r>
              <a:rPr lang="zh-CN" altLang="zh-CN" sz="2000" b="1" dirty="0">
                <a:latin typeface="+mn-lt"/>
                <a:ea typeface="楷体" pitchFamily="49" charset="-122"/>
              </a:rPr>
              <a:t>号书分给</a:t>
            </a:r>
            <a:r>
              <a:rPr lang="en-US" altLang="zh-CN" sz="2000" b="1" dirty="0">
                <a:latin typeface="+mn-lt"/>
                <a:ea typeface="楷体" pitchFamily="49" charset="-122"/>
              </a:rPr>
              <a:t>D</a:t>
            </a:r>
            <a:endParaRPr lang="zh-CN" altLang="zh-CN" sz="2000" b="1" dirty="0">
              <a:latin typeface="+mn-lt"/>
              <a:ea typeface="楷体" pitchFamily="49" charset="-122"/>
            </a:endParaRPr>
          </a:p>
          <a:p>
            <a:r>
              <a:rPr lang="en-US" altLang="zh-CN" sz="2000" b="1" dirty="0">
                <a:latin typeface="+mn-lt"/>
                <a:ea typeface="楷体" pitchFamily="49" charset="-122"/>
              </a:rPr>
              <a:t>4</a:t>
            </a:r>
            <a:r>
              <a:rPr lang="zh-CN" altLang="zh-CN" sz="2000" b="1" dirty="0">
                <a:latin typeface="+mn-lt"/>
                <a:ea typeface="楷体" pitchFamily="49" charset="-122"/>
              </a:rPr>
              <a:t>号书分给</a:t>
            </a:r>
            <a:r>
              <a:rPr lang="en-US" altLang="zh-CN" sz="2000" b="1" dirty="0">
                <a:latin typeface="+mn-lt"/>
                <a:ea typeface="楷体" pitchFamily="49" charset="-122"/>
              </a:rPr>
              <a:t>E</a:t>
            </a:r>
            <a:endParaRPr lang="zh-CN" altLang="zh-CN" sz="2000" b="1" dirty="0">
              <a:latin typeface="+mn-lt"/>
              <a:ea typeface="楷体" pitchFamily="49" charset="-122"/>
            </a:endParaRPr>
          </a:p>
          <a:p>
            <a:r>
              <a:rPr lang="en-US" altLang="zh-CN" sz="2000" b="1" dirty="0">
                <a:solidFill>
                  <a:srgbClr val="0000FF"/>
                </a:solidFill>
                <a:latin typeface="+mn-lt"/>
                <a:ea typeface="楷体" pitchFamily="49" charset="-122"/>
              </a:rPr>
              <a:t> </a:t>
            </a:r>
            <a:endParaRPr lang="zh-CN" altLang="zh-CN" sz="2000" b="1" dirty="0">
              <a:solidFill>
                <a:srgbClr val="0000FF"/>
              </a:solidFill>
              <a:latin typeface="+mn-lt"/>
              <a:ea typeface="楷体" pitchFamily="49" charset="-122"/>
            </a:endParaRPr>
          </a:p>
          <a:p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===</a:t>
            </a:r>
            <a:r>
              <a:rPr lang="zh-CN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第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2</a:t>
            </a:r>
            <a:r>
              <a:rPr lang="zh-CN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个方案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===</a:t>
            </a:r>
            <a:endParaRPr lang="zh-CN" altLang="zh-CN" sz="20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  <a:p>
            <a:r>
              <a:rPr lang="en-US" altLang="zh-CN" sz="2000" b="1" dirty="0">
                <a:latin typeface="+mn-lt"/>
                <a:ea typeface="楷体" pitchFamily="49" charset="-122"/>
              </a:rPr>
              <a:t>2</a:t>
            </a:r>
            <a:r>
              <a:rPr lang="zh-CN" altLang="zh-CN" sz="2000" b="1" dirty="0">
                <a:latin typeface="+mn-lt"/>
                <a:ea typeface="楷体" pitchFamily="49" charset="-122"/>
              </a:rPr>
              <a:t>号书分给</a:t>
            </a:r>
            <a:r>
              <a:rPr lang="en-US" altLang="zh-CN" sz="2000" b="1" dirty="0">
                <a:latin typeface="+mn-lt"/>
                <a:ea typeface="楷体" pitchFamily="49" charset="-122"/>
              </a:rPr>
              <a:t>A</a:t>
            </a:r>
            <a:endParaRPr lang="zh-CN" altLang="zh-CN" sz="2000" b="1" dirty="0">
              <a:latin typeface="+mn-lt"/>
              <a:ea typeface="楷体" pitchFamily="49" charset="-122"/>
            </a:endParaRPr>
          </a:p>
          <a:p>
            <a:r>
              <a:rPr lang="en-US" altLang="zh-CN" sz="2000" b="1" dirty="0">
                <a:latin typeface="+mn-lt"/>
                <a:ea typeface="楷体" pitchFamily="49" charset="-122"/>
              </a:rPr>
              <a:t>0</a:t>
            </a:r>
            <a:r>
              <a:rPr lang="zh-CN" altLang="zh-CN" sz="2000" b="1" dirty="0">
                <a:latin typeface="+mn-lt"/>
                <a:ea typeface="楷体" pitchFamily="49" charset="-122"/>
              </a:rPr>
              <a:t>号书分给</a:t>
            </a:r>
            <a:r>
              <a:rPr lang="en-US" altLang="zh-CN" sz="2000" b="1" dirty="0">
                <a:latin typeface="+mn-lt"/>
                <a:ea typeface="楷体" pitchFamily="49" charset="-122"/>
              </a:rPr>
              <a:t>B</a:t>
            </a:r>
            <a:endParaRPr lang="zh-CN" altLang="zh-CN" sz="2000" b="1" dirty="0">
              <a:latin typeface="+mn-lt"/>
              <a:ea typeface="楷体" pitchFamily="49" charset="-122"/>
            </a:endParaRPr>
          </a:p>
          <a:p>
            <a:r>
              <a:rPr lang="en-US" altLang="zh-CN" sz="2000" b="1" dirty="0">
                <a:latin typeface="+mn-lt"/>
                <a:ea typeface="楷体" pitchFamily="49" charset="-122"/>
              </a:rPr>
              <a:t>4</a:t>
            </a:r>
            <a:r>
              <a:rPr lang="zh-CN" altLang="zh-CN" sz="2000" b="1" dirty="0">
                <a:latin typeface="+mn-lt"/>
                <a:ea typeface="楷体" pitchFamily="49" charset="-122"/>
              </a:rPr>
              <a:t>号书分给</a:t>
            </a:r>
            <a:r>
              <a:rPr lang="en-US" altLang="zh-CN" sz="2000" b="1" dirty="0">
                <a:latin typeface="+mn-lt"/>
                <a:ea typeface="楷体" pitchFamily="49" charset="-122"/>
              </a:rPr>
              <a:t>C</a:t>
            </a:r>
            <a:endParaRPr lang="zh-CN" altLang="zh-CN" sz="2000" b="1" dirty="0">
              <a:latin typeface="+mn-lt"/>
              <a:ea typeface="楷体" pitchFamily="49" charset="-122"/>
            </a:endParaRPr>
          </a:p>
          <a:p>
            <a:r>
              <a:rPr lang="en-US" altLang="zh-CN" sz="2000" b="1" dirty="0">
                <a:latin typeface="+mn-lt"/>
                <a:ea typeface="楷体" pitchFamily="49" charset="-122"/>
              </a:rPr>
              <a:t>3</a:t>
            </a:r>
            <a:r>
              <a:rPr lang="zh-CN" altLang="zh-CN" sz="2000" b="1" dirty="0">
                <a:latin typeface="+mn-lt"/>
                <a:ea typeface="楷体" pitchFamily="49" charset="-122"/>
              </a:rPr>
              <a:t>号书分给</a:t>
            </a:r>
            <a:r>
              <a:rPr lang="en-US" altLang="zh-CN" sz="2000" b="1" dirty="0">
                <a:latin typeface="+mn-lt"/>
                <a:ea typeface="楷体" pitchFamily="49" charset="-122"/>
              </a:rPr>
              <a:t>D</a:t>
            </a:r>
            <a:endParaRPr lang="zh-CN" altLang="zh-CN" sz="2000" b="1" dirty="0">
              <a:latin typeface="+mn-lt"/>
              <a:ea typeface="楷体" pitchFamily="49" charset="-122"/>
            </a:endParaRPr>
          </a:p>
          <a:p>
            <a:r>
              <a:rPr lang="en-US" altLang="zh-CN" sz="2000" b="1" dirty="0">
                <a:latin typeface="+mn-lt"/>
                <a:ea typeface="楷体" pitchFamily="49" charset="-122"/>
              </a:rPr>
              <a:t>1</a:t>
            </a:r>
            <a:r>
              <a:rPr lang="zh-CN" altLang="zh-CN" sz="2000" b="1" dirty="0">
                <a:latin typeface="+mn-lt"/>
                <a:ea typeface="楷体" pitchFamily="49" charset="-122"/>
              </a:rPr>
              <a:t>号书分给</a:t>
            </a:r>
            <a:r>
              <a:rPr lang="en-US" altLang="zh-CN" sz="2000" b="1" dirty="0">
                <a:latin typeface="+mn-lt"/>
                <a:ea typeface="楷体" pitchFamily="49" charset="-122"/>
              </a:rPr>
              <a:t>E</a:t>
            </a:r>
            <a:endParaRPr lang="zh-CN" altLang="zh-CN" sz="2000" b="1" dirty="0">
              <a:latin typeface="+mn-lt"/>
              <a:ea typeface="楷体" pitchFamily="49" charset="-122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089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8995" grpId="0" animBg="1" autoUpdateAnimBg="0"/>
      <p:bldP spid="28" grpId="0" animBg="1" autoUpdateAnimBg="0"/>
      <p:bldP spid="29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143" name="Rectangle 7"/>
          <p:cNvSpPr>
            <a:spLocks noChangeArrowheads="1"/>
          </p:cNvSpPr>
          <p:nvPr/>
        </p:nvSpPr>
        <p:spPr bwMode="auto">
          <a:xfrm>
            <a:off x="899497" y="2058260"/>
            <a:ext cx="482441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r>
              <a:rPr lang="en-US" altLang="zh-CN" sz="2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1</a:t>
            </a:r>
            <a:r>
              <a:rPr lang="zh-CN" altLang="en-US" sz="2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、内部函数</a:t>
            </a:r>
          </a:p>
        </p:txBody>
      </p:sp>
      <p:sp>
        <p:nvSpPr>
          <p:cNvPr id="1115174" name="Rectangle 38"/>
          <p:cNvSpPr>
            <a:spLocks noChangeArrowheads="1"/>
          </p:cNvSpPr>
          <p:nvPr/>
        </p:nvSpPr>
        <p:spPr bwMode="auto">
          <a:xfrm>
            <a:off x="510560" y="932723"/>
            <a:ext cx="1134608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altLang="zh-CN" b="1" dirty="0">
                <a:latin typeface="+mn-lt"/>
                <a:ea typeface="楷体" pitchFamily="49" charset="-122"/>
              </a:rPr>
              <a:t>        </a:t>
            </a:r>
            <a:r>
              <a:rPr lang="zh-CN" altLang="en-US" b="1" dirty="0">
                <a:latin typeface="+mn-lt"/>
                <a:ea typeface="楷体" pitchFamily="49" charset="-122"/>
              </a:rPr>
              <a:t>函数一旦定义后就可被其它函数调用。但当一个源程序由多个源文件组成时， 在一个源文件中定义的函数能否被其它源文件中的函数调用呢？为此，Ｃ语言又把函数分为两类：</a:t>
            </a:r>
          </a:p>
        </p:txBody>
      </p:sp>
      <p:sp>
        <p:nvSpPr>
          <p:cNvPr id="1115175" name="Rectangle 39"/>
          <p:cNvSpPr>
            <a:spLocks noChangeArrowheads="1"/>
          </p:cNvSpPr>
          <p:nvPr/>
        </p:nvSpPr>
        <p:spPr bwMode="auto">
          <a:xfrm>
            <a:off x="502622" y="2958043"/>
            <a:ext cx="1121000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altLang="zh-CN" dirty="0">
                <a:latin typeface="+mn-lt"/>
                <a:ea typeface="楷体" pitchFamily="49" charset="-122"/>
              </a:rPr>
              <a:t>        </a:t>
            </a:r>
            <a:r>
              <a:rPr lang="zh-CN" altLang="en-US" b="1" dirty="0">
                <a:latin typeface="+mn-lt"/>
                <a:ea typeface="楷体" pitchFamily="49" charset="-122"/>
              </a:rPr>
              <a:t>如果在一个源文件中定义的函数只能被本文件中的函数调用，而不能被同一源程序其它文件中的函数调用，这种函数称为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内部函数</a:t>
            </a:r>
            <a:r>
              <a:rPr lang="zh-CN" altLang="en-US" b="1" dirty="0">
                <a:latin typeface="+mn-lt"/>
                <a:ea typeface="楷体" pitchFamily="49" charset="-122"/>
              </a:rPr>
              <a:t>。</a:t>
            </a:r>
            <a:endParaRPr lang="zh-CN" altLang="en-US" dirty="0">
              <a:latin typeface="+mn-lt"/>
              <a:ea typeface="楷体" pitchFamily="49" charset="-122"/>
            </a:endParaRPr>
          </a:p>
        </p:txBody>
      </p:sp>
      <p:sp>
        <p:nvSpPr>
          <p:cNvPr id="1115176" name="Rectangle 40"/>
          <p:cNvSpPr>
            <a:spLocks noChangeArrowheads="1"/>
          </p:cNvSpPr>
          <p:nvPr/>
        </p:nvSpPr>
        <p:spPr bwMode="auto">
          <a:xfrm>
            <a:off x="1199579" y="2539752"/>
            <a:ext cx="4824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定义</a:t>
            </a:r>
          </a:p>
        </p:txBody>
      </p:sp>
      <p:sp>
        <p:nvSpPr>
          <p:cNvPr id="1115177" name="Rectangle 41"/>
          <p:cNvSpPr>
            <a:spLocks noChangeArrowheads="1"/>
          </p:cNvSpPr>
          <p:nvPr/>
        </p:nvSpPr>
        <p:spPr bwMode="auto">
          <a:xfrm>
            <a:off x="1186835" y="3716338"/>
            <a:ext cx="4824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zh-CN" altLang="en-US" b="1">
                <a:solidFill>
                  <a:srgbClr val="C00000"/>
                </a:solidFill>
                <a:latin typeface="+mn-lt"/>
                <a:ea typeface="楷体" pitchFamily="49" charset="-122"/>
              </a:rPr>
              <a:t>一般形式</a:t>
            </a:r>
          </a:p>
        </p:txBody>
      </p:sp>
      <p:sp>
        <p:nvSpPr>
          <p:cNvPr id="1115178" name="Text Box 42"/>
          <p:cNvSpPr txBox="1">
            <a:spLocks noChangeArrowheads="1"/>
          </p:cNvSpPr>
          <p:nvPr/>
        </p:nvSpPr>
        <p:spPr bwMode="auto">
          <a:xfrm>
            <a:off x="1186834" y="4249738"/>
            <a:ext cx="9301654" cy="488950"/>
          </a:xfrm>
          <a:prstGeom prst="rect">
            <a:avLst/>
          </a:prstGeom>
          <a:gradFill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ctr"/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static   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隶书" pitchFamily="49" charset="-122"/>
              </a:rPr>
              <a:t>类型说明符   函数名（形参表）</a:t>
            </a:r>
          </a:p>
        </p:txBody>
      </p:sp>
      <p:sp>
        <p:nvSpPr>
          <p:cNvPr id="1115179" name="Rectangle 43" descr="信纸"/>
          <p:cNvSpPr>
            <a:spLocks noChangeArrowheads="1"/>
          </p:cNvSpPr>
          <p:nvPr/>
        </p:nvSpPr>
        <p:spPr bwMode="auto">
          <a:xfrm>
            <a:off x="1343472" y="4895889"/>
            <a:ext cx="4104456" cy="1654175"/>
          </a:xfrm>
          <a:prstGeom prst="rect">
            <a:avLst/>
          </a:prstGeom>
          <a:solidFill>
            <a:schemeClr val="bg1"/>
          </a:solidFill>
          <a:ln w="38100">
            <a:solidFill>
              <a:srgbClr val="008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CC0000"/>
                </a:solidFill>
                <a:ea typeface="隶书" pitchFamily="49" charset="-122"/>
              </a:rPr>
              <a:t>例如：</a:t>
            </a:r>
          </a:p>
          <a:p>
            <a:r>
              <a:rPr lang="en-US" altLang="zh-CN" sz="2000" b="1" dirty="0">
                <a:solidFill>
                  <a:srgbClr val="C00000"/>
                </a:solidFill>
              </a:rPr>
              <a:t>static </a:t>
            </a:r>
            <a:r>
              <a:rPr lang="en-US" altLang="zh-CN" sz="2000" b="1" dirty="0"/>
              <a:t>int </a:t>
            </a:r>
            <a:r>
              <a:rPr lang="en-US" altLang="zh-CN" sz="2000" b="1" dirty="0" err="1"/>
              <a:t>func</a:t>
            </a:r>
            <a:r>
              <a:rPr lang="en-US" altLang="zh-CN" sz="2000" b="1" dirty="0"/>
              <a:t> (int a, int b)</a:t>
            </a:r>
          </a:p>
          <a:p>
            <a:r>
              <a:rPr lang="en-US" altLang="zh-CN" sz="2000" b="1" dirty="0"/>
              <a:t>{</a:t>
            </a:r>
          </a:p>
          <a:p>
            <a:r>
              <a:rPr lang="en-US" altLang="zh-CN" sz="2000" b="1" dirty="0"/>
              <a:t>  return (a &gt; b ? a : b);</a:t>
            </a:r>
          </a:p>
          <a:p>
            <a:r>
              <a:rPr lang="en-US" altLang="zh-CN" sz="2000" b="1" dirty="0"/>
              <a:t>}</a:t>
            </a:r>
          </a:p>
        </p:txBody>
      </p:sp>
      <p:sp>
        <p:nvSpPr>
          <p:cNvPr id="1115180" name="Rectangle 44"/>
          <p:cNvSpPr>
            <a:spLocks noChangeArrowheads="1"/>
          </p:cNvSpPr>
          <p:nvPr/>
        </p:nvSpPr>
        <p:spPr bwMode="auto">
          <a:xfrm>
            <a:off x="5663952" y="4934319"/>
            <a:ext cx="4824536" cy="1631216"/>
          </a:xfrm>
          <a:prstGeom prst="rect">
            <a:avLst/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sz="2000" b="1" dirty="0">
                <a:latin typeface="隶书" pitchFamily="49" charset="-122"/>
                <a:ea typeface="隶书" pitchFamily="49" charset="-122"/>
              </a:rPr>
              <a:t>内部函数也称为</a:t>
            </a:r>
            <a:r>
              <a:rPr lang="zh-CN" altLang="en-US" sz="2000" b="1" dirty="0">
                <a:solidFill>
                  <a:srgbClr val="C00000"/>
                </a:solidFill>
                <a:latin typeface="隶书" pitchFamily="49" charset="-122"/>
                <a:ea typeface="隶书" pitchFamily="49" charset="-122"/>
              </a:rPr>
              <a:t>静态函数</a:t>
            </a:r>
            <a:r>
              <a:rPr lang="zh-CN" altLang="en-US" sz="2000" b="1" dirty="0">
                <a:latin typeface="隶书" pitchFamily="49" charset="-122"/>
                <a:ea typeface="隶书" pitchFamily="49" charset="-122"/>
              </a:rPr>
              <a:t>。但此处静态</a:t>
            </a:r>
            <a:r>
              <a:rPr lang="en-US" altLang="zh-CN" sz="2000" b="1" dirty="0">
                <a:ea typeface="隶书" pitchFamily="49" charset="-122"/>
              </a:rPr>
              <a:t>static</a:t>
            </a:r>
            <a:r>
              <a:rPr lang="zh-CN" altLang="en-US" sz="2000" b="1" dirty="0">
                <a:latin typeface="隶书" pitchFamily="49" charset="-122"/>
                <a:ea typeface="隶书" pitchFamily="49" charset="-122"/>
              </a:rPr>
              <a:t>的含义已不是指存储类型，而是指</a:t>
            </a:r>
            <a:r>
              <a:rPr lang="zh-CN" altLang="en-US" sz="2000" b="1" dirty="0">
                <a:solidFill>
                  <a:srgbClr val="CC0000"/>
                </a:solidFill>
                <a:latin typeface="隶书" pitchFamily="49" charset="-122"/>
                <a:ea typeface="隶书" pitchFamily="49" charset="-122"/>
              </a:rPr>
              <a:t>对函数的作用域只局限于本文件</a:t>
            </a:r>
            <a:r>
              <a:rPr lang="zh-CN" altLang="en-US" sz="2000" b="1" dirty="0">
                <a:latin typeface="隶书" pitchFamily="49" charset="-122"/>
                <a:ea typeface="隶书" pitchFamily="49" charset="-122"/>
              </a:rPr>
              <a:t>。因此在不同的源文件中定义同名的静态函数不会引起混淆。</a:t>
            </a:r>
          </a:p>
        </p:txBody>
      </p:sp>
      <p:sp>
        <p:nvSpPr>
          <p:cNvPr id="14" name="Rectangle 43" descr="信纸"/>
          <p:cNvSpPr>
            <a:spLocks noChangeArrowheads="1"/>
          </p:cNvSpPr>
          <p:nvPr/>
        </p:nvSpPr>
        <p:spPr bwMode="auto">
          <a:xfrm>
            <a:off x="899497" y="4892924"/>
            <a:ext cx="10136506" cy="1569660"/>
          </a:xfrm>
          <a:prstGeom prst="rect">
            <a:avLst/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  <a:tileRect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tx2"/>
                </a:solidFill>
                <a:latin typeface="隶书" pitchFamily="49" charset="-122"/>
                <a:ea typeface="隶书" pitchFamily="49" charset="-122"/>
              </a:rPr>
              <a:t>    </a:t>
            </a:r>
            <a:r>
              <a:rPr lang="zh-CN" altLang="en-US" b="1" dirty="0">
                <a:ln w="1905"/>
                <a:solidFill>
                  <a:srgbClr val="C00000"/>
                </a:solidFill>
                <a:latin typeface="楷体" pitchFamily="49" charset="-122"/>
                <a:ea typeface="楷体" pitchFamily="49" charset="-122"/>
              </a:rPr>
              <a:t>注意：</a:t>
            </a:r>
            <a:r>
              <a:rPr lang="zh-CN" altLang="en-US" b="1" dirty="0">
                <a:ln w="1905"/>
                <a:solidFill>
                  <a:schemeClr val="tx2"/>
                </a:solidFill>
                <a:latin typeface="楷体" pitchFamily="49" charset="-122"/>
                <a:ea typeface="楷体" pitchFamily="49" charset="-122"/>
              </a:rPr>
              <a:t>使用内部函数的好处是</a:t>
            </a:r>
            <a:r>
              <a:rPr lang="en-US" b="1" dirty="0">
                <a:ln w="1905"/>
                <a:solidFill>
                  <a:schemeClr val="tx2"/>
                </a:solidFill>
                <a:latin typeface="楷体" pitchFamily="49" charset="-122"/>
                <a:ea typeface="楷体" pitchFamily="49" charset="-122"/>
              </a:rPr>
              <a:t>,</a:t>
            </a:r>
            <a:r>
              <a:rPr lang="zh-CN" altLang="en-US" b="1" dirty="0">
                <a:ln w="1905"/>
                <a:solidFill>
                  <a:schemeClr val="tx2"/>
                </a:solidFill>
                <a:latin typeface="楷体" pitchFamily="49" charset="-122"/>
                <a:ea typeface="楷体" pitchFamily="49" charset="-122"/>
              </a:rPr>
              <a:t>不同的开发者可以分别编写不同的函数</a:t>
            </a:r>
            <a:r>
              <a:rPr lang="en-US" b="1" dirty="0">
                <a:ln w="1905"/>
                <a:solidFill>
                  <a:schemeClr val="tx2"/>
                </a:solidFill>
                <a:latin typeface="楷体" pitchFamily="49" charset="-122"/>
                <a:ea typeface="楷体" pitchFamily="49" charset="-122"/>
              </a:rPr>
              <a:t>,</a:t>
            </a:r>
            <a:r>
              <a:rPr lang="zh-CN" altLang="en-US" b="1" dirty="0">
                <a:ln w="1905"/>
                <a:solidFill>
                  <a:schemeClr val="tx2"/>
                </a:solidFill>
                <a:latin typeface="楷体" pitchFamily="49" charset="-122"/>
                <a:ea typeface="楷体" pitchFamily="49" charset="-122"/>
              </a:rPr>
              <a:t>而不必担心所使用的函数是否会与其他源文件中的函数同名</a:t>
            </a:r>
            <a:r>
              <a:rPr lang="en-US" b="1" dirty="0">
                <a:ln w="1905"/>
                <a:solidFill>
                  <a:schemeClr val="tx2"/>
                </a:solidFill>
                <a:latin typeface="楷体" pitchFamily="49" charset="-122"/>
                <a:ea typeface="楷体" pitchFamily="49" charset="-122"/>
              </a:rPr>
              <a:t>,</a:t>
            </a:r>
            <a:r>
              <a:rPr lang="zh-CN" altLang="en-US" b="1" dirty="0">
                <a:ln w="1905"/>
                <a:solidFill>
                  <a:schemeClr val="tx2"/>
                </a:solidFill>
                <a:latin typeface="楷体" pitchFamily="49" charset="-122"/>
                <a:ea typeface="楷体" pitchFamily="49" charset="-122"/>
              </a:rPr>
              <a:t>因为内部函数只可以在所在的源文件中进行使用</a:t>
            </a:r>
            <a:r>
              <a:rPr lang="en-US" b="1" dirty="0">
                <a:ln w="1905"/>
                <a:solidFill>
                  <a:schemeClr val="tx2"/>
                </a:solidFill>
                <a:latin typeface="楷体" pitchFamily="49" charset="-122"/>
                <a:ea typeface="楷体" pitchFamily="49" charset="-122"/>
              </a:rPr>
              <a:t>,</a:t>
            </a:r>
            <a:r>
              <a:rPr lang="zh-CN" altLang="en-US" b="1" dirty="0">
                <a:ln w="1905"/>
                <a:solidFill>
                  <a:schemeClr val="tx2"/>
                </a:solidFill>
                <a:latin typeface="楷体" pitchFamily="49" charset="-122"/>
                <a:ea typeface="楷体" pitchFamily="49" charset="-122"/>
              </a:rPr>
              <a:t>所以即使不同源文件有相同的函数名字也没有关系。</a:t>
            </a:r>
            <a:endParaRPr lang="zh-CN" altLang="en-US" b="1" dirty="0">
              <a:solidFill>
                <a:schemeClr val="tx2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CE3ECB01-3BFC-43D1-AB10-7C8514A12E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8.7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函数的作用域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151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15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15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15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15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500"/>
                                        <p:tgtEl>
                                          <p:spTgt spid="11151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15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15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4" dur="500"/>
                                        <p:tgtEl>
                                          <p:spTgt spid="11151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9" dur="500"/>
                                        <p:tgtEl>
                                          <p:spTgt spid="11151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4" dur="500"/>
                                        <p:tgtEl>
                                          <p:spTgt spid="11151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5143" grpId="0"/>
      <p:bldP spid="1115174" grpId="0"/>
      <p:bldP spid="1115175" grpId="0"/>
      <p:bldP spid="1115176" grpId="0"/>
      <p:bldP spid="1115177" grpId="0"/>
      <p:bldP spid="1115178" grpId="0" animBg="1"/>
      <p:bldP spid="1115179" grpId="0" animBg="1" autoUpdateAnimBg="0"/>
      <p:bldP spid="1115180" grpId="0" animBg="1"/>
      <p:bldP spid="14" grpId="0" animBg="1" autoUpdateAnimBg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66" name="Rectangle 6"/>
          <p:cNvSpPr>
            <a:spLocks noChangeArrowheads="1"/>
          </p:cNvSpPr>
          <p:nvPr/>
        </p:nvSpPr>
        <p:spPr bwMode="auto">
          <a:xfrm>
            <a:off x="881521" y="861827"/>
            <a:ext cx="482441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r>
              <a:rPr lang="en-US" altLang="zh-CN" sz="2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2</a:t>
            </a:r>
            <a:r>
              <a:rPr lang="zh-CN" altLang="en-US" sz="2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、外部函数</a:t>
            </a:r>
          </a:p>
        </p:txBody>
      </p:sp>
      <p:sp>
        <p:nvSpPr>
          <p:cNvPr id="1116168" name="Rectangle 8"/>
          <p:cNvSpPr>
            <a:spLocks noChangeArrowheads="1"/>
          </p:cNvSpPr>
          <p:nvPr/>
        </p:nvSpPr>
        <p:spPr bwMode="auto">
          <a:xfrm>
            <a:off x="1386685" y="1412776"/>
            <a:ext cx="78851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外部函数在整个源程序中都有效，其定义的一般形式为： </a:t>
            </a:r>
          </a:p>
        </p:txBody>
      </p:sp>
      <p:sp>
        <p:nvSpPr>
          <p:cNvPr id="1116171" name="Text Box 11"/>
          <p:cNvSpPr txBox="1">
            <a:spLocks noChangeArrowheads="1"/>
          </p:cNvSpPr>
          <p:nvPr/>
        </p:nvSpPr>
        <p:spPr bwMode="auto">
          <a:xfrm>
            <a:off x="2387996" y="1988840"/>
            <a:ext cx="7272337" cy="488950"/>
          </a:xfrm>
          <a:prstGeom prst="rect">
            <a:avLst/>
          </a:prstGeom>
          <a:gradFill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>
            <a:defPPr>
              <a:defRPr lang="zh-CN"/>
            </a:defPPr>
            <a:lvl1pPr algn="ctr">
              <a:defRPr b="1">
                <a:solidFill>
                  <a:srgbClr val="C00000"/>
                </a:solidFill>
                <a:latin typeface="+mn-lt"/>
                <a:ea typeface="楷体" pitchFamily="49" charset="-122"/>
              </a:defRPr>
            </a:lvl1pPr>
          </a:lstStyle>
          <a:p>
            <a:r>
              <a:rPr lang="en-US" altLang="zh-CN" dirty="0"/>
              <a:t>extern   </a:t>
            </a:r>
            <a:r>
              <a:rPr lang="zh-CN" altLang="en-US" dirty="0"/>
              <a:t>类型说明符   函数名（形参表）</a:t>
            </a:r>
          </a:p>
        </p:txBody>
      </p:sp>
      <p:sp>
        <p:nvSpPr>
          <p:cNvPr id="1116175" name="AutoShape 15"/>
          <p:cNvSpPr>
            <a:spLocks noChangeArrowheads="1"/>
          </p:cNvSpPr>
          <p:nvPr/>
        </p:nvSpPr>
        <p:spPr bwMode="auto">
          <a:xfrm>
            <a:off x="5024882" y="873622"/>
            <a:ext cx="2952750" cy="431800"/>
          </a:xfrm>
          <a:prstGeom prst="wedgeRoundRectCallout">
            <a:avLst>
              <a:gd name="adj1" fmla="val -90106"/>
              <a:gd name="adj2" fmla="val 239704"/>
              <a:gd name="adj3" fmla="val 16667"/>
            </a:avLst>
          </a:prstGeom>
          <a:gradFill flip="none" rotWithShape="1">
            <a:gsLst>
              <a:gs pos="0">
                <a:srgbClr val="CFCFD1"/>
              </a:gs>
              <a:gs pos="100000">
                <a:srgbClr val="FFFFFF"/>
              </a:gs>
            </a:gsLst>
            <a:path path="circle">
              <a:fillToRect l="100000" b="100000"/>
            </a:path>
            <a:tileRect t="-100000" r="-100000"/>
          </a:gradFill>
          <a:ln w="22225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pPr algn="just"/>
            <a:r>
              <a:rPr lang="zh-CN" altLang="en-US" sz="2000" b="1">
                <a:solidFill>
                  <a:srgbClr val="C00000"/>
                </a:solidFill>
                <a:latin typeface="+mn-lt"/>
                <a:ea typeface="楷体" pitchFamily="49" charset="-122"/>
              </a:rPr>
              <a:t>缺省时，隐含为</a:t>
            </a:r>
            <a:r>
              <a:rPr lang="en-US" altLang="zh-CN" sz="2000" b="1">
                <a:solidFill>
                  <a:srgbClr val="C00000"/>
                </a:solidFill>
                <a:latin typeface="+mn-lt"/>
                <a:ea typeface="楷体" pitchFamily="49" charset="-122"/>
              </a:rPr>
              <a:t>extern</a:t>
            </a:r>
          </a:p>
        </p:txBody>
      </p:sp>
      <p:sp>
        <p:nvSpPr>
          <p:cNvPr id="1116176" name="Rectangle 16" descr="信纸"/>
          <p:cNvSpPr>
            <a:spLocks noChangeArrowheads="1"/>
          </p:cNvSpPr>
          <p:nvPr/>
        </p:nvSpPr>
        <p:spPr bwMode="auto">
          <a:xfrm>
            <a:off x="1562943" y="3062915"/>
            <a:ext cx="3311525" cy="3785652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rgbClr val="FFFFFF"/>
              </a:gs>
            </a:gsLst>
            <a:path path="circle">
              <a:fillToRect l="100000" b="100000"/>
            </a:path>
          </a:gradFill>
          <a:ln w="38100">
            <a:solidFill>
              <a:schemeClr val="accent1">
                <a:lumMod val="50000"/>
              </a:schemeClr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r>
              <a:rPr kumimoji="0" lang="en-US" altLang="zh-CN" sz="2000" b="1" dirty="0">
                <a:solidFill>
                  <a:srgbClr val="CC0000"/>
                </a:solidFill>
                <a:ea typeface="隶书" pitchFamily="49" charset="-122"/>
              </a:rPr>
              <a:t>          prg1.cpp</a:t>
            </a:r>
          </a:p>
          <a:p>
            <a:r>
              <a:rPr lang="en-US" altLang="zh-CN" sz="2000" b="1" dirty="0"/>
              <a:t>extern 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func2 ( );</a:t>
            </a:r>
          </a:p>
          <a:p>
            <a:r>
              <a:rPr lang="en-US" altLang="zh-CN" sz="2000" b="1" dirty="0" err="1">
                <a:solidFill>
                  <a:srgbClr val="CC0000"/>
                </a:solidFill>
              </a:rPr>
              <a:t>int</a:t>
            </a:r>
            <a:r>
              <a:rPr lang="en-US" altLang="zh-CN" sz="2000" b="1" dirty="0">
                <a:solidFill>
                  <a:srgbClr val="CC0000"/>
                </a:solidFill>
              </a:rPr>
              <a:t> main ( )</a:t>
            </a:r>
          </a:p>
          <a:p>
            <a:r>
              <a:rPr lang="en-US" altLang="zh-CN" sz="2000" b="1" dirty="0"/>
              <a:t>{</a:t>
            </a:r>
          </a:p>
          <a:p>
            <a:r>
              <a:rPr lang="en-US" altLang="zh-CN" sz="2000" b="1" dirty="0"/>
              <a:t>  func2 ( );</a:t>
            </a:r>
          </a:p>
          <a:p>
            <a:r>
              <a:rPr lang="en-US" altLang="zh-CN" sz="2000" b="1" dirty="0"/>
              <a:t>  return 0;</a:t>
            </a:r>
          </a:p>
          <a:p>
            <a:r>
              <a:rPr lang="en-US" altLang="zh-CN" sz="2000" b="1" dirty="0"/>
              <a:t>}</a:t>
            </a:r>
          </a:p>
          <a:p>
            <a:endParaRPr lang="en-US" altLang="zh-CN" sz="2000" b="1" dirty="0"/>
          </a:p>
          <a:p>
            <a:r>
              <a:rPr lang="en-US" altLang="zh-CN" sz="2000" b="1" dirty="0" err="1"/>
              <a:t>int</a:t>
            </a:r>
            <a:r>
              <a:rPr lang="en-US" altLang="zh-CN" sz="2000" b="1" dirty="0"/>
              <a:t> func1 (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a, 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b)</a:t>
            </a:r>
          </a:p>
          <a:p>
            <a:r>
              <a:rPr lang="en-US" altLang="zh-CN" sz="2000" b="1" dirty="0"/>
              <a:t>{</a:t>
            </a:r>
          </a:p>
          <a:p>
            <a:r>
              <a:rPr lang="en-US" altLang="zh-CN" sz="2000" b="1" dirty="0"/>
              <a:t>   return (a &gt; b ? a : b);</a:t>
            </a:r>
          </a:p>
          <a:p>
            <a:r>
              <a:rPr lang="en-US" altLang="zh-CN" sz="2000" b="1" dirty="0"/>
              <a:t>}</a:t>
            </a:r>
          </a:p>
        </p:txBody>
      </p:sp>
      <p:sp>
        <p:nvSpPr>
          <p:cNvPr id="1116177" name="Rectangle 17" descr="信纸"/>
          <p:cNvSpPr>
            <a:spLocks noChangeArrowheads="1"/>
          </p:cNvSpPr>
          <p:nvPr/>
        </p:nvSpPr>
        <p:spPr bwMode="auto">
          <a:xfrm>
            <a:off x="7899821" y="3377931"/>
            <a:ext cx="3370263" cy="2873375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rgbClr val="FFFFFF"/>
              </a:gs>
            </a:gsLst>
            <a:path path="circle">
              <a:fillToRect l="100000" b="100000"/>
            </a:path>
          </a:gradFill>
          <a:ln w="38100">
            <a:solidFill>
              <a:schemeClr val="accent1">
                <a:lumMod val="50000"/>
              </a:schemeClr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none">
            <a:spAutoFit/>
          </a:bodyPr>
          <a:lstStyle/>
          <a:p>
            <a:r>
              <a:rPr kumimoji="0" lang="en-US" altLang="zh-CN" sz="2000" b="1" dirty="0">
                <a:solidFill>
                  <a:srgbClr val="CC0000"/>
                </a:solidFill>
                <a:ea typeface="隶书" pitchFamily="49" charset="-122"/>
              </a:rPr>
              <a:t>              prg2.cpp</a:t>
            </a:r>
          </a:p>
          <a:p>
            <a:r>
              <a:rPr lang="en-US" altLang="zh-CN" sz="2000" b="1" dirty="0"/>
              <a:t>extern 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func1 (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a, 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b);</a:t>
            </a:r>
          </a:p>
          <a:p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</a:rPr>
              <a:t>static </a:t>
            </a:r>
            <a:r>
              <a:rPr lang="en-US" altLang="zh-CN" sz="2000" b="1" dirty="0" err="1">
                <a:solidFill>
                  <a:schemeClr val="accent1">
                    <a:lumMod val="50000"/>
                  </a:schemeClr>
                </a:solidFill>
              </a:rPr>
              <a:t>int</a:t>
            </a:r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</a:rPr>
              <a:t> func2 ( )</a:t>
            </a:r>
          </a:p>
          <a:p>
            <a:r>
              <a:rPr lang="en-US" altLang="zh-CN" sz="2000" b="1" dirty="0"/>
              <a:t>{</a:t>
            </a:r>
          </a:p>
          <a:p>
            <a:r>
              <a:rPr lang="en-US" altLang="zh-CN" sz="2000" b="1" dirty="0"/>
              <a:t>   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x, y, z;</a:t>
            </a:r>
          </a:p>
          <a:p>
            <a:r>
              <a:rPr lang="en-US" altLang="zh-CN" sz="2000" b="1" dirty="0"/>
              <a:t>   </a:t>
            </a:r>
            <a:r>
              <a:rPr lang="en-US" altLang="zh-CN" sz="2000" b="1" dirty="0" err="1"/>
              <a:t>scanf</a:t>
            </a:r>
            <a:r>
              <a:rPr lang="en-US" altLang="zh-CN" sz="2000" b="1" dirty="0"/>
              <a:t> (“%</a:t>
            </a:r>
            <a:r>
              <a:rPr lang="en-US" altLang="zh-CN" sz="2000" b="1" dirty="0" err="1"/>
              <a:t>d%d</a:t>
            </a:r>
            <a:r>
              <a:rPr lang="en-US" altLang="zh-CN" sz="2000" b="1" dirty="0"/>
              <a:t>”, &amp;x, &amp;y);</a:t>
            </a:r>
          </a:p>
          <a:p>
            <a:r>
              <a:rPr lang="en-US" altLang="zh-CN" sz="2000" b="1" dirty="0"/>
              <a:t>   z = func1 (x, y);</a:t>
            </a:r>
          </a:p>
          <a:p>
            <a:r>
              <a:rPr lang="en-US" altLang="zh-CN" sz="2000" b="1" dirty="0"/>
              <a:t>   return (z);</a:t>
            </a:r>
          </a:p>
          <a:p>
            <a:r>
              <a:rPr lang="en-US" altLang="zh-CN" sz="2000" b="1" dirty="0"/>
              <a:t>}</a:t>
            </a:r>
          </a:p>
        </p:txBody>
      </p:sp>
      <p:sp>
        <p:nvSpPr>
          <p:cNvPr id="1116178" name="Rectangle 18"/>
          <p:cNvSpPr>
            <a:spLocks noChangeArrowheads="1"/>
          </p:cNvSpPr>
          <p:nvPr/>
        </p:nvSpPr>
        <p:spPr bwMode="auto">
          <a:xfrm>
            <a:off x="1662906" y="3501703"/>
            <a:ext cx="2160587" cy="287337"/>
          </a:xfrm>
          <a:prstGeom prst="rect">
            <a:avLst/>
          </a:prstGeom>
          <a:noFill/>
          <a:ln w="28575">
            <a:solidFill>
              <a:srgbClr val="C0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6179" name="AutoShape 19"/>
          <p:cNvSpPr>
            <a:spLocks/>
          </p:cNvSpPr>
          <p:nvPr/>
        </p:nvSpPr>
        <p:spPr bwMode="auto">
          <a:xfrm>
            <a:off x="7971258" y="2442892"/>
            <a:ext cx="1835150" cy="719138"/>
          </a:xfrm>
          <a:prstGeom prst="borderCallout2">
            <a:avLst>
              <a:gd name="adj1" fmla="val 15894"/>
              <a:gd name="adj2" fmla="val 104153"/>
              <a:gd name="adj3" fmla="val 15894"/>
              <a:gd name="adj4" fmla="val 120588"/>
              <a:gd name="adj5" fmla="val 183222"/>
              <a:gd name="adj6" fmla="val 141523"/>
            </a:avLst>
          </a:prstGeom>
          <a:gradFill rotWithShape="1">
            <a:gsLst>
              <a:gs pos="0">
                <a:srgbClr val="CFCFD1"/>
              </a:gs>
              <a:gs pos="100000">
                <a:srgbClr val="FFFFFF"/>
              </a:gs>
            </a:gsLst>
            <a:path path="circle">
              <a:fillToRect l="100000" b="100000"/>
            </a:path>
          </a:gradFill>
          <a:ln w="19050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外部函数说明</a:t>
            </a:r>
          </a:p>
          <a:p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       </a:t>
            </a:r>
            <a:r>
              <a:rPr lang="zh-CN" altLang="en-US" sz="20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正确</a:t>
            </a:r>
          </a:p>
        </p:txBody>
      </p:sp>
      <p:grpSp>
        <p:nvGrpSpPr>
          <p:cNvPr id="1116183" name="Group 23"/>
          <p:cNvGrpSpPr>
            <a:grpSpLocks/>
          </p:cNvGrpSpPr>
          <p:nvPr/>
        </p:nvGrpSpPr>
        <p:grpSpPr bwMode="auto">
          <a:xfrm>
            <a:off x="3823543" y="2298132"/>
            <a:ext cx="3744914" cy="1584325"/>
            <a:chOff x="1138" y="1371"/>
            <a:chExt cx="2359" cy="998"/>
          </a:xfrm>
          <a:gradFill>
            <a:gsLst>
              <a:gs pos="0">
                <a:srgbClr val="CFCFD1"/>
              </a:gs>
              <a:gs pos="100000">
                <a:srgbClr val="FFFFFF"/>
              </a:gs>
            </a:gsLst>
            <a:path path="circle">
              <a:fillToRect l="100000" b="100000"/>
            </a:path>
          </a:gradFill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grpSpPr>
        <p:sp>
          <p:nvSpPr>
            <p:cNvPr id="1116181" name="AutoShape 21"/>
            <p:cNvSpPr>
              <a:spLocks noChangeArrowheads="1"/>
            </p:cNvSpPr>
            <p:nvPr/>
          </p:nvSpPr>
          <p:spPr bwMode="auto">
            <a:xfrm>
              <a:off x="1800" y="1371"/>
              <a:ext cx="1697" cy="998"/>
            </a:xfrm>
            <a:prstGeom prst="irregularSeal1">
              <a:avLst/>
            </a:prstGeom>
            <a:grpFill/>
            <a:ln w="28575">
              <a:solidFill>
                <a:srgbClr val="C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/>
              <a:r>
                <a:rPr lang="zh-CN" altLang="en-US" sz="20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外部函数说明</a:t>
              </a:r>
            </a:p>
            <a:p>
              <a:pPr algn="ctr"/>
              <a:r>
                <a:rPr lang="zh-CN" altLang="en-US" sz="2000" b="1" dirty="0">
                  <a:solidFill>
                    <a:srgbClr val="C00000"/>
                  </a:solidFill>
                  <a:latin typeface="+mn-lt"/>
                  <a:ea typeface="楷体" pitchFamily="49" charset="-122"/>
                </a:rPr>
                <a:t>错误！</a:t>
              </a:r>
            </a:p>
          </p:txBody>
        </p:sp>
        <p:sp>
          <p:nvSpPr>
            <p:cNvPr id="1116182" name="Line 22"/>
            <p:cNvSpPr>
              <a:spLocks noChangeShapeType="1"/>
            </p:cNvSpPr>
            <p:nvPr/>
          </p:nvSpPr>
          <p:spPr bwMode="auto">
            <a:xfrm flipV="1">
              <a:off x="1138" y="2033"/>
              <a:ext cx="926" cy="154"/>
            </a:xfrm>
            <a:prstGeom prst="line">
              <a:avLst/>
            </a:prstGeom>
            <a:grpFill/>
            <a:ln w="19050">
              <a:solidFill>
                <a:srgbClr val="C00000"/>
              </a:solidFill>
              <a:round/>
              <a:headEnd/>
              <a:tailEnd/>
            </a:ln>
            <a:effectLst>
              <a:outerShdw dist="35921" dir="2700000" algn="ctr" rotWithShape="0">
                <a:schemeClr val="bg2">
                  <a:alpha val="50000"/>
                </a:schemeClr>
              </a:outerShdw>
            </a:effectLst>
          </p:spPr>
          <p:txBody>
            <a:bodyPr/>
            <a:lstStyle/>
            <a:p>
              <a:endParaRPr lang="zh-CN" altLang="en-US">
                <a:solidFill>
                  <a:srgbClr val="002060"/>
                </a:solidFill>
                <a:latin typeface="+mn-lt"/>
                <a:ea typeface="楷体" pitchFamily="49" charset="-122"/>
              </a:endParaRPr>
            </a:p>
          </p:txBody>
        </p:sp>
      </p:grpSp>
      <p:sp>
        <p:nvSpPr>
          <p:cNvPr id="1116184" name="Rectangle 24"/>
          <p:cNvSpPr>
            <a:spLocks noChangeArrowheads="1"/>
          </p:cNvSpPr>
          <p:nvPr/>
        </p:nvSpPr>
        <p:spPr bwMode="auto">
          <a:xfrm>
            <a:off x="1703512" y="4355778"/>
            <a:ext cx="1108075" cy="307975"/>
          </a:xfrm>
          <a:prstGeom prst="rect">
            <a:avLst/>
          </a:prstGeom>
          <a:noFill/>
          <a:ln w="28575">
            <a:solidFill>
              <a:srgbClr val="00206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116188" name="Group 28"/>
          <p:cNvGrpSpPr>
            <a:grpSpLocks/>
          </p:cNvGrpSpPr>
          <p:nvPr/>
        </p:nvGrpSpPr>
        <p:grpSpPr bwMode="auto">
          <a:xfrm>
            <a:off x="2811586" y="3789040"/>
            <a:ext cx="1873250" cy="874713"/>
            <a:chOff x="1292" y="2380"/>
            <a:chExt cx="1180" cy="551"/>
          </a:xfrm>
          <a:gradFill>
            <a:gsLst>
              <a:gs pos="0">
                <a:srgbClr val="CFCFD1"/>
              </a:gs>
              <a:gs pos="100000">
                <a:srgbClr val="FFFFFF"/>
              </a:gs>
            </a:gsLst>
            <a:path path="circle">
              <a:fillToRect l="100000" b="100000"/>
            </a:path>
          </a:gradFill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grpSpPr>
        <p:sp>
          <p:nvSpPr>
            <p:cNvPr id="1116186" name="AutoShape 26"/>
            <p:cNvSpPr>
              <a:spLocks noChangeArrowheads="1"/>
            </p:cNvSpPr>
            <p:nvPr/>
          </p:nvSpPr>
          <p:spPr bwMode="auto">
            <a:xfrm>
              <a:off x="1559" y="2380"/>
              <a:ext cx="913" cy="551"/>
            </a:xfrm>
            <a:prstGeom prst="irregularSeal1">
              <a:avLst/>
            </a:prstGeom>
            <a:grpFill/>
            <a:ln w="28575">
              <a:solidFill>
                <a:srgbClr val="00206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/>
              <a:r>
                <a:rPr lang="zh-CN" altLang="en-US" sz="2000" b="1">
                  <a:solidFill>
                    <a:srgbClr val="CC0000"/>
                  </a:solidFill>
                  <a:latin typeface="+mn-lt"/>
                  <a:ea typeface="楷体" pitchFamily="49" charset="-122"/>
                </a:rPr>
                <a:t>错误！</a:t>
              </a:r>
            </a:p>
          </p:txBody>
        </p:sp>
        <p:sp>
          <p:nvSpPr>
            <p:cNvPr id="1116187" name="Line 27"/>
            <p:cNvSpPr>
              <a:spLocks noChangeShapeType="1"/>
            </p:cNvSpPr>
            <p:nvPr/>
          </p:nvSpPr>
          <p:spPr bwMode="auto">
            <a:xfrm flipV="1">
              <a:off x="1292" y="2750"/>
              <a:ext cx="454" cy="136"/>
            </a:xfrm>
            <a:prstGeom prst="line">
              <a:avLst/>
            </a:prstGeom>
            <a:grpFill/>
            <a:ln w="19050">
              <a:solidFill>
                <a:srgbClr val="002060"/>
              </a:solidFill>
              <a:round/>
              <a:headEnd/>
              <a:tailEnd/>
            </a:ln>
            <a:effectLst>
              <a:outerShdw dist="35921" dir="2700000" algn="ctr" rotWithShape="0">
                <a:schemeClr val="bg2">
                  <a:alpha val="50000"/>
                </a:schemeClr>
              </a:outerShdw>
            </a:effectLst>
          </p:spPr>
          <p:txBody>
            <a:bodyPr/>
            <a:lstStyle/>
            <a:p>
              <a:endParaRPr lang="zh-CN" altLang="en-US">
                <a:latin typeface="+mn-lt"/>
                <a:ea typeface="楷体" pitchFamily="49" charset="-122"/>
              </a:endParaRPr>
            </a:p>
          </p:txBody>
        </p:sp>
      </p:grpSp>
      <p:sp>
        <p:nvSpPr>
          <p:cNvPr id="1116189" name="Rectangle 29"/>
          <p:cNvSpPr>
            <a:spLocks noChangeArrowheads="1"/>
          </p:cNvSpPr>
          <p:nvPr/>
        </p:nvSpPr>
        <p:spPr bwMode="auto">
          <a:xfrm>
            <a:off x="7971691" y="3767735"/>
            <a:ext cx="3168650" cy="288925"/>
          </a:xfrm>
          <a:prstGeom prst="rect">
            <a:avLst/>
          </a:prstGeom>
          <a:noFill/>
          <a:ln w="28575">
            <a:solidFill>
              <a:srgbClr val="C0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6190" name="Rectangle 30"/>
          <p:cNvSpPr>
            <a:spLocks noChangeArrowheads="1"/>
          </p:cNvSpPr>
          <p:nvPr/>
        </p:nvSpPr>
        <p:spPr bwMode="auto">
          <a:xfrm>
            <a:off x="7971259" y="4098656"/>
            <a:ext cx="2016125" cy="307975"/>
          </a:xfrm>
          <a:prstGeom prst="rect">
            <a:avLst/>
          </a:prstGeom>
          <a:noFill/>
          <a:ln w="28575">
            <a:solidFill>
              <a:srgbClr val="00206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6191" name="AutoShape 31"/>
          <p:cNvSpPr>
            <a:spLocks/>
          </p:cNvSpPr>
          <p:nvPr/>
        </p:nvSpPr>
        <p:spPr bwMode="auto">
          <a:xfrm>
            <a:off x="5551908" y="4962255"/>
            <a:ext cx="1835150" cy="431800"/>
          </a:xfrm>
          <a:prstGeom prst="borderCallout2">
            <a:avLst>
              <a:gd name="adj1" fmla="val 26472"/>
              <a:gd name="adj2" fmla="val 104153"/>
              <a:gd name="adj3" fmla="val 26472"/>
              <a:gd name="adj4" fmla="val 115139"/>
              <a:gd name="adj5" fmla="val -157722"/>
              <a:gd name="adj6" fmla="val 129583"/>
            </a:avLst>
          </a:prstGeom>
          <a:gradFill rotWithShape="1">
            <a:gsLst>
              <a:gs pos="0">
                <a:srgbClr val="CFCFD1"/>
              </a:gs>
              <a:gs pos="100000">
                <a:srgbClr val="FFFFFF"/>
              </a:gs>
            </a:gsLst>
            <a:path path="circle">
              <a:fillToRect l="100000" b="100000"/>
            </a:path>
          </a:gradFill>
          <a:ln w="1905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r>
              <a:rPr lang="zh-CN" altLang="en-US" sz="2000" b="1">
                <a:solidFill>
                  <a:srgbClr val="002060"/>
                </a:solidFill>
                <a:latin typeface="+mn-lt"/>
                <a:ea typeface="楷体" pitchFamily="49" charset="-122"/>
              </a:rPr>
              <a:t>内部函数定义    </a:t>
            </a:r>
          </a:p>
        </p:txBody>
      </p:sp>
      <p:sp>
        <p:nvSpPr>
          <p:cNvPr id="1116192" name="Rectangle 32"/>
          <p:cNvSpPr>
            <a:spLocks noChangeArrowheads="1"/>
          </p:cNvSpPr>
          <p:nvPr/>
        </p:nvSpPr>
        <p:spPr bwMode="auto">
          <a:xfrm>
            <a:off x="8101434" y="5300393"/>
            <a:ext cx="2016125" cy="307975"/>
          </a:xfrm>
          <a:prstGeom prst="rect">
            <a:avLst/>
          </a:prstGeom>
          <a:noFill/>
          <a:ln w="28575">
            <a:solidFill>
              <a:srgbClr val="00206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6193" name="AutoShape 33"/>
          <p:cNvSpPr>
            <a:spLocks/>
          </p:cNvSpPr>
          <p:nvPr/>
        </p:nvSpPr>
        <p:spPr bwMode="auto">
          <a:xfrm>
            <a:off x="5782095" y="6292580"/>
            <a:ext cx="1835150" cy="431800"/>
          </a:xfrm>
          <a:prstGeom prst="borderCallout2">
            <a:avLst>
              <a:gd name="adj1" fmla="val 26472"/>
              <a:gd name="adj2" fmla="val 104153"/>
              <a:gd name="adj3" fmla="val 26472"/>
              <a:gd name="adj4" fmla="val 115139"/>
              <a:gd name="adj5" fmla="val -157722"/>
              <a:gd name="adj6" fmla="val 129583"/>
            </a:avLst>
          </a:prstGeom>
          <a:gradFill rotWithShape="1">
            <a:gsLst>
              <a:gs pos="0">
                <a:srgbClr val="CFCFD1"/>
              </a:gs>
              <a:gs pos="100000">
                <a:srgbClr val="FFFFFF"/>
              </a:gs>
            </a:gsLst>
            <a:path path="circle">
              <a:fillToRect l="100000" b="100000"/>
            </a:path>
          </a:gradFill>
          <a:ln w="1905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引用外部函数    </a:t>
            </a:r>
          </a:p>
        </p:txBody>
      </p:sp>
      <p:sp>
        <p:nvSpPr>
          <p:cNvPr id="25" name="Rectangle 4">
            <a:extLst>
              <a:ext uri="{FF2B5EF4-FFF2-40B4-BE49-F238E27FC236}">
                <a16:creationId xmlns:a16="http://schemas.microsoft.com/office/drawing/2014/main" id="{FDF1DF45-B0BE-445A-B063-72EA42AA73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8.7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函数的作用域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16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16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11161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1161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11161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1161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1161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7" dur="500"/>
                                        <p:tgtEl>
                                          <p:spTgt spid="11161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1" dur="500"/>
                                        <p:tgtEl>
                                          <p:spTgt spid="11161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6" dur="500"/>
                                        <p:tgtEl>
                                          <p:spTgt spid="11161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0" dur="500"/>
                                        <p:tgtEl>
                                          <p:spTgt spid="11161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5" dur="500"/>
                                        <p:tgtEl>
                                          <p:spTgt spid="11161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9" dur="500"/>
                                        <p:tgtEl>
                                          <p:spTgt spid="11161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4" dur="500"/>
                                        <p:tgtEl>
                                          <p:spTgt spid="11161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8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68" dur="500"/>
                                        <p:tgtEl>
                                          <p:spTgt spid="11161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3" dur="500"/>
                                        <p:tgtEl>
                                          <p:spTgt spid="111619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18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7" dur="500"/>
                                        <p:tgtEl>
                                          <p:spTgt spid="11161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166" grpId="0"/>
      <p:bldP spid="1116168" grpId="0"/>
      <p:bldP spid="1116171" grpId="0" animBg="1"/>
      <p:bldP spid="1116175" grpId="0" animBg="1"/>
      <p:bldP spid="1116176" grpId="0" animBg="1" autoUpdateAnimBg="0"/>
      <p:bldP spid="1116177" grpId="0" animBg="1" autoUpdateAnimBg="0"/>
      <p:bldP spid="1116178" grpId="0" animBg="1"/>
      <p:bldP spid="1116179" grpId="0" animBg="1"/>
      <p:bldP spid="1116184" grpId="0" animBg="1"/>
      <p:bldP spid="1116189" grpId="0" animBg="1"/>
      <p:bldP spid="1116190" grpId="0" animBg="1"/>
      <p:bldP spid="1116191" grpId="0" animBg="1"/>
      <p:bldP spid="1116192" grpId="0" animBg="1"/>
      <p:bldP spid="1116193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497" name="Rectangle 1"/>
          <p:cNvSpPr>
            <a:spLocks noChangeArrowheads="1"/>
          </p:cNvSpPr>
          <p:nvPr/>
        </p:nvSpPr>
        <p:spPr bwMode="auto">
          <a:xfrm>
            <a:off x="839416" y="817548"/>
            <a:ext cx="3456384" cy="52322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3175">
              <a:tabLst>
                <a:tab pos="450850" algn="l"/>
              </a:tabLst>
            </a:pPr>
            <a:r>
              <a:rPr kumimoji="0" lang="en-US" altLang="zh-CN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1</a:t>
            </a:r>
            <a:r>
              <a:rPr kumimoji="0" lang="zh-CN" altLang="en-US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、常用数学函数</a:t>
            </a:r>
            <a:endParaRPr kumimoji="0" lang="zh-CN" altLang="en-US" sz="28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  <a:cs typeface="宋体" pitchFamily="2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018908" y="1406966"/>
            <a:ext cx="52927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1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）</a:t>
            </a:r>
            <a:r>
              <a:rPr lang="zh-CN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求浮点数的绝对值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—</a:t>
            </a:r>
            <a:r>
              <a:rPr lang="en-US" altLang="zh-CN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fabs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</a:t>
            </a:r>
          </a:p>
        </p:txBody>
      </p:sp>
      <p:sp>
        <p:nvSpPr>
          <p:cNvPr id="36" name="Text Box 7"/>
          <p:cNvSpPr txBox="1">
            <a:spLocks noChangeArrowheads="1"/>
          </p:cNvSpPr>
          <p:nvPr/>
        </p:nvSpPr>
        <p:spPr bwMode="auto">
          <a:xfrm>
            <a:off x="1961456" y="1940639"/>
            <a:ext cx="9463136" cy="1200329"/>
          </a:xfrm>
          <a:prstGeom prst="rect">
            <a:avLst/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  <a:tileRect/>
          </a:gradFill>
          <a:ln w="38100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ea typeface="隶书" pitchFamily="49" charset="-122"/>
              </a:rPr>
              <a:t>格式：</a:t>
            </a:r>
            <a:r>
              <a:rPr lang="en-US" altLang="zh-CN" dirty="0"/>
              <a:t> </a:t>
            </a:r>
            <a:r>
              <a:rPr lang="en-US" altLang="zh-CN" b="1" dirty="0">
                <a:ea typeface="隶书" pitchFamily="49" charset="-122"/>
              </a:rPr>
              <a:t>double  </a:t>
            </a:r>
            <a:r>
              <a:rPr lang="en-US" altLang="zh-CN" b="1" dirty="0">
                <a:solidFill>
                  <a:srgbClr val="C00000"/>
                </a:solidFill>
                <a:ea typeface="隶书" pitchFamily="49" charset="-122"/>
              </a:rPr>
              <a:t>fabs</a:t>
            </a:r>
            <a:r>
              <a:rPr lang="en-US" altLang="zh-CN" b="1" dirty="0">
                <a:ea typeface="隶书" pitchFamily="49" charset="-122"/>
              </a:rPr>
              <a:t>( double x );    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//</a:t>
            </a:r>
            <a:r>
              <a:rPr lang="zh-CN" altLang="en-US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应包含的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.h</a:t>
            </a:r>
            <a:r>
              <a:rPr lang="zh-CN" altLang="en-US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文件为</a:t>
            </a:r>
            <a:r>
              <a:rPr lang="en-US" altLang="zh-CN" sz="2000" b="1" dirty="0" err="1">
                <a:solidFill>
                  <a:srgbClr val="CC0099"/>
                </a:solidFill>
                <a:latin typeface="+mn-lt"/>
                <a:ea typeface="隶书" pitchFamily="49" charset="-122"/>
              </a:rPr>
              <a:t>math.h</a:t>
            </a:r>
            <a:endParaRPr lang="zh-CN" altLang="zh-CN" sz="2000" b="1" dirty="0">
              <a:solidFill>
                <a:srgbClr val="CC0099"/>
              </a:solidFill>
              <a:latin typeface="+mn-lt"/>
              <a:ea typeface="隶书" pitchFamily="49" charset="-122"/>
            </a:endParaRPr>
          </a:p>
          <a:p>
            <a:r>
              <a:rPr lang="zh-CN" altLang="zh-CN" b="1" dirty="0">
                <a:ea typeface="隶书" pitchFamily="49" charset="-122"/>
              </a:rPr>
              <a:t>功能：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计算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浮点数</a:t>
            </a:r>
            <a:r>
              <a:rPr lang="en-US" altLang="zh-CN" b="1" dirty="0">
                <a:ea typeface="隶书" pitchFamily="49" charset="-122"/>
                <a:sym typeface="Wingdings" pitchFamily="2" charset="2"/>
              </a:rPr>
              <a:t>x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的绝对值</a:t>
            </a:r>
          </a:p>
          <a:p>
            <a:r>
              <a:rPr lang="zh-CN" altLang="zh-CN" b="1" dirty="0">
                <a:ea typeface="隶书" pitchFamily="49" charset="-122"/>
              </a:rPr>
              <a:t>返值：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返回浮点数</a:t>
            </a:r>
            <a:r>
              <a:rPr lang="en-US" altLang="zh-CN" b="1" dirty="0">
                <a:ea typeface="隶书" pitchFamily="49" charset="-122"/>
                <a:sym typeface="Wingdings" pitchFamily="2" charset="2"/>
              </a:rPr>
              <a:t>x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的绝对值</a:t>
            </a:r>
          </a:p>
        </p:txBody>
      </p:sp>
      <p:sp>
        <p:nvSpPr>
          <p:cNvPr id="37" name="矩形 36"/>
          <p:cNvSpPr/>
          <p:nvPr/>
        </p:nvSpPr>
        <p:spPr>
          <a:xfrm>
            <a:off x="1967480" y="3284985"/>
            <a:ext cx="9457112" cy="1200329"/>
          </a:xfrm>
          <a:prstGeom prst="rect">
            <a:avLst/>
          </a:prstGeom>
          <a:solidFill>
            <a:schemeClr val="bg1"/>
          </a:solidFill>
          <a:ln w="38100">
            <a:solidFill>
              <a:srgbClr val="00206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例如：</a:t>
            </a: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double a = -3.14, b;</a:t>
            </a:r>
            <a:endParaRPr lang="zh-CN" altLang="zh-CN" b="1" dirty="0"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b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fabs</a:t>
            </a:r>
            <a:r>
              <a:rPr lang="en-US" altLang="zh-CN" b="1" dirty="0">
                <a:latin typeface="+mn-lt"/>
                <a:ea typeface="楷体" pitchFamily="49" charset="-122"/>
              </a:rPr>
              <a:t>(a);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将浮点型变量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a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的绝对值赋给变量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b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，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b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的值为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3.14</a:t>
            </a:r>
            <a:endParaRPr lang="zh-CN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1019112" y="4581129"/>
            <a:ext cx="76567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2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）</a:t>
            </a:r>
            <a:r>
              <a:rPr lang="zh-CN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求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整</a:t>
            </a:r>
            <a:r>
              <a:rPr lang="zh-CN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数的绝对值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—</a:t>
            </a:r>
            <a:r>
              <a:rPr lang="en-US" altLang="zh-CN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abs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</a:t>
            </a:r>
            <a:r>
              <a:rPr lang="zh-CN" altLang="en-US" sz="20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（</a:t>
            </a:r>
            <a:r>
              <a:rPr lang="en-US" altLang="zh-CN" sz="20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CB17.12</a:t>
            </a:r>
            <a:r>
              <a:rPr lang="zh-CN" altLang="zh-CN" sz="20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下没有该函数</a:t>
            </a:r>
            <a:r>
              <a:rPr lang="zh-CN" altLang="en-US" sz="20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）</a:t>
            </a:r>
          </a:p>
        </p:txBody>
      </p:sp>
      <p:sp>
        <p:nvSpPr>
          <p:cNvPr id="40" name="Text Box 7"/>
          <p:cNvSpPr txBox="1">
            <a:spLocks noChangeArrowheads="1"/>
          </p:cNvSpPr>
          <p:nvPr/>
        </p:nvSpPr>
        <p:spPr bwMode="auto">
          <a:xfrm>
            <a:off x="1960000" y="5157193"/>
            <a:ext cx="9464592" cy="1200329"/>
          </a:xfrm>
          <a:prstGeom prst="rect">
            <a:avLst/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  <a:tileRect/>
          </a:gradFill>
          <a:ln w="38100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>
            <a:defPPr>
              <a:defRPr lang="zh-CN"/>
            </a:defPPr>
            <a:lvl1pPr>
              <a:defRPr b="1">
                <a:ea typeface="隶书" pitchFamily="49" charset="-122"/>
              </a:defRPr>
            </a:lvl1pPr>
          </a:lstStyle>
          <a:p>
            <a:r>
              <a:rPr lang="zh-CN" altLang="en-US" dirty="0"/>
              <a:t>格式：</a:t>
            </a:r>
            <a:r>
              <a:rPr lang="en-US" altLang="zh-CN" dirty="0"/>
              <a:t> </a:t>
            </a:r>
            <a:r>
              <a:rPr lang="en-US" altLang="zh-CN" dirty="0">
                <a:sym typeface="Wingdings" pitchFamily="2" charset="2"/>
              </a:rPr>
              <a:t>int  </a:t>
            </a:r>
            <a:r>
              <a:rPr lang="en-US" altLang="zh-CN" dirty="0">
                <a:solidFill>
                  <a:srgbClr val="C00000"/>
                </a:solidFill>
                <a:sym typeface="Wingdings" pitchFamily="2" charset="2"/>
              </a:rPr>
              <a:t>abs</a:t>
            </a:r>
            <a:r>
              <a:rPr lang="en-US" altLang="zh-CN" dirty="0">
                <a:sym typeface="Wingdings" pitchFamily="2" charset="2"/>
              </a:rPr>
              <a:t>( int </a:t>
            </a:r>
            <a:r>
              <a:rPr lang="en-US" altLang="zh-CN" dirty="0" err="1">
                <a:sym typeface="Wingdings" pitchFamily="2" charset="2"/>
              </a:rPr>
              <a:t>i</a:t>
            </a:r>
            <a:r>
              <a:rPr lang="en-US" altLang="zh-CN" dirty="0">
                <a:sym typeface="Wingdings" pitchFamily="2" charset="2"/>
              </a:rPr>
              <a:t> );                    </a:t>
            </a:r>
            <a:r>
              <a:rPr lang="en-US" altLang="zh-CN" sz="2000" dirty="0">
                <a:solidFill>
                  <a:srgbClr val="CF0D9E"/>
                </a:solidFill>
                <a:latin typeface="+mn-lt"/>
                <a:sym typeface="Wingdings" pitchFamily="2" charset="2"/>
              </a:rPr>
              <a:t>//</a:t>
            </a:r>
            <a:r>
              <a:rPr lang="zh-CN" altLang="zh-CN" sz="2000" dirty="0">
                <a:solidFill>
                  <a:srgbClr val="CF0D9E"/>
                </a:solidFill>
                <a:latin typeface="+mn-lt"/>
                <a:sym typeface="Wingdings" pitchFamily="2" charset="2"/>
              </a:rPr>
              <a:t>应包含的</a:t>
            </a:r>
            <a:r>
              <a:rPr lang="en-US" altLang="zh-CN" sz="2000" dirty="0">
                <a:solidFill>
                  <a:srgbClr val="CF0D9E"/>
                </a:solidFill>
                <a:latin typeface="+mn-lt"/>
                <a:sym typeface="Wingdings" pitchFamily="2" charset="2"/>
              </a:rPr>
              <a:t>.h</a:t>
            </a:r>
            <a:r>
              <a:rPr lang="zh-CN" altLang="zh-CN" sz="2000" dirty="0">
                <a:solidFill>
                  <a:srgbClr val="CF0D9E"/>
                </a:solidFill>
                <a:latin typeface="+mn-lt"/>
                <a:sym typeface="Wingdings" pitchFamily="2" charset="2"/>
              </a:rPr>
              <a:t>文件为</a:t>
            </a:r>
            <a:r>
              <a:rPr lang="en-US" altLang="zh-CN" sz="2000" dirty="0" err="1">
                <a:solidFill>
                  <a:srgbClr val="CF0D9E"/>
                </a:solidFill>
                <a:latin typeface="+mn-lt"/>
                <a:sym typeface="Wingdings" pitchFamily="2" charset="2"/>
              </a:rPr>
              <a:t>math.h</a:t>
            </a:r>
            <a:endParaRPr lang="zh-CN" altLang="zh-CN" sz="2000" dirty="0">
              <a:solidFill>
                <a:srgbClr val="CF0D9E"/>
              </a:solidFill>
              <a:latin typeface="+mn-lt"/>
            </a:endParaRPr>
          </a:p>
          <a:p>
            <a:r>
              <a:rPr lang="zh-CN" altLang="zh-CN" dirty="0"/>
              <a:t>功能：</a:t>
            </a:r>
            <a:r>
              <a:rPr lang="zh-CN" altLang="en-US" dirty="0">
                <a:sym typeface="Wingdings" pitchFamily="2" charset="2"/>
              </a:rPr>
              <a:t>计算整</a:t>
            </a:r>
            <a:r>
              <a:rPr lang="zh-CN" altLang="zh-CN" dirty="0">
                <a:sym typeface="Wingdings" pitchFamily="2" charset="2"/>
              </a:rPr>
              <a:t>数</a:t>
            </a:r>
            <a:r>
              <a:rPr lang="en-US" altLang="zh-CN" dirty="0" err="1">
                <a:sym typeface="Wingdings" pitchFamily="2" charset="2"/>
              </a:rPr>
              <a:t>i</a:t>
            </a:r>
            <a:r>
              <a:rPr lang="zh-CN" altLang="zh-CN" dirty="0">
                <a:sym typeface="Wingdings" pitchFamily="2" charset="2"/>
              </a:rPr>
              <a:t>的绝对值</a:t>
            </a:r>
          </a:p>
          <a:p>
            <a:r>
              <a:rPr lang="zh-CN" altLang="zh-CN" dirty="0"/>
              <a:t>返值：</a:t>
            </a:r>
            <a:r>
              <a:rPr lang="zh-CN" altLang="zh-CN" dirty="0">
                <a:sym typeface="Wingdings" pitchFamily="2" charset="2"/>
              </a:rPr>
              <a:t>返回</a:t>
            </a:r>
            <a:r>
              <a:rPr lang="zh-CN" altLang="en-US" dirty="0">
                <a:sym typeface="Wingdings" pitchFamily="2" charset="2"/>
              </a:rPr>
              <a:t>整</a:t>
            </a:r>
            <a:r>
              <a:rPr lang="zh-CN" altLang="zh-CN" dirty="0">
                <a:sym typeface="Wingdings" pitchFamily="2" charset="2"/>
              </a:rPr>
              <a:t>数</a:t>
            </a:r>
            <a:r>
              <a:rPr lang="en-US" altLang="zh-CN" dirty="0">
                <a:sym typeface="Wingdings" pitchFamily="2" charset="2"/>
              </a:rPr>
              <a:t>x</a:t>
            </a:r>
            <a:r>
              <a:rPr lang="zh-CN" altLang="zh-CN" dirty="0">
                <a:sym typeface="Wingdings" pitchFamily="2" charset="2"/>
              </a:rPr>
              <a:t>的绝对值</a:t>
            </a:r>
          </a:p>
        </p:txBody>
      </p:sp>
      <p:sp>
        <p:nvSpPr>
          <p:cNvPr id="41" name="矩形 40"/>
          <p:cNvSpPr/>
          <p:nvPr/>
        </p:nvSpPr>
        <p:spPr>
          <a:xfrm>
            <a:off x="1967480" y="5123814"/>
            <a:ext cx="9505056" cy="1200329"/>
          </a:xfrm>
          <a:prstGeom prst="rect">
            <a:avLst/>
          </a:prstGeom>
          <a:solidFill>
            <a:schemeClr val="bg1"/>
          </a:solidFill>
          <a:ln w="38100">
            <a:solidFill>
              <a:srgbClr val="00206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例如：</a:t>
            </a: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int</a:t>
            </a:r>
            <a:r>
              <a:rPr lang="en-US" altLang="zh-CN" b="1" dirty="0">
                <a:latin typeface="+mn-lt"/>
                <a:ea typeface="楷体" pitchFamily="49" charset="-122"/>
              </a:rPr>
              <a:t> a = -3, b;</a:t>
            </a:r>
            <a:endParaRPr lang="zh-CN" altLang="zh-CN" b="1" dirty="0"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b = abs(a);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将整型变量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a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的绝对值赋给变量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b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，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b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的值为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3</a:t>
            </a:r>
            <a:endParaRPr lang="zh-CN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6A20CE9C-57CD-4202-ABDA-227B2DB421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8.8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常用库函数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0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0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0497" grpId="0"/>
      <p:bldP spid="35" grpId="0"/>
      <p:bldP spid="36" grpId="0" animBg="1"/>
      <p:bldP spid="37" grpId="0" animBg="1"/>
      <p:bldP spid="39" grpId="0"/>
      <p:bldP spid="40" grpId="0" animBg="1"/>
      <p:bldP spid="41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1055440" y="1311151"/>
            <a:ext cx="780094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3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）</a:t>
            </a:r>
            <a:r>
              <a:rPr lang="zh-CN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求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长整</a:t>
            </a:r>
            <a:r>
              <a:rPr lang="zh-CN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数的绝对值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—</a:t>
            </a:r>
            <a:r>
              <a:rPr lang="en-US" altLang="zh-CN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labs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</a:t>
            </a:r>
            <a:r>
              <a:rPr lang="zh-CN" altLang="en-US" sz="2000" b="1" dirty="0">
                <a:solidFill>
                  <a:srgbClr val="C00000"/>
                </a:solidFill>
                <a:ea typeface="楷体" pitchFamily="49" charset="-122"/>
              </a:rPr>
              <a:t>（</a:t>
            </a:r>
            <a:r>
              <a:rPr lang="en-US" altLang="zh-CN" sz="2000" b="1" dirty="0">
                <a:solidFill>
                  <a:srgbClr val="C00000"/>
                </a:solidFill>
                <a:ea typeface="楷体" pitchFamily="49" charset="-122"/>
              </a:rPr>
              <a:t>CB17.12</a:t>
            </a:r>
            <a:r>
              <a:rPr lang="zh-CN" altLang="zh-CN" sz="2000" b="1" dirty="0">
                <a:solidFill>
                  <a:srgbClr val="C00000"/>
                </a:solidFill>
                <a:ea typeface="楷体" pitchFamily="49" charset="-122"/>
              </a:rPr>
              <a:t>下没有该函数</a:t>
            </a:r>
            <a:r>
              <a:rPr lang="zh-CN" altLang="en-US" sz="2000" b="1" dirty="0">
                <a:solidFill>
                  <a:srgbClr val="C00000"/>
                </a:solidFill>
                <a:ea typeface="楷体" pitchFamily="49" charset="-122"/>
              </a:rPr>
              <a:t>）</a:t>
            </a:r>
            <a:endParaRPr lang="zh-CN" altLang="en-US" sz="2000" b="1" dirty="0">
              <a:solidFill>
                <a:srgbClr val="C00000"/>
              </a:solidFill>
              <a:latin typeface="+mn-lt"/>
              <a:ea typeface="楷体" pitchFamily="49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028076" y="3164775"/>
            <a:ext cx="9785608" cy="1200329"/>
          </a:xfrm>
          <a:prstGeom prst="rect">
            <a:avLst/>
          </a:prstGeom>
          <a:solidFill>
            <a:schemeClr val="bg1"/>
          </a:solidFill>
          <a:ln w="38100">
            <a:solidFill>
              <a:srgbClr val="00206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例如：</a:t>
            </a: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long a = -123456789L, b;</a:t>
            </a:r>
            <a:endParaRPr lang="zh-CN" altLang="zh-CN" b="1" dirty="0"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b = labs(a);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将长整型变量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a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的绝对值赋给变量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b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，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b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的值为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123456789</a:t>
            </a:r>
            <a:endParaRPr lang="zh-CN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1079524" y="4489956"/>
            <a:ext cx="456038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4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）</a:t>
            </a:r>
            <a:r>
              <a:rPr lang="zh-CN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求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平方根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—</a:t>
            </a:r>
            <a:r>
              <a:rPr lang="en-US" altLang="zh-CN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sqrt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</a:t>
            </a:r>
            <a:endParaRPr lang="zh-CN" altLang="en-US" sz="20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</p:txBody>
      </p:sp>
      <p:sp>
        <p:nvSpPr>
          <p:cNvPr id="40" name="Text Box 7"/>
          <p:cNvSpPr txBox="1">
            <a:spLocks noChangeArrowheads="1"/>
          </p:cNvSpPr>
          <p:nvPr/>
        </p:nvSpPr>
        <p:spPr bwMode="auto">
          <a:xfrm>
            <a:off x="2057291" y="5108991"/>
            <a:ext cx="9776688" cy="1200329"/>
          </a:xfrm>
          <a:prstGeom prst="rect">
            <a:avLst/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  <a:tileRect/>
          </a:gradFill>
          <a:ln w="38100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ea typeface="隶书" pitchFamily="49" charset="-122"/>
              </a:rPr>
              <a:t>格式：</a:t>
            </a:r>
            <a:r>
              <a:rPr lang="en-US" altLang="zh-CN" dirty="0"/>
              <a:t> </a:t>
            </a:r>
            <a:r>
              <a:rPr lang="en-US" altLang="zh-CN" b="1" dirty="0">
                <a:ea typeface="隶书" pitchFamily="49" charset="-122"/>
                <a:sym typeface="Wingdings" pitchFamily="2" charset="2"/>
              </a:rPr>
              <a:t>double  </a:t>
            </a:r>
            <a:r>
              <a:rPr lang="en-US" altLang="zh-CN" b="1" dirty="0" err="1">
                <a:solidFill>
                  <a:srgbClr val="C00000"/>
                </a:solidFill>
                <a:ea typeface="隶书" pitchFamily="49" charset="-122"/>
                <a:sym typeface="Wingdings" pitchFamily="2" charset="2"/>
              </a:rPr>
              <a:t>sqrt</a:t>
            </a:r>
            <a:r>
              <a:rPr lang="en-US" altLang="zh-CN" b="1" dirty="0">
                <a:ea typeface="隶书" pitchFamily="49" charset="-122"/>
                <a:sym typeface="Wingdings" pitchFamily="2" charset="2"/>
              </a:rPr>
              <a:t>( double x );     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  <a:sym typeface="Wingdings" pitchFamily="2" charset="2"/>
              </a:rPr>
              <a:t>//</a:t>
            </a:r>
            <a:r>
              <a:rPr lang="zh-CN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  <a:sym typeface="Wingdings" pitchFamily="2" charset="2"/>
              </a:rPr>
              <a:t>应包含的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  <a:sym typeface="Wingdings" pitchFamily="2" charset="2"/>
              </a:rPr>
              <a:t>.h</a:t>
            </a:r>
            <a:r>
              <a:rPr lang="zh-CN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  <a:sym typeface="Wingdings" pitchFamily="2" charset="2"/>
              </a:rPr>
              <a:t>文件为</a:t>
            </a:r>
            <a:r>
              <a:rPr lang="en-US" altLang="zh-CN" sz="2000" b="1" dirty="0" err="1">
                <a:solidFill>
                  <a:srgbClr val="CC0099"/>
                </a:solidFill>
                <a:latin typeface="+mn-lt"/>
                <a:ea typeface="隶书" pitchFamily="49" charset="-122"/>
                <a:sym typeface="Wingdings" pitchFamily="2" charset="2"/>
              </a:rPr>
              <a:t>math.h</a:t>
            </a:r>
            <a:endParaRPr lang="zh-CN" altLang="zh-CN" sz="2000" b="1" dirty="0">
              <a:latin typeface="+mn-lt"/>
              <a:ea typeface="隶书" pitchFamily="49" charset="-122"/>
            </a:endParaRPr>
          </a:p>
          <a:p>
            <a:r>
              <a:rPr lang="zh-CN" altLang="zh-CN" b="1" dirty="0">
                <a:ea typeface="隶书" pitchFamily="49" charset="-122"/>
              </a:rPr>
              <a:t>功能：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计算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浮点数</a:t>
            </a:r>
            <a:r>
              <a:rPr lang="en-US" altLang="zh-CN" b="1" dirty="0">
                <a:ea typeface="隶书" pitchFamily="49" charset="-122"/>
                <a:sym typeface="Wingdings" pitchFamily="2" charset="2"/>
              </a:rPr>
              <a:t>x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的平方根</a:t>
            </a:r>
          </a:p>
          <a:p>
            <a:r>
              <a:rPr lang="zh-CN" altLang="zh-CN" b="1" dirty="0">
                <a:ea typeface="隶书" pitchFamily="49" charset="-122"/>
                <a:sym typeface="Wingdings" pitchFamily="2" charset="2"/>
              </a:rPr>
              <a:t>返值：返回浮点数</a:t>
            </a:r>
            <a:r>
              <a:rPr lang="en-US" altLang="zh-CN" b="1" dirty="0">
                <a:ea typeface="隶书" pitchFamily="49" charset="-122"/>
                <a:sym typeface="Wingdings" pitchFamily="2" charset="2"/>
              </a:rPr>
              <a:t>x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的平方根</a:t>
            </a:r>
          </a:p>
        </p:txBody>
      </p:sp>
      <p:sp>
        <p:nvSpPr>
          <p:cNvPr id="14" name="Text Box 7"/>
          <p:cNvSpPr txBox="1">
            <a:spLocks noChangeArrowheads="1"/>
          </p:cNvSpPr>
          <p:nvPr/>
        </p:nvSpPr>
        <p:spPr bwMode="auto">
          <a:xfrm>
            <a:off x="2035556" y="1796623"/>
            <a:ext cx="9785608" cy="1200329"/>
          </a:xfrm>
          <a:prstGeom prst="rect">
            <a:avLst/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  <a:tileRect/>
          </a:gradFill>
          <a:ln w="38100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ea typeface="隶书" pitchFamily="49" charset="-122"/>
              </a:rPr>
              <a:t>格式：</a:t>
            </a:r>
            <a:r>
              <a:rPr lang="en-US" altLang="zh-CN" dirty="0"/>
              <a:t> </a:t>
            </a:r>
            <a:r>
              <a:rPr lang="en-US" altLang="zh-CN" b="1" dirty="0">
                <a:ea typeface="隶书" pitchFamily="49" charset="-122"/>
                <a:sym typeface="Wingdings" pitchFamily="2" charset="2"/>
              </a:rPr>
              <a:t>long  </a:t>
            </a:r>
            <a:r>
              <a:rPr lang="en-US" altLang="zh-CN" b="1" dirty="0">
                <a:solidFill>
                  <a:srgbClr val="C00000"/>
                </a:solidFill>
                <a:ea typeface="隶书" pitchFamily="49" charset="-122"/>
                <a:sym typeface="Wingdings" pitchFamily="2" charset="2"/>
              </a:rPr>
              <a:t>labs</a:t>
            </a:r>
            <a:r>
              <a:rPr lang="en-US" altLang="zh-CN" b="1" dirty="0">
                <a:ea typeface="隶书" pitchFamily="49" charset="-122"/>
                <a:sym typeface="Wingdings" pitchFamily="2" charset="2"/>
              </a:rPr>
              <a:t>( long </a:t>
            </a:r>
            <a:r>
              <a:rPr lang="en-US" altLang="zh-CN" b="1" dirty="0" err="1">
                <a:ea typeface="隶书" pitchFamily="49" charset="-122"/>
                <a:sym typeface="Wingdings" pitchFamily="2" charset="2"/>
              </a:rPr>
              <a:t>i</a:t>
            </a:r>
            <a:r>
              <a:rPr lang="en-US" altLang="zh-CN" b="1" dirty="0">
                <a:ea typeface="隶书" pitchFamily="49" charset="-122"/>
                <a:sym typeface="Wingdings" pitchFamily="2" charset="2"/>
              </a:rPr>
              <a:t> );              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  <a:sym typeface="Wingdings" pitchFamily="2" charset="2"/>
              </a:rPr>
              <a:t>//</a:t>
            </a:r>
            <a:r>
              <a:rPr lang="zh-CN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  <a:sym typeface="Wingdings" pitchFamily="2" charset="2"/>
              </a:rPr>
              <a:t>应包含的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  <a:sym typeface="Wingdings" pitchFamily="2" charset="2"/>
              </a:rPr>
              <a:t>.h</a:t>
            </a:r>
            <a:r>
              <a:rPr lang="zh-CN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  <a:sym typeface="Wingdings" pitchFamily="2" charset="2"/>
              </a:rPr>
              <a:t>文件为</a:t>
            </a:r>
            <a:r>
              <a:rPr lang="en-US" altLang="zh-CN" sz="2000" b="1" dirty="0" err="1">
                <a:solidFill>
                  <a:srgbClr val="CC0099"/>
                </a:solidFill>
                <a:latin typeface="+mn-lt"/>
                <a:ea typeface="隶书" pitchFamily="49" charset="-122"/>
                <a:sym typeface="Wingdings" pitchFamily="2" charset="2"/>
              </a:rPr>
              <a:t>math.h</a:t>
            </a:r>
            <a:endParaRPr lang="zh-CN" altLang="zh-CN" sz="2000" b="1" dirty="0">
              <a:latin typeface="+mn-lt"/>
              <a:ea typeface="隶书" pitchFamily="49" charset="-122"/>
            </a:endParaRPr>
          </a:p>
          <a:p>
            <a:r>
              <a:rPr lang="zh-CN" altLang="zh-CN" b="1" dirty="0">
                <a:ea typeface="隶书" pitchFamily="49" charset="-122"/>
              </a:rPr>
              <a:t>功能：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计算长整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数</a:t>
            </a:r>
            <a:r>
              <a:rPr lang="en-US" altLang="zh-CN" b="1" dirty="0" err="1">
                <a:ea typeface="隶书" pitchFamily="49" charset="-122"/>
                <a:sym typeface="Wingdings" pitchFamily="2" charset="2"/>
              </a:rPr>
              <a:t>i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的绝对值</a:t>
            </a:r>
          </a:p>
          <a:p>
            <a:r>
              <a:rPr lang="zh-CN" altLang="zh-CN" b="1" dirty="0">
                <a:ea typeface="隶书" pitchFamily="49" charset="-122"/>
              </a:rPr>
              <a:t>返值：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返回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长整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数</a:t>
            </a:r>
            <a:r>
              <a:rPr lang="en-US" altLang="zh-CN" b="1" dirty="0" err="1">
                <a:ea typeface="隶书" pitchFamily="49" charset="-122"/>
                <a:sym typeface="Wingdings" pitchFamily="2" charset="2"/>
              </a:rPr>
              <a:t>i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的绝对值</a:t>
            </a:r>
          </a:p>
        </p:txBody>
      </p:sp>
      <p:sp>
        <p:nvSpPr>
          <p:cNvPr id="15" name="矩形 14"/>
          <p:cNvSpPr/>
          <p:nvPr/>
        </p:nvSpPr>
        <p:spPr>
          <a:xfrm>
            <a:off x="2052539" y="5108991"/>
            <a:ext cx="9776688" cy="1200329"/>
          </a:xfrm>
          <a:prstGeom prst="rect">
            <a:avLst/>
          </a:prstGeom>
          <a:solidFill>
            <a:schemeClr val="bg1"/>
          </a:solidFill>
          <a:ln w="38100">
            <a:solidFill>
              <a:srgbClr val="00206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例如：</a:t>
            </a: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double a =1.44, b;</a:t>
            </a:r>
            <a:endParaRPr lang="zh-CN" altLang="zh-CN" b="1" dirty="0"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b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sqrt</a:t>
            </a:r>
            <a:r>
              <a:rPr lang="en-US" altLang="zh-CN" b="1" dirty="0">
                <a:latin typeface="+mn-lt"/>
                <a:ea typeface="楷体" pitchFamily="49" charset="-122"/>
              </a:rPr>
              <a:t>(a);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将浮点型变量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a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的平方根赋给变量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b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，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b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的值为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1.200000</a:t>
            </a:r>
            <a:endParaRPr lang="zh-CN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668712B1-DDFA-4A63-88AB-BC560259D6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416" y="817548"/>
            <a:ext cx="3456384" cy="52322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3175">
              <a:tabLst>
                <a:tab pos="450850" algn="l"/>
              </a:tabLst>
            </a:pPr>
            <a:r>
              <a:rPr kumimoji="0" lang="en-US" altLang="zh-CN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1</a:t>
            </a:r>
            <a:r>
              <a:rPr kumimoji="0" lang="zh-CN" altLang="en-US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、常用数学函数</a:t>
            </a:r>
            <a:endParaRPr kumimoji="0" lang="zh-CN" altLang="en-US" sz="28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  <a:cs typeface="宋体" pitchFamily="2" charset="-122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3EE92F27-92AD-4621-B752-449943441D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8.8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常用库函数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7" grpId="0" animBg="1"/>
      <p:bldP spid="39" grpId="0"/>
      <p:bldP spid="40" grpId="0" animBg="1"/>
      <p:bldP spid="14" grpId="0" animBg="1"/>
      <p:bldP spid="15" grpId="0" animBg="1"/>
      <p:bldP spid="11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1031355" y="1287344"/>
            <a:ext cx="48965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5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）</a:t>
            </a:r>
            <a:r>
              <a:rPr lang="zh-CN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求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上限整数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—</a:t>
            </a:r>
            <a:r>
              <a:rPr lang="en-US" altLang="zh-CN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ceil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</a:t>
            </a:r>
            <a:endParaRPr lang="zh-CN" altLang="en-US" sz="20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596238" y="3147262"/>
            <a:ext cx="9829000" cy="1569660"/>
          </a:xfrm>
          <a:prstGeom prst="rect">
            <a:avLst/>
          </a:prstGeom>
          <a:solidFill>
            <a:schemeClr val="bg1"/>
          </a:solidFill>
          <a:ln w="38100">
            <a:solidFill>
              <a:srgbClr val="00206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例如：</a:t>
            </a: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double a , b;</a:t>
            </a:r>
            <a:endParaRPr lang="zh-CN" altLang="zh-CN" b="1" dirty="0"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a = ceil(1.23); 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 a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的值为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2.000000</a:t>
            </a:r>
            <a:endParaRPr lang="zh-CN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b = ceil(-1.23);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 b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的值为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-1.000000</a:t>
            </a:r>
            <a:endParaRPr lang="zh-CN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</p:txBody>
      </p:sp>
      <p:sp>
        <p:nvSpPr>
          <p:cNvPr id="14" name="Text Box 7"/>
          <p:cNvSpPr txBox="1">
            <a:spLocks noChangeArrowheads="1"/>
          </p:cNvSpPr>
          <p:nvPr/>
        </p:nvSpPr>
        <p:spPr bwMode="auto">
          <a:xfrm>
            <a:off x="1600606" y="1772816"/>
            <a:ext cx="9824632" cy="1200329"/>
          </a:xfrm>
          <a:prstGeom prst="rect">
            <a:avLst/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  <a:tileRect/>
          </a:gradFill>
          <a:ln w="38100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ea typeface="隶书" pitchFamily="49" charset="-122"/>
              </a:rPr>
              <a:t>格式：</a:t>
            </a:r>
            <a:r>
              <a:rPr lang="en-US" altLang="zh-CN" dirty="0"/>
              <a:t> </a:t>
            </a:r>
            <a:r>
              <a:rPr lang="en-US" altLang="zh-CN" b="1" dirty="0">
                <a:ea typeface="隶书" pitchFamily="49" charset="-122"/>
                <a:sym typeface="Wingdings" pitchFamily="2" charset="2"/>
              </a:rPr>
              <a:t>double  </a:t>
            </a:r>
            <a:r>
              <a:rPr lang="en-US" altLang="zh-CN" b="1" dirty="0">
                <a:solidFill>
                  <a:srgbClr val="C00000"/>
                </a:solidFill>
                <a:ea typeface="隶书" pitchFamily="49" charset="-122"/>
                <a:sym typeface="Wingdings" pitchFamily="2" charset="2"/>
              </a:rPr>
              <a:t>ceil</a:t>
            </a:r>
            <a:r>
              <a:rPr lang="en-US" altLang="zh-CN" b="1" dirty="0">
                <a:ea typeface="隶书" pitchFamily="49" charset="-122"/>
                <a:sym typeface="Wingdings" pitchFamily="2" charset="2"/>
              </a:rPr>
              <a:t>( double x );      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  <a:sym typeface="Wingdings" pitchFamily="2" charset="2"/>
              </a:rPr>
              <a:t>//</a:t>
            </a:r>
            <a:r>
              <a:rPr lang="zh-CN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  <a:sym typeface="Wingdings" pitchFamily="2" charset="2"/>
              </a:rPr>
              <a:t>应包含的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  <a:sym typeface="Wingdings" pitchFamily="2" charset="2"/>
              </a:rPr>
              <a:t>.h</a:t>
            </a:r>
            <a:r>
              <a:rPr lang="zh-CN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  <a:sym typeface="Wingdings" pitchFamily="2" charset="2"/>
              </a:rPr>
              <a:t>文件为</a:t>
            </a:r>
            <a:r>
              <a:rPr lang="en-US" altLang="zh-CN" sz="2000" b="1" dirty="0" err="1">
                <a:solidFill>
                  <a:srgbClr val="CC0099"/>
                </a:solidFill>
                <a:latin typeface="+mn-lt"/>
                <a:ea typeface="隶书" pitchFamily="49" charset="-122"/>
                <a:sym typeface="Wingdings" pitchFamily="2" charset="2"/>
              </a:rPr>
              <a:t>math.h</a:t>
            </a:r>
            <a:endParaRPr lang="zh-CN" altLang="zh-CN" sz="2000" b="1" dirty="0">
              <a:latin typeface="+mn-lt"/>
              <a:ea typeface="隶书" pitchFamily="49" charset="-122"/>
            </a:endParaRPr>
          </a:p>
          <a:p>
            <a:r>
              <a:rPr lang="zh-CN" altLang="zh-CN" b="1" dirty="0">
                <a:ea typeface="隶书" pitchFamily="49" charset="-122"/>
              </a:rPr>
              <a:t>功能：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求出不小于浮点数</a:t>
            </a:r>
            <a:r>
              <a:rPr lang="en-US" altLang="zh-CN" b="1" dirty="0">
                <a:ea typeface="隶书" pitchFamily="49" charset="-122"/>
                <a:sym typeface="Wingdings" pitchFamily="2" charset="2"/>
              </a:rPr>
              <a:t>x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的最小整数</a:t>
            </a:r>
          </a:p>
          <a:p>
            <a:r>
              <a:rPr lang="zh-CN" altLang="zh-CN" b="1" dirty="0">
                <a:ea typeface="隶书" pitchFamily="49" charset="-122"/>
                <a:sym typeface="Wingdings" pitchFamily="2" charset="2"/>
              </a:rPr>
              <a:t>返值：该整数的双精度实数</a:t>
            </a:r>
          </a:p>
        </p:txBody>
      </p:sp>
      <p:sp>
        <p:nvSpPr>
          <p:cNvPr id="12" name="矩形 11"/>
          <p:cNvSpPr/>
          <p:nvPr/>
        </p:nvSpPr>
        <p:spPr>
          <a:xfrm>
            <a:off x="1031355" y="4815736"/>
            <a:ext cx="780094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6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）</a:t>
            </a:r>
            <a:r>
              <a:rPr lang="zh-CN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求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下限整数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—</a:t>
            </a:r>
            <a:r>
              <a:rPr lang="en-US" altLang="zh-CN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floor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</a:t>
            </a:r>
            <a:endParaRPr lang="zh-CN" altLang="en-US" sz="20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</p:txBody>
      </p: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1600606" y="5301208"/>
            <a:ext cx="9824632" cy="1200329"/>
          </a:xfrm>
          <a:prstGeom prst="rect">
            <a:avLst/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  <a:tileRect/>
          </a:gradFill>
          <a:ln w="38100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ea typeface="隶书" pitchFamily="49" charset="-122"/>
              </a:rPr>
              <a:t>格式：</a:t>
            </a:r>
            <a:r>
              <a:rPr lang="en-US" altLang="zh-CN" dirty="0"/>
              <a:t> </a:t>
            </a:r>
            <a:r>
              <a:rPr lang="en-US" altLang="zh-CN" b="1" dirty="0">
                <a:ea typeface="隶书" pitchFamily="49" charset="-122"/>
                <a:sym typeface="Wingdings" pitchFamily="2" charset="2"/>
              </a:rPr>
              <a:t>double  </a:t>
            </a:r>
            <a:r>
              <a:rPr lang="en-US" altLang="zh-CN" b="1" dirty="0">
                <a:solidFill>
                  <a:srgbClr val="C00000"/>
                </a:solidFill>
                <a:ea typeface="隶书" pitchFamily="49" charset="-122"/>
                <a:sym typeface="Wingdings" pitchFamily="2" charset="2"/>
              </a:rPr>
              <a:t>floor</a:t>
            </a:r>
            <a:r>
              <a:rPr lang="en-US" altLang="zh-CN" b="1" dirty="0">
                <a:ea typeface="隶书" pitchFamily="49" charset="-122"/>
                <a:sym typeface="Wingdings" pitchFamily="2" charset="2"/>
              </a:rPr>
              <a:t>( double x );    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  <a:sym typeface="Wingdings" pitchFamily="2" charset="2"/>
              </a:rPr>
              <a:t>//</a:t>
            </a:r>
            <a:r>
              <a:rPr lang="zh-CN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  <a:sym typeface="Wingdings" pitchFamily="2" charset="2"/>
              </a:rPr>
              <a:t>应包含的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  <a:sym typeface="Wingdings" pitchFamily="2" charset="2"/>
              </a:rPr>
              <a:t>.h</a:t>
            </a:r>
            <a:r>
              <a:rPr lang="zh-CN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  <a:sym typeface="Wingdings" pitchFamily="2" charset="2"/>
              </a:rPr>
              <a:t>文件为</a:t>
            </a:r>
            <a:r>
              <a:rPr lang="en-US" altLang="zh-CN" sz="2000" b="1" dirty="0" err="1">
                <a:solidFill>
                  <a:srgbClr val="CC0099"/>
                </a:solidFill>
                <a:latin typeface="+mn-lt"/>
                <a:ea typeface="隶书" pitchFamily="49" charset="-122"/>
                <a:sym typeface="Wingdings" pitchFamily="2" charset="2"/>
              </a:rPr>
              <a:t>math.h</a:t>
            </a:r>
            <a:endParaRPr lang="zh-CN" altLang="zh-CN" sz="2000" b="1" dirty="0">
              <a:latin typeface="+mn-lt"/>
              <a:ea typeface="隶书" pitchFamily="49" charset="-122"/>
            </a:endParaRPr>
          </a:p>
          <a:p>
            <a:r>
              <a:rPr lang="zh-CN" altLang="zh-CN" b="1" dirty="0">
                <a:ea typeface="隶书" pitchFamily="49" charset="-122"/>
              </a:rPr>
              <a:t>功能：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求出不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大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于浮点数</a:t>
            </a:r>
            <a:r>
              <a:rPr lang="en-US" altLang="zh-CN" b="1" dirty="0">
                <a:ea typeface="隶书" pitchFamily="49" charset="-122"/>
                <a:sym typeface="Wingdings" pitchFamily="2" charset="2"/>
              </a:rPr>
              <a:t>x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的最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大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整数</a:t>
            </a:r>
          </a:p>
          <a:p>
            <a:r>
              <a:rPr lang="zh-CN" altLang="zh-CN" b="1" dirty="0">
                <a:ea typeface="隶书" pitchFamily="49" charset="-122"/>
                <a:sym typeface="Wingdings" pitchFamily="2" charset="2"/>
              </a:rPr>
              <a:t>返值：该整数的双精度实数</a:t>
            </a:r>
          </a:p>
        </p:txBody>
      </p:sp>
      <p:sp>
        <p:nvSpPr>
          <p:cNvPr id="13" name="矩形 12"/>
          <p:cNvSpPr/>
          <p:nvPr/>
        </p:nvSpPr>
        <p:spPr>
          <a:xfrm>
            <a:off x="1558925" y="5255042"/>
            <a:ext cx="9865096" cy="1569660"/>
          </a:xfrm>
          <a:prstGeom prst="rect">
            <a:avLst/>
          </a:prstGeom>
          <a:solidFill>
            <a:schemeClr val="bg1"/>
          </a:solidFill>
          <a:ln w="38100">
            <a:solidFill>
              <a:srgbClr val="00206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例如：</a:t>
            </a: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double a , b;</a:t>
            </a:r>
            <a:endParaRPr lang="zh-CN" altLang="zh-CN" b="1" dirty="0"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a = floor(1.23); 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 a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的值为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1.000000</a:t>
            </a:r>
            <a:endParaRPr lang="zh-CN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b = floor(-1.23);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 b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的值为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-2.000000</a:t>
            </a:r>
            <a:endParaRPr lang="zh-CN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474E73AF-877C-42D3-B291-7FC88FA726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416" y="817548"/>
            <a:ext cx="3456384" cy="52322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3175">
              <a:tabLst>
                <a:tab pos="450850" algn="l"/>
              </a:tabLst>
            </a:pPr>
            <a:r>
              <a:rPr kumimoji="0" lang="en-US" altLang="zh-CN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1</a:t>
            </a:r>
            <a:r>
              <a:rPr kumimoji="0" lang="zh-CN" altLang="en-US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、常用数学函数</a:t>
            </a:r>
            <a:endParaRPr kumimoji="0" lang="zh-CN" altLang="en-US" sz="28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  <a:cs typeface="宋体" pitchFamily="2" charset="-122"/>
            </a:endParaRP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F6D2CA93-B14B-4EC4-B782-7F05860C79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8.8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常用库函数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7" grpId="0" animBg="1"/>
      <p:bldP spid="14" grpId="0" animBg="1"/>
      <p:bldP spid="12" grpId="0"/>
      <p:bldP spid="16" grpId="0" animBg="1"/>
      <p:bldP spid="13" grpId="0" animBg="1"/>
      <p:bldP spid="11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1055440" y="1615326"/>
            <a:ext cx="48965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7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）</a:t>
            </a:r>
            <a:r>
              <a:rPr lang="zh-CN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求</a:t>
            </a:r>
            <a:r>
              <a:rPr lang="en-US" altLang="zh-CN" b="1" dirty="0" err="1">
                <a:solidFill>
                  <a:srgbClr val="C00000"/>
                </a:solidFill>
                <a:latin typeface="+mn-lt"/>
                <a:ea typeface="楷体" pitchFamily="49" charset="-122"/>
              </a:rPr>
              <a:t>x</a:t>
            </a:r>
            <a:r>
              <a:rPr lang="en-US" altLang="zh-CN" baseline="30000" dirty="0" err="1">
                <a:solidFill>
                  <a:srgbClr val="C00000"/>
                </a:solidFill>
                <a:latin typeface="+mn-lt"/>
                <a:ea typeface="楷体" pitchFamily="49" charset="-122"/>
              </a:rPr>
              <a:t>y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—</a:t>
            </a:r>
            <a:r>
              <a:rPr lang="en-US" altLang="zh-CN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power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</a:t>
            </a:r>
            <a:endParaRPr lang="zh-CN" altLang="en-US" sz="20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590580" y="3861048"/>
            <a:ext cx="9745144" cy="1569660"/>
          </a:xfrm>
          <a:prstGeom prst="rect">
            <a:avLst/>
          </a:prstGeom>
          <a:solidFill>
            <a:schemeClr val="bg1"/>
          </a:solidFill>
          <a:ln w="38100">
            <a:solidFill>
              <a:srgbClr val="00206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例如：</a:t>
            </a: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double a , b;</a:t>
            </a:r>
            <a:endParaRPr lang="zh-CN" altLang="zh-CN" b="1" dirty="0"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a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pow</a:t>
            </a:r>
            <a:r>
              <a:rPr lang="en-US" altLang="zh-CN" b="1" dirty="0">
                <a:latin typeface="+mn-lt"/>
                <a:ea typeface="楷体" pitchFamily="49" charset="-122"/>
              </a:rPr>
              <a:t>(2, 3);       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 a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的值为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8.000000</a:t>
            </a:r>
            <a:endParaRPr lang="zh-CN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b = power(2, 3.2);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 b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的值为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8.189587</a:t>
            </a:r>
            <a:endParaRPr lang="zh-CN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</p:txBody>
      </p:sp>
      <p:sp>
        <p:nvSpPr>
          <p:cNvPr id="14" name="Text Box 7"/>
          <p:cNvSpPr txBox="1">
            <a:spLocks noChangeArrowheads="1"/>
          </p:cNvSpPr>
          <p:nvPr/>
        </p:nvSpPr>
        <p:spPr bwMode="auto">
          <a:xfrm>
            <a:off x="1583100" y="2362816"/>
            <a:ext cx="9752624" cy="1200329"/>
          </a:xfrm>
          <a:prstGeom prst="rect">
            <a:avLst/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  <a:tileRect/>
          </a:gradFill>
          <a:ln w="38100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>
            <a:defPPr>
              <a:defRPr lang="zh-CN"/>
            </a:defPPr>
            <a:lvl1pPr>
              <a:defRPr b="1">
                <a:ea typeface="隶书" pitchFamily="49" charset="-122"/>
              </a:defRPr>
            </a:lvl1pPr>
          </a:lstStyle>
          <a:p>
            <a:r>
              <a:rPr lang="zh-CN" altLang="en-US" dirty="0"/>
              <a:t>格式：</a:t>
            </a:r>
            <a:r>
              <a:rPr lang="en-US" altLang="zh-CN" dirty="0"/>
              <a:t> </a:t>
            </a:r>
            <a:r>
              <a:rPr lang="en-US" altLang="zh-CN" dirty="0">
                <a:sym typeface="Wingdings" pitchFamily="2" charset="2"/>
              </a:rPr>
              <a:t>double  </a:t>
            </a:r>
            <a:r>
              <a:rPr lang="en-US" altLang="zh-CN" dirty="0">
                <a:solidFill>
                  <a:srgbClr val="C01920"/>
                </a:solidFill>
                <a:sym typeface="Wingdings" pitchFamily="2" charset="2"/>
              </a:rPr>
              <a:t>pow</a:t>
            </a:r>
            <a:r>
              <a:rPr lang="en-US" altLang="zh-CN" dirty="0">
                <a:sym typeface="Wingdings" pitchFamily="2" charset="2"/>
              </a:rPr>
              <a:t>( double x, double y );        </a:t>
            </a:r>
            <a:r>
              <a:rPr lang="en-US" altLang="zh-CN" sz="2000" dirty="0">
                <a:solidFill>
                  <a:srgbClr val="CC0099"/>
                </a:solidFill>
                <a:latin typeface="+mn-lt"/>
                <a:sym typeface="Wingdings" pitchFamily="2" charset="2"/>
              </a:rPr>
              <a:t>//</a:t>
            </a:r>
            <a:r>
              <a:rPr lang="zh-CN" altLang="zh-CN" sz="2000" dirty="0">
                <a:solidFill>
                  <a:srgbClr val="CC0099"/>
                </a:solidFill>
                <a:latin typeface="+mn-lt"/>
                <a:sym typeface="Wingdings" pitchFamily="2" charset="2"/>
              </a:rPr>
              <a:t>应包含的</a:t>
            </a:r>
            <a:r>
              <a:rPr lang="en-US" altLang="zh-CN" sz="2000" dirty="0">
                <a:solidFill>
                  <a:srgbClr val="CC0099"/>
                </a:solidFill>
                <a:latin typeface="+mn-lt"/>
                <a:sym typeface="Wingdings" pitchFamily="2" charset="2"/>
              </a:rPr>
              <a:t>.h</a:t>
            </a:r>
            <a:r>
              <a:rPr lang="zh-CN" altLang="zh-CN" sz="2000" dirty="0">
                <a:solidFill>
                  <a:srgbClr val="CC0099"/>
                </a:solidFill>
                <a:latin typeface="+mn-lt"/>
                <a:sym typeface="Wingdings" pitchFamily="2" charset="2"/>
              </a:rPr>
              <a:t>文件为</a:t>
            </a:r>
            <a:r>
              <a:rPr lang="en-US" altLang="zh-CN" sz="2000" dirty="0" err="1">
                <a:solidFill>
                  <a:srgbClr val="CC0099"/>
                </a:solidFill>
                <a:latin typeface="+mn-lt"/>
                <a:sym typeface="Wingdings" pitchFamily="2" charset="2"/>
              </a:rPr>
              <a:t>math.h</a:t>
            </a:r>
            <a:endParaRPr lang="zh-CN" altLang="zh-CN" sz="2000" dirty="0">
              <a:solidFill>
                <a:srgbClr val="CC0099"/>
              </a:solidFill>
              <a:latin typeface="+mn-lt"/>
            </a:endParaRPr>
          </a:p>
          <a:p>
            <a:r>
              <a:rPr lang="zh-CN" altLang="zh-CN" dirty="0"/>
              <a:t>功能：</a:t>
            </a:r>
            <a:r>
              <a:rPr lang="zh-CN" altLang="zh-CN" dirty="0">
                <a:sym typeface="Wingdings" pitchFamily="2" charset="2"/>
              </a:rPr>
              <a:t>求</a:t>
            </a:r>
            <a:r>
              <a:rPr lang="en-US" altLang="zh-CN" dirty="0">
                <a:sym typeface="Wingdings" pitchFamily="2" charset="2"/>
              </a:rPr>
              <a:t>x</a:t>
            </a:r>
            <a:r>
              <a:rPr lang="zh-CN" altLang="zh-CN" dirty="0">
                <a:sym typeface="Wingdings" pitchFamily="2" charset="2"/>
              </a:rPr>
              <a:t>的</a:t>
            </a:r>
            <a:r>
              <a:rPr lang="en-US" altLang="zh-CN" dirty="0">
                <a:sym typeface="Wingdings" pitchFamily="2" charset="2"/>
              </a:rPr>
              <a:t>y</a:t>
            </a:r>
            <a:r>
              <a:rPr lang="zh-CN" altLang="zh-CN" dirty="0">
                <a:sym typeface="Wingdings" pitchFamily="2" charset="2"/>
              </a:rPr>
              <a:t>次方</a:t>
            </a:r>
          </a:p>
          <a:p>
            <a:r>
              <a:rPr lang="zh-CN" altLang="zh-CN" dirty="0">
                <a:sym typeface="Wingdings" pitchFamily="2" charset="2"/>
              </a:rPr>
              <a:t>返值：</a:t>
            </a:r>
            <a:r>
              <a:rPr lang="en-US" altLang="zh-CN" dirty="0" err="1">
                <a:sym typeface="Wingdings" pitchFamily="2" charset="2"/>
              </a:rPr>
              <a:t>xy</a:t>
            </a:r>
            <a:r>
              <a:rPr lang="zh-CN" altLang="zh-CN" dirty="0">
                <a:sym typeface="Wingdings" pitchFamily="2" charset="2"/>
              </a:rPr>
              <a:t>的双精度实数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778C8152-9CA9-47D6-87A0-3B96C7F36C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416" y="817548"/>
            <a:ext cx="3456384" cy="52322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3175">
              <a:tabLst>
                <a:tab pos="450850" algn="l"/>
              </a:tabLst>
            </a:pPr>
            <a:r>
              <a:rPr kumimoji="0" lang="en-US" altLang="zh-CN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1</a:t>
            </a:r>
            <a:r>
              <a:rPr kumimoji="0" lang="zh-CN" altLang="en-US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、常用数学函数</a:t>
            </a:r>
            <a:endParaRPr kumimoji="0" lang="zh-CN" altLang="en-US" sz="28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  <a:cs typeface="宋体" pitchFamily="2" charset="-122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05E06CC0-6EDC-4156-8681-BBB68B867B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8.8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常用库函数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7" grpId="0" animBg="1"/>
      <p:bldP spid="14" grpId="0" animBg="1"/>
      <p:bldP spid="8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497" name="Rectangle 1"/>
          <p:cNvSpPr>
            <a:spLocks noChangeArrowheads="1"/>
          </p:cNvSpPr>
          <p:nvPr/>
        </p:nvSpPr>
        <p:spPr bwMode="auto">
          <a:xfrm>
            <a:off x="839416" y="980728"/>
            <a:ext cx="4032448" cy="52322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3175">
              <a:tabLst>
                <a:tab pos="450850" algn="l"/>
              </a:tabLst>
            </a:pPr>
            <a:r>
              <a:rPr kumimoji="0" lang="en-US" altLang="zh-CN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2</a:t>
            </a:r>
            <a:r>
              <a:rPr kumimoji="0" lang="zh-CN" altLang="en-US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、常用字符处理函数</a:t>
            </a:r>
          </a:p>
        </p:txBody>
      </p:sp>
      <p:sp>
        <p:nvSpPr>
          <p:cNvPr id="35" name="矩形 34"/>
          <p:cNvSpPr/>
          <p:nvPr/>
        </p:nvSpPr>
        <p:spPr>
          <a:xfrm>
            <a:off x="1018908" y="1581270"/>
            <a:ext cx="61447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1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）</a:t>
            </a:r>
            <a:r>
              <a:rPr lang="zh-CN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检查字符是否为字母</a:t>
            </a: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—</a:t>
            </a:r>
            <a:r>
              <a:rPr lang="en-US" altLang="zh-CN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isalpha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</a:t>
            </a:r>
          </a:p>
        </p:txBody>
      </p:sp>
      <p:sp>
        <p:nvSpPr>
          <p:cNvPr id="36" name="Text Box 7"/>
          <p:cNvSpPr txBox="1">
            <a:spLocks noChangeArrowheads="1"/>
          </p:cNvSpPr>
          <p:nvPr/>
        </p:nvSpPr>
        <p:spPr bwMode="auto">
          <a:xfrm>
            <a:off x="1937392" y="2114943"/>
            <a:ext cx="9415192" cy="1200329"/>
          </a:xfrm>
          <a:prstGeom prst="rect">
            <a:avLst/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  <a:tileRect/>
          </a:gradFill>
          <a:ln w="38100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ea typeface="隶书" pitchFamily="49" charset="-122"/>
              </a:rPr>
              <a:t>格式：</a:t>
            </a:r>
            <a:r>
              <a:rPr lang="en-US" altLang="zh-CN" dirty="0"/>
              <a:t> </a:t>
            </a:r>
            <a:r>
              <a:rPr lang="en-US" altLang="zh-CN" b="1" dirty="0" err="1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int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  </a:t>
            </a:r>
            <a:r>
              <a:rPr lang="en-US" altLang="zh-CN" b="1" dirty="0" err="1">
                <a:solidFill>
                  <a:srgbClr val="C00000"/>
                </a:solidFill>
                <a:ea typeface="隶书" pitchFamily="49" charset="-122"/>
                <a:sym typeface="Wingdings" pitchFamily="2" charset="2"/>
              </a:rPr>
              <a:t>isalpha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( </a:t>
            </a:r>
            <a:r>
              <a:rPr lang="en-US" altLang="zh-CN" b="1" dirty="0" err="1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int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 </a:t>
            </a:r>
            <a:r>
              <a:rPr lang="en-US" altLang="zh-CN" b="1" dirty="0" err="1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ch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 );        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//</a:t>
            </a:r>
            <a:r>
              <a:rPr lang="zh-CN" altLang="en-US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应包含的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.h</a:t>
            </a:r>
            <a:r>
              <a:rPr lang="zh-CN" altLang="en-US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文件为</a:t>
            </a:r>
            <a:r>
              <a:rPr lang="en-US" altLang="zh-CN" sz="2000" b="1" dirty="0" err="1">
                <a:solidFill>
                  <a:srgbClr val="CC0099"/>
                </a:solidFill>
                <a:latin typeface="+mn-lt"/>
                <a:ea typeface="隶书" pitchFamily="49" charset="-122"/>
              </a:rPr>
              <a:t>ctype.h</a:t>
            </a:r>
            <a:endParaRPr lang="zh-CN" altLang="zh-CN" sz="2000" b="1" dirty="0">
              <a:latin typeface="+mn-lt"/>
              <a:ea typeface="隶书" pitchFamily="49" charset="-122"/>
            </a:endParaRPr>
          </a:p>
          <a:p>
            <a:r>
              <a:rPr lang="zh-CN" altLang="zh-CN" b="1" dirty="0">
                <a:ea typeface="隶书" pitchFamily="49" charset="-122"/>
              </a:rPr>
              <a:t>功能：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检查字符</a:t>
            </a:r>
            <a:r>
              <a:rPr lang="en-US" altLang="zh-CN" b="1" dirty="0" err="1">
                <a:ea typeface="隶书" pitchFamily="49" charset="-122"/>
                <a:sym typeface="Wingdings" pitchFamily="2" charset="2"/>
              </a:rPr>
              <a:t>ch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是否为字母</a:t>
            </a:r>
          </a:p>
          <a:p>
            <a:r>
              <a:rPr lang="zh-CN" altLang="zh-CN" b="1" dirty="0">
                <a:ea typeface="隶书" pitchFamily="49" charset="-122"/>
                <a:sym typeface="Wingdings" pitchFamily="2" charset="2"/>
              </a:rPr>
              <a:t>返值：如果是，返回非</a:t>
            </a:r>
            <a:r>
              <a:rPr lang="en-US" altLang="zh-CN" b="1" dirty="0">
                <a:ea typeface="隶书" pitchFamily="49" charset="-122"/>
                <a:sym typeface="Wingdings" pitchFamily="2" charset="2"/>
              </a:rPr>
              <a:t>0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，否则返回</a:t>
            </a:r>
            <a:r>
              <a:rPr lang="en-US" altLang="zh-CN" b="1" dirty="0">
                <a:ea typeface="隶书" pitchFamily="49" charset="-122"/>
                <a:sym typeface="Wingdings" pitchFamily="2" charset="2"/>
              </a:rPr>
              <a:t>0</a:t>
            </a:r>
            <a:endParaRPr lang="zh-CN" altLang="zh-CN" b="1" dirty="0">
              <a:ea typeface="隶书" pitchFamily="49" charset="-122"/>
              <a:sym typeface="Wingdings" pitchFamily="2" charset="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919720" y="3591014"/>
            <a:ext cx="9432864" cy="2862322"/>
          </a:xfrm>
          <a:prstGeom prst="rect">
            <a:avLst/>
          </a:prstGeom>
          <a:solidFill>
            <a:schemeClr val="bg1"/>
          </a:solidFill>
          <a:ln w="38100">
            <a:solidFill>
              <a:srgbClr val="00206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例如：</a:t>
            </a: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char ch1 = 'A', ch2 = 0x61, ch3 = 0x39; </a:t>
            </a:r>
            <a:endParaRPr lang="zh-CN" altLang="zh-CN" b="1" dirty="0"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int</a:t>
            </a:r>
            <a:r>
              <a:rPr lang="en-US" altLang="zh-CN" b="1" dirty="0">
                <a:latin typeface="+mn-lt"/>
                <a:ea typeface="楷体" pitchFamily="49" charset="-122"/>
              </a:rPr>
              <a:t> a, b, c;</a:t>
            </a:r>
            <a:endParaRPr lang="zh-CN" altLang="zh-CN" b="1" dirty="0"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a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isalpha</a:t>
            </a:r>
            <a:r>
              <a:rPr lang="en-US" altLang="zh-CN" b="1" dirty="0">
                <a:latin typeface="+mn-lt"/>
                <a:ea typeface="楷体" pitchFamily="49" charset="-122"/>
              </a:rPr>
              <a:t>(ch1);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//a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的值为</a:t>
            </a:r>
            <a:r>
              <a:rPr lang="zh-CN" altLang="zh-CN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非</a:t>
            </a:r>
            <a:r>
              <a:rPr lang="en-US" altLang="zh-CN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0</a:t>
            </a:r>
            <a:endParaRPr lang="zh-CN" altLang="zh-CN" sz="1800" b="1" dirty="0">
              <a:solidFill>
                <a:srgbClr val="C00000"/>
              </a:solidFill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b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isalpha</a:t>
            </a:r>
            <a:r>
              <a:rPr lang="en-US" altLang="zh-CN" b="1" dirty="0">
                <a:latin typeface="+mn-lt"/>
                <a:ea typeface="楷体" pitchFamily="49" charset="-122"/>
              </a:rPr>
              <a:t>(ch2);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//b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的值为</a:t>
            </a:r>
            <a:r>
              <a:rPr lang="zh-CN" altLang="zh-CN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非</a:t>
            </a:r>
            <a:r>
              <a:rPr lang="en-US" altLang="zh-CN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0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，</a:t>
            </a:r>
            <a:endParaRPr lang="en-US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  <a:p>
            <a:r>
              <a:rPr lang="en-US" altLang="zh-CN" sz="1800" b="1" dirty="0">
                <a:solidFill>
                  <a:srgbClr val="0000FF"/>
                </a:solidFill>
                <a:latin typeface="+mn-lt"/>
                <a:ea typeface="楷体" pitchFamily="49" charset="-122"/>
              </a:rPr>
              <a:t>                                         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//ch2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中存放的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0x61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是字符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'a'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ASCII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码 </a:t>
            </a: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c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isalpha</a:t>
            </a:r>
            <a:r>
              <a:rPr lang="en-US" altLang="zh-CN" b="1" dirty="0">
                <a:latin typeface="+mn-lt"/>
                <a:ea typeface="楷体" pitchFamily="49" charset="-122"/>
              </a:rPr>
              <a:t>(ch3);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//c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的值为</a:t>
            </a:r>
            <a:r>
              <a:rPr lang="en-US" altLang="zh-CN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0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，</a:t>
            </a:r>
            <a:endParaRPr lang="en-US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  <a:p>
            <a:r>
              <a:rPr lang="en-US" altLang="zh-CN" sz="1800" b="1" dirty="0">
                <a:solidFill>
                  <a:srgbClr val="0000FF"/>
                </a:solidFill>
                <a:latin typeface="+mn-lt"/>
                <a:ea typeface="楷体" pitchFamily="49" charset="-122"/>
              </a:rPr>
              <a:t>                                         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//ch3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中存放的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0x39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是字符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'9'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ASCII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码，不是字母 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7FD09ED9-ED05-4525-BF45-E39C22486D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8.8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常用库函数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0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0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0497" grpId="0"/>
      <p:bldP spid="35" grpId="0"/>
      <p:bldP spid="36" grpId="0" animBg="1"/>
      <p:bldP spid="37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1058715" y="1509262"/>
            <a:ext cx="69815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2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）</a:t>
            </a:r>
            <a:r>
              <a:rPr lang="zh-CN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检查字符是否为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大写</a:t>
            </a:r>
            <a:r>
              <a:rPr lang="zh-CN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字母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—</a:t>
            </a:r>
            <a:r>
              <a:rPr lang="en-US" altLang="zh-CN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isupper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</a:t>
            </a:r>
          </a:p>
        </p:txBody>
      </p:sp>
      <p:sp>
        <p:nvSpPr>
          <p:cNvPr id="36" name="Text Box 7"/>
          <p:cNvSpPr txBox="1">
            <a:spLocks noChangeArrowheads="1"/>
          </p:cNvSpPr>
          <p:nvPr/>
        </p:nvSpPr>
        <p:spPr bwMode="auto">
          <a:xfrm>
            <a:off x="1949424" y="2042935"/>
            <a:ext cx="9475168" cy="1200329"/>
          </a:xfrm>
          <a:prstGeom prst="rect">
            <a:avLst/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  <a:tileRect/>
          </a:gradFill>
          <a:ln w="38100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ea typeface="隶书" pitchFamily="49" charset="-122"/>
              </a:rPr>
              <a:t>格式</a:t>
            </a:r>
            <a:r>
              <a:rPr lang="zh-CN" altLang="en-US" b="1" dirty="0">
                <a:solidFill>
                  <a:srgbClr val="CC0099"/>
                </a:solidFill>
                <a:ea typeface="隶书" pitchFamily="49" charset="-122"/>
              </a:rPr>
              <a:t>：</a:t>
            </a:r>
            <a:r>
              <a:rPr lang="en-US" altLang="zh-CN" dirty="0">
                <a:solidFill>
                  <a:srgbClr val="CC0099"/>
                </a:solidFill>
              </a:rPr>
              <a:t> 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int  </a:t>
            </a:r>
            <a:r>
              <a:rPr lang="en-US" altLang="zh-CN" b="1" dirty="0" err="1">
                <a:solidFill>
                  <a:srgbClr val="C00000"/>
                </a:solidFill>
                <a:ea typeface="隶书" pitchFamily="49" charset="-122"/>
                <a:sym typeface="Wingdings" pitchFamily="2" charset="2"/>
              </a:rPr>
              <a:t>isupper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( int </a:t>
            </a:r>
            <a:r>
              <a:rPr lang="en-US" altLang="zh-CN" b="1" dirty="0" err="1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ch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 );        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//</a:t>
            </a:r>
            <a:r>
              <a:rPr lang="zh-CN" altLang="en-US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应包含的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.h</a:t>
            </a:r>
            <a:r>
              <a:rPr lang="zh-CN" altLang="en-US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文件为</a:t>
            </a:r>
            <a:r>
              <a:rPr lang="en-US" altLang="zh-CN" sz="2000" b="1" dirty="0" err="1">
                <a:solidFill>
                  <a:srgbClr val="CC0099"/>
                </a:solidFill>
                <a:latin typeface="+mn-lt"/>
                <a:ea typeface="隶书" pitchFamily="49" charset="-122"/>
              </a:rPr>
              <a:t>ctype.h</a:t>
            </a:r>
            <a:endParaRPr lang="zh-CN" altLang="zh-CN" sz="2000" b="1" dirty="0">
              <a:latin typeface="+mn-lt"/>
              <a:ea typeface="隶书" pitchFamily="49" charset="-122"/>
            </a:endParaRPr>
          </a:p>
          <a:p>
            <a:r>
              <a:rPr lang="zh-CN" altLang="zh-CN" b="1" dirty="0">
                <a:ea typeface="隶书" pitchFamily="49" charset="-122"/>
              </a:rPr>
              <a:t>功能：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检查字符</a:t>
            </a:r>
            <a:r>
              <a:rPr lang="en-US" altLang="zh-CN" b="1" dirty="0" err="1">
                <a:ea typeface="隶书" pitchFamily="49" charset="-122"/>
                <a:sym typeface="Wingdings" pitchFamily="2" charset="2"/>
              </a:rPr>
              <a:t>ch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是否为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大写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字母</a:t>
            </a:r>
          </a:p>
          <a:p>
            <a:r>
              <a:rPr lang="zh-CN" altLang="zh-CN" b="1" dirty="0">
                <a:ea typeface="隶书" pitchFamily="49" charset="-122"/>
                <a:sym typeface="Wingdings" pitchFamily="2" charset="2"/>
              </a:rPr>
              <a:t>返值：如果是，返回非</a:t>
            </a:r>
            <a:r>
              <a:rPr lang="en-US" altLang="zh-CN" b="1" dirty="0">
                <a:ea typeface="隶书" pitchFamily="49" charset="-122"/>
                <a:sym typeface="Wingdings" pitchFamily="2" charset="2"/>
              </a:rPr>
              <a:t>0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，否则返回</a:t>
            </a:r>
            <a:r>
              <a:rPr lang="en-US" altLang="zh-CN" b="1" dirty="0">
                <a:ea typeface="隶书" pitchFamily="49" charset="-122"/>
                <a:sym typeface="Wingdings" pitchFamily="2" charset="2"/>
              </a:rPr>
              <a:t>0</a:t>
            </a:r>
            <a:endParaRPr lang="zh-CN" altLang="zh-CN" b="1" dirty="0">
              <a:ea typeface="隶书" pitchFamily="49" charset="-122"/>
              <a:sym typeface="Wingdings" pitchFamily="2" charset="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955448" y="3519006"/>
            <a:ext cx="9457112" cy="2862322"/>
          </a:xfrm>
          <a:prstGeom prst="rect">
            <a:avLst/>
          </a:prstGeom>
          <a:solidFill>
            <a:schemeClr val="bg1"/>
          </a:solidFill>
          <a:ln w="38100">
            <a:solidFill>
              <a:srgbClr val="00206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例如：</a:t>
            </a: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char ch1 = 'A', ch2 = 0x61, ch3 = 0x39;</a:t>
            </a:r>
            <a:endParaRPr lang="zh-CN" altLang="en-US" b="1" dirty="0"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int</a:t>
            </a:r>
            <a:r>
              <a:rPr lang="en-US" altLang="zh-CN" b="1" dirty="0">
                <a:latin typeface="+mn-lt"/>
                <a:ea typeface="楷体" pitchFamily="49" charset="-122"/>
              </a:rPr>
              <a:t> a, b, c;</a:t>
            </a:r>
            <a:endParaRPr lang="zh-CN" altLang="en-US" b="1" dirty="0"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a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isupper</a:t>
            </a:r>
            <a:r>
              <a:rPr lang="en-US" altLang="zh-CN" b="1" dirty="0">
                <a:latin typeface="+mn-lt"/>
                <a:ea typeface="楷体" pitchFamily="49" charset="-122"/>
              </a:rPr>
              <a:t>(ch1);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//a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的值为</a:t>
            </a:r>
            <a:r>
              <a:rPr lang="zh-CN" altLang="en-US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非</a:t>
            </a:r>
            <a:r>
              <a:rPr lang="en-US" altLang="zh-CN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0</a:t>
            </a:r>
            <a:endParaRPr lang="zh-CN" altLang="en-US" sz="1800" b="1" dirty="0">
              <a:solidFill>
                <a:srgbClr val="C00000"/>
              </a:solidFill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b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isupper</a:t>
            </a:r>
            <a:r>
              <a:rPr lang="en-US" altLang="zh-CN" b="1" dirty="0">
                <a:latin typeface="+mn-lt"/>
                <a:ea typeface="楷体" pitchFamily="49" charset="-122"/>
              </a:rPr>
              <a:t>(ch2);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//b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的值为</a:t>
            </a:r>
            <a:r>
              <a:rPr lang="en-US" altLang="zh-CN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0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，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ch2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中存放的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0x61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是</a:t>
            </a:r>
            <a:endParaRPr lang="en-US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  <a:p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                                                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字符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'a'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ASCII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码，不是大写字母</a:t>
            </a: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c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isupper</a:t>
            </a:r>
            <a:r>
              <a:rPr lang="en-US" altLang="zh-CN" b="1" dirty="0">
                <a:latin typeface="+mn-lt"/>
                <a:ea typeface="楷体" pitchFamily="49" charset="-122"/>
              </a:rPr>
              <a:t>(ch3);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//c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的值为</a:t>
            </a:r>
            <a:r>
              <a:rPr lang="en-US" altLang="zh-CN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0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，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ch3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中存放的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0x39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是</a:t>
            </a:r>
            <a:endParaRPr lang="en-US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  <a:p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                                                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字符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'9'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ASCII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码，不是字母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AD27DDD6-5E7F-4294-A564-224CF1F729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416" y="908720"/>
            <a:ext cx="4032448" cy="52322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3175">
              <a:tabLst>
                <a:tab pos="450850" algn="l"/>
              </a:tabLst>
            </a:pPr>
            <a:r>
              <a:rPr kumimoji="0" lang="en-US" altLang="zh-CN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2</a:t>
            </a:r>
            <a:r>
              <a:rPr kumimoji="0" lang="zh-CN" altLang="en-US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、常用字符处理函数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3319C4DC-3F59-4C69-B9BF-99E7830A5B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8.8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常用库函数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 animBg="1"/>
      <p:bldP spid="37" grpId="0" animBg="1"/>
      <p:bldP spid="8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1018908" y="1455167"/>
            <a:ext cx="69815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3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）</a:t>
            </a:r>
            <a:r>
              <a:rPr lang="zh-CN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检查字符是否为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小写</a:t>
            </a:r>
            <a:r>
              <a:rPr lang="zh-CN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字母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—</a:t>
            </a:r>
            <a:r>
              <a:rPr lang="en-US" altLang="zh-CN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islower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</a:t>
            </a:r>
          </a:p>
        </p:txBody>
      </p:sp>
      <p:sp>
        <p:nvSpPr>
          <p:cNvPr id="36" name="Text Box 7"/>
          <p:cNvSpPr txBox="1">
            <a:spLocks noChangeArrowheads="1"/>
          </p:cNvSpPr>
          <p:nvPr/>
        </p:nvSpPr>
        <p:spPr bwMode="auto">
          <a:xfrm>
            <a:off x="1949424" y="2042935"/>
            <a:ext cx="9403160" cy="1200329"/>
          </a:xfrm>
          <a:prstGeom prst="rect">
            <a:avLst/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  <a:tileRect/>
          </a:gradFill>
          <a:ln w="38100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ea typeface="隶书" pitchFamily="49" charset="-122"/>
              </a:rPr>
              <a:t>格式：</a:t>
            </a:r>
            <a:r>
              <a:rPr lang="en-US" altLang="zh-CN" dirty="0"/>
              <a:t> </a:t>
            </a:r>
            <a:r>
              <a:rPr lang="en-US" altLang="zh-CN" b="1" dirty="0" err="1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int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ea typeface="隶书" pitchFamily="49" charset="-122"/>
                <a:sym typeface="Wingdings" pitchFamily="2" charset="2"/>
              </a:rPr>
              <a:t> </a:t>
            </a:r>
            <a:r>
              <a:rPr lang="en-US" altLang="zh-CN" b="1" dirty="0" err="1">
                <a:solidFill>
                  <a:srgbClr val="C00000"/>
                </a:solidFill>
                <a:ea typeface="隶书" pitchFamily="49" charset="-122"/>
                <a:sym typeface="Wingdings" pitchFamily="2" charset="2"/>
              </a:rPr>
              <a:t>islower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( </a:t>
            </a:r>
            <a:r>
              <a:rPr lang="en-US" altLang="zh-CN" b="1" dirty="0" err="1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int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 </a:t>
            </a:r>
            <a:r>
              <a:rPr lang="en-US" altLang="zh-CN" b="1" dirty="0" err="1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ch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 );        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//</a:t>
            </a:r>
            <a:r>
              <a:rPr lang="zh-CN" altLang="en-US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应包含的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.h</a:t>
            </a:r>
            <a:r>
              <a:rPr lang="zh-CN" altLang="en-US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文件为</a:t>
            </a:r>
            <a:r>
              <a:rPr lang="en-US" altLang="zh-CN" sz="2000" b="1" dirty="0" err="1">
                <a:solidFill>
                  <a:srgbClr val="CC0099"/>
                </a:solidFill>
                <a:latin typeface="+mn-lt"/>
                <a:ea typeface="隶书" pitchFamily="49" charset="-122"/>
              </a:rPr>
              <a:t>ctype.h</a:t>
            </a:r>
            <a:endParaRPr lang="zh-CN" altLang="zh-CN" sz="2000" b="1" dirty="0">
              <a:latin typeface="+mn-lt"/>
              <a:ea typeface="隶书" pitchFamily="49" charset="-122"/>
            </a:endParaRPr>
          </a:p>
          <a:p>
            <a:r>
              <a:rPr lang="zh-CN" altLang="zh-CN" b="1" dirty="0">
                <a:ea typeface="隶书" pitchFamily="49" charset="-122"/>
              </a:rPr>
              <a:t>功能：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检查字符</a:t>
            </a:r>
            <a:r>
              <a:rPr lang="en-US" altLang="zh-CN" b="1" dirty="0" err="1">
                <a:ea typeface="隶书" pitchFamily="49" charset="-122"/>
                <a:sym typeface="Wingdings" pitchFamily="2" charset="2"/>
              </a:rPr>
              <a:t>ch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是否为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小写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字母</a:t>
            </a:r>
          </a:p>
          <a:p>
            <a:r>
              <a:rPr lang="zh-CN" altLang="zh-CN" b="1" dirty="0">
                <a:ea typeface="隶书" pitchFamily="49" charset="-122"/>
                <a:sym typeface="Wingdings" pitchFamily="2" charset="2"/>
              </a:rPr>
              <a:t>返值：如果是，返回非</a:t>
            </a:r>
            <a:r>
              <a:rPr lang="en-US" altLang="zh-CN" b="1" dirty="0">
                <a:ea typeface="隶书" pitchFamily="49" charset="-122"/>
                <a:sym typeface="Wingdings" pitchFamily="2" charset="2"/>
              </a:rPr>
              <a:t>0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，否则返回</a:t>
            </a:r>
            <a:r>
              <a:rPr lang="en-US" altLang="zh-CN" b="1" dirty="0">
                <a:ea typeface="隶书" pitchFamily="49" charset="-122"/>
                <a:sym typeface="Wingdings" pitchFamily="2" charset="2"/>
              </a:rPr>
              <a:t>0</a:t>
            </a:r>
            <a:endParaRPr lang="zh-CN" altLang="zh-CN" b="1" dirty="0">
              <a:ea typeface="隶书" pitchFamily="49" charset="-122"/>
              <a:sym typeface="Wingdings" pitchFamily="2" charset="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943416" y="3519006"/>
            <a:ext cx="9409168" cy="2862322"/>
          </a:xfrm>
          <a:prstGeom prst="rect">
            <a:avLst/>
          </a:prstGeom>
          <a:solidFill>
            <a:schemeClr val="bg1"/>
          </a:solidFill>
          <a:ln w="38100">
            <a:solidFill>
              <a:srgbClr val="00206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例如：</a:t>
            </a: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char ch1 = 'A', ch2 = 0x61, ch3 = 0x39;</a:t>
            </a:r>
            <a:endParaRPr lang="zh-CN" altLang="en-US" b="1" dirty="0"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int</a:t>
            </a:r>
            <a:r>
              <a:rPr lang="en-US" altLang="zh-CN" b="1" dirty="0">
                <a:latin typeface="+mn-lt"/>
                <a:ea typeface="楷体" pitchFamily="49" charset="-122"/>
              </a:rPr>
              <a:t> a, b, c;</a:t>
            </a:r>
            <a:endParaRPr lang="zh-CN" altLang="en-US" b="1" dirty="0"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a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islower</a:t>
            </a:r>
            <a:r>
              <a:rPr lang="en-US" altLang="zh-CN" b="1" dirty="0">
                <a:latin typeface="+mn-lt"/>
                <a:ea typeface="楷体" pitchFamily="49" charset="-122"/>
              </a:rPr>
              <a:t>(ch1);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//a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的值为</a:t>
            </a:r>
            <a:r>
              <a:rPr lang="en-US" altLang="zh-CN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0</a:t>
            </a:r>
            <a:endParaRPr lang="zh-CN" altLang="en-US" sz="1800" b="1" dirty="0">
              <a:solidFill>
                <a:srgbClr val="C00000"/>
              </a:solidFill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b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islower</a:t>
            </a:r>
            <a:r>
              <a:rPr lang="en-US" altLang="zh-CN" b="1" dirty="0">
                <a:latin typeface="+mn-lt"/>
                <a:ea typeface="楷体" pitchFamily="49" charset="-122"/>
              </a:rPr>
              <a:t>(ch2);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//b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的值为</a:t>
            </a:r>
            <a:r>
              <a:rPr lang="zh-CN" altLang="en-US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非</a:t>
            </a:r>
            <a:r>
              <a:rPr lang="en-US" altLang="zh-CN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0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，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ch2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中存放的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0x61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是</a:t>
            </a:r>
            <a:endParaRPr lang="en-US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  <a:p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                                                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字符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'a'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ASCII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码</a:t>
            </a: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c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islower</a:t>
            </a:r>
            <a:r>
              <a:rPr lang="en-US" altLang="zh-CN" b="1" dirty="0">
                <a:latin typeface="+mn-lt"/>
                <a:ea typeface="楷体" pitchFamily="49" charset="-122"/>
              </a:rPr>
              <a:t>(ch3);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//c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的值为</a:t>
            </a:r>
            <a:r>
              <a:rPr lang="en-US" altLang="zh-CN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0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，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ch3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中存放的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0x39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是</a:t>
            </a:r>
            <a:endParaRPr lang="en-US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  <a:p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                                                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字符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'9'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ASCII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码，不是字母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E7CBF873-BCE4-4CB9-9C63-EA4C4C4EE4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416" y="908720"/>
            <a:ext cx="4032448" cy="52322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3175">
              <a:tabLst>
                <a:tab pos="450850" algn="l"/>
              </a:tabLst>
            </a:pPr>
            <a:r>
              <a:rPr kumimoji="0" lang="en-US" altLang="zh-CN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2</a:t>
            </a:r>
            <a:r>
              <a:rPr kumimoji="0" lang="zh-CN" altLang="en-US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、常用字符处理函数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8EBD2B98-EFDF-4E74-8656-84049529F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8.8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常用库函数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 animBg="1"/>
      <p:bldP spid="37" grpId="0" animBg="1"/>
      <p:bldP spid="10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1018908" y="1437254"/>
            <a:ext cx="69815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4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）</a:t>
            </a:r>
            <a:r>
              <a:rPr lang="zh-CN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检查字符是否为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数字字符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—</a:t>
            </a:r>
            <a:r>
              <a:rPr lang="en-US" altLang="zh-CN" b="1" dirty="0" err="1">
                <a:solidFill>
                  <a:srgbClr val="C00000"/>
                </a:solidFill>
                <a:latin typeface="+mn-lt"/>
                <a:ea typeface="楷体" pitchFamily="49" charset="-122"/>
              </a:rPr>
              <a:t>isdigit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函数</a:t>
            </a:r>
          </a:p>
        </p:txBody>
      </p:sp>
      <p:sp>
        <p:nvSpPr>
          <p:cNvPr id="36" name="Text Box 7"/>
          <p:cNvSpPr txBox="1">
            <a:spLocks noChangeArrowheads="1"/>
          </p:cNvSpPr>
          <p:nvPr/>
        </p:nvSpPr>
        <p:spPr bwMode="auto">
          <a:xfrm>
            <a:off x="1973304" y="1970927"/>
            <a:ext cx="9523296" cy="1200329"/>
          </a:xfrm>
          <a:prstGeom prst="rect">
            <a:avLst/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  <a:tileRect/>
          </a:gradFill>
          <a:ln w="38100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ea typeface="隶书" pitchFamily="49" charset="-122"/>
              </a:rPr>
              <a:t>格式：</a:t>
            </a:r>
            <a:r>
              <a:rPr lang="en-US" altLang="zh-CN" dirty="0"/>
              <a:t> </a:t>
            </a:r>
            <a:r>
              <a:rPr lang="en-US" altLang="zh-CN" b="1" dirty="0" err="1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int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  </a:t>
            </a:r>
            <a:r>
              <a:rPr lang="en-US" altLang="zh-CN" b="1" dirty="0" err="1">
                <a:solidFill>
                  <a:srgbClr val="C00000"/>
                </a:solidFill>
                <a:ea typeface="隶书" pitchFamily="49" charset="-122"/>
                <a:sym typeface="Wingdings" pitchFamily="2" charset="2"/>
              </a:rPr>
              <a:t>isdigit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( </a:t>
            </a:r>
            <a:r>
              <a:rPr lang="en-US" altLang="zh-CN" b="1" dirty="0" err="1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int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 </a:t>
            </a:r>
            <a:r>
              <a:rPr lang="en-US" altLang="zh-CN" b="1" dirty="0" err="1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ch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 );        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//</a:t>
            </a:r>
            <a:r>
              <a:rPr lang="zh-CN" altLang="en-US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应包含的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.h</a:t>
            </a:r>
            <a:r>
              <a:rPr lang="zh-CN" altLang="en-US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文件为</a:t>
            </a:r>
            <a:r>
              <a:rPr lang="en-US" altLang="zh-CN" sz="2000" b="1" dirty="0" err="1">
                <a:solidFill>
                  <a:srgbClr val="CC0099"/>
                </a:solidFill>
                <a:latin typeface="+mn-lt"/>
                <a:ea typeface="隶书" pitchFamily="49" charset="-122"/>
              </a:rPr>
              <a:t>ctype.h</a:t>
            </a:r>
            <a:endParaRPr lang="zh-CN" altLang="zh-CN" sz="2000" b="1" dirty="0">
              <a:latin typeface="+mn-lt"/>
              <a:ea typeface="隶书" pitchFamily="49" charset="-122"/>
            </a:endParaRPr>
          </a:p>
          <a:p>
            <a:r>
              <a:rPr lang="zh-CN" altLang="zh-CN" b="1" dirty="0">
                <a:ea typeface="隶书" pitchFamily="49" charset="-122"/>
              </a:rPr>
              <a:t>功能：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检查字符</a:t>
            </a:r>
            <a:r>
              <a:rPr lang="en-US" altLang="zh-CN" b="1" dirty="0" err="1">
                <a:ea typeface="隶书" pitchFamily="49" charset="-122"/>
                <a:sym typeface="Wingdings" pitchFamily="2" charset="2"/>
              </a:rPr>
              <a:t>ch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是否为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数字字符</a:t>
            </a:r>
            <a:endParaRPr lang="zh-CN" altLang="zh-CN" b="1" dirty="0">
              <a:ea typeface="隶书" pitchFamily="49" charset="-122"/>
              <a:sym typeface="Wingdings" pitchFamily="2" charset="2"/>
            </a:endParaRPr>
          </a:p>
          <a:p>
            <a:r>
              <a:rPr lang="zh-CN" altLang="zh-CN" b="1" dirty="0">
                <a:ea typeface="隶书" pitchFamily="49" charset="-122"/>
                <a:sym typeface="Wingdings" pitchFamily="2" charset="2"/>
              </a:rPr>
              <a:t>返值：如果是，返回非</a:t>
            </a:r>
            <a:r>
              <a:rPr lang="en-US" altLang="zh-CN" b="1" dirty="0">
                <a:ea typeface="隶书" pitchFamily="49" charset="-122"/>
                <a:sym typeface="Wingdings" pitchFamily="2" charset="2"/>
              </a:rPr>
              <a:t>0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，否则返回</a:t>
            </a:r>
            <a:r>
              <a:rPr lang="en-US" altLang="zh-CN" b="1" dirty="0">
                <a:ea typeface="隶书" pitchFamily="49" charset="-122"/>
                <a:sym typeface="Wingdings" pitchFamily="2" charset="2"/>
              </a:rPr>
              <a:t>0</a:t>
            </a:r>
            <a:endParaRPr lang="zh-CN" altLang="zh-CN" b="1" dirty="0">
              <a:ea typeface="隶书" pitchFamily="49" charset="-122"/>
              <a:sym typeface="Wingdings" pitchFamily="2" charset="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979512" y="3446998"/>
            <a:ext cx="9517088" cy="2862322"/>
          </a:xfrm>
          <a:prstGeom prst="rect">
            <a:avLst/>
          </a:prstGeom>
          <a:solidFill>
            <a:schemeClr val="bg1"/>
          </a:solidFill>
          <a:ln w="38100">
            <a:solidFill>
              <a:srgbClr val="00206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例如：</a:t>
            </a: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char ch1 = '0', ch2 = 0x61, ch3 = 0x39;</a:t>
            </a:r>
            <a:endParaRPr lang="zh-CN" altLang="en-US" b="1" dirty="0"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int</a:t>
            </a:r>
            <a:r>
              <a:rPr lang="en-US" altLang="zh-CN" b="1" dirty="0">
                <a:latin typeface="+mn-lt"/>
                <a:ea typeface="楷体" pitchFamily="49" charset="-122"/>
              </a:rPr>
              <a:t> a, b, c;</a:t>
            </a:r>
            <a:endParaRPr lang="zh-CN" altLang="en-US" b="1" dirty="0"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a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isdigit</a:t>
            </a:r>
            <a:r>
              <a:rPr lang="en-US" altLang="zh-CN" b="1" dirty="0">
                <a:latin typeface="+mn-lt"/>
                <a:ea typeface="楷体" pitchFamily="49" charset="-122"/>
              </a:rPr>
              <a:t>(ch1);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//a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的值为</a:t>
            </a:r>
            <a:r>
              <a:rPr lang="zh-CN" altLang="en-US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非</a:t>
            </a:r>
            <a:r>
              <a:rPr lang="en-US" altLang="zh-CN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0</a:t>
            </a:r>
            <a:endParaRPr lang="zh-CN" altLang="en-US" sz="1800" b="1" dirty="0">
              <a:solidFill>
                <a:srgbClr val="C00000"/>
              </a:solidFill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b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isdigit</a:t>
            </a:r>
            <a:r>
              <a:rPr lang="en-US" altLang="zh-CN" b="1" dirty="0">
                <a:latin typeface="+mn-lt"/>
                <a:ea typeface="楷体" pitchFamily="49" charset="-122"/>
              </a:rPr>
              <a:t>(ch2);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//b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的值为</a:t>
            </a:r>
            <a:r>
              <a:rPr lang="en-US" altLang="zh-CN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0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，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ch2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中存放的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0x61</a:t>
            </a:r>
          </a:p>
          <a:p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                                            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是字符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'a'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ASCII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码，不是数字字符</a:t>
            </a: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c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isdigit</a:t>
            </a:r>
            <a:r>
              <a:rPr lang="en-US" altLang="zh-CN" b="1" dirty="0">
                <a:latin typeface="+mn-lt"/>
                <a:ea typeface="楷体" pitchFamily="49" charset="-122"/>
              </a:rPr>
              <a:t>(ch3);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//c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的值为</a:t>
            </a:r>
            <a:r>
              <a:rPr lang="zh-CN" altLang="en-US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非</a:t>
            </a:r>
            <a:r>
              <a:rPr lang="en-US" altLang="zh-CN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0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，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ch3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中存放的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0x39</a:t>
            </a:r>
          </a:p>
          <a:p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                                           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是数字字符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'9'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ASCII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码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3E2CC16F-79E1-4B4D-B37F-60F6035E8A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416" y="908720"/>
            <a:ext cx="4032448" cy="52322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3175">
              <a:tabLst>
                <a:tab pos="450850" algn="l"/>
              </a:tabLst>
            </a:pPr>
            <a:r>
              <a:rPr kumimoji="0" lang="en-US" altLang="zh-CN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2</a:t>
            </a:r>
            <a:r>
              <a:rPr kumimoji="0" lang="zh-CN" altLang="en-US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、常用字符处理函数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1BAD304B-4236-455E-B3E5-761A311FA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8.8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常用库函数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 animBg="1"/>
      <p:bldP spid="37" grpId="0" animBg="1"/>
      <p:bldP spid="8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1018724" y="1442142"/>
            <a:ext cx="783875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5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）检查字符是否为字母或数字字符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—</a:t>
            </a:r>
            <a:r>
              <a:rPr lang="en-US" altLang="zh-CN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isalnum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</a:t>
            </a:r>
          </a:p>
        </p:txBody>
      </p:sp>
      <p:sp>
        <p:nvSpPr>
          <p:cNvPr id="36" name="Text Box 7"/>
          <p:cNvSpPr txBox="1">
            <a:spLocks noChangeArrowheads="1"/>
          </p:cNvSpPr>
          <p:nvPr/>
        </p:nvSpPr>
        <p:spPr bwMode="auto">
          <a:xfrm>
            <a:off x="1949424" y="1975815"/>
            <a:ext cx="9475168" cy="1200329"/>
          </a:xfrm>
          <a:prstGeom prst="rect">
            <a:avLst/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  <a:tileRect/>
          </a:gradFill>
          <a:ln w="38100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ea typeface="隶书" pitchFamily="49" charset="-122"/>
              </a:rPr>
              <a:t>格式：</a:t>
            </a:r>
            <a:r>
              <a:rPr lang="en-US" altLang="zh-CN" dirty="0"/>
              <a:t> </a:t>
            </a:r>
            <a:r>
              <a:rPr lang="en-US" altLang="zh-CN" b="1" dirty="0" err="1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int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  </a:t>
            </a:r>
            <a:r>
              <a:rPr lang="en-US" altLang="zh-CN" b="1" dirty="0" err="1">
                <a:solidFill>
                  <a:srgbClr val="C00000"/>
                </a:solidFill>
                <a:ea typeface="隶书" pitchFamily="49" charset="-122"/>
                <a:sym typeface="Wingdings" pitchFamily="2" charset="2"/>
              </a:rPr>
              <a:t>isalnum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( </a:t>
            </a:r>
            <a:r>
              <a:rPr lang="en-US" altLang="zh-CN" b="1" dirty="0" err="1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int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 </a:t>
            </a:r>
            <a:r>
              <a:rPr lang="en-US" altLang="zh-CN" b="1" dirty="0" err="1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ch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 );        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//</a:t>
            </a:r>
            <a:r>
              <a:rPr lang="zh-CN" altLang="en-US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应包含的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.h</a:t>
            </a:r>
            <a:r>
              <a:rPr lang="zh-CN" altLang="en-US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文件为</a:t>
            </a:r>
            <a:r>
              <a:rPr lang="en-US" altLang="zh-CN" sz="2000" b="1" dirty="0" err="1">
                <a:solidFill>
                  <a:srgbClr val="CC0099"/>
                </a:solidFill>
                <a:latin typeface="+mn-lt"/>
                <a:ea typeface="隶书" pitchFamily="49" charset="-122"/>
              </a:rPr>
              <a:t>ctype.h</a:t>
            </a:r>
            <a:endParaRPr lang="zh-CN" altLang="zh-CN" sz="2000" b="1" dirty="0">
              <a:latin typeface="+mn-lt"/>
              <a:ea typeface="隶书" pitchFamily="49" charset="-122"/>
            </a:endParaRPr>
          </a:p>
          <a:p>
            <a:r>
              <a:rPr lang="zh-CN" altLang="zh-CN" b="1" dirty="0">
                <a:ea typeface="隶书" pitchFamily="49" charset="-122"/>
              </a:rPr>
              <a:t>功能：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检查字符</a:t>
            </a:r>
            <a:r>
              <a:rPr lang="en-US" altLang="zh-CN" b="1" dirty="0" err="1">
                <a:ea typeface="隶书" pitchFamily="49" charset="-122"/>
                <a:sym typeface="Wingdings" pitchFamily="2" charset="2"/>
              </a:rPr>
              <a:t>ch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是否为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字母或数字字符</a:t>
            </a:r>
            <a:endParaRPr lang="zh-CN" altLang="zh-CN" b="1" dirty="0">
              <a:ea typeface="隶书" pitchFamily="49" charset="-122"/>
              <a:sym typeface="Wingdings" pitchFamily="2" charset="2"/>
            </a:endParaRPr>
          </a:p>
          <a:p>
            <a:r>
              <a:rPr lang="zh-CN" altLang="zh-CN" b="1" dirty="0">
                <a:ea typeface="隶书" pitchFamily="49" charset="-122"/>
                <a:sym typeface="Wingdings" pitchFamily="2" charset="2"/>
              </a:rPr>
              <a:t>返值：如果是，返回非</a:t>
            </a:r>
            <a:r>
              <a:rPr lang="en-US" altLang="zh-CN" b="1" dirty="0">
                <a:ea typeface="隶书" pitchFamily="49" charset="-122"/>
                <a:sym typeface="Wingdings" pitchFamily="2" charset="2"/>
              </a:rPr>
              <a:t>0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，否则返回</a:t>
            </a:r>
            <a:r>
              <a:rPr lang="en-US" altLang="zh-CN" b="1" dirty="0">
                <a:ea typeface="隶书" pitchFamily="49" charset="-122"/>
                <a:sym typeface="Wingdings" pitchFamily="2" charset="2"/>
              </a:rPr>
              <a:t>0</a:t>
            </a:r>
            <a:endParaRPr lang="zh-CN" altLang="zh-CN" b="1" dirty="0">
              <a:ea typeface="隶书" pitchFamily="49" charset="-122"/>
              <a:sym typeface="Wingdings" pitchFamily="2" charset="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991544" y="3446998"/>
            <a:ext cx="9409168" cy="2862322"/>
          </a:xfrm>
          <a:prstGeom prst="rect">
            <a:avLst/>
          </a:prstGeom>
          <a:solidFill>
            <a:schemeClr val="bg1"/>
          </a:solidFill>
          <a:ln w="38100">
            <a:solidFill>
              <a:srgbClr val="00206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例如：</a:t>
            </a: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char ch1 = '0', ch2 = 0x61, ch3 = 0x20;</a:t>
            </a:r>
            <a:endParaRPr lang="zh-CN" altLang="en-US" b="1" dirty="0"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int</a:t>
            </a:r>
            <a:r>
              <a:rPr lang="en-US" altLang="zh-CN" b="1" dirty="0">
                <a:latin typeface="+mn-lt"/>
                <a:ea typeface="楷体" pitchFamily="49" charset="-122"/>
              </a:rPr>
              <a:t> a, b, c;</a:t>
            </a:r>
            <a:endParaRPr lang="zh-CN" altLang="en-US" b="1" dirty="0"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a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isalnum</a:t>
            </a:r>
            <a:r>
              <a:rPr lang="en-US" altLang="zh-CN" b="1" dirty="0">
                <a:latin typeface="+mn-lt"/>
                <a:ea typeface="楷体" pitchFamily="49" charset="-122"/>
              </a:rPr>
              <a:t>(ch1);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//a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的值为</a:t>
            </a:r>
            <a:r>
              <a:rPr lang="zh-CN" altLang="en-US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非</a:t>
            </a:r>
            <a:r>
              <a:rPr lang="en-US" altLang="zh-CN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0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，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ch1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是数字字符</a:t>
            </a: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b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isalnum</a:t>
            </a:r>
            <a:r>
              <a:rPr lang="en-US" altLang="zh-CN" b="1" dirty="0">
                <a:latin typeface="+mn-lt"/>
                <a:ea typeface="楷体" pitchFamily="49" charset="-122"/>
              </a:rPr>
              <a:t>(ch2);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//b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的值为</a:t>
            </a:r>
            <a:r>
              <a:rPr lang="zh-CN" altLang="en-US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非</a:t>
            </a:r>
            <a:r>
              <a:rPr lang="en-US" altLang="zh-CN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0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，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ch2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中存放的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0x61</a:t>
            </a:r>
          </a:p>
          <a:p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                                                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是字符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'a'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ASCII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码，是字母</a:t>
            </a: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c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isalnum</a:t>
            </a:r>
            <a:r>
              <a:rPr lang="en-US" altLang="zh-CN" b="1" dirty="0">
                <a:latin typeface="+mn-lt"/>
                <a:ea typeface="楷体" pitchFamily="49" charset="-122"/>
              </a:rPr>
              <a:t>(ch3);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//c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的值为</a:t>
            </a:r>
            <a:r>
              <a:rPr lang="en-US" altLang="zh-CN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0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，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ch3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中存放的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0x20</a:t>
            </a:r>
          </a:p>
          <a:p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                                               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是空格字符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' '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ASCII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码，不是字母和数字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F3FD55C2-8576-4586-BE47-190381AEF8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416" y="908720"/>
            <a:ext cx="4032448" cy="52322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3175">
              <a:tabLst>
                <a:tab pos="450850" algn="l"/>
              </a:tabLst>
            </a:pPr>
            <a:r>
              <a:rPr kumimoji="0" lang="en-US" altLang="zh-CN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2</a:t>
            </a:r>
            <a:r>
              <a:rPr kumimoji="0" lang="zh-CN" altLang="en-US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、常用字符处理函数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F550BE57-DA62-4D1B-BA68-B3CE7EE0CD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8.8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常用库函数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 animBg="1"/>
      <p:bldP spid="37" grpId="0" animBg="1"/>
      <p:bldP spid="8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1018908" y="1527175"/>
            <a:ext cx="791019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6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）将字符转换为小写字母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—</a:t>
            </a:r>
            <a:r>
              <a:rPr lang="en-US" altLang="zh-CN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tolower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</a:t>
            </a:r>
          </a:p>
        </p:txBody>
      </p:sp>
      <p:sp>
        <p:nvSpPr>
          <p:cNvPr id="36" name="Text Box 7"/>
          <p:cNvSpPr txBox="1">
            <a:spLocks noChangeArrowheads="1"/>
          </p:cNvSpPr>
          <p:nvPr/>
        </p:nvSpPr>
        <p:spPr bwMode="auto">
          <a:xfrm>
            <a:off x="1973304" y="2186609"/>
            <a:ext cx="9307272" cy="1200329"/>
          </a:xfrm>
          <a:prstGeom prst="rect">
            <a:avLst/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  <a:tileRect/>
          </a:gradFill>
          <a:ln w="38100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ea typeface="隶书" pitchFamily="49" charset="-122"/>
              </a:rPr>
              <a:t>格式：</a:t>
            </a:r>
            <a:r>
              <a:rPr lang="en-US" altLang="zh-CN" dirty="0"/>
              <a:t> </a:t>
            </a:r>
            <a:r>
              <a:rPr lang="en-US" altLang="zh-CN" b="1" dirty="0" err="1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int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  </a:t>
            </a:r>
            <a:r>
              <a:rPr lang="en-US" altLang="zh-CN" b="1" dirty="0" err="1">
                <a:solidFill>
                  <a:srgbClr val="C00000"/>
                </a:solidFill>
                <a:ea typeface="隶书" pitchFamily="49" charset="-122"/>
                <a:sym typeface="Wingdings" pitchFamily="2" charset="2"/>
              </a:rPr>
              <a:t>tolower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( </a:t>
            </a:r>
            <a:r>
              <a:rPr lang="en-US" altLang="zh-CN" b="1" dirty="0" err="1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int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 </a:t>
            </a:r>
            <a:r>
              <a:rPr lang="en-US" altLang="zh-CN" b="1" dirty="0" err="1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ch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 );        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//</a:t>
            </a:r>
            <a:r>
              <a:rPr lang="zh-CN" altLang="en-US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应包含的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.h</a:t>
            </a:r>
            <a:r>
              <a:rPr lang="zh-CN" altLang="en-US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文件为</a:t>
            </a:r>
            <a:r>
              <a:rPr lang="en-US" altLang="zh-CN" sz="2000" b="1" dirty="0" err="1">
                <a:solidFill>
                  <a:srgbClr val="CC0099"/>
                </a:solidFill>
                <a:latin typeface="+mn-lt"/>
                <a:ea typeface="隶书" pitchFamily="49" charset="-122"/>
              </a:rPr>
              <a:t>ctype.h</a:t>
            </a:r>
            <a:endParaRPr lang="zh-CN" altLang="zh-CN" sz="2000" b="1" dirty="0">
              <a:latin typeface="+mn-lt"/>
              <a:ea typeface="隶书" pitchFamily="49" charset="-122"/>
            </a:endParaRPr>
          </a:p>
          <a:p>
            <a:r>
              <a:rPr lang="zh-CN" altLang="zh-CN" b="1" dirty="0">
                <a:ea typeface="隶书" pitchFamily="49" charset="-122"/>
              </a:rPr>
              <a:t>功能：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将字符转换为小写字母</a:t>
            </a:r>
            <a:endParaRPr lang="zh-CN" altLang="zh-CN" b="1" dirty="0">
              <a:ea typeface="隶书" pitchFamily="49" charset="-122"/>
              <a:sym typeface="Wingdings" pitchFamily="2" charset="2"/>
            </a:endParaRPr>
          </a:p>
          <a:p>
            <a:pPr marL="984250" indent="-984250"/>
            <a:r>
              <a:rPr lang="zh-CN" altLang="zh-CN" b="1" dirty="0">
                <a:ea typeface="隶书" pitchFamily="49" charset="-122"/>
                <a:sym typeface="Wingdings" pitchFamily="2" charset="2"/>
              </a:rPr>
              <a:t>返值：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如果</a:t>
            </a:r>
            <a:r>
              <a:rPr lang="en-US" altLang="zh-CN" b="1" dirty="0" err="1">
                <a:ea typeface="隶书" pitchFamily="49" charset="-122"/>
                <a:sym typeface="Wingdings" pitchFamily="2" charset="2"/>
              </a:rPr>
              <a:t>ch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是字母，则返回其对应的小写字母，否则返回</a:t>
            </a:r>
            <a:r>
              <a:rPr lang="en-US" altLang="zh-CN" b="1" dirty="0" err="1">
                <a:ea typeface="隶书" pitchFamily="49" charset="-122"/>
                <a:sym typeface="Wingdings" pitchFamily="2" charset="2"/>
              </a:rPr>
              <a:t>ch</a:t>
            </a:r>
            <a:endParaRPr lang="zh-CN" altLang="zh-CN" b="1" dirty="0">
              <a:ea typeface="隶书" pitchFamily="49" charset="-122"/>
              <a:sym typeface="Wingdings" pitchFamily="2" charset="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991544" y="3672314"/>
            <a:ext cx="9289032" cy="2492990"/>
          </a:xfrm>
          <a:prstGeom prst="rect">
            <a:avLst/>
          </a:prstGeom>
          <a:solidFill>
            <a:schemeClr val="bg1"/>
          </a:solidFill>
          <a:ln w="38100">
            <a:solidFill>
              <a:srgbClr val="00206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例如：</a:t>
            </a: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char ch1 = 'A', ch2 = 0x62, ch3 = '8', c1, c2, c3;</a:t>
            </a:r>
            <a:endParaRPr lang="zh-CN" altLang="en-US" b="1" dirty="0"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c1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tolower</a:t>
            </a:r>
            <a:r>
              <a:rPr lang="en-US" altLang="zh-CN" b="1" dirty="0">
                <a:latin typeface="+mn-lt"/>
                <a:ea typeface="楷体" pitchFamily="49" charset="-122"/>
              </a:rPr>
              <a:t>(ch1);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//c1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中存放</a:t>
            </a:r>
            <a:r>
              <a:rPr lang="zh-CN" altLang="en-US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小写字母</a:t>
            </a:r>
            <a:r>
              <a:rPr lang="en-US" altLang="zh-CN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'a'</a:t>
            </a:r>
            <a:endParaRPr lang="zh-CN" altLang="en-US" sz="1800" b="1" dirty="0">
              <a:solidFill>
                <a:srgbClr val="C00000"/>
              </a:solidFill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c2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tolower</a:t>
            </a:r>
            <a:r>
              <a:rPr lang="en-US" altLang="zh-CN" b="1" dirty="0">
                <a:latin typeface="+mn-lt"/>
                <a:ea typeface="楷体" pitchFamily="49" charset="-122"/>
              </a:rPr>
              <a:t>(ch2);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//c2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中存放</a:t>
            </a:r>
            <a:r>
              <a:rPr lang="zh-CN" altLang="en-US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小写字母</a:t>
            </a:r>
            <a:r>
              <a:rPr lang="en-US" altLang="zh-CN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'b'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，</a:t>
            </a:r>
            <a:endParaRPr lang="en-US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  <a:p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                                                    //ch2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中存放的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0x62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是字符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'b'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ASCII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码</a:t>
            </a: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c3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tolower</a:t>
            </a:r>
            <a:r>
              <a:rPr lang="en-US" altLang="zh-CN" b="1" dirty="0">
                <a:latin typeface="+mn-lt"/>
                <a:ea typeface="楷体" pitchFamily="49" charset="-122"/>
              </a:rPr>
              <a:t>(ch3);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//c3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中存放</a:t>
            </a:r>
            <a:r>
              <a:rPr lang="zh-CN" altLang="en-US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数字字符</a:t>
            </a:r>
            <a:r>
              <a:rPr lang="en-US" altLang="zh-CN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'8'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，</a:t>
            </a:r>
            <a:endParaRPr lang="en-US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  <a:p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                                                    //ch3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中存放字符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'8'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不是字母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5DAF1C2D-AC87-4F5B-97DE-23F15A214B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416" y="908720"/>
            <a:ext cx="4032448" cy="52322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3175">
              <a:tabLst>
                <a:tab pos="450850" algn="l"/>
              </a:tabLst>
            </a:pPr>
            <a:r>
              <a:rPr kumimoji="0" lang="en-US" altLang="zh-CN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2</a:t>
            </a:r>
            <a:r>
              <a:rPr kumimoji="0" lang="zh-CN" altLang="en-US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、常用字符处理函数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6AF2C282-4504-4436-BB99-BA451995C4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8.8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常用库函数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 animBg="1"/>
      <p:bldP spid="37" grpId="0" animBg="1"/>
      <p:bldP spid="8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1018908" y="1599183"/>
            <a:ext cx="791019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7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）将字符转换为大写字母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—</a:t>
            </a:r>
            <a:r>
              <a:rPr lang="en-US" altLang="zh-CN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toupper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</a:t>
            </a:r>
          </a:p>
        </p:txBody>
      </p:sp>
      <p:sp>
        <p:nvSpPr>
          <p:cNvPr id="36" name="Text Box 7"/>
          <p:cNvSpPr txBox="1">
            <a:spLocks noChangeArrowheads="1"/>
          </p:cNvSpPr>
          <p:nvPr/>
        </p:nvSpPr>
        <p:spPr bwMode="auto">
          <a:xfrm>
            <a:off x="1937392" y="2228671"/>
            <a:ext cx="9487200" cy="1200329"/>
          </a:xfrm>
          <a:prstGeom prst="rect">
            <a:avLst/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  <a:tileRect/>
          </a:gradFill>
          <a:ln w="38100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ea typeface="隶书" pitchFamily="49" charset="-122"/>
              </a:rPr>
              <a:t>格式：</a:t>
            </a:r>
            <a:r>
              <a:rPr lang="en-US" altLang="zh-CN" dirty="0"/>
              <a:t> </a:t>
            </a:r>
            <a:r>
              <a:rPr lang="en-US" altLang="zh-CN" b="1" dirty="0" err="1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int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  </a:t>
            </a:r>
            <a:r>
              <a:rPr lang="en-US" altLang="zh-CN" b="1" dirty="0" err="1">
                <a:solidFill>
                  <a:srgbClr val="C00000"/>
                </a:solidFill>
                <a:ea typeface="隶书" pitchFamily="49" charset="-122"/>
                <a:sym typeface="Wingdings" pitchFamily="2" charset="2"/>
              </a:rPr>
              <a:t>toupper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( </a:t>
            </a:r>
            <a:r>
              <a:rPr lang="en-US" altLang="zh-CN" b="1" dirty="0" err="1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int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 </a:t>
            </a:r>
            <a:r>
              <a:rPr lang="en-US" altLang="zh-CN" b="1" dirty="0" err="1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ch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 );        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//</a:t>
            </a:r>
            <a:r>
              <a:rPr lang="zh-CN" altLang="en-US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应包含的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.h</a:t>
            </a:r>
            <a:r>
              <a:rPr lang="zh-CN" altLang="en-US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文件为</a:t>
            </a:r>
            <a:r>
              <a:rPr lang="en-US" altLang="zh-CN" sz="2000" b="1" dirty="0" err="1">
                <a:solidFill>
                  <a:srgbClr val="CC0099"/>
                </a:solidFill>
                <a:latin typeface="+mn-lt"/>
                <a:ea typeface="隶书" pitchFamily="49" charset="-122"/>
              </a:rPr>
              <a:t>ctype.h</a:t>
            </a:r>
            <a:endParaRPr lang="zh-CN" altLang="zh-CN" sz="2000" b="1" dirty="0">
              <a:latin typeface="+mn-lt"/>
              <a:ea typeface="隶书" pitchFamily="49" charset="-122"/>
            </a:endParaRPr>
          </a:p>
          <a:p>
            <a:r>
              <a:rPr lang="zh-CN" altLang="zh-CN" b="1" dirty="0">
                <a:ea typeface="隶书" pitchFamily="49" charset="-122"/>
              </a:rPr>
              <a:t>功能：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将字符转换为大写字母</a:t>
            </a:r>
            <a:endParaRPr lang="zh-CN" altLang="zh-CN" b="1" dirty="0">
              <a:ea typeface="隶书" pitchFamily="49" charset="-122"/>
              <a:sym typeface="Wingdings" pitchFamily="2" charset="2"/>
            </a:endParaRPr>
          </a:p>
          <a:p>
            <a:pPr marL="984250" indent="-984250"/>
            <a:r>
              <a:rPr lang="zh-CN" altLang="zh-CN" b="1" dirty="0">
                <a:ea typeface="隶书" pitchFamily="49" charset="-122"/>
                <a:sym typeface="Wingdings" pitchFamily="2" charset="2"/>
              </a:rPr>
              <a:t>返值：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如果</a:t>
            </a:r>
            <a:r>
              <a:rPr lang="en-US" altLang="zh-CN" b="1" dirty="0" err="1">
                <a:ea typeface="隶书" pitchFamily="49" charset="-122"/>
                <a:sym typeface="Wingdings" pitchFamily="2" charset="2"/>
              </a:rPr>
              <a:t>ch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是字母，则返回其对应的大写字母，否则返回</a:t>
            </a:r>
            <a:r>
              <a:rPr lang="en-US" altLang="zh-CN" b="1" dirty="0" err="1">
                <a:ea typeface="隶书" pitchFamily="49" charset="-122"/>
                <a:sym typeface="Wingdings" pitchFamily="2" charset="2"/>
              </a:rPr>
              <a:t>ch</a:t>
            </a:r>
            <a:endParaRPr lang="zh-CN" altLang="zh-CN" b="1" dirty="0">
              <a:ea typeface="隶书" pitchFamily="49" charset="-122"/>
              <a:sym typeface="Wingdings" pitchFamily="2" charset="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931752" y="3672314"/>
            <a:ext cx="9492840" cy="2492990"/>
          </a:xfrm>
          <a:prstGeom prst="rect">
            <a:avLst/>
          </a:prstGeom>
          <a:solidFill>
            <a:schemeClr val="bg1"/>
          </a:solidFill>
          <a:ln w="38100">
            <a:solidFill>
              <a:srgbClr val="00206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例如：</a:t>
            </a: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char ch1 = 'a', ch2 = 0x62, ch3 = '8', c1, c2, c3;</a:t>
            </a:r>
            <a:endParaRPr lang="zh-CN" altLang="en-US" b="1" dirty="0"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c1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toupper</a:t>
            </a:r>
            <a:r>
              <a:rPr lang="en-US" altLang="zh-CN" b="1" dirty="0">
                <a:latin typeface="+mn-lt"/>
                <a:ea typeface="楷体" pitchFamily="49" charset="-122"/>
              </a:rPr>
              <a:t>(ch1);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//c1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中存放</a:t>
            </a:r>
            <a:r>
              <a:rPr lang="zh-CN" altLang="en-US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大写字母</a:t>
            </a:r>
            <a:r>
              <a:rPr lang="en-US" altLang="zh-CN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'A'</a:t>
            </a:r>
            <a:endParaRPr lang="zh-CN" altLang="en-US" sz="1800" b="1" dirty="0">
              <a:solidFill>
                <a:srgbClr val="C00000"/>
              </a:solidFill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c2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toupper</a:t>
            </a:r>
            <a:r>
              <a:rPr lang="en-US" altLang="zh-CN" b="1" dirty="0">
                <a:latin typeface="+mn-lt"/>
                <a:ea typeface="楷体" pitchFamily="49" charset="-122"/>
              </a:rPr>
              <a:t>(ch2);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//c2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中存放</a:t>
            </a:r>
            <a:r>
              <a:rPr lang="zh-CN" altLang="en-US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大写字母</a:t>
            </a:r>
            <a:r>
              <a:rPr lang="en-US" altLang="zh-CN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'B'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，</a:t>
            </a:r>
            <a:endParaRPr lang="en-US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  <a:p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                                                   //ch2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中存放的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0x62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是小写字符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'b'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ASCII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码</a:t>
            </a: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c3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toupper</a:t>
            </a:r>
            <a:r>
              <a:rPr lang="en-US" altLang="zh-CN" b="1" dirty="0">
                <a:latin typeface="+mn-lt"/>
                <a:ea typeface="楷体" pitchFamily="49" charset="-122"/>
              </a:rPr>
              <a:t>(ch3);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//c3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中存放</a:t>
            </a:r>
            <a:r>
              <a:rPr lang="zh-CN" altLang="en-US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数字字符</a:t>
            </a:r>
            <a:r>
              <a:rPr lang="en-US" altLang="zh-CN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'8'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，</a:t>
            </a:r>
            <a:endParaRPr lang="en-US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  <a:p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                                                   //ch3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中存放字符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'8'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不是字母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409FF5CB-C003-45D0-8FA6-ED43372DA3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416" y="908720"/>
            <a:ext cx="4032448" cy="52322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3175">
              <a:tabLst>
                <a:tab pos="450850" algn="l"/>
              </a:tabLst>
            </a:pPr>
            <a:r>
              <a:rPr kumimoji="0" lang="en-US" altLang="zh-CN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2</a:t>
            </a:r>
            <a:r>
              <a:rPr kumimoji="0" lang="zh-CN" altLang="en-US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、常用字符处理函数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73116800-6D94-409A-BD26-8D6560E287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8.8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常用库函数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 animBg="1"/>
      <p:bldP spid="37" grpId="0" animBg="1"/>
      <p:bldP spid="8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1018908" y="1527175"/>
            <a:ext cx="791019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8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）检查字符是否为控制字符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—</a:t>
            </a:r>
            <a:r>
              <a:rPr lang="en-US" altLang="zh-CN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iscntrl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</a:t>
            </a:r>
          </a:p>
        </p:txBody>
      </p:sp>
      <p:sp>
        <p:nvSpPr>
          <p:cNvPr id="36" name="Text Box 7"/>
          <p:cNvSpPr txBox="1">
            <a:spLocks noChangeArrowheads="1"/>
          </p:cNvSpPr>
          <p:nvPr/>
        </p:nvSpPr>
        <p:spPr bwMode="auto">
          <a:xfrm>
            <a:off x="1937392" y="2241383"/>
            <a:ext cx="9343184" cy="1200329"/>
          </a:xfrm>
          <a:prstGeom prst="rect">
            <a:avLst/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  <a:tileRect/>
          </a:gradFill>
          <a:ln w="38100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ea typeface="隶书" pitchFamily="49" charset="-122"/>
              </a:rPr>
              <a:t>格式：</a:t>
            </a:r>
            <a:r>
              <a:rPr lang="en-US" altLang="zh-CN" dirty="0"/>
              <a:t> </a:t>
            </a:r>
            <a:r>
              <a:rPr lang="en-US" altLang="zh-CN" b="1" dirty="0" err="1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int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  </a:t>
            </a:r>
            <a:r>
              <a:rPr lang="en-US" altLang="zh-CN" b="1" dirty="0" err="1">
                <a:solidFill>
                  <a:srgbClr val="C00000"/>
                </a:solidFill>
                <a:ea typeface="隶书" pitchFamily="49" charset="-122"/>
                <a:sym typeface="Wingdings" pitchFamily="2" charset="2"/>
              </a:rPr>
              <a:t>iscntrl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( </a:t>
            </a:r>
            <a:r>
              <a:rPr lang="en-US" altLang="zh-CN" b="1" dirty="0" err="1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int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 </a:t>
            </a:r>
            <a:r>
              <a:rPr lang="en-US" altLang="zh-CN" b="1" dirty="0" err="1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ch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 );        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//</a:t>
            </a:r>
            <a:r>
              <a:rPr lang="zh-CN" altLang="en-US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应包含的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.h</a:t>
            </a:r>
            <a:r>
              <a:rPr lang="zh-CN" altLang="en-US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文件为</a:t>
            </a:r>
            <a:r>
              <a:rPr lang="en-US" altLang="zh-CN" sz="2000" b="1" dirty="0" err="1">
                <a:solidFill>
                  <a:srgbClr val="CC0099"/>
                </a:solidFill>
                <a:latin typeface="+mn-lt"/>
                <a:ea typeface="隶书" pitchFamily="49" charset="-122"/>
              </a:rPr>
              <a:t>ctype.h</a:t>
            </a:r>
            <a:endParaRPr lang="zh-CN" altLang="zh-CN" sz="2000" b="1" dirty="0">
              <a:latin typeface="+mn-lt"/>
              <a:ea typeface="隶书" pitchFamily="49" charset="-122"/>
            </a:endParaRPr>
          </a:p>
          <a:p>
            <a:r>
              <a:rPr lang="zh-CN" altLang="zh-CN" b="1" dirty="0">
                <a:ea typeface="隶书" pitchFamily="49" charset="-122"/>
              </a:rPr>
              <a:t>功能：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检查字符是否为控制字符（</a:t>
            </a:r>
            <a:r>
              <a:rPr lang="en-US" altLang="zh-CN" b="1" dirty="0">
                <a:ea typeface="隶书" pitchFamily="49" charset="-122"/>
                <a:sym typeface="Wingdings" pitchFamily="2" charset="2"/>
              </a:rPr>
              <a:t>ASCII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码在</a:t>
            </a:r>
            <a:r>
              <a:rPr lang="en-US" altLang="zh-CN" b="1" dirty="0">
                <a:ea typeface="隶书" pitchFamily="49" charset="-122"/>
                <a:sym typeface="Wingdings" pitchFamily="2" charset="2"/>
              </a:rPr>
              <a:t>0~31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之间）</a:t>
            </a:r>
            <a:endParaRPr lang="zh-CN" altLang="zh-CN" b="1" dirty="0">
              <a:ea typeface="隶书" pitchFamily="49" charset="-122"/>
              <a:sym typeface="Wingdings" pitchFamily="2" charset="2"/>
            </a:endParaRPr>
          </a:p>
          <a:p>
            <a:pPr marL="984250" indent="-984250"/>
            <a:r>
              <a:rPr lang="zh-CN" altLang="zh-CN" b="1" dirty="0">
                <a:ea typeface="隶书" pitchFamily="49" charset="-122"/>
                <a:sym typeface="Wingdings" pitchFamily="2" charset="2"/>
              </a:rPr>
              <a:t>返值：如果是，返回非</a:t>
            </a:r>
            <a:r>
              <a:rPr lang="en-US" altLang="zh-CN" b="1" dirty="0">
                <a:ea typeface="隶书" pitchFamily="49" charset="-122"/>
                <a:sym typeface="Wingdings" pitchFamily="2" charset="2"/>
              </a:rPr>
              <a:t>0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，否则返回</a:t>
            </a:r>
            <a:r>
              <a:rPr lang="en-US" altLang="zh-CN" b="1" dirty="0">
                <a:ea typeface="隶书" pitchFamily="49" charset="-122"/>
                <a:sym typeface="Wingdings" pitchFamily="2" charset="2"/>
              </a:rPr>
              <a:t>0</a:t>
            </a:r>
            <a:endParaRPr lang="zh-CN" altLang="zh-CN" b="1" dirty="0">
              <a:ea typeface="隶书" pitchFamily="49" charset="-122"/>
              <a:sym typeface="Wingdings" pitchFamily="2" charset="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955448" y="3722256"/>
            <a:ext cx="9325128" cy="1938992"/>
          </a:xfrm>
          <a:prstGeom prst="rect">
            <a:avLst/>
          </a:prstGeom>
          <a:solidFill>
            <a:schemeClr val="bg1"/>
          </a:solidFill>
          <a:ln w="38100">
            <a:solidFill>
              <a:srgbClr val="00206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例如：</a:t>
            </a: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char ch1 = 0x0d, ch2 = 0x62;</a:t>
            </a:r>
            <a:endParaRPr lang="zh-CN" altLang="en-US" b="1" dirty="0"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int</a:t>
            </a:r>
            <a:r>
              <a:rPr lang="en-US" altLang="zh-CN" b="1" dirty="0">
                <a:latin typeface="+mn-lt"/>
                <a:ea typeface="楷体" pitchFamily="49" charset="-122"/>
              </a:rPr>
              <a:t> a, b;</a:t>
            </a:r>
            <a:endParaRPr lang="zh-CN" altLang="en-US" b="1" dirty="0"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a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iscntrl</a:t>
            </a:r>
            <a:r>
              <a:rPr lang="en-US" altLang="zh-CN" b="1" dirty="0">
                <a:latin typeface="+mn-lt"/>
                <a:ea typeface="楷体" pitchFamily="49" charset="-122"/>
              </a:rPr>
              <a:t>(ch1);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//a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的值为</a:t>
            </a:r>
            <a:r>
              <a:rPr lang="zh-CN" altLang="en-US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非</a:t>
            </a:r>
            <a:r>
              <a:rPr lang="en-US" altLang="zh-CN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0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，是控制字符</a:t>
            </a:r>
            <a:r>
              <a:rPr lang="en-US" altLang="zh-CN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	</a:t>
            </a:r>
            <a:endParaRPr lang="zh-CN" altLang="en-US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b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iscntrl</a:t>
            </a:r>
            <a:r>
              <a:rPr lang="en-US" altLang="zh-CN" b="1" dirty="0">
                <a:latin typeface="+mn-lt"/>
                <a:ea typeface="楷体" pitchFamily="49" charset="-122"/>
              </a:rPr>
              <a:t>(ch2);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//b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的值为</a:t>
            </a:r>
            <a:r>
              <a:rPr lang="en-US" altLang="zh-CN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0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，不是控制字符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E47A1C41-FB46-4566-81F7-2645F163C7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416" y="908720"/>
            <a:ext cx="4032448" cy="52322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3175">
              <a:tabLst>
                <a:tab pos="450850" algn="l"/>
              </a:tabLst>
            </a:pPr>
            <a:r>
              <a:rPr kumimoji="0" lang="en-US" altLang="zh-CN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2</a:t>
            </a:r>
            <a:r>
              <a:rPr kumimoji="0" lang="zh-CN" altLang="en-US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、常用字符处理函数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5FFFD148-ECF3-47C8-A044-EA3C4E677E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8.8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常用库函数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 animBg="1"/>
      <p:bldP spid="37" grpId="0" animBg="1"/>
      <p:bldP spid="8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81" name="Rectangle 1"/>
          <p:cNvSpPr>
            <a:spLocks noChangeArrowheads="1"/>
          </p:cNvSpPr>
          <p:nvPr/>
        </p:nvSpPr>
        <p:spPr bwMode="auto">
          <a:xfrm>
            <a:off x="407368" y="1196752"/>
            <a:ext cx="480335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266700"/>
            <a:r>
              <a:rPr lang="zh-CN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【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】 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字符处理函数的应用。</a:t>
            </a:r>
          </a:p>
        </p:txBody>
      </p:sp>
      <p:sp>
        <p:nvSpPr>
          <p:cNvPr id="9" name="矩形 8"/>
          <p:cNvSpPr/>
          <p:nvPr/>
        </p:nvSpPr>
        <p:spPr>
          <a:xfrm>
            <a:off x="859458" y="1894180"/>
            <a:ext cx="4228430" cy="30469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   下面的程序是充分利用字符处理函数判断输入字符的种类（种类包括：</a:t>
            </a:r>
            <a:r>
              <a:rPr lang="zh-CN" alt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控制字符、数字字符、大写字母、小写字母及其它字符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），如果字符是大写字母，则输出其小写字母，如果是小写字母，则输出其大写字母。 </a:t>
            </a:r>
          </a:p>
        </p:txBody>
      </p:sp>
      <p:sp>
        <p:nvSpPr>
          <p:cNvPr id="10" name="Rectangle 20" descr="信纸"/>
          <p:cNvSpPr>
            <a:spLocks noChangeArrowheads="1"/>
          </p:cNvSpPr>
          <p:nvPr/>
        </p:nvSpPr>
        <p:spPr bwMode="auto">
          <a:xfrm>
            <a:off x="5499228" y="142853"/>
            <a:ext cx="6429420" cy="6555641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62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#include &lt;</a:t>
            </a:r>
            <a:r>
              <a:rPr kumimoji="0" lang="en-US" altLang="zh-CN" sz="2000" b="1" dirty="0" err="1">
                <a:ea typeface="楷体_GB2312" pitchFamily="49" charset="-122"/>
              </a:rPr>
              <a:t>stdio.h</a:t>
            </a:r>
            <a:r>
              <a:rPr kumimoji="0" lang="en-US" altLang="zh-CN" sz="2000" b="1" dirty="0">
                <a:ea typeface="楷体_GB2312" pitchFamily="49" charset="-122"/>
              </a:rPr>
              <a:t>&gt;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#include &lt;</a:t>
            </a:r>
            <a:r>
              <a:rPr kumimoji="0" lang="en-US" altLang="zh-CN" sz="2000" b="1" dirty="0" err="1">
                <a:ea typeface="楷体_GB2312" pitchFamily="49" charset="-122"/>
              </a:rPr>
              <a:t>conio.h</a:t>
            </a:r>
            <a:r>
              <a:rPr kumimoji="0" lang="en-US" altLang="zh-CN" sz="2000" b="1" dirty="0">
                <a:ea typeface="楷体_GB2312" pitchFamily="49" charset="-122"/>
              </a:rPr>
              <a:t>&gt;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#include &lt;</a:t>
            </a:r>
            <a:r>
              <a:rPr kumimoji="0" lang="en-US" altLang="zh-CN" sz="2000" b="1" dirty="0" err="1">
                <a:ea typeface="楷体_GB2312" pitchFamily="49" charset="-122"/>
              </a:rPr>
              <a:t>ctype.h</a:t>
            </a:r>
            <a:r>
              <a:rPr kumimoji="0" lang="en-US" altLang="zh-CN" sz="2000" b="1" dirty="0">
                <a:ea typeface="楷体_GB2312" pitchFamily="49" charset="-122"/>
              </a:rPr>
              <a:t>&gt;</a:t>
            </a:r>
          </a:p>
          <a:p>
            <a:pPr marL="457200" indent="-457200"/>
            <a:r>
              <a:rPr kumimoji="0" lang="en-US" altLang="zh-CN" sz="2000" b="1" dirty="0" err="1">
                <a:solidFill>
                  <a:srgbClr val="C00000"/>
                </a:solidFill>
                <a:ea typeface="楷体_GB2312" pitchFamily="49" charset="-122"/>
              </a:rPr>
              <a:t>int</a:t>
            </a:r>
            <a:r>
              <a:rPr kumimoji="0" lang="en-US" altLang="zh-CN" sz="2000" b="1" dirty="0">
                <a:solidFill>
                  <a:srgbClr val="C00000"/>
                </a:solidFill>
                <a:ea typeface="楷体_GB2312" pitchFamily="49" charset="-122"/>
              </a:rPr>
              <a:t> main( )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{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char </a:t>
            </a:r>
            <a:r>
              <a:rPr kumimoji="0" lang="en-US" altLang="zh-CN" sz="2000" b="1" dirty="0" err="1">
                <a:ea typeface="楷体_GB2312" pitchFamily="49" charset="-122"/>
              </a:rPr>
              <a:t>ch</a:t>
            </a:r>
            <a:r>
              <a:rPr kumimoji="0" lang="en-US" altLang="zh-CN" sz="2000" b="1" dirty="0">
                <a:ea typeface="楷体_GB2312" pitchFamily="49" charset="-122"/>
              </a:rPr>
              <a:t>;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</a:t>
            </a:r>
            <a:r>
              <a:rPr kumimoji="0" lang="en-US" altLang="zh-CN" sz="2000" b="1" dirty="0" err="1">
                <a:ea typeface="楷体_GB2312" pitchFamily="49" charset="-122"/>
              </a:rPr>
              <a:t>printf</a:t>
            </a:r>
            <a:r>
              <a:rPr kumimoji="0" lang="en-US" altLang="zh-CN" sz="2000" b="1" dirty="0">
                <a:ea typeface="楷体_GB2312" pitchFamily="49" charset="-122"/>
              </a:rPr>
              <a:t> ("Enter a character: ");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</a:t>
            </a:r>
            <a:r>
              <a:rPr kumimoji="0" lang="en-US" altLang="zh-CN" sz="2000" b="1" dirty="0" err="1">
                <a:ea typeface="楷体_GB2312" pitchFamily="49" charset="-122"/>
              </a:rPr>
              <a:t>ch</a:t>
            </a:r>
            <a:r>
              <a:rPr kumimoji="0" lang="en-US" altLang="zh-CN" sz="2000" b="1" dirty="0">
                <a:ea typeface="楷体_GB2312" pitchFamily="49" charset="-122"/>
              </a:rPr>
              <a:t> = </a:t>
            </a:r>
            <a:r>
              <a:rPr kumimoji="0" lang="en-US" altLang="zh-CN" sz="2000" b="1" dirty="0" err="1">
                <a:ea typeface="楷体_GB2312" pitchFamily="49" charset="-122"/>
              </a:rPr>
              <a:t>getche</a:t>
            </a:r>
            <a:r>
              <a:rPr kumimoji="0" lang="en-US" altLang="zh-CN" sz="2000" b="1" dirty="0">
                <a:ea typeface="楷体_GB2312" pitchFamily="49" charset="-122"/>
              </a:rPr>
              <a:t>( );    </a:t>
            </a:r>
            <a:r>
              <a:rPr kumimoji="0" lang="en-US" altLang="zh-CN" sz="2000" b="1" dirty="0" err="1">
                <a:ea typeface="楷体_GB2312" pitchFamily="49" charset="-122"/>
              </a:rPr>
              <a:t>printf</a:t>
            </a:r>
            <a:r>
              <a:rPr kumimoji="0" lang="en-US" altLang="zh-CN" sz="2000" b="1" dirty="0">
                <a:ea typeface="楷体_GB2312" pitchFamily="49" charset="-122"/>
              </a:rPr>
              <a:t>("\n");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if (</a:t>
            </a:r>
            <a:r>
              <a:rPr kumimoji="0" lang="en-US" altLang="zh-CN" sz="2000" b="1" dirty="0" err="1">
                <a:solidFill>
                  <a:srgbClr val="002060"/>
                </a:solidFill>
                <a:ea typeface="楷体_GB2312" pitchFamily="49" charset="-122"/>
              </a:rPr>
              <a:t>iscntrl</a:t>
            </a:r>
            <a:r>
              <a:rPr kumimoji="0" lang="en-US" altLang="zh-CN" sz="2000" b="1" dirty="0">
                <a:ea typeface="楷体_GB2312" pitchFamily="49" charset="-122"/>
              </a:rPr>
              <a:t>(</a:t>
            </a:r>
            <a:r>
              <a:rPr kumimoji="0" lang="en-US" altLang="zh-CN" sz="2000" b="1" dirty="0" err="1">
                <a:ea typeface="楷体_GB2312" pitchFamily="49" charset="-122"/>
              </a:rPr>
              <a:t>ch</a:t>
            </a:r>
            <a:r>
              <a:rPr kumimoji="0" lang="en-US" altLang="zh-CN" sz="2000" b="1" dirty="0">
                <a:ea typeface="楷体_GB2312" pitchFamily="49" charset="-122"/>
              </a:rPr>
              <a:t>))    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控制字符</a:t>
            </a:r>
            <a:endParaRPr kumimoji="0" lang="en-US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	 </a:t>
            </a:r>
            <a:r>
              <a:rPr kumimoji="0" lang="en-US" altLang="zh-CN" sz="2000" b="1" dirty="0" err="1">
                <a:ea typeface="楷体_GB2312" pitchFamily="49" charset="-122"/>
              </a:rPr>
              <a:t>printf</a:t>
            </a:r>
            <a:r>
              <a:rPr kumimoji="0" lang="en-US" altLang="zh-CN" sz="2000" b="1" dirty="0">
                <a:ea typeface="楷体_GB2312" pitchFamily="49" charset="-122"/>
              </a:rPr>
              <a:t> ("The character is a control character\n");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else if (</a:t>
            </a:r>
            <a:r>
              <a:rPr kumimoji="0" lang="en-US" altLang="zh-CN" sz="2000" b="1" dirty="0" err="1">
                <a:solidFill>
                  <a:srgbClr val="002060"/>
                </a:solidFill>
                <a:ea typeface="楷体_GB2312" pitchFamily="49" charset="-122"/>
              </a:rPr>
              <a:t>isdigit</a:t>
            </a:r>
            <a:r>
              <a:rPr kumimoji="0" lang="en-US" altLang="zh-CN" sz="2000" b="1" dirty="0">
                <a:ea typeface="楷体_GB2312" pitchFamily="49" charset="-122"/>
              </a:rPr>
              <a:t>(</a:t>
            </a:r>
            <a:r>
              <a:rPr kumimoji="0" lang="en-US" altLang="zh-CN" sz="2000" b="1" dirty="0" err="1">
                <a:ea typeface="楷体_GB2312" pitchFamily="49" charset="-122"/>
              </a:rPr>
              <a:t>ch</a:t>
            </a:r>
            <a:r>
              <a:rPr kumimoji="0" lang="en-US" altLang="zh-CN" sz="2000" b="1" dirty="0">
                <a:ea typeface="楷体_GB2312" pitchFamily="49" charset="-122"/>
              </a:rPr>
              <a:t>))     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数字字符</a:t>
            </a:r>
            <a:endParaRPr kumimoji="0" lang="en-US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	      </a:t>
            </a:r>
            <a:r>
              <a:rPr kumimoji="0" lang="en-US" altLang="zh-CN" sz="2000" b="1" dirty="0" err="1">
                <a:ea typeface="楷体_GB2312" pitchFamily="49" charset="-122"/>
              </a:rPr>
              <a:t>printf</a:t>
            </a:r>
            <a:r>
              <a:rPr kumimoji="0" lang="en-US" altLang="zh-CN" sz="2000" b="1" dirty="0">
                <a:ea typeface="楷体_GB2312" pitchFamily="49" charset="-122"/>
              </a:rPr>
              <a:t> ("The character is a digit\n");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else if (</a:t>
            </a:r>
            <a:r>
              <a:rPr kumimoji="0" lang="en-US" altLang="zh-CN" sz="2000" b="1" dirty="0" err="1">
                <a:solidFill>
                  <a:srgbClr val="002060"/>
                </a:solidFill>
                <a:ea typeface="楷体_GB2312" pitchFamily="49" charset="-122"/>
              </a:rPr>
              <a:t>isupper</a:t>
            </a:r>
            <a:r>
              <a:rPr kumimoji="0" lang="en-US" altLang="zh-CN" sz="2000" b="1" dirty="0">
                <a:ea typeface="楷体_GB2312" pitchFamily="49" charset="-122"/>
              </a:rPr>
              <a:t>(</a:t>
            </a:r>
            <a:r>
              <a:rPr kumimoji="0" lang="en-US" altLang="zh-CN" sz="2000" b="1" dirty="0" err="1">
                <a:ea typeface="楷体_GB2312" pitchFamily="49" charset="-122"/>
              </a:rPr>
              <a:t>ch</a:t>
            </a:r>
            <a:r>
              <a:rPr kumimoji="0" lang="en-US" altLang="zh-CN" sz="2000" b="1" dirty="0">
                <a:ea typeface="楷体_GB2312" pitchFamily="49" charset="-122"/>
              </a:rPr>
              <a:t>)) {   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大写字母</a:t>
            </a:r>
            <a:endParaRPr kumimoji="0" lang="en-US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         </a:t>
            </a:r>
            <a:r>
              <a:rPr kumimoji="0" lang="en-US" altLang="zh-CN" sz="2000" b="1" dirty="0" err="1">
                <a:ea typeface="楷体_GB2312" pitchFamily="49" charset="-122"/>
              </a:rPr>
              <a:t>printf</a:t>
            </a:r>
            <a:r>
              <a:rPr kumimoji="0" lang="en-US" altLang="zh-CN" sz="2000" b="1" dirty="0">
                <a:ea typeface="楷体_GB2312" pitchFamily="49" charset="-122"/>
              </a:rPr>
              <a:t>("The character is a capital letter\n");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	      </a:t>
            </a:r>
            <a:r>
              <a:rPr kumimoji="0" lang="en-US" altLang="zh-CN" sz="2000" b="1" dirty="0" err="1">
                <a:ea typeface="楷体_GB2312" pitchFamily="49" charset="-122"/>
              </a:rPr>
              <a:t>printf</a:t>
            </a:r>
            <a:r>
              <a:rPr kumimoji="0" lang="en-US" altLang="zh-CN" sz="2000" b="1" dirty="0">
                <a:ea typeface="楷体_GB2312" pitchFamily="49" charset="-122"/>
              </a:rPr>
              <a:t>("lower letter is %c\n", </a:t>
            </a:r>
            <a:r>
              <a:rPr kumimoji="0" lang="en-US" altLang="zh-CN" sz="2000" b="1" dirty="0" err="1">
                <a:solidFill>
                  <a:srgbClr val="002060"/>
                </a:solidFill>
                <a:ea typeface="楷体_GB2312" pitchFamily="49" charset="-122"/>
              </a:rPr>
              <a:t>tolower</a:t>
            </a:r>
            <a:r>
              <a:rPr kumimoji="0" lang="en-US" altLang="zh-CN" sz="2000" b="1" dirty="0">
                <a:ea typeface="楷体_GB2312" pitchFamily="49" charset="-122"/>
              </a:rPr>
              <a:t>(</a:t>
            </a:r>
            <a:r>
              <a:rPr kumimoji="0" lang="en-US" altLang="zh-CN" sz="2000" b="1" dirty="0" err="1">
                <a:ea typeface="楷体_GB2312" pitchFamily="49" charset="-122"/>
              </a:rPr>
              <a:t>ch</a:t>
            </a:r>
            <a:r>
              <a:rPr kumimoji="0" lang="en-US" altLang="zh-CN" sz="2000" b="1" dirty="0">
                <a:ea typeface="楷体_GB2312" pitchFamily="49" charset="-122"/>
              </a:rPr>
              <a:t>)); }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else if (</a:t>
            </a:r>
            <a:r>
              <a:rPr kumimoji="0" lang="en-US" altLang="zh-CN" sz="2000" b="1" dirty="0" err="1">
                <a:solidFill>
                  <a:srgbClr val="002060"/>
                </a:solidFill>
                <a:ea typeface="楷体_GB2312" pitchFamily="49" charset="-122"/>
              </a:rPr>
              <a:t>islower</a:t>
            </a:r>
            <a:r>
              <a:rPr kumimoji="0" lang="en-US" altLang="zh-CN" sz="2000" b="1" dirty="0">
                <a:ea typeface="楷体_GB2312" pitchFamily="49" charset="-122"/>
              </a:rPr>
              <a:t>(</a:t>
            </a:r>
            <a:r>
              <a:rPr kumimoji="0" lang="en-US" altLang="zh-CN" sz="2000" b="1" dirty="0" err="1">
                <a:ea typeface="楷体_GB2312" pitchFamily="49" charset="-122"/>
              </a:rPr>
              <a:t>ch</a:t>
            </a:r>
            <a:r>
              <a:rPr kumimoji="0" lang="en-US" altLang="zh-CN" sz="2000" b="1" dirty="0">
                <a:ea typeface="楷体_GB2312" pitchFamily="49" charset="-122"/>
              </a:rPr>
              <a:t>)) {    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小写字母</a:t>
            </a:r>
            <a:endParaRPr kumimoji="0" lang="en-US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	      </a:t>
            </a:r>
            <a:r>
              <a:rPr kumimoji="0" lang="en-US" altLang="zh-CN" sz="2000" b="1" dirty="0" err="1">
                <a:ea typeface="楷体_GB2312" pitchFamily="49" charset="-122"/>
              </a:rPr>
              <a:t>printf</a:t>
            </a:r>
            <a:r>
              <a:rPr kumimoji="0" lang="en-US" altLang="zh-CN" sz="2000" b="1" dirty="0">
                <a:ea typeface="楷体_GB2312" pitchFamily="49" charset="-122"/>
              </a:rPr>
              <a:t> ("The character is a lower letter\n");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	      </a:t>
            </a:r>
            <a:r>
              <a:rPr kumimoji="0" lang="en-US" altLang="zh-CN" sz="2000" b="1" dirty="0" err="1">
                <a:ea typeface="楷体_GB2312" pitchFamily="49" charset="-122"/>
              </a:rPr>
              <a:t>printf</a:t>
            </a:r>
            <a:r>
              <a:rPr kumimoji="0" lang="en-US" altLang="zh-CN" sz="2000" b="1" dirty="0">
                <a:ea typeface="楷体_GB2312" pitchFamily="49" charset="-122"/>
              </a:rPr>
              <a:t>("capital letter is %c\n", </a:t>
            </a:r>
            <a:r>
              <a:rPr kumimoji="0" lang="en-US" altLang="zh-CN" sz="2000" b="1" dirty="0" err="1">
                <a:solidFill>
                  <a:srgbClr val="002060"/>
                </a:solidFill>
                <a:ea typeface="楷体_GB2312" pitchFamily="49" charset="-122"/>
              </a:rPr>
              <a:t>toupper</a:t>
            </a:r>
            <a:r>
              <a:rPr kumimoji="0" lang="en-US" altLang="zh-CN" sz="2000" b="1" dirty="0">
                <a:ea typeface="楷体_GB2312" pitchFamily="49" charset="-122"/>
              </a:rPr>
              <a:t>(</a:t>
            </a:r>
            <a:r>
              <a:rPr kumimoji="0" lang="en-US" altLang="zh-CN" sz="2000" b="1" dirty="0" err="1">
                <a:ea typeface="楷体_GB2312" pitchFamily="49" charset="-122"/>
              </a:rPr>
              <a:t>ch</a:t>
            </a:r>
            <a:r>
              <a:rPr kumimoji="0" lang="en-US" altLang="zh-CN" sz="2000" b="1" dirty="0">
                <a:ea typeface="楷体_GB2312" pitchFamily="49" charset="-122"/>
              </a:rPr>
              <a:t>)); }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else </a:t>
            </a:r>
            <a:r>
              <a:rPr kumimoji="0" lang="en-US" altLang="zh-CN" sz="2000" b="1" dirty="0" err="1">
                <a:ea typeface="楷体_GB2312" pitchFamily="49" charset="-122"/>
              </a:rPr>
              <a:t>printf</a:t>
            </a:r>
            <a:r>
              <a:rPr kumimoji="0" lang="en-US" altLang="zh-CN" sz="2000" b="1" dirty="0">
                <a:ea typeface="楷体_GB2312" pitchFamily="49" charset="-122"/>
              </a:rPr>
              <a:t> ("The character is other character\n");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return 0;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}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0BE1CA01-D599-4D52-B3DA-90D3A20E6D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8.8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常用库函数</a:t>
            </a:r>
          </a:p>
        </p:txBody>
      </p:sp>
    </p:spTree>
  </p:cSld>
  <p:clrMapOvr>
    <a:masterClrMapping/>
  </p:clrMapOvr>
  <p:transition>
    <p:random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1919536" y="5373216"/>
            <a:ext cx="9433048" cy="1200329"/>
          </a:xfrm>
          <a:prstGeom prst="rect">
            <a:avLst/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  <a:tileRect/>
          </a:gradFill>
          <a:ln w="38100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ea typeface="隶书" pitchFamily="49" charset="-122"/>
              </a:rPr>
              <a:t>格式：</a:t>
            </a:r>
            <a:r>
              <a:rPr lang="en-US" altLang="zh-CN" dirty="0"/>
              <a:t> 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char *</a:t>
            </a:r>
            <a:r>
              <a:rPr lang="en-US" altLang="zh-CN" b="1" dirty="0" err="1">
                <a:solidFill>
                  <a:srgbClr val="C00000"/>
                </a:solidFill>
                <a:ea typeface="隶书" pitchFamily="49" charset="-122"/>
                <a:sym typeface="Wingdings" pitchFamily="2" charset="2"/>
              </a:rPr>
              <a:t>strlwr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( char *</a:t>
            </a:r>
            <a:r>
              <a:rPr lang="en-US" altLang="zh-CN" b="1" dirty="0" err="1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str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);</a:t>
            </a:r>
            <a:r>
              <a:rPr lang="en-US" altLang="zh-CN" b="1" dirty="0">
                <a:ea typeface="隶书" pitchFamily="49" charset="-122"/>
                <a:sym typeface="Wingdings" pitchFamily="2" charset="2"/>
              </a:rPr>
              <a:t>    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//</a:t>
            </a:r>
            <a:r>
              <a:rPr lang="zh-CN" altLang="en-US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应包含的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.h</a:t>
            </a:r>
            <a:r>
              <a:rPr lang="zh-CN" altLang="en-US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文件为</a:t>
            </a:r>
            <a:r>
              <a:rPr lang="en-US" altLang="zh-CN" sz="2000" b="1" dirty="0" err="1">
                <a:solidFill>
                  <a:srgbClr val="CC0099"/>
                </a:solidFill>
                <a:latin typeface="+mn-lt"/>
                <a:ea typeface="隶书" pitchFamily="49" charset="-122"/>
              </a:rPr>
              <a:t>string.h</a:t>
            </a:r>
            <a:endParaRPr lang="zh-CN" altLang="zh-CN" sz="2000" b="1" dirty="0">
              <a:latin typeface="+mn-lt"/>
              <a:ea typeface="隶书" pitchFamily="49" charset="-122"/>
            </a:endParaRPr>
          </a:p>
          <a:p>
            <a:r>
              <a:rPr lang="zh-CN" altLang="zh-CN" b="1" dirty="0">
                <a:ea typeface="隶书" pitchFamily="49" charset="-122"/>
              </a:rPr>
              <a:t>功能：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将字符串</a:t>
            </a:r>
            <a:r>
              <a:rPr lang="en-US" altLang="en-US" b="1" dirty="0" err="1">
                <a:ea typeface="隶书" pitchFamily="49" charset="-122"/>
                <a:sym typeface="Wingdings" pitchFamily="2" charset="2"/>
              </a:rPr>
              <a:t>str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中的大写字母换成小写字母</a:t>
            </a:r>
            <a:endParaRPr lang="zh-CN" altLang="zh-CN" b="1" dirty="0">
              <a:ea typeface="隶书" pitchFamily="49" charset="-122"/>
              <a:sym typeface="Wingdings" pitchFamily="2" charset="2"/>
            </a:endParaRPr>
          </a:p>
          <a:p>
            <a:r>
              <a:rPr lang="zh-CN" altLang="zh-CN" b="1" dirty="0">
                <a:ea typeface="隶书" pitchFamily="49" charset="-122"/>
                <a:sym typeface="Wingdings" pitchFamily="2" charset="2"/>
              </a:rPr>
              <a:t>返值：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字符串</a:t>
            </a:r>
            <a:r>
              <a:rPr lang="en-US" altLang="en-US" b="1" dirty="0" err="1">
                <a:ea typeface="隶书" pitchFamily="49" charset="-122"/>
                <a:sym typeface="Wingdings" pitchFamily="2" charset="2"/>
              </a:rPr>
              <a:t>str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的首地址</a:t>
            </a:r>
            <a:endParaRPr lang="zh-CN" altLang="zh-CN" b="1" dirty="0">
              <a:ea typeface="隶书" pitchFamily="49" charset="-122"/>
              <a:sym typeface="Wingdings" pitchFamily="2" charset="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912822" y="5234982"/>
            <a:ext cx="9428680" cy="1569660"/>
          </a:xfrm>
          <a:prstGeom prst="rect">
            <a:avLst/>
          </a:prstGeom>
          <a:solidFill>
            <a:schemeClr val="bg1"/>
          </a:solidFill>
          <a:ln w="38100">
            <a:solidFill>
              <a:srgbClr val="00206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例如：</a:t>
            </a: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char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latin typeface="+mn-lt"/>
                <a:ea typeface="楷体" pitchFamily="49" charset="-122"/>
              </a:rPr>
              <a:t>[] = "Ab123cD";</a:t>
            </a:r>
            <a:endParaRPr lang="zh-CN" altLang="en-US" b="1" dirty="0"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strlwr</a:t>
            </a:r>
            <a:r>
              <a:rPr lang="en-US" altLang="zh-CN" b="1" dirty="0">
                <a:latin typeface="+mn-lt"/>
                <a:ea typeface="楷体" pitchFamily="49" charset="-122"/>
              </a:rPr>
              <a:t>(str);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将字符串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str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中的大写字母换成小写字母</a:t>
            </a: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printf</a:t>
            </a:r>
            <a:r>
              <a:rPr lang="en-US" altLang="zh-CN" b="1" dirty="0">
                <a:latin typeface="+mn-lt"/>
                <a:ea typeface="楷体" pitchFamily="49" charset="-122"/>
              </a:rPr>
              <a:t>("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latin typeface="+mn-lt"/>
                <a:ea typeface="楷体" pitchFamily="49" charset="-122"/>
              </a:rPr>
              <a:t> = %s\n",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latin typeface="+mn-lt"/>
                <a:ea typeface="楷体" pitchFamily="49" charset="-122"/>
              </a:rPr>
              <a:t>);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输出：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str = </a:t>
            </a:r>
            <a:r>
              <a:rPr lang="en-US" altLang="zh-CN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ab123cd</a:t>
            </a:r>
            <a:endParaRPr lang="zh-CN" altLang="en-US" sz="1800" b="1" dirty="0">
              <a:solidFill>
                <a:srgbClr val="C00000"/>
              </a:solidFill>
              <a:latin typeface="+mn-lt"/>
              <a:ea typeface="楷体" pitchFamily="49" charset="-122"/>
            </a:endParaRPr>
          </a:p>
        </p:txBody>
      </p:sp>
      <p:sp>
        <p:nvSpPr>
          <p:cNvPr id="490497" name="Rectangle 1"/>
          <p:cNvSpPr>
            <a:spLocks noChangeArrowheads="1"/>
          </p:cNvSpPr>
          <p:nvPr/>
        </p:nvSpPr>
        <p:spPr bwMode="auto">
          <a:xfrm>
            <a:off x="819326" y="889556"/>
            <a:ext cx="4032448" cy="52322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3175">
              <a:tabLst>
                <a:tab pos="450850" algn="l"/>
              </a:tabLst>
            </a:pPr>
            <a:r>
              <a:rPr kumimoji="0" lang="en-US" altLang="zh-CN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3</a:t>
            </a:r>
            <a:r>
              <a:rPr kumimoji="0" lang="zh-CN" altLang="en-US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、常用字符串处理函数</a:t>
            </a:r>
            <a:endParaRPr kumimoji="0" lang="zh-CN" altLang="en-US" sz="28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  <a:cs typeface="宋体" pitchFamily="2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031355" y="1412776"/>
            <a:ext cx="61447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1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）转换为大写字符串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—</a:t>
            </a:r>
            <a:r>
              <a:rPr lang="en-US" altLang="zh-CN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strupr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</a:t>
            </a:r>
          </a:p>
        </p:txBody>
      </p:sp>
      <p:sp>
        <p:nvSpPr>
          <p:cNvPr id="36" name="Text Box 7"/>
          <p:cNvSpPr txBox="1">
            <a:spLocks noChangeArrowheads="1"/>
          </p:cNvSpPr>
          <p:nvPr/>
        </p:nvSpPr>
        <p:spPr bwMode="auto">
          <a:xfrm>
            <a:off x="1961456" y="1916832"/>
            <a:ext cx="9391128" cy="1200329"/>
          </a:xfrm>
          <a:prstGeom prst="rect">
            <a:avLst/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  <a:tileRect/>
          </a:gradFill>
          <a:ln w="38100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ea typeface="隶书" pitchFamily="49" charset="-122"/>
              </a:rPr>
              <a:t>格式：</a:t>
            </a:r>
            <a:r>
              <a:rPr lang="en-US" altLang="zh-CN" dirty="0"/>
              <a:t> 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char *</a:t>
            </a:r>
            <a:r>
              <a:rPr lang="en-US" altLang="zh-CN" b="1" dirty="0" err="1">
                <a:solidFill>
                  <a:srgbClr val="C00000"/>
                </a:solidFill>
                <a:ea typeface="隶书" pitchFamily="49" charset="-122"/>
                <a:sym typeface="Wingdings" pitchFamily="2" charset="2"/>
              </a:rPr>
              <a:t>strupr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( char *</a:t>
            </a:r>
            <a:r>
              <a:rPr lang="en-US" altLang="zh-CN" b="1" dirty="0" err="1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str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);    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//</a:t>
            </a:r>
            <a:r>
              <a:rPr lang="zh-CN" altLang="en-US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应包含的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.h</a:t>
            </a:r>
            <a:r>
              <a:rPr lang="zh-CN" altLang="en-US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文件为</a:t>
            </a:r>
            <a:r>
              <a:rPr lang="en-US" altLang="zh-CN" sz="2000" b="1" dirty="0" err="1">
                <a:solidFill>
                  <a:srgbClr val="CC0099"/>
                </a:solidFill>
                <a:latin typeface="+mn-lt"/>
                <a:ea typeface="隶书" pitchFamily="49" charset="-122"/>
              </a:rPr>
              <a:t>string.h</a:t>
            </a:r>
            <a:endParaRPr lang="zh-CN" altLang="zh-CN" sz="2000" b="1" dirty="0">
              <a:latin typeface="+mn-lt"/>
              <a:ea typeface="隶书" pitchFamily="49" charset="-122"/>
            </a:endParaRPr>
          </a:p>
          <a:p>
            <a:r>
              <a:rPr lang="zh-CN" altLang="zh-CN" b="1" dirty="0">
                <a:ea typeface="隶书" pitchFamily="49" charset="-122"/>
              </a:rPr>
              <a:t>功能：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将字符串</a:t>
            </a:r>
            <a:r>
              <a:rPr lang="en-US" altLang="en-US" b="1" dirty="0" err="1">
                <a:ea typeface="隶书" pitchFamily="49" charset="-122"/>
                <a:sym typeface="Wingdings" pitchFamily="2" charset="2"/>
              </a:rPr>
              <a:t>str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中的小写字母换成大写字母</a:t>
            </a:r>
            <a:endParaRPr lang="zh-CN" altLang="zh-CN" b="1" dirty="0">
              <a:ea typeface="隶书" pitchFamily="49" charset="-122"/>
              <a:sym typeface="Wingdings" pitchFamily="2" charset="2"/>
            </a:endParaRPr>
          </a:p>
          <a:p>
            <a:r>
              <a:rPr lang="zh-CN" altLang="zh-CN" b="1" dirty="0">
                <a:ea typeface="隶书" pitchFamily="49" charset="-122"/>
                <a:sym typeface="Wingdings" pitchFamily="2" charset="2"/>
              </a:rPr>
              <a:t>返值：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字符串</a:t>
            </a:r>
            <a:r>
              <a:rPr lang="en-US" altLang="en-US" b="1" dirty="0" err="1">
                <a:ea typeface="隶书" pitchFamily="49" charset="-122"/>
                <a:sym typeface="Wingdings" pitchFamily="2" charset="2"/>
              </a:rPr>
              <a:t>str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的首地址</a:t>
            </a:r>
            <a:endParaRPr lang="zh-CN" altLang="zh-CN" b="1" dirty="0">
              <a:ea typeface="隶书" pitchFamily="49" charset="-122"/>
              <a:sym typeface="Wingdings" pitchFamily="2" charset="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948606" y="3212976"/>
            <a:ext cx="9392896" cy="1569660"/>
          </a:xfrm>
          <a:prstGeom prst="rect">
            <a:avLst/>
          </a:prstGeom>
          <a:solidFill>
            <a:schemeClr val="bg1"/>
          </a:solidFill>
          <a:ln w="38100">
            <a:solidFill>
              <a:srgbClr val="00206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例如：</a:t>
            </a: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char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latin typeface="+mn-lt"/>
                <a:ea typeface="楷体" pitchFamily="49" charset="-122"/>
              </a:rPr>
              <a:t>[] = "ab123cd";</a:t>
            </a:r>
            <a:endParaRPr lang="zh-CN" altLang="en-US" b="1" dirty="0"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strupr</a:t>
            </a:r>
            <a:r>
              <a:rPr lang="en-US" altLang="zh-CN" b="1" dirty="0">
                <a:latin typeface="+mn-lt"/>
                <a:ea typeface="楷体" pitchFamily="49" charset="-122"/>
              </a:rPr>
              <a:t>(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latin typeface="+mn-lt"/>
                <a:ea typeface="楷体" pitchFamily="49" charset="-122"/>
              </a:rPr>
              <a:t>);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将字符串</a:t>
            </a:r>
            <a:r>
              <a:rPr lang="en-US" altLang="zh-CN" sz="1800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str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中的小写字母换成大写字母</a:t>
            </a: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printf</a:t>
            </a:r>
            <a:r>
              <a:rPr lang="en-US" altLang="zh-CN" b="1" dirty="0">
                <a:latin typeface="+mn-lt"/>
                <a:ea typeface="楷体" pitchFamily="49" charset="-122"/>
              </a:rPr>
              <a:t>("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latin typeface="+mn-lt"/>
                <a:ea typeface="楷体" pitchFamily="49" charset="-122"/>
              </a:rPr>
              <a:t> = %s\n",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latin typeface="+mn-lt"/>
                <a:ea typeface="楷体" pitchFamily="49" charset="-122"/>
              </a:rPr>
              <a:t>);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输出：</a:t>
            </a:r>
            <a:r>
              <a:rPr lang="en-US" altLang="zh-CN" sz="1800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str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 = </a:t>
            </a:r>
            <a:r>
              <a:rPr lang="en-US" altLang="zh-CN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AB123CD</a:t>
            </a:r>
            <a:endParaRPr lang="zh-CN" altLang="en-US" sz="1800" b="1" dirty="0">
              <a:solidFill>
                <a:srgbClr val="C00000"/>
              </a:solidFill>
              <a:latin typeface="+mn-lt"/>
              <a:ea typeface="楷体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018505" y="4797152"/>
            <a:ext cx="61447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2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）转换为小写字符串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—</a:t>
            </a:r>
            <a:r>
              <a:rPr lang="en-US" altLang="zh-CN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strlwr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</a:t>
            </a: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A8FBB706-6C70-4004-B502-8BB9BA9D10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8.8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常用库函数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0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0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490497" grpId="0"/>
      <p:bldP spid="35" grpId="0"/>
      <p:bldP spid="36" grpId="0" animBg="1"/>
      <p:bldP spid="37" grpId="0" animBg="1"/>
      <p:bldP spid="9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1941286" y="5150986"/>
            <a:ext cx="9499128" cy="1569660"/>
          </a:xfrm>
          <a:prstGeom prst="rect">
            <a:avLst/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  <a:tileRect/>
          </a:gradFill>
          <a:ln w="38100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ea typeface="隶书" pitchFamily="49" charset="-122"/>
              </a:rPr>
              <a:t>格式：</a:t>
            </a:r>
            <a:r>
              <a:rPr lang="en-US" altLang="zh-CN" dirty="0"/>
              <a:t> </a:t>
            </a:r>
            <a:r>
              <a:rPr lang="en-US" altLang="zh-CN" sz="2000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char *</a:t>
            </a:r>
            <a:r>
              <a:rPr lang="en-US" altLang="zh-CN" sz="2000" b="1" dirty="0" err="1">
                <a:solidFill>
                  <a:srgbClr val="C01920"/>
                </a:solidFill>
                <a:ea typeface="隶书" pitchFamily="49" charset="-122"/>
                <a:sym typeface="Wingdings" pitchFamily="2" charset="2"/>
              </a:rPr>
              <a:t>strchr</a:t>
            </a:r>
            <a:r>
              <a:rPr lang="en-US" altLang="zh-CN" sz="2000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( const char *</a:t>
            </a:r>
            <a:r>
              <a:rPr lang="en-US" altLang="zh-CN" sz="2000" b="1" dirty="0" err="1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str</a:t>
            </a:r>
            <a:r>
              <a:rPr lang="en-US" altLang="zh-CN" sz="2000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, </a:t>
            </a:r>
            <a:r>
              <a:rPr lang="en-US" altLang="zh-CN" sz="2000" b="1" dirty="0" err="1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int</a:t>
            </a:r>
            <a:r>
              <a:rPr lang="en-US" altLang="zh-CN" sz="2000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 c);  </a:t>
            </a:r>
            <a:r>
              <a:rPr lang="en-US" altLang="zh-CN" sz="2000" b="1" dirty="0">
                <a:ea typeface="隶书" pitchFamily="49" charset="-122"/>
                <a:sym typeface="Wingdings" pitchFamily="2" charset="2"/>
              </a:rPr>
              <a:t> </a:t>
            </a:r>
            <a:r>
              <a:rPr lang="en-US" altLang="zh-CN" sz="18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//</a:t>
            </a:r>
            <a:r>
              <a:rPr lang="zh-CN" altLang="en-US" sz="18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应包含的</a:t>
            </a:r>
            <a:r>
              <a:rPr lang="en-US" altLang="zh-CN" sz="18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.h</a:t>
            </a:r>
            <a:r>
              <a:rPr lang="zh-CN" altLang="en-US" sz="18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文件为</a:t>
            </a:r>
            <a:r>
              <a:rPr lang="en-US" altLang="zh-CN" sz="1800" b="1" dirty="0" err="1">
                <a:solidFill>
                  <a:srgbClr val="CC0099"/>
                </a:solidFill>
                <a:latin typeface="+mn-lt"/>
                <a:ea typeface="隶书" pitchFamily="49" charset="-122"/>
              </a:rPr>
              <a:t>string.h</a:t>
            </a:r>
            <a:endParaRPr lang="zh-CN" altLang="zh-CN" sz="1800" b="1" dirty="0">
              <a:latin typeface="+mn-lt"/>
              <a:ea typeface="隶书" pitchFamily="49" charset="-122"/>
            </a:endParaRPr>
          </a:p>
          <a:p>
            <a:r>
              <a:rPr lang="zh-CN" altLang="zh-CN" b="1" dirty="0">
                <a:ea typeface="隶书" pitchFamily="49" charset="-122"/>
              </a:rPr>
              <a:t>功能：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在字符串</a:t>
            </a:r>
            <a:r>
              <a:rPr lang="en-US" altLang="en-US" b="1" dirty="0" err="1">
                <a:ea typeface="隶书" pitchFamily="49" charset="-122"/>
                <a:sym typeface="Wingdings" pitchFamily="2" charset="2"/>
              </a:rPr>
              <a:t>str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中从前往后查找第一次出现字符</a:t>
            </a:r>
            <a:r>
              <a:rPr lang="en-US" altLang="en-US" b="1" dirty="0">
                <a:ea typeface="隶书" pitchFamily="49" charset="-122"/>
                <a:sym typeface="Wingdings" pitchFamily="2" charset="2"/>
              </a:rPr>
              <a:t>c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位置</a:t>
            </a:r>
            <a:endParaRPr lang="zh-CN" altLang="zh-CN" b="1" dirty="0">
              <a:ea typeface="隶书" pitchFamily="49" charset="-122"/>
              <a:sym typeface="Wingdings" pitchFamily="2" charset="2"/>
            </a:endParaRPr>
          </a:p>
          <a:p>
            <a:pPr marL="984250" indent="-984250"/>
            <a:r>
              <a:rPr lang="zh-CN" altLang="zh-CN" b="1" dirty="0">
                <a:ea typeface="隶书" pitchFamily="49" charset="-122"/>
                <a:sym typeface="Wingdings" pitchFamily="2" charset="2"/>
              </a:rPr>
              <a:t>返值：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如果查找到，则返回该位置的地址，如果没有找到，则返回</a:t>
            </a:r>
            <a:r>
              <a:rPr lang="en-US" altLang="en-US" b="1" dirty="0">
                <a:ea typeface="隶书" pitchFamily="49" charset="-122"/>
                <a:sym typeface="Wingdings" pitchFamily="2" charset="2"/>
              </a:rPr>
              <a:t>NULL</a:t>
            </a:r>
            <a:endParaRPr lang="zh-CN" altLang="zh-CN" b="1" dirty="0">
              <a:ea typeface="隶书" pitchFamily="49" charset="-122"/>
              <a:sym typeface="Wingdings" pitchFamily="2" charset="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019554" y="1399059"/>
            <a:ext cx="61447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3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）设置字符串中的字符</a:t>
            </a: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—</a:t>
            </a:r>
            <a:r>
              <a:rPr lang="en-US" altLang="zh-CN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strset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</a:t>
            </a:r>
          </a:p>
        </p:txBody>
      </p:sp>
      <p:sp>
        <p:nvSpPr>
          <p:cNvPr id="36" name="Text Box 7"/>
          <p:cNvSpPr txBox="1">
            <a:spLocks noChangeArrowheads="1"/>
          </p:cNvSpPr>
          <p:nvPr/>
        </p:nvSpPr>
        <p:spPr bwMode="auto">
          <a:xfrm>
            <a:off x="1913724" y="1940639"/>
            <a:ext cx="9511514" cy="1200329"/>
          </a:xfrm>
          <a:prstGeom prst="rect">
            <a:avLst/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  <a:tileRect/>
          </a:gradFill>
          <a:ln w="38100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ea typeface="隶书" pitchFamily="49" charset="-122"/>
              </a:rPr>
              <a:t>格式：</a:t>
            </a:r>
            <a:r>
              <a:rPr lang="en-US" altLang="zh-CN" dirty="0"/>
              <a:t> 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char *</a:t>
            </a:r>
            <a:r>
              <a:rPr lang="en-US" altLang="zh-CN" b="1" dirty="0" err="1">
                <a:solidFill>
                  <a:srgbClr val="C01920"/>
                </a:solidFill>
                <a:ea typeface="隶书" pitchFamily="49" charset="-122"/>
                <a:sym typeface="Wingdings" pitchFamily="2" charset="2"/>
              </a:rPr>
              <a:t>strset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( char *str, int c);  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//</a:t>
            </a:r>
            <a:r>
              <a:rPr lang="zh-CN" altLang="en-US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应包含的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.h</a:t>
            </a:r>
            <a:r>
              <a:rPr lang="zh-CN" altLang="en-US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文件为</a:t>
            </a:r>
            <a:r>
              <a:rPr lang="en-US" altLang="zh-CN" sz="2000" b="1" dirty="0" err="1">
                <a:solidFill>
                  <a:srgbClr val="CC0099"/>
                </a:solidFill>
                <a:latin typeface="+mn-lt"/>
                <a:ea typeface="隶书" pitchFamily="49" charset="-122"/>
              </a:rPr>
              <a:t>string.h</a:t>
            </a:r>
            <a:endParaRPr lang="zh-CN" altLang="zh-CN" sz="2000" b="1" dirty="0">
              <a:latin typeface="+mn-lt"/>
              <a:ea typeface="隶书" pitchFamily="49" charset="-122"/>
            </a:endParaRPr>
          </a:p>
          <a:p>
            <a:r>
              <a:rPr lang="zh-CN" altLang="zh-CN" b="1" dirty="0">
                <a:ea typeface="隶书" pitchFamily="49" charset="-122"/>
              </a:rPr>
              <a:t>功能：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将字符串</a:t>
            </a:r>
            <a:r>
              <a:rPr lang="en-US" altLang="en-US" b="1" dirty="0">
                <a:ea typeface="隶书" pitchFamily="49" charset="-122"/>
                <a:sym typeface="Wingdings" pitchFamily="2" charset="2"/>
              </a:rPr>
              <a:t>str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中的所有字符都置换为字符</a:t>
            </a:r>
            <a:r>
              <a:rPr lang="en-US" altLang="en-US" b="1" dirty="0">
                <a:ea typeface="隶书" pitchFamily="49" charset="-122"/>
                <a:sym typeface="Wingdings" pitchFamily="2" charset="2"/>
              </a:rPr>
              <a:t>c</a:t>
            </a:r>
            <a:endParaRPr lang="zh-CN" altLang="zh-CN" b="1" dirty="0">
              <a:ea typeface="隶书" pitchFamily="49" charset="-122"/>
              <a:sym typeface="Wingdings" pitchFamily="2" charset="2"/>
            </a:endParaRPr>
          </a:p>
          <a:p>
            <a:r>
              <a:rPr lang="zh-CN" altLang="zh-CN" b="1" dirty="0">
                <a:ea typeface="隶书" pitchFamily="49" charset="-122"/>
                <a:sym typeface="Wingdings" pitchFamily="2" charset="2"/>
              </a:rPr>
              <a:t>返值：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字符串</a:t>
            </a:r>
            <a:r>
              <a:rPr lang="en-US" altLang="en-US" b="1" dirty="0" err="1">
                <a:ea typeface="隶书" pitchFamily="49" charset="-122"/>
                <a:sym typeface="Wingdings" pitchFamily="2" charset="2"/>
              </a:rPr>
              <a:t>str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的首地址</a:t>
            </a:r>
            <a:endParaRPr lang="zh-CN" altLang="zh-CN" b="1" dirty="0">
              <a:ea typeface="隶书" pitchFamily="49" charset="-122"/>
              <a:sym typeface="Wingdings" pitchFamily="2" charset="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924550" y="3079220"/>
            <a:ext cx="9500688" cy="1569660"/>
          </a:xfrm>
          <a:prstGeom prst="rect">
            <a:avLst/>
          </a:prstGeom>
          <a:solidFill>
            <a:schemeClr val="bg1"/>
          </a:solidFill>
          <a:ln w="38100">
            <a:solidFill>
              <a:srgbClr val="00206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例如：</a:t>
            </a: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 char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latin typeface="+mn-lt"/>
                <a:ea typeface="楷体" pitchFamily="49" charset="-122"/>
              </a:rPr>
              <a:t>[] = "ABCD";</a:t>
            </a:r>
            <a:endParaRPr lang="zh-CN" altLang="en-US" b="1" dirty="0"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strset</a:t>
            </a:r>
            <a:r>
              <a:rPr lang="en-US" altLang="zh-CN" b="1" dirty="0">
                <a:latin typeface="+mn-lt"/>
                <a:ea typeface="楷体" pitchFamily="49" charset="-122"/>
              </a:rPr>
              <a:t>(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latin typeface="+mn-lt"/>
                <a:ea typeface="楷体" pitchFamily="49" charset="-122"/>
              </a:rPr>
              <a:t>, '0'); </a:t>
            </a:r>
            <a:r>
              <a:rPr lang="en-US" altLang="zh-CN" sz="1800" b="1" dirty="0">
                <a:solidFill>
                  <a:srgbClr val="0000FF"/>
                </a:solidFill>
                <a:latin typeface="+mn-lt"/>
                <a:ea typeface="楷体" pitchFamily="49" charset="-122"/>
              </a:rPr>
              <a:t> 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将字符串</a:t>
            </a:r>
            <a:r>
              <a:rPr lang="en-US" altLang="zh-CN" sz="1800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str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中的所有字符都设置为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'0'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字符</a:t>
            </a: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printf</a:t>
            </a:r>
            <a:r>
              <a:rPr lang="en-US" altLang="zh-CN" b="1" dirty="0">
                <a:latin typeface="+mn-lt"/>
                <a:ea typeface="楷体" pitchFamily="49" charset="-122"/>
              </a:rPr>
              <a:t>("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latin typeface="+mn-lt"/>
                <a:ea typeface="楷体" pitchFamily="49" charset="-122"/>
              </a:rPr>
              <a:t> = %s\n",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latin typeface="+mn-lt"/>
                <a:ea typeface="楷体" pitchFamily="49" charset="-122"/>
              </a:rPr>
              <a:t>);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输出：</a:t>
            </a:r>
            <a:r>
              <a:rPr lang="en-US" altLang="zh-CN" sz="1800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str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 = </a:t>
            </a:r>
            <a:r>
              <a:rPr lang="en-US" altLang="zh-CN" sz="1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0000</a:t>
            </a:r>
            <a:endParaRPr lang="zh-CN" altLang="en-US" sz="1800" b="1" dirty="0">
              <a:solidFill>
                <a:srgbClr val="C01920"/>
              </a:solidFill>
              <a:latin typeface="+mn-lt"/>
              <a:ea typeface="楷体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006704" y="4725144"/>
            <a:ext cx="61447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4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）字符串中查找某字符</a:t>
            </a: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—</a:t>
            </a:r>
            <a:r>
              <a:rPr lang="en-US" altLang="zh-CN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strchr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</a:t>
            </a:r>
          </a:p>
        </p:txBody>
      </p:sp>
      <p:sp>
        <p:nvSpPr>
          <p:cNvPr id="11" name="矩形 10"/>
          <p:cNvSpPr/>
          <p:nvPr/>
        </p:nvSpPr>
        <p:spPr>
          <a:xfrm>
            <a:off x="1941286" y="5148027"/>
            <a:ext cx="9517088" cy="1569660"/>
          </a:xfrm>
          <a:prstGeom prst="rect">
            <a:avLst/>
          </a:prstGeom>
          <a:solidFill>
            <a:schemeClr val="bg1"/>
          </a:solidFill>
          <a:ln w="38100">
            <a:solidFill>
              <a:srgbClr val="00206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例如：</a:t>
            </a: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 char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latin typeface="+mn-lt"/>
                <a:ea typeface="楷体" pitchFamily="49" charset="-122"/>
              </a:rPr>
              <a:t>[] = "ABCDC";</a:t>
            </a:r>
            <a:endParaRPr lang="zh-CN" altLang="en-US" b="1" dirty="0"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strchr</a:t>
            </a:r>
            <a:r>
              <a:rPr lang="en-US" altLang="zh-CN" b="1" dirty="0">
                <a:latin typeface="+mn-lt"/>
                <a:ea typeface="楷体" pitchFamily="49" charset="-122"/>
              </a:rPr>
              <a:t>(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latin typeface="+mn-lt"/>
                <a:ea typeface="楷体" pitchFamily="49" charset="-122"/>
              </a:rPr>
              <a:t>, 'C');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函数的返回值将是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str+2</a:t>
            </a:r>
            <a:endParaRPr lang="zh-CN" altLang="en-US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strchr</a:t>
            </a:r>
            <a:r>
              <a:rPr lang="en-US" altLang="zh-CN" b="1" dirty="0">
                <a:latin typeface="+mn-lt"/>
                <a:ea typeface="楷体" pitchFamily="49" charset="-122"/>
              </a:rPr>
              <a:t>(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latin typeface="+mn-lt"/>
                <a:ea typeface="楷体" pitchFamily="49" charset="-122"/>
              </a:rPr>
              <a:t>, 'c');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函数的返回值将是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NULL</a:t>
            </a:r>
            <a:endParaRPr lang="zh-CN" altLang="en-US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961034" y="5138500"/>
            <a:ext cx="9505056" cy="1569660"/>
          </a:xfrm>
          <a:prstGeom prst="rect">
            <a:avLst/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  <a:tileRect/>
          </a:gradFill>
          <a:ln w="38100">
            <a:solidFill>
              <a:schemeClr val="accent1">
                <a:lumMod val="50000"/>
              </a:schemeClr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+mn-lt"/>
                <a:ea typeface="楷体" pitchFamily="49" charset="-122"/>
              </a:rPr>
              <a:t>         </a:t>
            </a:r>
            <a:r>
              <a:rPr lang="zh-CN" altLang="en-US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利用</a:t>
            </a:r>
            <a:r>
              <a:rPr lang="en-US" altLang="zh-CN" b="1" dirty="0" err="1">
                <a:solidFill>
                  <a:srgbClr val="FF0000"/>
                </a:solidFill>
                <a:ea typeface="隶书" pitchFamily="49" charset="-122"/>
                <a:sym typeface="Wingdings" pitchFamily="2" charset="2"/>
              </a:rPr>
              <a:t>strchr</a:t>
            </a:r>
            <a:r>
              <a:rPr lang="zh-CN" altLang="en-US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函数可以有效判定某字符</a:t>
            </a:r>
            <a:r>
              <a:rPr lang="en-US" altLang="en-US" b="1" dirty="0" err="1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ch</a:t>
            </a:r>
            <a:r>
              <a:rPr lang="zh-CN" altLang="en-US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是否在字符串</a:t>
            </a:r>
            <a:r>
              <a:rPr lang="en-US" altLang="en-US" b="1" dirty="0" err="1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str</a:t>
            </a:r>
            <a:r>
              <a:rPr lang="zh-CN" altLang="en-US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中存在，其方法为：</a:t>
            </a: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    if (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strchr</a:t>
            </a:r>
            <a:r>
              <a:rPr lang="en-US" altLang="zh-CN" b="1" dirty="0">
                <a:latin typeface="+mn-lt"/>
                <a:ea typeface="楷体" pitchFamily="49" charset="-122"/>
              </a:rPr>
              <a:t>(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latin typeface="+mn-lt"/>
                <a:ea typeface="楷体" pitchFamily="49" charset="-122"/>
              </a:rPr>
              <a:t>,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ch</a:t>
            </a:r>
            <a:r>
              <a:rPr lang="en-US" altLang="zh-CN" b="1" dirty="0">
                <a:latin typeface="+mn-lt"/>
                <a:ea typeface="楷体" pitchFamily="49" charset="-122"/>
              </a:rPr>
              <a:t>) != NULL)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字符串</a:t>
            </a:r>
            <a:r>
              <a:rPr lang="en-US" altLang="zh-CN" sz="1800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str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中找到了字符</a:t>
            </a:r>
            <a:r>
              <a:rPr lang="en-US" altLang="zh-CN" sz="1800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ch</a:t>
            </a:r>
            <a:endParaRPr lang="zh-CN" altLang="en-US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   </a:t>
            </a:r>
            <a:r>
              <a:rPr lang="en-US" altLang="zh-CN" b="1" dirty="0">
                <a:ea typeface="楷体" pitchFamily="49" charset="-122"/>
              </a:rPr>
              <a:t>{     …</a:t>
            </a:r>
            <a:r>
              <a:rPr lang="zh-CN" altLang="en-US" b="1" dirty="0">
                <a:ea typeface="楷体" pitchFamily="49" charset="-122"/>
              </a:rPr>
              <a:t>    </a:t>
            </a:r>
            <a:r>
              <a:rPr lang="en-US" altLang="zh-CN" b="1" dirty="0">
                <a:ea typeface="楷体" pitchFamily="49" charset="-122"/>
              </a:rPr>
              <a:t>}</a:t>
            </a:r>
            <a:endParaRPr lang="zh-CN" altLang="en-US" b="1" dirty="0">
              <a:latin typeface="+mn-lt"/>
              <a:ea typeface="楷体" pitchFamily="49" charset="-122"/>
            </a:endParaRP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49C3DCBE-1D3F-4487-A263-0BDEF84E72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326" y="889556"/>
            <a:ext cx="4032448" cy="52322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3175">
              <a:tabLst>
                <a:tab pos="450850" algn="l"/>
              </a:tabLst>
            </a:pPr>
            <a:r>
              <a:rPr kumimoji="0" lang="en-US" altLang="zh-CN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3</a:t>
            </a:r>
            <a:r>
              <a:rPr kumimoji="0" lang="zh-CN" altLang="en-US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、常用字符串处理函数</a:t>
            </a:r>
            <a:endParaRPr kumimoji="0" lang="zh-CN" altLang="en-US" sz="28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  <a:cs typeface="宋体" pitchFamily="2" charset="-122"/>
            </a:endParaRP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F3D02F17-DE5F-45D9-82A9-3C2606887A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8.8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常用库函数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5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5" grpId="0"/>
      <p:bldP spid="36" grpId="0" animBg="1"/>
      <p:bldP spid="37" grpId="0" animBg="1"/>
      <p:bldP spid="9" grpId="0"/>
      <p:bldP spid="11" grpId="0" animBg="1"/>
      <p:bldP spid="12" grpId="0" animBg="1"/>
      <p:bldP spid="13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1906069" y="4803328"/>
            <a:ext cx="9439336" cy="1877437"/>
          </a:xfrm>
          <a:prstGeom prst="rect">
            <a:avLst/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  <a:tileRect/>
          </a:gradFill>
          <a:ln w="38100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ea typeface="隶书" pitchFamily="49" charset="-122"/>
              </a:rPr>
              <a:t>格式：</a:t>
            </a:r>
            <a:r>
              <a:rPr lang="en-US" altLang="zh-CN" dirty="0"/>
              <a:t> 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char *</a:t>
            </a:r>
            <a:r>
              <a:rPr lang="en-US" altLang="zh-CN" b="1" dirty="0" err="1">
                <a:solidFill>
                  <a:srgbClr val="C00000"/>
                </a:solidFill>
                <a:ea typeface="隶书" pitchFamily="49" charset="-122"/>
                <a:sym typeface="Wingdings" pitchFamily="2" charset="2"/>
              </a:rPr>
              <a:t>strstr</a:t>
            </a:r>
            <a:r>
              <a:rPr lang="en-US" altLang="zh-CN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( const char *str1, const char *str2);   </a:t>
            </a:r>
          </a:p>
          <a:p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  <a:sym typeface="Wingdings" pitchFamily="2" charset="2"/>
              </a:rPr>
              <a:t>                                                                             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//</a:t>
            </a:r>
            <a:r>
              <a:rPr lang="zh-CN" altLang="en-US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应包含的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.h</a:t>
            </a:r>
            <a:r>
              <a:rPr lang="zh-CN" altLang="en-US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文件为</a:t>
            </a:r>
            <a:r>
              <a:rPr lang="en-US" altLang="zh-CN" sz="2000" b="1" dirty="0" err="1">
                <a:solidFill>
                  <a:srgbClr val="CC0099"/>
                </a:solidFill>
                <a:latin typeface="+mn-lt"/>
                <a:ea typeface="隶书" pitchFamily="49" charset="-122"/>
              </a:rPr>
              <a:t>string.h</a:t>
            </a:r>
            <a:endParaRPr lang="zh-CN" altLang="zh-CN" sz="2000" b="1" dirty="0">
              <a:latin typeface="+mn-lt"/>
              <a:ea typeface="隶书" pitchFamily="49" charset="-122"/>
            </a:endParaRPr>
          </a:p>
          <a:p>
            <a:r>
              <a:rPr lang="zh-CN" altLang="zh-CN" b="1" dirty="0">
                <a:ea typeface="隶书" pitchFamily="49" charset="-122"/>
              </a:rPr>
              <a:t>功能：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在主串</a:t>
            </a:r>
            <a:r>
              <a:rPr lang="en-US" altLang="en-US" b="1" dirty="0">
                <a:ea typeface="隶书" pitchFamily="49" charset="-122"/>
                <a:sym typeface="Wingdings" pitchFamily="2" charset="2"/>
              </a:rPr>
              <a:t>str1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中查找子串</a:t>
            </a:r>
            <a:r>
              <a:rPr lang="en-US" altLang="en-US" b="1" dirty="0">
                <a:ea typeface="隶书" pitchFamily="49" charset="-122"/>
                <a:sym typeface="Wingdings" pitchFamily="2" charset="2"/>
              </a:rPr>
              <a:t>str2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第一次出现的位置</a:t>
            </a:r>
            <a:endParaRPr lang="zh-CN" altLang="zh-CN" b="1" dirty="0">
              <a:ea typeface="隶书" pitchFamily="49" charset="-122"/>
              <a:sym typeface="Wingdings" pitchFamily="2" charset="2"/>
            </a:endParaRPr>
          </a:p>
          <a:p>
            <a:pPr marL="984250" indent="-984250"/>
            <a:r>
              <a:rPr lang="zh-CN" altLang="zh-CN" b="1" dirty="0">
                <a:ea typeface="隶书" pitchFamily="49" charset="-122"/>
                <a:sym typeface="Wingdings" pitchFamily="2" charset="2"/>
              </a:rPr>
              <a:t>返值：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如果查找到，则返回该位置的地址，如果没有找到，则返回</a:t>
            </a:r>
            <a:r>
              <a:rPr lang="en-US" altLang="en-US" b="1" dirty="0">
                <a:ea typeface="隶书" pitchFamily="49" charset="-122"/>
                <a:sym typeface="Wingdings" pitchFamily="2" charset="2"/>
              </a:rPr>
              <a:t>NULL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。如果</a:t>
            </a:r>
            <a:r>
              <a:rPr lang="en-US" altLang="en-US" b="1" dirty="0">
                <a:ea typeface="隶书" pitchFamily="49" charset="-122"/>
                <a:sym typeface="Wingdings" pitchFamily="2" charset="2"/>
              </a:rPr>
              <a:t>str2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为空串，则返回</a:t>
            </a:r>
            <a:r>
              <a:rPr lang="en-US" altLang="en-US" b="1" dirty="0">
                <a:ea typeface="隶书" pitchFamily="49" charset="-122"/>
                <a:sym typeface="Wingdings" pitchFamily="2" charset="2"/>
              </a:rPr>
              <a:t>str1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首地址。</a:t>
            </a:r>
            <a:endParaRPr lang="zh-CN" altLang="zh-CN" b="1" dirty="0">
              <a:ea typeface="隶书" pitchFamily="49" charset="-122"/>
              <a:sym typeface="Wingdings" pitchFamily="2" charset="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996282" y="1444489"/>
            <a:ext cx="76958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5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）字符串中反向查找某字符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—</a:t>
            </a:r>
            <a:r>
              <a:rPr lang="en-US" altLang="zh-CN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strrchr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</a:t>
            </a:r>
          </a:p>
        </p:txBody>
      </p:sp>
      <p:sp>
        <p:nvSpPr>
          <p:cNvPr id="36" name="Text Box 7"/>
          <p:cNvSpPr txBox="1">
            <a:spLocks noChangeArrowheads="1"/>
          </p:cNvSpPr>
          <p:nvPr/>
        </p:nvSpPr>
        <p:spPr bwMode="auto">
          <a:xfrm>
            <a:off x="1890452" y="1916832"/>
            <a:ext cx="9439506" cy="1569660"/>
          </a:xfrm>
          <a:prstGeom prst="rect">
            <a:avLst/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  <a:tileRect/>
          </a:gradFill>
          <a:ln w="38100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ea typeface="隶书" pitchFamily="49" charset="-122"/>
              </a:rPr>
              <a:t>格式：</a:t>
            </a:r>
            <a:r>
              <a:rPr lang="en-US" altLang="zh-CN" dirty="0"/>
              <a:t> </a:t>
            </a:r>
            <a:r>
              <a:rPr lang="en-US" altLang="zh-CN" sz="2000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char *</a:t>
            </a:r>
            <a:r>
              <a:rPr lang="en-US" altLang="zh-CN" sz="2000" b="1" dirty="0" err="1">
                <a:solidFill>
                  <a:srgbClr val="C00000"/>
                </a:solidFill>
                <a:ea typeface="隶书" pitchFamily="49" charset="-122"/>
                <a:sym typeface="Wingdings" pitchFamily="2" charset="2"/>
              </a:rPr>
              <a:t>strrchr</a:t>
            </a:r>
            <a:r>
              <a:rPr lang="en-US" altLang="zh-CN" sz="2000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( const char *</a:t>
            </a:r>
            <a:r>
              <a:rPr lang="en-US" altLang="zh-CN" sz="2000" b="1" dirty="0" err="1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str</a:t>
            </a:r>
            <a:r>
              <a:rPr lang="en-US" altLang="zh-CN" sz="2000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, </a:t>
            </a:r>
            <a:r>
              <a:rPr lang="en-US" altLang="zh-CN" sz="2000" b="1" dirty="0" err="1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int</a:t>
            </a:r>
            <a:r>
              <a:rPr lang="en-US" altLang="zh-CN" sz="2000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 c);           </a:t>
            </a:r>
            <a:r>
              <a:rPr lang="en-US" altLang="zh-CN" sz="18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//</a:t>
            </a:r>
            <a:r>
              <a:rPr lang="zh-CN" altLang="en-US" sz="18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应包含的</a:t>
            </a:r>
            <a:r>
              <a:rPr lang="en-US" altLang="zh-CN" sz="18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.h</a:t>
            </a:r>
            <a:r>
              <a:rPr lang="zh-CN" altLang="en-US" sz="18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文件为</a:t>
            </a:r>
            <a:r>
              <a:rPr lang="en-US" altLang="zh-CN" sz="1800" b="1" dirty="0" err="1">
                <a:solidFill>
                  <a:srgbClr val="CC0099"/>
                </a:solidFill>
                <a:latin typeface="+mn-lt"/>
                <a:ea typeface="隶书" pitchFamily="49" charset="-122"/>
              </a:rPr>
              <a:t>string.h</a:t>
            </a:r>
            <a:endParaRPr lang="zh-CN" altLang="zh-CN" sz="1800" b="1" dirty="0">
              <a:latin typeface="+mn-lt"/>
              <a:ea typeface="隶书" pitchFamily="49" charset="-122"/>
            </a:endParaRPr>
          </a:p>
          <a:p>
            <a:r>
              <a:rPr lang="zh-CN" altLang="zh-CN" b="1" dirty="0">
                <a:ea typeface="隶书" pitchFamily="49" charset="-122"/>
              </a:rPr>
              <a:t>功能：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在字符串</a:t>
            </a:r>
            <a:r>
              <a:rPr lang="en-US" altLang="en-US" b="1" dirty="0" err="1">
                <a:ea typeface="隶书" pitchFamily="49" charset="-122"/>
                <a:sym typeface="Wingdings" pitchFamily="2" charset="2"/>
              </a:rPr>
              <a:t>str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中从末尾往前查找第一次出现字符</a:t>
            </a:r>
            <a:r>
              <a:rPr lang="en-US" altLang="en-US" b="1" dirty="0">
                <a:ea typeface="隶书" pitchFamily="49" charset="-122"/>
                <a:sym typeface="Wingdings" pitchFamily="2" charset="2"/>
              </a:rPr>
              <a:t>c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位置</a:t>
            </a:r>
            <a:endParaRPr lang="zh-CN" altLang="zh-CN" b="1" dirty="0">
              <a:ea typeface="隶书" pitchFamily="49" charset="-122"/>
              <a:sym typeface="Wingdings" pitchFamily="2" charset="2"/>
            </a:endParaRPr>
          </a:p>
          <a:p>
            <a:pPr marL="893763" indent="-893763"/>
            <a:r>
              <a:rPr lang="zh-CN" altLang="zh-CN" b="1" dirty="0">
                <a:ea typeface="隶书" pitchFamily="49" charset="-122"/>
                <a:sym typeface="Wingdings" pitchFamily="2" charset="2"/>
              </a:rPr>
              <a:t>返值：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如果查找到，则返回该位置的地址，如果没有找到，则返回</a:t>
            </a:r>
            <a:r>
              <a:rPr lang="en-US" altLang="en-US" b="1" dirty="0">
                <a:ea typeface="隶书" pitchFamily="49" charset="-122"/>
                <a:sym typeface="Wingdings" pitchFamily="2" charset="2"/>
              </a:rPr>
              <a:t>NULL</a:t>
            </a:r>
            <a:endParaRPr lang="zh-CN" altLang="zh-CN" b="1" dirty="0">
              <a:ea typeface="隶书" pitchFamily="49" charset="-122"/>
              <a:sym typeface="Wingdings" pitchFamily="2" charset="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912196" y="2707914"/>
            <a:ext cx="9433048" cy="1569660"/>
          </a:xfrm>
          <a:prstGeom prst="rect">
            <a:avLst/>
          </a:prstGeom>
          <a:solidFill>
            <a:schemeClr val="bg1"/>
          </a:solidFill>
          <a:ln w="38100">
            <a:solidFill>
              <a:srgbClr val="00206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例如：</a:t>
            </a: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 char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latin typeface="+mn-lt"/>
                <a:ea typeface="楷体" pitchFamily="49" charset="-122"/>
              </a:rPr>
              <a:t>[] = "ABCDCE";</a:t>
            </a:r>
            <a:endParaRPr lang="zh-CN" altLang="en-US" b="1" dirty="0"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strrchr</a:t>
            </a:r>
            <a:r>
              <a:rPr lang="en-US" altLang="zh-CN" b="1" dirty="0">
                <a:latin typeface="+mn-lt"/>
                <a:ea typeface="楷体" pitchFamily="49" charset="-122"/>
              </a:rPr>
              <a:t>(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latin typeface="+mn-lt"/>
                <a:ea typeface="楷体" pitchFamily="49" charset="-122"/>
              </a:rPr>
              <a:t>, 'C');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函数的返回值将是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str+4</a:t>
            </a:r>
            <a:endParaRPr lang="zh-CN" altLang="en-US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strchr</a:t>
            </a:r>
            <a:r>
              <a:rPr lang="en-US" altLang="zh-CN" b="1" dirty="0">
                <a:latin typeface="+mn-lt"/>
                <a:ea typeface="楷体" pitchFamily="49" charset="-122"/>
              </a:rPr>
              <a:t>(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latin typeface="+mn-lt"/>
                <a:ea typeface="楷体" pitchFamily="49" charset="-122"/>
              </a:rPr>
              <a:t>, 'c'); 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函数的返回值将是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NULL</a:t>
            </a:r>
            <a:endParaRPr lang="zh-CN" altLang="en-US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998879" y="4365104"/>
            <a:ext cx="61447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6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）字符串中查找子串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—</a:t>
            </a:r>
            <a:r>
              <a:rPr lang="en-US" altLang="zh-CN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strstr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</a:t>
            </a:r>
          </a:p>
        </p:txBody>
      </p:sp>
      <p:sp>
        <p:nvSpPr>
          <p:cNvPr id="11" name="矩形 10"/>
          <p:cNvSpPr/>
          <p:nvPr/>
        </p:nvSpPr>
        <p:spPr>
          <a:xfrm>
            <a:off x="1919663" y="5111105"/>
            <a:ext cx="9445080" cy="1569660"/>
          </a:xfrm>
          <a:prstGeom prst="rect">
            <a:avLst/>
          </a:prstGeom>
          <a:solidFill>
            <a:schemeClr val="bg1"/>
          </a:solidFill>
          <a:ln w="38100">
            <a:solidFill>
              <a:srgbClr val="00206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例如：</a:t>
            </a: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 char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latin typeface="+mn-lt"/>
                <a:ea typeface="楷体" pitchFamily="49" charset="-122"/>
              </a:rPr>
              <a:t>[] = "abc123def123";</a:t>
            </a:r>
            <a:endParaRPr lang="zh-CN" altLang="en-US" b="1" dirty="0"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strstr</a:t>
            </a:r>
            <a:r>
              <a:rPr lang="en-US" altLang="zh-CN" b="1" dirty="0">
                <a:latin typeface="+mn-lt"/>
                <a:ea typeface="楷体" pitchFamily="49" charset="-122"/>
              </a:rPr>
              <a:t>(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latin typeface="+mn-lt"/>
                <a:ea typeface="楷体" pitchFamily="49" charset="-122"/>
              </a:rPr>
              <a:t>, "123");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函数的返回值将是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str+3</a:t>
            </a:r>
            <a:endParaRPr lang="zh-CN" altLang="en-US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strstr</a:t>
            </a:r>
            <a:r>
              <a:rPr lang="en-US" altLang="zh-CN" b="1" dirty="0">
                <a:latin typeface="+mn-lt"/>
                <a:ea typeface="楷体" pitchFamily="49" charset="-122"/>
              </a:rPr>
              <a:t>(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latin typeface="+mn-lt"/>
                <a:ea typeface="楷体" pitchFamily="49" charset="-122"/>
              </a:rPr>
              <a:t>, "1234");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函数的返回值将是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NULL</a:t>
            </a:r>
            <a:endParaRPr lang="zh-CN" altLang="en-US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912866" y="5096326"/>
            <a:ext cx="9445080" cy="1569660"/>
          </a:xfrm>
          <a:prstGeom prst="rect">
            <a:avLst/>
          </a:prstGeom>
          <a:gradFill flip="none" rotWithShape="1">
            <a:gsLst>
              <a:gs pos="0">
                <a:srgbClr val="CFCFD1"/>
              </a:gs>
              <a:gs pos="100000">
                <a:schemeClr val="bg1"/>
              </a:gs>
            </a:gsLst>
            <a:lin ang="13500000" scaled="1"/>
            <a:tileRect/>
          </a:gradFill>
          <a:ln w="38100">
            <a:solidFill>
              <a:schemeClr val="accent1">
                <a:lumMod val="50000"/>
              </a:schemeClr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        利用</a:t>
            </a:r>
            <a:r>
              <a:rPr lang="en-US" altLang="zh-CN" b="1" dirty="0" err="1">
                <a:solidFill>
                  <a:srgbClr val="C00000"/>
                </a:solidFill>
                <a:ea typeface="隶书" pitchFamily="49" charset="-122"/>
                <a:sym typeface="Wingdings" pitchFamily="2" charset="2"/>
              </a:rPr>
              <a:t>strstr</a:t>
            </a:r>
            <a:r>
              <a:rPr lang="zh-CN" altLang="en-US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函数可以有效判定某字符串</a:t>
            </a:r>
            <a:r>
              <a:rPr lang="en-US" altLang="en-US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str1</a:t>
            </a:r>
            <a:r>
              <a:rPr lang="zh-CN" altLang="en-US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中是否包含子串</a:t>
            </a:r>
            <a:r>
              <a:rPr lang="en-US" altLang="en-US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str2</a:t>
            </a:r>
            <a:r>
              <a:rPr lang="zh-CN" altLang="en-US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，其方法为：</a:t>
            </a: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    if (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strstr</a:t>
            </a:r>
            <a:r>
              <a:rPr lang="en-US" altLang="zh-CN" b="1" dirty="0">
                <a:latin typeface="+mn-lt"/>
                <a:ea typeface="楷体" pitchFamily="49" charset="-122"/>
              </a:rPr>
              <a:t>(str1, str2) != NULL)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字符串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str1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包含子串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str2</a:t>
            </a:r>
            <a:endParaRPr lang="zh-CN" altLang="en-US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   {     …</a:t>
            </a:r>
            <a:r>
              <a:rPr lang="zh-CN" altLang="en-US" b="1" dirty="0">
                <a:latin typeface="+mn-lt"/>
                <a:ea typeface="楷体" pitchFamily="49" charset="-122"/>
              </a:rPr>
              <a:t>    </a:t>
            </a:r>
            <a:r>
              <a:rPr lang="en-US" altLang="zh-CN" b="1" dirty="0">
                <a:latin typeface="+mn-lt"/>
                <a:ea typeface="楷体" pitchFamily="49" charset="-122"/>
              </a:rPr>
              <a:t>}</a:t>
            </a:r>
            <a:endParaRPr lang="zh-CN" altLang="en-US" b="1" dirty="0">
              <a:latin typeface="+mn-lt"/>
              <a:ea typeface="楷体" pitchFamily="49" charset="-122"/>
            </a:endParaRP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FEC909A8-EB99-4E2B-BC60-C432F334C6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326" y="889556"/>
            <a:ext cx="4032448" cy="52322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3175">
              <a:tabLst>
                <a:tab pos="450850" algn="l"/>
              </a:tabLst>
            </a:pPr>
            <a:r>
              <a:rPr kumimoji="0" lang="en-US" altLang="zh-CN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3</a:t>
            </a:r>
            <a:r>
              <a:rPr kumimoji="0" lang="zh-CN" altLang="en-US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、常用字符串处理函数</a:t>
            </a:r>
            <a:endParaRPr kumimoji="0" lang="zh-CN" altLang="en-US" sz="28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  <a:cs typeface="宋体" pitchFamily="2" charset="-122"/>
            </a:endParaRP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81724948-2711-42B2-BA73-F9DFB6801E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8.8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常用库函数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5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5" grpId="0"/>
      <p:bldP spid="36" grpId="0" animBg="1"/>
      <p:bldP spid="37" grpId="0" animBg="1"/>
      <p:bldP spid="9" grpId="0"/>
      <p:bldP spid="11" grpId="0" animBg="1"/>
      <p:bldP spid="12" grpId="0" animBg="1"/>
      <p:bldP spid="13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497" name="Rectangle 1"/>
          <p:cNvSpPr>
            <a:spLocks noChangeArrowheads="1"/>
          </p:cNvSpPr>
          <p:nvPr/>
        </p:nvSpPr>
        <p:spPr bwMode="auto">
          <a:xfrm>
            <a:off x="839416" y="908720"/>
            <a:ext cx="5184576" cy="52322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3175">
              <a:tabLst>
                <a:tab pos="450850" algn="l"/>
              </a:tabLst>
            </a:pPr>
            <a:r>
              <a:rPr kumimoji="0" lang="en-US" altLang="zh-CN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4</a:t>
            </a:r>
            <a:r>
              <a:rPr kumimoji="0" lang="zh-CN" altLang="en-US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、常用数据类型转换函数</a:t>
            </a:r>
          </a:p>
        </p:txBody>
      </p:sp>
      <p:sp>
        <p:nvSpPr>
          <p:cNvPr id="35" name="矩形 34"/>
          <p:cNvSpPr/>
          <p:nvPr/>
        </p:nvSpPr>
        <p:spPr>
          <a:xfrm>
            <a:off x="1001870" y="1556792"/>
            <a:ext cx="61447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1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）</a:t>
            </a:r>
            <a:r>
              <a:rPr lang="zh-CN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字符串转换为双精度浮点数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—</a:t>
            </a:r>
            <a:r>
              <a:rPr lang="en-US" altLang="zh-CN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atof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</a:t>
            </a:r>
          </a:p>
        </p:txBody>
      </p:sp>
      <p:sp>
        <p:nvSpPr>
          <p:cNvPr id="36" name="Text Box 7"/>
          <p:cNvSpPr txBox="1">
            <a:spLocks noChangeArrowheads="1"/>
          </p:cNvSpPr>
          <p:nvPr/>
        </p:nvSpPr>
        <p:spPr bwMode="auto">
          <a:xfrm>
            <a:off x="1932386" y="2104980"/>
            <a:ext cx="9331152" cy="1569660"/>
          </a:xfrm>
          <a:prstGeom prst="rect">
            <a:avLst/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  <a:tileRect/>
          </a:gradFill>
          <a:ln w="38100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ea typeface="隶书" pitchFamily="49" charset="-122"/>
              </a:rPr>
              <a:t>格式：</a:t>
            </a:r>
            <a:r>
              <a:rPr lang="en-US" altLang="zh-CN" dirty="0"/>
              <a:t> </a:t>
            </a:r>
            <a:r>
              <a:rPr lang="en-US" altLang="zh-CN" sz="2000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double  </a:t>
            </a:r>
            <a:r>
              <a:rPr lang="en-US" altLang="zh-CN" sz="2000" b="1" dirty="0" err="1">
                <a:solidFill>
                  <a:srgbClr val="C00000"/>
                </a:solidFill>
                <a:ea typeface="隶书" pitchFamily="49" charset="-122"/>
                <a:sym typeface="Wingdings" pitchFamily="2" charset="2"/>
              </a:rPr>
              <a:t>atof</a:t>
            </a:r>
            <a:r>
              <a:rPr lang="en-US" altLang="zh-CN" sz="2000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( const char *</a:t>
            </a:r>
            <a:r>
              <a:rPr lang="en-US" altLang="zh-CN" sz="2000" b="1" dirty="0" err="1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str</a:t>
            </a:r>
            <a:r>
              <a:rPr lang="en-US" altLang="zh-CN" sz="2000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);   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//</a:t>
            </a:r>
            <a:r>
              <a:rPr lang="zh-CN" altLang="en-US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应包含的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.h</a:t>
            </a:r>
            <a:r>
              <a:rPr lang="zh-CN" altLang="en-US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文件为</a:t>
            </a:r>
            <a:r>
              <a:rPr lang="en-US" altLang="zh-CN" sz="2000" b="1" dirty="0" err="1">
                <a:solidFill>
                  <a:srgbClr val="CC0099"/>
                </a:solidFill>
                <a:latin typeface="+mn-lt"/>
                <a:ea typeface="隶书" pitchFamily="49" charset="-122"/>
              </a:rPr>
              <a:t>stdlib.h</a:t>
            </a:r>
            <a:endParaRPr lang="zh-CN" altLang="zh-CN" sz="2000" b="1" dirty="0">
              <a:latin typeface="+mn-lt"/>
              <a:ea typeface="隶书" pitchFamily="49" charset="-122"/>
            </a:endParaRPr>
          </a:p>
          <a:p>
            <a:r>
              <a:rPr lang="zh-CN" altLang="zh-CN" b="1" dirty="0">
                <a:ea typeface="隶书" pitchFamily="49" charset="-122"/>
              </a:rPr>
              <a:t>功能：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计算并返回字符串</a:t>
            </a:r>
            <a:r>
              <a:rPr lang="en-US" altLang="zh-CN" b="1" dirty="0" err="1">
                <a:ea typeface="隶书" pitchFamily="49" charset="-122"/>
                <a:sym typeface="Wingdings" pitchFamily="2" charset="2"/>
              </a:rPr>
              <a:t>str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所对应的双精度浮点数</a:t>
            </a:r>
          </a:p>
          <a:p>
            <a:pPr marL="901700" indent="-901700"/>
            <a:r>
              <a:rPr lang="zh-CN" altLang="zh-CN" b="1" dirty="0">
                <a:ea typeface="隶书" pitchFamily="49" charset="-122"/>
                <a:sym typeface="Wingdings" pitchFamily="2" charset="2"/>
              </a:rPr>
              <a:t>返值：如果字符串</a:t>
            </a:r>
            <a:r>
              <a:rPr lang="en-US" altLang="zh-CN" b="1" dirty="0" err="1">
                <a:ea typeface="隶书" pitchFamily="49" charset="-122"/>
                <a:sym typeface="Wingdings" pitchFamily="2" charset="2"/>
              </a:rPr>
              <a:t>str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实际上是无法转换成双精度浮点数的，那么返回</a:t>
            </a:r>
            <a:r>
              <a:rPr lang="en-US" altLang="zh-CN" b="1" dirty="0">
                <a:ea typeface="隶书" pitchFamily="49" charset="-122"/>
                <a:sym typeface="Wingdings" pitchFamily="2" charset="2"/>
              </a:rPr>
              <a:t>0</a:t>
            </a:r>
            <a:endParaRPr lang="zh-CN" altLang="zh-CN" b="1" dirty="0">
              <a:ea typeface="隶书" pitchFamily="49" charset="-122"/>
              <a:sym typeface="Wingdings" pitchFamily="2" charset="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919536" y="4030612"/>
            <a:ext cx="9332908" cy="2308324"/>
          </a:xfrm>
          <a:prstGeom prst="rect">
            <a:avLst/>
          </a:prstGeom>
          <a:solidFill>
            <a:schemeClr val="bg1"/>
          </a:solidFill>
          <a:ln w="38100">
            <a:solidFill>
              <a:srgbClr val="00206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例如：</a:t>
            </a:r>
            <a:r>
              <a:rPr lang="en-US" altLang="zh-CN" b="1" dirty="0">
                <a:latin typeface="+mn-lt"/>
                <a:ea typeface="楷体" pitchFamily="49" charset="-122"/>
              </a:rPr>
              <a:t>double a;</a:t>
            </a:r>
            <a:endParaRPr lang="zh-CN" altLang="zh-CN" b="1" dirty="0"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         a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atof</a:t>
            </a:r>
            <a:r>
              <a:rPr lang="en-US" altLang="zh-CN" b="1" dirty="0">
                <a:latin typeface="+mn-lt"/>
                <a:ea typeface="楷体" pitchFamily="49" charset="-122"/>
              </a:rPr>
              <a:t>("123");   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结果：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a = 123.000000</a:t>
            </a:r>
            <a:endParaRPr lang="zh-CN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         a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atof</a:t>
            </a:r>
            <a:r>
              <a:rPr lang="en-US" altLang="zh-CN" b="1" dirty="0">
                <a:latin typeface="+mn-lt"/>
                <a:ea typeface="楷体" pitchFamily="49" charset="-122"/>
              </a:rPr>
              <a:t>("1.23");  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结果：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a = 1.230000</a:t>
            </a:r>
            <a:endParaRPr lang="zh-CN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         a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atof</a:t>
            </a:r>
            <a:r>
              <a:rPr lang="en-US" altLang="zh-CN" b="1" dirty="0">
                <a:latin typeface="+mn-lt"/>
                <a:ea typeface="楷体" pitchFamily="49" charset="-122"/>
              </a:rPr>
              <a:t>("1e2");   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结果：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a = 100.000000</a:t>
            </a:r>
            <a:endParaRPr lang="zh-CN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         a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atof</a:t>
            </a:r>
            <a:r>
              <a:rPr lang="en-US" altLang="zh-CN" b="1" dirty="0">
                <a:latin typeface="+mn-lt"/>
                <a:ea typeface="楷体" pitchFamily="49" charset="-122"/>
              </a:rPr>
              <a:t>("1.2a");  </a:t>
            </a:r>
            <a:r>
              <a:rPr lang="en-US" altLang="zh-CN" sz="1800" b="1" dirty="0">
                <a:solidFill>
                  <a:srgbClr val="0000FF"/>
                </a:solidFill>
                <a:latin typeface="+mn-lt"/>
                <a:ea typeface="楷体" pitchFamily="49" charset="-122"/>
              </a:rPr>
              <a:t> </a:t>
            </a:r>
            <a:r>
              <a:rPr lang="en-US" altLang="zh-CN" b="1" dirty="0">
                <a:latin typeface="+mn-lt"/>
                <a:ea typeface="楷体" pitchFamily="49" charset="-122"/>
              </a:rPr>
              <a:t>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结果：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a = 1.200000</a:t>
            </a:r>
            <a:endParaRPr lang="zh-CN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         a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atof</a:t>
            </a:r>
            <a:r>
              <a:rPr lang="en-US" altLang="zh-CN" b="1" dirty="0">
                <a:latin typeface="+mn-lt"/>
                <a:ea typeface="楷体" pitchFamily="49" charset="-122"/>
              </a:rPr>
              <a:t>("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abc</a:t>
            </a:r>
            <a:r>
              <a:rPr lang="en-US" altLang="zh-CN" b="1" dirty="0">
                <a:latin typeface="+mn-lt"/>
                <a:ea typeface="楷体" pitchFamily="49" charset="-122"/>
              </a:rPr>
              <a:t>");   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结果：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a = 0.000000</a:t>
            </a:r>
            <a:endParaRPr lang="zh-CN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A37C137C-0922-4828-8C96-FF529D2ADE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8.8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常用库函数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0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0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0497" grpId="0"/>
      <p:bldP spid="35" grpId="0"/>
      <p:bldP spid="36" grpId="0" animBg="1"/>
      <p:bldP spid="37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1901480" y="2404045"/>
            <a:ext cx="9451104" cy="1200329"/>
          </a:xfrm>
          <a:prstGeom prst="rect">
            <a:avLst/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  <a:tileRect/>
          </a:gradFill>
          <a:ln w="38100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ea typeface="隶书" pitchFamily="49" charset="-122"/>
              </a:rPr>
              <a:t>格式：</a:t>
            </a:r>
            <a:r>
              <a:rPr lang="en-US" altLang="zh-CN" dirty="0"/>
              <a:t> </a:t>
            </a:r>
            <a:r>
              <a:rPr lang="en-US" altLang="zh-CN" sz="2000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long  </a:t>
            </a:r>
            <a:r>
              <a:rPr lang="en-US" altLang="zh-CN" sz="2000" b="1" dirty="0" err="1">
                <a:solidFill>
                  <a:srgbClr val="C00000"/>
                </a:solidFill>
                <a:ea typeface="隶书" pitchFamily="49" charset="-122"/>
                <a:sym typeface="Wingdings" pitchFamily="2" charset="2"/>
              </a:rPr>
              <a:t>atol</a:t>
            </a:r>
            <a:r>
              <a:rPr lang="en-US" altLang="zh-CN" sz="2000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( const char *</a:t>
            </a:r>
            <a:r>
              <a:rPr lang="en-US" altLang="zh-CN" sz="2000" b="1" dirty="0" err="1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str</a:t>
            </a:r>
            <a:r>
              <a:rPr lang="en-US" altLang="zh-CN" sz="2000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);      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//</a:t>
            </a:r>
            <a:r>
              <a:rPr lang="zh-CN" altLang="en-US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应包含的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.h</a:t>
            </a:r>
            <a:r>
              <a:rPr lang="zh-CN" altLang="en-US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文件为</a:t>
            </a:r>
            <a:r>
              <a:rPr lang="en-US" altLang="zh-CN" sz="2000" b="1" dirty="0" err="1">
                <a:solidFill>
                  <a:srgbClr val="CC0099"/>
                </a:solidFill>
                <a:latin typeface="+mn-lt"/>
                <a:ea typeface="隶书" pitchFamily="49" charset="-122"/>
              </a:rPr>
              <a:t>stdlib.h</a:t>
            </a:r>
            <a:endParaRPr lang="zh-CN" altLang="zh-CN" sz="2000" b="1" dirty="0">
              <a:latin typeface="+mn-lt"/>
              <a:ea typeface="隶书" pitchFamily="49" charset="-122"/>
            </a:endParaRPr>
          </a:p>
          <a:p>
            <a:r>
              <a:rPr lang="zh-CN" altLang="zh-CN" b="1" dirty="0">
                <a:ea typeface="隶书" pitchFamily="49" charset="-122"/>
              </a:rPr>
              <a:t>功能：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计算并返回字符串</a:t>
            </a:r>
            <a:r>
              <a:rPr lang="en-US" altLang="zh-CN" b="1" dirty="0" err="1">
                <a:ea typeface="隶书" pitchFamily="49" charset="-122"/>
                <a:sym typeface="Wingdings" pitchFamily="2" charset="2"/>
              </a:rPr>
              <a:t>str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所对应的长整型数</a:t>
            </a:r>
          </a:p>
          <a:p>
            <a:pPr marL="901700" indent="-901700"/>
            <a:r>
              <a:rPr lang="zh-CN" altLang="zh-CN" b="1" dirty="0">
                <a:ea typeface="隶书" pitchFamily="49" charset="-122"/>
                <a:sym typeface="Wingdings" pitchFamily="2" charset="2"/>
              </a:rPr>
              <a:t>返值：如果字符串</a:t>
            </a:r>
            <a:r>
              <a:rPr lang="en-US" altLang="zh-CN" b="1" dirty="0" err="1">
                <a:ea typeface="隶书" pitchFamily="49" charset="-122"/>
                <a:sym typeface="Wingdings" pitchFamily="2" charset="2"/>
              </a:rPr>
              <a:t>str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实际上是无法转换成长整型数的，那么返回</a:t>
            </a:r>
            <a:r>
              <a:rPr lang="en-US" altLang="zh-CN" b="1" dirty="0">
                <a:ea typeface="隶书" pitchFamily="49" charset="-122"/>
                <a:sym typeface="Wingdings" pitchFamily="2" charset="2"/>
              </a:rPr>
              <a:t>0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。</a:t>
            </a:r>
          </a:p>
        </p:txBody>
      </p:sp>
      <p:sp>
        <p:nvSpPr>
          <p:cNvPr id="11" name="矩形 10"/>
          <p:cNvSpPr/>
          <p:nvPr/>
        </p:nvSpPr>
        <p:spPr>
          <a:xfrm>
            <a:off x="1971709" y="4154304"/>
            <a:ext cx="9452883" cy="1938992"/>
          </a:xfrm>
          <a:prstGeom prst="rect">
            <a:avLst/>
          </a:prstGeom>
          <a:solidFill>
            <a:schemeClr val="bg1"/>
          </a:solidFill>
          <a:ln w="38100">
            <a:solidFill>
              <a:srgbClr val="00206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例如：</a:t>
            </a:r>
            <a:r>
              <a:rPr lang="en-US" altLang="zh-CN" b="1" dirty="0">
                <a:latin typeface="+mn-lt"/>
                <a:ea typeface="楷体" pitchFamily="49" charset="-122"/>
              </a:rPr>
              <a:t>long a;</a:t>
            </a:r>
            <a:endParaRPr lang="zh-CN" altLang="zh-CN" b="1" dirty="0"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         a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atol</a:t>
            </a:r>
            <a:r>
              <a:rPr lang="en-US" altLang="zh-CN" b="1" dirty="0">
                <a:latin typeface="+mn-lt"/>
                <a:ea typeface="楷体" pitchFamily="49" charset="-122"/>
              </a:rPr>
              <a:t>("123");  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结果：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a = 123</a:t>
            </a:r>
            <a:endParaRPr lang="zh-CN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         a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atol</a:t>
            </a:r>
            <a:r>
              <a:rPr lang="en-US" altLang="zh-CN" b="1" dirty="0">
                <a:latin typeface="+mn-lt"/>
                <a:ea typeface="楷体" pitchFamily="49" charset="-122"/>
              </a:rPr>
              <a:t>("12.3"); 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结果：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a =12</a:t>
            </a:r>
            <a:endParaRPr lang="zh-CN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         a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atol</a:t>
            </a:r>
            <a:r>
              <a:rPr lang="en-US" altLang="zh-CN" b="1" dirty="0">
                <a:latin typeface="+mn-lt"/>
                <a:ea typeface="楷体" pitchFamily="49" charset="-122"/>
              </a:rPr>
              <a:t>(" ");   </a:t>
            </a:r>
            <a:r>
              <a:rPr lang="en-US" altLang="zh-CN" sz="1800" b="1" dirty="0">
                <a:solidFill>
                  <a:srgbClr val="0000FF"/>
                </a:solidFill>
                <a:latin typeface="+mn-lt"/>
                <a:ea typeface="楷体" pitchFamily="49" charset="-122"/>
              </a:rPr>
              <a:t>           </a:t>
            </a:r>
            <a:r>
              <a:rPr lang="en-US" altLang="zh-CN" b="1" dirty="0">
                <a:latin typeface="+mn-lt"/>
                <a:ea typeface="楷体" pitchFamily="49" charset="-122"/>
              </a:rPr>
              <a:t>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结果：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a = 0</a:t>
            </a:r>
            <a:endParaRPr lang="zh-CN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         a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atol</a:t>
            </a:r>
            <a:r>
              <a:rPr lang="en-US" altLang="zh-CN" b="1" dirty="0">
                <a:latin typeface="+mn-lt"/>
                <a:ea typeface="楷体" pitchFamily="49" charset="-122"/>
              </a:rPr>
              <a:t>("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abc</a:t>
            </a:r>
            <a:r>
              <a:rPr lang="en-US" altLang="zh-CN" b="1" dirty="0">
                <a:latin typeface="+mn-lt"/>
                <a:ea typeface="楷体" pitchFamily="49" charset="-122"/>
              </a:rPr>
              <a:t>");    </a:t>
            </a:r>
            <a:r>
              <a:rPr lang="en-US" altLang="zh-CN" sz="1800" b="1" dirty="0">
                <a:solidFill>
                  <a:srgbClr val="0000FF"/>
                </a:solidFill>
                <a:latin typeface="+mn-lt"/>
                <a:ea typeface="楷体" pitchFamily="49" charset="-122"/>
              </a:rPr>
              <a:t>   </a:t>
            </a:r>
            <a:r>
              <a:rPr lang="en-US" altLang="zh-CN" b="1" dirty="0">
                <a:latin typeface="+mn-lt"/>
                <a:ea typeface="楷体" pitchFamily="49" charset="-122"/>
              </a:rPr>
              <a:t>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结果：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a = 0</a:t>
            </a:r>
            <a:endParaRPr lang="zh-CN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006058" y="1628801"/>
            <a:ext cx="61447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2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）</a:t>
            </a:r>
            <a:r>
              <a:rPr lang="zh-CN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字符串转换为长整型数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—</a:t>
            </a:r>
            <a:r>
              <a:rPr lang="en-US" altLang="zh-CN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atol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CA932F17-1D20-4221-A9B1-5FD733270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416" y="908720"/>
            <a:ext cx="5184576" cy="52322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3175">
              <a:tabLst>
                <a:tab pos="450850" algn="l"/>
              </a:tabLst>
            </a:pPr>
            <a:r>
              <a:rPr kumimoji="0" lang="en-US" altLang="zh-CN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4</a:t>
            </a:r>
            <a:r>
              <a:rPr kumimoji="0" lang="zh-CN" altLang="en-US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、常用数据类型转换函数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78A42052-4B17-46A9-AEAB-09B2DC9252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8.8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常用库函数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9" grpId="0"/>
      <p:bldP spid="8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2004214" y="2250737"/>
            <a:ext cx="9319120" cy="1200329"/>
          </a:xfrm>
          <a:prstGeom prst="rect">
            <a:avLst/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  <a:tileRect/>
          </a:gradFill>
          <a:ln w="38100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ea typeface="隶书" pitchFamily="49" charset="-122"/>
              </a:rPr>
              <a:t>格式：</a:t>
            </a:r>
            <a:r>
              <a:rPr lang="en-US" altLang="zh-CN" dirty="0"/>
              <a:t> </a:t>
            </a:r>
            <a:r>
              <a:rPr lang="en-US" altLang="zh-CN" sz="2000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long </a:t>
            </a:r>
            <a:r>
              <a:rPr lang="en-US" altLang="zh-CN" sz="2000" b="1" dirty="0">
                <a:solidFill>
                  <a:srgbClr val="C00000"/>
                </a:solidFill>
                <a:ea typeface="隶书" pitchFamily="49" charset="-122"/>
                <a:sym typeface="Wingdings" pitchFamily="2" charset="2"/>
              </a:rPr>
              <a:t> </a:t>
            </a:r>
            <a:r>
              <a:rPr lang="en-US" altLang="zh-CN" sz="2000" b="1" dirty="0" err="1">
                <a:solidFill>
                  <a:srgbClr val="C00000"/>
                </a:solidFill>
                <a:ea typeface="隶书" pitchFamily="49" charset="-122"/>
                <a:sym typeface="Wingdings" pitchFamily="2" charset="2"/>
              </a:rPr>
              <a:t>atoi</a:t>
            </a:r>
            <a:r>
              <a:rPr lang="en-US" altLang="zh-CN" sz="2000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( const char *</a:t>
            </a:r>
            <a:r>
              <a:rPr lang="en-US" altLang="zh-CN" sz="2000" b="1" dirty="0" err="1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str</a:t>
            </a:r>
            <a:r>
              <a:rPr lang="en-US" altLang="zh-CN" sz="2000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);      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//</a:t>
            </a:r>
            <a:r>
              <a:rPr lang="zh-CN" altLang="en-US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应包含的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.h</a:t>
            </a:r>
            <a:r>
              <a:rPr lang="zh-CN" altLang="en-US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文件为</a:t>
            </a:r>
            <a:r>
              <a:rPr lang="en-US" altLang="zh-CN" sz="2000" b="1" dirty="0" err="1">
                <a:solidFill>
                  <a:srgbClr val="CC0099"/>
                </a:solidFill>
                <a:latin typeface="+mn-lt"/>
                <a:ea typeface="隶书" pitchFamily="49" charset="-122"/>
              </a:rPr>
              <a:t>stdlib.h</a:t>
            </a:r>
            <a:endParaRPr lang="zh-CN" altLang="zh-CN" sz="2000" b="1" dirty="0">
              <a:latin typeface="+mn-lt"/>
              <a:ea typeface="隶书" pitchFamily="49" charset="-122"/>
            </a:endParaRPr>
          </a:p>
          <a:p>
            <a:r>
              <a:rPr lang="zh-CN" altLang="zh-CN" b="1" dirty="0">
                <a:ea typeface="隶书" pitchFamily="49" charset="-122"/>
              </a:rPr>
              <a:t>功能：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计算并返回字符串</a:t>
            </a:r>
            <a:r>
              <a:rPr lang="en-US" altLang="zh-CN" b="1" dirty="0" err="1">
                <a:ea typeface="隶书" pitchFamily="49" charset="-122"/>
                <a:sym typeface="Wingdings" pitchFamily="2" charset="2"/>
              </a:rPr>
              <a:t>str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所对应的整型数</a:t>
            </a:r>
          </a:p>
          <a:p>
            <a:pPr marL="901700" indent="-901700"/>
            <a:r>
              <a:rPr lang="zh-CN" altLang="zh-CN" b="1" dirty="0">
                <a:ea typeface="隶书" pitchFamily="49" charset="-122"/>
                <a:sym typeface="Wingdings" pitchFamily="2" charset="2"/>
              </a:rPr>
              <a:t>返值：如果字符串</a:t>
            </a:r>
            <a:r>
              <a:rPr lang="en-US" altLang="zh-CN" b="1" dirty="0" err="1">
                <a:ea typeface="隶书" pitchFamily="49" charset="-122"/>
                <a:sym typeface="Wingdings" pitchFamily="2" charset="2"/>
              </a:rPr>
              <a:t>str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实际上是无法转换成整型数的，那么返回</a:t>
            </a:r>
            <a:r>
              <a:rPr lang="en-US" altLang="zh-CN" b="1" dirty="0">
                <a:ea typeface="隶书" pitchFamily="49" charset="-122"/>
                <a:sym typeface="Wingdings" pitchFamily="2" charset="2"/>
              </a:rPr>
              <a:t>0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。</a:t>
            </a:r>
          </a:p>
        </p:txBody>
      </p:sp>
      <p:sp>
        <p:nvSpPr>
          <p:cNvPr id="11" name="矩形 10"/>
          <p:cNvSpPr/>
          <p:nvPr/>
        </p:nvSpPr>
        <p:spPr>
          <a:xfrm>
            <a:off x="1991544" y="4000996"/>
            <a:ext cx="9320874" cy="2308324"/>
          </a:xfrm>
          <a:prstGeom prst="rect">
            <a:avLst/>
          </a:prstGeom>
          <a:solidFill>
            <a:schemeClr val="bg1"/>
          </a:solidFill>
          <a:ln w="38100">
            <a:solidFill>
              <a:srgbClr val="00206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例如：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int</a:t>
            </a:r>
            <a:r>
              <a:rPr lang="en-US" altLang="zh-CN" b="1" dirty="0">
                <a:latin typeface="+mn-lt"/>
                <a:ea typeface="楷体" pitchFamily="49" charset="-122"/>
              </a:rPr>
              <a:t> a;</a:t>
            </a:r>
            <a:endParaRPr lang="zh-CN" altLang="zh-CN" b="1" dirty="0"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          a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atoi</a:t>
            </a:r>
            <a:r>
              <a:rPr lang="en-US" altLang="zh-CN" b="1" dirty="0">
                <a:latin typeface="+mn-lt"/>
                <a:ea typeface="楷体" pitchFamily="49" charset="-122"/>
              </a:rPr>
              <a:t>("123");  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结果：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a = 123</a:t>
            </a:r>
            <a:endParaRPr lang="zh-CN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          a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atoi</a:t>
            </a:r>
            <a:r>
              <a:rPr lang="en-US" altLang="zh-CN" b="1" dirty="0">
                <a:latin typeface="+mn-lt"/>
                <a:ea typeface="楷体" pitchFamily="49" charset="-122"/>
              </a:rPr>
              <a:t>("12.3"); 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结果：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a =12</a:t>
            </a:r>
            <a:endParaRPr lang="zh-CN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          a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atoi</a:t>
            </a:r>
            <a:r>
              <a:rPr lang="en-US" altLang="zh-CN" b="1" dirty="0">
                <a:latin typeface="+mn-lt"/>
                <a:ea typeface="楷体" pitchFamily="49" charset="-122"/>
              </a:rPr>
              <a:t>(" ");       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结果：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a = 0</a:t>
            </a:r>
            <a:endParaRPr lang="zh-CN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          a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atoi</a:t>
            </a:r>
            <a:r>
              <a:rPr lang="en-US" altLang="zh-CN" b="1" dirty="0">
                <a:latin typeface="+mn-lt"/>
                <a:ea typeface="楷体" pitchFamily="49" charset="-122"/>
              </a:rPr>
              <a:t>("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abc</a:t>
            </a:r>
            <a:r>
              <a:rPr lang="en-US" altLang="zh-CN" b="1" dirty="0">
                <a:latin typeface="+mn-lt"/>
                <a:ea typeface="楷体" pitchFamily="49" charset="-122"/>
              </a:rPr>
              <a:t>");  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结果：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a = 0</a:t>
            </a:r>
            <a:endParaRPr lang="zh-CN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          a =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atol</a:t>
            </a:r>
            <a:r>
              <a:rPr lang="en-US" altLang="zh-CN" b="1" dirty="0">
                <a:latin typeface="+mn-lt"/>
                <a:ea typeface="楷体" pitchFamily="49" charset="-122"/>
              </a:rPr>
              <a:t>("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abc</a:t>
            </a:r>
            <a:r>
              <a:rPr lang="en-US" altLang="zh-CN" b="1" dirty="0">
                <a:latin typeface="+mn-lt"/>
                <a:ea typeface="楷体" pitchFamily="49" charset="-122"/>
              </a:rPr>
              <a:t>");  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结果：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a = 0</a:t>
            </a:r>
            <a:endParaRPr lang="zh-CN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048816" y="1527175"/>
            <a:ext cx="61447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3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）</a:t>
            </a:r>
            <a:r>
              <a:rPr lang="zh-CN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字符串转换为整型数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—</a:t>
            </a:r>
            <a:r>
              <a:rPr lang="en-US" altLang="zh-CN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atoi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599FBE75-E51D-4562-9639-45263D1332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416" y="908720"/>
            <a:ext cx="5184576" cy="52322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3175">
              <a:tabLst>
                <a:tab pos="450850" algn="l"/>
              </a:tabLst>
            </a:pPr>
            <a:r>
              <a:rPr kumimoji="0" lang="en-US" altLang="zh-CN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4</a:t>
            </a:r>
            <a:r>
              <a:rPr kumimoji="0" lang="zh-CN" altLang="en-US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、常用数据类型转换函数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B05E1DFF-7977-4F6C-985A-B071C02155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8.8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常用库函数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9" grpId="0"/>
      <p:bldP spid="8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1961456" y="1844824"/>
            <a:ext cx="9474668" cy="1877437"/>
          </a:xfrm>
          <a:prstGeom prst="rect">
            <a:avLst/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  <a:tileRect/>
          </a:gradFill>
          <a:ln w="38100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ea typeface="隶书" pitchFamily="49" charset="-122"/>
              </a:rPr>
              <a:t>格式：</a:t>
            </a:r>
            <a:r>
              <a:rPr lang="en-US" altLang="zh-CN" dirty="0"/>
              <a:t> </a:t>
            </a:r>
            <a:r>
              <a:rPr lang="en-US" altLang="zh-CN" sz="2000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char  *</a:t>
            </a:r>
            <a:r>
              <a:rPr lang="en-US" altLang="zh-CN" sz="2000" b="1" dirty="0" err="1">
                <a:solidFill>
                  <a:srgbClr val="C01920"/>
                </a:solidFill>
                <a:ea typeface="隶书" pitchFamily="49" charset="-122"/>
                <a:sym typeface="Wingdings" pitchFamily="2" charset="2"/>
              </a:rPr>
              <a:t>ultoa</a:t>
            </a:r>
            <a:r>
              <a:rPr lang="en-US" altLang="zh-CN" sz="2000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( unsigned long value, char *</a:t>
            </a:r>
            <a:r>
              <a:rPr lang="en-US" altLang="zh-CN" sz="2000" b="1" dirty="0" err="1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str</a:t>
            </a:r>
            <a:r>
              <a:rPr lang="en-US" altLang="zh-CN" sz="2000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, </a:t>
            </a:r>
            <a:r>
              <a:rPr lang="en-US" altLang="zh-CN" sz="2000" b="1" dirty="0" err="1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int</a:t>
            </a:r>
            <a:r>
              <a:rPr lang="en-US" altLang="zh-CN" sz="2000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 radix);</a:t>
            </a:r>
          </a:p>
          <a:p>
            <a:r>
              <a:rPr lang="en-US" altLang="zh-CN" sz="2000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                                                                       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//</a:t>
            </a:r>
            <a:r>
              <a:rPr lang="zh-CN" altLang="en-US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应包含的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.h</a:t>
            </a:r>
            <a:r>
              <a:rPr lang="zh-CN" altLang="en-US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文件为</a:t>
            </a:r>
            <a:r>
              <a:rPr lang="en-US" altLang="zh-CN" sz="2000" b="1" dirty="0" err="1">
                <a:solidFill>
                  <a:srgbClr val="CC0099"/>
                </a:solidFill>
                <a:latin typeface="+mn-lt"/>
                <a:ea typeface="隶书" pitchFamily="49" charset="-122"/>
              </a:rPr>
              <a:t>stdlib.h</a:t>
            </a:r>
            <a:endParaRPr lang="zh-CN" altLang="zh-CN" sz="2000" b="1" dirty="0">
              <a:latin typeface="+mn-lt"/>
              <a:ea typeface="隶书" pitchFamily="49" charset="-122"/>
            </a:endParaRPr>
          </a:p>
          <a:p>
            <a:pPr marL="985838" indent="-985838"/>
            <a:r>
              <a:rPr lang="zh-CN" altLang="zh-CN" b="1" dirty="0">
                <a:ea typeface="隶书" pitchFamily="49" charset="-122"/>
              </a:rPr>
              <a:t>功能：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将无符号长整型数</a:t>
            </a:r>
            <a:r>
              <a:rPr lang="en-US" altLang="zh-CN" b="1" dirty="0">
                <a:ea typeface="隶书" pitchFamily="49" charset="-122"/>
                <a:sym typeface="Wingdings" pitchFamily="2" charset="2"/>
              </a:rPr>
              <a:t>value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转换成用</a:t>
            </a:r>
            <a:r>
              <a:rPr lang="en-US" altLang="zh-CN" b="1" dirty="0">
                <a:ea typeface="隶书" pitchFamily="49" charset="-122"/>
                <a:sym typeface="Wingdings" pitchFamily="2" charset="2"/>
              </a:rPr>
              <a:t>radix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进制表示的字符串</a:t>
            </a:r>
            <a:r>
              <a:rPr lang="en-US" altLang="zh-CN" b="1" dirty="0" err="1">
                <a:ea typeface="隶书" pitchFamily="49" charset="-122"/>
                <a:sym typeface="Wingdings" pitchFamily="2" charset="2"/>
              </a:rPr>
              <a:t>str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。进制</a:t>
            </a:r>
            <a:r>
              <a:rPr lang="en-US" altLang="zh-CN" b="1" dirty="0">
                <a:ea typeface="隶书" pitchFamily="49" charset="-122"/>
                <a:sym typeface="Wingdings" pitchFamily="2" charset="2"/>
              </a:rPr>
              <a:t>radix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必须在</a:t>
            </a:r>
            <a:r>
              <a:rPr lang="en-US" altLang="zh-CN" b="1" dirty="0">
                <a:ea typeface="隶书" pitchFamily="49" charset="-122"/>
                <a:sym typeface="Wingdings" pitchFamily="2" charset="2"/>
              </a:rPr>
              <a:t>2~36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之间。</a:t>
            </a:r>
          </a:p>
          <a:p>
            <a:pPr marL="901700" indent="-901700"/>
            <a:r>
              <a:rPr lang="zh-CN" altLang="zh-CN" b="1" dirty="0">
                <a:ea typeface="隶书" pitchFamily="49" charset="-122"/>
                <a:sym typeface="Wingdings" pitchFamily="2" charset="2"/>
              </a:rPr>
              <a:t>返值：字符串</a:t>
            </a:r>
            <a:r>
              <a:rPr lang="en-US" altLang="zh-CN" b="1" dirty="0" err="1">
                <a:ea typeface="隶书" pitchFamily="49" charset="-122"/>
                <a:sym typeface="Wingdings" pitchFamily="2" charset="2"/>
              </a:rPr>
              <a:t>str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的首地址</a:t>
            </a:r>
            <a:r>
              <a:rPr lang="zh-CN" altLang="en-US" b="1" dirty="0">
                <a:ea typeface="隶书" pitchFamily="49" charset="-122"/>
                <a:sym typeface="Wingdings" pitchFamily="2" charset="2"/>
              </a:rPr>
              <a:t>。</a:t>
            </a:r>
            <a:endParaRPr lang="zh-CN" altLang="zh-CN" b="1" dirty="0">
              <a:ea typeface="隶书" pitchFamily="49" charset="-122"/>
              <a:sym typeface="Wingdings" pitchFamily="2" charset="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961456" y="3766388"/>
            <a:ext cx="9476452" cy="3046988"/>
          </a:xfrm>
          <a:prstGeom prst="rect">
            <a:avLst/>
          </a:prstGeom>
          <a:solidFill>
            <a:schemeClr val="bg1"/>
          </a:solidFill>
          <a:ln w="38100">
            <a:solidFill>
              <a:srgbClr val="00206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例如：</a:t>
            </a: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  char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latin typeface="+mn-lt"/>
                <a:ea typeface="楷体" pitchFamily="49" charset="-122"/>
              </a:rPr>
              <a:t>[10];</a:t>
            </a:r>
            <a:endParaRPr lang="zh-CN" altLang="zh-CN" b="1" dirty="0"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</a:t>
            </a:r>
            <a:r>
              <a:rPr lang="zh-CN" altLang="zh-CN" b="1" dirty="0">
                <a:latin typeface="+mn-lt"/>
                <a:ea typeface="楷体" pitchFamily="49" charset="-122"/>
              </a:rPr>
              <a:t>　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ultoa</a:t>
            </a:r>
            <a:r>
              <a:rPr lang="en-US" altLang="zh-CN" b="1" dirty="0">
                <a:latin typeface="+mn-lt"/>
                <a:ea typeface="楷体" pitchFamily="49" charset="-122"/>
              </a:rPr>
              <a:t>(160,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latin typeface="+mn-lt"/>
                <a:ea typeface="楷体" pitchFamily="49" charset="-122"/>
              </a:rPr>
              <a:t>, 16);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将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160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转换为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十六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进制字符串，</a:t>
            </a:r>
            <a:r>
              <a:rPr lang="en-US" altLang="zh-CN" sz="1800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str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为</a:t>
            </a:r>
            <a:r>
              <a:rPr lang="en-US" altLang="zh-CN" sz="1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"a0"</a:t>
            </a:r>
            <a:endParaRPr lang="zh-CN" altLang="zh-CN" sz="1800" b="1" dirty="0">
              <a:solidFill>
                <a:srgbClr val="C01920"/>
              </a:solidFill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</a:t>
            </a:r>
            <a:r>
              <a:rPr lang="zh-CN" altLang="zh-CN" b="1" dirty="0">
                <a:latin typeface="+mn-lt"/>
                <a:ea typeface="楷体" pitchFamily="49" charset="-122"/>
              </a:rPr>
              <a:t>　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printf</a:t>
            </a:r>
            <a:r>
              <a:rPr lang="en-US" altLang="zh-CN" b="1" dirty="0">
                <a:latin typeface="+mn-lt"/>
                <a:ea typeface="楷体" pitchFamily="49" charset="-122"/>
              </a:rPr>
              <a:t>(</a:t>
            </a:r>
            <a:r>
              <a:rPr lang="en-US" altLang="zh-CN" b="1" dirty="0">
                <a:ea typeface="楷体" pitchFamily="49" charset="-122"/>
              </a:rPr>
              <a:t>"</a:t>
            </a:r>
            <a:r>
              <a:rPr lang="zh-CN" altLang="en-US" sz="2000" b="1" dirty="0">
                <a:latin typeface="+mn-lt"/>
                <a:ea typeface="楷体" pitchFamily="49" charset="-122"/>
              </a:rPr>
              <a:t>十六</a:t>
            </a:r>
            <a:r>
              <a:rPr lang="zh-CN" altLang="zh-CN" sz="2000" b="1" dirty="0">
                <a:latin typeface="+mn-lt"/>
                <a:ea typeface="楷体" pitchFamily="49" charset="-122"/>
              </a:rPr>
              <a:t>进制字符串为</a:t>
            </a:r>
            <a:r>
              <a:rPr lang="en-US" altLang="zh-CN" b="1" dirty="0">
                <a:latin typeface="+mn-lt"/>
                <a:ea typeface="楷体" pitchFamily="49" charset="-122"/>
              </a:rPr>
              <a:t>: %s\n",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latin typeface="+mn-lt"/>
                <a:ea typeface="楷体" pitchFamily="49" charset="-122"/>
              </a:rPr>
              <a:t>);</a:t>
            </a:r>
            <a:r>
              <a:rPr lang="zh-CN" altLang="zh-CN" b="1" dirty="0">
                <a:latin typeface="+mn-lt"/>
                <a:ea typeface="楷体" pitchFamily="49" charset="-122"/>
              </a:rPr>
              <a:t>　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输出：</a:t>
            </a:r>
            <a:r>
              <a:rPr lang="en-US" altLang="zh-CN" sz="1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a0</a:t>
            </a:r>
            <a:endParaRPr lang="zh-CN" altLang="zh-CN" sz="1800" b="1" dirty="0">
              <a:solidFill>
                <a:srgbClr val="C01920"/>
              </a:solidFill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</a:t>
            </a:r>
            <a:r>
              <a:rPr lang="zh-CN" altLang="zh-CN" b="1" dirty="0">
                <a:latin typeface="+mn-lt"/>
                <a:ea typeface="楷体" pitchFamily="49" charset="-122"/>
              </a:rPr>
              <a:t>　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ultoa</a:t>
            </a:r>
            <a:r>
              <a:rPr lang="en-US" altLang="zh-CN" b="1" dirty="0">
                <a:latin typeface="+mn-lt"/>
                <a:ea typeface="楷体" pitchFamily="49" charset="-122"/>
              </a:rPr>
              <a:t>(160,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latin typeface="+mn-lt"/>
                <a:ea typeface="楷体" pitchFamily="49" charset="-122"/>
              </a:rPr>
              <a:t>, 8); 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将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160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转换为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八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进制字符串，</a:t>
            </a:r>
            <a:r>
              <a:rPr lang="en-US" altLang="zh-CN" sz="1800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str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为</a:t>
            </a:r>
            <a:r>
              <a:rPr lang="en-US" altLang="zh-CN" sz="1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"240"</a:t>
            </a:r>
            <a:endParaRPr lang="zh-CN" altLang="zh-CN" sz="1800" b="1" dirty="0">
              <a:solidFill>
                <a:srgbClr val="C01920"/>
              </a:solidFill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</a:t>
            </a:r>
            <a:r>
              <a:rPr lang="zh-CN" altLang="zh-CN" b="1" dirty="0">
                <a:latin typeface="+mn-lt"/>
                <a:ea typeface="楷体" pitchFamily="49" charset="-122"/>
              </a:rPr>
              <a:t>　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printf</a:t>
            </a:r>
            <a:r>
              <a:rPr lang="en-US" altLang="zh-CN" b="1" dirty="0">
                <a:latin typeface="+mn-lt"/>
                <a:ea typeface="楷体" pitchFamily="49" charset="-122"/>
              </a:rPr>
              <a:t>(</a:t>
            </a:r>
            <a:r>
              <a:rPr lang="en-US" altLang="zh-CN" b="1" dirty="0">
                <a:ea typeface="楷体" pitchFamily="49" charset="-122"/>
              </a:rPr>
              <a:t>"</a:t>
            </a:r>
            <a:r>
              <a:rPr lang="zh-CN" altLang="en-US" sz="2000" b="1" dirty="0">
                <a:latin typeface="+mn-lt"/>
                <a:ea typeface="楷体" pitchFamily="49" charset="-122"/>
              </a:rPr>
              <a:t>八</a:t>
            </a:r>
            <a:r>
              <a:rPr lang="zh-CN" altLang="zh-CN" sz="2000" b="1" dirty="0">
                <a:latin typeface="+mn-lt"/>
                <a:ea typeface="楷体" pitchFamily="49" charset="-122"/>
              </a:rPr>
              <a:t>进制字符串为</a:t>
            </a:r>
            <a:r>
              <a:rPr lang="en-US" altLang="zh-CN" sz="2000" b="1" dirty="0">
                <a:latin typeface="+mn-lt"/>
                <a:ea typeface="楷体" pitchFamily="49" charset="-122"/>
              </a:rPr>
              <a:t>: </a:t>
            </a:r>
            <a:r>
              <a:rPr lang="en-US" altLang="zh-CN" b="1" dirty="0">
                <a:latin typeface="+mn-lt"/>
                <a:ea typeface="楷体" pitchFamily="49" charset="-122"/>
              </a:rPr>
              <a:t>%s\n",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latin typeface="+mn-lt"/>
                <a:ea typeface="楷体" pitchFamily="49" charset="-122"/>
              </a:rPr>
              <a:t>); </a:t>
            </a:r>
            <a:r>
              <a:rPr lang="zh-CN" altLang="zh-CN" b="1" dirty="0">
                <a:latin typeface="+mn-lt"/>
                <a:ea typeface="楷体" pitchFamily="49" charset="-122"/>
              </a:rPr>
              <a:t>　 </a:t>
            </a:r>
            <a:r>
              <a:rPr lang="en-US" altLang="zh-CN" b="1" dirty="0">
                <a:latin typeface="+mn-lt"/>
                <a:ea typeface="楷体" pitchFamily="49" charset="-122"/>
              </a:rPr>
              <a:t>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输出：</a:t>
            </a:r>
            <a:r>
              <a:rPr lang="en-US" altLang="zh-CN" sz="1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240</a:t>
            </a:r>
            <a:endParaRPr lang="zh-CN" altLang="zh-CN" sz="1800" b="1" dirty="0">
              <a:solidFill>
                <a:srgbClr val="C01920"/>
              </a:solidFill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</a:t>
            </a:r>
            <a:r>
              <a:rPr lang="zh-CN" altLang="zh-CN" b="1" dirty="0">
                <a:latin typeface="+mn-lt"/>
                <a:ea typeface="楷体" pitchFamily="49" charset="-122"/>
              </a:rPr>
              <a:t>　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ultoa</a:t>
            </a:r>
            <a:r>
              <a:rPr lang="en-US" altLang="zh-CN" b="1" dirty="0">
                <a:latin typeface="+mn-lt"/>
                <a:ea typeface="楷体" pitchFamily="49" charset="-122"/>
              </a:rPr>
              <a:t>(160,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latin typeface="+mn-lt"/>
                <a:ea typeface="楷体" pitchFamily="49" charset="-122"/>
              </a:rPr>
              <a:t>, 5);  </a:t>
            </a:r>
            <a:r>
              <a:rPr lang="zh-CN" altLang="zh-CN" b="1" dirty="0">
                <a:latin typeface="+mn-lt"/>
                <a:ea typeface="楷体" pitchFamily="49" charset="-122"/>
              </a:rPr>
              <a:t>　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将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160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转换为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五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进制字符串，</a:t>
            </a:r>
            <a:r>
              <a:rPr lang="en-US" altLang="zh-CN" sz="1800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str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为</a:t>
            </a:r>
            <a:r>
              <a:rPr lang="en-US" altLang="zh-CN" sz="1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"1120"</a:t>
            </a:r>
            <a:endParaRPr lang="zh-CN" altLang="zh-CN" sz="1800" b="1" dirty="0">
              <a:solidFill>
                <a:srgbClr val="C01920"/>
              </a:solidFill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</a:t>
            </a:r>
            <a:r>
              <a:rPr lang="zh-CN" altLang="zh-CN" b="1" dirty="0">
                <a:latin typeface="+mn-lt"/>
                <a:ea typeface="楷体" pitchFamily="49" charset="-122"/>
              </a:rPr>
              <a:t>　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printf</a:t>
            </a:r>
            <a:r>
              <a:rPr lang="en-US" altLang="zh-CN" b="1" dirty="0">
                <a:latin typeface="+mn-lt"/>
                <a:ea typeface="楷体" pitchFamily="49" charset="-122"/>
              </a:rPr>
              <a:t>(</a:t>
            </a:r>
            <a:r>
              <a:rPr lang="en-US" altLang="zh-CN" b="1" dirty="0">
                <a:ea typeface="楷体" pitchFamily="49" charset="-122"/>
              </a:rPr>
              <a:t>"</a:t>
            </a:r>
            <a:r>
              <a:rPr lang="zh-CN" altLang="en-US" sz="2000" b="1" dirty="0">
                <a:latin typeface="+mn-lt"/>
                <a:ea typeface="楷体" pitchFamily="49" charset="-122"/>
              </a:rPr>
              <a:t>五</a:t>
            </a:r>
            <a:r>
              <a:rPr lang="zh-CN" altLang="zh-CN" sz="2000" b="1" dirty="0">
                <a:latin typeface="+mn-lt"/>
                <a:ea typeface="楷体" pitchFamily="49" charset="-122"/>
              </a:rPr>
              <a:t>进制字符串为</a:t>
            </a:r>
            <a:r>
              <a:rPr lang="en-US" altLang="zh-CN" sz="2000" b="1" dirty="0">
                <a:latin typeface="+mn-lt"/>
                <a:ea typeface="楷体" pitchFamily="49" charset="-122"/>
              </a:rPr>
              <a:t>: </a:t>
            </a:r>
            <a:r>
              <a:rPr lang="en-US" altLang="zh-CN" b="1" dirty="0">
                <a:latin typeface="+mn-lt"/>
                <a:ea typeface="楷体" pitchFamily="49" charset="-122"/>
              </a:rPr>
              <a:t>%s\n",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latin typeface="+mn-lt"/>
                <a:ea typeface="楷体" pitchFamily="49" charset="-122"/>
              </a:rPr>
              <a:t>); </a:t>
            </a:r>
            <a:r>
              <a:rPr lang="zh-CN" altLang="zh-CN" b="1" dirty="0">
                <a:latin typeface="+mn-lt"/>
                <a:ea typeface="楷体" pitchFamily="49" charset="-122"/>
              </a:rPr>
              <a:t>　 </a:t>
            </a:r>
            <a:r>
              <a:rPr lang="en-US" altLang="zh-CN" b="1" dirty="0">
                <a:latin typeface="+mn-lt"/>
                <a:ea typeface="楷体" pitchFamily="49" charset="-122"/>
              </a:rPr>
              <a:t>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输出：</a:t>
            </a:r>
            <a:r>
              <a:rPr lang="en-US" altLang="zh-CN" sz="1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1120</a:t>
            </a:r>
            <a:endParaRPr lang="zh-CN" altLang="zh-CN" sz="1800" b="1" dirty="0">
              <a:solidFill>
                <a:srgbClr val="C01920"/>
              </a:solidFill>
              <a:latin typeface="+mn-lt"/>
              <a:ea typeface="楷体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042993" y="1412777"/>
            <a:ext cx="81373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4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）</a:t>
            </a:r>
            <a:r>
              <a:rPr lang="zh-CN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无符号长整型数转换成任意进制的字符串</a:t>
            </a: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—</a:t>
            </a:r>
            <a:r>
              <a:rPr lang="en-US" altLang="zh-CN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ultoa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5CCA9540-718A-41BA-947B-BC0136F92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416" y="908720"/>
            <a:ext cx="5184576" cy="52322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3175">
              <a:tabLst>
                <a:tab pos="450850" algn="l"/>
              </a:tabLst>
            </a:pPr>
            <a:r>
              <a:rPr kumimoji="0" lang="en-US" altLang="zh-CN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4</a:t>
            </a:r>
            <a:r>
              <a:rPr kumimoji="0" lang="zh-CN" altLang="en-US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、常用数据类型转换函数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19EF4B7B-F771-4BB2-B32C-AFF49C0046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8.8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常用库函数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9" grpId="0"/>
      <p:bldP spid="8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1865437" y="1844824"/>
            <a:ext cx="9570669" cy="1877437"/>
          </a:xfrm>
          <a:prstGeom prst="rect">
            <a:avLst/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  <a:tileRect/>
          </a:gradFill>
          <a:ln w="38100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ea typeface="隶书" pitchFamily="49" charset="-122"/>
              </a:rPr>
              <a:t>格式：</a:t>
            </a:r>
            <a:r>
              <a:rPr lang="en-US" altLang="zh-CN" dirty="0"/>
              <a:t> </a:t>
            </a:r>
            <a:r>
              <a:rPr lang="en-US" altLang="zh-CN" sz="2000" b="1" dirty="0" err="1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int</a:t>
            </a:r>
            <a:r>
              <a:rPr lang="en-US" altLang="zh-CN" sz="2000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  </a:t>
            </a:r>
            <a:r>
              <a:rPr lang="en-US" altLang="zh-CN" sz="2000" b="1" dirty="0" err="1">
                <a:solidFill>
                  <a:srgbClr val="C00000"/>
                </a:solidFill>
                <a:ea typeface="隶书" pitchFamily="49" charset="-122"/>
                <a:sym typeface="Wingdings" pitchFamily="2" charset="2"/>
              </a:rPr>
              <a:t>sprintf</a:t>
            </a:r>
            <a:r>
              <a:rPr lang="en-US" altLang="zh-CN" sz="2000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 (char *</a:t>
            </a:r>
            <a:r>
              <a:rPr lang="en-US" altLang="zh-CN" sz="2000" b="1" dirty="0" err="1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str</a:t>
            </a:r>
            <a:r>
              <a:rPr lang="en-US" altLang="zh-CN" sz="2000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, const char *format, </a:t>
            </a:r>
            <a:r>
              <a:rPr lang="en-US" altLang="zh-CN" sz="2000" b="1" dirty="0" err="1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args</a:t>
            </a:r>
            <a:r>
              <a:rPr lang="en-US" altLang="zh-CN" sz="2000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, </a:t>
            </a:r>
            <a:r>
              <a:rPr lang="zh-CN" altLang="zh-CN" sz="2000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…</a:t>
            </a:r>
            <a:r>
              <a:rPr lang="en-US" altLang="zh-CN" sz="2000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); </a:t>
            </a:r>
          </a:p>
          <a:p>
            <a:r>
              <a:rPr lang="en-US" altLang="zh-CN" sz="2000" b="1" dirty="0">
                <a:solidFill>
                  <a:srgbClr val="CC0099"/>
                </a:solidFill>
                <a:ea typeface="隶书" pitchFamily="49" charset="-122"/>
                <a:sym typeface="Wingdings" pitchFamily="2" charset="2"/>
              </a:rPr>
              <a:t>                                                                       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//</a:t>
            </a:r>
            <a:r>
              <a:rPr lang="zh-CN" altLang="en-US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应包含的</a:t>
            </a:r>
            <a:r>
              <a:rPr lang="en-US" altLang="zh-CN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.h</a:t>
            </a:r>
            <a:r>
              <a:rPr lang="zh-CN" altLang="en-US" sz="2000" b="1" dirty="0">
                <a:solidFill>
                  <a:srgbClr val="CC0099"/>
                </a:solidFill>
                <a:latin typeface="+mn-lt"/>
                <a:ea typeface="隶书" pitchFamily="49" charset="-122"/>
              </a:rPr>
              <a:t>文件为</a:t>
            </a:r>
            <a:r>
              <a:rPr lang="en-US" altLang="zh-CN" sz="2000" b="1" dirty="0" err="1">
                <a:solidFill>
                  <a:srgbClr val="CC0099"/>
                </a:solidFill>
                <a:latin typeface="+mn-lt"/>
                <a:ea typeface="隶书" pitchFamily="49" charset="-122"/>
              </a:rPr>
              <a:t>stdio.h</a:t>
            </a:r>
            <a:endParaRPr lang="zh-CN" altLang="zh-CN" sz="2000" b="1" dirty="0">
              <a:latin typeface="+mn-lt"/>
              <a:ea typeface="隶书" pitchFamily="49" charset="-122"/>
            </a:endParaRPr>
          </a:p>
          <a:p>
            <a:pPr marL="985838" indent="-985838"/>
            <a:r>
              <a:rPr lang="zh-CN" altLang="zh-CN" b="1" dirty="0">
                <a:ea typeface="隶书" pitchFamily="49" charset="-122"/>
              </a:rPr>
              <a:t>功能：将输出表列</a:t>
            </a:r>
            <a:r>
              <a:rPr lang="en-US" altLang="zh-CN" b="1" dirty="0" err="1">
                <a:ea typeface="隶书" pitchFamily="49" charset="-122"/>
              </a:rPr>
              <a:t>args</a:t>
            </a:r>
            <a:r>
              <a:rPr lang="zh-CN" altLang="zh-CN" b="1" dirty="0">
                <a:ea typeface="隶书" pitchFamily="49" charset="-122"/>
              </a:rPr>
              <a:t>的值按</a:t>
            </a:r>
            <a:r>
              <a:rPr lang="en-US" altLang="zh-CN" b="1" dirty="0">
                <a:ea typeface="隶书" pitchFamily="49" charset="-122"/>
              </a:rPr>
              <a:t>format</a:t>
            </a:r>
            <a:r>
              <a:rPr lang="zh-CN" altLang="zh-CN" b="1" dirty="0">
                <a:ea typeface="隶书" pitchFamily="49" charset="-122"/>
              </a:rPr>
              <a:t>规定的格式输出到字符串</a:t>
            </a:r>
            <a:r>
              <a:rPr lang="en-US" altLang="zh-CN" b="1" dirty="0" err="1">
                <a:ea typeface="隶书" pitchFamily="49" charset="-122"/>
              </a:rPr>
              <a:t>str</a:t>
            </a:r>
            <a:r>
              <a:rPr lang="zh-CN" altLang="zh-CN" b="1" dirty="0">
                <a:ea typeface="隶书" pitchFamily="49" charset="-122"/>
              </a:rPr>
              <a:t>中</a:t>
            </a:r>
            <a:r>
              <a:rPr lang="zh-CN" altLang="zh-CN" b="1" dirty="0">
                <a:ea typeface="隶书" pitchFamily="49" charset="-122"/>
                <a:sym typeface="Wingdings" pitchFamily="2" charset="2"/>
              </a:rPr>
              <a:t>。</a:t>
            </a:r>
          </a:p>
          <a:p>
            <a:pPr marL="901700" indent="-901700"/>
            <a:r>
              <a:rPr lang="zh-CN" altLang="zh-CN" b="1" dirty="0">
                <a:ea typeface="隶书" pitchFamily="49" charset="-122"/>
                <a:sym typeface="Wingdings" pitchFamily="2" charset="2"/>
              </a:rPr>
              <a:t>返值：</a:t>
            </a:r>
            <a:r>
              <a:rPr lang="zh-CN" altLang="zh-CN" b="1" dirty="0">
                <a:ea typeface="隶书" pitchFamily="49" charset="-122"/>
              </a:rPr>
              <a:t>如果格式字符串转换成功，而且结果也成功保存到数组</a:t>
            </a:r>
            <a:r>
              <a:rPr lang="en-US" altLang="zh-CN" b="1" dirty="0" err="1">
                <a:ea typeface="隶书" pitchFamily="49" charset="-122"/>
              </a:rPr>
              <a:t>str</a:t>
            </a:r>
            <a:r>
              <a:rPr lang="zh-CN" altLang="zh-CN" b="1" dirty="0">
                <a:ea typeface="隶书" pitchFamily="49" charset="-122"/>
              </a:rPr>
              <a:t>当中，则返回保存到数组当中的字符个数，否则，返回一个负整数。 </a:t>
            </a:r>
            <a:endParaRPr lang="zh-CN" altLang="zh-CN" b="1" dirty="0">
              <a:ea typeface="隶书" pitchFamily="49" charset="-122"/>
              <a:sym typeface="Wingdings" pitchFamily="2" charset="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847528" y="3811012"/>
            <a:ext cx="9572471" cy="3046988"/>
          </a:xfrm>
          <a:prstGeom prst="rect">
            <a:avLst/>
          </a:prstGeom>
          <a:solidFill>
            <a:schemeClr val="bg1"/>
          </a:solidFill>
          <a:ln w="38100">
            <a:solidFill>
              <a:srgbClr val="002060"/>
            </a:solidFill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例如：</a:t>
            </a: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  char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latin typeface="+mn-lt"/>
                <a:ea typeface="楷体" pitchFamily="49" charset="-122"/>
              </a:rPr>
              <a:t>[10];</a:t>
            </a:r>
            <a:endParaRPr lang="zh-CN" altLang="zh-CN" b="1" dirty="0"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 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int</a:t>
            </a:r>
            <a:r>
              <a:rPr lang="en-US" altLang="zh-CN" b="1" dirty="0">
                <a:latin typeface="+mn-lt"/>
                <a:ea typeface="楷体" pitchFamily="49" charset="-122"/>
              </a:rPr>
              <a:t> a = 123;</a:t>
            </a:r>
            <a:endParaRPr lang="zh-CN" altLang="zh-CN" b="1" dirty="0"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 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sprintf</a:t>
            </a:r>
            <a:r>
              <a:rPr lang="en-US" altLang="zh-CN" b="1" dirty="0">
                <a:latin typeface="+mn-lt"/>
                <a:ea typeface="楷体" pitchFamily="49" charset="-122"/>
              </a:rPr>
              <a:t>(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latin typeface="+mn-lt"/>
                <a:ea typeface="楷体" pitchFamily="49" charset="-122"/>
              </a:rPr>
              <a:t>, "%08d", a);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en-US" altLang="zh-CN" sz="1800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str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存放字符串</a:t>
            </a:r>
            <a:r>
              <a:rPr lang="en-US" altLang="zh-CN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"00000123"</a:t>
            </a:r>
            <a:endParaRPr lang="zh-CN" altLang="zh-CN" sz="1800" b="1" dirty="0">
              <a:solidFill>
                <a:srgbClr val="C00000"/>
              </a:solidFill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 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printf</a:t>
            </a:r>
            <a:r>
              <a:rPr lang="en-US" altLang="zh-CN" b="1" dirty="0">
                <a:latin typeface="+mn-lt"/>
                <a:ea typeface="楷体" pitchFamily="49" charset="-122"/>
              </a:rPr>
              <a:t>("%s\n",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latin typeface="+mn-lt"/>
                <a:ea typeface="楷体" pitchFamily="49" charset="-122"/>
              </a:rPr>
              <a:t>);      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输出：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00000123</a:t>
            </a:r>
            <a:endParaRPr lang="zh-CN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 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sprintf</a:t>
            </a:r>
            <a:r>
              <a:rPr lang="en-US" altLang="zh-CN" b="1" dirty="0">
                <a:latin typeface="+mn-lt"/>
                <a:ea typeface="楷体" pitchFamily="49" charset="-122"/>
              </a:rPr>
              <a:t>(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latin typeface="+mn-lt"/>
                <a:ea typeface="楷体" pitchFamily="49" charset="-122"/>
              </a:rPr>
              <a:t>, "%-8d", a);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en-US" altLang="zh-CN" sz="1800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str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存放字符串</a:t>
            </a:r>
            <a:r>
              <a:rPr lang="en-US" altLang="zh-CN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"123</a:t>
            </a:r>
            <a:r>
              <a:rPr lang="zh-CN" altLang="zh-CN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□□□□□</a:t>
            </a:r>
            <a:r>
              <a:rPr lang="en-US" altLang="zh-CN" sz="18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" </a:t>
            </a:r>
          </a:p>
          <a:p>
            <a:r>
              <a:rPr lang="en-US" altLang="zh-CN" sz="1800" b="1" dirty="0">
                <a:solidFill>
                  <a:srgbClr val="0000FF"/>
                </a:solidFill>
                <a:latin typeface="+mn-lt"/>
                <a:ea typeface="楷体" pitchFamily="49" charset="-122"/>
              </a:rPr>
              <a:t>                                                               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（□：表示空格）</a:t>
            </a:r>
          </a:p>
          <a:p>
            <a:r>
              <a:rPr lang="en-US" altLang="zh-CN" b="1" dirty="0">
                <a:latin typeface="+mn-lt"/>
                <a:ea typeface="楷体" pitchFamily="49" charset="-122"/>
              </a:rPr>
              <a:t>     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printf</a:t>
            </a:r>
            <a:r>
              <a:rPr lang="en-US" altLang="zh-CN" b="1" dirty="0">
                <a:latin typeface="+mn-lt"/>
                <a:ea typeface="楷体" pitchFamily="49" charset="-122"/>
              </a:rPr>
              <a:t>("%s\n", 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str</a:t>
            </a:r>
            <a:r>
              <a:rPr lang="en-US" altLang="zh-CN" b="1" dirty="0">
                <a:latin typeface="+mn-lt"/>
                <a:ea typeface="楷体" pitchFamily="49" charset="-122"/>
              </a:rPr>
              <a:t>);      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输出：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123</a:t>
            </a:r>
            <a:r>
              <a:rPr lang="zh-CN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□□□□□</a:t>
            </a:r>
          </a:p>
        </p:txBody>
      </p:sp>
      <p:sp>
        <p:nvSpPr>
          <p:cNvPr id="9" name="矩形 8"/>
          <p:cNvSpPr/>
          <p:nvPr/>
        </p:nvSpPr>
        <p:spPr>
          <a:xfrm>
            <a:off x="983432" y="1383159"/>
            <a:ext cx="81373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5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）</a:t>
            </a:r>
            <a:r>
              <a:rPr lang="zh-CN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格式化字符串转换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—</a:t>
            </a:r>
            <a:r>
              <a:rPr lang="en-US" altLang="zh-CN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sprintf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函数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B545E166-435D-44A7-B79E-CDAEB4E51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416" y="836712"/>
            <a:ext cx="5184576" cy="52322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3175">
              <a:tabLst>
                <a:tab pos="450850" algn="l"/>
              </a:tabLst>
            </a:pPr>
            <a:r>
              <a:rPr kumimoji="0" lang="en-US" altLang="zh-CN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4</a:t>
            </a:r>
            <a:r>
              <a:rPr kumimoji="0" lang="zh-CN" altLang="en-US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、常用数据类型转换函数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F276DD2C-7B9B-43B3-A39B-9BA6DBD402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8.8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常用库函数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9" grpId="0"/>
      <p:bldP spid="8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4">
            <a:extLst>
              <a:ext uri="{FF2B5EF4-FFF2-40B4-BE49-F238E27FC236}">
                <a16:creationId xmlns:a16="http://schemas.microsoft.com/office/drawing/2014/main" id="{51853D6B-044C-4029-8875-F9812F65FB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8.9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函数的封装 </a:t>
            </a:r>
          </a:p>
        </p:txBody>
      </p:sp>
      <p:grpSp>
        <p:nvGrpSpPr>
          <p:cNvPr id="3" name="Group 46"/>
          <p:cNvGrpSpPr>
            <a:grpSpLocks/>
          </p:cNvGrpSpPr>
          <p:nvPr/>
        </p:nvGrpSpPr>
        <p:grpSpPr bwMode="auto">
          <a:xfrm>
            <a:off x="8352800" y="2760202"/>
            <a:ext cx="2519362" cy="574675"/>
            <a:chOff x="3107" y="1979"/>
            <a:chExt cx="1587" cy="362"/>
          </a:xfrm>
        </p:grpSpPr>
        <p:sp>
          <p:nvSpPr>
            <p:cNvPr id="1129506" name="Oval 34"/>
            <p:cNvSpPr>
              <a:spLocks noChangeArrowheads="1"/>
            </p:cNvSpPr>
            <p:nvPr/>
          </p:nvSpPr>
          <p:spPr bwMode="auto">
            <a:xfrm>
              <a:off x="3107" y="1979"/>
              <a:ext cx="635" cy="362"/>
            </a:xfrm>
            <a:prstGeom prst="ellipse">
              <a:avLst/>
            </a:prstGeom>
            <a:noFill/>
            <a:ln w="28575">
              <a:solidFill>
                <a:srgbClr val="C0192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9508" name="Line 36"/>
            <p:cNvSpPr>
              <a:spLocks noChangeShapeType="1"/>
            </p:cNvSpPr>
            <p:nvPr/>
          </p:nvSpPr>
          <p:spPr bwMode="auto">
            <a:xfrm>
              <a:off x="3742" y="2160"/>
              <a:ext cx="952" cy="0"/>
            </a:xfrm>
            <a:prstGeom prst="line">
              <a:avLst/>
            </a:prstGeom>
            <a:noFill/>
            <a:ln w="28575">
              <a:solidFill>
                <a:srgbClr val="C01920"/>
              </a:solidFill>
              <a:round/>
              <a:headEnd type="stealth" w="lg" len="lg"/>
              <a:tailEnd type="none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47"/>
          <p:cNvGrpSpPr>
            <a:grpSpLocks/>
          </p:cNvGrpSpPr>
          <p:nvPr/>
        </p:nvGrpSpPr>
        <p:grpSpPr bwMode="auto">
          <a:xfrm>
            <a:off x="5587375" y="3334876"/>
            <a:ext cx="5357812" cy="2089150"/>
            <a:chOff x="1365" y="2341"/>
            <a:chExt cx="3375" cy="1316"/>
          </a:xfrm>
        </p:grpSpPr>
        <p:sp>
          <p:nvSpPr>
            <p:cNvPr id="1129504" name="Oval 32"/>
            <p:cNvSpPr>
              <a:spLocks noChangeArrowheads="1"/>
            </p:cNvSpPr>
            <p:nvPr/>
          </p:nvSpPr>
          <p:spPr bwMode="auto">
            <a:xfrm>
              <a:off x="1365" y="3339"/>
              <a:ext cx="1134" cy="318"/>
            </a:xfrm>
            <a:prstGeom prst="ellipse">
              <a:avLst/>
            </a:prstGeom>
            <a:noFill/>
            <a:ln w="28575">
              <a:solidFill>
                <a:srgbClr val="C0192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129509" name="Line 37"/>
            <p:cNvSpPr>
              <a:spLocks noChangeShapeType="1"/>
            </p:cNvSpPr>
            <p:nvPr/>
          </p:nvSpPr>
          <p:spPr bwMode="auto">
            <a:xfrm flipV="1">
              <a:off x="2517" y="2341"/>
              <a:ext cx="2223" cy="1134"/>
            </a:xfrm>
            <a:prstGeom prst="line">
              <a:avLst/>
            </a:prstGeom>
            <a:noFill/>
            <a:ln w="28575">
              <a:solidFill>
                <a:srgbClr val="C01920"/>
              </a:solidFill>
              <a:round/>
              <a:headEnd type="stealth" w="lg" len="lg"/>
              <a:tailEnd type="none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1129510" name="Picture 38" descr="j030525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 rot="22998475">
            <a:off x="11023766" y="2153813"/>
            <a:ext cx="1138238" cy="1828800"/>
          </a:xfrm>
          <a:prstGeom prst="rect">
            <a:avLst/>
          </a:prstGeom>
          <a:noFill/>
        </p:spPr>
      </p:pic>
      <p:grpSp>
        <p:nvGrpSpPr>
          <p:cNvPr id="5" name="Group 48"/>
          <p:cNvGrpSpPr>
            <a:grpSpLocks/>
          </p:cNvGrpSpPr>
          <p:nvPr/>
        </p:nvGrpSpPr>
        <p:grpSpPr bwMode="auto">
          <a:xfrm>
            <a:off x="4896812" y="829801"/>
            <a:ext cx="5975350" cy="1930400"/>
            <a:chOff x="930" y="763"/>
            <a:chExt cx="3764" cy="1216"/>
          </a:xfrm>
        </p:grpSpPr>
        <p:sp>
          <p:nvSpPr>
            <p:cNvPr id="1129503" name="Oval 31"/>
            <p:cNvSpPr>
              <a:spLocks noChangeArrowheads="1"/>
            </p:cNvSpPr>
            <p:nvPr/>
          </p:nvSpPr>
          <p:spPr bwMode="auto">
            <a:xfrm>
              <a:off x="930" y="763"/>
              <a:ext cx="2086" cy="454"/>
            </a:xfrm>
            <a:prstGeom prst="ellipse">
              <a:avLst/>
            </a:prstGeom>
            <a:noFill/>
            <a:ln w="28575">
              <a:solidFill>
                <a:srgbClr val="C0192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9507" name="Line 35"/>
            <p:cNvSpPr>
              <a:spLocks noChangeShapeType="1"/>
            </p:cNvSpPr>
            <p:nvPr/>
          </p:nvSpPr>
          <p:spPr bwMode="auto">
            <a:xfrm>
              <a:off x="3016" y="981"/>
              <a:ext cx="1678" cy="998"/>
            </a:xfrm>
            <a:prstGeom prst="line">
              <a:avLst/>
            </a:prstGeom>
            <a:noFill/>
            <a:ln w="28575">
              <a:solidFill>
                <a:srgbClr val="C01920"/>
              </a:solidFill>
              <a:round/>
              <a:headEnd type="stealth" w="lg" len="lg"/>
              <a:tailEnd type="none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Group 44"/>
          <p:cNvGrpSpPr>
            <a:grpSpLocks/>
          </p:cNvGrpSpPr>
          <p:nvPr/>
        </p:nvGrpSpPr>
        <p:grpSpPr bwMode="auto">
          <a:xfrm>
            <a:off x="4018925" y="959976"/>
            <a:ext cx="5486400" cy="4356100"/>
            <a:chOff x="377" y="845"/>
            <a:chExt cx="3456" cy="2744"/>
          </a:xfrm>
        </p:grpSpPr>
        <p:sp>
          <p:nvSpPr>
            <p:cNvPr id="1129490" name="AutoShape 18"/>
            <p:cNvSpPr>
              <a:spLocks noChangeArrowheads="1"/>
            </p:cNvSpPr>
            <p:nvPr/>
          </p:nvSpPr>
          <p:spPr bwMode="auto">
            <a:xfrm>
              <a:off x="839" y="1480"/>
              <a:ext cx="2268" cy="1270"/>
            </a:xfrm>
            <a:prstGeom prst="roundRect">
              <a:avLst>
                <a:gd name="adj" fmla="val 16667"/>
              </a:avLst>
            </a:prstGeom>
            <a:noFill/>
            <a:ln w="952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楷体" pitchFamily="49" charset="-122"/>
              </a:endParaRPr>
            </a:p>
          </p:txBody>
        </p:sp>
        <p:sp>
          <p:nvSpPr>
            <p:cNvPr id="1129491" name="Text Box 19"/>
            <p:cNvSpPr txBox="1">
              <a:spLocks noChangeArrowheads="1"/>
            </p:cNvSpPr>
            <p:nvPr/>
          </p:nvSpPr>
          <p:spPr bwMode="auto">
            <a:xfrm>
              <a:off x="1292" y="1933"/>
              <a:ext cx="1361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+mn-lt"/>
                  <a:ea typeface="隶书" pitchFamily="49" charset="-122"/>
                </a:rPr>
                <a:t>Ｂ</a:t>
              </a:r>
              <a:r>
                <a:rPr lang="en-US" altLang="zh-CN" sz="2800" b="1" dirty="0">
                  <a:latin typeface="+mn-lt"/>
                  <a:ea typeface="隶书" pitchFamily="49" charset="-122"/>
                </a:rPr>
                <a:t>lack Box</a:t>
              </a:r>
            </a:p>
          </p:txBody>
        </p:sp>
        <p:sp>
          <p:nvSpPr>
            <p:cNvPr id="1129492" name="Line 20"/>
            <p:cNvSpPr>
              <a:spLocks noChangeShapeType="1"/>
            </p:cNvSpPr>
            <p:nvPr/>
          </p:nvSpPr>
          <p:spPr bwMode="auto">
            <a:xfrm>
              <a:off x="1338" y="1162"/>
              <a:ext cx="0" cy="318"/>
            </a:xfrm>
            <a:prstGeom prst="line">
              <a:avLst/>
            </a:prstGeom>
            <a:noFill/>
            <a:ln w="28575">
              <a:solidFill>
                <a:srgbClr val="00206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>
                <a:solidFill>
                  <a:srgbClr val="002060"/>
                </a:solidFill>
                <a:latin typeface="+mn-lt"/>
                <a:ea typeface="楷体" pitchFamily="49" charset="-122"/>
              </a:endParaRPr>
            </a:p>
          </p:txBody>
        </p:sp>
        <p:sp>
          <p:nvSpPr>
            <p:cNvPr id="1129494" name="Line 22"/>
            <p:cNvSpPr>
              <a:spLocks noChangeShapeType="1"/>
            </p:cNvSpPr>
            <p:nvPr/>
          </p:nvSpPr>
          <p:spPr bwMode="auto">
            <a:xfrm>
              <a:off x="1791" y="1162"/>
              <a:ext cx="0" cy="318"/>
            </a:xfrm>
            <a:prstGeom prst="line">
              <a:avLst/>
            </a:prstGeom>
            <a:noFill/>
            <a:ln w="28575">
              <a:solidFill>
                <a:srgbClr val="00206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>
                <a:solidFill>
                  <a:srgbClr val="002060"/>
                </a:solidFill>
                <a:latin typeface="+mn-lt"/>
                <a:ea typeface="楷体" pitchFamily="49" charset="-122"/>
              </a:endParaRPr>
            </a:p>
          </p:txBody>
        </p:sp>
        <p:sp>
          <p:nvSpPr>
            <p:cNvPr id="1129495" name="Line 23"/>
            <p:cNvSpPr>
              <a:spLocks noChangeShapeType="1"/>
            </p:cNvSpPr>
            <p:nvPr/>
          </p:nvSpPr>
          <p:spPr bwMode="auto">
            <a:xfrm>
              <a:off x="2517" y="1162"/>
              <a:ext cx="0" cy="318"/>
            </a:xfrm>
            <a:prstGeom prst="line">
              <a:avLst/>
            </a:prstGeom>
            <a:noFill/>
            <a:ln w="28575">
              <a:solidFill>
                <a:srgbClr val="00206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>
                <a:solidFill>
                  <a:srgbClr val="002060"/>
                </a:solidFill>
                <a:latin typeface="+mn-lt"/>
                <a:ea typeface="楷体" pitchFamily="49" charset="-122"/>
              </a:endParaRPr>
            </a:p>
          </p:txBody>
        </p:sp>
        <p:sp>
          <p:nvSpPr>
            <p:cNvPr id="1129496" name="Text Box 24"/>
            <p:cNvSpPr txBox="1">
              <a:spLocks noChangeArrowheads="1"/>
            </p:cNvSpPr>
            <p:nvPr/>
          </p:nvSpPr>
          <p:spPr bwMode="auto">
            <a:xfrm>
              <a:off x="2018" y="1026"/>
              <a:ext cx="408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4000">
                  <a:solidFill>
                    <a:srgbClr val="00206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rPr>
                <a:t>…</a:t>
              </a:r>
            </a:p>
          </p:txBody>
        </p:sp>
        <p:sp>
          <p:nvSpPr>
            <p:cNvPr id="1129497" name="Text Box 25"/>
            <p:cNvSpPr txBox="1">
              <a:spLocks noChangeArrowheads="1"/>
            </p:cNvSpPr>
            <p:nvPr/>
          </p:nvSpPr>
          <p:spPr bwMode="auto">
            <a:xfrm>
              <a:off x="1020" y="845"/>
              <a:ext cx="63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>
                  <a:solidFill>
                    <a:schemeClr val="accent1">
                      <a:lumMod val="50000"/>
                    </a:schemeClr>
                  </a:solidFill>
                  <a:latin typeface="+mn-lt"/>
                  <a:ea typeface="楷体" pitchFamily="49" charset="-122"/>
                </a:rPr>
                <a:t>参数</a:t>
              </a:r>
              <a:r>
                <a:rPr lang="en-US" altLang="zh-CN" sz="2000" b="1">
                  <a:solidFill>
                    <a:schemeClr val="accent1">
                      <a:lumMod val="50000"/>
                    </a:schemeClr>
                  </a:solidFill>
                  <a:latin typeface="+mn-lt"/>
                  <a:ea typeface="楷体" pitchFamily="49" charset="-122"/>
                </a:rPr>
                <a:t>1</a:t>
              </a:r>
            </a:p>
          </p:txBody>
        </p:sp>
        <p:sp>
          <p:nvSpPr>
            <p:cNvPr id="1129498" name="Text Box 26"/>
            <p:cNvSpPr txBox="1">
              <a:spLocks noChangeArrowheads="1"/>
            </p:cNvSpPr>
            <p:nvPr/>
          </p:nvSpPr>
          <p:spPr bwMode="auto">
            <a:xfrm>
              <a:off x="1556" y="854"/>
              <a:ext cx="63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>
                  <a:solidFill>
                    <a:schemeClr val="accent1">
                      <a:lumMod val="50000"/>
                    </a:schemeClr>
                  </a:solidFill>
                  <a:latin typeface="+mn-lt"/>
                  <a:ea typeface="楷体" pitchFamily="49" charset="-122"/>
                </a:rPr>
                <a:t>参数</a:t>
              </a:r>
              <a:r>
                <a:rPr lang="en-US" altLang="zh-CN" sz="2000" b="1">
                  <a:solidFill>
                    <a:schemeClr val="accent1">
                      <a:lumMod val="50000"/>
                    </a:schemeClr>
                  </a:solidFill>
                  <a:latin typeface="+mn-lt"/>
                  <a:ea typeface="楷体" pitchFamily="49" charset="-122"/>
                </a:rPr>
                <a:t>2</a:t>
              </a:r>
            </a:p>
          </p:txBody>
        </p:sp>
        <p:sp>
          <p:nvSpPr>
            <p:cNvPr id="1129499" name="Text Box 27"/>
            <p:cNvSpPr txBox="1">
              <a:spLocks noChangeArrowheads="1"/>
            </p:cNvSpPr>
            <p:nvPr/>
          </p:nvSpPr>
          <p:spPr bwMode="auto">
            <a:xfrm>
              <a:off x="2263" y="863"/>
              <a:ext cx="63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accent1">
                      <a:lumMod val="50000"/>
                    </a:schemeClr>
                  </a:solidFill>
                  <a:latin typeface="+mn-lt"/>
                  <a:ea typeface="楷体" pitchFamily="49" charset="-122"/>
                </a:rPr>
                <a:t>参数</a:t>
              </a:r>
              <a:r>
                <a:rPr lang="en-US" altLang="zh-CN" sz="2000" b="1" dirty="0">
                  <a:solidFill>
                    <a:schemeClr val="accent1">
                      <a:lumMod val="50000"/>
                    </a:schemeClr>
                  </a:solidFill>
                  <a:latin typeface="+mn-lt"/>
                  <a:ea typeface="楷体" pitchFamily="49" charset="-122"/>
                </a:rPr>
                <a:t>n</a:t>
              </a:r>
            </a:p>
          </p:txBody>
        </p:sp>
        <p:sp>
          <p:nvSpPr>
            <p:cNvPr id="1129501" name="Line 29"/>
            <p:cNvSpPr>
              <a:spLocks noChangeShapeType="1"/>
            </p:cNvSpPr>
            <p:nvPr/>
          </p:nvSpPr>
          <p:spPr bwMode="auto">
            <a:xfrm>
              <a:off x="1882" y="2750"/>
              <a:ext cx="0" cy="589"/>
            </a:xfrm>
            <a:prstGeom prst="line">
              <a:avLst/>
            </a:prstGeom>
            <a:noFill/>
            <a:ln w="28575">
              <a:solidFill>
                <a:srgbClr val="C0192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>
                <a:latin typeface="+mn-lt"/>
                <a:ea typeface="楷体" pitchFamily="49" charset="-122"/>
              </a:endParaRPr>
            </a:p>
          </p:txBody>
        </p:sp>
        <p:sp>
          <p:nvSpPr>
            <p:cNvPr id="1129502" name="Text Box 30"/>
            <p:cNvSpPr txBox="1">
              <a:spLocks noChangeArrowheads="1"/>
            </p:cNvSpPr>
            <p:nvPr/>
          </p:nvSpPr>
          <p:spPr bwMode="auto">
            <a:xfrm>
              <a:off x="1610" y="3339"/>
              <a:ext cx="63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solidFill>
                    <a:srgbClr val="C01920"/>
                  </a:solidFill>
                  <a:latin typeface="+mn-lt"/>
                  <a:ea typeface="楷体" pitchFamily="49" charset="-122"/>
                </a:rPr>
                <a:t>返回值</a:t>
              </a:r>
            </a:p>
          </p:txBody>
        </p:sp>
        <p:sp>
          <p:nvSpPr>
            <p:cNvPr id="1129505" name="Text Box 33"/>
            <p:cNvSpPr txBox="1">
              <a:spLocks noChangeArrowheads="1"/>
            </p:cNvSpPr>
            <p:nvPr/>
          </p:nvSpPr>
          <p:spPr bwMode="auto">
            <a:xfrm>
              <a:off x="3198" y="2024"/>
              <a:ext cx="63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>
                  <a:solidFill>
                    <a:srgbClr val="C01920"/>
                  </a:solidFill>
                  <a:latin typeface="+mn-lt"/>
                  <a:ea typeface="楷体" pitchFamily="49" charset="-122"/>
                </a:rPr>
                <a:t>功能</a:t>
              </a:r>
            </a:p>
          </p:txBody>
        </p:sp>
        <p:sp>
          <p:nvSpPr>
            <p:cNvPr id="1129511" name="AutoShape 39"/>
            <p:cNvSpPr>
              <a:spLocks/>
            </p:cNvSpPr>
            <p:nvPr/>
          </p:nvSpPr>
          <p:spPr bwMode="auto">
            <a:xfrm>
              <a:off x="612" y="890"/>
              <a:ext cx="181" cy="2585"/>
            </a:xfrm>
            <a:prstGeom prst="leftBrace">
              <a:avLst>
                <a:gd name="adj1" fmla="val 119015"/>
                <a:gd name="adj2" fmla="val 50000"/>
              </a:avLst>
            </a:prstGeom>
            <a:noFill/>
            <a:ln w="28575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latin typeface="+mn-lt"/>
                <a:ea typeface="楷体" pitchFamily="49" charset="-122"/>
              </a:endParaRPr>
            </a:p>
          </p:txBody>
        </p:sp>
        <p:sp>
          <p:nvSpPr>
            <p:cNvPr id="1129512" name="Text Box 40"/>
            <p:cNvSpPr txBox="1">
              <a:spLocks noChangeArrowheads="1"/>
            </p:cNvSpPr>
            <p:nvPr/>
          </p:nvSpPr>
          <p:spPr bwMode="auto">
            <a:xfrm>
              <a:off x="377" y="1888"/>
              <a:ext cx="317" cy="5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solidFill>
                    <a:srgbClr val="C01920"/>
                  </a:solidFill>
                  <a:latin typeface="+mn-lt"/>
                  <a:ea typeface="楷体" pitchFamily="49" charset="-122"/>
                </a:rPr>
                <a:t>函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solidFill>
                    <a:srgbClr val="C01920"/>
                  </a:solidFill>
                  <a:latin typeface="+mn-lt"/>
                  <a:ea typeface="楷体" pitchFamily="49" charset="-122"/>
                </a:rPr>
                <a:t>数</a:t>
              </a:r>
            </a:p>
          </p:txBody>
        </p:sp>
      </p:grpSp>
      <p:sp>
        <p:nvSpPr>
          <p:cNvPr id="1129513" name="Rectangle 41"/>
          <p:cNvSpPr>
            <a:spLocks noChangeArrowheads="1"/>
          </p:cNvSpPr>
          <p:nvPr/>
        </p:nvSpPr>
        <p:spPr bwMode="auto">
          <a:xfrm>
            <a:off x="683887" y="1530424"/>
            <a:ext cx="3168352" cy="3785652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latin typeface="+mn-lt"/>
                <a:ea typeface="楷体" pitchFamily="49" charset="-122"/>
              </a:rPr>
              <a:t>　　函数的封装使外界对函数的影响仅限于几个参数。函数的设计者可以专心于参数的处理和函数的实现，完全不必关心调用者是什么。而函数对外界的影响也仅限于一个返回值和指针、数组类型的参数。 </a:t>
            </a:r>
          </a:p>
        </p:txBody>
      </p:sp>
      <p:sp>
        <p:nvSpPr>
          <p:cNvPr id="1129514" name="Rectangle 42"/>
          <p:cNvSpPr>
            <a:spLocks noChangeArrowheads="1"/>
          </p:cNvSpPr>
          <p:nvPr/>
        </p:nvSpPr>
        <p:spPr bwMode="auto">
          <a:xfrm>
            <a:off x="4655840" y="200488"/>
            <a:ext cx="6997843" cy="461665"/>
          </a:xfrm>
          <a:prstGeom prst="rect">
            <a:avLst/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chemeClr val="accent1">
                <a:lumMod val="50000"/>
              </a:schemeClr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solidFill>
                  <a:srgbClr val="C01920"/>
                </a:solidFill>
                <a:ea typeface="隶书" pitchFamily="49" charset="-122"/>
              </a:rPr>
              <a:t>函数的参数和返回值的设计是封装中的关键一步！</a:t>
            </a:r>
            <a:r>
              <a:rPr lang="zh-CN" altLang="en-US" dirty="0">
                <a:solidFill>
                  <a:srgbClr val="C01920"/>
                </a:solidFill>
              </a:rPr>
              <a:t> </a:t>
            </a:r>
          </a:p>
        </p:txBody>
      </p:sp>
      <p:sp>
        <p:nvSpPr>
          <p:cNvPr id="1129515" name="Rectangle 43"/>
          <p:cNvSpPr>
            <a:spLocks noChangeArrowheads="1"/>
          </p:cNvSpPr>
          <p:nvPr/>
        </p:nvSpPr>
        <p:spPr bwMode="auto">
          <a:xfrm>
            <a:off x="467131" y="5505259"/>
            <a:ext cx="11161240" cy="1200329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latin typeface="+mn-lt"/>
                <a:ea typeface="楷体" pitchFamily="49" charset="-122"/>
              </a:rPr>
              <a:t>　　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尽可能少用全局变量</a:t>
            </a:r>
            <a:r>
              <a:rPr lang="zh-CN" altLang="en-US" b="1" dirty="0">
                <a:latin typeface="+mn-lt"/>
                <a:ea typeface="楷体" pitchFamily="49" charset="-122"/>
              </a:rPr>
              <a:t>，除非一个变量的值经常被程序中多个模块和函数使用，而且它的类型固定（随着程序的升级不会改变），并只有很有限的几个地方需要修改它，才非常适合定义为全局变量。</a:t>
            </a:r>
            <a:r>
              <a:rPr lang="zh-CN" altLang="en-US" dirty="0">
                <a:latin typeface="+mn-lt"/>
                <a:ea typeface="楷体" pitchFamily="49" charset="-122"/>
              </a:rPr>
              <a:t> 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1295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1295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1295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1295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9513" grpId="0" animBg="1"/>
      <p:bldP spid="1129514" grpId="0" animBg="1"/>
      <p:bldP spid="1129515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192" name="Rectangle 8"/>
          <p:cNvSpPr>
            <a:spLocks noChangeArrowheads="1"/>
          </p:cNvSpPr>
          <p:nvPr/>
        </p:nvSpPr>
        <p:spPr bwMode="auto">
          <a:xfrm>
            <a:off x="826472" y="807095"/>
            <a:ext cx="559961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【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1】 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对两个任意长度的大整数求和</a:t>
            </a:r>
            <a:r>
              <a:rPr lang="zh-CN" altLang="en-US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</a:p>
        </p:txBody>
      </p:sp>
      <p:sp>
        <p:nvSpPr>
          <p:cNvPr id="1117222" name="Rectangle 38"/>
          <p:cNvSpPr>
            <a:spLocks noChangeArrowheads="1"/>
          </p:cNvSpPr>
          <p:nvPr/>
        </p:nvSpPr>
        <p:spPr bwMode="auto">
          <a:xfrm>
            <a:off x="1055440" y="1443539"/>
            <a:ext cx="10657184" cy="2308324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r>
              <a:rPr lang="zh-CN" altLang="en-US" b="1" u="sng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设计思想：</a:t>
            </a:r>
            <a:endParaRPr lang="en-US" altLang="zh-CN" b="1" u="sng" dirty="0">
              <a:ln w="1905"/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zh-CN" altLang="en-US" b="1" u="sng" dirty="0">
              <a:ln w="1905"/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a typeface="楷体" pitchFamily="49" charset="-122"/>
              </a:rPr>
              <a:t>        </a:t>
            </a:r>
            <a:r>
              <a:rPr lang="zh-CN" altLang="en-US" b="1" dirty="0">
                <a:ln w="1905"/>
                <a:solidFill>
                  <a:schemeClr val="tx1"/>
                </a:solidFill>
                <a:ea typeface="楷体" pitchFamily="49" charset="-122"/>
              </a:rPr>
              <a:t>由于</a:t>
            </a:r>
            <a:r>
              <a:rPr lang="en-US" altLang="zh-CN" b="1" dirty="0">
                <a:ln w="1905"/>
                <a:solidFill>
                  <a:schemeClr val="tx1"/>
                </a:solidFill>
                <a:ea typeface="楷体" pitchFamily="49" charset="-122"/>
              </a:rPr>
              <a:t>C</a:t>
            </a:r>
            <a:r>
              <a:rPr lang="zh-CN" altLang="en-US" b="1" dirty="0">
                <a:ln w="1905"/>
                <a:solidFill>
                  <a:schemeClr val="tx1"/>
                </a:solidFill>
                <a:ea typeface="楷体" pitchFamily="49" charset="-122"/>
              </a:rPr>
              <a:t>语言中对于整型数据来说都有其数据表示范围，当某个整数超出整型数据表示范围时，将无法用一个整型变量来存储它的，更不用说对这样的两个数进行求和了，为了解决这个问题，我们可以用数字字符串的形式来表示它们，然后通过对数字字符串进行相加就可以实现任意长度的大整数求和。 </a:t>
            </a:r>
          </a:p>
        </p:txBody>
      </p:sp>
      <p:grpSp>
        <p:nvGrpSpPr>
          <p:cNvPr id="1117231" name="Group 47"/>
          <p:cNvGrpSpPr>
            <a:grpSpLocks/>
          </p:cNvGrpSpPr>
          <p:nvPr/>
        </p:nvGrpSpPr>
        <p:grpSpPr bwMode="auto">
          <a:xfrm>
            <a:off x="2999656" y="4076477"/>
            <a:ext cx="6984776" cy="1728787"/>
            <a:chOff x="703" y="2523"/>
            <a:chExt cx="3674" cy="1089"/>
          </a:xfrm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grpSpPr>
        <p:sp>
          <p:nvSpPr>
            <p:cNvPr id="1117230" name="Rectangle 46"/>
            <p:cNvSpPr>
              <a:spLocks noChangeArrowheads="1"/>
            </p:cNvSpPr>
            <p:nvPr/>
          </p:nvSpPr>
          <p:spPr bwMode="auto">
            <a:xfrm>
              <a:off x="703" y="2523"/>
              <a:ext cx="3674" cy="1089"/>
            </a:xfrm>
            <a:prstGeom prst="rect">
              <a:avLst/>
            </a:prstGeom>
            <a:gradFill rotWithShape="1">
              <a:gsLst>
                <a:gs pos="0">
                  <a:srgbClr val="CFCFD1"/>
                </a:gs>
                <a:gs pos="100000">
                  <a:schemeClr val="bg1"/>
                </a:gs>
              </a:gsLst>
              <a:lin ang="5400000" scaled="1"/>
            </a:gradFill>
            <a:ln w="38100">
              <a:solidFill>
                <a:srgbClr val="C01920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117229" name="Group 45"/>
            <p:cNvGrpSpPr>
              <a:grpSpLocks/>
            </p:cNvGrpSpPr>
            <p:nvPr/>
          </p:nvGrpSpPr>
          <p:grpSpPr bwMode="auto">
            <a:xfrm>
              <a:off x="1004" y="2544"/>
              <a:ext cx="3053" cy="979"/>
              <a:chOff x="820" y="2488"/>
              <a:chExt cx="3053" cy="979"/>
            </a:xfrm>
          </p:grpSpPr>
          <p:sp>
            <p:nvSpPr>
              <p:cNvPr id="1117223" name="Text Box 39"/>
              <p:cNvSpPr txBox="1">
                <a:spLocks noChangeArrowheads="1"/>
              </p:cNvSpPr>
              <p:nvPr/>
            </p:nvSpPr>
            <p:spPr bwMode="auto">
              <a:xfrm>
                <a:off x="1338" y="2523"/>
                <a:ext cx="2314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cene3d>
                <a:camera prst="orthographicFront"/>
                <a:lightRig rig="threePt" dir="t"/>
              </a:scene3d>
              <a:sp3d>
                <a:bevelT w="114300" prst="hardEdge"/>
              </a:sp3d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 dirty="0">
                    <a:solidFill>
                      <a:srgbClr val="002060"/>
                    </a:solidFill>
                  </a:rPr>
                  <a:t>“</a:t>
                </a:r>
                <a:r>
                  <a:rPr lang="en-US" altLang="zh-CN" b="1" dirty="0"/>
                  <a:t>22222222222222222222</a:t>
                </a:r>
                <a:r>
                  <a:rPr lang="en-US" altLang="zh-CN" b="1" dirty="0">
                    <a:solidFill>
                      <a:srgbClr val="002060"/>
                    </a:solidFill>
                  </a:rPr>
                  <a:t>”</a:t>
                </a:r>
              </a:p>
            </p:txBody>
          </p:sp>
          <p:sp>
            <p:nvSpPr>
              <p:cNvPr id="1117224" name="Text Box 40"/>
              <p:cNvSpPr txBox="1">
                <a:spLocks noChangeArrowheads="1"/>
              </p:cNvSpPr>
              <p:nvPr/>
            </p:nvSpPr>
            <p:spPr bwMode="auto">
              <a:xfrm>
                <a:off x="1330" y="2795"/>
                <a:ext cx="2314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cene3d>
                <a:camera prst="orthographicFront"/>
                <a:lightRig rig="threePt" dir="t"/>
              </a:scene3d>
              <a:sp3d>
                <a:bevelT w="114300" prst="hardEdge"/>
              </a:sp3d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 dirty="0">
                    <a:solidFill>
                      <a:srgbClr val="002060"/>
                    </a:solidFill>
                  </a:rPr>
                  <a:t>“</a:t>
                </a:r>
                <a:r>
                  <a:rPr lang="en-US" altLang="zh-CN" b="1" dirty="0"/>
                  <a:t>33333333333333333333</a:t>
                </a:r>
                <a:r>
                  <a:rPr lang="en-US" altLang="zh-CN" b="1" dirty="0">
                    <a:solidFill>
                      <a:srgbClr val="002060"/>
                    </a:solidFill>
                  </a:rPr>
                  <a:t>”</a:t>
                </a:r>
              </a:p>
            </p:txBody>
          </p:sp>
          <p:sp>
            <p:nvSpPr>
              <p:cNvPr id="1117225" name="Text Box 41"/>
              <p:cNvSpPr txBox="1">
                <a:spLocks noChangeArrowheads="1"/>
              </p:cNvSpPr>
              <p:nvPr/>
            </p:nvSpPr>
            <p:spPr bwMode="auto">
              <a:xfrm>
                <a:off x="975" y="2779"/>
                <a:ext cx="318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cene3d>
                <a:camera prst="orthographicFront"/>
                <a:lightRig rig="threePt" dir="t"/>
              </a:scene3d>
              <a:sp3d>
                <a:bevelT w="114300" prst="hardEdge"/>
              </a:sp3d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b="1"/>
                  <a:t>＋</a:t>
                </a:r>
              </a:p>
            </p:txBody>
          </p:sp>
          <p:sp>
            <p:nvSpPr>
              <p:cNvPr id="1117226" name="Line 42"/>
              <p:cNvSpPr>
                <a:spLocks noChangeShapeType="1"/>
              </p:cNvSpPr>
              <p:nvPr/>
            </p:nvSpPr>
            <p:spPr bwMode="auto">
              <a:xfrm>
                <a:off x="833" y="3142"/>
                <a:ext cx="30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  <a:scene3d>
                <a:camera prst="orthographicFront"/>
                <a:lightRig rig="threePt" dir="t"/>
              </a:scene3d>
              <a:sp3d>
                <a:bevelT w="114300" prst="hardEdge"/>
              </a:sp3d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7227" name="Text Box 43"/>
              <p:cNvSpPr txBox="1">
                <a:spLocks noChangeArrowheads="1"/>
              </p:cNvSpPr>
              <p:nvPr/>
            </p:nvSpPr>
            <p:spPr bwMode="auto">
              <a:xfrm>
                <a:off x="1338" y="3179"/>
                <a:ext cx="2314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cene3d>
                <a:camera prst="orthographicFront"/>
                <a:lightRig rig="threePt" dir="t"/>
              </a:scene3d>
              <a:sp3d>
                <a:bevelT w="114300" prst="hardEdge"/>
              </a:sp3d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 dirty="0">
                    <a:solidFill>
                      <a:srgbClr val="002060"/>
                    </a:solidFill>
                  </a:rPr>
                  <a:t>“</a:t>
                </a:r>
                <a:r>
                  <a:rPr lang="en-US" altLang="zh-CN" b="1" dirty="0">
                    <a:solidFill>
                      <a:srgbClr val="C00000"/>
                    </a:solidFill>
                  </a:rPr>
                  <a:t>55555555555555555555</a:t>
                </a:r>
                <a:r>
                  <a:rPr lang="en-US" altLang="zh-CN" b="1" dirty="0">
                    <a:solidFill>
                      <a:srgbClr val="002060"/>
                    </a:solidFill>
                  </a:rPr>
                  <a:t>”</a:t>
                </a:r>
              </a:p>
            </p:txBody>
          </p:sp>
          <p:sp>
            <p:nvSpPr>
              <p:cNvPr id="1117228" name="Text Box 44"/>
              <p:cNvSpPr txBox="1">
                <a:spLocks noChangeArrowheads="1"/>
              </p:cNvSpPr>
              <p:nvPr/>
            </p:nvSpPr>
            <p:spPr bwMode="auto">
              <a:xfrm>
                <a:off x="820" y="2488"/>
                <a:ext cx="590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cene3d>
                <a:camera prst="orthographicFront"/>
                <a:lightRig rig="threePt" dir="t"/>
              </a:scene3d>
              <a:sp3d>
                <a:bevelT w="114300" prst="hardEdge"/>
              </a:sp3d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b="1" dirty="0">
                    <a:solidFill>
                      <a:srgbClr val="C00000"/>
                    </a:solidFill>
                    <a:ea typeface="隶书" pitchFamily="49" charset="-122"/>
                  </a:rPr>
                  <a:t>如：</a:t>
                </a:r>
              </a:p>
            </p:txBody>
          </p:sp>
        </p:grpSp>
      </p:grpSp>
      <p:sp>
        <p:nvSpPr>
          <p:cNvPr id="17" name="Rectangle 4">
            <a:extLst>
              <a:ext uri="{FF2B5EF4-FFF2-40B4-BE49-F238E27FC236}">
                <a16:creationId xmlns:a16="http://schemas.microsoft.com/office/drawing/2014/main" id="{80393602-2113-4801-B5E4-3270607165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8.10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函数应用综合举例 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1719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1172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1172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7192" grpId="0"/>
      <p:bldP spid="1117222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226" name="Rectangle 18" descr="信纸"/>
          <p:cNvSpPr>
            <a:spLocks noChangeArrowheads="1"/>
          </p:cNvSpPr>
          <p:nvPr/>
        </p:nvSpPr>
        <p:spPr bwMode="auto">
          <a:xfrm>
            <a:off x="767408" y="908720"/>
            <a:ext cx="5832475" cy="4092575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marL="457200" indent="-457200"/>
            <a:r>
              <a:rPr kumimoji="0" lang="en-US" altLang="zh-CN" sz="2000" b="1" dirty="0"/>
              <a:t>#include &lt;</a:t>
            </a:r>
            <a:r>
              <a:rPr kumimoji="0" lang="en-US" altLang="zh-CN" sz="2000" b="1" dirty="0" err="1"/>
              <a:t>stdio.h</a:t>
            </a:r>
            <a:r>
              <a:rPr kumimoji="0" lang="en-US" altLang="zh-CN" sz="2000" b="1" dirty="0"/>
              <a:t>&gt;</a:t>
            </a:r>
          </a:p>
          <a:p>
            <a:pPr marL="457200" indent="-457200"/>
            <a:r>
              <a:rPr kumimoji="0" lang="en-US" altLang="zh-CN" sz="2000" b="1" dirty="0"/>
              <a:t>#include &lt;</a:t>
            </a:r>
            <a:r>
              <a:rPr kumimoji="0" lang="en-US" altLang="zh-CN" sz="2000" b="1" dirty="0" err="1"/>
              <a:t>conio.h</a:t>
            </a:r>
            <a:r>
              <a:rPr kumimoji="0" lang="en-US" altLang="zh-CN" sz="2000" b="1" dirty="0"/>
              <a:t>&gt;</a:t>
            </a:r>
          </a:p>
          <a:p>
            <a:pPr marL="457200" indent="-457200"/>
            <a:r>
              <a:rPr kumimoji="0" lang="en-US" altLang="zh-CN" sz="2000" b="1" dirty="0"/>
              <a:t>#include &lt;</a:t>
            </a:r>
            <a:r>
              <a:rPr kumimoji="0" lang="en-US" altLang="zh-CN" sz="2000" b="1" dirty="0" err="1"/>
              <a:t>string.h</a:t>
            </a:r>
            <a:r>
              <a:rPr kumimoji="0" lang="en-US" altLang="zh-CN" sz="2000" b="1" dirty="0"/>
              <a:t>&gt;</a:t>
            </a:r>
          </a:p>
          <a:p>
            <a:pPr marL="457200" indent="-457200"/>
            <a:endParaRPr kumimoji="0" lang="en-US" altLang="zh-CN" sz="2000" b="1" dirty="0"/>
          </a:p>
          <a:p>
            <a:pPr marL="457200" indent="-457200"/>
            <a:r>
              <a:rPr kumimoji="0" lang="en-US" altLang="zh-CN" sz="2000" b="1" dirty="0"/>
              <a:t>#define N  20   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数字字符的个数</a:t>
            </a:r>
          </a:p>
          <a:p>
            <a:pPr marL="457200" indent="-457200"/>
            <a:endParaRPr kumimoji="0" lang="zh-CN" altLang="en-US" sz="2000" b="1" dirty="0">
              <a:solidFill>
                <a:schemeClr val="accent2"/>
              </a:solidFill>
              <a:ea typeface="楷体_GB2312" pitchFamily="49" charset="-122"/>
            </a:endParaRPr>
          </a:p>
          <a:p>
            <a:pPr marL="457200" indent="-457200"/>
            <a:r>
              <a:rPr kumimoji="0" lang="en-US" altLang="zh-CN" sz="2000" b="1" dirty="0">
                <a:solidFill>
                  <a:srgbClr val="C01920"/>
                </a:solidFill>
              </a:rPr>
              <a:t>void beep ( );</a:t>
            </a:r>
          </a:p>
          <a:p>
            <a:pPr marL="457200" indent="-457200"/>
            <a:r>
              <a:rPr kumimoji="0" lang="en-US" altLang="zh-CN" sz="2000" b="1" dirty="0">
                <a:solidFill>
                  <a:srgbClr val="C01920"/>
                </a:solidFill>
              </a:rPr>
              <a:t>void </a:t>
            </a:r>
            <a:r>
              <a:rPr kumimoji="0" lang="en-US" altLang="zh-CN" sz="2000" b="1" dirty="0" err="1">
                <a:solidFill>
                  <a:srgbClr val="C01920"/>
                </a:solidFill>
              </a:rPr>
              <a:t>GetNumberStr</a:t>
            </a:r>
            <a:r>
              <a:rPr kumimoji="0" lang="en-US" altLang="zh-CN" sz="2000" b="1" dirty="0">
                <a:solidFill>
                  <a:srgbClr val="C01920"/>
                </a:solidFill>
              </a:rPr>
              <a:t> (char s[ ]);</a:t>
            </a:r>
          </a:p>
          <a:p>
            <a:pPr marL="457200" indent="-457200"/>
            <a:r>
              <a:rPr kumimoji="0" lang="en-US" altLang="zh-CN" sz="2000" b="1" dirty="0">
                <a:solidFill>
                  <a:srgbClr val="C01920"/>
                </a:solidFill>
              </a:rPr>
              <a:t>void </a:t>
            </a:r>
            <a:r>
              <a:rPr kumimoji="0" lang="en-US" altLang="zh-CN" sz="2000" b="1" dirty="0" err="1">
                <a:solidFill>
                  <a:srgbClr val="C01920"/>
                </a:solidFill>
              </a:rPr>
              <a:t>AddNumberStr</a:t>
            </a:r>
            <a:r>
              <a:rPr kumimoji="0" lang="en-US" altLang="zh-CN" sz="2000" b="1" dirty="0">
                <a:solidFill>
                  <a:srgbClr val="C01920"/>
                </a:solidFill>
              </a:rPr>
              <a:t> (char a[ ], char b[ ], char c[ ]);</a:t>
            </a:r>
          </a:p>
          <a:p>
            <a:pPr marL="457200" indent="-457200"/>
            <a:r>
              <a:rPr kumimoji="0" lang="en-US" altLang="zh-CN" sz="2000" b="1" dirty="0">
                <a:solidFill>
                  <a:srgbClr val="C01920"/>
                </a:solidFill>
              </a:rPr>
              <a:t>char </a:t>
            </a:r>
            <a:r>
              <a:rPr kumimoji="0" lang="en-US" altLang="zh-CN" sz="2000" b="1" dirty="0" err="1">
                <a:solidFill>
                  <a:srgbClr val="C01920"/>
                </a:solidFill>
              </a:rPr>
              <a:t>AddChar</a:t>
            </a:r>
            <a:r>
              <a:rPr kumimoji="0" lang="en-US" altLang="zh-CN" sz="2000" b="1" dirty="0">
                <a:solidFill>
                  <a:srgbClr val="C01920"/>
                </a:solidFill>
              </a:rPr>
              <a:t> (char ch1, char ch2);</a:t>
            </a:r>
          </a:p>
          <a:p>
            <a:pPr marL="457200" indent="-457200"/>
            <a:r>
              <a:rPr kumimoji="0" lang="en-US" altLang="zh-CN" sz="2000" b="1" dirty="0">
                <a:solidFill>
                  <a:srgbClr val="C01920"/>
                </a:solidFill>
              </a:rPr>
              <a:t>void </a:t>
            </a:r>
            <a:r>
              <a:rPr kumimoji="0" lang="en-US" altLang="zh-CN" sz="2000" b="1" dirty="0" err="1">
                <a:solidFill>
                  <a:srgbClr val="C01920"/>
                </a:solidFill>
              </a:rPr>
              <a:t>LeftTrim</a:t>
            </a:r>
            <a:r>
              <a:rPr kumimoji="0" lang="en-US" altLang="zh-CN" sz="2000" b="1" dirty="0">
                <a:solidFill>
                  <a:srgbClr val="C01920"/>
                </a:solidFill>
              </a:rPr>
              <a:t> (char </a:t>
            </a:r>
            <a:r>
              <a:rPr kumimoji="0" lang="en-US" altLang="zh-CN" sz="2000" b="1" dirty="0" err="1">
                <a:solidFill>
                  <a:srgbClr val="C01920"/>
                </a:solidFill>
              </a:rPr>
              <a:t>str</a:t>
            </a:r>
            <a:r>
              <a:rPr kumimoji="0" lang="en-US" altLang="zh-CN" sz="2000" b="1" dirty="0">
                <a:solidFill>
                  <a:srgbClr val="C01920"/>
                </a:solidFill>
              </a:rPr>
              <a:t>[ ]);</a:t>
            </a:r>
          </a:p>
          <a:p>
            <a:pPr marL="457200" indent="-457200"/>
            <a:endParaRPr kumimoji="0" lang="en-US" altLang="zh-CN" sz="2000" b="1" dirty="0">
              <a:solidFill>
                <a:srgbClr val="CC0099"/>
              </a:solidFill>
            </a:endParaRPr>
          </a:p>
          <a:p>
            <a:pPr marL="457200" indent="-457200"/>
            <a:r>
              <a:rPr kumimoji="0" lang="en-US" altLang="zh-CN" sz="2000" b="1" dirty="0" err="1"/>
              <a:t>int</a:t>
            </a:r>
            <a:r>
              <a:rPr kumimoji="0" lang="en-US" altLang="zh-CN" sz="2000" b="1" dirty="0"/>
              <a:t> tag = 0;   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进位标志，全局变量</a:t>
            </a:r>
          </a:p>
        </p:txBody>
      </p:sp>
      <p:sp>
        <p:nvSpPr>
          <p:cNvPr id="1118227" name="Rectangle 19" descr="信纸"/>
          <p:cNvSpPr>
            <a:spLocks noChangeArrowheads="1"/>
          </p:cNvSpPr>
          <p:nvPr/>
        </p:nvSpPr>
        <p:spPr bwMode="auto">
          <a:xfrm>
            <a:off x="6528543" y="1888371"/>
            <a:ext cx="5472113" cy="4708981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marL="457200" indent="-457200"/>
            <a:r>
              <a:rPr kumimoji="0" lang="en-US" altLang="zh-CN" sz="2000" b="1" dirty="0" err="1">
                <a:solidFill>
                  <a:srgbClr val="CC0000"/>
                </a:solidFill>
                <a:ea typeface="楷体_GB2312" pitchFamily="49" charset="-122"/>
              </a:rPr>
              <a:t>int</a:t>
            </a:r>
            <a:r>
              <a:rPr kumimoji="0"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 main ( )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{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char a[N+1] = {0}, b[N+1] = {0}, c[N+2];</a:t>
            </a:r>
          </a:p>
          <a:p>
            <a:pPr marL="457200" indent="-457200"/>
            <a:endParaRPr kumimoji="0" lang="en-US" altLang="zh-CN" sz="2000" b="1" dirty="0">
              <a:ea typeface="楷体_GB2312" pitchFamily="49" charset="-122"/>
            </a:endParaRP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</a:t>
            </a:r>
            <a:r>
              <a:rPr kumimoji="0" lang="en-US" altLang="zh-CN" sz="2000" b="1" dirty="0" err="1">
                <a:ea typeface="楷体_GB2312" pitchFamily="49" charset="-122"/>
              </a:rPr>
              <a:t>printf</a:t>
            </a:r>
            <a:r>
              <a:rPr kumimoji="0" lang="en-US" altLang="zh-CN" sz="2000" b="1" dirty="0">
                <a:ea typeface="楷体_GB2312" pitchFamily="49" charset="-122"/>
              </a:rPr>
              <a:t> ("a = ");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while (</a:t>
            </a:r>
            <a:r>
              <a:rPr kumimoji="0" lang="en-US" altLang="zh-CN" sz="2000" b="1" dirty="0" err="1">
                <a:ea typeface="楷体_GB2312" pitchFamily="49" charset="-122"/>
              </a:rPr>
              <a:t>strlen</a:t>
            </a:r>
            <a:r>
              <a:rPr kumimoji="0" lang="en-US" altLang="zh-CN" sz="2000" b="1" dirty="0">
                <a:ea typeface="楷体_GB2312" pitchFamily="49" charset="-122"/>
              </a:rPr>
              <a:t> (a) == 0)              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输入被加数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a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  </a:t>
            </a:r>
            <a:r>
              <a:rPr kumimoji="0" lang="en-US" altLang="zh-CN" sz="2000" b="1" dirty="0" err="1">
                <a:ea typeface="楷体_GB2312" pitchFamily="49" charset="-122"/>
              </a:rPr>
              <a:t>GetNumberStr</a:t>
            </a:r>
            <a:r>
              <a:rPr kumimoji="0" lang="en-US" altLang="zh-CN" sz="2000" b="1" dirty="0">
                <a:ea typeface="楷体_GB2312" pitchFamily="49" charset="-122"/>
              </a:rPr>
              <a:t> (a);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</a:t>
            </a:r>
            <a:r>
              <a:rPr kumimoji="0" lang="en-US" altLang="zh-CN" sz="2000" b="1" dirty="0" err="1">
                <a:ea typeface="楷体_GB2312" pitchFamily="49" charset="-122"/>
              </a:rPr>
              <a:t>printf</a:t>
            </a:r>
            <a:r>
              <a:rPr kumimoji="0" lang="en-US" altLang="zh-CN" sz="2000" b="1" dirty="0">
                <a:ea typeface="楷体_GB2312" pitchFamily="49" charset="-122"/>
              </a:rPr>
              <a:t> ("\</a:t>
            </a:r>
            <a:r>
              <a:rPr kumimoji="0" lang="en-US" altLang="zh-CN" sz="2000" b="1" dirty="0" err="1">
                <a:ea typeface="楷体_GB2312" pitchFamily="49" charset="-122"/>
              </a:rPr>
              <a:t>nb</a:t>
            </a:r>
            <a:r>
              <a:rPr kumimoji="0" lang="en-US" altLang="zh-CN" sz="2000" b="1" dirty="0">
                <a:ea typeface="楷体_GB2312" pitchFamily="49" charset="-122"/>
              </a:rPr>
              <a:t> = ");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while (</a:t>
            </a:r>
            <a:r>
              <a:rPr kumimoji="0" lang="en-US" altLang="zh-CN" sz="2000" b="1" dirty="0" err="1">
                <a:ea typeface="楷体_GB2312" pitchFamily="49" charset="-122"/>
              </a:rPr>
              <a:t>strlen</a:t>
            </a:r>
            <a:r>
              <a:rPr kumimoji="0" lang="en-US" altLang="zh-CN" sz="2000" b="1" dirty="0">
                <a:ea typeface="楷体_GB2312" pitchFamily="49" charset="-122"/>
              </a:rPr>
              <a:t> (b) == 0)              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输入加数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b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  </a:t>
            </a:r>
            <a:r>
              <a:rPr kumimoji="0" lang="en-US" altLang="zh-CN" sz="2000" b="1" dirty="0" err="1">
                <a:ea typeface="楷体_GB2312" pitchFamily="49" charset="-122"/>
              </a:rPr>
              <a:t>GetNumberStr</a:t>
            </a:r>
            <a:r>
              <a:rPr kumimoji="0" lang="en-US" altLang="zh-CN" sz="2000" b="1" dirty="0">
                <a:ea typeface="楷体_GB2312" pitchFamily="49" charset="-122"/>
              </a:rPr>
              <a:t> (b);</a:t>
            </a:r>
          </a:p>
          <a:p>
            <a:pPr marL="457200" indent="-457200"/>
            <a:endParaRPr kumimoji="0" lang="en-US" altLang="zh-CN" sz="2000" b="1" dirty="0">
              <a:ea typeface="楷体_GB2312" pitchFamily="49" charset="-122"/>
            </a:endParaRPr>
          </a:p>
          <a:p>
            <a:pPr marL="457200" indent="-457200"/>
            <a:r>
              <a:rPr kumimoji="0" lang="en-US" altLang="zh-CN" sz="2000" b="1" dirty="0">
                <a:solidFill>
                  <a:schemeClr val="accent1">
                    <a:lumMod val="50000"/>
                  </a:schemeClr>
                </a:solidFill>
                <a:ea typeface="楷体_GB2312" pitchFamily="49" charset="-122"/>
              </a:rPr>
              <a:t>   </a:t>
            </a:r>
            <a:r>
              <a:rPr kumimoji="0" lang="en-US" altLang="zh-CN" sz="2000" b="1" dirty="0" err="1">
                <a:solidFill>
                  <a:schemeClr val="accent1">
                    <a:lumMod val="50000"/>
                  </a:schemeClr>
                </a:solidFill>
                <a:ea typeface="楷体_GB2312" pitchFamily="49" charset="-122"/>
              </a:rPr>
              <a:t>AddNumberStr</a:t>
            </a:r>
            <a:r>
              <a:rPr kumimoji="0" lang="en-US" altLang="zh-CN" sz="2000" b="1" dirty="0">
                <a:solidFill>
                  <a:schemeClr val="accent1">
                    <a:lumMod val="50000"/>
                  </a:schemeClr>
                </a:solidFill>
                <a:ea typeface="楷体_GB2312" pitchFamily="49" charset="-122"/>
              </a:rPr>
              <a:t> (a, b, c);         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计算和数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c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</a:t>
            </a:r>
            <a:r>
              <a:rPr kumimoji="0" lang="en-US" altLang="zh-CN" sz="2000" b="1" dirty="0" err="1">
                <a:ea typeface="楷体_GB2312" pitchFamily="49" charset="-122"/>
              </a:rPr>
              <a:t>printf</a:t>
            </a:r>
            <a:r>
              <a:rPr kumimoji="0" lang="en-US" altLang="zh-CN" sz="2000" b="1" dirty="0">
                <a:ea typeface="楷体_GB2312" pitchFamily="49" charset="-122"/>
              </a:rPr>
              <a:t> ("\</a:t>
            </a:r>
            <a:r>
              <a:rPr kumimoji="0" lang="en-US" altLang="zh-CN" sz="2000" b="1" dirty="0" err="1">
                <a:ea typeface="楷体_GB2312" pitchFamily="49" charset="-122"/>
              </a:rPr>
              <a:t>na</a:t>
            </a:r>
            <a:r>
              <a:rPr kumimoji="0" lang="en-US" altLang="zh-CN" sz="2000" b="1" dirty="0">
                <a:ea typeface="楷体_GB2312" pitchFamily="49" charset="-122"/>
              </a:rPr>
              <a:t> + b = %s \n", c);  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显示计算结果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return 0;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}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ACFEAB7-43D5-4D5D-8C86-B5A2F895B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8.10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函数应用综合举例 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182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1182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8226" grpId="0" animBg="1" autoUpdateAnimBg="0"/>
      <p:bldP spid="1118227" grpId="0" animBg="1" autoUpdateAnimBg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4">
            <a:extLst>
              <a:ext uri="{FF2B5EF4-FFF2-40B4-BE49-F238E27FC236}">
                <a16:creationId xmlns:a16="http://schemas.microsoft.com/office/drawing/2014/main" id="{521D48E3-4F3E-4204-AC46-72AE0B1DB7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8.10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函数应用综合举例 </a:t>
            </a:r>
          </a:p>
        </p:txBody>
      </p:sp>
      <p:sp>
        <p:nvSpPr>
          <p:cNvPr id="1119237" name="Rectangle 5" descr="信纸"/>
          <p:cNvSpPr>
            <a:spLocks noChangeArrowheads="1"/>
          </p:cNvSpPr>
          <p:nvPr/>
        </p:nvSpPr>
        <p:spPr bwMode="auto">
          <a:xfrm>
            <a:off x="946875" y="161926"/>
            <a:ext cx="5329237" cy="6530975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marL="457200" indent="-457200"/>
            <a:r>
              <a:rPr kumimoji="0" lang="en-US" altLang="zh-CN" sz="2000" b="1" dirty="0">
                <a:solidFill>
                  <a:srgbClr val="CC0099"/>
                </a:solidFill>
                <a:latin typeface="+mn-lt"/>
                <a:ea typeface="楷体" pitchFamily="49" charset="-122"/>
              </a:rPr>
              <a:t>//</a:t>
            </a:r>
            <a:r>
              <a:rPr kumimoji="0" lang="zh-CN" altLang="en-US" sz="2000" b="1" dirty="0">
                <a:solidFill>
                  <a:srgbClr val="CC0099"/>
                </a:solidFill>
                <a:latin typeface="+mn-lt"/>
                <a:ea typeface="楷体" pitchFamily="49" charset="-122"/>
              </a:rPr>
              <a:t>读取数字字符串</a:t>
            </a:r>
          </a:p>
          <a:p>
            <a:pPr marL="457200" indent="-457200"/>
            <a:r>
              <a:rPr kumimoji="0"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void </a:t>
            </a:r>
            <a:r>
              <a:rPr kumimoji="0" lang="en-US" altLang="zh-CN" sz="2000" b="1" dirty="0" err="1">
                <a:solidFill>
                  <a:srgbClr val="CC0000"/>
                </a:solidFill>
                <a:ea typeface="楷体_GB2312" pitchFamily="49" charset="-122"/>
              </a:rPr>
              <a:t>GetNumberStr</a:t>
            </a:r>
            <a:r>
              <a:rPr kumimoji="0"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 (char s[ ])</a:t>
            </a:r>
            <a:endParaRPr kumimoji="0" lang="en-US" altLang="zh-CN" sz="2000" b="1" dirty="0">
              <a:solidFill>
                <a:schemeClr val="accent2"/>
              </a:solidFill>
              <a:ea typeface="楷体_GB2312" pitchFamily="49" charset="-122"/>
            </a:endParaRP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{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</a:t>
            </a:r>
            <a:r>
              <a:rPr kumimoji="0" lang="en-US" altLang="zh-CN" sz="2000" b="1" dirty="0" err="1">
                <a:ea typeface="楷体_GB2312" pitchFamily="49" charset="-122"/>
              </a:rPr>
              <a:t>int</a:t>
            </a:r>
            <a:r>
              <a:rPr kumimoji="0" lang="en-US" altLang="zh-CN" sz="2000" b="1" dirty="0">
                <a:ea typeface="楷体_GB2312" pitchFamily="49" charset="-122"/>
              </a:rPr>
              <a:t> </a:t>
            </a:r>
            <a:r>
              <a:rPr kumimoji="0" lang="en-US" altLang="zh-CN" sz="2000" b="1" dirty="0" err="1">
                <a:ea typeface="楷体_GB2312" pitchFamily="49" charset="-122"/>
              </a:rPr>
              <a:t>i</a:t>
            </a:r>
            <a:r>
              <a:rPr kumimoji="0" lang="en-US" altLang="zh-CN" sz="2000" b="1" dirty="0">
                <a:ea typeface="楷体_GB2312" pitchFamily="49" charset="-122"/>
              </a:rPr>
              <a:t> = 0;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char </a:t>
            </a:r>
            <a:r>
              <a:rPr kumimoji="0" lang="en-US" altLang="zh-CN" sz="2000" b="1" dirty="0" err="1">
                <a:ea typeface="楷体_GB2312" pitchFamily="49" charset="-122"/>
              </a:rPr>
              <a:t>ch</a:t>
            </a:r>
            <a:r>
              <a:rPr kumimoji="0" lang="en-US" altLang="zh-CN" sz="2000" b="1" dirty="0">
                <a:ea typeface="楷体_GB2312" pitchFamily="49" charset="-122"/>
              </a:rPr>
              <a:t>;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while ( 1 )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{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  </a:t>
            </a:r>
            <a:r>
              <a:rPr kumimoji="0" lang="en-US" altLang="zh-CN" sz="2000" b="1" dirty="0" err="1">
                <a:ea typeface="楷体_GB2312" pitchFamily="49" charset="-122"/>
              </a:rPr>
              <a:t>ch</a:t>
            </a:r>
            <a:r>
              <a:rPr kumimoji="0" lang="en-US" altLang="zh-CN" sz="2000" b="1" dirty="0">
                <a:ea typeface="楷体_GB2312" pitchFamily="49" charset="-122"/>
              </a:rPr>
              <a:t> = </a:t>
            </a:r>
            <a:r>
              <a:rPr kumimoji="0" lang="en-US" altLang="zh-CN" sz="2000" b="1" dirty="0" err="1">
                <a:ea typeface="楷体_GB2312" pitchFamily="49" charset="-122"/>
              </a:rPr>
              <a:t>getch</a:t>
            </a:r>
            <a:r>
              <a:rPr kumimoji="0" lang="en-US" altLang="zh-CN" sz="2000" b="1" dirty="0">
                <a:ea typeface="楷体_GB2312" pitchFamily="49" charset="-122"/>
              </a:rPr>
              <a:t> ( );  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读取输入的字符，不显示</a:t>
            </a:r>
          </a:p>
          <a:p>
            <a:pPr marL="457200" indent="-457200"/>
            <a:r>
              <a:rPr kumimoji="0" lang="zh-CN" altLang="en-US" sz="2000" b="1" dirty="0">
                <a:ea typeface="楷体_GB2312" pitchFamily="49" charset="-122"/>
              </a:rPr>
              <a:t>      </a:t>
            </a:r>
            <a:r>
              <a:rPr kumimoji="0" lang="en-US" altLang="zh-CN" sz="2000" b="1" dirty="0">
                <a:ea typeface="楷体_GB2312" pitchFamily="49" charset="-122"/>
              </a:rPr>
              <a:t>if (</a:t>
            </a:r>
            <a:r>
              <a:rPr kumimoji="0" lang="en-US" altLang="zh-CN" sz="2000" b="1" dirty="0" err="1">
                <a:ea typeface="楷体_GB2312" pitchFamily="49" charset="-122"/>
              </a:rPr>
              <a:t>ch</a:t>
            </a:r>
            <a:r>
              <a:rPr kumimoji="0" lang="en-US" altLang="zh-CN" sz="2000" b="1" dirty="0">
                <a:ea typeface="楷体_GB2312" pitchFamily="49" charset="-122"/>
              </a:rPr>
              <a:t> == '\r')    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回车符，退出</a:t>
            </a:r>
            <a:r>
              <a:rPr kumimoji="0" lang="zh-CN" altLang="en-US" sz="1800" b="1" dirty="0">
                <a:solidFill>
                  <a:schemeClr val="accent2"/>
                </a:solidFill>
                <a:latin typeface="+mn-lt"/>
                <a:ea typeface="楷体" pitchFamily="49" charset="-122"/>
              </a:rPr>
              <a:t>  </a:t>
            </a:r>
          </a:p>
          <a:p>
            <a:pPr marL="457200" indent="-457200"/>
            <a:r>
              <a:rPr kumimoji="0" lang="zh-CN" altLang="en-US" sz="2000" b="1" dirty="0">
                <a:ea typeface="楷体_GB2312" pitchFamily="49" charset="-122"/>
              </a:rPr>
              <a:t>          </a:t>
            </a:r>
            <a:r>
              <a:rPr kumimoji="0" lang="en-US" altLang="zh-CN" sz="2000" b="1" dirty="0">
                <a:ea typeface="楷体_GB2312" pitchFamily="49" charset="-122"/>
              </a:rPr>
              <a:t>break;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  if (</a:t>
            </a:r>
            <a:r>
              <a:rPr kumimoji="0" lang="en-US" altLang="zh-CN" sz="2000" b="1" dirty="0" err="1">
                <a:ea typeface="楷体_GB2312" pitchFamily="49" charset="-122"/>
              </a:rPr>
              <a:t>ch</a:t>
            </a:r>
            <a:r>
              <a:rPr kumimoji="0" lang="en-US" altLang="zh-CN" sz="2000" b="1" dirty="0">
                <a:ea typeface="楷体_GB2312" pitchFamily="49" charset="-122"/>
              </a:rPr>
              <a:t> == '\b')   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退格符</a:t>
            </a:r>
          </a:p>
          <a:p>
            <a:pPr marL="457200" indent="-457200"/>
            <a:r>
              <a:rPr kumimoji="0" lang="zh-CN" altLang="en-US" sz="2000" b="1" dirty="0">
                <a:ea typeface="楷体_GB2312" pitchFamily="49" charset="-122"/>
              </a:rPr>
              <a:t>      </a:t>
            </a:r>
            <a:r>
              <a:rPr kumimoji="0" lang="en-US" altLang="zh-CN" sz="2000" b="1" dirty="0">
                <a:ea typeface="楷体_GB2312" pitchFamily="49" charset="-122"/>
              </a:rPr>
              <a:t>{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    if (</a:t>
            </a:r>
            <a:r>
              <a:rPr kumimoji="0" lang="en-US" altLang="zh-CN" sz="2000" b="1" dirty="0" err="1">
                <a:ea typeface="楷体_GB2312" pitchFamily="49" charset="-122"/>
              </a:rPr>
              <a:t>i</a:t>
            </a:r>
            <a:r>
              <a:rPr kumimoji="0" lang="en-US" altLang="zh-CN" sz="2000" b="1" dirty="0">
                <a:ea typeface="楷体_GB2312" pitchFamily="49" charset="-122"/>
              </a:rPr>
              <a:t> &gt; 0)  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    {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      </a:t>
            </a:r>
            <a:r>
              <a:rPr kumimoji="0" lang="en-US" altLang="zh-CN" sz="2000" b="1" dirty="0" err="1">
                <a:ea typeface="楷体_GB2312" pitchFamily="49" charset="-122"/>
              </a:rPr>
              <a:t>printf</a:t>
            </a:r>
            <a:r>
              <a:rPr kumimoji="0" lang="en-US" altLang="zh-CN" sz="2000" b="1" dirty="0">
                <a:ea typeface="楷体_GB2312" pitchFamily="49" charset="-122"/>
              </a:rPr>
              <a:t> ("%c %c", </a:t>
            </a:r>
            <a:r>
              <a:rPr kumimoji="0" lang="en-US" altLang="zh-CN" sz="2000" b="1" dirty="0" err="1">
                <a:ea typeface="楷体_GB2312" pitchFamily="49" charset="-122"/>
              </a:rPr>
              <a:t>ch</a:t>
            </a:r>
            <a:r>
              <a:rPr kumimoji="0" lang="en-US" altLang="zh-CN" sz="2000" b="1" dirty="0">
                <a:ea typeface="楷体_GB2312" pitchFamily="49" charset="-122"/>
              </a:rPr>
              <a:t>, </a:t>
            </a:r>
            <a:r>
              <a:rPr kumimoji="0" lang="en-US" altLang="zh-CN" sz="2000" b="1" dirty="0" err="1">
                <a:ea typeface="楷体_GB2312" pitchFamily="49" charset="-122"/>
              </a:rPr>
              <a:t>ch</a:t>
            </a:r>
            <a:r>
              <a:rPr kumimoji="0" lang="en-US" altLang="zh-CN" sz="2000" b="1" dirty="0">
                <a:ea typeface="楷体_GB2312" pitchFamily="49" charset="-122"/>
              </a:rPr>
              <a:t>);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      </a:t>
            </a:r>
            <a:r>
              <a:rPr kumimoji="0" lang="en-US" altLang="zh-CN" sz="2000" b="1" dirty="0" err="1">
                <a:ea typeface="楷体_GB2312" pitchFamily="49" charset="-122"/>
              </a:rPr>
              <a:t>i</a:t>
            </a:r>
            <a:r>
              <a:rPr kumimoji="0" lang="en-US" altLang="zh-CN" sz="2000" b="1" dirty="0">
                <a:ea typeface="楷体_GB2312" pitchFamily="49" charset="-122"/>
              </a:rPr>
              <a:t>--;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    }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    else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       beep ( );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    continue;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  }  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//if</a:t>
            </a:r>
          </a:p>
        </p:txBody>
      </p:sp>
      <p:sp>
        <p:nvSpPr>
          <p:cNvPr id="1119239" name="Rectangle 7" descr="信纸"/>
          <p:cNvSpPr>
            <a:spLocks noChangeArrowheads="1"/>
          </p:cNvSpPr>
          <p:nvPr/>
        </p:nvSpPr>
        <p:spPr bwMode="auto">
          <a:xfrm>
            <a:off x="6863453" y="1918892"/>
            <a:ext cx="4537075" cy="4762500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marL="457200" indent="-457200"/>
            <a:r>
              <a:rPr kumimoji="0" lang="en-US" altLang="zh-CN" dirty="0"/>
              <a:t>     </a:t>
            </a:r>
            <a:r>
              <a:rPr kumimoji="0" lang="en-US" altLang="zh-CN" sz="2000" b="1" dirty="0">
                <a:ea typeface="楷体_GB2312" pitchFamily="49" charset="-122"/>
              </a:rPr>
              <a:t>if (</a:t>
            </a:r>
            <a:r>
              <a:rPr kumimoji="0" lang="en-US" altLang="zh-CN" sz="2000" b="1" dirty="0" err="1">
                <a:ea typeface="楷体_GB2312" pitchFamily="49" charset="-122"/>
              </a:rPr>
              <a:t>ch</a:t>
            </a:r>
            <a:r>
              <a:rPr kumimoji="0" lang="en-US" altLang="zh-CN" sz="2000" b="1" dirty="0">
                <a:ea typeface="楷体_GB2312" pitchFamily="49" charset="-122"/>
              </a:rPr>
              <a:t> &lt; '0' || </a:t>
            </a:r>
            <a:r>
              <a:rPr kumimoji="0" lang="en-US" altLang="zh-CN" sz="2000" b="1" dirty="0" err="1">
                <a:ea typeface="楷体_GB2312" pitchFamily="49" charset="-122"/>
              </a:rPr>
              <a:t>ch</a:t>
            </a:r>
            <a:r>
              <a:rPr kumimoji="0" lang="en-US" altLang="zh-CN" sz="2000" b="1" dirty="0">
                <a:ea typeface="楷体_GB2312" pitchFamily="49" charset="-122"/>
              </a:rPr>
              <a:t> &gt; '9')   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非数字字符</a:t>
            </a:r>
          </a:p>
          <a:p>
            <a:pPr marL="457200" indent="-457200"/>
            <a:r>
              <a:rPr kumimoji="0" lang="zh-CN" altLang="en-US" sz="2000" b="1" dirty="0">
                <a:ea typeface="楷体_GB2312" pitchFamily="49" charset="-122"/>
              </a:rPr>
              <a:t>      </a:t>
            </a:r>
            <a:r>
              <a:rPr kumimoji="0" lang="en-US" altLang="zh-CN" sz="2000" b="1" dirty="0">
                <a:ea typeface="楷体_GB2312" pitchFamily="49" charset="-122"/>
              </a:rPr>
              <a:t>{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    beep ( );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    continue;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  }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  if (</a:t>
            </a:r>
            <a:r>
              <a:rPr kumimoji="0" lang="en-US" altLang="zh-CN" sz="2000" b="1" dirty="0" err="1">
                <a:ea typeface="楷体_GB2312" pitchFamily="49" charset="-122"/>
              </a:rPr>
              <a:t>i</a:t>
            </a:r>
            <a:r>
              <a:rPr kumimoji="0" lang="en-US" altLang="zh-CN" sz="2000" b="1" dirty="0">
                <a:ea typeface="楷体_GB2312" pitchFamily="49" charset="-122"/>
              </a:rPr>
              <a:t> &lt; N)   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数字字符</a:t>
            </a:r>
          </a:p>
          <a:p>
            <a:pPr marL="457200" indent="-457200"/>
            <a:r>
              <a:rPr kumimoji="0" lang="zh-CN" altLang="en-US" sz="2000" b="1" dirty="0">
                <a:ea typeface="楷体_GB2312" pitchFamily="49" charset="-122"/>
              </a:rPr>
              <a:t>      </a:t>
            </a:r>
            <a:r>
              <a:rPr kumimoji="0" lang="en-US" altLang="zh-CN" sz="2000" b="1" dirty="0">
                <a:ea typeface="楷体_GB2312" pitchFamily="49" charset="-122"/>
              </a:rPr>
              <a:t>{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    </a:t>
            </a:r>
            <a:r>
              <a:rPr kumimoji="0" lang="en-US" altLang="zh-CN" sz="2000" b="1" dirty="0" err="1">
                <a:ea typeface="楷体_GB2312" pitchFamily="49" charset="-122"/>
              </a:rPr>
              <a:t>printf</a:t>
            </a:r>
            <a:r>
              <a:rPr kumimoji="0" lang="en-US" altLang="zh-CN" sz="2000" b="1" dirty="0">
                <a:ea typeface="楷体_GB2312" pitchFamily="49" charset="-122"/>
              </a:rPr>
              <a:t> ("%c", </a:t>
            </a:r>
            <a:r>
              <a:rPr kumimoji="0" lang="en-US" altLang="zh-CN" sz="2000" b="1" dirty="0" err="1">
                <a:ea typeface="楷体_GB2312" pitchFamily="49" charset="-122"/>
              </a:rPr>
              <a:t>ch</a:t>
            </a:r>
            <a:r>
              <a:rPr kumimoji="0" lang="en-US" altLang="zh-CN" sz="2000" b="1" dirty="0">
                <a:ea typeface="楷体_GB2312" pitchFamily="49" charset="-122"/>
              </a:rPr>
              <a:t>);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    s[</a:t>
            </a:r>
            <a:r>
              <a:rPr kumimoji="0" lang="en-US" altLang="zh-CN" sz="2000" b="1" dirty="0" err="1">
                <a:ea typeface="楷体_GB2312" pitchFamily="49" charset="-122"/>
              </a:rPr>
              <a:t>i</a:t>
            </a:r>
            <a:r>
              <a:rPr kumimoji="0" lang="en-US" altLang="zh-CN" sz="2000" b="1" dirty="0">
                <a:ea typeface="楷体_GB2312" pitchFamily="49" charset="-122"/>
              </a:rPr>
              <a:t>++] = </a:t>
            </a:r>
            <a:r>
              <a:rPr kumimoji="0" lang="en-US" altLang="zh-CN" sz="2000" b="1" dirty="0" err="1">
                <a:ea typeface="楷体_GB2312" pitchFamily="49" charset="-122"/>
              </a:rPr>
              <a:t>ch</a:t>
            </a:r>
            <a:r>
              <a:rPr kumimoji="0" lang="en-US" altLang="zh-CN" sz="2000" b="1" dirty="0">
                <a:ea typeface="楷体_GB2312" pitchFamily="49" charset="-122"/>
              </a:rPr>
              <a:t>;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  }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  else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    beep ( );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}  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//while (1)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s[</a:t>
            </a:r>
            <a:r>
              <a:rPr kumimoji="0" lang="en-US" altLang="zh-CN" sz="2000" b="1" dirty="0" err="1">
                <a:ea typeface="楷体_GB2312" pitchFamily="49" charset="-122"/>
              </a:rPr>
              <a:t>i</a:t>
            </a:r>
            <a:r>
              <a:rPr kumimoji="0" lang="en-US" altLang="zh-CN" sz="2000" b="1" dirty="0">
                <a:ea typeface="楷体_GB2312" pitchFamily="49" charset="-122"/>
              </a:rPr>
              <a:t>] = '\0';  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置字符串结束标志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}  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7AB98FA8-61CC-4555-881B-B26EDB50FDFE}"/>
              </a:ext>
            </a:extLst>
          </p:cNvPr>
          <p:cNvGrpSpPr/>
          <p:nvPr/>
        </p:nvGrpSpPr>
        <p:grpSpPr>
          <a:xfrm>
            <a:off x="7588290" y="1135900"/>
            <a:ext cx="2900198" cy="1250676"/>
            <a:chOff x="7588290" y="1135900"/>
            <a:chExt cx="2900198" cy="1250676"/>
          </a:xfrm>
        </p:grpSpPr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3277D138-52DA-4B0D-BBB0-7E517B6441EE}"/>
                </a:ext>
              </a:extLst>
            </p:cNvPr>
            <p:cNvSpPr/>
            <p:nvPr/>
          </p:nvSpPr>
          <p:spPr bwMode="auto">
            <a:xfrm>
              <a:off x="7588290" y="1966527"/>
              <a:ext cx="1911964" cy="420049"/>
            </a:xfrm>
            <a:prstGeom prst="ellipse">
              <a:avLst/>
            </a:prstGeom>
            <a:noFill/>
            <a:ln w="254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rgbClr val="00206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" name="标注: 线形 2">
              <a:extLst>
                <a:ext uri="{FF2B5EF4-FFF2-40B4-BE49-F238E27FC236}">
                  <a16:creationId xmlns:a16="http://schemas.microsoft.com/office/drawing/2014/main" id="{469F4ED5-B01B-4CC2-BE95-D07FFC69651C}"/>
                </a:ext>
              </a:extLst>
            </p:cNvPr>
            <p:cNvSpPr/>
            <p:nvPr/>
          </p:nvSpPr>
          <p:spPr bwMode="auto">
            <a:xfrm>
              <a:off x="8832304" y="1135900"/>
              <a:ext cx="1656184" cy="553751"/>
            </a:xfrm>
            <a:prstGeom prst="borderCallout1">
              <a:avLst>
                <a:gd name="adj1" fmla="val 18750"/>
                <a:gd name="adj2" fmla="val -8333"/>
                <a:gd name="adj3" fmla="val 141218"/>
                <a:gd name="adj4" fmla="val -34308"/>
              </a:avLst>
            </a:prstGeom>
            <a:gradFill flip="none" rotWithShape="1">
              <a:gsLst>
                <a:gs pos="0">
                  <a:srgbClr val="BEDFC4"/>
                </a:gs>
                <a:gs pos="100000">
                  <a:schemeClr val="bg1">
                    <a:lumMod val="95000"/>
                  </a:schemeClr>
                </a:gs>
              </a:gsLst>
              <a:lin ang="10800000" scaled="1"/>
              <a:tileRect/>
            </a:gradFill>
            <a:ln w="254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altLang="zh-CN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itchFamily="49" charset="-122"/>
                  <a:sym typeface="Wingdings" pitchFamily="2" charset="2"/>
                </a:rPr>
                <a:t>!</a:t>
              </a:r>
              <a:r>
                <a:rPr lang="en-US" altLang="zh-CN" b="1" dirty="0" err="1">
                  <a:solidFill>
                    <a:srgbClr val="00206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itchFamily="49" charset="-122"/>
                  <a:sym typeface="Wingdings" pitchFamily="2" charset="2"/>
                </a:rPr>
                <a:t>isdigit</a:t>
              </a:r>
              <a:r>
                <a:rPr lang="en-US" altLang="zh-CN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itchFamily="49" charset="-122"/>
                  <a:sym typeface="Wingdings" pitchFamily="2" charset="2"/>
                </a:rPr>
                <a:t>(</a:t>
              </a:r>
              <a:r>
                <a:rPr lang="en-US" altLang="zh-CN" b="1" dirty="0" err="1">
                  <a:solidFill>
                    <a:srgbClr val="00206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itchFamily="49" charset="-122"/>
                  <a:sym typeface="Wingdings" pitchFamily="2" charset="2"/>
                </a:rPr>
                <a:t>ch</a:t>
              </a:r>
              <a:r>
                <a:rPr lang="en-US" altLang="zh-CN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itchFamily="49" charset="-122"/>
                  <a:sym typeface="Wingdings" pitchFamily="2" charset="2"/>
                </a:rPr>
                <a:t>)</a:t>
              </a: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2215A40D-55F4-44A8-9D2B-C741501E534E}"/>
              </a:ext>
            </a:extLst>
          </p:cNvPr>
          <p:cNvSpPr txBox="1"/>
          <p:nvPr/>
        </p:nvSpPr>
        <p:spPr>
          <a:xfrm>
            <a:off x="2329271" y="5073124"/>
            <a:ext cx="716694" cy="400110"/>
          </a:xfrm>
          <a:prstGeom prst="rect">
            <a:avLst/>
          </a:prstGeom>
          <a:gradFill>
            <a:gsLst>
              <a:gs pos="0">
                <a:srgbClr val="BEDFC4"/>
              </a:gs>
              <a:gs pos="100000">
                <a:schemeClr val="bg1">
                  <a:lumMod val="95000"/>
                </a:schemeClr>
              </a:gs>
            </a:gsLst>
          </a:gra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C01920"/>
                </a:solidFill>
              </a:rPr>
              <a:t>452_</a:t>
            </a:r>
            <a:endParaRPr lang="zh-CN" altLang="en-US" sz="2000" b="1" dirty="0">
              <a:solidFill>
                <a:srgbClr val="C0192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77C96AB-1410-477B-AA71-0FC54E9135C9}"/>
              </a:ext>
            </a:extLst>
          </p:cNvPr>
          <p:cNvSpPr txBox="1"/>
          <p:nvPr/>
        </p:nvSpPr>
        <p:spPr>
          <a:xfrm>
            <a:off x="3307566" y="5073124"/>
            <a:ext cx="716400" cy="400110"/>
          </a:xfrm>
          <a:prstGeom prst="rect">
            <a:avLst/>
          </a:prstGeom>
          <a:gradFill>
            <a:gsLst>
              <a:gs pos="0">
                <a:srgbClr val="BEDFC4"/>
              </a:gs>
              <a:gs pos="100000">
                <a:schemeClr val="bg1">
                  <a:lumMod val="95000"/>
                </a:schemeClr>
              </a:gs>
            </a:gsLst>
          </a:gra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C01920"/>
                </a:solidFill>
              </a:rPr>
              <a:t>45</a:t>
            </a:r>
            <a:r>
              <a:rPr lang="en-US" altLang="zh-CN" sz="2000" b="1" u="sng" dirty="0">
                <a:solidFill>
                  <a:srgbClr val="C01920"/>
                </a:solidFill>
              </a:rPr>
              <a:t>2</a:t>
            </a:r>
            <a:endParaRPr lang="zh-CN" altLang="en-US" sz="2000" b="1" u="sng" dirty="0">
              <a:solidFill>
                <a:srgbClr val="C01920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9AA7BE1-8F4C-4DAA-BC27-E681298655FF}"/>
              </a:ext>
            </a:extLst>
          </p:cNvPr>
          <p:cNvSpPr txBox="1"/>
          <p:nvPr/>
        </p:nvSpPr>
        <p:spPr>
          <a:xfrm>
            <a:off x="4307819" y="5075245"/>
            <a:ext cx="716694" cy="400110"/>
          </a:xfrm>
          <a:prstGeom prst="rect">
            <a:avLst/>
          </a:prstGeom>
          <a:gradFill>
            <a:gsLst>
              <a:gs pos="0">
                <a:srgbClr val="BEDFC4"/>
              </a:gs>
              <a:gs pos="100000">
                <a:schemeClr val="bg1">
                  <a:lumMod val="95000"/>
                </a:schemeClr>
              </a:gs>
            </a:gsLst>
          </a:gra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C01920"/>
                </a:solidFill>
              </a:rPr>
              <a:t>45 _</a:t>
            </a:r>
            <a:r>
              <a:rPr lang="en-US" altLang="zh-CN" sz="2000" b="1" u="sng" dirty="0">
                <a:solidFill>
                  <a:srgbClr val="C01920"/>
                </a:solidFill>
              </a:rPr>
              <a:t> </a:t>
            </a:r>
            <a:endParaRPr lang="zh-CN" altLang="en-US" sz="2000" b="1" u="sng" dirty="0">
              <a:solidFill>
                <a:srgbClr val="C01920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BCC1CD6-9326-41C2-AD3B-C37D5A49C7D9}"/>
              </a:ext>
            </a:extLst>
          </p:cNvPr>
          <p:cNvSpPr txBox="1"/>
          <p:nvPr/>
        </p:nvSpPr>
        <p:spPr>
          <a:xfrm>
            <a:off x="5307298" y="5085184"/>
            <a:ext cx="716694" cy="400110"/>
          </a:xfrm>
          <a:prstGeom prst="rect">
            <a:avLst/>
          </a:prstGeom>
          <a:gradFill>
            <a:gsLst>
              <a:gs pos="0">
                <a:srgbClr val="BEDFC4"/>
              </a:gs>
              <a:gs pos="100000">
                <a:schemeClr val="bg1">
                  <a:lumMod val="95000"/>
                </a:schemeClr>
              </a:gs>
            </a:gsLst>
          </a:gra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C01920"/>
                </a:solidFill>
              </a:rPr>
              <a:t>45_</a:t>
            </a:r>
            <a:r>
              <a:rPr lang="en-US" altLang="zh-CN" sz="2000" b="1" u="sng" dirty="0">
                <a:solidFill>
                  <a:srgbClr val="C01920"/>
                </a:solidFill>
              </a:rPr>
              <a:t> </a:t>
            </a:r>
            <a:endParaRPr lang="zh-CN" altLang="en-US" sz="2000" b="1" u="sng" dirty="0">
              <a:solidFill>
                <a:srgbClr val="C01920"/>
              </a:solidFill>
            </a:endParaRP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8FEA05F0-96B4-4371-8729-7C9C49B413E1}"/>
              </a:ext>
            </a:extLst>
          </p:cNvPr>
          <p:cNvCxnSpPr>
            <a:stCxn id="5" idx="3"/>
            <a:endCxn id="11" idx="1"/>
          </p:cNvCxnSpPr>
          <p:nvPr/>
        </p:nvCxnSpPr>
        <p:spPr bwMode="auto">
          <a:xfrm>
            <a:off x="3045965" y="5273179"/>
            <a:ext cx="261601" cy="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rgbClr val="002060"/>
            </a:solidFill>
            <a:prstDash val="solid"/>
            <a:round/>
            <a:headEnd type="none" w="med" len="med"/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DD467DEF-8E84-41E9-B276-6C34E554E710}"/>
              </a:ext>
            </a:extLst>
          </p:cNvPr>
          <p:cNvCxnSpPr/>
          <p:nvPr/>
        </p:nvCxnSpPr>
        <p:spPr bwMode="auto">
          <a:xfrm>
            <a:off x="4044138" y="5291269"/>
            <a:ext cx="261601" cy="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rgbClr val="002060"/>
            </a:solidFill>
            <a:prstDash val="solid"/>
            <a:round/>
            <a:headEnd type="none" w="med" len="med"/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D9B9D88C-0D93-4626-8C80-598E14EC6805}"/>
              </a:ext>
            </a:extLst>
          </p:cNvPr>
          <p:cNvCxnSpPr/>
          <p:nvPr/>
        </p:nvCxnSpPr>
        <p:spPr bwMode="auto">
          <a:xfrm>
            <a:off x="5035758" y="5291269"/>
            <a:ext cx="261601" cy="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rgbClr val="002060"/>
            </a:solidFill>
            <a:prstDash val="solid"/>
            <a:round/>
            <a:headEnd type="none" w="med" len="med"/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D39B780A-A46C-4F67-9946-D2A8152A3BF4}"/>
              </a:ext>
            </a:extLst>
          </p:cNvPr>
          <p:cNvSpPr/>
          <p:nvPr/>
        </p:nvSpPr>
        <p:spPr bwMode="auto">
          <a:xfrm>
            <a:off x="1609191" y="4469364"/>
            <a:ext cx="2952328" cy="363913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192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1192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6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4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9237" grpId="0" animBg="1" autoUpdateAnimBg="0"/>
      <p:bldP spid="1119239" grpId="0" animBg="1" autoUpdateAnimBg="0"/>
      <p:bldP spid="5" grpId="0" animBg="1"/>
      <p:bldP spid="11" grpId="0" animBg="1"/>
      <p:bldP spid="12" grpId="0" animBg="1"/>
      <p:bldP spid="13" grpId="0" animBg="1"/>
      <p:bldP spid="8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>
            <a:extLst>
              <a:ext uri="{FF2B5EF4-FFF2-40B4-BE49-F238E27FC236}">
                <a16:creationId xmlns:a16="http://schemas.microsoft.com/office/drawing/2014/main" id="{59598DA9-2C9F-443D-9B98-0AD7EDBC52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8.10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函数应用综合举例 </a:t>
            </a:r>
          </a:p>
        </p:txBody>
      </p:sp>
      <p:sp>
        <p:nvSpPr>
          <p:cNvPr id="1120261" name="Rectangle 5" descr="信纸"/>
          <p:cNvSpPr>
            <a:spLocks noChangeArrowheads="1"/>
          </p:cNvSpPr>
          <p:nvPr/>
        </p:nvSpPr>
        <p:spPr bwMode="auto">
          <a:xfrm>
            <a:off x="4583498" y="404814"/>
            <a:ext cx="6912918" cy="6226175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08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kumimoji="0" lang="en-US" altLang="zh-CN" sz="2000" b="1" dirty="0">
                <a:solidFill>
                  <a:srgbClr val="CC0099"/>
                </a:solidFill>
                <a:latin typeface="+mn-lt"/>
                <a:ea typeface="楷体" pitchFamily="49" charset="-122"/>
              </a:rPr>
              <a:t>//</a:t>
            </a:r>
            <a:r>
              <a:rPr kumimoji="0" lang="zh-CN" altLang="en-US" sz="2000" b="1" dirty="0">
                <a:solidFill>
                  <a:srgbClr val="CC0099"/>
                </a:solidFill>
                <a:latin typeface="+mn-lt"/>
                <a:ea typeface="楷体" pitchFamily="49" charset="-122"/>
              </a:rPr>
              <a:t>计算两个数字字符串之和，放在</a:t>
            </a:r>
            <a:r>
              <a:rPr kumimoji="0" lang="en-US" altLang="zh-CN" sz="2000" b="1" dirty="0">
                <a:solidFill>
                  <a:srgbClr val="CC0099"/>
                </a:solidFill>
                <a:latin typeface="+mn-lt"/>
                <a:ea typeface="楷体" pitchFamily="49" charset="-122"/>
              </a:rPr>
              <a:t>c</a:t>
            </a:r>
            <a:r>
              <a:rPr kumimoji="0" lang="zh-CN" altLang="en-US" sz="2000" b="1" dirty="0">
                <a:solidFill>
                  <a:srgbClr val="CC0099"/>
                </a:solidFill>
                <a:latin typeface="+mn-lt"/>
                <a:ea typeface="楷体" pitchFamily="49" charset="-122"/>
              </a:rPr>
              <a:t>中</a:t>
            </a:r>
          </a:p>
          <a:p>
            <a:pPr marL="457200" indent="-457200"/>
            <a:r>
              <a:rPr kumimoji="0"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void </a:t>
            </a:r>
            <a:r>
              <a:rPr kumimoji="0" lang="en-US" altLang="zh-CN" sz="2000" b="1" dirty="0" err="1">
                <a:solidFill>
                  <a:srgbClr val="CC0000"/>
                </a:solidFill>
                <a:ea typeface="楷体_GB2312" pitchFamily="49" charset="-122"/>
              </a:rPr>
              <a:t>AddNumberStr</a:t>
            </a:r>
            <a:r>
              <a:rPr kumimoji="0"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 (char a[ ], char b[ ], char c[ ])</a:t>
            </a:r>
            <a:r>
              <a:rPr kumimoji="0" lang="en-US" altLang="zh-CN" sz="2000" b="1" dirty="0">
                <a:ea typeface="楷体_GB2312" pitchFamily="49" charset="-122"/>
              </a:rPr>
              <a:t> 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{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</a:t>
            </a:r>
            <a:r>
              <a:rPr kumimoji="0" lang="en-US" altLang="zh-CN" sz="2000" b="1" dirty="0" err="1">
                <a:ea typeface="楷体_GB2312" pitchFamily="49" charset="-122"/>
              </a:rPr>
              <a:t>int</a:t>
            </a:r>
            <a:r>
              <a:rPr kumimoji="0" lang="en-US" altLang="zh-CN" sz="2000" b="1" dirty="0">
                <a:ea typeface="楷体_GB2312" pitchFamily="49" charset="-122"/>
              </a:rPr>
              <a:t> </a:t>
            </a:r>
            <a:r>
              <a:rPr kumimoji="0" lang="en-US" altLang="zh-CN" sz="2000" b="1" dirty="0" err="1">
                <a:ea typeface="楷体_GB2312" pitchFamily="49" charset="-122"/>
              </a:rPr>
              <a:t>i,j,k</a:t>
            </a:r>
            <a:r>
              <a:rPr kumimoji="0" lang="en-US" altLang="zh-CN" sz="2000" b="1" dirty="0">
                <a:ea typeface="楷体_GB2312" pitchFamily="49" charset="-122"/>
              </a:rPr>
              <a:t>;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</a:t>
            </a:r>
            <a:r>
              <a:rPr kumimoji="0" lang="en-US" altLang="zh-CN" sz="2000" b="1" dirty="0" err="1">
                <a:ea typeface="楷体_GB2312" pitchFamily="49" charset="-122"/>
              </a:rPr>
              <a:t>memset</a:t>
            </a:r>
            <a:r>
              <a:rPr kumimoji="0" lang="en-US" altLang="zh-CN" sz="2000" b="1" dirty="0">
                <a:ea typeface="楷体_GB2312" pitchFamily="49" charset="-122"/>
              </a:rPr>
              <a:t> (c, ' ', N+2);  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将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c</a:t>
            </a:r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全部清空</a:t>
            </a:r>
          </a:p>
          <a:p>
            <a:pPr marL="457200" indent="-457200"/>
            <a:r>
              <a:rPr kumimoji="0" lang="zh-CN" altLang="en-US" sz="2000" b="1" dirty="0">
                <a:ea typeface="楷体_GB2312" pitchFamily="49" charset="-122"/>
              </a:rPr>
              <a:t>    </a:t>
            </a:r>
            <a:r>
              <a:rPr kumimoji="0" lang="en-US" altLang="zh-CN" sz="2000" b="1" dirty="0" err="1">
                <a:ea typeface="楷体_GB2312" pitchFamily="49" charset="-122"/>
              </a:rPr>
              <a:t>i</a:t>
            </a:r>
            <a:r>
              <a:rPr kumimoji="0" lang="en-US" altLang="zh-CN" sz="2000" b="1" dirty="0">
                <a:ea typeface="楷体_GB2312" pitchFamily="49" charset="-122"/>
              </a:rPr>
              <a:t> = </a:t>
            </a:r>
            <a:r>
              <a:rPr kumimoji="0" lang="en-US" altLang="zh-CN" sz="2000" b="1" dirty="0" err="1">
                <a:ea typeface="楷体_GB2312" pitchFamily="49" charset="-122"/>
              </a:rPr>
              <a:t>strlen</a:t>
            </a:r>
            <a:r>
              <a:rPr kumimoji="0" lang="en-US" altLang="zh-CN" sz="2000" b="1" dirty="0">
                <a:ea typeface="楷体_GB2312" pitchFamily="49" charset="-122"/>
              </a:rPr>
              <a:t> (a) - 1;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j = </a:t>
            </a:r>
            <a:r>
              <a:rPr kumimoji="0" lang="en-US" altLang="zh-CN" sz="2000" b="1" dirty="0" err="1">
                <a:ea typeface="楷体_GB2312" pitchFamily="49" charset="-122"/>
              </a:rPr>
              <a:t>strlen</a:t>
            </a:r>
            <a:r>
              <a:rPr kumimoji="0" lang="en-US" altLang="zh-CN" sz="2000" b="1" dirty="0">
                <a:ea typeface="楷体_GB2312" pitchFamily="49" charset="-122"/>
              </a:rPr>
              <a:t> (b) - 1;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k = N;</a:t>
            </a:r>
          </a:p>
          <a:p>
            <a:pPr marL="457200" indent="-457200"/>
            <a:r>
              <a:rPr kumimoji="0" lang="en-US" altLang="zh-CN" sz="2000" b="1" dirty="0">
                <a:solidFill>
                  <a:schemeClr val="accent2"/>
                </a:solidFill>
                <a:ea typeface="楷体_GB2312" pitchFamily="49" charset="-122"/>
              </a:rPr>
              <a:t>   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将被加数与加数按照从右向左的顺序相加</a:t>
            </a:r>
          </a:p>
          <a:p>
            <a:pPr marL="457200" indent="-457200"/>
            <a:r>
              <a:rPr kumimoji="0" lang="zh-CN" altLang="en-US" sz="2000" b="1" dirty="0">
                <a:ea typeface="楷体_GB2312" pitchFamily="49" charset="-122"/>
              </a:rPr>
              <a:t>    </a:t>
            </a:r>
            <a:r>
              <a:rPr kumimoji="0" lang="en-US" altLang="zh-CN" sz="2000" b="1" dirty="0">
                <a:ea typeface="楷体_GB2312" pitchFamily="49" charset="-122"/>
              </a:rPr>
              <a:t>while (</a:t>
            </a:r>
            <a:r>
              <a:rPr kumimoji="0" lang="en-US" altLang="zh-CN" sz="2000" b="1" dirty="0" err="1">
                <a:ea typeface="楷体_GB2312" pitchFamily="49" charset="-122"/>
              </a:rPr>
              <a:t>i</a:t>
            </a:r>
            <a:r>
              <a:rPr kumimoji="0" lang="en-US" altLang="zh-CN" sz="2000" b="1" dirty="0">
                <a:ea typeface="楷体_GB2312" pitchFamily="49" charset="-122"/>
              </a:rPr>
              <a:t> &gt;= 0 &amp;&amp; j &gt;= 0) 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   c[k--] = </a:t>
            </a:r>
            <a:r>
              <a:rPr kumimoji="0" lang="en-US" altLang="zh-CN" sz="2000" b="1" dirty="0" err="1">
                <a:ea typeface="楷体_GB2312" pitchFamily="49" charset="-122"/>
              </a:rPr>
              <a:t>AddChar</a:t>
            </a:r>
            <a:r>
              <a:rPr kumimoji="0" lang="en-US" altLang="zh-CN" sz="2000" b="1" dirty="0">
                <a:ea typeface="楷体_GB2312" pitchFamily="49" charset="-122"/>
              </a:rPr>
              <a:t> (a[</a:t>
            </a:r>
            <a:r>
              <a:rPr kumimoji="0" lang="en-US" altLang="zh-CN" sz="2000" b="1" dirty="0" err="1">
                <a:ea typeface="楷体_GB2312" pitchFamily="49" charset="-122"/>
              </a:rPr>
              <a:t>i</a:t>
            </a:r>
            <a:r>
              <a:rPr kumimoji="0" lang="en-US" altLang="zh-CN" sz="2000" b="1" dirty="0">
                <a:ea typeface="楷体_GB2312" pitchFamily="49" charset="-122"/>
              </a:rPr>
              <a:t>--], b[j--]);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while (</a:t>
            </a:r>
            <a:r>
              <a:rPr kumimoji="0" lang="en-US" altLang="zh-CN" sz="2000" b="1" dirty="0" err="1">
                <a:ea typeface="楷体_GB2312" pitchFamily="49" charset="-122"/>
              </a:rPr>
              <a:t>i</a:t>
            </a:r>
            <a:r>
              <a:rPr kumimoji="0" lang="en-US" altLang="zh-CN" sz="2000" b="1" dirty="0">
                <a:ea typeface="楷体_GB2312" pitchFamily="49" charset="-122"/>
              </a:rPr>
              <a:t> &gt;= 0)   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被加数没有加完</a:t>
            </a:r>
          </a:p>
          <a:p>
            <a:pPr marL="457200" indent="-457200"/>
            <a:r>
              <a:rPr kumimoji="0" lang="zh-CN" altLang="en-US" sz="2000" b="1" dirty="0">
                <a:ea typeface="楷体_GB2312" pitchFamily="49" charset="-122"/>
              </a:rPr>
              <a:t>       </a:t>
            </a:r>
            <a:r>
              <a:rPr kumimoji="0" lang="en-US" altLang="zh-CN" sz="2000" b="1" dirty="0">
                <a:ea typeface="楷体_GB2312" pitchFamily="49" charset="-122"/>
              </a:rPr>
              <a:t>c[k--] = </a:t>
            </a:r>
            <a:r>
              <a:rPr kumimoji="0" lang="en-US" altLang="zh-CN" sz="2000" b="1" dirty="0" err="1">
                <a:ea typeface="楷体_GB2312" pitchFamily="49" charset="-122"/>
              </a:rPr>
              <a:t>AddChar</a:t>
            </a:r>
            <a:r>
              <a:rPr kumimoji="0" lang="en-US" altLang="zh-CN" sz="2000" b="1" dirty="0">
                <a:ea typeface="楷体_GB2312" pitchFamily="49" charset="-122"/>
              </a:rPr>
              <a:t> (a[</a:t>
            </a:r>
            <a:r>
              <a:rPr kumimoji="0" lang="en-US" altLang="zh-CN" sz="2000" b="1" dirty="0" err="1">
                <a:ea typeface="楷体_GB2312" pitchFamily="49" charset="-122"/>
              </a:rPr>
              <a:t>i</a:t>
            </a:r>
            <a:r>
              <a:rPr kumimoji="0" lang="en-US" altLang="zh-CN" sz="2000" b="1" dirty="0">
                <a:ea typeface="楷体_GB2312" pitchFamily="49" charset="-122"/>
              </a:rPr>
              <a:t>--], '0');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while (j &gt;= 0)   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加数没有加完</a:t>
            </a:r>
          </a:p>
          <a:p>
            <a:pPr marL="457200" indent="-457200"/>
            <a:r>
              <a:rPr kumimoji="0" lang="zh-CN" altLang="en-US" sz="2000" b="1" dirty="0">
                <a:ea typeface="楷体_GB2312" pitchFamily="49" charset="-122"/>
              </a:rPr>
              <a:t>      </a:t>
            </a:r>
            <a:r>
              <a:rPr kumimoji="0" lang="en-US" altLang="zh-CN" sz="2000" b="1" dirty="0">
                <a:ea typeface="楷体_GB2312" pitchFamily="49" charset="-122"/>
              </a:rPr>
              <a:t>c[k--] = </a:t>
            </a:r>
            <a:r>
              <a:rPr kumimoji="0" lang="en-US" altLang="zh-CN" sz="2000" b="1" dirty="0" err="1">
                <a:ea typeface="楷体_GB2312" pitchFamily="49" charset="-122"/>
              </a:rPr>
              <a:t>AddChar</a:t>
            </a:r>
            <a:r>
              <a:rPr kumimoji="0" lang="en-US" altLang="zh-CN" sz="2000" b="1" dirty="0">
                <a:ea typeface="楷体_GB2312" pitchFamily="49" charset="-122"/>
              </a:rPr>
              <a:t> (b[j--], '0');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if (tag == 1)    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最后有进位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,</a:t>
            </a:r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将其放在和数的最高位</a:t>
            </a:r>
          </a:p>
          <a:p>
            <a:pPr marL="457200" indent="-457200"/>
            <a:r>
              <a:rPr kumimoji="0" lang="zh-CN" altLang="en-US" sz="2000" b="1" dirty="0">
                <a:ea typeface="楷体_GB2312" pitchFamily="49" charset="-122"/>
              </a:rPr>
              <a:t>       </a:t>
            </a:r>
            <a:r>
              <a:rPr kumimoji="0" lang="en-US" altLang="zh-CN" sz="2000" b="1" dirty="0">
                <a:ea typeface="楷体_GB2312" pitchFamily="49" charset="-122"/>
              </a:rPr>
              <a:t>c[k] = '1';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c[N+1] = '\0';    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置字符串结束标志</a:t>
            </a:r>
          </a:p>
          <a:p>
            <a:pPr marL="457200" indent="-457200"/>
            <a:r>
              <a:rPr kumimoji="0" lang="zh-CN" altLang="en-US" sz="2000" b="1" dirty="0">
                <a:ea typeface="楷体_GB2312" pitchFamily="49" charset="-122"/>
              </a:rPr>
              <a:t>    </a:t>
            </a:r>
            <a:r>
              <a:rPr kumimoji="0" lang="en-US" altLang="zh-CN" sz="2000" b="1" dirty="0" err="1">
                <a:ea typeface="楷体_GB2312" pitchFamily="49" charset="-122"/>
              </a:rPr>
              <a:t>LeftTrim</a:t>
            </a:r>
            <a:r>
              <a:rPr kumimoji="0" lang="en-US" altLang="zh-CN" sz="2000" b="1" dirty="0">
                <a:ea typeface="楷体_GB2312" pitchFamily="49" charset="-122"/>
              </a:rPr>
              <a:t> (c);    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去掉字符串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c</a:t>
            </a:r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左边的空格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}</a:t>
            </a:r>
          </a:p>
        </p:txBody>
      </p:sp>
      <p:sp>
        <p:nvSpPr>
          <p:cNvPr id="1120263" name="Rectangle 7" descr="信纸"/>
          <p:cNvSpPr>
            <a:spLocks noChangeArrowheads="1"/>
          </p:cNvSpPr>
          <p:nvPr/>
        </p:nvSpPr>
        <p:spPr bwMode="auto">
          <a:xfrm>
            <a:off x="943867" y="1124744"/>
            <a:ext cx="2952254" cy="1654175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0800000" scaled="1"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kumimoji="0" lang="en-US" altLang="zh-CN" sz="2000" b="1" dirty="0">
                <a:solidFill>
                  <a:srgbClr val="CC0099"/>
                </a:solidFill>
                <a:latin typeface="+mn-lt"/>
                <a:ea typeface="楷体" pitchFamily="49" charset="-122"/>
              </a:rPr>
              <a:t>//</a:t>
            </a:r>
            <a:r>
              <a:rPr kumimoji="0" lang="zh-CN" altLang="en-US" sz="2000" b="1" dirty="0">
                <a:solidFill>
                  <a:srgbClr val="CC0099"/>
                </a:solidFill>
                <a:latin typeface="+mn-lt"/>
                <a:ea typeface="楷体" pitchFamily="49" charset="-122"/>
              </a:rPr>
              <a:t>响铃</a:t>
            </a:r>
          </a:p>
          <a:p>
            <a:pPr marL="457200" indent="-457200"/>
            <a:r>
              <a:rPr kumimoji="0"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void beep ( )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{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</a:t>
            </a:r>
            <a:r>
              <a:rPr kumimoji="0" lang="en-US" altLang="zh-CN" sz="2000" b="1" dirty="0" err="1">
                <a:ea typeface="楷体_GB2312" pitchFamily="49" charset="-122"/>
              </a:rPr>
              <a:t>printf</a:t>
            </a:r>
            <a:r>
              <a:rPr kumimoji="0" lang="en-US" altLang="zh-CN" sz="2000" b="1" dirty="0">
                <a:ea typeface="楷体_GB2312" pitchFamily="49" charset="-122"/>
              </a:rPr>
              <a:t>("\07");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}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202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1202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0261" grpId="0" animBg="1" autoUpdateAnimBg="0"/>
      <p:bldP spid="1120263" grpId="0" animBg="1" autoUpdateAnimBg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">
            <a:extLst>
              <a:ext uri="{FF2B5EF4-FFF2-40B4-BE49-F238E27FC236}">
                <a16:creationId xmlns:a16="http://schemas.microsoft.com/office/drawing/2014/main" id="{77926A37-E0F7-4D21-8D31-493468072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8.10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函数应用综合举例 </a:t>
            </a:r>
          </a:p>
        </p:txBody>
      </p:sp>
      <p:sp>
        <p:nvSpPr>
          <p:cNvPr id="1121285" name="Rectangle 5" descr="信纸"/>
          <p:cNvSpPr>
            <a:spLocks noChangeArrowheads="1"/>
          </p:cNvSpPr>
          <p:nvPr/>
        </p:nvSpPr>
        <p:spPr bwMode="auto">
          <a:xfrm>
            <a:off x="715321" y="819993"/>
            <a:ext cx="6192837" cy="5921375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0800000" scaled="1"/>
          </a:gradFill>
          <a:ln w="38100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marL="457200" indent="-457200"/>
            <a:r>
              <a:rPr kumimoji="0" lang="en-US" altLang="zh-CN" sz="2000" b="1" dirty="0">
                <a:solidFill>
                  <a:srgbClr val="CC0099"/>
                </a:solidFill>
                <a:latin typeface="+mn-lt"/>
                <a:ea typeface="楷体" pitchFamily="49" charset="-122"/>
              </a:rPr>
              <a:t>//</a:t>
            </a:r>
            <a:r>
              <a:rPr kumimoji="0" lang="zh-CN" altLang="en-US" sz="2000" b="1" dirty="0">
                <a:solidFill>
                  <a:srgbClr val="CC0099"/>
                </a:solidFill>
                <a:latin typeface="+mn-lt"/>
                <a:ea typeface="楷体" pitchFamily="49" charset="-122"/>
              </a:rPr>
              <a:t>计算两个数字字符之和</a:t>
            </a:r>
          </a:p>
          <a:p>
            <a:pPr marL="457200" indent="-457200"/>
            <a:r>
              <a:rPr kumimoji="0"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char </a:t>
            </a:r>
            <a:r>
              <a:rPr kumimoji="0" lang="en-US" altLang="zh-CN" sz="2000" b="1" dirty="0" err="1">
                <a:solidFill>
                  <a:srgbClr val="CC0000"/>
                </a:solidFill>
                <a:ea typeface="楷体_GB2312" pitchFamily="49" charset="-122"/>
              </a:rPr>
              <a:t>AddChar</a:t>
            </a:r>
            <a:r>
              <a:rPr kumimoji="0"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 (char ch1, char ch2) 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{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char </a:t>
            </a:r>
            <a:r>
              <a:rPr kumimoji="0" lang="en-US" altLang="zh-CN" sz="2000" b="1" dirty="0" err="1">
                <a:ea typeface="楷体_GB2312" pitchFamily="49" charset="-122"/>
              </a:rPr>
              <a:t>ch</a:t>
            </a:r>
            <a:r>
              <a:rPr kumimoji="0" lang="en-US" altLang="zh-CN" sz="2000" b="1" dirty="0">
                <a:ea typeface="楷体_GB2312" pitchFamily="49" charset="-122"/>
              </a:rPr>
              <a:t>;</a:t>
            </a:r>
          </a:p>
          <a:p>
            <a:pPr marL="457200" indent="-457200"/>
            <a:r>
              <a:rPr kumimoji="0" lang="en-US" altLang="zh-CN" sz="2000" b="1" dirty="0">
                <a:solidFill>
                  <a:schemeClr val="accent2"/>
                </a:solidFill>
                <a:ea typeface="楷体_GB2312" pitchFamily="49" charset="-122"/>
              </a:rPr>
              <a:t>    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两数字字符所对应的数字与进位相加</a:t>
            </a:r>
          </a:p>
          <a:p>
            <a:pPr marL="457200" indent="-457200"/>
            <a:r>
              <a:rPr kumimoji="0" lang="zh-CN" altLang="en-US" sz="2000" b="1" dirty="0">
                <a:ea typeface="楷体_GB2312" pitchFamily="49" charset="-122"/>
              </a:rPr>
              <a:t>    </a:t>
            </a:r>
            <a:r>
              <a:rPr kumimoji="0" lang="en-US" altLang="zh-CN" sz="2000" b="1" dirty="0" err="1">
                <a:ea typeface="楷体_GB2312" pitchFamily="49" charset="-122"/>
              </a:rPr>
              <a:t>ch</a:t>
            </a:r>
            <a:r>
              <a:rPr kumimoji="0" lang="en-US" altLang="zh-CN" sz="2000" b="1" dirty="0">
                <a:ea typeface="楷体_GB2312" pitchFamily="49" charset="-122"/>
              </a:rPr>
              <a:t> = (ch1-0x30 + ch2-0x30) + tag; 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if (</a:t>
            </a:r>
            <a:r>
              <a:rPr kumimoji="0" lang="en-US" altLang="zh-CN" sz="2000" b="1" dirty="0" err="1">
                <a:ea typeface="楷体_GB2312" pitchFamily="49" charset="-122"/>
              </a:rPr>
              <a:t>ch</a:t>
            </a:r>
            <a:r>
              <a:rPr kumimoji="0" lang="en-US" altLang="zh-CN" sz="2000" b="1" dirty="0">
                <a:ea typeface="楷体_GB2312" pitchFamily="49" charset="-122"/>
              </a:rPr>
              <a:t> &gt;= 10)  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结果大于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10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{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  tag = 1;   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有进位</a:t>
            </a:r>
          </a:p>
          <a:p>
            <a:pPr marL="457200" indent="-457200"/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      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将个位数减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10</a:t>
            </a:r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后加上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0x30</a:t>
            </a:r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转换成其数字字符</a:t>
            </a:r>
          </a:p>
          <a:p>
            <a:pPr marL="457200" indent="-457200"/>
            <a:r>
              <a:rPr kumimoji="0" lang="zh-CN" altLang="en-US" sz="2000" b="1" dirty="0">
                <a:ea typeface="楷体_GB2312" pitchFamily="49" charset="-122"/>
              </a:rPr>
              <a:t>      </a:t>
            </a:r>
            <a:r>
              <a:rPr kumimoji="0" lang="en-US" altLang="zh-CN" sz="2000" b="1" dirty="0">
                <a:ea typeface="楷体_GB2312" pitchFamily="49" charset="-122"/>
              </a:rPr>
              <a:t>return (</a:t>
            </a:r>
            <a:r>
              <a:rPr kumimoji="0" lang="en-US" altLang="zh-CN" sz="2000" b="1" dirty="0" err="1">
                <a:ea typeface="楷体_GB2312" pitchFamily="49" charset="-122"/>
              </a:rPr>
              <a:t>ch</a:t>
            </a:r>
            <a:r>
              <a:rPr kumimoji="0" lang="en-US" altLang="zh-CN" sz="2000" b="1" dirty="0">
                <a:ea typeface="楷体_GB2312" pitchFamily="49" charset="-122"/>
              </a:rPr>
              <a:t> - 10 + 0x30); 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}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else   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结果小于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10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{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  tag = 0;           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没进位</a:t>
            </a:r>
          </a:p>
          <a:p>
            <a:pPr marL="457200" indent="-457200"/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      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将和数加上</a:t>
            </a:r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0x30</a:t>
            </a:r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转换成其数字字符</a:t>
            </a:r>
          </a:p>
          <a:p>
            <a:pPr marL="457200" indent="-457200"/>
            <a:r>
              <a:rPr kumimoji="0" lang="zh-CN" altLang="en-US" sz="2000" b="1" dirty="0">
                <a:ea typeface="楷体_GB2312" pitchFamily="49" charset="-122"/>
              </a:rPr>
              <a:t>      </a:t>
            </a:r>
            <a:r>
              <a:rPr kumimoji="0" lang="en-US" altLang="zh-CN" sz="2000" b="1" dirty="0">
                <a:ea typeface="楷体_GB2312" pitchFamily="49" charset="-122"/>
              </a:rPr>
              <a:t>return (</a:t>
            </a:r>
            <a:r>
              <a:rPr kumimoji="0" lang="en-US" altLang="zh-CN" sz="2000" b="1" dirty="0" err="1">
                <a:ea typeface="楷体_GB2312" pitchFamily="49" charset="-122"/>
              </a:rPr>
              <a:t>ch</a:t>
            </a:r>
            <a:r>
              <a:rPr kumimoji="0" lang="en-US" altLang="zh-CN" sz="2000" b="1" dirty="0">
                <a:ea typeface="楷体_GB2312" pitchFamily="49" charset="-122"/>
              </a:rPr>
              <a:t> + 0x30); 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}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}</a:t>
            </a:r>
          </a:p>
        </p:txBody>
      </p:sp>
      <p:sp>
        <p:nvSpPr>
          <p:cNvPr id="1121287" name="Rectangle 7" descr="信纸"/>
          <p:cNvSpPr>
            <a:spLocks noChangeArrowheads="1"/>
          </p:cNvSpPr>
          <p:nvPr/>
        </p:nvSpPr>
        <p:spPr bwMode="auto">
          <a:xfrm>
            <a:off x="7249641" y="1868537"/>
            <a:ext cx="4176464" cy="2568575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08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kumimoji="0" lang="en-US" altLang="zh-CN" sz="2000" b="1" dirty="0">
                <a:solidFill>
                  <a:srgbClr val="CC0099"/>
                </a:solidFill>
                <a:latin typeface="+mn-lt"/>
                <a:ea typeface="楷体" pitchFamily="49" charset="-122"/>
              </a:rPr>
              <a:t>//</a:t>
            </a:r>
            <a:r>
              <a:rPr kumimoji="0" lang="zh-CN" altLang="en-US" sz="2000" b="1" dirty="0">
                <a:solidFill>
                  <a:srgbClr val="CC0099"/>
                </a:solidFill>
                <a:latin typeface="+mn-lt"/>
                <a:ea typeface="楷体" pitchFamily="49" charset="-122"/>
              </a:rPr>
              <a:t>去掉字符串左边的空格</a:t>
            </a:r>
          </a:p>
          <a:p>
            <a:pPr marL="457200" indent="-457200"/>
            <a:r>
              <a:rPr kumimoji="0"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void </a:t>
            </a:r>
            <a:r>
              <a:rPr kumimoji="0" lang="en-US" altLang="zh-CN" sz="2000" b="1" dirty="0" err="1">
                <a:solidFill>
                  <a:srgbClr val="CC0000"/>
                </a:solidFill>
                <a:ea typeface="楷体_GB2312" pitchFamily="49" charset="-122"/>
              </a:rPr>
              <a:t>LeftTrim</a:t>
            </a:r>
            <a:r>
              <a:rPr kumimoji="0"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(char </a:t>
            </a:r>
            <a:r>
              <a:rPr kumimoji="0" lang="en-US" altLang="zh-CN" sz="2000" b="1" dirty="0" err="1">
                <a:solidFill>
                  <a:srgbClr val="CC0000"/>
                </a:solidFill>
                <a:ea typeface="楷体_GB2312" pitchFamily="49" charset="-122"/>
              </a:rPr>
              <a:t>str</a:t>
            </a:r>
            <a:r>
              <a:rPr kumimoji="0"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[ ])</a:t>
            </a:r>
            <a:r>
              <a:rPr kumimoji="0" lang="en-US" altLang="zh-CN" sz="2000" b="1" dirty="0">
                <a:ea typeface="楷体_GB2312" pitchFamily="49" charset="-122"/>
              </a:rPr>
              <a:t> 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{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</a:t>
            </a:r>
            <a:r>
              <a:rPr kumimoji="0" lang="en-US" altLang="zh-CN" sz="2000" b="1" dirty="0" err="1">
                <a:ea typeface="楷体_GB2312" pitchFamily="49" charset="-122"/>
              </a:rPr>
              <a:t>int</a:t>
            </a:r>
            <a:r>
              <a:rPr kumimoji="0" lang="en-US" altLang="zh-CN" sz="2000" b="1" dirty="0">
                <a:ea typeface="楷体_GB2312" pitchFamily="49" charset="-122"/>
              </a:rPr>
              <a:t> </a:t>
            </a:r>
            <a:r>
              <a:rPr kumimoji="0" lang="en-US" altLang="zh-CN" sz="2000" b="1" dirty="0" err="1">
                <a:ea typeface="楷体_GB2312" pitchFamily="49" charset="-122"/>
              </a:rPr>
              <a:t>i</a:t>
            </a:r>
            <a:r>
              <a:rPr kumimoji="0" lang="en-US" altLang="zh-CN" sz="2000" b="1" dirty="0">
                <a:ea typeface="楷体_GB2312" pitchFamily="49" charset="-122"/>
              </a:rPr>
              <a:t>;</a:t>
            </a:r>
          </a:p>
          <a:p>
            <a:pPr marL="457200" indent="-457200"/>
            <a:r>
              <a:rPr kumimoji="0"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    //</a:t>
            </a:r>
            <a:r>
              <a:rPr kumimoji="0"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查找第一个非空格字符的位置</a:t>
            </a:r>
          </a:p>
          <a:p>
            <a:pPr marL="457200" indent="-457200"/>
            <a:r>
              <a:rPr kumimoji="0" lang="zh-CN" altLang="en-US" sz="2000" b="1" dirty="0">
                <a:ea typeface="楷体_GB2312" pitchFamily="49" charset="-122"/>
              </a:rPr>
              <a:t>    </a:t>
            </a:r>
            <a:r>
              <a:rPr kumimoji="0" lang="en-US" altLang="zh-CN" sz="2000" b="1" dirty="0">
                <a:ea typeface="楷体_GB2312" pitchFamily="49" charset="-122"/>
              </a:rPr>
              <a:t>for(</a:t>
            </a:r>
            <a:r>
              <a:rPr kumimoji="0" lang="en-US" altLang="zh-CN" sz="2000" b="1" dirty="0" err="1">
                <a:ea typeface="楷体_GB2312" pitchFamily="49" charset="-122"/>
              </a:rPr>
              <a:t>i</a:t>
            </a:r>
            <a:r>
              <a:rPr kumimoji="0" lang="en-US" altLang="zh-CN" sz="2000" b="1" dirty="0">
                <a:ea typeface="楷体_GB2312" pitchFamily="49" charset="-122"/>
              </a:rPr>
              <a:t> = 0; </a:t>
            </a:r>
            <a:r>
              <a:rPr kumimoji="0" lang="en-US" altLang="zh-CN" sz="2000" b="1" dirty="0" err="1">
                <a:ea typeface="楷体_GB2312" pitchFamily="49" charset="-122"/>
              </a:rPr>
              <a:t>str</a:t>
            </a:r>
            <a:r>
              <a:rPr kumimoji="0" lang="en-US" altLang="zh-CN" sz="2000" b="1" dirty="0">
                <a:ea typeface="楷体_GB2312" pitchFamily="49" charset="-122"/>
              </a:rPr>
              <a:t>[</a:t>
            </a:r>
            <a:r>
              <a:rPr kumimoji="0" lang="en-US" altLang="zh-CN" sz="2000" b="1" dirty="0" err="1">
                <a:ea typeface="楷体_GB2312" pitchFamily="49" charset="-122"/>
              </a:rPr>
              <a:t>i</a:t>
            </a:r>
            <a:r>
              <a:rPr kumimoji="0" lang="en-US" altLang="zh-CN" sz="2000" b="1" dirty="0">
                <a:ea typeface="楷体_GB2312" pitchFamily="49" charset="-122"/>
              </a:rPr>
              <a:t>] = = ' '; </a:t>
            </a:r>
            <a:r>
              <a:rPr kumimoji="0" lang="en-US" altLang="zh-CN" sz="2000" b="1" dirty="0" err="1">
                <a:ea typeface="楷体_GB2312" pitchFamily="49" charset="-122"/>
              </a:rPr>
              <a:t>i</a:t>
            </a:r>
            <a:r>
              <a:rPr kumimoji="0" lang="en-US" altLang="zh-CN" sz="2000" b="1" dirty="0">
                <a:ea typeface="楷体_GB2312" pitchFamily="49" charset="-122"/>
              </a:rPr>
              <a:t>++) ;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  </a:t>
            </a:r>
            <a:r>
              <a:rPr kumimoji="0" lang="en-US" altLang="zh-CN" sz="2000" b="1" dirty="0" err="1">
                <a:ea typeface="楷体_GB2312" pitchFamily="49" charset="-122"/>
              </a:rPr>
              <a:t>strcpy</a:t>
            </a:r>
            <a:r>
              <a:rPr kumimoji="0" lang="en-US" altLang="zh-CN" sz="2000" b="1" dirty="0">
                <a:ea typeface="楷体_GB2312" pitchFamily="49" charset="-122"/>
              </a:rPr>
              <a:t> (</a:t>
            </a:r>
            <a:r>
              <a:rPr kumimoji="0" lang="en-US" altLang="zh-CN" sz="2000" b="1" dirty="0" err="1">
                <a:ea typeface="楷体_GB2312" pitchFamily="49" charset="-122"/>
              </a:rPr>
              <a:t>str</a:t>
            </a:r>
            <a:r>
              <a:rPr kumimoji="0" lang="en-US" altLang="zh-CN" sz="2000" b="1" dirty="0">
                <a:ea typeface="楷体_GB2312" pitchFamily="49" charset="-122"/>
              </a:rPr>
              <a:t>, </a:t>
            </a:r>
            <a:r>
              <a:rPr kumimoji="0" lang="en-US" altLang="zh-CN" sz="2000" b="1" dirty="0" err="1">
                <a:ea typeface="楷体_GB2312" pitchFamily="49" charset="-122"/>
              </a:rPr>
              <a:t>str+i</a:t>
            </a:r>
            <a:r>
              <a:rPr kumimoji="0" lang="en-US" altLang="zh-CN" sz="2000" b="1" dirty="0">
                <a:ea typeface="楷体_GB2312" pitchFamily="49" charset="-122"/>
              </a:rPr>
              <a:t>);</a:t>
            </a:r>
          </a:p>
          <a:p>
            <a:pPr marL="457200" indent="-457200"/>
            <a:r>
              <a:rPr kumimoji="0" lang="en-US" altLang="zh-CN" sz="2000" b="1" dirty="0">
                <a:ea typeface="楷体_GB2312" pitchFamily="49" charset="-122"/>
              </a:rPr>
              <a:t>  }</a:t>
            </a:r>
          </a:p>
        </p:txBody>
      </p:sp>
      <p:sp>
        <p:nvSpPr>
          <p:cNvPr id="1121288" name="Text Box 8"/>
          <p:cNvSpPr txBox="1">
            <a:spLocks noChangeArrowheads="1"/>
          </p:cNvSpPr>
          <p:nvPr/>
        </p:nvSpPr>
        <p:spPr bwMode="auto">
          <a:xfrm>
            <a:off x="7248128" y="4869160"/>
            <a:ext cx="4177977" cy="1409700"/>
          </a:xfrm>
          <a:prstGeom prst="rect">
            <a:avLst/>
          </a:prstGeom>
          <a:solidFill>
            <a:srgbClr val="FFFFFF"/>
          </a:solidFill>
          <a:ln w="38100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隶书" pitchFamily="49" charset="-122"/>
                <a:ea typeface="隶书" pitchFamily="49" charset="-122"/>
              </a:rPr>
              <a:t>运行结果：</a:t>
            </a:r>
          </a:p>
          <a:p>
            <a:r>
              <a:rPr lang="en-US" altLang="zh-CN" sz="2000" b="1" dirty="0"/>
              <a:t>a = 12345678901234567890</a:t>
            </a:r>
            <a:r>
              <a:rPr lang="en-US" altLang="en-US" sz="2000" b="1" dirty="0">
                <a:latin typeface="+mj-ea"/>
                <a:ea typeface="+mj-ea"/>
              </a:rPr>
              <a:t>↙</a:t>
            </a:r>
            <a:r>
              <a:rPr lang="en-US" altLang="zh-CN" sz="2000" b="1" dirty="0"/>
              <a:t>        </a:t>
            </a:r>
          </a:p>
          <a:p>
            <a:r>
              <a:rPr lang="en-US" altLang="zh-CN" sz="2000" b="1" dirty="0"/>
              <a:t>b = 99999999992222222222</a:t>
            </a:r>
            <a:r>
              <a:rPr lang="en-US" altLang="zh-CN" sz="2000" b="1" dirty="0">
                <a:latin typeface="+mn-ea"/>
                <a:ea typeface="+mn-ea"/>
              </a:rPr>
              <a:t>↙</a:t>
            </a:r>
          </a:p>
          <a:p>
            <a:r>
              <a:rPr lang="en-US" altLang="zh-CN" sz="2000" b="1" dirty="0">
                <a:solidFill>
                  <a:srgbClr val="002060"/>
                </a:solidFill>
              </a:rPr>
              <a:t>a + b = 112345678893456790112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212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1212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1212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1285" grpId="0" animBg="1" autoUpdateAnimBg="0"/>
      <p:bldP spid="1121287" grpId="0" animBg="1" autoUpdateAnimBg="0"/>
      <p:bldP spid="1121288" grpId="0" animBg="1" autoUpdateAnimBg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192" name="Rectangle 8"/>
          <p:cNvSpPr>
            <a:spLocks noChangeArrowheads="1"/>
          </p:cNvSpPr>
          <p:nvPr/>
        </p:nvSpPr>
        <p:spPr bwMode="auto">
          <a:xfrm>
            <a:off x="479376" y="908720"/>
            <a:ext cx="11089232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【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2】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通过键盘输入一段英文（包含空格、逗号、句号及英文字母），然后分离出单词，并以每个单词出现的次数从高到低输出单词及其次数，次数相同的单词以其对应字符串大小升序输出。 </a:t>
            </a:r>
          </a:p>
        </p:txBody>
      </p:sp>
      <p:sp>
        <p:nvSpPr>
          <p:cNvPr id="1117222" name="Rectangle 38"/>
          <p:cNvSpPr>
            <a:spLocks noChangeArrowheads="1"/>
          </p:cNvSpPr>
          <p:nvPr/>
        </p:nvSpPr>
        <p:spPr bwMode="auto">
          <a:xfrm>
            <a:off x="839416" y="2287900"/>
            <a:ext cx="10801200" cy="4093428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r>
              <a:rPr lang="zh-CN" altLang="en-US" sz="2000" b="1" u="sng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设计思想：</a:t>
            </a:r>
            <a:r>
              <a:rPr lang="zh-CN" altLang="en-US" sz="2000" b="1" dirty="0">
                <a:ln w="1905"/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endParaRPr lang="en-US" altLang="zh-CN" sz="2000" b="1" dirty="0">
              <a:ln w="1905"/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sz="2000" b="1" dirty="0">
              <a:ln w="1905"/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000" b="1" dirty="0">
                <a:ln w="1905"/>
                <a:solidFill>
                  <a:schemeClr val="tx1"/>
                </a:solidFill>
                <a:ea typeface="楷体" pitchFamily="49" charset="-122"/>
              </a:rPr>
              <a:t>根据题目要求，主要完成三项功能：</a:t>
            </a:r>
          </a:p>
          <a:p>
            <a:r>
              <a:rPr lang="en-US" altLang="zh-CN" sz="2000" b="1" dirty="0">
                <a:ln w="1905"/>
                <a:solidFill>
                  <a:schemeClr val="tx1"/>
                </a:solidFill>
                <a:ea typeface="楷体" pitchFamily="49" charset="-122"/>
              </a:rPr>
              <a:t>         </a:t>
            </a:r>
            <a:r>
              <a:rPr lang="en-US" altLang="zh-CN" sz="2000" b="1" dirty="0">
                <a:ln w="1905"/>
                <a:solidFill>
                  <a:srgbClr val="C00000"/>
                </a:solidFill>
                <a:ea typeface="楷体" pitchFamily="49" charset="-122"/>
              </a:rPr>
              <a:t>1</a:t>
            </a:r>
            <a:r>
              <a:rPr lang="zh-CN" altLang="en-US" sz="2000" b="1" dirty="0">
                <a:ln w="1905"/>
                <a:solidFill>
                  <a:srgbClr val="C00000"/>
                </a:solidFill>
                <a:ea typeface="楷体" pitchFamily="49" charset="-122"/>
              </a:rPr>
              <a:t>、通过键盘输入     一段英文</a:t>
            </a:r>
            <a:r>
              <a:rPr lang="zh-CN" altLang="en-US" sz="2000" b="1" dirty="0">
                <a:ln w="1905"/>
                <a:solidFill>
                  <a:schemeClr val="tx1"/>
                </a:solidFill>
                <a:ea typeface="楷体" pitchFamily="49" charset="-122"/>
              </a:rPr>
              <a:t>。因为输入的短文中只能包含空格、逗号、句号及英文字母，所以不能简单地用库函数</a:t>
            </a:r>
            <a:r>
              <a:rPr lang="en-US" sz="2000" b="1" dirty="0">
                <a:ln w="1905"/>
                <a:solidFill>
                  <a:schemeClr val="tx1"/>
                </a:solidFill>
                <a:ea typeface="楷体" pitchFamily="49" charset="-122"/>
              </a:rPr>
              <a:t>gets</a:t>
            </a:r>
            <a:r>
              <a:rPr lang="zh-CN" altLang="en-US" sz="2000" b="1" dirty="0">
                <a:ln w="1905"/>
                <a:solidFill>
                  <a:schemeClr val="tx1"/>
                </a:solidFill>
                <a:ea typeface="楷体" pitchFamily="49" charset="-122"/>
              </a:rPr>
              <a:t>或</a:t>
            </a:r>
            <a:r>
              <a:rPr lang="en-US" sz="2000" b="1" dirty="0" err="1">
                <a:ln w="1905"/>
                <a:solidFill>
                  <a:schemeClr val="tx1"/>
                </a:solidFill>
                <a:ea typeface="楷体" pitchFamily="49" charset="-122"/>
              </a:rPr>
              <a:t>scanf</a:t>
            </a:r>
            <a:r>
              <a:rPr lang="zh-CN" altLang="en-US" sz="2000" b="1" dirty="0">
                <a:ln w="1905"/>
                <a:solidFill>
                  <a:schemeClr val="tx1"/>
                </a:solidFill>
                <a:ea typeface="楷体" pitchFamily="49" charset="-122"/>
              </a:rPr>
              <a:t>来完成。参照例</a:t>
            </a:r>
            <a:r>
              <a:rPr lang="en-US" sz="2000" b="1" dirty="0">
                <a:ln w="1905"/>
                <a:solidFill>
                  <a:schemeClr val="tx1"/>
                </a:solidFill>
                <a:ea typeface="楷体" pitchFamily="49" charset="-122"/>
              </a:rPr>
              <a:t>1</a:t>
            </a:r>
            <a:r>
              <a:rPr lang="zh-CN" altLang="en-US" sz="2000" b="1" dirty="0">
                <a:ln w="1905"/>
                <a:solidFill>
                  <a:schemeClr val="tx1"/>
                </a:solidFill>
                <a:ea typeface="楷体" pitchFamily="49" charset="-122"/>
              </a:rPr>
              <a:t>中用于读取数字字符串的自定义函数</a:t>
            </a:r>
            <a:r>
              <a:rPr lang="en-US" sz="2000" b="1" dirty="0" err="1">
                <a:ln w="1905"/>
                <a:solidFill>
                  <a:schemeClr val="tx1"/>
                </a:solidFill>
                <a:ea typeface="楷体" pitchFamily="49" charset="-122"/>
              </a:rPr>
              <a:t>GetNumberStr</a:t>
            </a:r>
            <a:r>
              <a:rPr lang="zh-CN" altLang="en-US" sz="2000" b="1" dirty="0">
                <a:ln w="1905"/>
                <a:solidFill>
                  <a:schemeClr val="tx1"/>
                </a:solidFill>
                <a:ea typeface="楷体" pitchFamily="49" charset="-122"/>
              </a:rPr>
              <a:t>的方法，可以自定义一个读取英文短文的函数</a:t>
            </a:r>
            <a:r>
              <a:rPr lang="en-US" sz="2000" b="1" dirty="0" err="1">
                <a:ln w="1905"/>
                <a:solidFill>
                  <a:srgbClr val="C00000"/>
                </a:solidFill>
                <a:ea typeface="楷体" pitchFamily="49" charset="-122"/>
              </a:rPr>
              <a:t>GetPassage</a:t>
            </a:r>
            <a:r>
              <a:rPr lang="zh-CN" altLang="en-US" sz="2000" b="1" dirty="0">
                <a:ln w="1905"/>
                <a:solidFill>
                  <a:schemeClr val="tx1"/>
                </a:solidFill>
                <a:ea typeface="楷体" pitchFamily="49" charset="-122"/>
              </a:rPr>
              <a:t>，读取的英文短文存储在事先定义的字符数组中。</a:t>
            </a:r>
            <a:r>
              <a:rPr lang="en-US" sz="2000" b="1" dirty="0">
                <a:ln w="1905"/>
                <a:solidFill>
                  <a:schemeClr val="tx1"/>
                </a:solidFill>
              </a:rPr>
              <a:t> </a:t>
            </a:r>
          </a:p>
          <a:p>
            <a:r>
              <a:rPr lang="en-US" altLang="en-US" sz="2000" b="1" dirty="0">
                <a:ln w="1905"/>
                <a:solidFill>
                  <a:schemeClr val="tx1"/>
                </a:solidFill>
                <a:ea typeface="楷体" pitchFamily="49" charset="-122"/>
              </a:rPr>
              <a:t>         </a:t>
            </a:r>
            <a:r>
              <a:rPr lang="en-US" altLang="en-US" sz="2000" b="1" dirty="0">
                <a:ln w="1905"/>
                <a:solidFill>
                  <a:srgbClr val="C00000"/>
                </a:solidFill>
                <a:ea typeface="楷体" pitchFamily="49" charset="-122"/>
              </a:rPr>
              <a:t>2</a:t>
            </a:r>
            <a:r>
              <a:rPr lang="zh-CN" altLang="en-US" sz="2000" b="1" dirty="0">
                <a:ln w="1905"/>
                <a:solidFill>
                  <a:srgbClr val="C00000"/>
                </a:solidFill>
                <a:ea typeface="楷体" pitchFamily="49" charset="-122"/>
              </a:rPr>
              <a:t>、对输入的英文短文进行单词分离并计数。</a:t>
            </a:r>
            <a:r>
              <a:rPr lang="zh-CN" altLang="en-US" sz="2000" b="1" dirty="0">
                <a:ln w="1905"/>
                <a:solidFill>
                  <a:schemeClr val="tx1"/>
                </a:solidFill>
                <a:ea typeface="楷体" pitchFamily="49" charset="-122"/>
              </a:rPr>
              <a:t>这里面又有两个主要问题要解决：</a:t>
            </a:r>
          </a:p>
          <a:p>
            <a:r>
              <a:rPr lang="zh-CN" altLang="en-US" sz="2000" b="1" dirty="0">
                <a:ln w="1905"/>
                <a:solidFill>
                  <a:schemeClr val="tx1"/>
                </a:solidFill>
                <a:ea typeface="楷体" pitchFamily="49" charset="-122"/>
              </a:rPr>
              <a:t>       </a:t>
            </a:r>
            <a:r>
              <a:rPr lang="zh-CN" altLang="en-US" sz="2000" b="1" dirty="0">
                <a:ln w="1905"/>
                <a:solidFill>
                  <a:srgbClr val="002060"/>
                </a:solidFill>
                <a:ea typeface="楷体" pitchFamily="49" charset="-122"/>
              </a:rPr>
              <a:t> </a:t>
            </a:r>
            <a:r>
              <a:rPr lang="en-US" altLang="zh-CN" sz="2000" b="1" dirty="0">
                <a:ln w="1905"/>
                <a:solidFill>
                  <a:srgbClr val="002060"/>
                </a:solidFill>
                <a:ea typeface="楷体" pitchFamily="49" charset="-122"/>
              </a:rPr>
              <a:t>(</a:t>
            </a:r>
            <a:r>
              <a:rPr lang="en-US" altLang="en-US" sz="2000" b="1" dirty="0">
                <a:ln w="1905"/>
                <a:solidFill>
                  <a:srgbClr val="002060"/>
                </a:solidFill>
                <a:ea typeface="楷体" pitchFamily="49" charset="-122"/>
              </a:rPr>
              <a:t>1)</a:t>
            </a:r>
            <a:r>
              <a:rPr lang="zh-CN" altLang="en-US" sz="2000" b="1" dirty="0">
                <a:ln w="1905"/>
                <a:solidFill>
                  <a:srgbClr val="002060"/>
                </a:solidFill>
                <a:ea typeface="楷体" pitchFamily="49" charset="-122"/>
              </a:rPr>
              <a:t>如何分离单词？</a:t>
            </a:r>
            <a:r>
              <a:rPr lang="zh-CN" altLang="en-US" sz="2000" b="1" dirty="0">
                <a:ln w="1905"/>
                <a:solidFill>
                  <a:schemeClr val="tx1"/>
                </a:solidFill>
                <a:ea typeface="楷体" pitchFamily="49" charset="-122"/>
              </a:rPr>
              <a:t>单词分解可以对短文字符串中的字符从头到尾进行逐一扫描，如果当前扫描到的字符不是字母，则继续往后扫描，直到扫描到第一个字母，则说明是一个新单词开始，此时可以边扫描边提取单词，直到扫描到的非字母字符，表示该单词提取完毕。提取的单词串可以用一个字符数组来存储。后面单词的提取方法均以此法进行，直到整个短文串扫描完为止。单词分离可以自定义一个函数</a:t>
            </a:r>
            <a:r>
              <a:rPr lang="en-US" altLang="en-US" sz="2000" b="1" dirty="0" err="1">
                <a:ln w="1905"/>
                <a:solidFill>
                  <a:srgbClr val="C00000"/>
                </a:solidFill>
                <a:ea typeface="楷体" pitchFamily="49" charset="-122"/>
              </a:rPr>
              <a:t>WordSepa</a:t>
            </a:r>
            <a:r>
              <a:rPr lang="zh-CN" altLang="en-US" sz="2000" b="1" dirty="0">
                <a:ln w="1905"/>
                <a:solidFill>
                  <a:schemeClr val="tx1"/>
                </a:solidFill>
                <a:ea typeface="楷体" pitchFamily="49" charset="-122"/>
              </a:rPr>
              <a:t>来完成。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5BF0139-86DD-4F7F-894C-F0CD06B7DC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8.10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函数应用综合举例 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17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17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2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172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172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2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172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172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2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172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172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2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172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172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222" name="Rectangle 38"/>
          <p:cNvSpPr>
            <a:spLocks noChangeArrowheads="1"/>
          </p:cNvSpPr>
          <p:nvPr/>
        </p:nvSpPr>
        <p:spPr bwMode="auto">
          <a:xfrm>
            <a:off x="523676" y="896235"/>
            <a:ext cx="11320990" cy="1631216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r>
              <a:rPr lang="en-US" altLang="en-US" sz="2000" b="1" dirty="0">
                <a:ln w="1905"/>
                <a:solidFill>
                  <a:srgbClr val="002060"/>
                </a:solidFill>
                <a:ea typeface="楷体" pitchFamily="49" charset="-122"/>
              </a:rPr>
              <a:t>         (2)</a:t>
            </a:r>
            <a:r>
              <a:rPr lang="zh-CN" altLang="en-US" sz="2000" b="1" dirty="0">
                <a:ln w="1905"/>
                <a:solidFill>
                  <a:srgbClr val="002060"/>
                </a:solidFill>
                <a:ea typeface="楷体" pitchFamily="49" charset="-122"/>
              </a:rPr>
              <a:t>分离的单词如何保存并计数？</a:t>
            </a:r>
            <a:r>
              <a:rPr lang="zh-CN" altLang="en-US" sz="2000" b="1" dirty="0">
                <a:ln w="1905"/>
                <a:solidFill>
                  <a:schemeClr val="tx1"/>
                </a:solidFill>
                <a:ea typeface="楷体" pitchFamily="49" charset="-122"/>
              </a:rPr>
              <a:t>可以定义一个字符串数组（即字符型二维数组），该数组的每一行的第</a:t>
            </a:r>
            <a:r>
              <a:rPr lang="en-US" altLang="en-US" sz="2000" b="1" dirty="0">
                <a:ln w="1905"/>
                <a:solidFill>
                  <a:schemeClr val="tx1"/>
                </a:solidFill>
                <a:ea typeface="楷体" pitchFamily="49" charset="-122"/>
              </a:rPr>
              <a:t>1</a:t>
            </a:r>
            <a:r>
              <a:rPr lang="zh-CN" altLang="en-US" sz="2000" b="1" dirty="0">
                <a:ln w="1905"/>
                <a:solidFill>
                  <a:schemeClr val="tx1"/>
                </a:solidFill>
                <a:ea typeface="楷体" pitchFamily="49" charset="-122"/>
              </a:rPr>
              <a:t>列开始存放单词串，第</a:t>
            </a:r>
            <a:r>
              <a:rPr lang="en-US" altLang="en-US" sz="2000" b="1" dirty="0">
                <a:ln w="1905"/>
                <a:solidFill>
                  <a:schemeClr val="tx1"/>
                </a:solidFill>
                <a:ea typeface="楷体" pitchFamily="49" charset="-122"/>
              </a:rPr>
              <a:t>0</a:t>
            </a:r>
            <a:r>
              <a:rPr lang="zh-CN" altLang="en-US" sz="2000" b="1" dirty="0">
                <a:ln w="1905"/>
                <a:solidFill>
                  <a:schemeClr val="tx1"/>
                </a:solidFill>
                <a:ea typeface="楷体" pitchFamily="49" charset="-122"/>
              </a:rPr>
              <a:t>列用于存放该单词出现的次数，其存储结构如下图所示。每次分离出单词，首先在字符串数组中进行单词查找，如果找到，则只将单词计数加</a:t>
            </a:r>
            <a:r>
              <a:rPr lang="en-US" altLang="en-US" sz="2000" b="1" dirty="0">
                <a:ln w="1905"/>
                <a:solidFill>
                  <a:schemeClr val="tx1"/>
                </a:solidFill>
                <a:ea typeface="楷体" pitchFamily="49" charset="-122"/>
              </a:rPr>
              <a:t>1</a:t>
            </a:r>
            <a:r>
              <a:rPr lang="zh-CN" altLang="en-US" sz="2000" b="1" dirty="0">
                <a:ln w="1905"/>
                <a:solidFill>
                  <a:schemeClr val="tx1"/>
                </a:solidFill>
                <a:ea typeface="楷体" pitchFamily="49" charset="-122"/>
              </a:rPr>
              <a:t>即可，如果找不到，则将该单词添加到字符串数组中，其单词计数置为</a:t>
            </a:r>
            <a:r>
              <a:rPr lang="en-US" altLang="en-US" sz="2000" b="1" dirty="0">
                <a:ln w="1905"/>
                <a:solidFill>
                  <a:schemeClr val="tx1"/>
                </a:solidFill>
                <a:ea typeface="楷体" pitchFamily="49" charset="-122"/>
              </a:rPr>
              <a:t>1</a:t>
            </a:r>
            <a:r>
              <a:rPr lang="zh-CN" altLang="en-US" sz="2000" b="1" dirty="0">
                <a:ln w="1905"/>
                <a:solidFill>
                  <a:schemeClr val="tx1"/>
                </a:solidFill>
                <a:ea typeface="楷体" pitchFamily="49" charset="-122"/>
              </a:rPr>
              <a:t>。单词保存及计数可以自定义一个函数</a:t>
            </a:r>
            <a:r>
              <a:rPr lang="en-US" altLang="en-US" sz="2000" b="1" dirty="0" err="1">
                <a:ln w="1905"/>
                <a:solidFill>
                  <a:srgbClr val="C01920"/>
                </a:solidFill>
                <a:ea typeface="楷体" pitchFamily="49" charset="-122"/>
              </a:rPr>
              <a:t>SaveWord</a:t>
            </a:r>
            <a:r>
              <a:rPr lang="zh-CN" altLang="en-US" sz="2000" b="1" dirty="0">
                <a:ln w="1905"/>
                <a:solidFill>
                  <a:schemeClr val="tx1"/>
                </a:solidFill>
                <a:ea typeface="楷体" pitchFamily="49" charset="-122"/>
              </a:rPr>
              <a:t>来完成。</a:t>
            </a:r>
          </a:p>
        </p:txBody>
      </p:sp>
      <p:graphicFrame>
        <p:nvGraphicFramePr>
          <p:cNvPr id="29" name="表格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4861039"/>
              </p:ext>
            </p:extLst>
          </p:nvPr>
        </p:nvGraphicFramePr>
        <p:xfrm>
          <a:off x="3968038" y="2785005"/>
          <a:ext cx="6096000" cy="22250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206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206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2060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2060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2060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2060"/>
                          </a:solidFill>
                        </a:rPr>
                        <a:t>5</a:t>
                      </a:r>
                      <a:endParaRPr lang="zh-CN" altLang="en-US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2060"/>
                          </a:solidFill>
                        </a:rPr>
                        <a:t>6</a:t>
                      </a:r>
                      <a:endParaRPr lang="zh-CN" altLang="en-US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2060"/>
                          </a:solidFill>
                        </a:rPr>
                        <a:t>7</a:t>
                      </a:r>
                      <a:endParaRPr lang="zh-CN" altLang="en-US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2060"/>
                          </a:solidFill>
                          <a:latin typeface="+mn-ea"/>
                          <a:ea typeface="+mn-ea"/>
                        </a:rPr>
                        <a:t>…</a:t>
                      </a:r>
                      <a:endParaRPr lang="zh-CN" altLang="en-US" dirty="0">
                        <a:solidFill>
                          <a:srgbClr val="00206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2060"/>
                          </a:solidFill>
                        </a:rPr>
                        <a:t>19</a:t>
                      </a:r>
                      <a:endParaRPr lang="zh-CN" altLang="en-US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n-lt"/>
                          <a:ea typeface="宋体"/>
                          <a:cs typeface="Times New Roman"/>
                        </a:rPr>
                        <a:t>1</a:t>
                      </a:r>
                      <a:endParaRPr lang="zh-CN" sz="1800" b="1" kern="100" dirty="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n-lt"/>
                          <a:ea typeface="宋体"/>
                          <a:cs typeface="Times New Roman"/>
                        </a:rPr>
                        <a:t>'G'</a:t>
                      </a:r>
                      <a:endParaRPr lang="zh-CN" sz="1800" b="1" kern="100" dirty="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n-lt"/>
                          <a:ea typeface="宋体"/>
                          <a:cs typeface="Times New Roman"/>
                        </a:rPr>
                        <a:t>'r'</a:t>
                      </a:r>
                      <a:endParaRPr lang="zh-CN" sz="1800" b="1" kern="100" dirty="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n-lt"/>
                          <a:ea typeface="宋体"/>
                          <a:cs typeface="Times New Roman"/>
                        </a:rPr>
                        <a:t>'e'</a:t>
                      </a:r>
                      <a:endParaRPr lang="zh-CN" sz="1800" b="1" kern="100" dirty="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n-lt"/>
                          <a:ea typeface="宋体"/>
                          <a:cs typeface="Times New Roman"/>
                        </a:rPr>
                        <a:t>'e'</a:t>
                      </a:r>
                      <a:endParaRPr lang="zh-CN" sz="1800" b="1" kern="100" dirty="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n-lt"/>
                          <a:ea typeface="宋体"/>
                          <a:cs typeface="Times New Roman"/>
                        </a:rPr>
                        <a:t>'n'</a:t>
                      </a:r>
                      <a:endParaRPr lang="zh-CN" sz="1800" b="1" kern="100" dirty="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C00000"/>
                          </a:solidFill>
                          <a:latin typeface="+mn-lt"/>
                          <a:ea typeface="宋体"/>
                          <a:cs typeface="Times New Roman"/>
                        </a:rPr>
                        <a:t>'\0'</a:t>
                      </a:r>
                      <a:endParaRPr lang="zh-CN" sz="1800" b="1" kern="100" dirty="0">
                        <a:solidFill>
                          <a:srgbClr val="C00000"/>
                        </a:solidFill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n-lt"/>
                          <a:ea typeface="宋体"/>
                          <a:cs typeface="Times New Roman"/>
                        </a:rPr>
                        <a:t>0</a:t>
                      </a:r>
                      <a:endParaRPr lang="zh-CN" sz="1800" b="1" kern="100" dirty="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latin typeface="+mj-ea"/>
                          <a:ea typeface="+mj-ea"/>
                          <a:cs typeface="Times New Roman"/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n-lt"/>
                          <a:ea typeface="宋体"/>
                          <a:cs typeface="Times New Roman"/>
                        </a:rPr>
                        <a:t>0</a:t>
                      </a:r>
                      <a:endParaRPr lang="zh-CN" sz="1800" b="1" kern="100" dirty="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n-lt"/>
                          <a:ea typeface="宋体"/>
                          <a:cs typeface="Times New Roman"/>
                        </a:rPr>
                        <a:t>4</a:t>
                      </a:r>
                      <a:endParaRPr lang="zh-CN" sz="1800" b="1" kern="100" dirty="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+mn-lt"/>
                          <a:ea typeface="宋体"/>
                          <a:cs typeface="Times New Roman"/>
                        </a:rPr>
                        <a:t>'i'</a:t>
                      </a:r>
                      <a:endParaRPr lang="zh-CN" sz="1800" b="1" kern="10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+mn-lt"/>
                          <a:ea typeface="宋体"/>
                          <a:cs typeface="Times New Roman"/>
                        </a:rPr>
                        <a:t>'s'</a:t>
                      </a:r>
                      <a:endParaRPr lang="zh-CN" sz="1800" b="1" kern="10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C00000"/>
                          </a:solidFill>
                          <a:latin typeface="+mn-lt"/>
                          <a:ea typeface="宋体"/>
                          <a:cs typeface="Times New Roman"/>
                        </a:rPr>
                        <a:t>'\0'</a:t>
                      </a:r>
                      <a:endParaRPr lang="zh-CN" sz="1800" b="1" kern="100" dirty="0">
                        <a:solidFill>
                          <a:srgbClr val="C00000"/>
                        </a:solidFill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n-lt"/>
                          <a:ea typeface="宋体"/>
                          <a:cs typeface="Times New Roman"/>
                        </a:rPr>
                        <a:t>0</a:t>
                      </a:r>
                      <a:endParaRPr lang="zh-CN" sz="1800" b="1" kern="100" dirty="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n-lt"/>
                          <a:ea typeface="宋体"/>
                          <a:cs typeface="Times New Roman"/>
                        </a:rPr>
                        <a:t>0</a:t>
                      </a:r>
                      <a:endParaRPr lang="zh-CN" sz="1800" b="1" kern="100" dirty="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+mn-lt"/>
                          <a:ea typeface="宋体"/>
                          <a:cs typeface="Times New Roman"/>
                        </a:rPr>
                        <a:t>0</a:t>
                      </a:r>
                      <a:endParaRPr lang="zh-CN" sz="1800" b="1" kern="10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n-lt"/>
                          <a:ea typeface="宋体"/>
                          <a:cs typeface="Times New Roman"/>
                        </a:rPr>
                        <a:t>0</a:t>
                      </a:r>
                      <a:endParaRPr lang="zh-CN" sz="1800" b="1" kern="100" dirty="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latin typeface="+mj-ea"/>
                          <a:ea typeface="+mj-ea"/>
                          <a:cs typeface="Times New Roman"/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n-lt"/>
                          <a:ea typeface="宋体"/>
                          <a:cs typeface="Times New Roman"/>
                        </a:rPr>
                        <a:t>0</a:t>
                      </a:r>
                      <a:endParaRPr lang="zh-CN" sz="1800" b="1" kern="100" dirty="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n-lt"/>
                          <a:ea typeface="宋体"/>
                          <a:cs typeface="Times New Roman"/>
                        </a:rPr>
                        <a:t>2</a:t>
                      </a:r>
                      <a:endParaRPr lang="zh-CN" sz="1800" b="1" kern="100" dirty="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+mn-lt"/>
                          <a:ea typeface="宋体"/>
                          <a:cs typeface="Times New Roman"/>
                        </a:rPr>
                        <a:t>'o'</a:t>
                      </a:r>
                      <a:endParaRPr lang="zh-CN" sz="1800" b="1" kern="10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+mn-lt"/>
                          <a:ea typeface="宋体"/>
                          <a:cs typeface="Times New Roman"/>
                        </a:rPr>
                        <a:t>'n'</a:t>
                      </a:r>
                      <a:endParaRPr lang="zh-CN" sz="1800" b="1" kern="10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C00000"/>
                          </a:solidFill>
                          <a:latin typeface="+mn-lt"/>
                          <a:ea typeface="宋体"/>
                          <a:cs typeface="Times New Roman"/>
                        </a:rPr>
                        <a:t>'\0'</a:t>
                      </a:r>
                      <a:endParaRPr lang="zh-CN" sz="1800" b="1" kern="100" dirty="0">
                        <a:solidFill>
                          <a:srgbClr val="C00000"/>
                        </a:solidFill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+mn-lt"/>
                          <a:ea typeface="宋体"/>
                          <a:cs typeface="Times New Roman"/>
                        </a:rPr>
                        <a:t>0</a:t>
                      </a:r>
                      <a:endParaRPr lang="zh-CN" sz="1800" b="1" kern="10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n-lt"/>
                          <a:ea typeface="宋体"/>
                          <a:cs typeface="Times New Roman"/>
                        </a:rPr>
                        <a:t>0</a:t>
                      </a:r>
                      <a:endParaRPr lang="zh-CN" sz="1800" b="1" kern="100" dirty="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n-lt"/>
                          <a:ea typeface="宋体"/>
                          <a:cs typeface="Times New Roman"/>
                        </a:rPr>
                        <a:t>0</a:t>
                      </a:r>
                      <a:endParaRPr lang="zh-CN" sz="1800" b="1" kern="100" dirty="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n-lt"/>
                          <a:ea typeface="宋体"/>
                          <a:cs typeface="Times New Roman"/>
                        </a:rPr>
                        <a:t>0</a:t>
                      </a:r>
                      <a:endParaRPr lang="zh-CN" sz="1800" b="1" kern="100" dirty="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latin typeface="+mj-ea"/>
                          <a:ea typeface="+mj-ea"/>
                          <a:cs typeface="Times New Roman"/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n-lt"/>
                          <a:ea typeface="宋体"/>
                          <a:cs typeface="Times New Roman"/>
                        </a:rPr>
                        <a:t>0</a:t>
                      </a:r>
                      <a:endParaRPr lang="zh-CN" sz="1800" b="1" kern="100" dirty="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n-lt"/>
                          <a:ea typeface="宋体"/>
                          <a:cs typeface="Times New Roman"/>
                        </a:rPr>
                        <a:t>︙</a:t>
                      </a:r>
                      <a:endParaRPr lang="zh-CN" sz="1800" b="1" kern="100" dirty="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+mn-lt"/>
                          <a:ea typeface="宋体"/>
                          <a:cs typeface="Times New Roman"/>
                        </a:rPr>
                        <a:t>︙</a:t>
                      </a:r>
                      <a:endParaRPr lang="zh-CN" sz="1800" b="1" kern="10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+mn-lt"/>
                          <a:ea typeface="宋体"/>
                          <a:cs typeface="Times New Roman"/>
                        </a:rPr>
                        <a:t>︙</a:t>
                      </a:r>
                      <a:endParaRPr lang="zh-CN" sz="1800" b="1" kern="10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+mn-lt"/>
                          <a:ea typeface="宋体"/>
                          <a:cs typeface="Times New Roman"/>
                        </a:rPr>
                        <a:t>︙</a:t>
                      </a:r>
                      <a:endParaRPr lang="zh-CN" sz="1800" b="1" kern="10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+mn-lt"/>
                          <a:ea typeface="宋体"/>
                          <a:cs typeface="Times New Roman"/>
                        </a:rPr>
                        <a:t>︙</a:t>
                      </a:r>
                      <a:endParaRPr lang="zh-CN" sz="1800" b="1" kern="10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+mn-lt"/>
                          <a:ea typeface="宋体"/>
                          <a:cs typeface="Times New Roman"/>
                        </a:rPr>
                        <a:t>︙</a:t>
                      </a:r>
                      <a:endParaRPr lang="zh-CN" sz="1800" b="1" kern="10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+mn-lt"/>
                          <a:ea typeface="宋体"/>
                          <a:cs typeface="Times New Roman"/>
                        </a:rPr>
                        <a:t>︙</a:t>
                      </a:r>
                      <a:endParaRPr lang="zh-CN" sz="1800" b="1" kern="10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+mn-lt"/>
                          <a:ea typeface="宋体"/>
                          <a:cs typeface="Times New Roman"/>
                        </a:rPr>
                        <a:t>︙</a:t>
                      </a:r>
                      <a:endParaRPr lang="zh-CN" sz="1800" b="1" kern="10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j-ea"/>
                          <a:ea typeface="+mj-ea"/>
                          <a:cs typeface="Times New Roman"/>
                        </a:rPr>
                        <a:t>︙</a:t>
                      </a:r>
                      <a:endParaRPr lang="zh-CN" sz="1800" b="1" kern="100" dirty="0">
                        <a:latin typeface="+mj-ea"/>
                        <a:ea typeface="+mj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+mn-lt"/>
                          <a:ea typeface="宋体"/>
                          <a:cs typeface="Times New Roman"/>
                        </a:rPr>
                        <a:t>︙</a:t>
                      </a:r>
                      <a:endParaRPr lang="zh-CN" sz="1800" b="1" kern="10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n-lt"/>
                          <a:ea typeface="宋体"/>
                          <a:cs typeface="Times New Roman"/>
                        </a:rPr>
                        <a:t>2</a:t>
                      </a:r>
                      <a:endParaRPr lang="zh-CN" sz="1800" b="1" kern="100" dirty="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+mn-lt"/>
                          <a:ea typeface="宋体"/>
                          <a:cs typeface="Times New Roman"/>
                        </a:rPr>
                        <a:t>'l'</a:t>
                      </a:r>
                      <a:endParaRPr lang="zh-CN" sz="1800" b="1" kern="10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+mn-lt"/>
                          <a:ea typeface="宋体"/>
                          <a:cs typeface="Times New Roman"/>
                        </a:rPr>
                        <a:t>'e'</a:t>
                      </a:r>
                      <a:endParaRPr lang="zh-CN" sz="1800" b="1" kern="10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+mn-lt"/>
                          <a:ea typeface="宋体"/>
                          <a:cs typeface="Times New Roman"/>
                        </a:rPr>
                        <a:t>'f'</a:t>
                      </a:r>
                      <a:endParaRPr lang="zh-CN" sz="1800" b="1" kern="10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+mn-lt"/>
                          <a:ea typeface="宋体"/>
                          <a:cs typeface="Times New Roman"/>
                        </a:rPr>
                        <a:t>'t'</a:t>
                      </a:r>
                      <a:endParaRPr lang="zh-CN" sz="1800" b="1" kern="10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C00000"/>
                          </a:solidFill>
                          <a:latin typeface="+mn-lt"/>
                          <a:ea typeface="宋体"/>
                          <a:cs typeface="Times New Roman"/>
                        </a:rPr>
                        <a:t>'\0'</a:t>
                      </a:r>
                      <a:endParaRPr lang="zh-CN" sz="1800" b="1" kern="100" dirty="0">
                        <a:solidFill>
                          <a:srgbClr val="C00000"/>
                        </a:solidFill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n-lt"/>
                          <a:ea typeface="宋体"/>
                          <a:cs typeface="Times New Roman"/>
                        </a:rPr>
                        <a:t>0</a:t>
                      </a:r>
                      <a:endParaRPr lang="zh-CN" sz="1800" b="1" kern="100" dirty="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n-lt"/>
                          <a:ea typeface="宋体"/>
                          <a:cs typeface="Times New Roman"/>
                        </a:rPr>
                        <a:t>0</a:t>
                      </a:r>
                      <a:endParaRPr lang="zh-CN" sz="1800" b="1" kern="100" dirty="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latin typeface="+mj-ea"/>
                          <a:ea typeface="+mj-ea"/>
                          <a:cs typeface="Times New Roman"/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n-lt"/>
                          <a:ea typeface="宋体"/>
                          <a:cs typeface="Times New Roman"/>
                        </a:rPr>
                        <a:t>0</a:t>
                      </a:r>
                      <a:endParaRPr lang="zh-CN" sz="1800" b="1" kern="100" dirty="0">
                        <a:latin typeface="+mn-lt"/>
                        <a:ea typeface="宋体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1" name="表格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0044133"/>
              </p:ext>
            </p:extLst>
          </p:nvPr>
        </p:nvGraphicFramePr>
        <p:xfrm>
          <a:off x="2205858" y="3156049"/>
          <a:ext cx="1143008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b="1" dirty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word[0]</a:t>
                      </a:r>
                      <a:endParaRPr lang="zh-CN" altLang="en-US" b="1" dirty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word[1]</a:t>
                      </a:r>
                      <a:endParaRPr lang="zh-CN" altLang="en-US" b="1" dirty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word[2]</a:t>
                      </a:r>
                      <a:endParaRPr lang="zh-CN" altLang="en-US" b="1" dirty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Times New Roman"/>
                        </a:rPr>
                        <a:t>︙</a:t>
                      </a:r>
                      <a:endParaRPr lang="zh-CN" altLang="en-US" sz="1800" b="1" kern="1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word[49]</a:t>
                      </a:r>
                      <a:endParaRPr lang="zh-CN" altLang="en-US" b="1" dirty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37" name="组合 36"/>
          <p:cNvGrpSpPr/>
          <p:nvPr/>
        </p:nvGrpSpPr>
        <p:grpSpPr>
          <a:xfrm>
            <a:off x="3362720" y="3356509"/>
            <a:ext cx="585358" cy="1474078"/>
            <a:chOff x="2014086" y="3357562"/>
            <a:chExt cx="585358" cy="1474078"/>
          </a:xfrm>
        </p:grpSpPr>
        <p:cxnSp>
          <p:nvCxnSpPr>
            <p:cNvPr id="33" name="直接箭头连接符 32"/>
            <p:cNvCxnSpPr/>
            <p:nvPr/>
          </p:nvCxnSpPr>
          <p:spPr bwMode="auto">
            <a:xfrm>
              <a:off x="2027940" y="3357562"/>
              <a:ext cx="571504" cy="1588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</p:cxnSp>
        <p:cxnSp>
          <p:nvCxnSpPr>
            <p:cNvPr id="34" name="直接箭头连接符 33"/>
            <p:cNvCxnSpPr/>
            <p:nvPr/>
          </p:nvCxnSpPr>
          <p:spPr bwMode="auto">
            <a:xfrm>
              <a:off x="2014086" y="3720091"/>
              <a:ext cx="571504" cy="1588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</p:cxnSp>
        <p:cxnSp>
          <p:nvCxnSpPr>
            <p:cNvPr id="35" name="直接箭头连接符 34"/>
            <p:cNvCxnSpPr/>
            <p:nvPr/>
          </p:nvCxnSpPr>
          <p:spPr bwMode="auto">
            <a:xfrm>
              <a:off x="2014086" y="4085796"/>
              <a:ext cx="571504" cy="1588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</p:cxnSp>
        <p:cxnSp>
          <p:nvCxnSpPr>
            <p:cNvPr id="36" name="直接箭头连接符 35"/>
            <p:cNvCxnSpPr/>
            <p:nvPr/>
          </p:nvCxnSpPr>
          <p:spPr bwMode="auto">
            <a:xfrm>
              <a:off x="2014086" y="4830052"/>
              <a:ext cx="571504" cy="1588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</p:cxnSp>
      </p:grpSp>
      <p:grpSp>
        <p:nvGrpSpPr>
          <p:cNvPr id="45" name="组合 44"/>
          <p:cNvGrpSpPr/>
          <p:nvPr/>
        </p:nvGrpSpPr>
        <p:grpSpPr>
          <a:xfrm>
            <a:off x="4063246" y="3182737"/>
            <a:ext cx="3786214" cy="2470454"/>
            <a:chOff x="2714612" y="2840454"/>
            <a:chExt cx="3786214" cy="2470454"/>
          </a:xfrm>
        </p:grpSpPr>
        <p:sp>
          <p:nvSpPr>
            <p:cNvPr id="38" name="椭圆 37"/>
            <p:cNvSpPr/>
            <p:nvPr/>
          </p:nvSpPr>
          <p:spPr bwMode="auto">
            <a:xfrm>
              <a:off x="2714612" y="2840454"/>
              <a:ext cx="357190" cy="1857388"/>
            </a:xfrm>
            <a:prstGeom prst="ellipse">
              <a:avLst/>
            </a:prstGeom>
            <a:noFill/>
            <a:ln w="254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线形标注 2 39"/>
            <p:cNvSpPr/>
            <p:nvPr/>
          </p:nvSpPr>
          <p:spPr bwMode="auto">
            <a:xfrm>
              <a:off x="3643306" y="4882280"/>
              <a:ext cx="2857520" cy="428628"/>
            </a:xfrm>
            <a:prstGeom prst="borderCallout2">
              <a:avLst>
                <a:gd name="adj1" fmla="val 18750"/>
                <a:gd name="adj2" fmla="val -8333"/>
                <a:gd name="adj3" fmla="val 18750"/>
                <a:gd name="adj4" fmla="val -16667"/>
                <a:gd name="adj5" fmla="val -58582"/>
                <a:gd name="adj6" fmla="val -24070"/>
              </a:avLst>
            </a:prstGeom>
            <a:gradFill flip="none" rotWithShape="1">
              <a:gsLst>
                <a:gs pos="0">
                  <a:srgbClr val="CFCFD1"/>
                </a:gs>
                <a:gs pos="100000">
                  <a:schemeClr val="bg1">
                    <a:lumMod val="95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254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r>
                <a:rPr lang="zh-CN" altLang="en-US" sz="1800" b="1" dirty="0">
                  <a:solidFill>
                    <a:srgbClr val="C00000"/>
                  </a:solidFill>
                  <a:latin typeface="+mn-lt"/>
                  <a:ea typeface="楷体" pitchFamily="49" charset="-122"/>
                </a:rPr>
                <a:t>单词出现的次数</a:t>
              </a:r>
              <a:r>
                <a:rPr lang="en-US" sz="1800" b="1" dirty="0">
                  <a:solidFill>
                    <a:srgbClr val="C00000"/>
                  </a:solidFill>
                  <a:latin typeface="+mn-lt"/>
                  <a:ea typeface="楷体" pitchFamily="49" charset="-122"/>
                </a:rPr>
                <a:t>word[</a:t>
              </a:r>
              <a:r>
                <a:rPr lang="en-US" sz="1800" b="1" dirty="0" err="1">
                  <a:solidFill>
                    <a:srgbClr val="C00000"/>
                  </a:solidFill>
                  <a:latin typeface="+mn-lt"/>
                  <a:ea typeface="楷体" pitchFamily="49" charset="-122"/>
                </a:rPr>
                <a:t>i</a:t>
              </a:r>
              <a:r>
                <a:rPr lang="en-US" sz="1800" b="1" dirty="0">
                  <a:solidFill>
                    <a:srgbClr val="C00000"/>
                  </a:solidFill>
                  <a:latin typeface="+mn-lt"/>
                  <a:ea typeface="楷体" pitchFamily="49" charset="-122"/>
                </a:rPr>
                <a:t>][0]</a:t>
              </a:r>
              <a:endParaRPr lang="zh-CN" altLang="en-US" sz="1800" b="1" dirty="0">
                <a:solidFill>
                  <a:srgbClr val="C00000"/>
                </a:solidFill>
                <a:latin typeface="+mn-lt"/>
                <a:ea typeface="楷体" pitchFamily="49" charset="-122"/>
              </a:endParaRPr>
            </a:p>
          </p:txBody>
        </p:sp>
      </p:grpSp>
      <p:sp>
        <p:nvSpPr>
          <p:cNvPr id="43" name="Rectangle 38"/>
          <p:cNvSpPr>
            <a:spLocks noChangeArrowheads="1"/>
          </p:cNvSpPr>
          <p:nvPr/>
        </p:nvSpPr>
        <p:spPr bwMode="auto">
          <a:xfrm>
            <a:off x="413355" y="5661248"/>
            <a:ext cx="11365289" cy="1015663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r>
              <a:rPr lang="en-US" altLang="en-US" sz="2000" b="1" dirty="0">
                <a:ln w="1905"/>
                <a:solidFill>
                  <a:srgbClr val="002060"/>
                </a:solidFill>
                <a:ea typeface="楷体" pitchFamily="49" charset="-122"/>
              </a:rPr>
              <a:t>         3</a:t>
            </a:r>
            <a:r>
              <a:rPr lang="zh-CN" altLang="en-US" sz="2000" b="1" dirty="0">
                <a:ln w="1905"/>
                <a:solidFill>
                  <a:srgbClr val="002060"/>
                </a:solidFill>
                <a:ea typeface="楷体" pitchFamily="49" charset="-122"/>
              </a:rPr>
              <a:t>、对单词进行排序。</a:t>
            </a:r>
            <a:r>
              <a:rPr lang="zh-CN" altLang="en-US" sz="2000" b="1" dirty="0">
                <a:ln w="1905"/>
                <a:solidFill>
                  <a:schemeClr val="tx1"/>
                </a:solidFill>
                <a:ea typeface="楷体" pitchFamily="49" charset="-122"/>
              </a:rPr>
              <a:t>本排序是双关键字排序，单词出现的次数是第一关键字，降序排列；单词串是第二关键字，当单词出现次数相同时，按照单词串升序排列。排序算法可采用选择排序或冒泡排序来实现。单词排序可以自定义一个函数</a:t>
            </a:r>
            <a:r>
              <a:rPr lang="en-US" altLang="en-US" sz="2000" b="1" dirty="0" err="1">
                <a:ln w="1905"/>
                <a:solidFill>
                  <a:srgbClr val="C01920"/>
                </a:solidFill>
                <a:ea typeface="楷体" pitchFamily="49" charset="-122"/>
              </a:rPr>
              <a:t>SortWord</a:t>
            </a:r>
            <a:r>
              <a:rPr lang="zh-CN" altLang="en-US" sz="2000" b="1" dirty="0">
                <a:ln w="1905"/>
                <a:solidFill>
                  <a:schemeClr val="tx1"/>
                </a:solidFill>
                <a:ea typeface="楷体" pitchFamily="49" charset="-122"/>
              </a:rPr>
              <a:t>来完成。</a:t>
            </a:r>
          </a:p>
        </p:txBody>
      </p:sp>
      <p:sp>
        <p:nvSpPr>
          <p:cNvPr id="44" name="矩形 43"/>
          <p:cNvSpPr/>
          <p:nvPr/>
        </p:nvSpPr>
        <p:spPr>
          <a:xfrm>
            <a:off x="4063246" y="2221914"/>
            <a:ext cx="5000660" cy="400110"/>
          </a:xfrm>
          <a:prstGeom prst="rect">
            <a:avLst/>
          </a:prstGeom>
          <a:gradFill>
            <a:gsLst>
              <a:gs pos="0">
                <a:srgbClr val="BEDFC4"/>
              </a:gs>
              <a:gs pos="100000">
                <a:schemeClr val="bg1">
                  <a:lumMod val="95000"/>
                </a:schemeClr>
              </a:gs>
            </a:gsLst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2000" b="1" dirty="0">
                <a:ln w="1905"/>
                <a:solidFill>
                  <a:srgbClr val="C00000"/>
                </a:solidFill>
                <a:ea typeface="楷体" pitchFamily="49" charset="-122"/>
              </a:rPr>
              <a:t>定义字符串数组：</a:t>
            </a:r>
            <a:r>
              <a:rPr lang="en-US" altLang="en-US" sz="2000" b="1" dirty="0">
                <a:ln w="1905"/>
                <a:solidFill>
                  <a:srgbClr val="C00000"/>
                </a:solidFill>
                <a:ea typeface="楷体" pitchFamily="49" charset="-122"/>
              </a:rPr>
              <a:t>char word[50][20] = {0};</a:t>
            </a:r>
            <a:endParaRPr lang="zh-CN" altLang="en-US" sz="2000" dirty="0">
              <a:solidFill>
                <a:srgbClr val="C00000"/>
              </a:solidFill>
            </a:endParaRPr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65033FFB-70B5-4005-8902-E74916D4F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8.10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函数应用综合举例 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172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7222" grpId="0"/>
      <p:bldP spid="43" grpId="0"/>
      <p:bldP spid="44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>
            <a:extLst>
              <a:ext uri="{FF2B5EF4-FFF2-40B4-BE49-F238E27FC236}">
                <a16:creationId xmlns:a16="http://schemas.microsoft.com/office/drawing/2014/main" id="{D8EFECD4-2C61-41EE-8396-FF68FFA468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8.10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函数应用综合举例 </a:t>
            </a:r>
          </a:p>
        </p:txBody>
      </p:sp>
      <p:sp>
        <p:nvSpPr>
          <p:cNvPr id="1118226" name="Rectangle 18" descr="信纸"/>
          <p:cNvSpPr>
            <a:spLocks noChangeArrowheads="1"/>
          </p:cNvSpPr>
          <p:nvPr/>
        </p:nvSpPr>
        <p:spPr bwMode="auto">
          <a:xfrm>
            <a:off x="767736" y="142852"/>
            <a:ext cx="6336376" cy="6463308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100000" t="100000"/>
            </a:path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#include &lt;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stdio.h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&gt;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#include &lt;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conio.h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&gt;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#include &lt;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ctype.h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&gt;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#include &lt;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string.h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&gt;</a:t>
            </a:r>
          </a:p>
          <a:p>
            <a:pPr marL="457200" indent="-457200"/>
            <a:endParaRPr kumimoji="0" lang="en-US" altLang="zh-CN" sz="1800" b="1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#define N  200</a:t>
            </a:r>
          </a:p>
          <a:p>
            <a:pPr marL="457200" indent="-457200"/>
            <a:endParaRPr kumimoji="0" lang="en-US" altLang="zh-CN" sz="1800" b="1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marL="457200" indent="-457200"/>
            <a:r>
              <a:rPr kumimoji="0" lang="en-US" altLang="zh-CN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void beep( );</a:t>
            </a:r>
          </a:p>
          <a:p>
            <a:pPr marL="457200" indent="-457200"/>
            <a:r>
              <a:rPr kumimoji="0" lang="en-US" altLang="zh-CN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void </a:t>
            </a:r>
            <a:r>
              <a:rPr kumimoji="0" lang="en-US" altLang="zh-CN" sz="1800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GetPassage</a:t>
            </a:r>
            <a:r>
              <a:rPr kumimoji="0" lang="en-US" altLang="zh-CN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(char </a:t>
            </a:r>
            <a:r>
              <a:rPr kumimoji="0" lang="en-US" altLang="zh-CN" sz="1800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str</a:t>
            </a:r>
            <a:r>
              <a:rPr kumimoji="0" lang="en-US" altLang="zh-CN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[ ]); </a:t>
            </a:r>
          </a:p>
          <a:p>
            <a:pPr marL="457200" indent="-457200"/>
            <a:r>
              <a:rPr kumimoji="0" lang="en-US" altLang="zh-CN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void </a:t>
            </a:r>
            <a:r>
              <a:rPr kumimoji="0" lang="en-US" altLang="zh-CN" sz="1800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WordSepa</a:t>
            </a:r>
            <a:r>
              <a:rPr kumimoji="0" lang="en-US" altLang="zh-CN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(char </a:t>
            </a:r>
            <a:r>
              <a:rPr kumimoji="0" lang="en-US" altLang="zh-CN" sz="1800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str</a:t>
            </a:r>
            <a:r>
              <a:rPr kumimoji="0" lang="en-US" altLang="zh-CN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[ ], char word[ ][20]);</a:t>
            </a:r>
          </a:p>
          <a:p>
            <a:pPr marL="457200" indent="-457200"/>
            <a:r>
              <a:rPr kumimoji="0" lang="en-US" altLang="zh-CN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void </a:t>
            </a:r>
            <a:r>
              <a:rPr kumimoji="0" lang="en-US" altLang="zh-CN" sz="1800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SaveWord</a:t>
            </a:r>
            <a:r>
              <a:rPr kumimoji="0" lang="en-US" altLang="zh-CN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(char </a:t>
            </a:r>
            <a:r>
              <a:rPr kumimoji="0" lang="en-US" altLang="zh-CN" sz="1800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wordstr</a:t>
            </a:r>
            <a:r>
              <a:rPr kumimoji="0" lang="en-US" altLang="zh-CN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[ ], char word[ ][20]);</a:t>
            </a:r>
          </a:p>
          <a:p>
            <a:pPr marL="457200" indent="-457200"/>
            <a:r>
              <a:rPr kumimoji="0" lang="en-US" altLang="zh-CN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void </a:t>
            </a:r>
            <a:r>
              <a:rPr kumimoji="0" lang="en-US" altLang="zh-CN" sz="1800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SortWord</a:t>
            </a:r>
            <a:r>
              <a:rPr kumimoji="0" lang="en-US" altLang="zh-CN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(char word[ ][20]); </a:t>
            </a:r>
          </a:p>
          <a:p>
            <a:pPr marL="457200" indent="-457200"/>
            <a:r>
              <a:rPr kumimoji="0" lang="en-US" altLang="zh-CN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void </a:t>
            </a:r>
            <a:r>
              <a:rPr kumimoji="0" lang="en-US" altLang="zh-CN" sz="1800" b="1" dirty="0" err="1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ShowWord</a:t>
            </a:r>
            <a:r>
              <a:rPr kumimoji="0" lang="en-US" altLang="zh-CN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(char word[][20]);</a:t>
            </a:r>
          </a:p>
          <a:p>
            <a:pPr marL="457200" indent="-457200"/>
            <a:endParaRPr kumimoji="0" lang="en-US" altLang="zh-CN" sz="1800" b="1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marL="457200" indent="-457200"/>
            <a:r>
              <a:rPr kumimoji="0" lang="en-US" altLang="zh-CN" sz="18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kumimoji="0" lang="en-US" altLang="zh-CN" sz="1800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main( )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{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char text[N+1], word[50][20] = {0};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GetPassage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(text);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WordSepa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(text, word);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SortWord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(word);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ShowWord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(word);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return 0;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}</a:t>
            </a:r>
            <a:endParaRPr kumimoji="0" lang="zh-CN" altLang="en-US" sz="1800" b="1" dirty="0">
              <a:solidFill>
                <a:schemeClr val="accent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楷体" pitchFamily="49" charset="-122"/>
            </a:endParaRPr>
          </a:p>
        </p:txBody>
      </p:sp>
      <p:sp>
        <p:nvSpPr>
          <p:cNvPr id="1118227" name="Rectangle 19" descr="信纸"/>
          <p:cNvSpPr>
            <a:spLocks noChangeArrowheads="1"/>
          </p:cNvSpPr>
          <p:nvPr/>
        </p:nvSpPr>
        <p:spPr bwMode="auto">
          <a:xfrm>
            <a:off x="7608168" y="5157192"/>
            <a:ext cx="2880320" cy="1477328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100000" t="100000"/>
            </a:path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kumimoji="0" lang="en-US" altLang="zh-CN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响铃</a:t>
            </a:r>
          </a:p>
          <a:p>
            <a:pPr marL="457200" indent="-457200"/>
            <a:r>
              <a:rPr kumimoji="0" lang="en-US" altLang="zh-CN" sz="1800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void beep( )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{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printf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("\07");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}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182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1182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8226" grpId="0" animBg="1" autoUpdateAnimBg="0"/>
      <p:bldP spid="1118227" grpId="0" animBg="1" autoUpdateAnimBg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">
            <a:extLst>
              <a:ext uri="{FF2B5EF4-FFF2-40B4-BE49-F238E27FC236}">
                <a16:creationId xmlns:a16="http://schemas.microsoft.com/office/drawing/2014/main" id="{740C85E0-BE33-4F77-8461-3488182046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8.10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函数应用综合举例 </a:t>
            </a:r>
          </a:p>
        </p:txBody>
      </p:sp>
      <p:sp>
        <p:nvSpPr>
          <p:cNvPr id="1118226" name="Rectangle 18" descr="信纸"/>
          <p:cNvSpPr>
            <a:spLocks noChangeArrowheads="1"/>
          </p:cNvSpPr>
          <p:nvPr/>
        </p:nvSpPr>
        <p:spPr bwMode="auto">
          <a:xfrm>
            <a:off x="788164" y="323333"/>
            <a:ext cx="4803780" cy="6186309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100000" t="100000"/>
            </a:path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kumimoji="0" lang="en-US" altLang="zh-CN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读取英文短文</a:t>
            </a:r>
          </a:p>
          <a:p>
            <a:pPr marL="457200" indent="-457200"/>
            <a:r>
              <a:rPr kumimoji="0" lang="en-US" altLang="zh-CN" sz="1800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void </a:t>
            </a:r>
            <a:r>
              <a:rPr kumimoji="0" lang="en-US" altLang="zh-CN" sz="18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GetPassage</a:t>
            </a:r>
            <a:r>
              <a:rPr kumimoji="0" lang="en-US" altLang="zh-CN" sz="1800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(char </a:t>
            </a:r>
            <a:r>
              <a:rPr kumimoji="0" lang="en-US" altLang="zh-CN" sz="18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str</a:t>
            </a:r>
            <a:r>
              <a:rPr kumimoji="0" lang="en-US" altLang="zh-CN" sz="1800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[]) 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{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= 0;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char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ch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while ( 1 )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{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ch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=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getch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 );     </a:t>
            </a:r>
            <a:r>
              <a:rPr kumimoji="0" lang="en-US" altLang="zh-CN" sz="16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kumimoji="0" lang="zh-CN" altLang="en-US" sz="16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读取输入的字符，不显示</a:t>
            </a:r>
          </a:p>
          <a:p>
            <a:pPr marL="457200" indent="-457200"/>
            <a:r>
              <a:rPr kumimoji="0" lang="zh-CN" altLang="en-US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if (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ch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== '\r')     </a:t>
            </a:r>
            <a:r>
              <a:rPr kumimoji="0" lang="en-US" altLang="zh-CN" sz="16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kumimoji="0" lang="zh-CN" altLang="en-US" sz="16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回车符，退出</a:t>
            </a:r>
            <a:r>
              <a:rPr kumimoji="0" lang="zh-CN" altLang="en-US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</a:t>
            </a:r>
          </a:p>
          <a:p>
            <a:pPr marL="457200" indent="-457200"/>
            <a:r>
              <a:rPr kumimoji="0" lang="zh-CN" altLang="en-US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break;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if (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ch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== '\b')    </a:t>
            </a:r>
            <a:r>
              <a:rPr kumimoji="0" lang="en-US" altLang="zh-CN" sz="16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kumimoji="0" lang="zh-CN" altLang="en-US" sz="16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退格符</a:t>
            </a:r>
          </a:p>
          <a:p>
            <a:pPr marL="457200" indent="-457200"/>
            <a:r>
              <a:rPr kumimoji="0" lang="zh-CN" altLang="en-US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{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if (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&gt; 0)  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{  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printf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("%c %c",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ch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,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ch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);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--;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}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else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 beep ( );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continue;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}  //if</a:t>
            </a:r>
          </a:p>
        </p:txBody>
      </p:sp>
      <p:sp>
        <p:nvSpPr>
          <p:cNvPr id="7" name="Rectangle 18" descr="信纸"/>
          <p:cNvSpPr>
            <a:spLocks noChangeArrowheads="1"/>
          </p:cNvSpPr>
          <p:nvPr/>
        </p:nvSpPr>
        <p:spPr bwMode="auto">
          <a:xfrm>
            <a:off x="5951984" y="1977360"/>
            <a:ext cx="5832475" cy="4524315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100000" t="100000"/>
            </a:path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if (!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isalpha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ch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) &amp;&amp;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ch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!= ',' &amp;&amp;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ch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!= '.' &amp;&amp;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ch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!= ' ')   </a:t>
            </a:r>
            <a:r>
              <a:rPr kumimoji="0" lang="en-US" altLang="zh-CN" sz="16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kumimoji="0" lang="zh-CN" altLang="en-US" sz="16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非字母、逗号、句号、空格</a:t>
            </a:r>
          </a:p>
          <a:p>
            <a:pPr marL="457200" indent="-457200"/>
            <a:r>
              <a:rPr kumimoji="0" lang="zh-CN" altLang="en-US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{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beep( );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continue;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}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if (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&lt; N)   </a:t>
            </a:r>
            <a:r>
              <a:rPr kumimoji="0" lang="en-US" altLang="zh-CN" sz="16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kumimoji="0" lang="zh-CN" altLang="en-US" sz="16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字母、逗号、句号、空格</a:t>
            </a:r>
          </a:p>
          <a:p>
            <a:pPr marL="457200" indent="-457200"/>
            <a:r>
              <a:rPr kumimoji="0" lang="zh-CN" altLang="en-US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{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printf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("%c",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ch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);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str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[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++] =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ch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}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else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beep ( );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}  //while (1)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str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[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] = '\0';  </a:t>
            </a:r>
            <a:r>
              <a:rPr kumimoji="0" lang="en-US" altLang="zh-CN" sz="16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kumimoji="0" lang="zh-CN" altLang="en-US" sz="16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置字符串结束标志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}</a:t>
            </a:r>
            <a:endParaRPr kumimoji="0" lang="zh-CN" altLang="en-US" sz="1800" b="1" dirty="0">
              <a:solidFill>
                <a:schemeClr val="accent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楷体" pitchFamily="49" charset="-122"/>
            </a:endParaRP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182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8226" grpId="0" animBg="1" autoUpdateAnimBg="0"/>
      <p:bldP spid="7" grpId="0" animBg="1" autoUpdateAnimBg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">
            <a:extLst>
              <a:ext uri="{FF2B5EF4-FFF2-40B4-BE49-F238E27FC236}">
                <a16:creationId xmlns:a16="http://schemas.microsoft.com/office/drawing/2014/main" id="{EB40E26D-C8C3-4CCD-841F-81BF51C706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8.10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函数应用综合举例 </a:t>
            </a:r>
          </a:p>
        </p:txBody>
      </p:sp>
      <p:sp>
        <p:nvSpPr>
          <p:cNvPr id="1118226" name="Rectangle 18" descr="信纸"/>
          <p:cNvSpPr>
            <a:spLocks noChangeArrowheads="1"/>
          </p:cNvSpPr>
          <p:nvPr/>
        </p:nvSpPr>
        <p:spPr bwMode="auto">
          <a:xfrm>
            <a:off x="788164" y="893033"/>
            <a:ext cx="5019804" cy="5632311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100000" t="100000"/>
            </a:path>
          </a:gradFill>
          <a:ln w="38100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kumimoji="0" lang="en-US" altLang="zh-CN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单词分解        </a:t>
            </a:r>
          </a:p>
          <a:p>
            <a:pPr marL="457200" indent="-457200"/>
            <a:r>
              <a:rPr kumimoji="0" lang="en-US" altLang="zh-CN" sz="1800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void </a:t>
            </a:r>
            <a:r>
              <a:rPr kumimoji="0" lang="en-US" altLang="zh-CN" sz="18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WordSepa</a:t>
            </a:r>
            <a:r>
              <a:rPr kumimoji="0" lang="en-US" altLang="zh-CN" sz="1800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(char </a:t>
            </a:r>
            <a:r>
              <a:rPr kumimoji="0" lang="en-US" altLang="zh-CN" sz="18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str</a:t>
            </a:r>
            <a:r>
              <a:rPr kumimoji="0" lang="en-US" altLang="zh-CN" sz="1800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[], char word[][20])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{</a:t>
            </a:r>
            <a:endParaRPr kumimoji="0" lang="en-US" altLang="zh-CN" sz="1800" b="1" dirty="0" err="1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marL="457200" indent="-457200"/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  int i, j;</a:t>
            </a:r>
          </a:p>
          <a:p>
            <a:pPr marL="457200" indent="-457200"/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  char wordstr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[20];</a:t>
            </a:r>
          </a:p>
          <a:p>
            <a:pPr marL="457200" indent="-457200"/>
            <a:endParaRPr kumimoji="0" lang="en-US" altLang="zh-CN" sz="1800" b="1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for (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= 0;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str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[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] != '\0'; )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{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if (!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isalpha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str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[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]))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	{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	 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++;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	  continue;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	}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	j = 0;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	while(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isalpha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str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[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]))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     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wordstr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[j++] = str[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++];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	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wordstr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[j] = '\0';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SaveWord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wordstr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, word);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}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}</a:t>
            </a:r>
          </a:p>
        </p:txBody>
      </p:sp>
      <p:sp>
        <p:nvSpPr>
          <p:cNvPr id="7" name="Rectangle 18" descr="信纸"/>
          <p:cNvSpPr>
            <a:spLocks noChangeArrowheads="1"/>
          </p:cNvSpPr>
          <p:nvPr/>
        </p:nvSpPr>
        <p:spPr bwMode="auto">
          <a:xfrm>
            <a:off x="6399298" y="57561"/>
            <a:ext cx="5361270" cy="6740307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100000" t="100000"/>
            </a:path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kumimoji="0" lang="en-US" altLang="zh-CN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单词保存</a:t>
            </a:r>
            <a:r>
              <a:rPr kumimoji="0" lang="zh-CN" altLang="en-US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 </a:t>
            </a:r>
          </a:p>
          <a:p>
            <a:pPr marL="457200" indent="-457200"/>
            <a:r>
              <a:rPr kumimoji="0" lang="en-US" altLang="zh-CN" sz="1800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void </a:t>
            </a:r>
            <a:r>
              <a:rPr kumimoji="0" lang="en-US" altLang="zh-CN" sz="18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SaveWord</a:t>
            </a:r>
            <a:r>
              <a:rPr kumimoji="0" lang="en-US" altLang="zh-CN" sz="1800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(char </a:t>
            </a:r>
            <a:r>
              <a:rPr kumimoji="0" lang="en-US" altLang="zh-CN" sz="18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wordstr</a:t>
            </a:r>
            <a:r>
              <a:rPr kumimoji="0" lang="en-US" altLang="zh-CN" sz="1800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[], char word[][20])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{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; 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for(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= 0; word[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][0] &gt; 0;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++)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if (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stricmp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wordstr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, word[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]+1) == 0)</a:t>
            </a:r>
            <a:endParaRPr kumimoji="0" lang="zh-CN" altLang="en-US" sz="1800" b="1" dirty="0">
              <a:solidFill>
                <a:srgbClr val="0000FF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楷体" pitchFamily="49" charset="-122"/>
            </a:endParaRPr>
          </a:p>
          <a:p>
            <a:pPr marL="457200" indent="-457200"/>
            <a:r>
              <a:rPr kumimoji="0" lang="zh-CN" altLang="en-US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{       </a:t>
            </a:r>
            <a:r>
              <a:rPr kumimoji="0" lang="en-US" altLang="zh-CN" sz="16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//</a:t>
            </a:r>
            <a:r>
              <a:rPr kumimoji="0" lang="zh-CN" altLang="en-US" sz="16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" pitchFamily="49" charset="-122"/>
              </a:rPr>
              <a:t>找到了单词</a:t>
            </a:r>
            <a:endParaRPr kumimoji="0" lang="en-US" altLang="zh-CN" sz="1600" b="1" dirty="0">
              <a:solidFill>
                <a:srgbClr val="002060"/>
              </a:solidFill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	   word[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][0]++;   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    return;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}</a:t>
            </a:r>
          </a:p>
          <a:p>
            <a:pPr marL="457200" indent="-457200"/>
            <a:r>
              <a:rPr kumimoji="0" lang="en-US" altLang="zh-CN" sz="18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r>
              <a:rPr kumimoji="0" lang="en-US" altLang="zh-CN" sz="16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kumimoji="0" lang="zh-CN" altLang="en-US" sz="16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没有找到单词，加入到</a:t>
            </a:r>
            <a:r>
              <a:rPr kumimoji="0" lang="en-US" altLang="zh-CN" sz="16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word</a:t>
            </a:r>
            <a:r>
              <a:rPr kumimoji="0" lang="zh-CN" altLang="en-US" sz="16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中</a:t>
            </a:r>
          </a:p>
          <a:p>
            <a:pPr marL="457200" indent="-457200"/>
            <a:r>
              <a:rPr kumimoji="0" lang="zh-CN" altLang="en-US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strcpy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(word[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]+1,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wordstr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);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word[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][0] = 1;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}</a:t>
            </a:r>
          </a:p>
          <a:p>
            <a:pPr marL="457200" indent="-457200"/>
            <a:endParaRPr kumimoji="0" lang="en-US" altLang="zh-CN" sz="1800" b="1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marL="457200" indent="-457200"/>
            <a:r>
              <a:rPr kumimoji="0" lang="en-US" altLang="zh-CN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CC0099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显示单词及出现的次数</a:t>
            </a:r>
          </a:p>
          <a:p>
            <a:pPr marL="457200" indent="-457200"/>
            <a:r>
              <a:rPr kumimoji="0" lang="en-US" altLang="zh-CN" sz="1800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void </a:t>
            </a:r>
            <a:r>
              <a:rPr kumimoji="0" lang="en-US" altLang="zh-CN" sz="18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ShowWord</a:t>
            </a:r>
            <a:r>
              <a:rPr kumimoji="0" lang="en-US" altLang="zh-CN" sz="1800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(char word[][20])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{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printf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("\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nWord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sorting statistics</a:t>
            </a:r>
            <a:r>
              <a:rPr kumimoji="0" lang="zh-CN" altLang="en-US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：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");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for(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= 0; word[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][0] &gt; 0;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++)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	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printf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("%s(%d) ", word[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]+1, word[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][0]);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r>
              <a:rPr kumimoji="0" lang="en-US" altLang="zh-CN" sz="1800" b="1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printf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("\n");  </a:t>
            </a:r>
          </a:p>
          <a:p>
            <a:pPr marL="457200" indent="-457200"/>
            <a:r>
              <a:rPr kumimoji="0"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}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182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8226" grpId="0" animBg="1" autoUpdateAnimBg="0"/>
      <p:bldP spid="7" grpId="0" animBg="1" autoUpdateAnimBg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>
            <a:extLst>
              <a:ext uri="{FF2B5EF4-FFF2-40B4-BE49-F238E27FC236}">
                <a16:creationId xmlns:a16="http://schemas.microsoft.com/office/drawing/2014/main" id="{6AD74EC4-A94B-4F30-A455-378A965659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8.10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函数应用综合举例 </a:t>
            </a:r>
          </a:p>
        </p:txBody>
      </p:sp>
      <p:sp>
        <p:nvSpPr>
          <p:cNvPr id="7" name="Rectangle 18" descr="信纸"/>
          <p:cNvSpPr>
            <a:spLocks noChangeArrowheads="1"/>
          </p:cNvSpPr>
          <p:nvPr/>
        </p:nvSpPr>
        <p:spPr bwMode="auto">
          <a:xfrm>
            <a:off x="734730" y="365678"/>
            <a:ext cx="5289262" cy="6186309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100000" t="100000"/>
            </a:path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457200"/>
            <a:r>
              <a:rPr kumimoji="0" lang="en-US" altLang="zh-CN" sz="1800" b="1" dirty="0">
                <a:solidFill>
                  <a:srgbClr val="CC0099"/>
                </a:solidFill>
                <a:latin typeface="+mn-lt"/>
                <a:ea typeface="楷体" pitchFamily="49" charset="-122"/>
              </a:rPr>
              <a:t>//</a:t>
            </a:r>
            <a:r>
              <a:rPr kumimoji="0" lang="zh-CN" altLang="en-US" sz="1800" b="1" dirty="0">
                <a:solidFill>
                  <a:srgbClr val="CC0099"/>
                </a:solidFill>
                <a:latin typeface="+mn-lt"/>
                <a:ea typeface="楷体" pitchFamily="49" charset="-122"/>
              </a:rPr>
              <a:t>单词排序（采用选择排序）。</a:t>
            </a:r>
          </a:p>
          <a:p>
            <a:pPr marL="457200" indent="-457200"/>
            <a:r>
              <a:rPr kumimoji="0" lang="en-US" altLang="zh-CN" sz="1800" b="1" dirty="0">
                <a:solidFill>
                  <a:srgbClr val="C00000"/>
                </a:solidFill>
              </a:rPr>
              <a:t>void </a:t>
            </a:r>
            <a:r>
              <a:rPr kumimoji="0" lang="en-US" altLang="zh-CN" sz="1800" b="1" dirty="0" err="1">
                <a:solidFill>
                  <a:srgbClr val="C00000"/>
                </a:solidFill>
              </a:rPr>
              <a:t>SortWord</a:t>
            </a:r>
            <a:r>
              <a:rPr kumimoji="0" lang="en-US" altLang="zh-CN" sz="1800" b="1" dirty="0">
                <a:solidFill>
                  <a:srgbClr val="C00000"/>
                </a:solidFill>
              </a:rPr>
              <a:t>(char word[][20]) </a:t>
            </a:r>
          </a:p>
          <a:p>
            <a:pPr marL="457200" indent="-457200"/>
            <a:r>
              <a:rPr kumimoji="0" lang="en-US" altLang="zh-CN" sz="1800" b="1" dirty="0">
                <a:latin typeface="+mn-lt"/>
                <a:ea typeface="楷体" pitchFamily="49" charset="-122"/>
              </a:rPr>
              <a:t>{</a:t>
            </a:r>
          </a:p>
          <a:p>
            <a:pPr marL="457200" indent="-457200"/>
            <a:r>
              <a:rPr kumimoji="0" lang="en-US" altLang="zh-CN" sz="1800" b="1" dirty="0">
                <a:latin typeface="+mn-lt"/>
                <a:ea typeface="楷体" pitchFamily="49" charset="-122"/>
              </a:rPr>
              <a:t>  </a:t>
            </a:r>
            <a:r>
              <a:rPr kumimoji="0" lang="en-US" altLang="zh-CN" sz="1800" b="1" dirty="0" err="1">
                <a:latin typeface="+mn-lt"/>
                <a:ea typeface="楷体" pitchFamily="49" charset="-122"/>
              </a:rPr>
              <a:t>int</a:t>
            </a:r>
            <a:r>
              <a:rPr kumimoji="0" lang="en-US" altLang="zh-CN" sz="1800" b="1" dirty="0">
                <a:latin typeface="+mn-lt"/>
                <a:ea typeface="楷体" pitchFamily="49" charset="-122"/>
              </a:rPr>
              <a:t> </a:t>
            </a:r>
            <a:r>
              <a:rPr kumimoji="0" lang="en-US" altLang="zh-CN" sz="1800" b="1" dirty="0" err="1">
                <a:latin typeface="+mn-lt"/>
                <a:ea typeface="楷体" pitchFamily="49" charset="-122"/>
              </a:rPr>
              <a:t>i</a:t>
            </a:r>
            <a:r>
              <a:rPr kumimoji="0" lang="en-US" altLang="zh-CN" sz="1800" b="1" dirty="0">
                <a:latin typeface="+mn-lt"/>
                <a:ea typeface="楷体" pitchFamily="49" charset="-122"/>
              </a:rPr>
              <a:t>, j, k;</a:t>
            </a:r>
          </a:p>
          <a:p>
            <a:pPr marL="457200" indent="-457200"/>
            <a:r>
              <a:rPr kumimoji="0" lang="en-US" altLang="zh-CN" sz="1800" b="1" dirty="0">
                <a:latin typeface="+mn-lt"/>
                <a:ea typeface="楷体" pitchFamily="49" charset="-122"/>
              </a:rPr>
              <a:t>  char temp[20];</a:t>
            </a:r>
          </a:p>
          <a:p>
            <a:pPr marL="457200" indent="-457200"/>
            <a:endParaRPr kumimoji="0" lang="en-US" altLang="zh-CN" sz="1800" b="1" dirty="0">
              <a:latin typeface="+mn-lt"/>
              <a:ea typeface="楷体" pitchFamily="49" charset="-122"/>
            </a:endParaRPr>
          </a:p>
          <a:p>
            <a:pPr marL="457200" indent="-457200"/>
            <a:r>
              <a:rPr kumimoji="0" lang="en-US" altLang="zh-CN" sz="1800" b="1" dirty="0">
                <a:latin typeface="+mn-lt"/>
                <a:ea typeface="楷体" pitchFamily="49" charset="-122"/>
              </a:rPr>
              <a:t>  for(</a:t>
            </a:r>
            <a:r>
              <a:rPr kumimoji="0" lang="en-US" altLang="zh-CN" sz="1800" b="1" dirty="0" err="1">
                <a:latin typeface="+mn-lt"/>
                <a:ea typeface="楷体" pitchFamily="49" charset="-122"/>
              </a:rPr>
              <a:t>i</a:t>
            </a:r>
            <a:r>
              <a:rPr kumimoji="0" lang="en-US" altLang="zh-CN" sz="1800" b="1" dirty="0">
                <a:latin typeface="+mn-lt"/>
                <a:ea typeface="楷体" pitchFamily="49" charset="-122"/>
              </a:rPr>
              <a:t> = 0; word[</a:t>
            </a:r>
            <a:r>
              <a:rPr kumimoji="0" lang="en-US" altLang="zh-CN" sz="1800" b="1" dirty="0" err="1">
                <a:latin typeface="+mn-lt"/>
                <a:ea typeface="楷体" pitchFamily="49" charset="-122"/>
              </a:rPr>
              <a:t>i</a:t>
            </a:r>
            <a:r>
              <a:rPr kumimoji="0" lang="en-US" altLang="zh-CN" sz="1800" b="1" dirty="0">
                <a:latin typeface="+mn-lt"/>
                <a:ea typeface="楷体" pitchFamily="49" charset="-122"/>
              </a:rPr>
              <a:t>][0] &gt; 0; </a:t>
            </a:r>
            <a:r>
              <a:rPr kumimoji="0" lang="en-US" altLang="zh-CN" sz="1800" b="1" dirty="0" err="1">
                <a:latin typeface="+mn-lt"/>
                <a:ea typeface="楷体" pitchFamily="49" charset="-122"/>
              </a:rPr>
              <a:t>i</a:t>
            </a:r>
            <a:r>
              <a:rPr kumimoji="0" lang="en-US" altLang="zh-CN" sz="1800" b="1" dirty="0">
                <a:latin typeface="+mn-lt"/>
                <a:ea typeface="楷体" pitchFamily="49" charset="-122"/>
              </a:rPr>
              <a:t>++)</a:t>
            </a:r>
          </a:p>
          <a:p>
            <a:pPr marL="457200" indent="-457200"/>
            <a:r>
              <a:rPr kumimoji="0" lang="en-US" altLang="zh-CN" sz="1800" b="1" dirty="0">
                <a:latin typeface="+mn-lt"/>
                <a:ea typeface="楷体" pitchFamily="49" charset="-122"/>
              </a:rPr>
              <a:t>  {</a:t>
            </a:r>
          </a:p>
          <a:p>
            <a:pPr marL="457200" indent="-457200"/>
            <a:r>
              <a:rPr kumimoji="0" lang="en-US" altLang="zh-CN" sz="1800" b="1" dirty="0">
                <a:latin typeface="+mn-lt"/>
                <a:ea typeface="楷体" pitchFamily="49" charset="-122"/>
              </a:rPr>
              <a:t>     k = </a:t>
            </a:r>
            <a:r>
              <a:rPr kumimoji="0" lang="en-US" altLang="zh-CN" sz="1800" b="1" dirty="0" err="1">
                <a:latin typeface="+mn-lt"/>
                <a:ea typeface="楷体" pitchFamily="49" charset="-122"/>
              </a:rPr>
              <a:t>i</a:t>
            </a:r>
            <a:r>
              <a:rPr kumimoji="0" lang="en-US" altLang="zh-CN" sz="1800" b="1" dirty="0">
                <a:latin typeface="+mn-lt"/>
                <a:ea typeface="楷体" pitchFamily="49" charset="-122"/>
              </a:rPr>
              <a:t>;</a:t>
            </a:r>
          </a:p>
          <a:p>
            <a:pPr marL="457200" indent="-457200"/>
            <a:r>
              <a:rPr kumimoji="0" lang="en-US" altLang="zh-CN" sz="1800" b="1" dirty="0">
                <a:latin typeface="+mn-lt"/>
                <a:ea typeface="楷体" pitchFamily="49" charset="-122"/>
              </a:rPr>
              <a:t>     for(j = i+1; word[j][0] &gt; 0; j++)</a:t>
            </a:r>
          </a:p>
          <a:p>
            <a:pPr marL="457200" indent="-457200"/>
            <a:r>
              <a:rPr kumimoji="0" lang="en-US" altLang="zh-CN" sz="1800" b="1" dirty="0">
                <a:latin typeface="+mn-lt"/>
                <a:ea typeface="楷体" pitchFamily="49" charset="-122"/>
              </a:rPr>
              <a:t>	if ((word[j][0] &gt; word[k][0]) || </a:t>
            </a:r>
          </a:p>
          <a:p>
            <a:pPr marL="457200" indent="-457200"/>
            <a:r>
              <a:rPr kumimoji="0" lang="en-US" altLang="zh-CN" sz="1800" b="1" dirty="0">
                <a:latin typeface="+mn-lt"/>
                <a:ea typeface="楷体" pitchFamily="49" charset="-122"/>
              </a:rPr>
              <a:t>	     (word[j][0] == word[k][0] &amp;&amp;                                     </a:t>
            </a:r>
          </a:p>
          <a:p>
            <a:pPr marL="457200" indent="-457200"/>
            <a:r>
              <a:rPr kumimoji="0" lang="en-US" altLang="zh-CN" sz="1800" b="1" dirty="0">
                <a:latin typeface="+mn-lt"/>
                <a:ea typeface="楷体" pitchFamily="49" charset="-122"/>
              </a:rPr>
              <a:t>              </a:t>
            </a:r>
            <a:r>
              <a:rPr kumimoji="0" lang="en-US" altLang="zh-CN" sz="1800" b="1" dirty="0" err="1">
                <a:latin typeface="+mn-lt"/>
                <a:ea typeface="楷体" pitchFamily="49" charset="-122"/>
              </a:rPr>
              <a:t>stricmp</a:t>
            </a:r>
            <a:r>
              <a:rPr kumimoji="0" lang="en-US" altLang="zh-CN" sz="1800" b="1" dirty="0">
                <a:latin typeface="+mn-lt"/>
                <a:ea typeface="楷体" pitchFamily="49" charset="-122"/>
              </a:rPr>
              <a:t>(word[j]+1,word[k]+1) &lt; 0))</a:t>
            </a:r>
          </a:p>
          <a:p>
            <a:pPr marL="457200" indent="-457200"/>
            <a:r>
              <a:rPr kumimoji="0" lang="en-US" altLang="zh-CN" sz="1800" b="1" dirty="0">
                <a:latin typeface="+mn-lt"/>
                <a:ea typeface="楷体" pitchFamily="49" charset="-122"/>
              </a:rPr>
              <a:t>	      k = j;</a:t>
            </a:r>
          </a:p>
          <a:p>
            <a:pPr marL="457200" indent="-457200"/>
            <a:r>
              <a:rPr kumimoji="0" lang="en-US" altLang="zh-CN" sz="1800" b="1" dirty="0">
                <a:latin typeface="+mn-lt"/>
                <a:ea typeface="楷体" pitchFamily="49" charset="-122"/>
              </a:rPr>
              <a:t>     if (k != </a:t>
            </a:r>
            <a:r>
              <a:rPr kumimoji="0" lang="en-US" altLang="zh-CN" sz="1800" b="1" dirty="0" err="1">
                <a:latin typeface="+mn-lt"/>
                <a:ea typeface="楷体" pitchFamily="49" charset="-122"/>
              </a:rPr>
              <a:t>i</a:t>
            </a:r>
            <a:r>
              <a:rPr kumimoji="0" lang="en-US" altLang="zh-CN" sz="1800" b="1" dirty="0">
                <a:latin typeface="+mn-lt"/>
                <a:ea typeface="楷体" pitchFamily="49" charset="-122"/>
              </a:rPr>
              <a:t>)</a:t>
            </a:r>
          </a:p>
          <a:p>
            <a:pPr marL="457200" indent="-457200"/>
            <a:r>
              <a:rPr kumimoji="0" lang="en-US" altLang="zh-CN" sz="1800" b="1" dirty="0">
                <a:latin typeface="+mn-lt"/>
                <a:ea typeface="楷体" pitchFamily="49" charset="-122"/>
              </a:rPr>
              <a:t>     {</a:t>
            </a:r>
          </a:p>
          <a:p>
            <a:pPr marL="457200" indent="-457200"/>
            <a:r>
              <a:rPr kumimoji="0" lang="en-US" altLang="zh-CN" sz="1800" b="1" dirty="0">
                <a:latin typeface="+mn-lt"/>
                <a:ea typeface="楷体" pitchFamily="49" charset="-122"/>
              </a:rPr>
              <a:t>	 </a:t>
            </a:r>
            <a:r>
              <a:rPr kumimoji="0" lang="en-US" altLang="zh-CN" sz="1800" b="1" dirty="0" err="1">
                <a:latin typeface="+mn-lt"/>
                <a:ea typeface="楷体" pitchFamily="49" charset="-122"/>
              </a:rPr>
              <a:t>strcpy</a:t>
            </a:r>
            <a:r>
              <a:rPr kumimoji="0" lang="en-US" altLang="zh-CN" sz="1800" b="1" dirty="0">
                <a:latin typeface="+mn-lt"/>
                <a:ea typeface="楷体" pitchFamily="49" charset="-122"/>
              </a:rPr>
              <a:t>(temp, word[</a:t>
            </a:r>
            <a:r>
              <a:rPr kumimoji="0" lang="en-US" altLang="zh-CN" sz="1800" b="1" dirty="0" err="1">
                <a:latin typeface="+mn-lt"/>
                <a:ea typeface="楷体" pitchFamily="49" charset="-122"/>
              </a:rPr>
              <a:t>i</a:t>
            </a:r>
            <a:r>
              <a:rPr kumimoji="0" lang="en-US" altLang="zh-CN" sz="1800" b="1" dirty="0">
                <a:latin typeface="+mn-lt"/>
                <a:ea typeface="楷体" pitchFamily="49" charset="-122"/>
              </a:rPr>
              <a:t>]);</a:t>
            </a:r>
          </a:p>
          <a:p>
            <a:pPr marL="457200" indent="-457200"/>
            <a:r>
              <a:rPr kumimoji="0" lang="en-US" altLang="zh-CN" sz="1800" b="1" dirty="0">
                <a:latin typeface="+mn-lt"/>
                <a:ea typeface="楷体" pitchFamily="49" charset="-122"/>
              </a:rPr>
              <a:t>	 </a:t>
            </a:r>
            <a:r>
              <a:rPr kumimoji="0" lang="en-US" altLang="zh-CN" sz="1800" b="1" dirty="0" err="1">
                <a:latin typeface="+mn-lt"/>
                <a:ea typeface="楷体" pitchFamily="49" charset="-122"/>
              </a:rPr>
              <a:t>strcpy</a:t>
            </a:r>
            <a:r>
              <a:rPr kumimoji="0" lang="en-US" altLang="zh-CN" sz="1800" b="1" dirty="0">
                <a:latin typeface="+mn-lt"/>
                <a:ea typeface="楷体" pitchFamily="49" charset="-122"/>
              </a:rPr>
              <a:t>(word[</a:t>
            </a:r>
            <a:r>
              <a:rPr kumimoji="0" lang="en-US" altLang="zh-CN" sz="1800" b="1" dirty="0" err="1">
                <a:latin typeface="+mn-lt"/>
                <a:ea typeface="楷体" pitchFamily="49" charset="-122"/>
              </a:rPr>
              <a:t>i</a:t>
            </a:r>
            <a:r>
              <a:rPr kumimoji="0" lang="en-US" altLang="zh-CN" sz="1800" b="1" dirty="0">
                <a:latin typeface="+mn-lt"/>
                <a:ea typeface="楷体" pitchFamily="49" charset="-122"/>
              </a:rPr>
              <a:t>], word[k]);</a:t>
            </a:r>
          </a:p>
          <a:p>
            <a:pPr marL="457200" indent="-457200"/>
            <a:r>
              <a:rPr kumimoji="0" lang="en-US" altLang="zh-CN" sz="1800" b="1" dirty="0">
                <a:latin typeface="+mn-lt"/>
                <a:ea typeface="楷体" pitchFamily="49" charset="-122"/>
              </a:rPr>
              <a:t>         </a:t>
            </a:r>
            <a:r>
              <a:rPr kumimoji="0" lang="en-US" altLang="zh-CN" sz="1800" b="1" dirty="0" err="1">
                <a:latin typeface="+mn-lt"/>
                <a:ea typeface="楷体" pitchFamily="49" charset="-122"/>
              </a:rPr>
              <a:t>strcpy</a:t>
            </a:r>
            <a:r>
              <a:rPr kumimoji="0" lang="en-US" altLang="zh-CN" sz="1800" b="1" dirty="0">
                <a:latin typeface="+mn-lt"/>
                <a:ea typeface="楷体" pitchFamily="49" charset="-122"/>
              </a:rPr>
              <a:t>(word[k], temp);</a:t>
            </a:r>
          </a:p>
          <a:p>
            <a:pPr marL="457200" indent="-457200"/>
            <a:r>
              <a:rPr kumimoji="0" lang="en-US" altLang="zh-CN" sz="1800" b="1" dirty="0">
                <a:latin typeface="+mn-lt"/>
                <a:ea typeface="楷体" pitchFamily="49" charset="-122"/>
              </a:rPr>
              <a:t>     }</a:t>
            </a:r>
          </a:p>
          <a:p>
            <a:pPr marL="457200" indent="-457200"/>
            <a:r>
              <a:rPr kumimoji="0" lang="en-US" altLang="zh-CN" sz="1800" b="1" dirty="0">
                <a:latin typeface="+mn-lt"/>
                <a:ea typeface="楷体" pitchFamily="49" charset="-122"/>
              </a:rPr>
              <a:t>  }</a:t>
            </a:r>
          </a:p>
          <a:p>
            <a:pPr marL="457200" indent="-457200"/>
            <a:r>
              <a:rPr kumimoji="0" lang="en-US" altLang="zh-CN" sz="1800" b="1" dirty="0">
                <a:latin typeface="+mn-lt"/>
                <a:ea typeface="楷体" pitchFamily="49" charset="-122"/>
              </a:rPr>
              <a:t>}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80F7BE6E-B17E-4B29-B2D0-CFEFA2D15E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2024" y="4524796"/>
            <a:ext cx="5616624" cy="2000548"/>
          </a:xfrm>
          <a:prstGeom prst="rect">
            <a:avLst/>
          </a:prstGeom>
          <a:solidFill>
            <a:srgbClr val="FFFFFF"/>
          </a:soli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隶书" pitchFamily="49" charset="-122"/>
                <a:ea typeface="隶书" pitchFamily="49" charset="-122"/>
              </a:rPr>
              <a:t>运行结果：</a:t>
            </a:r>
          </a:p>
          <a:p>
            <a:r>
              <a:rPr lang="en-US" altLang="zh-CN" sz="2000" b="1" dirty="0"/>
              <a:t>Green is on the left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Red is on the Right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the right is afraid of water, the left is afraid of insects.</a:t>
            </a:r>
          </a:p>
          <a:p>
            <a:r>
              <a:rPr kumimoji="0" lang="en-US" altLang="zh-CN" sz="2000" b="1" dirty="0">
                <a:solidFill>
                  <a:srgbClr val="002060"/>
                </a:solidFill>
              </a:rPr>
              <a:t>Word sorting statistics</a:t>
            </a:r>
            <a:r>
              <a:rPr kumimoji="0" lang="zh-CN" altLang="en-US" sz="2000" b="1" dirty="0">
                <a:solidFill>
                  <a:srgbClr val="002060"/>
                </a:solidFill>
              </a:rPr>
              <a:t>： </a:t>
            </a:r>
            <a:r>
              <a:rPr lang="en-US" altLang="zh-CN" sz="2000" b="1" dirty="0">
                <a:solidFill>
                  <a:srgbClr val="C00000"/>
                </a:solidFill>
              </a:rPr>
              <a:t>is(4)  the(4) afraid(2)  left(2)  of(2)  on(2)  right(2) Green(1)  insects(1)  Red(1)  water(1)   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 autoUpdateAnimBg="0"/>
      <p:bldP spid="8" grpId="0" animBg="1" autoUpdateAnimBg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312" name="Rectangle 8"/>
          <p:cNvSpPr>
            <a:spLocks noChangeArrowheads="1"/>
          </p:cNvSpPr>
          <p:nvPr/>
        </p:nvSpPr>
        <p:spPr bwMode="auto">
          <a:xfrm>
            <a:off x="1415274" y="1428916"/>
            <a:ext cx="10225342" cy="2936188"/>
          </a:xfrm>
          <a:prstGeom prst="rect">
            <a:avLst/>
          </a:prstGeom>
          <a:gradFill flip="none" rotWithShape="1">
            <a:gsLst>
              <a:gs pos="0">
                <a:schemeClr val="bg1">
                  <a:shade val="30000"/>
                  <a:satMod val="115000"/>
                </a:schemeClr>
              </a:gs>
              <a:gs pos="50000">
                <a:schemeClr val="bg1">
                  <a:shade val="67500"/>
                  <a:satMod val="115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3500000" scaled="1"/>
            <a:tileRect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pPr>
              <a:lnSpc>
                <a:spcPts val="2800"/>
              </a:lnSpc>
              <a:buClr>
                <a:srgbClr val="C01920"/>
              </a:buClr>
              <a:buFont typeface="Wingdings" pitchFamily="2" charset="2"/>
              <a:buChar char="ü"/>
              <a:tabLst>
                <a:tab pos="228600" algn="l"/>
              </a:tabLst>
            </a:pP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000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标准库函数：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由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系统提供的函数；</a:t>
            </a:r>
          </a:p>
          <a:p>
            <a:pPr>
              <a:lnSpc>
                <a:spcPts val="2800"/>
              </a:lnSpc>
              <a:buClr>
                <a:srgbClr val="C01920"/>
              </a:buClr>
              <a:buFont typeface="Wingdings" pitchFamily="2" charset="2"/>
              <a:buChar char="ü"/>
              <a:tabLst>
                <a:tab pos="228600" algn="l"/>
              </a:tabLst>
            </a:pPr>
            <a:r>
              <a:rPr lang="zh-CN" altLang="en-US" sz="2000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用户自定义函数：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由用户自己定义的函数；</a:t>
            </a:r>
          </a:p>
          <a:p>
            <a:pPr>
              <a:lnSpc>
                <a:spcPts val="2800"/>
              </a:lnSpc>
              <a:buClr>
                <a:srgbClr val="C01920"/>
              </a:buClr>
              <a:buFont typeface="Wingdings" pitchFamily="2" charset="2"/>
              <a:buChar char="ü"/>
              <a:tabLst>
                <a:tab pos="228600" algn="l"/>
              </a:tabLst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000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有返回值的函数：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向调用者返回函数值，应说明函数类型（即返回值的类型）；</a:t>
            </a:r>
          </a:p>
          <a:p>
            <a:pPr>
              <a:lnSpc>
                <a:spcPts val="2800"/>
              </a:lnSpc>
              <a:buClr>
                <a:srgbClr val="C01920"/>
              </a:buClr>
              <a:buFont typeface="Wingdings" pitchFamily="2" charset="2"/>
              <a:buChar char="ü"/>
              <a:tabLst>
                <a:tab pos="228600" algn="l"/>
              </a:tabLst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000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无返回值的函数：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不返回函数值，说明为空（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void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）类型；</a:t>
            </a:r>
          </a:p>
          <a:p>
            <a:pPr>
              <a:lnSpc>
                <a:spcPts val="2800"/>
              </a:lnSpc>
              <a:buClr>
                <a:srgbClr val="C01920"/>
              </a:buClr>
              <a:buFont typeface="Wingdings" pitchFamily="2" charset="2"/>
              <a:buChar char="ü"/>
              <a:tabLst>
                <a:tab pos="228600" algn="l"/>
              </a:tabLst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000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有参函数：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主调函数向被调函数传送数据；</a:t>
            </a:r>
          </a:p>
          <a:p>
            <a:pPr>
              <a:lnSpc>
                <a:spcPts val="2800"/>
              </a:lnSpc>
              <a:buClr>
                <a:srgbClr val="C01920"/>
              </a:buClr>
              <a:buFont typeface="Wingdings" pitchFamily="2" charset="2"/>
              <a:buChar char="ü"/>
              <a:tabLst>
                <a:tab pos="228600" algn="l"/>
              </a:tabLst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000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无参函数：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主调函数与被调函数间无数据传送；</a:t>
            </a:r>
          </a:p>
          <a:p>
            <a:pPr>
              <a:lnSpc>
                <a:spcPts val="2800"/>
              </a:lnSpc>
              <a:buClr>
                <a:srgbClr val="C01920"/>
              </a:buClr>
              <a:buFont typeface="Wingdings" pitchFamily="2" charset="2"/>
              <a:buChar char="ü"/>
              <a:tabLst>
                <a:tab pos="228600" algn="l"/>
              </a:tabLst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000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内部函数：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只能在本源文件中使用的函数；</a:t>
            </a:r>
          </a:p>
          <a:p>
            <a:pPr>
              <a:lnSpc>
                <a:spcPts val="2800"/>
              </a:lnSpc>
              <a:buClr>
                <a:srgbClr val="C01920"/>
              </a:buClr>
              <a:buFont typeface="Wingdings" pitchFamily="2" charset="2"/>
              <a:buChar char="ü"/>
              <a:tabLst>
                <a:tab pos="228600" algn="l"/>
              </a:tabLst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000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外部函数：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可在整个源程序中使用的函数。</a:t>
            </a:r>
          </a:p>
        </p:txBody>
      </p:sp>
      <p:sp>
        <p:nvSpPr>
          <p:cNvPr id="1122313" name="Rectangle 9"/>
          <p:cNvSpPr>
            <a:spLocks noChangeArrowheads="1"/>
          </p:cNvSpPr>
          <p:nvPr/>
        </p:nvSpPr>
        <p:spPr bwMode="auto">
          <a:xfrm>
            <a:off x="856635" y="875060"/>
            <a:ext cx="21764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、函数的分类</a:t>
            </a:r>
          </a:p>
        </p:txBody>
      </p:sp>
      <p:sp>
        <p:nvSpPr>
          <p:cNvPr id="1122314" name="Rectangle 10"/>
          <p:cNvSpPr>
            <a:spLocks noChangeArrowheads="1"/>
          </p:cNvSpPr>
          <p:nvPr/>
        </p:nvSpPr>
        <p:spPr bwMode="auto">
          <a:xfrm>
            <a:off x="856635" y="4434373"/>
            <a:ext cx="343395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tabLst>
                <a:tab pos="228600" algn="l"/>
              </a:tabLst>
            </a:pP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、函数定义的一般形式</a:t>
            </a:r>
          </a:p>
        </p:txBody>
      </p:sp>
      <p:sp>
        <p:nvSpPr>
          <p:cNvPr id="1122315" name="Text Box 11"/>
          <p:cNvSpPr txBox="1">
            <a:spLocks noChangeArrowheads="1"/>
          </p:cNvSpPr>
          <p:nvPr/>
        </p:nvSpPr>
        <p:spPr bwMode="auto">
          <a:xfrm>
            <a:off x="1400695" y="4941986"/>
            <a:ext cx="10239921" cy="503238"/>
          </a:xfrm>
          <a:prstGeom prst="rect">
            <a:avLst/>
          </a:prstGeom>
          <a:gradFill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ctr"/>
            <a:r>
              <a:rPr lang="en-US" altLang="zh-CN" sz="2000" b="1" dirty="0">
                <a:solidFill>
                  <a:srgbClr val="C01920"/>
                </a:solidFill>
                <a:latin typeface="+mn-lt"/>
                <a:ea typeface="隶书" pitchFamily="49" charset="-122"/>
              </a:rPr>
              <a:t>[extern/static]  </a:t>
            </a:r>
            <a:r>
              <a:rPr lang="zh-CN" altLang="en-US" sz="2000" b="1" dirty="0">
                <a:solidFill>
                  <a:srgbClr val="C01920"/>
                </a:solidFill>
                <a:latin typeface="+mn-lt"/>
                <a:ea typeface="隶书" pitchFamily="49" charset="-122"/>
              </a:rPr>
              <a:t>类型说明符  函数名</a:t>
            </a:r>
            <a:r>
              <a:rPr lang="en-US" altLang="zh-CN" sz="2000" b="1" dirty="0">
                <a:solidFill>
                  <a:srgbClr val="C01920"/>
                </a:solidFill>
                <a:latin typeface="+mn-lt"/>
                <a:ea typeface="隶书" pitchFamily="49" charset="-122"/>
              </a:rPr>
              <a:t>([</a:t>
            </a:r>
            <a:r>
              <a:rPr lang="zh-CN" altLang="en-US" sz="2000" b="1" dirty="0">
                <a:solidFill>
                  <a:srgbClr val="C01920"/>
                </a:solidFill>
                <a:latin typeface="+mn-lt"/>
                <a:ea typeface="隶书" pitchFamily="49" charset="-122"/>
              </a:rPr>
              <a:t>形参列表</a:t>
            </a:r>
            <a:r>
              <a:rPr lang="en-US" altLang="zh-CN" sz="2000" b="1" dirty="0">
                <a:solidFill>
                  <a:srgbClr val="C01920"/>
                </a:solidFill>
                <a:latin typeface="+mn-lt"/>
                <a:ea typeface="隶书" pitchFamily="49" charset="-122"/>
              </a:rPr>
              <a:t>])  {  </a:t>
            </a:r>
            <a:r>
              <a:rPr lang="zh-CN" altLang="en-US" sz="2000" b="1" dirty="0">
                <a:solidFill>
                  <a:srgbClr val="C01920"/>
                </a:solidFill>
                <a:latin typeface="+mn-lt"/>
                <a:ea typeface="隶书" pitchFamily="49" charset="-122"/>
              </a:rPr>
              <a:t>声明部分   执行部分  </a:t>
            </a:r>
            <a:r>
              <a:rPr lang="en-US" altLang="zh-CN" sz="2000" b="1" dirty="0">
                <a:solidFill>
                  <a:srgbClr val="C01920"/>
                </a:solidFill>
                <a:latin typeface="+mn-lt"/>
                <a:ea typeface="隶书" pitchFamily="49" charset="-122"/>
              </a:rPr>
              <a:t>}</a:t>
            </a:r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467397" y="5529398"/>
            <a:ext cx="55864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    3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、函数说明的一般形式 </a:t>
            </a:r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1400676" y="6004260"/>
            <a:ext cx="5703436" cy="503237"/>
          </a:xfrm>
          <a:prstGeom prst="rect">
            <a:avLst/>
          </a:prstGeom>
          <a:gradFill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ctr"/>
            <a:r>
              <a:rPr lang="en-US" altLang="zh-CN" sz="2000" b="1" dirty="0">
                <a:solidFill>
                  <a:srgbClr val="C01920"/>
                </a:solidFill>
                <a:latin typeface="+mn-lt"/>
                <a:ea typeface="隶书" pitchFamily="49" charset="-122"/>
              </a:rPr>
              <a:t>[extern]  </a:t>
            </a:r>
            <a:r>
              <a:rPr lang="zh-CN" altLang="en-US" sz="2000" b="1" dirty="0">
                <a:solidFill>
                  <a:srgbClr val="C01920"/>
                </a:solidFill>
                <a:latin typeface="+mn-lt"/>
                <a:ea typeface="隶书" pitchFamily="49" charset="-122"/>
              </a:rPr>
              <a:t>类型说明符  函数名（</a:t>
            </a:r>
            <a:r>
              <a:rPr lang="en-US" altLang="zh-CN" sz="2000" b="1" dirty="0">
                <a:solidFill>
                  <a:srgbClr val="C01920"/>
                </a:solidFill>
                <a:latin typeface="+mn-lt"/>
                <a:ea typeface="隶书" pitchFamily="49" charset="-122"/>
              </a:rPr>
              <a:t>[</a:t>
            </a:r>
            <a:r>
              <a:rPr lang="zh-CN" altLang="en-US" sz="2000" b="1" dirty="0">
                <a:solidFill>
                  <a:srgbClr val="C01920"/>
                </a:solidFill>
                <a:latin typeface="+mn-lt"/>
                <a:ea typeface="隶书" pitchFamily="49" charset="-122"/>
              </a:rPr>
              <a:t>形参列表</a:t>
            </a:r>
            <a:r>
              <a:rPr lang="en-US" altLang="zh-CN" sz="2000" b="1" dirty="0">
                <a:solidFill>
                  <a:srgbClr val="C01920"/>
                </a:solidFill>
                <a:latin typeface="+mn-lt"/>
                <a:ea typeface="隶书" pitchFamily="49" charset="-122"/>
              </a:rPr>
              <a:t>]</a:t>
            </a:r>
            <a:r>
              <a:rPr lang="zh-CN" altLang="en-US" sz="2000" b="1" dirty="0">
                <a:solidFill>
                  <a:srgbClr val="C01920"/>
                </a:solidFill>
                <a:latin typeface="+mn-lt"/>
                <a:ea typeface="隶书" pitchFamily="49" charset="-122"/>
              </a:rPr>
              <a:t>）；</a:t>
            </a:r>
            <a:r>
              <a:rPr lang="zh-CN" altLang="en-US" dirty="0">
                <a:solidFill>
                  <a:srgbClr val="C01920"/>
                </a:solidFill>
                <a:latin typeface="+mn-lt"/>
                <a:ea typeface="隶书" pitchFamily="49" charset="-122"/>
              </a:rPr>
              <a:t> </a:t>
            </a:r>
            <a:endParaRPr lang="zh-CN" altLang="en-US" sz="2000" b="1" dirty="0">
              <a:solidFill>
                <a:srgbClr val="C01920"/>
              </a:solidFill>
              <a:latin typeface="+mn-lt"/>
              <a:ea typeface="隶书" pitchFamily="49" charset="-122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7104113" y="5527182"/>
            <a:ext cx="475252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/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    4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、函数调用的一般形式</a:t>
            </a:r>
          </a:p>
        </p:txBody>
      </p: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8040216" y="6002228"/>
            <a:ext cx="3600400" cy="503238"/>
          </a:xfrm>
          <a:prstGeom prst="rect">
            <a:avLst/>
          </a:prstGeom>
          <a:gradFill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ctr"/>
            <a:r>
              <a:rPr lang="zh-CN" altLang="en-US" sz="2000" b="1">
                <a:solidFill>
                  <a:srgbClr val="C01920"/>
                </a:solidFill>
                <a:latin typeface="+mn-lt"/>
                <a:ea typeface="隶书" pitchFamily="49" charset="-122"/>
              </a:rPr>
              <a:t>函数名（</a:t>
            </a:r>
            <a:r>
              <a:rPr lang="en-US" altLang="zh-CN" sz="2000" b="1">
                <a:solidFill>
                  <a:srgbClr val="C01920"/>
                </a:solidFill>
                <a:latin typeface="+mn-lt"/>
                <a:ea typeface="隶书" pitchFamily="49" charset="-122"/>
              </a:rPr>
              <a:t>[</a:t>
            </a:r>
            <a:r>
              <a:rPr lang="zh-CN" altLang="en-US" sz="2000" b="1">
                <a:solidFill>
                  <a:srgbClr val="C01920"/>
                </a:solidFill>
                <a:latin typeface="+mn-lt"/>
                <a:ea typeface="隶书" pitchFamily="49" charset="-122"/>
              </a:rPr>
              <a:t>实参列表</a:t>
            </a:r>
            <a:r>
              <a:rPr lang="en-US" altLang="zh-CN" sz="2000" b="1">
                <a:solidFill>
                  <a:srgbClr val="C01920"/>
                </a:solidFill>
                <a:latin typeface="+mn-lt"/>
                <a:ea typeface="隶书" pitchFamily="49" charset="-122"/>
              </a:rPr>
              <a:t>]</a:t>
            </a:r>
            <a:r>
              <a:rPr lang="zh-CN" altLang="en-US" sz="2000" b="1">
                <a:solidFill>
                  <a:srgbClr val="C01920"/>
                </a:solidFill>
                <a:latin typeface="+mn-lt"/>
                <a:ea typeface="隶书" pitchFamily="49" charset="-122"/>
              </a:rPr>
              <a:t>）</a:t>
            </a: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D88BAD11-E6C2-42EB-A92D-132A40DDC8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本章小结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23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23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11223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22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22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11223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2312" grpId="0" animBg="1"/>
      <p:bldP spid="1122313" grpId="0"/>
      <p:bldP spid="1122314" grpId="0"/>
      <p:bldP spid="1122315" grpId="0" animBg="1"/>
      <p:bldP spid="10" grpId="0"/>
      <p:bldP spid="11" grpId="0" animBg="1"/>
      <p:bldP spid="12" grpId="0"/>
      <p:bldP spid="13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341" name="Rectangle 13"/>
          <p:cNvSpPr>
            <a:spLocks noChangeArrowheads="1"/>
          </p:cNvSpPr>
          <p:nvPr/>
        </p:nvSpPr>
        <p:spPr bwMode="auto">
          <a:xfrm>
            <a:off x="578854" y="930664"/>
            <a:ext cx="11133770" cy="5090624"/>
          </a:xfrm>
          <a:prstGeom prst="rect">
            <a:avLst/>
          </a:prstGeom>
          <a:gradFill flip="none" rotWithShape="1">
            <a:gsLst>
              <a:gs pos="0">
                <a:schemeClr val="bg1">
                  <a:shade val="30000"/>
                  <a:satMod val="115000"/>
                </a:schemeClr>
              </a:gs>
              <a:gs pos="50000">
                <a:schemeClr val="bg1">
                  <a:shade val="67500"/>
                  <a:satMod val="115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3500000" scaled="1"/>
            <a:tileRect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pPr marL="450850" indent="-269875">
              <a:lnSpc>
                <a:spcPts val="2800"/>
              </a:lnSpc>
              <a:buClr>
                <a:srgbClr val="C00000"/>
              </a:buClr>
              <a:buFont typeface="Wingdings" pitchFamily="2" charset="2"/>
              <a:buChar char="Ø"/>
              <a:tabLst>
                <a:tab pos="2286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函数的参数分为</a:t>
            </a:r>
            <a:r>
              <a:rPr lang="zh-CN" altLang="en-US" sz="2000" b="1" dirty="0">
                <a:solidFill>
                  <a:srgbClr val="C0192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形参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zh-CN" altLang="en-US" sz="2000" b="1" dirty="0">
                <a:solidFill>
                  <a:srgbClr val="C0192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实参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两种，形参出现在函数定义中，实参出现在函数调用中，发生函数调用时，将把实参的值传送给形参。</a:t>
            </a:r>
          </a:p>
          <a:p>
            <a:pPr marL="450850" indent="-269875">
              <a:lnSpc>
                <a:spcPts val="2800"/>
              </a:lnSpc>
              <a:buClr>
                <a:srgbClr val="C00000"/>
              </a:buClr>
              <a:buFont typeface="Wingdings" pitchFamily="2" charset="2"/>
              <a:buChar char="Ø"/>
              <a:tabLst>
                <a:tab pos="2286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函数的值是指函数的返回值，它是在函数中由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return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语句返回的。</a:t>
            </a:r>
            <a:endParaRPr lang="en-US" altLang="zh-CN" sz="2000" b="1" dirty="0">
              <a:effectLst>
                <a:outerShdw blurRad="38100" dist="38100" dir="2700000" algn="tl">
                  <a:srgbClr val="FFFFFF"/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450850" indent="-269875">
              <a:lnSpc>
                <a:spcPts val="2800"/>
              </a:lnSpc>
              <a:buClr>
                <a:srgbClr val="C00000"/>
              </a:buClr>
              <a:buFont typeface="Wingdings" pitchFamily="2" charset="2"/>
              <a:buChar char="Ø"/>
              <a:tabLst>
                <a:tab pos="2286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函数调用时参数的传递方式有两种：</a:t>
            </a:r>
            <a:r>
              <a:rPr lang="zh-CN" altLang="en-US" sz="2000" b="1" dirty="0">
                <a:solidFill>
                  <a:srgbClr val="C0192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传值调用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zh-CN" altLang="en-US" sz="2000" b="1" dirty="0">
                <a:solidFill>
                  <a:srgbClr val="C0192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传址调用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  <a:p>
            <a:pPr marL="450850" lvl="1" indent="-269875">
              <a:lnSpc>
                <a:spcPts val="2800"/>
              </a:lnSpc>
              <a:buClr>
                <a:srgbClr val="C00000"/>
              </a:buClr>
              <a:buFont typeface="Wingdings" pitchFamily="2" charset="2"/>
              <a:buChar char="Ø"/>
              <a:tabLst>
                <a:tab pos="2286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Ｃ语言中，不允许函数嵌套定义，但允许函数的嵌套调用和函数的递归调用。</a:t>
            </a:r>
            <a:endParaRPr lang="en-US" altLang="zh-CN" sz="2000" b="1" dirty="0">
              <a:effectLst>
                <a:outerShdw blurRad="38100" dist="38100" dir="2700000" algn="tl">
                  <a:srgbClr val="FFFFFF"/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450850" lvl="1" indent="-269875">
              <a:lnSpc>
                <a:spcPts val="2800"/>
              </a:lnSpc>
              <a:buClr>
                <a:srgbClr val="C00000"/>
              </a:buClr>
              <a:buFont typeface="Wingdings" pitchFamily="2" charset="2"/>
              <a:buChar char="Ø"/>
              <a:tabLst>
                <a:tab pos="2286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可从三个方面对变量分类，即变量的</a:t>
            </a:r>
            <a:r>
              <a:rPr lang="zh-CN" altLang="en-US" sz="2000" b="1" dirty="0">
                <a:solidFill>
                  <a:srgbClr val="C0192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数据类型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，变量</a:t>
            </a:r>
            <a:r>
              <a:rPr lang="zh-CN" altLang="en-US" sz="2000" b="1" dirty="0">
                <a:solidFill>
                  <a:srgbClr val="C0192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作用域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和变量的</a:t>
            </a:r>
            <a:r>
              <a:rPr lang="zh-CN" altLang="en-US" sz="2000" b="1" dirty="0">
                <a:solidFill>
                  <a:srgbClr val="C0192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存储类型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  <a:p>
            <a:pPr marL="450850" indent="-269875">
              <a:lnSpc>
                <a:spcPts val="2800"/>
              </a:lnSpc>
              <a:buClr>
                <a:srgbClr val="C00000"/>
              </a:buClr>
              <a:buFont typeface="Wingdings" pitchFamily="2" charset="2"/>
              <a:buChar char="Ø"/>
              <a:tabLst>
                <a:tab pos="2286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变量的作用域是指变量在程序中的有效范围，分为</a:t>
            </a:r>
            <a:r>
              <a:rPr lang="zh-CN" altLang="en-US" sz="2000" b="1" dirty="0">
                <a:solidFill>
                  <a:srgbClr val="C0192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局部变量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zh-CN" altLang="en-US" sz="2000" b="1" dirty="0">
                <a:solidFill>
                  <a:srgbClr val="C0192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全局变量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。局部变量和形参的作用域是函数内部，全局变量的作用域是整个文件。但可以通过声明一个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extern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的全局变量扩展全局变量的作用域，也可以通过定义一个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static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的全局变量限制这种扩展。</a:t>
            </a:r>
          </a:p>
          <a:p>
            <a:pPr marL="450850" indent="-269875">
              <a:lnSpc>
                <a:spcPts val="2800"/>
              </a:lnSpc>
              <a:buClr>
                <a:srgbClr val="C00000"/>
              </a:buClr>
              <a:buFont typeface="Wingdings" pitchFamily="2" charset="2"/>
              <a:buChar char="Ø"/>
              <a:tabLst>
                <a:tab pos="2286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变量的存储类型是指变量在内存中的存储方式，分为</a:t>
            </a:r>
            <a:r>
              <a:rPr lang="zh-CN" altLang="en-US" sz="2000" b="1" dirty="0">
                <a:solidFill>
                  <a:srgbClr val="C0192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静态存储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zh-CN" altLang="en-US" sz="2000" b="1" dirty="0">
                <a:solidFill>
                  <a:srgbClr val="C0192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动态存储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，表示了变量的生存期。动态存储类型的变量有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auto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型、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register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型，静态存储类型的变量有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extern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型、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static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型。静态的局部变量只能被赋一次初值，并且生存期与全局变量相同，但作用域仍是函数内部。</a:t>
            </a:r>
          </a:p>
          <a:p>
            <a:pPr marL="450850" indent="-269875">
              <a:lnSpc>
                <a:spcPts val="2800"/>
              </a:lnSpc>
              <a:buClr>
                <a:srgbClr val="C00000"/>
              </a:buClr>
              <a:buFont typeface="Wingdings" pitchFamily="2" charset="2"/>
              <a:buChar char="Ø"/>
              <a:tabLst>
                <a:tab pos="2286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当小作用域内的变量名与大作用域内的变量名同名时，在小作用域内引用这个变量时，遵从最小作用域原则</a:t>
            </a:r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587480" y="6135687"/>
            <a:ext cx="11125144" cy="461665"/>
          </a:xfrm>
          <a:prstGeom prst="rect">
            <a:avLst/>
          </a:prstGeom>
          <a:solidFill>
            <a:srgbClr val="C01920"/>
          </a:solidFill>
          <a:ln w="2857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习题</a:t>
            </a:r>
            <a:r>
              <a:rPr lang="en-US" altLang="zh-CN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8</a:t>
            </a:r>
            <a:r>
              <a:rPr lang="zh-CN" altLang="en-US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：</a:t>
            </a:r>
            <a:r>
              <a:rPr lang="en-US" altLang="zh-CN" b="1" dirty="0">
                <a:solidFill>
                  <a:schemeClr val="bg1"/>
                </a:solidFill>
              </a:rPr>
              <a:t>   1</a:t>
            </a:r>
            <a:r>
              <a:rPr lang="zh-CN" altLang="en-US" b="1" dirty="0">
                <a:solidFill>
                  <a:schemeClr val="bg1"/>
                </a:solidFill>
              </a:rPr>
              <a:t>、</a:t>
            </a:r>
            <a:r>
              <a:rPr lang="en-US" altLang="zh-CN" b="1" dirty="0">
                <a:solidFill>
                  <a:schemeClr val="bg1"/>
                </a:solidFill>
              </a:rPr>
              <a:t>2</a:t>
            </a:r>
            <a:r>
              <a:rPr lang="zh-CN" altLang="en-US" b="1" dirty="0">
                <a:solidFill>
                  <a:schemeClr val="bg1"/>
                </a:solidFill>
              </a:rPr>
              <a:t>、</a:t>
            </a:r>
            <a:r>
              <a:rPr lang="en-US" altLang="zh-CN" b="1" dirty="0">
                <a:solidFill>
                  <a:schemeClr val="bg1"/>
                </a:solidFill>
              </a:rPr>
              <a:t>3</a:t>
            </a:r>
            <a:r>
              <a:rPr lang="zh-CN" altLang="en-US" b="1" dirty="0">
                <a:solidFill>
                  <a:schemeClr val="bg1"/>
                </a:solidFill>
              </a:rPr>
              <a:t>、</a:t>
            </a:r>
            <a:r>
              <a:rPr lang="en-US" altLang="zh-CN" b="1" dirty="0">
                <a:solidFill>
                  <a:schemeClr val="bg1"/>
                </a:solidFill>
              </a:rPr>
              <a:t>4(2</a:t>
            </a:r>
            <a:r>
              <a:rPr lang="zh-CN" altLang="en-US" b="1" dirty="0">
                <a:solidFill>
                  <a:schemeClr val="bg1"/>
                </a:solidFill>
              </a:rPr>
              <a:t>、</a:t>
            </a:r>
            <a:r>
              <a:rPr lang="en-US" altLang="zh-CN" b="1" dirty="0">
                <a:solidFill>
                  <a:schemeClr val="bg1"/>
                </a:solidFill>
              </a:rPr>
              <a:t>3</a:t>
            </a:r>
            <a:r>
              <a:rPr lang="zh-CN" altLang="en-US" b="1" dirty="0">
                <a:solidFill>
                  <a:schemeClr val="bg1"/>
                </a:solidFill>
              </a:rPr>
              <a:t>、</a:t>
            </a:r>
            <a:r>
              <a:rPr lang="en-US" altLang="zh-CN" b="1" dirty="0">
                <a:solidFill>
                  <a:schemeClr val="bg1"/>
                </a:solidFill>
              </a:rPr>
              <a:t>4</a:t>
            </a:r>
            <a:r>
              <a:rPr lang="zh-CN" altLang="en-US" b="1" dirty="0">
                <a:solidFill>
                  <a:schemeClr val="bg1"/>
                </a:solidFill>
              </a:rPr>
              <a:t>、</a:t>
            </a:r>
            <a:r>
              <a:rPr lang="en-US" altLang="zh-CN" b="1" dirty="0">
                <a:solidFill>
                  <a:schemeClr val="bg1"/>
                </a:solidFill>
              </a:rPr>
              <a:t>6</a:t>
            </a:r>
            <a:r>
              <a:rPr lang="zh-CN" altLang="en-US" b="1" dirty="0">
                <a:solidFill>
                  <a:schemeClr val="bg1"/>
                </a:solidFill>
              </a:rPr>
              <a:t>、</a:t>
            </a:r>
            <a:r>
              <a:rPr lang="en-US" altLang="zh-CN" b="1" dirty="0">
                <a:solidFill>
                  <a:schemeClr val="bg1"/>
                </a:solidFill>
              </a:rPr>
              <a:t>10</a:t>
            </a:r>
            <a:r>
              <a:rPr lang="zh-CN" altLang="en-US" b="1" dirty="0">
                <a:solidFill>
                  <a:schemeClr val="bg1"/>
                </a:solidFill>
              </a:rPr>
              <a:t>、</a:t>
            </a:r>
            <a:r>
              <a:rPr lang="en-US" altLang="zh-CN" b="1" dirty="0">
                <a:solidFill>
                  <a:schemeClr val="bg1"/>
                </a:solidFill>
              </a:rPr>
              <a:t>12)</a:t>
            </a:r>
            <a:r>
              <a:rPr lang="en-US" altLang="zh-CN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F2504145-2D11-4866-A9B0-A9DD84A1A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本章小结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3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3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3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233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233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3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233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233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3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233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233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3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233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233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3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233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233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3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233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233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3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233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233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图示&#10;&#10;描述已自动生成">
            <a:extLst>
              <a:ext uri="{FF2B5EF4-FFF2-40B4-BE49-F238E27FC236}">
                <a16:creationId xmlns:a16="http://schemas.microsoft.com/office/drawing/2014/main" id="{6786D2E8-A965-4475-ABFD-4583DDBBFEB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9576" y="1241757"/>
            <a:ext cx="7776864" cy="437448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6D1ECF0-97FF-4328-931A-88315164A5A3}"/>
              </a:ext>
            </a:extLst>
          </p:cNvPr>
          <p:cNvSpPr txBox="1"/>
          <p:nvPr/>
        </p:nvSpPr>
        <p:spPr>
          <a:xfrm>
            <a:off x="1883532" y="5877272"/>
            <a:ext cx="8424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本课件版权归清华大学出版社所有，仅提供教师教学使用，其他用途一律视为侵权</a:t>
            </a:r>
          </a:p>
        </p:txBody>
      </p:sp>
    </p:spTree>
    <p:extLst>
      <p:ext uri="{BB962C8B-B14F-4D97-AF65-F5344CB8AC3E}">
        <p14:creationId xmlns:p14="http://schemas.microsoft.com/office/powerpoint/2010/main" val="2518179668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17268</TotalTime>
  <Words>30925</Words>
  <Application>Microsoft Office PowerPoint</Application>
  <PresentationFormat>宽屏</PresentationFormat>
  <Paragraphs>4096</Paragraphs>
  <Slides>103</Slides>
  <Notes>42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103</vt:i4>
      </vt:variant>
    </vt:vector>
  </HeadingPairs>
  <TitlesOfParts>
    <vt:vector size="112" baseType="lpstr">
      <vt:lpstr>楷体</vt:lpstr>
      <vt:lpstr>楷体_GB2312</vt:lpstr>
      <vt:lpstr>隶书</vt:lpstr>
      <vt:lpstr>思源黑体 CN Heavy</vt:lpstr>
      <vt:lpstr>宋体</vt:lpstr>
      <vt:lpstr>Calibri</vt:lpstr>
      <vt:lpstr>Times New Roman</vt:lpstr>
      <vt:lpstr>Wingdings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software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yanweimin</dc:creator>
  <cp:lastModifiedBy>A83381</cp:lastModifiedBy>
  <cp:revision>1286</cp:revision>
  <dcterms:created xsi:type="dcterms:W3CDTF">1999-05-31T10:27:02Z</dcterms:created>
  <dcterms:modified xsi:type="dcterms:W3CDTF">2022-06-13T02:12:45Z</dcterms:modified>
</cp:coreProperties>
</file>