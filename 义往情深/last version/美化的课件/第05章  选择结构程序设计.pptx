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818" r:id="rId2"/>
    <p:sldId id="820" r:id="rId3"/>
    <p:sldId id="821" r:id="rId4"/>
    <p:sldId id="822" r:id="rId5"/>
    <p:sldId id="823" r:id="rId6"/>
    <p:sldId id="824" r:id="rId7"/>
    <p:sldId id="825" r:id="rId8"/>
    <p:sldId id="826" r:id="rId9"/>
    <p:sldId id="827" r:id="rId10"/>
    <p:sldId id="828" r:id="rId11"/>
    <p:sldId id="829" r:id="rId12"/>
    <p:sldId id="830" r:id="rId13"/>
    <p:sldId id="831" r:id="rId14"/>
    <p:sldId id="832" r:id="rId15"/>
    <p:sldId id="833" r:id="rId16"/>
    <p:sldId id="834" r:id="rId17"/>
    <p:sldId id="835" r:id="rId18"/>
    <p:sldId id="836" r:id="rId19"/>
    <p:sldId id="837" r:id="rId20"/>
    <p:sldId id="838" r:id="rId21"/>
    <p:sldId id="839" r:id="rId22"/>
    <p:sldId id="840" r:id="rId23"/>
    <p:sldId id="841" r:id="rId24"/>
    <p:sldId id="842" r:id="rId25"/>
    <p:sldId id="843" r:id="rId26"/>
    <p:sldId id="844" r:id="rId27"/>
    <p:sldId id="845" r:id="rId28"/>
    <p:sldId id="846" r:id="rId29"/>
    <p:sldId id="847" r:id="rId30"/>
    <p:sldId id="848" r:id="rId31"/>
    <p:sldId id="849" r:id="rId32"/>
    <p:sldId id="850" r:id="rId33"/>
    <p:sldId id="851" r:id="rId34"/>
    <p:sldId id="852" r:id="rId35"/>
    <p:sldId id="853" r:id="rId36"/>
    <p:sldId id="854" r:id="rId37"/>
    <p:sldId id="855" r:id="rId38"/>
    <p:sldId id="856" r:id="rId39"/>
    <p:sldId id="857" r:id="rId40"/>
    <p:sldId id="858" r:id="rId41"/>
    <p:sldId id="819" r:id="rId42"/>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29" userDrawn="1">
          <p15:clr>
            <a:srgbClr val="A4A3A4"/>
          </p15:clr>
        </p15:guide>
        <p15:guide id="4" pos="982" userDrawn="1">
          <p15:clr>
            <a:srgbClr val="A4A3A4"/>
          </p15:clr>
        </p15:guide>
        <p15:guide id="5" pos="71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DFC4"/>
    <a:srgbClr val="C01920"/>
    <a:srgbClr val="CFCFD1"/>
    <a:srgbClr val="F0E5B7"/>
    <a:srgbClr val="BD6368"/>
    <a:srgbClr val="BAA1B9"/>
    <a:srgbClr val="DDFAED"/>
    <a:srgbClr val="262626"/>
    <a:srgbClr val="FFFFFF"/>
    <a:srgbClr val="C296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0" autoAdjust="0"/>
    <p:restoredTop sz="87221" autoAdjust="0"/>
  </p:normalViewPr>
  <p:slideViewPr>
    <p:cSldViewPr>
      <p:cViewPr varScale="1">
        <p:scale>
          <a:sx n="72" d="100"/>
          <a:sy n="72" d="100"/>
        </p:scale>
        <p:origin x="1210" y="48"/>
      </p:cViewPr>
      <p:guideLst>
        <p:guide orient="horz" pos="2160"/>
        <p:guide pos="3840"/>
        <p:guide pos="529"/>
        <p:guide pos="982"/>
        <p:guide pos="71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2</a:t>
            </a:fld>
            <a:endParaRPr lang="en-US" altLang="zh-CN"/>
          </a:p>
        </p:txBody>
      </p:sp>
    </p:spTree>
    <p:extLst>
      <p:ext uri="{BB962C8B-B14F-4D97-AF65-F5344CB8AC3E}">
        <p14:creationId xmlns:p14="http://schemas.microsoft.com/office/powerpoint/2010/main" val="421050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3C6AAA-BA9D-4941-ACA7-F85CC7BD213F}" type="slidenum">
              <a:rPr lang="en-US" altLang="zh-CN"/>
              <a:pPr/>
              <a:t>4</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135F6F-A16D-49A3-92A2-62B024BF1DB1}" type="slidenum">
              <a:rPr lang="en-US" altLang="zh-CN"/>
              <a:pPr/>
              <a:t>5</a:t>
            </a:fld>
            <a:endParaRPr lang="en-US" altLang="zh-CN"/>
          </a:p>
        </p:txBody>
      </p:sp>
      <p:sp>
        <p:nvSpPr>
          <p:cNvPr id="832514" name="Rectangle 2"/>
          <p:cNvSpPr>
            <a:spLocks noGrp="1" noRot="1" noChangeAspect="1" noChangeArrowheads="1" noTextEdit="1"/>
          </p:cNvSpPr>
          <p:nvPr>
            <p:ph type="sldImg"/>
          </p:nvPr>
        </p:nvSpPr>
        <p:spPr>
          <a:xfrm>
            <a:off x="381000" y="685800"/>
            <a:ext cx="6096000" cy="3429000"/>
          </a:xfrm>
          <a:ln/>
        </p:spPr>
      </p:sp>
      <p:sp>
        <p:nvSpPr>
          <p:cNvPr id="8325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58F8E-FFA0-4114-A345-26B4295B6445}" type="slidenum">
              <a:rPr lang="en-US" altLang="zh-CN"/>
              <a:pPr/>
              <a:t>6</a:t>
            </a:fld>
            <a:endParaRPr lang="en-US" altLang="zh-CN"/>
          </a:p>
        </p:txBody>
      </p:sp>
      <p:sp>
        <p:nvSpPr>
          <p:cNvPr id="834562" name="Rectangle 2"/>
          <p:cNvSpPr>
            <a:spLocks noGrp="1" noRot="1" noChangeAspect="1" noChangeArrowheads="1" noTextEdit="1"/>
          </p:cNvSpPr>
          <p:nvPr>
            <p:ph type="sldImg"/>
          </p:nvPr>
        </p:nvSpPr>
        <p:spPr>
          <a:xfrm>
            <a:off x="381000" y="685800"/>
            <a:ext cx="6096000" cy="3429000"/>
          </a:xfrm>
          <a:ln/>
        </p:spPr>
      </p:sp>
      <p:sp>
        <p:nvSpPr>
          <p:cNvPr id="834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2276C9-B1FD-4E1D-A3C6-05806A9806FA}" type="slidenum">
              <a:rPr lang="en-US" altLang="zh-CN"/>
              <a:pPr/>
              <a:t>7</a:t>
            </a:fld>
            <a:endParaRPr lang="en-US" altLang="zh-CN"/>
          </a:p>
        </p:txBody>
      </p:sp>
      <p:sp>
        <p:nvSpPr>
          <p:cNvPr id="836610" name="Rectangle 2"/>
          <p:cNvSpPr>
            <a:spLocks noGrp="1" noRot="1" noChangeAspect="1" noChangeArrowheads="1" noTextEdit="1"/>
          </p:cNvSpPr>
          <p:nvPr>
            <p:ph type="sldImg"/>
          </p:nvPr>
        </p:nvSpPr>
        <p:spPr>
          <a:xfrm>
            <a:off x="381000" y="685800"/>
            <a:ext cx="6096000" cy="3429000"/>
          </a:xfrm>
          <a:ln/>
        </p:spPr>
      </p:sp>
      <p:sp>
        <p:nvSpPr>
          <p:cNvPr id="836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805A79-016F-4B42-87F1-DCC2ABA4179D}" type="slidenum">
              <a:rPr lang="en-US" altLang="zh-CN"/>
              <a:pPr/>
              <a:t>8</a:t>
            </a:fld>
            <a:endParaRPr lang="en-US" altLang="zh-CN"/>
          </a:p>
        </p:txBody>
      </p:sp>
      <p:sp>
        <p:nvSpPr>
          <p:cNvPr id="838658" name="Rectangle 2"/>
          <p:cNvSpPr>
            <a:spLocks noGrp="1" noRot="1" noChangeAspect="1" noChangeArrowheads="1" noTextEdit="1"/>
          </p:cNvSpPr>
          <p:nvPr>
            <p:ph type="sldImg"/>
          </p:nvPr>
        </p:nvSpPr>
        <p:spPr>
          <a:xfrm>
            <a:off x="381000" y="685800"/>
            <a:ext cx="6096000" cy="3429000"/>
          </a:xfrm>
          <a:ln/>
        </p:spPr>
      </p:sp>
      <p:sp>
        <p:nvSpPr>
          <p:cNvPr id="8386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9B7502-D7BC-48DE-8D7B-B2496F6B2705}" type="slidenum">
              <a:rPr lang="en-US" altLang="zh-CN"/>
              <a:pPr/>
              <a:t>10</a:t>
            </a:fld>
            <a:endParaRPr lang="en-US" altLang="zh-CN"/>
          </a:p>
        </p:txBody>
      </p:sp>
      <p:sp>
        <p:nvSpPr>
          <p:cNvPr id="841730" name="Rectangle 2"/>
          <p:cNvSpPr>
            <a:spLocks noGrp="1" noRot="1" noChangeAspect="1" noChangeArrowheads="1" noTextEdit="1"/>
          </p:cNvSpPr>
          <p:nvPr>
            <p:ph type="sldImg"/>
          </p:nvPr>
        </p:nvSpPr>
        <p:spPr>
          <a:xfrm>
            <a:off x="381000" y="685800"/>
            <a:ext cx="6096000" cy="3429000"/>
          </a:xfrm>
          <a:ln/>
        </p:spPr>
      </p:sp>
      <p:sp>
        <p:nvSpPr>
          <p:cNvPr id="8417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9D1022-80C4-4407-A2B9-D250507B01F7}" type="slidenum">
              <a:rPr lang="en-US" altLang="zh-CN"/>
              <a:pPr/>
              <a:t>11</a:t>
            </a:fld>
            <a:endParaRPr lang="en-US" altLang="zh-CN"/>
          </a:p>
        </p:txBody>
      </p:sp>
      <p:sp>
        <p:nvSpPr>
          <p:cNvPr id="843778" name="Rectangle 2"/>
          <p:cNvSpPr>
            <a:spLocks noGrp="1" noRot="1" noChangeAspect="1" noChangeArrowheads="1" noTextEdit="1"/>
          </p:cNvSpPr>
          <p:nvPr>
            <p:ph type="sldImg"/>
          </p:nvPr>
        </p:nvSpPr>
        <p:spPr>
          <a:xfrm>
            <a:off x="381000" y="685800"/>
            <a:ext cx="6096000" cy="3429000"/>
          </a:xfrm>
          <a:ln/>
        </p:spPr>
      </p:sp>
      <p:sp>
        <p:nvSpPr>
          <p:cNvPr id="8437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3A7E75-C094-4608-8C51-DC370A0D5F39}" type="slidenum">
              <a:rPr lang="en-US" altLang="zh-CN"/>
              <a:pPr/>
              <a:t>15</a:t>
            </a:fld>
            <a:endParaRPr lang="en-US" altLang="zh-CN"/>
          </a:p>
        </p:txBody>
      </p:sp>
      <p:sp>
        <p:nvSpPr>
          <p:cNvPr id="848898" name="Rectangle 2"/>
          <p:cNvSpPr>
            <a:spLocks noGrp="1" noRot="1" noChangeAspect="1" noChangeArrowheads="1" noTextEdit="1"/>
          </p:cNvSpPr>
          <p:nvPr>
            <p:ph type="sldImg"/>
          </p:nvPr>
        </p:nvSpPr>
        <p:spPr>
          <a:xfrm>
            <a:off x="381000" y="685800"/>
            <a:ext cx="6096000" cy="3429000"/>
          </a:xfrm>
          <a:ln/>
        </p:spPr>
      </p:sp>
      <p:sp>
        <p:nvSpPr>
          <p:cNvPr id="8488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58DAB4-2665-408C-B72F-26A0E067718E}" type="slidenum">
              <a:rPr lang="en-US" altLang="zh-CN"/>
              <a:pPr/>
              <a:t>16</a:t>
            </a:fld>
            <a:endParaRPr lang="en-US" altLang="zh-CN"/>
          </a:p>
        </p:txBody>
      </p:sp>
      <p:sp>
        <p:nvSpPr>
          <p:cNvPr id="850946" name="Rectangle 2"/>
          <p:cNvSpPr>
            <a:spLocks noGrp="1" noRot="1" noChangeAspect="1" noChangeArrowheads="1" noTextEdit="1"/>
          </p:cNvSpPr>
          <p:nvPr>
            <p:ph type="sldImg"/>
          </p:nvPr>
        </p:nvSpPr>
        <p:spPr>
          <a:xfrm>
            <a:off x="381000" y="685800"/>
            <a:ext cx="6096000" cy="3429000"/>
          </a:xfrm>
          <a:ln/>
        </p:spPr>
      </p:sp>
      <p:sp>
        <p:nvSpPr>
          <p:cNvPr id="8509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45C363-EA4B-404F-B2C9-EC6905FB4975}" type="slidenum">
              <a:rPr lang="en-US" altLang="zh-CN"/>
              <a:pPr/>
              <a:t>17</a:t>
            </a:fld>
            <a:endParaRPr lang="en-US" altLang="zh-CN"/>
          </a:p>
        </p:txBody>
      </p:sp>
      <p:sp>
        <p:nvSpPr>
          <p:cNvPr id="852994" name="Rectangle 2"/>
          <p:cNvSpPr>
            <a:spLocks noGrp="1" noRot="1" noChangeAspect="1" noChangeArrowheads="1" noTextEdit="1"/>
          </p:cNvSpPr>
          <p:nvPr>
            <p:ph type="sldImg"/>
          </p:nvPr>
        </p:nvSpPr>
        <p:spPr>
          <a:xfrm>
            <a:off x="381000" y="685800"/>
            <a:ext cx="6096000" cy="3429000"/>
          </a:xfrm>
          <a:ln/>
        </p:spPr>
      </p:sp>
      <p:sp>
        <p:nvSpPr>
          <p:cNvPr id="8529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71665C-FD25-43BF-A134-8382D2F2C1F5}" type="slidenum">
              <a:rPr lang="en-US" altLang="zh-CN"/>
              <a:pPr/>
              <a:t>20</a:t>
            </a:fld>
            <a:endParaRPr lang="en-US" altLang="zh-CN"/>
          </a:p>
        </p:txBody>
      </p:sp>
      <p:sp>
        <p:nvSpPr>
          <p:cNvPr id="855042" name="Rectangle 2"/>
          <p:cNvSpPr>
            <a:spLocks noGrp="1" noRot="1" noChangeAspect="1" noChangeArrowheads="1" noTextEdit="1"/>
          </p:cNvSpPr>
          <p:nvPr>
            <p:ph type="sldImg"/>
          </p:nvPr>
        </p:nvSpPr>
        <p:spPr>
          <a:xfrm>
            <a:off x="381000" y="685800"/>
            <a:ext cx="6096000" cy="3429000"/>
          </a:xfrm>
          <a:ln/>
        </p:spPr>
      </p:sp>
      <p:sp>
        <p:nvSpPr>
          <p:cNvPr id="8550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39EFA5-5FEA-49AC-9E46-BD93C81203AA}" type="slidenum">
              <a:rPr lang="en-US" altLang="zh-CN"/>
              <a:pPr/>
              <a:t>22</a:t>
            </a:fld>
            <a:endParaRPr lang="en-US" altLang="zh-CN"/>
          </a:p>
        </p:txBody>
      </p:sp>
      <p:sp>
        <p:nvSpPr>
          <p:cNvPr id="863234" name="Rectangle 2"/>
          <p:cNvSpPr>
            <a:spLocks noGrp="1" noRot="1" noChangeAspect="1" noChangeArrowheads="1" noTextEdit="1"/>
          </p:cNvSpPr>
          <p:nvPr>
            <p:ph type="sldImg"/>
          </p:nvPr>
        </p:nvSpPr>
        <p:spPr>
          <a:xfrm>
            <a:off x="381000" y="685800"/>
            <a:ext cx="6096000" cy="3429000"/>
          </a:xfrm>
          <a:ln/>
        </p:spPr>
      </p:sp>
      <p:sp>
        <p:nvSpPr>
          <p:cNvPr id="86323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62AAE6-4CA5-4170-8FD8-0380499E3C38}" type="slidenum">
              <a:rPr lang="en-US" altLang="zh-CN"/>
              <a:pPr/>
              <a:t>23</a:t>
            </a:fld>
            <a:endParaRPr lang="en-US" altLang="zh-CN"/>
          </a:p>
        </p:txBody>
      </p:sp>
      <p:sp>
        <p:nvSpPr>
          <p:cNvPr id="867330" name="Rectangle 2"/>
          <p:cNvSpPr>
            <a:spLocks noGrp="1" noRot="1" noChangeAspect="1" noChangeArrowheads="1" noTextEdit="1"/>
          </p:cNvSpPr>
          <p:nvPr>
            <p:ph type="sldImg"/>
          </p:nvPr>
        </p:nvSpPr>
        <p:spPr>
          <a:xfrm>
            <a:off x="381000" y="685800"/>
            <a:ext cx="6096000" cy="3429000"/>
          </a:xfrm>
          <a:ln/>
        </p:spPr>
      </p:sp>
      <p:sp>
        <p:nvSpPr>
          <p:cNvPr id="86733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55F12F-F1D5-4167-AF87-CEB9F3C4F4D5}" type="slidenum">
              <a:rPr lang="en-US" altLang="zh-CN"/>
              <a:pPr/>
              <a:t>24</a:t>
            </a:fld>
            <a:endParaRPr lang="en-US" altLang="zh-CN"/>
          </a:p>
        </p:txBody>
      </p:sp>
      <p:sp>
        <p:nvSpPr>
          <p:cNvPr id="865282" name="Rectangle 2"/>
          <p:cNvSpPr>
            <a:spLocks noGrp="1" noRot="1" noChangeAspect="1" noChangeArrowheads="1" noTextEdit="1"/>
          </p:cNvSpPr>
          <p:nvPr>
            <p:ph type="sldImg"/>
          </p:nvPr>
        </p:nvSpPr>
        <p:spPr>
          <a:xfrm>
            <a:off x="381000" y="685800"/>
            <a:ext cx="6096000" cy="3429000"/>
          </a:xfrm>
          <a:ln/>
        </p:spPr>
      </p:sp>
      <p:sp>
        <p:nvSpPr>
          <p:cNvPr id="865283" name="Rectangle 3"/>
          <p:cNvSpPr>
            <a:spLocks noGrp="1" noChangeArrowheads="1"/>
          </p:cNvSpPr>
          <p:nvPr>
            <p:ph type="body" idx="1"/>
          </p:nvPr>
        </p:nvSpPr>
        <p:spPr>
          <a:xfrm>
            <a:off x="914400" y="4343400"/>
            <a:ext cx="5029200" cy="4114800"/>
          </a:xfrm>
        </p:spPr>
        <p:txBody>
          <a:bodyPr/>
          <a:lstStyle/>
          <a:p>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14B68E-F8D0-40F8-9714-89B52667729F}" type="slidenum">
              <a:rPr lang="en-US" altLang="zh-CN"/>
              <a:pPr/>
              <a:t>25</a:t>
            </a:fld>
            <a:endParaRPr lang="en-US" altLang="zh-CN"/>
          </a:p>
        </p:txBody>
      </p:sp>
      <p:sp>
        <p:nvSpPr>
          <p:cNvPr id="869378" name="Rectangle 2"/>
          <p:cNvSpPr>
            <a:spLocks noGrp="1" noRot="1" noChangeAspect="1" noChangeArrowheads="1" noTextEdit="1"/>
          </p:cNvSpPr>
          <p:nvPr>
            <p:ph type="sldImg"/>
          </p:nvPr>
        </p:nvSpPr>
        <p:spPr>
          <a:xfrm>
            <a:off x="381000" y="685800"/>
            <a:ext cx="6096000" cy="3429000"/>
          </a:xfrm>
          <a:ln/>
        </p:spPr>
      </p:sp>
      <p:sp>
        <p:nvSpPr>
          <p:cNvPr id="86937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93388-6688-4FA5-B079-03FE3B7D2943}" type="slidenum">
              <a:rPr lang="en-US" altLang="zh-CN"/>
              <a:pPr/>
              <a:t>26</a:t>
            </a:fld>
            <a:endParaRPr lang="en-US" altLang="zh-CN"/>
          </a:p>
        </p:txBody>
      </p:sp>
      <p:sp>
        <p:nvSpPr>
          <p:cNvPr id="871426" name="Rectangle 2"/>
          <p:cNvSpPr>
            <a:spLocks noGrp="1" noRot="1" noChangeAspect="1" noChangeArrowheads="1" noTextEdit="1"/>
          </p:cNvSpPr>
          <p:nvPr>
            <p:ph type="sldImg"/>
          </p:nvPr>
        </p:nvSpPr>
        <p:spPr>
          <a:xfrm>
            <a:off x="381000" y="685800"/>
            <a:ext cx="6096000" cy="3429000"/>
          </a:xfrm>
          <a:ln/>
        </p:spPr>
      </p:sp>
      <p:sp>
        <p:nvSpPr>
          <p:cNvPr id="87142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FCCFA3-FA60-4727-9C77-0D35F4DDDE43}" type="slidenum">
              <a:rPr lang="en-US" altLang="zh-CN"/>
              <a:pPr/>
              <a:t>27</a:t>
            </a:fld>
            <a:endParaRPr lang="en-US" altLang="zh-CN"/>
          </a:p>
        </p:txBody>
      </p:sp>
      <p:sp>
        <p:nvSpPr>
          <p:cNvPr id="873474" name="Rectangle 2"/>
          <p:cNvSpPr>
            <a:spLocks noGrp="1" noRot="1" noChangeAspect="1" noChangeArrowheads="1" noTextEdit="1"/>
          </p:cNvSpPr>
          <p:nvPr>
            <p:ph type="sldImg"/>
          </p:nvPr>
        </p:nvSpPr>
        <p:spPr>
          <a:xfrm>
            <a:off x="381000" y="685800"/>
            <a:ext cx="6096000" cy="3429000"/>
          </a:xfrm>
          <a:ln/>
        </p:spPr>
      </p:sp>
      <p:sp>
        <p:nvSpPr>
          <p:cNvPr id="87347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50D44B-147B-4467-ADA7-91A80B7C91B3}" type="slidenum">
              <a:rPr lang="en-US" altLang="zh-CN"/>
              <a:pPr/>
              <a:t>28</a:t>
            </a:fld>
            <a:endParaRPr lang="en-US" altLang="zh-CN"/>
          </a:p>
        </p:txBody>
      </p:sp>
      <p:sp>
        <p:nvSpPr>
          <p:cNvPr id="875522" name="Rectangle 2"/>
          <p:cNvSpPr>
            <a:spLocks noGrp="1" noRot="1" noChangeAspect="1" noChangeArrowheads="1" noTextEdit="1"/>
          </p:cNvSpPr>
          <p:nvPr>
            <p:ph type="sldImg"/>
          </p:nvPr>
        </p:nvSpPr>
        <p:spPr>
          <a:xfrm>
            <a:off x="381000" y="685800"/>
            <a:ext cx="6096000" cy="3429000"/>
          </a:xfrm>
          <a:ln/>
        </p:spPr>
      </p:sp>
      <p:sp>
        <p:nvSpPr>
          <p:cNvPr id="87552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2A83D9-44B2-480D-8297-AF287B4C29A4}" type="slidenum">
              <a:rPr lang="en-US" altLang="zh-CN"/>
              <a:pPr/>
              <a:t>29</a:t>
            </a:fld>
            <a:endParaRPr lang="en-US" altLang="zh-CN"/>
          </a:p>
        </p:txBody>
      </p:sp>
      <p:sp>
        <p:nvSpPr>
          <p:cNvPr id="877570" name="Rectangle 2"/>
          <p:cNvSpPr>
            <a:spLocks noGrp="1" noRot="1" noChangeAspect="1" noChangeArrowheads="1" noTextEdit="1"/>
          </p:cNvSpPr>
          <p:nvPr>
            <p:ph type="sldImg"/>
          </p:nvPr>
        </p:nvSpPr>
        <p:spPr>
          <a:xfrm>
            <a:off x="381000" y="685800"/>
            <a:ext cx="6096000" cy="3429000"/>
          </a:xfrm>
          <a:ln/>
        </p:spPr>
      </p:sp>
      <p:sp>
        <p:nvSpPr>
          <p:cNvPr id="87757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4220F6-377A-4D59-862A-AE2C855AE4D3}" type="slidenum">
              <a:rPr lang="en-US" altLang="zh-CN"/>
              <a:pPr/>
              <a:t>30</a:t>
            </a:fld>
            <a:endParaRPr lang="en-US" altLang="zh-CN"/>
          </a:p>
        </p:txBody>
      </p:sp>
      <p:sp>
        <p:nvSpPr>
          <p:cNvPr id="879618" name="Rectangle 2"/>
          <p:cNvSpPr>
            <a:spLocks noGrp="1" noRot="1" noChangeAspect="1" noChangeArrowheads="1" noTextEdit="1"/>
          </p:cNvSpPr>
          <p:nvPr>
            <p:ph type="sldImg"/>
          </p:nvPr>
        </p:nvSpPr>
        <p:spPr>
          <a:xfrm>
            <a:off x="381000" y="685800"/>
            <a:ext cx="6096000" cy="3429000"/>
          </a:xfrm>
          <a:ln/>
        </p:spPr>
      </p:sp>
      <p:sp>
        <p:nvSpPr>
          <p:cNvPr id="87961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9780E5-0F73-4842-BA04-305B2735A27E}" type="slidenum">
              <a:rPr lang="en-US" altLang="zh-CN"/>
              <a:pPr/>
              <a:t>31</a:t>
            </a:fld>
            <a:endParaRPr lang="en-US" altLang="zh-CN"/>
          </a:p>
        </p:txBody>
      </p:sp>
      <p:sp>
        <p:nvSpPr>
          <p:cNvPr id="881666" name="Rectangle 2"/>
          <p:cNvSpPr>
            <a:spLocks noGrp="1" noRot="1" noChangeAspect="1" noChangeArrowheads="1" noTextEdit="1"/>
          </p:cNvSpPr>
          <p:nvPr>
            <p:ph type="sldImg"/>
          </p:nvPr>
        </p:nvSpPr>
        <p:spPr>
          <a:xfrm>
            <a:off x="381000" y="685800"/>
            <a:ext cx="6096000" cy="3429000"/>
          </a:xfrm>
          <a:ln/>
        </p:spPr>
      </p:sp>
      <p:sp>
        <p:nvSpPr>
          <p:cNvPr id="88166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ED6A9D-B807-4CFE-9B68-6BF5B9C57C36}" type="slidenum">
              <a:rPr lang="en-US" altLang="zh-CN"/>
              <a:pPr/>
              <a:t>32</a:t>
            </a:fld>
            <a:endParaRPr lang="en-US" altLang="zh-CN"/>
          </a:p>
        </p:txBody>
      </p:sp>
      <p:sp>
        <p:nvSpPr>
          <p:cNvPr id="883714" name="Rectangle 2"/>
          <p:cNvSpPr>
            <a:spLocks noGrp="1" noRot="1" noChangeAspect="1" noChangeArrowheads="1" noTextEdit="1"/>
          </p:cNvSpPr>
          <p:nvPr>
            <p:ph type="sldImg"/>
          </p:nvPr>
        </p:nvSpPr>
        <p:spPr>
          <a:xfrm>
            <a:off x="381000" y="685800"/>
            <a:ext cx="6096000" cy="3429000"/>
          </a:xfrm>
          <a:ln/>
        </p:spPr>
      </p:sp>
      <p:sp>
        <p:nvSpPr>
          <p:cNvPr id="88371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101370-D35F-4955-963B-1B14079C3143}" type="slidenum">
              <a:rPr lang="en-US" altLang="zh-CN"/>
              <a:pPr/>
              <a:t>33</a:t>
            </a:fld>
            <a:endParaRPr lang="en-US" altLang="zh-CN"/>
          </a:p>
        </p:txBody>
      </p:sp>
      <p:sp>
        <p:nvSpPr>
          <p:cNvPr id="885762" name="Rectangle 2"/>
          <p:cNvSpPr>
            <a:spLocks noGrp="1" noRot="1" noChangeAspect="1" noChangeArrowheads="1" noTextEdit="1"/>
          </p:cNvSpPr>
          <p:nvPr>
            <p:ph type="sldImg"/>
          </p:nvPr>
        </p:nvSpPr>
        <p:spPr>
          <a:xfrm>
            <a:off x="381000" y="685800"/>
            <a:ext cx="6096000" cy="3429000"/>
          </a:xfrm>
          <a:ln/>
        </p:spPr>
      </p:sp>
      <p:sp>
        <p:nvSpPr>
          <p:cNvPr id="88576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0EBB7F-4C94-4637-BA44-26F93F199050}" type="slidenum">
              <a:rPr lang="en-US" altLang="zh-CN"/>
              <a:pPr/>
              <a:t>34</a:t>
            </a:fld>
            <a:endParaRPr lang="en-US" altLang="zh-CN"/>
          </a:p>
        </p:txBody>
      </p:sp>
      <p:sp>
        <p:nvSpPr>
          <p:cNvPr id="887810" name="Rectangle 2"/>
          <p:cNvSpPr>
            <a:spLocks noGrp="1" noRot="1" noChangeAspect="1" noChangeArrowheads="1" noTextEdit="1"/>
          </p:cNvSpPr>
          <p:nvPr>
            <p:ph type="sldImg"/>
          </p:nvPr>
        </p:nvSpPr>
        <p:spPr>
          <a:xfrm>
            <a:off x="381000" y="685800"/>
            <a:ext cx="6096000" cy="3429000"/>
          </a:xfrm>
          <a:ln/>
        </p:spPr>
      </p:sp>
      <p:sp>
        <p:nvSpPr>
          <p:cNvPr id="88781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81CFCA-02DC-47F2-9B7F-5EE402C4FCD3}" type="slidenum">
              <a:rPr lang="en-US" altLang="zh-CN"/>
              <a:pPr/>
              <a:t>35</a:t>
            </a:fld>
            <a:endParaRPr lang="en-US" altLang="zh-CN"/>
          </a:p>
        </p:txBody>
      </p:sp>
      <p:sp>
        <p:nvSpPr>
          <p:cNvPr id="889858" name="Rectangle 2"/>
          <p:cNvSpPr>
            <a:spLocks noGrp="1" noRot="1" noChangeAspect="1" noChangeArrowheads="1" noTextEdit="1"/>
          </p:cNvSpPr>
          <p:nvPr>
            <p:ph type="sldImg"/>
          </p:nvPr>
        </p:nvSpPr>
        <p:spPr>
          <a:xfrm>
            <a:off x="381000" y="685800"/>
            <a:ext cx="6096000" cy="3429000"/>
          </a:xfrm>
          <a:ln/>
        </p:spPr>
      </p:sp>
      <p:sp>
        <p:nvSpPr>
          <p:cNvPr id="88985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E23590-E2ED-4465-AD9A-1CD2C1322A6C}" type="slidenum">
              <a:rPr lang="en-US" altLang="zh-CN"/>
              <a:pPr/>
              <a:t>36</a:t>
            </a:fld>
            <a:endParaRPr lang="en-US" altLang="zh-CN"/>
          </a:p>
        </p:txBody>
      </p:sp>
      <p:sp>
        <p:nvSpPr>
          <p:cNvPr id="891906" name="Rectangle 2"/>
          <p:cNvSpPr>
            <a:spLocks noGrp="1" noRot="1" noChangeAspect="1" noChangeArrowheads="1" noTextEdit="1"/>
          </p:cNvSpPr>
          <p:nvPr>
            <p:ph type="sldImg"/>
          </p:nvPr>
        </p:nvSpPr>
        <p:spPr>
          <a:xfrm>
            <a:off x="381000" y="685800"/>
            <a:ext cx="6096000" cy="3429000"/>
          </a:xfrm>
          <a:ln/>
        </p:spPr>
      </p:sp>
      <p:sp>
        <p:nvSpPr>
          <p:cNvPr id="89190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3EBA97-1C2C-4FB6-91D7-231D5845F854}" type="slidenum">
              <a:rPr lang="en-US" altLang="zh-CN"/>
              <a:pPr/>
              <a:t>37</a:t>
            </a:fld>
            <a:endParaRPr lang="en-US" altLang="zh-CN"/>
          </a:p>
        </p:txBody>
      </p:sp>
      <p:sp>
        <p:nvSpPr>
          <p:cNvPr id="893954" name="Rectangle 2"/>
          <p:cNvSpPr>
            <a:spLocks noGrp="1" noRot="1" noChangeAspect="1" noChangeArrowheads="1" noTextEdit="1"/>
          </p:cNvSpPr>
          <p:nvPr>
            <p:ph type="sldImg"/>
          </p:nvPr>
        </p:nvSpPr>
        <p:spPr>
          <a:xfrm>
            <a:off x="381000" y="685800"/>
            <a:ext cx="6096000" cy="3429000"/>
          </a:xfrm>
          <a:ln/>
        </p:spPr>
      </p:sp>
      <p:sp>
        <p:nvSpPr>
          <p:cNvPr id="89395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7165FC-1F17-406F-AE6A-6E4397DB46DB}" type="slidenum">
              <a:rPr lang="en-US" altLang="zh-CN"/>
              <a:pPr/>
              <a:t>38</a:t>
            </a:fld>
            <a:endParaRPr lang="en-US" altLang="zh-CN"/>
          </a:p>
        </p:txBody>
      </p:sp>
      <p:sp>
        <p:nvSpPr>
          <p:cNvPr id="896002" name="Rectangle 2"/>
          <p:cNvSpPr>
            <a:spLocks noGrp="1" noRot="1" noChangeAspect="1" noChangeArrowheads="1" noTextEdit="1"/>
          </p:cNvSpPr>
          <p:nvPr>
            <p:ph type="sldImg"/>
          </p:nvPr>
        </p:nvSpPr>
        <p:spPr>
          <a:xfrm>
            <a:off x="381000" y="685800"/>
            <a:ext cx="6096000" cy="3429000"/>
          </a:xfrm>
          <a:ln/>
        </p:spPr>
      </p:sp>
      <p:sp>
        <p:nvSpPr>
          <p:cNvPr id="896003"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9297B-F27F-42CA-9A32-4F30A1D2BFE6}" type="slidenum">
              <a:rPr lang="en-US" altLang="zh-CN"/>
              <a:pPr/>
              <a:t>39</a:t>
            </a:fld>
            <a:endParaRPr lang="en-US" altLang="zh-CN"/>
          </a:p>
        </p:txBody>
      </p:sp>
      <p:sp>
        <p:nvSpPr>
          <p:cNvPr id="898050" name="Rectangle 2"/>
          <p:cNvSpPr>
            <a:spLocks noGrp="1" noRot="1" noChangeAspect="1" noChangeArrowheads="1" noTextEdit="1"/>
          </p:cNvSpPr>
          <p:nvPr>
            <p:ph type="sldImg"/>
          </p:nvPr>
        </p:nvSpPr>
        <p:spPr>
          <a:xfrm>
            <a:off x="381000" y="685800"/>
            <a:ext cx="6096000" cy="3429000"/>
          </a:xfrm>
          <a:ln/>
        </p:spPr>
      </p:sp>
      <p:sp>
        <p:nvSpPr>
          <p:cNvPr id="898051" name="Rectangle 3"/>
          <p:cNvSpPr>
            <a:spLocks noGrp="1" noChangeArrowheads="1"/>
          </p:cNvSpPr>
          <p:nvPr>
            <p:ph type="body" idx="1"/>
          </p:nvPr>
        </p:nvSpPr>
        <p:spPr>
          <a:xfrm>
            <a:off x="914400" y="4343400"/>
            <a:ext cx="5029200" cy="4114800"/>
          </a:xfrm>
        </p:spPr>
        <p:txBody>
          <a:bodyPr/>
          <a:lstStyle/>
          <a:p>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000CCB-F13E-4984-AF16-860D116A3D1A}" type="slidenum">
              <a:rPr lang="en-US" altLang="zh-CN"/>
              <a:pPr/>
              <a:t>40</a:t>
            </a:fld>
            <a:endParaRPr lang="en-US" altLang="zh-CN"/>
          </a:p>
        </p:txBody>
      </p:sp>
      <p:sp>
        <p:nvSpPr>
          <p:cNvPr id="900098" name="Rectangle 2"/>
          <p:cNvSpPr>
            <a:spLocks noGrp="1" noRot="1" noChangeAspect="1" noChangeArrowheads="1" noTextEdit="1"/>
          </p:cNvSpPr>
          <p:nvPr>
            <p:ph type="sldImg"/>
          </p:nvPr>
        </p:nvSpPr>
        <p:spPr>
          <a:xfrm>
            <a:off x="381000" y="685800"/>
            <a:ext cx="6096000" cy="3429000"/>
          </a:xfrm>
          <a:ln/>
        </p:spPr>
      </p:sp>
      <p:sp>
        <p:nvSpPr>
          <p:cNvPr id="90009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41</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extLst>
      <p:ext uri="{BB962C8B-B14F-4D97-AF65-F5344CB8AC3E}">
        <p14:creationId xmlns:p14="http://schemas.microsoft.com/office/powerpoint/2010/main" val="18031243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5BC307-0E07-482C-BB08-A2C38A4179A3}" type="slidenum">
              <a:rPr lang="en-US" altLang="zh-CN"/>
              <a:pPr/>
              <a:t>‹#›</a:t>
            </a:fld>
            <a:endParaRPr lang="en-US" altLang="zh-CN"/>
          </a:p>
        </p:txBody>
      </p:sp>
    </p:spTree>
    <p:extLst>
      <p:ext uri="{BB962C8B-B14F-4D97-AF65-F5344CB8AC3E}">
        <p14:creationId xmlns:p14="http://schemas.microsoft.com/office/powerpoint/2010/main" val="5638090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5.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5.wav"/></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audio" Target="../media/audio5.wav"/></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audio" Target="../media/audio6.wav"/><Relationship Id="rId4" Type="http://schemas.openxmlformats.org/officeDocument/2006/relationships/audio" Target="../media/audio5.wav"/></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audio" Target="../media/audio6.wav"/><Relationship Id="rId4" Type="http://schemas.openxmlformats.org/officeDocument/2006/relationships/audio" Target="../media/audio5.wav"/></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audio" Target="../media/audio7.wav"/><Relationship Id="rId4" Type="http://schemas.openxmlformats.org/officeDocument/2006/relationships/audio" Target="../media/audio5.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audio" Target="../media/audio5.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audio" Target="../media/audio5.wav"/></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audio" Target="../media/audio5.wav"/></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5.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5.wav"/></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1.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100" y="2738304"/>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5</a:t>
            </a:r>
            <a:r>
              <a:rPr lang="zh-CN" altLang="en-US" sz="3200" b="1" dirty="0">
                <a:solidFill>
                  <a:schemeClr val="bg1"/>
                </a:solidFill>
                <a:latin typeface="思源黑体 CN Heavy" panose="020B0A00000000000000" pitchFamily="34" charset="-122"/>
                <a:ea typeface="思源黑体 CN Heavy" panose="020B0A00000000000000" pitchFamily="34" charset="-122"/>
              </a:rPr>
              <a:t>章 选择结构程序设计</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42" name="图片 41">
            <a:extLst>
              <a:ext uri="{FF2B5EF4-FFF2-40B4-BE49-F238E27FC236}">
                <a16:creationId xmlns:a16="http://schemas.microsoft.com/office/drawing/2014/main" id="{D95A5BF1-C687-4DB1-B731-FBAFB6CE53EB}"/>
              </a:ext>
            </a:extLst>
          </p:cNvPr>
          <p:cNvPicPr>
            <a:picLocks noChangeAspect="1"/>
          </p:cNvPicPr>
          <p:nvPr/>
        </p:nvPicPr>
        <p:blipFill>
          <a:blip r:embed="rId4"/>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Rectangle 4">
            <a:extLst>
              <a:ext uri="{FF2B5EF4-FFF2-40B4-BE49-F238E27FC236}">
                <a16:creationId xmlns:a16="http://schemas.microsoft.com/office/drawing/2014/main" id="{F6DCCF91-C850-42C5-BC8A-A4DE4EB8522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章：选择结构程序设计 </a:t>
            </a:r>
          </a:p>
        </p:txBody>
      </p:sp>
      <p:grpSp>
        <p:nvGrpSpPr>
          <p:cNvPr id="18" name="组合 17">
            <a:extLst>
              <a:ext uri="{FF2B5EF4-FFF2-40B4-BE49-F238E27FC236}">
                <a16:creationId xmlns:a16="http://schemas.microsoft.com/office/drawing/2014/main" id="{9FAD0507-E91F-497F-993E-877571D58D5A}"/>
              </a:ext>
            </a:extLst>
          </p:cNvPr>
          <p:cNvGrpSpPr/>
          <p:nvPr/>
        </p:nvGrpSpPr>
        <p:grpSpPr>
          <a:xfrm>
            <a:off x="695325" y="967906"/>
            <a:ext cx="3267000" cy="630931"/>
            <a:chOff x="695400" y="1059424"/>
            <a:chExt cx="3267000" cy="630931"/>
          </a:xfrm>
        </p:grpSpPr>
        <p:grpSp>
          <p:nvGrpSpPr>
            <p:cNvPr id="19" name="组合 18">
              <a:extLst>
                <a:ext uri="{FF2B5EF4-FFF2-40B4-BE49-F238E27FC236}">
                  <a16:creationId xmlns:a16="http://schemas.microsoft.com/office/drawing/2014/main" id="{6D58BAF8-F3EE-470D-BA19-B64C71DA6575}"/>
                </a:ext>
              </a:extLst>
            </p:cNvPr>
            <p:cNvGrpSpPr/>
            <p:nvPr/>
          </p:nvGrpSpPr>
          <p:grpSpPr>
            <a:xfrm>
              <a:off x="695400" y="1059424"/>
              <a:ext cx="833819" cy="557612"/>
              <a:chOff x="695400" y="1059424"/>
              <a:chExt cx="833819" cy="557612"/>
            </a:xfrm>
          </p:grpSpPr>
          <p:sp>
            <p:nvSpPr>
              <p:cNvPr id="21" name="菱形 20">
                <a:extLst>
                  <a:ext uri="{FF2B5EF4-FFF2-40B4-BE49-F238E27FC236}">
                    <a16:creationId xmlns:a16="http://schemas.microsoft.com/office/drawing/2014/main" id="{1F9C5054-6795-4DC9-BA40-1ABEAEBCED23}"/>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2" name="菱形 21">
                <a:extLst>
                  <a:ext uri="{FF2B5EF4-FFF2-40B4-BE49-F238E27FC236}">
                    <a16:creationId xmlns:a16="http://schemas.microsoft.com/office/drawing/2014/main" id="{514D111E-B52F-40BA-990B-2E1C542547EF}"/>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20" name="Text Box 5">
              <a:extLst>
                <a:ext uri="{FF2B5EF4-FFF2-40B4-BE49-F238E27FC236}">
                  <a16:creationId xmlns:a16="http://schemas.microsoft.com/office/drawing/2014/main" id="{E7C671D5-5E44-4254-809E-0BAB27C6EFCF}"/>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
        <p:nvSpPr>
          <p:cNvPr id="23" name="Rectangle 37">
            <a:extLst>
              <a:ext uri="{FF2B5EF4-FFF2-40B4-BE49-F238E27FC236}">
                <a16:creationId xmlns:a16="http://schemas.microsoft.com/office/drawing/2014/main" id="{60264EED-CDEB-4606-8540-400E21F69D44}"/>
              </a:ext>
            </a:extLst>
          </p:cNvPr>
          <p:cNvSpPr>
            <a:spLocks noChangeArrowheads="1"/>
          </p:cNvSpPr>
          <p:nvPr/>
        </p:nvSpPr>
        <p:spPr bwMode="auto">
          <a:xfrm>
            <a:off x="1085778" y="1730538"/>
            <a:ext cx="10081120" cy="427040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ts val="3300"/>
              </a:lnSpc>
            </a:pPr>
            <a:r>
              <a:rPr lang="en-US" altLang="zh-CN" b="1" dirty="0">
                <a:latin typeface="楷体_GB2312" pitchFamily="49" charset="-122"/>
                <a:ea typeface="楷体_GB2312" pitchFamily="49" charset="-122"/>
              </a:rPr>
              <a:t>    </a:t>
            </a:r>
            <a:r>
              <a:rPr lang="zh-CN" altLang="en-US" b="1" dirty="0">
                <a:latin typeface="楷体" pitchFamily="49" charset="-122"/>
                <a:ea typeface="楷体" pitchFamily="49" charset="-122"/>
              </a:rPr>
              <a:t>在编制程序时，有时并不能保证程序一定执行某些指令，而是要根据一定的外部条件来判断哪些指令要执行。如菜谱中要加工西红柿，可能有这样的步骤：</a:t>
            </a:r>
            <a:r>
              <a:rPr lang="zh-CN" altLang="en-US" b="1" dirty="0">
                <a:solidFill>
                  <a:srgbClr val="002060"/>
                </a:solidFill>
                <a:latin typeface="楷体" pitchFamily="49" charset="-122"/>
                <a:ea typeface="楷体" pitchFamily="49" charset="-122"/>
              </a:rPr>
              <a:t>如果是用鲜西红柿，</a:t>
            </a:r>
            <a:r>
              <a:rPr lang="zh-CN" altLang="en-US" b="1" dirty="0">
                <a:solidFill>
                  <a:schemeClr val="accent1">
                    <a:lumMod val="50000"/>
                  </a:schemeClr>
                </a:solidFill>
                <a:latin typeface="楷体" pitchFamily="49" charset="-122"/>
                <a:ea typeface="楷体" pitchFamily="49" charset="-122"/>
              </a:rPr>
              <a:t>则去皮、切碎，开始放入</a:t>
            </a:r>
            <a:r>
              <a:rPr lang="zh-CN" altLang="en-US" b="1" dirty="0">
                <a:solidFill>
                  <a:srgbClr val="336600"/>
                </a:solidFill>
                <a:latin typeface="楷体" pitchFamily="49" charset="-122"/>
                <a:ea typeface="楷体" pitchFamily="49" charset="-122"/>
              </a:rPr>
              <a:t>，</a:t>
            </a:r>
            <a:r>
              <a:rPr lang="zh-CN" altLang="en-US" b="1" dirty="0">
                <a:solidFill>
                  <a:srgbClr val="002060"/>
                </a:solidFill>
                <a:latin typeface="楷体" pitchFamily="49" charset="-122"/>
                <a:ea typeface="楷体" pitchFamily="49" charset="-122"/>
              </a:rPr>
              <a:t>如果是用西红柿酱，</a:t>
            </a:r>
            <a:r>
              <a:rPr lang="zh-CN" altLang="en-US" b="1" dirty="0">
                <a:solidFill>
                  <a:schemeClr val="accent1">
                    <a:lumMod val="50000"/>
                  </a:schemeClr>
                </a:solidFill>
                <a:latin typeface="楷体" pitchFamily="49" charset="-122"/>
                <a:ea typeface="楷体" pitchFamily="49" charset="-122"/>
              </a:rPr>
              <a:t>就在最后放入。</a:t>
            </a:r>
            <a:r>
              <a:rPr lang="zh-CN" altLang="en-US" b="1" dirty="0">
                <a:latin typeface="楷体" pitchFamily="49" charset="-122"/>
                <a:ea typeface="楷体" pitchFamily="49" charset="-122"/>
              </a:rPr>
              <a:t>这里，我们并不知道具体操作时执行哪段指令，但菜谱给出了不同条件下的处理方式，计算机程序也是如此，可以根据不同的条件执行不同的代码，这就是</a:t>
            </a:r>
            <a:r>
              <a:rPr lang="zh-CN" altLang="en-US" b="1" dirty="0">
                <a:solidFill>
                  <a:srgbClr val="C01920"/>
                </a:solidFill>
                <a:latin typeface="楷体" pitchFamily="49" charset="-122"/>
                <a:ea typeface="楷体" pitchFamily="49" charset="-122"/>
              </a:rPr>
              <a:t>选择结构</a:t>
            </a:r>
            <a:r>
              <a:rPr lang="zh-CN" altLang="en-US" b="1" dirty="0">
                <a:latin typeface="楷体" pitchFamily="49" charset="-122"/>
                <a:ea typeface="楷体" pitchFamily="49" charset="-122"/>
              </a:rPr>
              <a:t>。</a:t>
            </a:r>
            <a:endParaRPr lang="en-US" altLang="zh-CN" b="1" dirty="0">
              <a:latin typeface="楷体" pitchFamily="49" charset="-122"/>
              <a:ea typeface="楷体" pitchFamily="49" charset="-122"/>
            </a:endParaRPr>
          </a:p>
          <a:p>
            <a:pPr>
              <a:lnSpc>
                <a:spcPts val="3300"/>
              </a:lnSpc>
            </a:pPr>
            <a:r>
              <a:rPr lang="en-US" altLang="zh-CN" b="1" dirty="0">
                <a:latin typeface="楷体" pitchFamily="49" charset="-122"/>
                <a:ea typeface="楷体" pitchFamily="49" charset="-122"/>
              </a:rPr>
              <a:t>    </a:t>
            </a:r>
            <a:r>
              <a:rPr lang="zh-CN" altLang="en-US" b="1" dirty="0">
                <a:latin typeface="楷体" pitchFamily="49" charset="-122"/>
                <a:ea typeface="楷体" pitchFamily="49" charset="-122"/>
              </a:rPr>
              <a:t>程序总是为解决某个实际问题而设计的，而问题往往包含多个方面，不同的情况需要有不同的处理，所以选择结构在我们的实际应用程序中可以说是无处不在，离开了选择结构很多情况将无法处理，因此，正确掌握选择结构程序设计方法对于我们编写实际应用程序尤为重要。 </a:t>
            </a:r>
          </a:p>
        </p:txBody>
      </p:sp>
      <p:grpSp>
        <p:nvGrpSpPr>
          <p:cNvPr id="24" name="Group 54">
            <a:extLst>
              <a:ext uri="{FF2B5EF4-FFF2-40B4-BE49-F238E27FC236}">
                <a16:creationId xmlns:a16="http://schemas.microsoft.com/office/drawing/2014/main" id="{1B925310-41C7-409E-9153-7F608B6B976A}"/>
              </a:ext>
            </a:extLst>
          </p:cNvPr>
          <p:cNvGrpSpPr>
            <a:grpSpLocks/>
          </p:cNvGrpSpPr>
          <p:nvPr/>
        </p:nvGrpSpPr>
        <p:grpSpPr bwMode="auto">
          <a:xfrm>
            <a:off x="2732487" y="3376141"/>
            <a:ext cx="6553200" cy="3168650"/>
            <a:chOff x="1020" y="1434"/>
            <a:chExt cx="4128" cy="1996"/>
          </a:xfrm>
        </p:grpSpPr>
        <p:sp>
          <p:nvSpPr>
            <p:cNvPr id="25" name="Rectangle 38">
              <a:extLst>
                <a:ext uri="{FF2B5EF4-FFF2-40B4-BE49-F238E27FC236}">
                  <a16:creationId xmlns:a16="http://schemas.microsoft.com/office/drawing/2014/main" id="{B4CBA8B0-D975-419A-9884-73E27B80F6FC}"/>
                </a:ext>
              </a:extLst>
            </p:cNvPr>
            <p:cNvSpPr>
              <a:spLocks noChangeArrowheads="1"/>
            </p:cNvSpPr>
            <p:nvPr/>
          </p:nvSpPr>
          <p:spPr bwMode="auto">
            <a:xfrm>
              <a:off x="1020" y="1434"/>
              <a:ext cx="4128" cy="1996"/>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26" name="Group 39">
              <a:extLst>
                <a:ext uri="{FF2B5EF4-FFF2-40B4-BE49-F238E27FC236}">
                  <a16:creationId xmlns:a16="http://schemas.microsoft.com/office/drawing/2014/main" id="{ADA3BF85-F639-4D2D-9171-3AB7D29CA30E}"/>
                </a:ext>
              </a:extLst>
            </p:cNvPr>
            <p:cNvGrpSpPr>
              <a:grpSpLocks/>
            </p:cNvGrpSpPr>
            <p:nvPr/>
          </p:nvGrpSpPr>
          <p:grpSpPr bwMode="auto">
            <a:xfrm>
              <a:off x="1143" y="1749"/>
              <a:ext cx="3751" cy="1312"/>
              <a:chOff x="943" y="2357"/>
              <a:chExt cx="3751" cy="1312"/>
            </a:xfrm>
          </p:grpSpPr>
          <p:grpSp>
            <p:nvGrpSpPr>
              <p:cNvPr id="27" name="Group 40">
                <a:extLst>
                  <a:ext uri="{FF2B5EF4-FFF2-40B4-BE49-F238E27FC236}">
                    <a16:creationId xmlns:a16="http://schemas.microsoft.com/office/drawing/2014/main" id="{088FC65B-49BC-42F7-A23A-5CF972C18870}"/>
                  </a:ext>
                </a:extLst>
              </p:cNvPr>
              <p:cNvGrpSpPr>
                <a:grpSpLocks/>
              </p:cNvGrpSpPr>
              <p:nvPr/>
            </p:nvGrpSpPr>
            <p:grpSpPr bwMode="auto">
              <a:xfrm>
                <a:off x="2058" y="2387"/>
                <a:ext cx="2636" cy="505"/>
                <a:chOff x="2058" y="2387"/>
                <a:chExt cx="2636" cy="505"/>
              </a:xfrm>
            </p:grpSpPr>
            <p:sp>
              <p:nvSpPr>
                <p:cNvPr id="39" name="Oval 41">
                  <a:extLst>
                    <a:ext uri="{FF2B5EF4-FFF2-40B4-BE49-F238E27FC236}">
                      <a16:creationId xmlns:a16="http://schemas.microsoft.com/office/drawing/2014/main" id="{DAA4708A-406B-4D90-BC14-55AE9B4D295E}"/>
                    </a:ext>
                  </a:extLst>
                </p:cNvPr>
                <p:cNvSpPr>
                  <a:spLocks noChangeArrowheads="1"/>
                </p:cNvSpPr>
                <p:nvPr/>
              </p:nvSpPr>
              <p:spPr bwMode="auto">
                <a:xfrm>
                  <a:off x="2058" y="2387"/>
                  <a:ext cx="907" cy="272"/>
                </a:xfrm>
                <a:prstGeom prst="ellipse">
                  <a:avLst/>
                </a:prstGeom>
                <a:noFill/>
                <a:ln w="28575">
                  <a:solidFill>
                    <a:srgbClr val="002060"/>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40" name="AutoShape 42">
                  <a:extLst>
                    <a:ext uri="{FF2B5EF4-FFF2-40B4-BE49-F238E27FC236}">
                      <a16:creationId xmlns:a16="http://schemas.microsoft.com/office/drawing/2014/main" id="{CCA2A2B7-7A1C-4679-8C10-476DBDA05CFD}"/>
                    </a:ext>
                  </a:extLst>
                </p:cNvPr>
                <p:cNvSpPr>
                  <a:spLocks noChangeArrowheads="1"/>
                </p:cNvSpPr>
                <p:nvPr/>
              </p:nvSpPr>
              <p:spPr bwMode="auto">
                <a:xfrm>
                  <a:off x="3592" y="2592"/>
                  <a:ext cx="1102" cy="300"/>
                </a:xfrm>
                <a:prstGeom prst="wedgeRoundRectCallout">
                  <a:avLst>
                    <a:gd name="adj1" fmla="val -111162"/>
                    <a:gd name="adj2" fmla="val -50000"/>
                    <a:gd name="adj3" fmla="val 16667"/>
                  </a:avLst>
                </a:prstGeom>
                <a:solidFill>
                  <a:srgbClr val="CFCFD1"/>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第</a:t>
                  </a:r>
                  <a:r>
                    <a:rPr lang="en-US" altLang="zh-CN" sz="2000" b="1" dirty="0">
                      <a:effectLst>
                        <a:outerShdw blurRad="38100" dist="38100" dir="2700000" algn="tl">
                          <a:srgbClr val="FFFFFF"/>
                        </a:outerShdw>
                      </a:effectLst>
                      <a:latin typeface="楷体" pitchFamily="49" charset="-122"/>
                      <a:ea typeface="楷体" pitchFamily="49" charset="-122"/>
                    </a:rPr>
                    <a:t>4</a:t>
                  </a:r>
                  <a:r>
                    <a:rPr lang="zh-CN" altLang="en-US" sz="2000" b="1" dirty="0">
                      <a:effectLst>
                        <a:outerShdw blurRad="38100" dist="38100" dir="2700000" algn="tl">
                          <a:srgbClr val="FFFFFF"/>
                        </a:outerShdw>
                      </a:effectLst>
                      <a:latin typeface="楷体" pitchFamily="49" charset="-122"/>
                      <a:ea typeface="楷体" pitchFamily="49" charset="-122"/>
                    </a:rPr>
                    <a:t>章已讨论</a:t>
                  </a:r>
                </a:p>
              </p:txBody>
            </p:sp>
          </p:grpSp>
          <p:sp>
            <p:nvSpPr>
              <p:cNvPr id="28" name="Text Box 43">
                <a:extLst>
                  <a:ext uri="{FF2B5EF4-FFF2-40B4-BE49-F238E27FC236}">
                    <a16:creationId xmlns:a16="http://schemas.microsoft.com/office/drawing/2014/main" id="{96197EB0-E27C-4DB4-893F-7DC062234B43}"/>
                  </a:ext>
                </a:extLst>
              </p:cNvPr>
              <p:cNvSpPr txBox="1">
                <a:spLocks noChangeArrowheads="1"/>
              </p:cNvSpPr>
              <p:nvPr/>
            </p:nvSpPr>
            <p:spPr bwMode="auto">
              <a:xfrm>
                <a:off x="943" y="2766"/>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程序结构</a:t>
                </a:r>
              </a:p>
            </p:txBody>
          </p:sp>
          <p:sp>
            <p:nvSpPr>
              <p:cNvPr id="29" name="Text Box 44">
                <a:extLst>
                  <a:ext uri="{FF2B5EF4-FFF2-40B4-BE49-F238E27FC236}">
                    <a16:creationId xmlns:a16="http://schemas.microsoft.com/office/drawing/2014/main" id="{F998F1AA-417C-4140-8C58-A87496F89609}"/>
                  </a:ext>
                </a:extLst>
              </p:cNvPr>
              <p:cNvSpPr txBox="1">
                <a:spLocks noChangeArrowheads="1"/>
              </p:cNvSpPr>
              <p:nvPr/>
            </p:nvSpPr>
            <p:spPr bwMode="auto">
              <a:xfrm>
                <a:off x="2085" y="235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dirty="0">
                    <a:effectLst>
                      <a:outerShdw blurRad="38100" dist="38100" dir="2700000" algn="tl">
                        <a:srgbClr val="FFFFFF"/>
                      </a:outerShdw>
                    </a:effectLst>
                    <a:ea typeface="隶书" pitchFamily="49" charset="-122"/>
                  </a:rPr>
                  <a:t>顺序结构</a:t>
                </a:r>
              </a:p>
            </p:txBody>
          </p:sp>
          <p:sp>
            <p:nvSpPr>
              <p:cNvPr id="30" name="Text Box 45">
                <a:extLst>
                  <a:ext uri="{FF2B5EF4-FFF2-40B4-BE49-F238E27FC236}">
                    <a16:creationId xmlns:a16="http://schemas.microsoft.com/office/drawing/2014/main" id="{9A44017C-7B67-4EC7-8783-85F4D6A827E3}"/>
                  </a:ext>
                </a:extLst>
              </p:cNvPr>
              <p:cNvSpPr txBox="1">
                <a:spLocks noChangeArrowheads="1"/>
              </p:cNvSpPr>
              <p:nvPr/>
            </p:nvSpPr>
            <p:spPr bwMode="auto">
              <a:xfrm>
                <a:off x="2093" y="2747"/>
                <a:ext cx="998" cy="288"/>
              </a:xfrm>
              <a:prstGeom prst="rect">
                <a:avLst/>
              </a:prstGeom>
              <a:no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31" name="Text Box 46">
                <a:extLst>
                  <a:ext uri="{FF2B5EF4-FFF2-40B4-BE49-F238E27FC236}">
                    <a16:creationId xmlns:a16="http://schemas.microsoft.com/office/drawing/2014/main" id="{46384A27-316C-4E8F-BC6F-EA1BF1AAC9F5}"/>
                  </a:ext>
                </a:extLst>
              </p:cNvPr>
              <p:cNvSpPr txBox="1">
                <a:spLocks noChangeArrowheads="1"/>
              </p:cNvSpPr>
              <p:nvPr/>
            </p:nvSpPr>
            <p:spPr bwMode="auto">
              <a:xfrm>
                <a:off x="2046" y="3149"/>
                <a:ext cx="998" cy="288"/>
              </a:xfrm>
              <a:prstGeom prst="rect">
                <a:avLst/>
              </a:prstGeom>
              <a:noFill/>
              <a:ln w="9525">
                <a:noFill/>
                <a:miter lim="800000"/>
                <a:headEnd/>
                <a:tailEnd/>
              </a:ln>
              <a:effectLst/>
              <a:scene3d>
                <a:camera prst="orthographicFront"/>
                <a:lightRig rig="threePt" dir="t"/>
              </a:scene3d>
              <a:sp3d>
                <a:bevelT w="114300" prst="hardEdge"/>
              </a:sp3d>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32" name="AutoShape 47">
                <a:extLst>
                  <a:ext uri="{FF2B5EF4-FFF2-40B4-BE49-F238E27FC236}">
                    <a16:creationId xmlns:a16="http://schemas.microsoft.com/office/drawing/2014/main" id="{BA2866DE-864A-4101-9992-14E5A1AD0E42}"/>
                  </a:ext>
                </a:extLst>
              </p:cNvPr>
              <p:cNvSpPr>
                <a:spLocks/>
              </p:cNvSpPr>
              <p:nvPr/>
            </p:nvSpPr>
            <p:spPr bwMode="auto">
              <a:xfrm>
                <a:off x="1824" y="2552"/>
                <a:ext cx="181" cy="771"/>
              </a:xfrm>
              <a:prstGeom prst="leftBrace">
                <a:avLst>
                  <a:gd name="adj1" fmla="val 35497"/>
                  <a:gd name="adj2" fmla="val 50000"/>
                </a:avLst>
              </a:prstGeom>
              <a:noFill/>
              <a:ln w="28575">
                <a:solidFill>
                  <a:schemeClr val="tx1"/>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grpSp>
            <p:nvGrpSpPr>
              <p:cNvPr id="33" name="Group 48">
                <a:extLst>
                  <a:ext uri="{FF2B5EF4-FFF2-40B4-BE49-F238E27FC236}">
                    <a16:creationId xmlns:a16="http://schemas.microsoft.com/office/drawing/2014/main" id="{DEFBCE39-9FA6-4F59-A051-E8A99D69FCFC}"/>
                  </a:ext>
                </a:extLst>
              </p:cNvPr>
              <p:cNvGrpSpPr>
                <a:grpSpLocks/>
              </p:cNvGrpSpPr>
              <p:nvPr/>
            </p:nvGrpSpPr>
            <p:grpSpPr bwMode="auto">
              <a:xfrm>
                <a:off x="2064" y="2774"/>
                <a:ext cx="2486" cy="504"/>
                <a:chOff x="2064" y="2774"/>
                <a:chExt cx="2486" cy="504"/>
              </a:xfrm>
            </p:grpSpPr>
            <p:sp>
              <p:nvSpPr>
                <p:cNvPr id="37" name="Oval 49">
                  <a:extLst>
                    <a:ext uri="{FF2B5EF4-FFF2-40B4-BE49-F238E27FC236}">
                      <a16:creationId xmlns:a16="http://schemas.microsoft.com/office/drawing/2014/main" id="{1D5DB7B0-005A-4774-8711-CCB6153DABBF}"/>
                    </a:ext>
                  </a:extLst>
                </p:cNvPr>
                <p:cNvSpPr>
                  <a:spLocks noChangeArrowheads="1"/>
                </p:cNvSpPr>
                <p:nvPr/>
              </p:nvSpPr>
              <p:spPr bwMode="auto">
                <a:xfrm>
                  <a:off x="2064" y="2774"/>
                  <a:ext cx="907" cy="272"/>
                </a:xfrm>
                <a:prstGeom prst="ellipse">
                  <a:avLst/>
                </a:prstGeom>
                <a:noFill/>
                <a:ln w="28575">
                  <a:solidFill>
                    <a:srgbClr val="C01920"/>
                  </a:solidFill>
                  <a:round/>
                  <a:headEnd/>
                  <a:tailEnd/>
                </a:ln>
                <a:effectLst/>
                <a:scene3d>
                  <a:camera prst="orthographicFront"/>
                  <a:lightRig rig="threePt" dir="t"/>
                </a:scene3d>
                <a:sp3d>
                  <a:bevelT w="114300" prst="hardEdge"/>
                </a:sp3d>
              </p:spPr>
              <p:txBody>
                <a:bodyPr wrap="none" anchor="ctr"/>
                <a:lstStyle/>
                <a:p>
                  <a:endParaRPr lang="zh-CN" altLang="en-US"/>
                </a:p>
              </p:txBody>
            </p:sp>
            <p:sp>
              <p:nvSpPr>
                <p:cNvPr id="38" name="AutoShape 50">
                  <a:extLst>
                    <a:ext uri="{FF2B5EF4-FFF2-40B4-BE49-F238E27FC236}">
                      <a16:creationId xmlns:a16="http://schemas.microsoft.com/office/drawing/2014/main" id="{79FDB641-560F-45CF-9A98-DE3BC8B2F685}"/>
                    </a:ext>
                  </a:extLst>
                </p:cNvPr>
                <p:cNvSpPr>
                  <a:spLocks noChangeArrowheads="1"/>
                </p:cNvSpPr>
                <p:nvPr/>
              </p:nvSpPr>
              <p:spPr bwMode="auto">
                <a:xfrm>
                  <a:off x="3589" y="2978"/>
                  <a:ext cx="961" cy="300"/>
                </a:xfrm>
                <a:prstGeom prst="wedgeRoundRectCallout">
                  <a:avLst>
                    <a:gd name="adj1" fmla="val -120134"/>
                    <a:gd name="adj2" fmla="val -50000"/>
                    <a:gd name="adj3" fmla="val 16667"/>
                  </a:avLst>
                </a:prstGeom>
                <a:solidFill>
                  <a:srgbClr val="C01920"/>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chemeClr val="bg1"/>
                      </a:solidFill>
                      <a:effectLst>
                        <a:outerShdw blurRad="38100" dist="38100" dir="2700000" algn="tl">
                          <a:srgbClr val="000000"/>
                        </a:outerShdw>
                      </a:effectLst>
                      <a:latin typeface="楷体" pitchFamily="49" charset="-122"/>
                      <a:ea typeface="楷体" pitchFamily="49" charset="-122"/>
                    </a:rPr>
                    <a:t>本章讨论</a:t>
                  </a:r>
                </a:p>
              </p:txBody>
            </p:sp>
          </p:grpSp>
          <p:grpSp>
            <p:nvGrpSpPr>
              <p:cNvPr id="34" name="Group 51">
                <a:extLst>
                  <a:ext uri="{FF2B5EF4-FFF2-40B4-BE49-F238E27FC236}">
                    <a16:creationId xmlns:a16="http://schemas.microsoft.com/office/drawing/2014/main" id="{B3563DDB-C590-4F15-AFF1-82A2AB2AA680}"/>
                  </a:ext>
                </a:extLst>
              </p:cNvPr>
              <p:cNvGrpSpPr>
                <a:grpSpLocks/>
              </p:cNvGrpSpPr>
              <p:nvPr/>
            </p:nvGrpSpPr>
            <p:grpSpPr bwMode="auto">
              <a:xfrm>
                <a:off x="2049" y="3175"/>
                <a:ext cx="2509" cy="494"/>
                <a:chOff x="2057" y="3191"/>
                <a:chExt cx="2509" cy="494"/>
              </a:xfrm>
            </p:grpSpPr>
            <p:sp>
              <p:nvSpPr>
                <p:cNvPr id="35" name="Oval 52">
                  <a:extLst>
                    <a:ext uri="{FF2B5EF4-FFF2-40B4-BE49-F238E27FC236}">
                      <a16:creationId xmlns:a16="http://schemas.microsoft.com/office/drawing/2014/main" id="{F0BFFC2D-E53A-4F75-9915-FB47D92420B1}"/>
                    </a:ext>
                  </a:extLst>
                </p:cNvPr>
                <p:cNvSpPr>
                  <a:spLocks noChangeArrowheads="1"/>
                </p:cNvSpPr>
                <p:nvPr/>
              </p:nvSpPr>
              <p:spPr bwMode="auto">
                <a:xfrm>
                  <a:off x="2057" y="3191"/>
                  <a:ext cx="907" cy="272"/>
                </a:xfrm>
                <a:prstGeom prst="ellipse">
                  <a:avLst/>
                </a:prstGeom>
                <a:noFill/>
                <a:ln w="28575">
                  <a:solidFill>
                    <a:srgbClr val="002060"/>
                  </a:solidFill>
                  <a:round/>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endParaRPr lang="zh-CN" altLang="en-US"/>
                </a:p>
              </p:txBody>
            </p:sp>
            <p:sp>
              <p:nvSpPr>
                <p:cNvPr id="36" name="AutoShape 53">
                  <a:extLst>
                    <a:ext uri="{FF2B5EF4-FFF2-40B4-BE49-F238E27FC236}">
                      <a16:creationId xmlns:a16="http://schemas.microsoft.com/office/drawing/2014/main" id="{F9B18B8D-33B3-4D47-A7A9-461DD9BA563C}"/>
                    </a:ext>
                  </a:extLst>
                </p:cNvPr>
                <p:cNvSpPr>
                  <a:spLocks noChangeArrowheads="1"/>
                </p:cNvSpPr>
                <p:nvPr/>
              </p:nvSpPr>
              <p:spPr bwMode="auto">
                <a:xfrm>
                  <a:off x="3605" y="3385"/>
                  <a:ext cx="961" cy="300"/>
                </a:xfrm>
                <a:prstGeom prst="wedgeRoundRectCallout">
                  <a:avLst>
                    <a:gd name="adj1" fmla="val -120134"/>
                    <a:gd name="adj2" fmla="val -50000"/>
                    <a:gd name="adj3" fmla="val 16667"/>
                  </a:avLst>
                </a:prstGeom>
                <a:solidFill>
                  <a:srgbClr val="CFCFD1"/>
                </a:soli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6</a:t>
                  </a:r>
                  <a:r>
                    <a:rPr lang="zh-CN" altLang="en-US" sz="2000" b="1">
                      <a:effectLst>
                        <a:outerShdw blurRad="38100" dist="38100" dir="2700000" algn="tl">
                          <a:srgbClr val="FFFFFF"/>
                        </a:outerShdw>
                      </a:effectLst>
                      <a:latin typeface="楷体" pitchFamily="49" charset="-122"/>
                      <a:ea typeface="楷体" pitchFamily="49" charset="-122"/>
                    </a:rPr>
                    <a:t>章讨论</a:t>
                  </a: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ox(out)">
                                      <p:cBhvr>
                                        <p:cTn id="13" dur="500"/>
                                        <p:tgtEl>
                                          <p:spTgt spid="2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box(out)">
                                      <p:cBhvr>
                                        <p:cTn id="18" dur="500"/>
                                        <p:tgtEl>
                                          <p:spTgt spid="2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6228801" y="1988840"/>
            <a:ext cx="5267874" cy="40139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808038" lvl="1" indent="-350838">
              <a:spcBef>
                <a:spcPct val="20000"/>
              </a:spcBef>
              <a:buClr>
                <a:srgbClr val="C01920"/>
              </a:buClr>
              <a:buFont typeface="Wingdings" pitchFamily="2" charset="2"/>
              <a:buChar char="ü"/>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程序中语句的分类 </a:t>
            </a:r>
          </a:p>
          <a:p>
            <a:pPr marL="808038" lvl="1" indent="-350838">
              <a:spcBef>
                <a:spcPct val="20000"/>
              </a:spcBef>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关系运算符、逻辑运算符、条件运算符 </a:t>
            </a:r>
          </a:p>
          <a:p>
            <a:pPr marL="808038" lvl="1" indent="-350838">
              <a:spcBef>
                <a:spcPct val="20000"/>
              </a:spcBef>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选择结构的程序设计</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a:t>
            </a:r>
            <a:r>
              <a:rPr lang="en-US" altLang="zh-CN" b="1" dirty="0">
                <a:effectLst>
                  <a:outerShdw blurRad="38100" dist="38100" dir="2700000" algn="tl">
                    <a:srgbClr val="FFFFFF"/>
                  </a:outerShdw>
                </a:effectLst>
                <a:latin typeface="+mn-lt"/>
                <a:ea typeface="楷体" pitchFamily="49" charset="-122"/>
              </a:rPr>
              <a:t>) </a:t>
            </a:r>
          </a:p>
          <a:p>
            <a:pPr marL="808038" lvl="1" indent="-350838">
              <a:spcBef>
                <a:spcPct val="20000"/>
              </a:spcBef>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选择结构程序设计举例 </a:t>
            </a:r>
          </a:p>
          <a:p>
            <a:pPr marL="808038" lvl="1" indent="-350838">
              <a:spcBef>
                <a:spcPct val="20000"/>
              </a:spcBef>
              <a:buClr>
                <a:srgbClr val="C0192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本章小结</a:t>
            </a:r>
          </a:p>
        </p:txBody>
      </p:sp>
      <p:sp>
        <p:nvSpPr>
          <p:cNvPr id="677891" name="Rectangle 3"/>
          <p:cNvSpPr>
            <a:spLocks noChangeArrowheads="1"/>
          </p:cNvSpPr>
          <p:nvPr/>
        </p:nvSpPr>
        <p:spPr bwMode="auto">
          <a:xfrm>
            <a:off x="728194" y="1988840"/>
            <a:ext cx="5267457" cy="40139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808038" lvl="1" indent="-3508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理解选择结构的含义；</a:t>
            </a:r>
          </a:p>
          <a:p>
            <a:pPr marL="808038" lvl="1" indent="-3508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语言语句的分类；</a:t>
            </a:r>
          </a:p>
          <a:p>
            <a:pPr marL="808038" lvl="1" indent="-3508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掌握关系运算符、逻辑运算符和条件运算符的用法；</a:t>
            </a:r>
          </a:p>
          <a:p>
            <a:pPr marL="808038" lvl="1" indent="-3508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记住关系运算符、逻辑运算符和条件运算符与其它运算符的优先级关系和结合性；</a:t>
            </a:r>
          </a:p>
          <a:p>
            <a:pPr marL="808038" lvl="1" indent="-350838">
              <a:spcBef>
                <a:spcPct val="20000"/>
              </a:spcBef>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语句的使用方法。  </a:t>
            </a:r>
          </a:p>
        </p:txBody>
      </p:sp>
      <p:sp>
        <p:nvSpPr>
          <p:cNvPr id="9" name="Rectangle 4">
            <a:extLst>
              <a:ext uri="{FF2B5EF4-FFF2-40B4-BE49-F238E27FC236}">
                <a16:creationId xmlns:a16="http://schemas.microsoft.com/office/drawing/2014/main" id="{51A42D47-2300-4AAA-BBDC-6C54A89293B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章：选择结构程序设计 </a:t>
            </a:r>
          </a:p>
        </p:txBody>
      </p:sp>
      <p:grpSp>
        <p:nvGrpSpPr>
          <p:cNvPr id="10" name="组合 9">
            <a:extLst>
              <a:ext uri="{FF2B5EF4-FFF2-40B4-BE49-F238E27FC236}">
                <a16:creationId xmlns:a16="http://schemas.microsoft.com/office/drawing/2014/main" id="{CEE011D0-5BC5-4E32-A713-D8AE40DA6DA9}"/>
              </a:ext>
            </a:extLst>
          </p:cNvPr>
          <p:cNvGrpSpPr/>
          <p:nvPr/>
        </p:nvGrpSpPr>
        <p:grpSpPr>
          <a:xfrm>
            <a:off x="695325" y="967906"/>
            <a:ext cx="3267000" cy="630931"/>
            <a:chOff x="695400" y="1059424"/>
            <a:chExt cx="3267000" cy="630931"/>
          </a:xfrm>
        </p:grpSpPr>
        <p:grpSp>
          <p:nvGrpSpPr>
            <p:cNvPr id="11" name="组合 10">
              <a:extLst>
                <a:ext uri="{FF2B5EF4-FFF2-40B4-BE49-F238E27FC236}">
                  <a16:creationId xmlns:a16="http://schemas.microsoft.com/office/drawing/2014/main" id="{86FB646E-AA70-4F0F-A732-39F018436BDF}"/>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2581A607-5F61-4170-9123-AC0AE5CA661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F09B184D-2D52-4010-9940-965ABED54028}"/>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ECD084B2-5DEC-400B-8EC8-74905E1CD307}"/>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grpSp>
        <p:nvGrpSpPr>
          <p:cNvPr id="15" name="组合 14">
            <a:extLst>
              <a:ext uri="{FF2B5EF4-FFF2-40B4-BE49-F238E27FC236}">
                <a16:creationId xmlns:a16="http://schemas.microsoft.com/office/drawing/2014/main" id="{53E7418E-32FB-4551-ADE5-140617A7887C}"/>
              </a:ext>
            </a:extLst>
          </p:cNvPr>
          <p:cNvGrpSpPr/>
          <p:nvPr/>
        </p:nvGrpSpPr>
        <p:grpSpPr>
          <a:xfrm>
            <a:off x="6073076" y="967906"/>
            <a:ext cx="3267000" cy="630931"/>
            <a:chOff x="695400" y="1059424"/>
            <a:chExt cx="3267000" cy="630931"/>
          </a:xfrm>
        </p:grpSpPr>
        <p:grpSp>
          <p:nvGrpSpPr>
            <p:cNvPr id="16" name="组合 15">
              <a:extLst>
                <a:ext uri="{FF2B5EF4-FFF2-40B4-BE49-F238E27FC236}">
                  <a16:creationId xmlns:a16="http://schemas.microsoft.com/office/drawing/2014/main" id="{889255FA-0040-4976-9E4A-CC68212CA37B}"/>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5E5C0D12-604E-4901-AEE6-6BD38FA9F28D}"/>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28043822-A486-4324-884B-D20DF4987691}"/>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7" name="Text Box 5">
              <a:extLst>
                <a:ext uri="{FF2B5EF4-FFF2-40B4-BE49-F238E27FC236}">
                  <a16:creationId xmlns:a16="http://schemas.microsoft.com/office/drawing/2014/main" id="{9FDEA562-1779-469D-BF43-D22155BB0243}"/>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677891"/>
                                        </p:tgtEl>
                                        <p:attrNameLst>
                                          <p:attrName>style.visibility</p:attrName>
                                        </p:attrNameLst>
                                      </p:cBhvr>
                                      <p:to>
                                        <p:strVal val="visible"/>
                                      </p:to>
                                    </p:set>
                                    <p:animEffect transition="in" filter="diamond(in)">
                                      <p:cBhvr>
                                        <p:cTn id="13" dur="2000"/>
                                        <p:tgtEl>
                                          <p:spTgt spid="677891"/>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677904"/>
                                        </p:tgtEl>
                                        <p:attrNameLst>
                                          <p:attrName>style.visibility</p:attrName>
                                        </p:attrNameLst>
                                      </p:cBhvr>
                                      <p:to>
                                        <p:strVal val="visible"/>
                                      </p:to>
                                    </p:set>
                                    <p:animEffect transition="in" filter="diamond(in)">
                                      <p:cBhvr>
                                        <p:cTn id="24" dur="2000"/>
                                        <p:tgtEl>
                                          <p:spTgt spid="677904"/>
                                        </p:tgtEl>
                                      </p:cBhvr>
                                    </p:animEffect>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4030" name="Rectangle 62"/>
          <p:cNvSpPr>
            <a:spLocks noChangeArrowheads="1"/>
          </p:cNvSpPr>
          <p:nvPr/>
        </p:nvSpPr>
        <p:spPr bwMode="auto">
          <a:xfrm>
            <a:off x="530763" y="870378"/>
            <a:ext cx="11157462" cy="830997"/>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Ｃ语言程序的执行部分是由语句组成的。程序的功能也是由执行语句实现的。</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语言中的语句可以分为以下</a:t>
            </a:r>
            <a:r>
              <a:rPr lang="en-US" altLang="zh-CN" b="1" dirty="0">
                <a:effectLst>
                  <a:outerShdw blurRad="38100" dist="38100" dir="2700000" algn="tl">
                    <a:srgbClr val="FFFFFF"/>
                  </a:outerShdw>
                </a:effectLst>
                <a:latin typeface="+mn-lt"/>
                <a:ea typeface="楷体" pitchFamily="49" charset="-122"/>
              </a:rPr>
              <a:t>5</a:t>
            </a:r>
            <a:r>
              <a:rPr lang="zh-CN" altLang="en-US" b="1" dirty="0">
                <a:effectLst>
                  <a:outerShdw blurRad="38100" dist="38100" dir="2700000" algn="tl">
                    <a:srgbClr val="FFFFFF"/>
                  </a:outerShdw>
                </a:effectLst>
                <a:latin typeface="+mn-lt"/>
                <a:ea typeface="楷体" pitchFamily="49" charset="-122"/>
              </a:rPr>
              <a:t>类： </a:t>
            </a:r>
          </a:p>
        </p:txBody>
      </p:sp>
      <p:sp>
        <p:nvSpPr>
          <p:cNvPr id="724032" name="Rectangle 64"/>
          <p:cNvSpPr>
            <a:spLocks noChangeArrowheads="1"/>
          </p:cNvSpPr>
          <p:nvPr/>
        </p:nvSpPr>
        <p:spPr bwMode="auto">
          <a:xfrm>
            <a:off x="1176878" y="1877923"/>
            <a:ext cx="8380820" cy="830997"/>
          </a:xfrm>
          <a:prstGeom prst="rect">
            <a:avLst/>
          </a:prstGeom>
          <a:noFill/>
          <a:ln w="9525">
            <a:noFill/>
            <a:miter lim="800000"/>
            <a:headEnd/>
            <a:tailEnd/>
          </a:ln>
          <a:effectLst/>
        </p:spPr>
        <p:txBody>
          <a:bodyPr wrap="none">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表达式语句</a:t>
            </a:r>
          </a:p>
          <a:p>
            <a:r>
              <a:rPr lang="zh-CN" altLang="en-US" b="1" dirty="0">
                <a:latin typeface="+mn-lt"/>
                <a:ea typeface="楷体" pitchFamily="49" charset="-122"/>
              </a:rPr>
              <a:t>     由表达式加上分号“；”组成。其一般形式为：</a:t>
            </a:r>
            <a:r>
              <a:rPr lang="zh-CN" altLang="en-US" b="1" dirty="0">
                <a:solidFill>
                  <a:srgbClr val="C01920"/>
                </a:solidFill>
                <a:latin typeface="+mn-lt"/>
                <a:ea typeface="楷体" pitchFamily="49" charset="-122"/>
              </a:rPr>
              <a:t>表达式；</a:t>
            </a:r>
            <a:r>
              <a:rPr lang="zh-CN" altLang="en-US" dirty="0">
                <a:latin typeface="+mn-lt"/>
                <a:ea typeface="楷体" pitchFamily="49" charset="-122"/>
              </a:rPr>
              <a:t> </a:t>
            </a:r>
          </a:p>
        </p:txBody>
      </p:sp>
      <p:sp>
        <p:nvSpPr>
          <p:cNvPr id="724035" name="Rectangle 67"/>
          <p:cNvSpPr>
            <a:spLocks noChangeArrowheads="1"/>
          </p:cNvSpPr>
          <p:nvPr/>
        </p:nvSpPr>
        <p:spPr bwMode="auto">
          <a:xfrm>
            <a:off x="1176878" y="2813995"/>
            <a:ext cx="7772400" cy="1200329"/>
          </a:xfrm>
          <a:prstGeom prst="rect">
            <a:avLst/>
          </a:prstGeom>
          <a:noFill/>
          <a:ln w="9525">
            <a:noFill/>
            <a:miter lim="800000"/>
            <a:headEnd/>
            <a:tailEnd/>
          </a:ln>
          <a:effectLst/>
        </p:spPr>
        <p:txBody>
          <a:bodyPr wrap="square">
            <a:spAutoFit/>
          </a:bodyPr>
          <a:lstStyle/>
          <a:p>
            <a:pPr marL="342900" indent="-342900">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函数调用语句</a:t>
            </a:r>
          </a:p>
          <a:p>
            <a:r>
              <a:rPr lang="zh-CN" altLang="en-US" b="1" dirty="0">
                <a:latin typeface="+mn-lt"/>
                <a:ea typeface="楷体" pitchFamily="49" charset="-122"/>
              </a:rPr>
              <a:t>     由函数名、实际参数加上分号“；”组成。</a:t>
            </a:r>
            <a:endParaRPr lang="en-US" altLang="zh-CN" b="1" dirty="0">
              <a:latin typeface="+mn-lt"/>
              <a:ea typeface="楷体" pitchFamily="49" charset="-122"/>
            </a:endParaRPr>
          </a:p>
          <a:p>
            <a:r>
              <a:rPr lang="en-US" altLang="zh-CN" b="1" dirty="0">
                <a:latin typeface="+mn-lt"/>
                <a:ea typeface="楷体" pitchFamily="49" charset="-122"/>
              </a:rPr>
              <a:t>     </a:t>
            </a:r>
            <a:r>
              <a:rPr lang="zh-CN" altLang="en-US" b="1" dirty="0">
                <a:latin typeface="+mn-lt"/>
                <a:ea typeface="楷体" pitchFamily="49" charset="-122"/>
              </a:rPr>
              <a:t>其一般形式为：</a:t>
            </a:r>
            <a:r>
              <a:rPr lang="zh-CN" altLang="en-US" b="1" dirty="0">
                <a:solidFill>
                  <a:srgbClr val="C01920"/>
                </a:solidFill>
                <a:latin typeface="+mn-lt"/>
                <a:ea typeface="楷体" pitchFamily="49" charset="-122"/>
              </a:rPr>
              <a:t>函数名</a:t>
            </a:r>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实际参数表</a:t>
            </a:r>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a:t>
            </a:r>
          </a:p>
        </p:txBody>
      </p:sp>
      <p:sp>
        <p:nvSpPr>
          <p:cNvPr id="724036" name="Rectangle 68" descr="信纸"/>
          <p:cNvSpPr>
            <a:spLocks noChangeArrowheads="1"/>
          </p:cNvSpPr>
          <p:nvPr/>
        </p:nvSpPr>
        <p:spPr bwMode="auto">
          <a:xfrm>
            <a:off x="4157023" y="2715745"/>
            <a:ext cx="5400675" cy="159067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lvl="1"/>
            <a:r>
              <a:rPr lang="en-US" altLang="zh-CN" b="1" dirty="0">
                <a:latin typeface="+mn-lt"/>
                <a:ea typeface="楷体" pitchFamily="49" charset="-122"/>
              </a:rPr>
              <a:t>a = 10      </a:t>
            </a:r>
            <a:r>
              <a:rPr lang="zh-CN" altLang="en-US" sz="2000" b="1" dirty="0">
                <a:latin typeface="+mn-lt"/>
                <a:ea typeface="楷体" pitchFamily="49" charset="-122"/>
              </a:rPr>
              <a:t>赋值表达式</a:t>
            </a:r>
          </a:p>
          <a:p>
            <a:pPr lvl="1"/>
            <a:r>
              <a:rPr lang="en-US" altLang="zh-CN" b="1" dirty="0">
                <a:solidFill>
                  <a:srgbClr val="CC0000"/>
                </a:solidFill>
                <a:latin typeface="+mn-lt"/>
                <a:ea typeface="楷体" pitchFamily="49" charset="-122"/>
              </a:rPr>
              <a:t>a = 10;     </a:t>
            </a:r>
            <a:r>
              <a:rPr lang="zh-CN" altLang="en-US" sz="2000" b="1" dirty="0">
                <a:solidFill>
                  <a:srgbClr val="CC0000"/>
                </a:solidFill>
                <a:latin typeface="+mn-lt"/>
                <a:ea typeface="楷体" pitchFamily="49" charset="-122"/>
              </a:rPr>
              <a:t>赋值</a:t>
            </a:r>
            <a:r>
              <a:rPr lang="zh-CN" altLang="en-US" sz="2000" b="1" dirty="0">
                <a:solidFill>
                  <a:srgbClr val="C01920"/>
                </a:solidFill>
                <a:latin typeface="+mn-lt"/>
                <a:ea typeface="楷体" pitchFamily="49" charset="-122"/>
              </a:rPr>
              <a:t>语句</a:t>
            </a:r>
          </a:p>
          <a:p>
            <a:pPr lvl="1"/>
            <a:r>
              <a:rPr lang="en-US" altLang="zh-CN" b="1" dirty="0">
                <a:latin typeface="+mn-lt"/>
                <a:ea typeface="楷体" pitchFamily="49" charset="-122"/>
              </a:rPr>
              <a:t>k++          </a:t>
            </a:r>
            <a:r>
              <a:rPr lang="zh-CN" altLang="en-US" sz="2000" b="1" dirty="0">
                <a:latin typeface="+mn-lt"/>
                <a:ea typeface="楷体" pitchFamily="49" charset="-122"/>
              </a:rPr>
              <a:t>表达式</a:t>
            </a:r>
          </a:p>
          <a:p>
            <a:pPr lvl="1"/>
            <a:r>
              <a:rPr lang="en-US" altLang="zh-CN" b="1" dirty="0">
                <a:solidFill>
                  <a:srgbClr val="CC0000"/>
                </a:solidFill>
                <a:latin typeface="+mn-lt"/>
                <a:ea typeface="楷体" pitchFamily="49" charset="-122"/>
              </a:rPr>
              <a:t>k++;        </a:t>
            </a:r>
            <a:r>
              <a:rPr lang="zh-CN" altLang="en-US" sz="2000" b="1" dirty="0">
                <a:solidFill>
                  <a:srgbClr val="CC0000"/>
                </a:solidFill>
                <a:latin typeface="+mn-lt"/>
                <a:ea typeface="楷体" pitchFamily="49" charset="-122"/>
              </a:rPr>
              <a:t>表达式语句</a:t>
            </a:r>
          </a:p>
        </p:txBody>
      </p:sp>
      <p:sp>
        <p:nvSpPr>
          <p:cNvPr id="724037" name="Rectangle 69" descr="信纸"/>
          <p:cNvSpPr>
            <a:spLocks noChangeArrowheads="1"/>
          </p:cNvSpPr>
          <p:nvPr/>
        </p:nvSpPr>
        <p:spPr bwMode="auto">
          <a:xfrm>
            <a:off x="1587022" y="5356745"/>
            <a:ext cx="9234511" cy="14465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lvl="1"/>
            <a:r>
              <a:rPr lang="en-US" altLang="zh-CN" b="1" dirty="0">
                <a:ea typeface="楷体_GB2312" pitchFamily="49" charset="-122"/>
              </a:rPr>
              <a:t> while (</a:t>
            </a:r>
            <a:r>
              <a:rPr lang="en-US" altLang="zh-CN" b="1" dirty="0" err="1">
                <a:ea typeface="楷体_GB2312" pitchFamily="49" charset="-122"/>
              </a:rPr>
              <a:t>getchar</a:t>
            </a:r>
            <a:r>
              <a:rPr lang="en-US" altLang="zh-CN" b="1" dirty="0">
                <a:ea typeface="楷体_GB2312" pitchFamily="49" charset="-122"/>
              </a:rPr>
              <a:t>( ) != '\n' ) </a:t>
            </a:r>
          </a:p>
          <a:p>
            <a:pPr lvl="1"/>
            <a:r>
              <a:rPr lang="en-US" altLang="zh-CN" b="1" dirty="0">
                <a:ea typeface="楷体_GB2312" pitchFamily="49" charset="-122"/>
              </a:rPr>
              <a:t>           </a:t>
            </a:r>
            <a:r>
              <a:rPr lang="en-US" altLang="zh-CN" b="1" dirty="0">
                <a:solidFill>
                  <a:srgbClr val="CC0000"/>
                </a:solidFill>
                <a:ea typeface="楷体_GB2312" pitchFamily="49" charset="-122"/>
              </a:rPr>
              <a:t>;</a:t>
            </a:r>
          </a:p>
          <a:p>
            <a:r>
              <a:rPr lang="en-US" altLang="zh-CN" sz="2000" b="1" dirty="0">
                <a:solidFill>
                  <a:srgbClr val="CC0000"/>
                </a:solidFill>
                <a:latin typeface="楷体" pitchFamily="49" charset="-122"/>
                <a:ea typeface="楷体_GB2312" pitchFamily="49" charset="-122"/>
              </a:rPr>
              <a:t>    </a:t>
            </a:r>
            <a:r>
              <a:rPr lang="zh-CN" altLang="en-US" sz="2000" b="1" dirty="0">
                <a:solidFill>
                  <a:srgbClr val="002060"/>
                </a:solidFill>
                <a:latin typeface="楷体" pitchFamily="49" charset="-122"/>
                <a:ea typeface="楷体" pitchFamily="49" charset="-122"/>
              </a:rPr>
              <a:t>本语句的功能是：</a:t>
            </a:r>
            <a:r>
              <a:rPr lang="zh-CN" altLang="en-US" sz="2000" b="1" dirty="0">
                <a:latin typeface="楷体" pitchFamily="49" charset="-122"/>
                <a:ea typeface="楷体" pitchFamily="49" charset="-122"/>
              </a:rPr>
              <a:t>只要从键盘输入的字符不是回车则重新输入。这里的循环体为</a:t>
            </a:r>
            <a:r>
              <a:rPr lang="zh-CN" altLang="en-US" sz="2000" b="1" dirty="0">
                <a:solidFill>
                  <a:srgbClr val="CC0000"/>
                </a:solidFill>
                <a:latin typeface="楷体" pitchFamily="49" charset="-122"/>
                <a:ea typeface="楷体" pitchFamily="49" charset="-122"/>
              </a:rPr>
              <a:t>空语句</a:t>
            </a:r>
            <a:r>
              <a:rPr lang="zh-CN" altLang="en-US" sz="2000" b="1" dirty="0">
                <a:latin typeface="楷体" pitchFamily="49" charset="-122"/>
                <a:ea typeface="楷体" pitchFamily="49" charset="-122"/>
              </a:rPr>
              <a:t>。</a:t>
            </a:r>
            <a:r>
              <a:rPr lang="zh-CN" altLang="en-US" sz="2000" dirty="0">
                <a:latin typeface="楷体" pitchFamily="49" charset="-122"/>
                <a:ea typeface="楷体" pitchFamily="49" charset="-122"/>
              </a:rPr>
              <a:t> </a:t>
            </a:r>
          </a:p>
        </p:txBody>
      </p:sp>
      <p:sp>
        <p:nvSpPr>
          <p:cNvPr id="724038" name="Rectangle 70"/>
          <p:cNvSpPr>
            <a:spLocks noChangeArrowheads="1"/>
          </p:cNvSpPr>
          <p:nvPr/>
        </p:nvSpPr>
        <p:spPr bwMode="auto">
          <a:xfrm>
            <a:off x="1186976" y="4172887"/>
            <a:ext cx="10669664" cy="1200329"/>
          </a:xfrm>
          <a:prstGeom prst="rect">
            <a:avLst/>
          </a:prstGeom>
          <a:noFill/>
          <a:ln w="9525">
            <a:noFill/>
            <a:miter lim="800000"/>
            <a:headEnd/>
            <a:tailEnd/>
          </a:ln>
          <a:effectLst/>
        </p:spPr>
        <p:txBody>
          <a:bodyPr wrap="square" anchor="ctr">
            <a:spAutoFit/>
          </a:bodyPr>
          <a:lstStyle/>
          <a:p>
            <a:pPr marL="342900" indent="-342900">
              <a:buFont typeface="Wingdings" pitchFamily="2" charset="2"/>
              <a:buChar char="Ø"/>
              <a:tabLst>
                <a:tab pos="266700" algn="l"/>
              </a:tabLst>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空语句</a:t>
            </a:r>
          </a:p>
          <a:p>
            <a:pPr>
              <a:tabLst>
                <a:tab pos="266700" algn="l"/>
              </a:tabLst>
            </a:pPr>
            <a:r>
              <a:rPr lang="zh-CN" altLang="en-US" b="1" dirty="0">
                <a:latin typeface="+mn-lt"/>
                <a:ea typeface="楷体" pitchFamily="49" charset="-122"/>
              </a:rPr>
              <a:t>    只有分号“；”组成的语句称为空语句。空语句是什么也不执行的语句。在程序中空语句可用来作空循环体。</a:t>
            </a:r>
          </a:p>
        </p:txBody>
      </p:sp>
      <p:sp>
        <p:nvSpPr>
          <p:cNvPr id="724039" name="Rectangle 71" descr="信纸"/>
          <p:cNvSpPr>
            <a:spLocks noChangeArrowheads="1"/>
          </p:cNvSpPr>
          <p:nvPr/>
        </p:nvSpPr>
        <p:spPr bwMode="auto">
          <a:xfrm>
            <a:off x="2927648" y="3997853"/>
            <a:ext cx="8280400" cy="1200329"/>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b="1" dirty="0" err="1">
                <a:latin typeface="+mn-lt"/>
                <a:ea typeface="楷体" pitchFamily="49" charset="-122"/>
              </a:rPr>
              <a:t>printf</a:t>
            </a:r>
            <a:r>
              <a:rPr lang="en-US" altLang="zh-CN" b="1" dirty="0">
                <a:latin typeface="+mn-lt"/>
                <a:ea typeface="楷体" pitchFamily="49" charset="-122"/>
              </a:rPr>
              <a:t> ("C Program")   </a:t>
            </a:r>
            <a:r>
              <a:rPr lang="zh-CN" altLang="en-US" sz="2000" b="1" dirty="0">
                <a:latin typeface="+mn-lt"/>
                <a:ea typeface="楷体" pitchFamily="49" charset="-122"/>
              </a:rPr>
              <a:t>函数调用；</a:t>
            </a:r>
          </a:p>
          <a:p>
            <a:r>
              <a:rPr lang="en-US" altLang="zh-CN" b="1" dirty="0" err="1">
                <a:solidFill>
                  <a:srgbClr val="CC0000"/>
                </a:solidFill>
                <a:latin typeface="+mn-lt"/>
                <a:ea typeface="楷体" pitchFamily="49" charset="-122"/>
              </a:rPr>
              <a:t>printf</a:t>
            </a:r>
            <a:r>
              <a:rPr lang="en-US" altLang="zh-CN" b="1" dirty="0">
                <a:solidFill>
                  <a:srgbClr val="CC0000"/>
                </a:solidFill>
                <a:latin typeface="+mn-lt"/>
                <a:ea typeface="楷体" pitchFamily="49" charset="-122"/>
              </a:rPr>
              <a:t> (“C Program”);  </a:t>
            </a:r>
            <a:r>
              <a:rPr lang="zh-CN" altLang="en-US" sz="2000" b="1" dirty="0">
                <a:solidFill>
                  <a:srgbClr val="CC0000"/>
                </a:solidFill>
                <a:latin typeface="+mn-lt"/>
                <a:ea typeface="楷体" pitchFamily="49" charset="-122"/>
              </a:rPr>
              <a:t>函数调用语句</a:t>
            </a:r>
          </a:p>
          <a:p>
            <a:pPr lvl="1"/>
            <a:r>
              <a:rPr lang="zh-CN" altLang="en-US" b="1" dirty="0">
                <a:latin typeface="+mn-lt"/>
                <a:ea typeface="楷体" pitchFamily="49" charset="-122"/>
              </a:rPr>
              <a:t>                                  </a:t>
            </a:r>
            <a:r>
              <a:rPr lang="zh-CN" altLang="en-US" sz="2000" b="1" dirty="0">
                <a:latin typeface="+mn-lt"/>
                <a:ea typeface="楷体" pitchFamily="49" charset="-122"/>
              </a:rPr>
              <a:t>其功能是输出字符串</a:t>
            </a:r>
            <a:r>
              <a:rPr lang="en-US" altLang="zh-CN" sz="2000" b="1" dirty="0">
                <a:latin typeface="+mn-lt"/>
                <a:ea typeface="楷体" pitchFamily="49" charset="-122"/>
              </a:rPr>
              <a:t>"C Program"</a:t>
            </a:r>
            <a:r>
              <a:rPr lang="zh-CN" altLang="en-US" sz="2000" b="1" dirty="0">
                <a:latin typeface="+mn-lt"/>
                <a:ea typeface="楷体" pitchFamily="49" charset="-122"/>
              </a:rPr>
              <a:t>。</a:t>
            </a:r>
          </a:p>
        </p:txBody>
      </p:sp>
      <p:sp>
        <p:nvSpPr>
          <p:cNvPr id="14" name="Rectangle 4">
            <a:extLst>
              <a:ext uri="{FF2B5EF4-FFF2-40B4-BE49-F238E27FC236}">
                <a16:creationId xmlns:a16="http://schemas.microsoft.com/office/drawing/2014/main" id="{1ED2865F-984E-41F9-9043-43B28DD16BE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5.1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程序中语句的分类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4030"/>
                                        </p:tgtEl>
                                        <p:attrNameLst>
                                          <p:attrName>style.visibility</p:attrName>
                                        </p:attrNameLst>
                                      </p:cBhvr>
                                      <p:to>
                                        <p:strVal val="visible"/>
                                      </p:to>
                                    </p:set>
                                    <p:animEffect transition="in" filter="box(out)">
                                      <p:cBhvr>
                                        <p:cTn id="7" dur="500"/>
                                        <p:tgtEl>
                                          <p:spTgt spid="7240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24032"/>
                                        </p:tgtEl>
                                        <p:attrNameLst>
                                          <p:attrName>style.visibility</p:attrName>
                                        </p:attrNameLst>
                                      </p:cBhvr>
                                      <p:to>
                                        <p:strVal val="visible"/>
                                      </p:to>
                                    </p:set>
                                    <p:animEffect transition="in" filter="box(out)">
                                      <p:cBhvr>
                                        <p:cTn id="12" dur="500"/>
                                        <p:tgtEl>
                                          <p:spTgt spid="72403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24036"/>
                                        </p:tgtEl>
                                        <p:attrNameLst>
                                          <p:attrName>style.visibility</p:attrName>
                                        </p:attrNameLst>
                                      </p:cBhvr>
                                      <p:to>
                                        <p:strVal val="visible"/>
                                      </p:to>
                                    </p:set>
                                    <p:animEffect transition="in" filter="box(out)">
                                      <p:cBhvr>
                                        <p:cTn id="17" dur="500"/>
                                        <p:tgtEl>
                                          <p:spTgt spid="724036"/>
                                        </p:tgtEl>
                                      </p:cBhvr>
                                    </p:animEffect>
                                  </p:childTnLst>
                                  <p:subTnLst>
                                    <p:set>
                                      <p:cBhvr override="childStyle">
                                        <p:cTn dur="1" fill="hold" display="0" masterRel="nextClick" afterEffect="1"/>
                                        <p:tgtEl>
                                          <p:spTgt spid="724036"/>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24035"/>
                                        </p:tgtEl>
                                        <p:attrNameLst>
                                          <p:attrName>style.visibility</p:attrName>
                                        </p:attrNameLst>
                                      </p:cBhvr>
                                      <p:to>
                                        <p:strVal val="visible"/>
                                      </p:to>
                                    </p:set>
                                    <p:animEffect transition="in" filter="box(out)">
                                      <p:cBhvr>
                                        <p:cTn id="22" dur="500"/>
                                        <p:tgtEl>
                                          <p:spTgt spid="724035"/>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24039"/>
                                        </p:tgtEl>
                                        <p:attrNameLst>
                                          <p:attrName>style.visibility</p:attrName>
                                        </p:attrNameLst>
                                      </p:cBhvr>
                                      <p:to>
                                        <p:strVal val="visible"/>
                                      </p:to>
                                    </p:set>
                                    <p:animEffect transition="in" filter="box(out)">
                                      <p:cBhvr>
                                        <p:cTn id="27" dur="500"/>
                                        <p:tgtEl>
                                          <p:spTgt spid="724039"/>
                                        </p:tgtEl>
                                      </p:cBhvr>
                                    </p:animEffect>
                                  </p:childTnLst>
                                  <p:subTnLst>
                                    <p:set>
                                      <p:cBhvr override="childStyle">
                                        <p:cTn dur="1" fill="hold" display="0" masterRel="nextClick" afterEffect="1"/>
                                        <p:tgtEl>
                                          <p:spTgt spid="724039"/>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724038"/>
                                        </p:tgtEl>
                                        <p:attrNameLst>
                                          <p:attrName>style.visibility</p:attrName>
                                        </p:attrNameLst>
                                      </p:cBhvr>
                                      <p:to>
                                        <p:strVal val="visible"/>
                                      </p:to>
                                    </p:set>
                                    <p:animEffect transition="in" filter="box(out)">
                                      <p:cBhvr>
                                        <p:cTn id="32" dur="500"/>
                                        <p:tgtEl>
                                          <p:spTgt spid="72403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24037"/>
                                        </p:tgtEl>
                                        <p:attrNameLst>
                                          <p:attrName>style.visibility</p:attrName>
                                        </p:attrNameLst>
                                      </p:cBhvr>
                                      <p:to>
                                        <p:strVal val="visible"/>
                                      </p:to>
                                    </p:set>
                                    <p:animEffect transition="in" filter="box(in)">
                                      <p:cBhvr>
                                        <p:cTn id="37" dur="500"/>
                                        <p:tgtEl>
                                          <p:spTgt spid="724037"/>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30" grpId="0"/>
      <p:bldP spid="724032" grpId="0"/>
      <p:bldP spid="724035" grpId="0"/>
      <p:bldP spid="724036" grpId="0" animBg="1"/>
      <p:bldP spid="724037" grpId="0" animBg="1"/>
      <p:bldP spid="724038" grpId="0"/>
      <p:bldP spid="72403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1503" name="Rectangle 15"/>
          <p:cNvSpPr>
            <a:spLocks noChangeArrowheads="1"/>
          </p:cNvSpPr>
          <p:nvPr/>
        </p:nvSpPr>
        <p:spPr bwMode="auto">
          <a:xfrm>
            <a:off x="1213732" y="4214526"/>
            <a:ext cx="1944216" cy="461665"/>
          </a:xfrm>
          <a:prstGeom prst="rect">
            <a:avLst/>
          </a:prstGeom>
          <a:noFill/>
          <a:ln w="9525">
            <a:noFill/>
            <a:miter lim="800000"/>
            <a:headEnd/>
            <a:tailEnd/>
          </a:ln>
          <a:effectLst/>
        </p:spPr>
        <p:txBody>
          <a:bodyPr wrap="square">
            <a:spAutoFit/>
          </a:bodyPr>
          <a:lstStyle/>
          <a:p>
            <a:pPr>
              <a:buFont typeface="Wingdings" pitchFamily="2" charset="2"/>
              <a:buChar char="l"/>
            </a:pPr>
            <a:r>
              <a:rPr lang="en-US" altLang="zh-CN" b="1" dirty="0">
                <a:solidFill>
                  <a:srgbClr val="002060"/>
                </a:solidFill>
                <a:latin typeface="+mn-lt"/>
                <a:ea typeface="楷体" pitchFamily="49" charset="-122"/>
              </a:rPr>
              <a:t> </a:t>
            </a:r>
            <a:r>
              <a:rPr lang="zh-CN" altLang="en-US" b="1" dirty="0">
                <a:solidFill>
                  <a:srgbClr val="002060"/>
                </a:solidFill>
                <a:latin typeface="+mn-lt"/>
                <a:ea typeface="楷体" pitchFamily="49" charset="-122"/>
              </a:rPr>
              <a:t>说明：</a:t>
            </a:r>
          </a:p>
        </p:txBody>
      </p:sp>
      <p:sp>
        <p:nvSpPr>
          <p:cNvPr id="831495" name="Rectangle 7"/>
          <p:cNvSpPr>
            <a:spLocks noChangeArrowheads="1"/>
          </p:cNvSpPr>
          <p:nvPr/>
        </p:nvSpPr>
        <p:spPr bwMode="auto">
          <a:xfrm>
            <a:off x="1064610" y="1029423"/>
            <a:ext cx="5349974" cy="830997"/>
          </a:xfrm>
          <a:prstGeom prst="rect">
            <a:avLst/>
          </a:prstGeom>
          <a:noFill/>
          <a:ln w="9525">
            <a:noFill/>
            <a:miter lim="800000"/>
            <a:headEnd/>
            <a:tailEnd/>
          </a:ln>
          <a:effectLst/>
        </p:spPr>
        <p:txBody>
          <a:bodyPr wrap="square">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复合语句</a:t>
            </a:r>
          </a:p>
          <a:p>
            <a:r>
              <a:rPr lang="zh-CN" altLang="en-US" b="1" dirty="0">
                <a:latin typeface="+mn-lt"/>
                <a:ea typeface="楷体" pitchFamily="49" charset="-122"/>
              </a:rPr>
              <a:t>     用 </a:t>
            </a:r>
            <a:r>
              <a:rPr lang="en-US" altLang="zh-CN" b="1" dirty="0">
                <a:solidFill>
                  <a:srgbClr val="CC3300"/>
                </a:solidFill>
                <a:latin typeface="+mn-lt"/>
                <a:ea typeface="楷体" pitchFamily="49" charset="-122"/>
              </a:rPr>
              <a:t>{…}</a:t>
            </a:r>
            <a:r>
              <a:rPr lang="zh-CN" altLang="en-US" b="1" dirty="0">
                <a:latin typeface="+mn-lt"/>
                <a:ea typeface="楷体" pitchFamily="49" charset="-122"/>
              </a:rPr>
              <a:t>括起来的一组语句。      </a:t>
            </a:r>
            <a:endParaRPr lang="zh-CN" altLang="en-US" dirty="0">
              <a:latin typeface="+mn-lt"/>
              <a:ea typeface="楷体" pitchFamily="49" charset="-122"/>
            </a:endParaRPr>
          </a:p>
        </p:txBody>
      </p:sp>
      <p:sp>
        <p:nvSpPr>
          <p:cNvPr id="831502" name="Rectangle 14"/>
          <p:cNvSpPr>
            <a:spLocks noChangeArrowheads="1"/>
          </p:cNvSpPr>
          <p:nvPr/>
        </p:nvSpPr>
        <p:spPr bwMode="auto">
          <a:xfrm>
            <a:off x="1213732" y="1981608"/>
            <a:ext cx="2376264" cy="461665"/>
          </a:xfrm>
          <a:prstGeom prst="rect">
            <a:avLst/>
          </a:prstGeom>
          <a:noFill/>
          <a:ln w="9525">
            <a:noFill/>
            <a:miter lim="800000"/>
            <a:headEnd/>
            <a:tailEnd/>
          </a:ln>
          <a:effectLst/>
        </p:spPr>
        <p:txBody>
          <a:bodyPr wrap="square">
            <a:spAutoFit/>
          </a:bodyPr>
          <a:lstStyle/>
          <a:p>
            <a:pPr>
              <a:buFont typeface="Wingdings" pitchFamily="2" charset="2"/>
              <a:buChar char="l"/>
            </a:pPr>
            <a:r>
              <a:rPr lang="en-US" altLang="zh-CN" b="1" dirty="0">
                <a:solidFill>
                  <a:srgbClr val="002060"/>
                </a:solidFill>
                <a:latin typeface="+mn-lt"/>
                <a:ea typeface="楷体" pitchFamily="49" charset="-122"/>
              </a:rPr>
              <a:t> </a:t>
            </a:r>
            <a:r>
              <a:rPr lang="zh-CN" altLang="en-US" b="1" dirty="0">
                <a:solidFill>
                  <a:srgbClr val="002060"/>
                </a:solidFill>
                <a:latin typeface="+mn-lt"/>
                <a:ea typeface="楷体" pitchFamily="49" charset="-122"/>
              </a:rPr>
              <a:t>一般形式：</a:t>
            </a:r>
          </a:p>
        </p:txBody>
      </p:sp>
      <p:sp>
        <p:nvSpPr>
          <p:cNvPr id="11" name="Rectangle 14"/>
          <p:cNvSpPr>
            <a:spLocks noChangeArrowheads="1"/>
          </p:cNvSpPr>
          <p:nvPr/>
        </p:nvSpPr>
        <p:spPr bwMode="auto">
          <a:xfrm>
            <a:off x="1645780" y="2486333"/>
            <a:ext cx="7199313" cy="1569660"/>
          </a:xfrm>
          <a:prstGeom prst="rect">
            <a:avLst/>
          </a:prstGeom>
          <a:gradFill flip="none" rotWithShape="1">
            <a:gsLst>
              <a:gs pos="0">
                <a:srgbClr val="CFCFD1"/>
              </a:gs>
              <a:gs pos="50000">
                <a:srgbClr val="CFCFD1"/>
              </a:gs>
              <a:gs pos="100000">
                <a:schemeClr val="bg1">
                  <a:lumMod val="95000"/>
                </a:schemeClr>
              </a:gs>
            </a:gsLst>
            <a:lin ang="16200000" scaled="1"/>
            <a:tileRect/>
          </a:gradFill>
          <a:ln w="38100">
            <a:solidFill>
              <a:srgbClr val="C0192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a:spAutoFit/>
          </a:bodyPr>
          <a:lstStyle/>
          <a:p>
            <a:pPr lvl="3"/>
            <a:r>
              <a:rPr lang="zh-CN" altLang="en-US" dirty="0">
                <a:solidFill>
                  <a:srgbClr val="C01920"/>
                </a:solidFill>
                <a:effectLst>
                  <a:outerShdw blurRad="38100" dist="38100" dir="2700000" algn="tl">
                    <a:srgbClr val="000000">
                      <a:alpha val="43137"/>
                    </a:srgbClr>
                  </a:outerShdw>
                </a:effectLst>
                <a:latin typeface="+mn-lt"/>
                <a:ea typeface="楷体" pitchFamily="49" charset="-122"/>
              </a:rPr>
              <a:t>   </a:t>
            </a:r>
            <a:r>
              <a:rPr lang="en-US" altLang="zh-CN" b="1" dirty="0">
                <a:solidFill>
                  <a:srgbClr val="C01920"/>
                </a:solidFill>
                <a:effectLst>
                  <a:outerShdw blurRad="38100" dist="38100" dir="2700000" algn="tl">
                    <a:srgbClr val="000000">
                      <a:alpha val="43137"/>
                    </a:srgbClr>
                  </a:outerShdw>
                </a:effectLst>
                <a:latin typeface="+mn-lt"/>
                <a:ea typeface="楷体" pitchFamily="49" charset="-122"/>
              </a:rPr>
              <a:t>{  </a:t>
            </a:r>
          </a:p>
          <a:p>
            <a:pPr lvl="3"/>
            <a:r>
              <a:rPr lang="en-US" altLang="zh-CN" b="1" dirty="0">
                <a:solidFill>
                  <a:srgbClr val="C01920"/>
                </a:solidFill>
                <a:effectLst>
                  <a:outerShdw blurRad="38100" dist="38100" dir="2700000" algn="tl">
                    <a:srgbClr val="000000">
                      <a:alpha val="43137"/>
                    </a:srgbClr>
                  </a:outerShdw>
                </a:effectLst>
                <a:latin typeface="+mn-lt"/>
                <a:ea typeface="楷体" pitchFamily="49" charset="-122"/>
              </a:rPr>
              <a:t>       [   </a:t>
            </a:r>
            <a:r>
              <a:rPr lang="zh-CN" altLang="en-US" b="1" dirty="0">
                <a:solidFill>
                  <a:srgbClr val="C01920"/>
                </a:solidFill>
                <a:effectLst>
                  <a:outerShdw blurRad="38100" dist="38100" dir="2700000" algn="tl">
                    <a:srgbClr val="000000">
                      <a:alpha val="43137"/>
                    </a:srgbClr>
                  </a:outerShdw>
                </a:effectLst>
                <a:latin typeface="+mn-lt"/>
                <a:ea typeface="楷体" pitchFamily="49" charset="-122"/>
              </a:rPr>
              <a:t>数据说明部分；</a:t>
            </a:r>
            <a:r>
              <a:rPr lang="en-US" altLang="zh-CN" b="1" dirty="0">
                <a:solidFill>
                  <a:srgbClr val="C01920"/>
                </a:solidFill>
                <a:effectLst>
                  <a:outerShdw blurRad="38100" dist="38100" dir="2700000" algn="tl">
                    <a:srgbClr val="000000">
                      <a:alpha val="43137"/>
                    </a:srgbClr>
                  </a:outerShdw>
                </a:effectLst>
                <a:latin typeface="+mn-lt"/>
                <a:ea typeface="楷体" pitchFamily="49" charset="-122"/>
              </a:rPr>
              <a:t>]</a:t>
            </a:r>
          </a:p>
          <a:p>
            <a:pPr lvl="3"/>
            <a:r>
              <a:rPr lang="en-US" altLang="zh-CN" b="1" dirty="0">
                <a:solidFill>
                  <a:srgbClr val="C01920"/>
                </a:solidFill>
                <a:effectLst>
                  <a:outerShdw blurRad="38100" dist="38100" dir="2700000" algn="tl">
                    <a:srgbClr val="000000">
                      <a:alpha val="43137"/>
                    </a:srgbClr>
                  </a:outerShdw>
                </a:effectLst>
                <a:latin typeface="+mn-lt"/>
                <a:ea typeface="楷体" pitchFamily="49" charset="-122"/>
              </a:rPr>
              <a:t>       </a:t>
            </a:r>
            <a:r>
              <a:rPr lang="zh-CN" altLang="en-US" b="1" dirty="0">
                <a:solidFill>
                  <a:srgbClr val="C01920"/>
                </a:solidFill>
                <a:effectLst>
                  <a:outerShdw blurRad="38100" dist="38100" dir="2700000" algn="tl">
                    <a:srgbClr val="000000">
                      <a:alpha val="43137"/>
                    </a:srgbClr>
                  </a:outerShdw>
                </a:effectLst>
                <a:latin typeface="+mn-lt"/>
                <a:ea typeface="楷体" pitchFamily="49" charset="-122"/>
              </a:rPr>
              <a:t>执行语句部分；</a:t>
            </a:r>
          </a:p>
          <a:p>
            <a:pPr lvl="3"/>
            <a:r>
              <a:rPr lang="zh-CN" altLang="en-US" b="1" dirty="0">
                <a:solidFill>
                  <a:srgbClr val="C01920"/>
                </a:solidFill>
                <a:effectLst>
                  <a:outerShdw blurRad="38100" dist="38100" dir="2700000" algn="tl">
                    <a:srgbClr val="000000">
                      <a:alpha val="43137"/>
                    </a:srgbClr>
                  </a:outerShdw>
                </a:effectLst>
                <a:latin typeface="+mn-lt"/>
                <a:ea typeface="楷体" pitchFamily="49" charset="-122"/>
              </a:rPr>
              <a:t>   </a:t>
            </a:r>
            <a:r>
              <a:rPr lang="en-US" altLang="zh-CN" b="1" dirty="0">
                <a:solidFill>
                  <a:srgbClr val="C01920"/>
                </a:solidFill>
                <a:effectLst>
                  <a:outerShdw blurRad="38100" dist="38100" dir="2700000" algn="tl">
                    <a:srgbClr val="000000">
                      <a:alpha val="43137"/>
                    </a:srgbClr>
                  </a:outerShdw>
                </a:effectLst>
                <a:latin typeface="+mn-lt"/>
                <a:ea typeface="楷体" pitchFamily="49" charset="-122"/>
              </a:rPr>
              <a:t>}</a:t>
            </a:r>
            <a:r>
              <a:rPr lang="en-US" altLang="zh-CN" dirty="0">
                <a:solidFill>
                  <a:srgbClr val="C01920"/>
                </a:solidFill>
                <a:effectLst>
                  <a:outerShdw blurRad="38100" dist="38100" dir="2700000" algn="tl">
                    <a:srgbClr val="000000">
                      <a:alpha val="43137"/>
                    </a:srgbClr>
                  </a:outerShdw>
                </a:effectLst>
                <a:latin typeface="+mn-lt"/>
                <a:ea typeface="楷体" pitchFamily="49" charset="-122"/>
              </a:rPr>
              <a:t>  </a:t>
            </a:r>
          </a:p>
        </p:txBody>
      </p:sp>
      <p:sp>
        <p:nvSpPr>
          <p:cNvPr id="12" name="Rectangle 15"/>
          <p:cNvSpPr>
            <a:spLocks noChangeArrowheads="1"/>
          </p:cNvSpPr>
          <p:nvPr/>
        </p:nvSpPr>
        <p:spPr bwMode="auto">
          <a:xfrm>
            <a:off x="1646579" y="4718581"/>
            <a:ext cx="7200000" cy="1569660"/>
          </a:xfrm>
          <a:prstGeom prst="rect">
            <a:avLst/>
          </a:prstGeom>
          <a:gradFill>
            <a:gsLst>
              <a:gs pos="0">
                <a:srgbClr val="CFCFD1"/>
              </a:gs>
              <a:gs pos="5000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buClr>
                <a:srgbClr val="C01920"/>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后不加分号</a:t>
            </a:r>
            <a:endParaRPr lang="en-US" altLang="zh-CN" b="1" dirty="0">
              <a:effectLst>
                <a:outerShdw blurRad="38100" dist="38100" dir="2700000" algn="tl">
                  <a:srgbClr val="FFFFFF"/>
                </a:outerShdw>
              </a:effectLst>
              <a:latin typeface="+mn-lt"/>
              <a:ea typeface="楷体" pitchFamily="49" charset="-122"/>
            </a:endParaRPr>
          </a:p>
          <a:p>
            <a:pPr>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语法上和单一语句相同</a:t>
            </a:r>
            <a:endParaRPr lang="en-US" altLang="zh-CN" b="1" dirty="0">
              <a:effectLst>
                <a:outerShdw blurRad="38100" dist="38100" dir="2700000" algn="tl">
                  <a:srgbClr val="FFFFFF"/>
                </a:outerShdw>
              </a:effectLst>
              <a:latin typeface="+mn-lt"/>
              <a:ea typeface="楷体" pitchFamily="49" charset="-122"/>
            </a:endParaRPr>
          </a:p>
          <a:p>
            <a:pPr>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复合语句可嵌套</a:t>
            </a:r>
            <a:endParaRPr lang="en-US" altLang="zh-CN" b="1" dirty="0">
              <a:effectLst>
                <a:outerShdw blurRad="38100" dist="38100" dir="2700000" algn="tl">
                  <a:srgbClr val="FFFFFF"/>
                </a:outerShdw>
              </a:effectLst>
              <a:latin typeface="+mn-lt"/>
              <a:ea typeface="楷体" pitchFamily="49" charset="-122"/>
            </a:endParaRPr>
          </a:p>
          <a:p>
            <a:pPr>
              <a:buClr>
                <a:srgbClr val="C01920"/>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  复合语句内定义的变量只能在复合语句内使用。</a:t>
            </a:r>
            <a:r>
              <a:rPr lang="zh-CN" altLang="en-US" dirty="0">
                <a:latin typeface="+mn-lt"/>
                <a:ea typeface="楷体" pitchFamily="49" charset="-122"/>
              </a:rPr>
              <a:t> </a:t>
            </a:r>
          </a:p>
        </p:txBody>
      </p:sp>
      <p:sp>
        <p:nvSpPr>
          <p:cNvPr id="831501" name="Rectangle 13" descr="信纸"/>
          <p:cNvSpPr>
            <a:spLocks noChangeArrowheads="1"/>
          </p:cNvSpPr>
          <p:nvPr/>
        </p:nvSpPr>
        <p:spPr bwMode="auto">
          <a:xfrm>
            <a:off x="2753863" y="4221088"/>
            <a:ext cx="5400675" cy="195580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anchor="ctr">
            <a:spAutoFit/>
          </a:bodyPr>
          <a:lstStyle/>
          <a:p>
            <a:pPr lvl="1"/>
            <a:r>
              <a:rPr lang="en-US" altLang="zh-CN" b="1" dirty="0">
                <a:effectLst>
                  <a:outerShdw blurRad="38100" dist="38100" dir="2700000" algn="tl">
                    <a:srgbClr val="FFFFFF"/>
                  </a:outerShdw>
                </a:effectLst>
              </a:rPr>
              <a:t> {</a:t>
            </a:r>
          </a:p>
          <a:p>
            <a:pPr lvl="1"/>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2, b = 3, c;</a:t>
            </a:r>
          </a:p>
          <a:p>
            <a:pPr lvl="1"/>
            <a:r>
              <a:rPr lang="en-US" altLang="zh-CN" b="1" dirty="0">
                <a:effectLst>
                  <a:outerShdw blurRad="38100" dist="38100" dir="2700000" algn="tl">
                    <a:srgbClr val="FFFFFF"/>
                  </a:outerShdw>
                </a:effectLst>
              </a:rPr>
              <a:t>    c = a + b;</a:t>
            </a:r>
          </a:p>
          <a:p>
            <a:pPr lvl="1"/>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("c = %d\n", c);</a:t>
            </a:r>
          </a:p>
          <a:p>
            <a:pPr lvl="1"/>
            <a:r>
              <a:rPr lang="en-US" altLang="zh-CN" b="1" dirty="0">
                <a:effectLst>
                  <a:outerShdw blurRad="38100" dist="38100" dir="2700000" algn="tl">
                    <a:srgbClr val="FFFFFF"/>
                  </a:outerShdw>
                </a:effectLst>
              </a:rPr>
              <a:t> }</a:t>
            </a:r>
          </a:p>
        </p:txBody>
      </p:sp>
      <p:sp>
        <p:nvSpPr>
          <p:cNvPr id="831505" name="Rectangle 17" descr="信纸"/>
          <p:cNvSpPr>
            <a:spLocks noChangeArrowheads="1"/>
          </p:cNvSpPr>
          <p:nvPr/>
        </p:nvSpPr>
        <p:spPr bwMode="auto">
          <a:xfrm>
            <a:off x="1645780" y="1424503"/>
            <a:ext cx="8496944" cy="5262979"/>
          </a:xfrm>
          <a:prstGeom prst="rect">
            <a:avLst/>
          </a:prstGeom>
          <a:gradFill>
            <a:gsLst>
              <a:gs pos="0">
                <a:srgbClr val="CFCFD1"/>
              </a:gs>
              <a:gs pos="100000">
                <a:schemeClr val="bg1">
                  <a:lumMod val="95000"/>
                </a:schemeClr>
              </a:gs>
            </a:gsLst>
            <a:path path="circle">
              <a:fillToRect l="100000" t="100000"/>
            </a:path>
          </a:gradFill>
          <a:ln w="38100">
            <a:solidFill>
              <a:srgbClr val="008000"/>
            </a:solidFill>
            <a:miter lim="800000"/>
            <a:headEnd/>
            <a:tailEnd/>
          </a:ln>
          <a:effectLst>
            <a:outerShdw blurRad="50800" dist="106680" dir="2700000" algn="ctr" rotWithShape="0">
              <a:schemeClr val="tx1">
                <a:alpha val="43000"/>
              </a:schemeClr>
            </a:outerShdw>
          </a:effectLst>
          <a:scene3d>
            <a:camera prst="orthographicFront"/>
            <a:lightRig rig="threePt" dir="t"/>
          </a:scene3d>
          <a:sp3d>
            <a:bevelT w="114300" prst="hardEdge"/>
          </a:sp3d>
        </p:spPr>
        <p:txBody>
          <a:bodyPr wrap="square" anchor="ctr">
            <a:spAutoFit/>
          </a:bodyPr>
          <a:lstStyle/>
          <a:p>
            <a:r>
              <a:rPr lang="en-US" altLang="zh-CN" b="1" dirty="0"/>
              <a:t> #include &lt;</a:t>
            </a:r>
            <a:r>
              <a:rPr lang="en-US" altLang="zh-CN" b="1" dirty="0" err="1"/>
              <a:t>stdio.h</a:t>
            </a:r>
            <a:r>
              <a:rPr lang="en-US" altLang="zh-CN" b="1" dirty="0"/>
              <a:t>&gt;</a:t>
            </a:r>
          </a:p>
          <a:p>
            <a:r>
              <a:rPr lang="en-US" altLang="zh-CN" b="1" dirty="0" err="1">
                <a:solidFill>
                  <a:srgbClr val="CC0000"/>
                </a:solidFill>
              </a:rPr>
              <a:t>int</a:t>
            </a:r>
            <a:r>
              <a:rPr lang="en-US" altLang="zh-CN" b="1" dirty="0">
                <a:solidFill>
                  <a:srgbClr val="CC0000"/>
                </a:solidFill>
              </a:rPr>
              <a:t> main ( )</a:t>
            </a:r>
          </a:p>
          <a:p>
            <a:r>
              <a:rPr lang="en-US" altLang="zh-CN" b="1" dirty="0"/>
              <a:t>{</a:t>
            </a:r>
          </a:p>
          <a:p>
            <a:r>
              <a:rPr lang="en-US" altLang="zh-CN" b="1" dirty="0"/>
              <a:t>   </a:t>
            </a:r>
            <a:r>
              <a:rPr lang="en-US" altLang="zh-CN" b="1" dirty="0" err="1"/>
              <a:t>int</a:t>
            </a:r>
            <a:r>
              <a:rPr lang="en-US" altLang="zh-CN" b="1" dirty="0"/>
              <a:t> x = 10, y = 20, z;</a:t>
            </a:r>
          </a:p>
          <a:p>
            <a:r>
              <a:rPr lang="en-US" altLang="zh-CN" b="1" dirty="0"/>
              <a:t>  </a:t>
            </a:r>
          </a:p>
          <a:p>
            <a:r>
              <a:rPr lang="en-US" altLang="zh-CN" b="1" dirty="0"/>
              <a:t>   z = x + y;</a:t>
            </a:r>
          </a:p>
          <a:p>
            <a:r>
              <a:rPr lang="en-US" altLang="zh-CN" b="1" dirty="0">
                <a:solidFill>
                  <a:srgbClr val="C00000"/>
                </a:solidFill>
              </a:rPr>
              <a:t>   {</a:t>
            </a:r>
          </a:p>
          <a:p>
            <a:r>
              <a:rPr lang="en-US" altLang="zh-CN" b="1" dirty="0">
                <a:solidFill>
                  <a:srgbClr val="C00000"/>
                </a:solidFill>
              </a:rPr>
              <a:t>     </a:t>
            </a:r>
            <a:r>
              <a:rPr lang="en-US" altLang="zh-CN" b="1" dirty="0" err="1">
                <a:solidFill>
                  <a:srgbClr val="C00000"/>
                </a:solidFill>
              </a:rPr>
              <a:t>int</a:t>
            </a:r>
            <a:r>
              <a:rPr lang="en-US" altLang="zh-CN" b="1" dirty="0">
                <a:solidFill>
                  <a:srgbClr val="C00000"/>
                </a:solidFill>
              </a:rPr>
              <a:t> z;</a:t>
            </a:r>
          </a:p>
          <a:p>
            <a:r>
              <a:rPr lang="en-US" altLang="zh-CN" b="1" dirty="0">
                <a:solidFill>
                  <a:srgbClr val="C00000"/>
                </a:solidFill>
              </a:rPr>
              <a:t>     z = x * y;</a:t>
            </a:r>
          </a:p>
          <a:p>
            <a:r>
              <a:rPr lang="en-US" altLang="zh-CN" b="1" dirty="0">
                <a:solidFill>
                  <a:srgbClr val="C00000"/>
                </a:solidFill>
              </a:rPr>
              <a:t>     </a:t>
            </a:r>
            <a:r>
              <a:rPr lang="en-US" altLang="zh-CN" b="1" dirty="0" err="1">
                <a:solidFill>
                  <a:srgbClr val="C00000"/>
                </a:solidFill>
              </a:rPr>
              <a:t>printf</a:t>
            </a:r>
            <a:r>
              <a:rPr lang="en-US" altLang="zh-CN" b="1" dirty="0">
                <a:solidFill>
                  <a:srgbClr val="C00000"/>
                </a:solidFill>
              </a:rPr>
              <a:t> ("z = %d\n", z);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输出复合语句中</a:t>
            </a:r>
            <a:r>
              <a:rPr lang="en-US" altLang="zh-CN" sz="1800" b="1" dirty="0">
                <a:solidFill>
                  <a:srgbClr val="002060"/>
                </a:solidFill>
                <a:latin typeface="+mn-lt"/>
                <a:ea typeface="楷体" pitchFamily="49" charset="-122"/>
              </a:rPr>
              <a:t>z</a:t>
            </a:r>
            <a:r>
              <a:rPr lang="zh-CN" altLang="en-US" sz="1800" b="1" dirty="0">
                <a:solidFill>
                  <a:srgbClr val="002060"/>
                </a:solidFill>
                <a:latin typeface="+mn-lt"/>
                <a:ea typeface="楷体" pitchFamily="49" charset="-122"/>
              </a:rPr>
              <a:t>的值</a:t>
            </a:r>
          </a:p>
          <a:p>
            <a:r>
              <a:rPr lang="zh-CN" altLang="en-US" b="1" dirty="0">
                <a:solidFill>
                  <a:srgbClr val="C00000"/>
                </a:solidFill>
              </a:rPr>
              <a:t>   </a:t>
            </a:r>
            <a:r>
              <a:rPr lang="en-US" altLang="zh-CN" b="1" dirty="0">
                <a:solidFill>
                  <a:srgbClr val="C00000"/>
                </a:solidFill>
              </a:rPr>
              <a:t>}</a:t>
            </a:r>
          </a:p>
          <a:p>
            <a:r>
              <a:rPr lang="en-US" altLang="zh-CN" b="1" dirty="0"/>
              <a:t>   </a:t>
            </a:r>
            <a:r>
              <a:rPr lang="en-US" altLang="zh-CN" b="1" dirty="0" err="1"/>
              <a:t>printf</a:t>
            </a:r>
            <a:r>
              <a:rPr lang="en-US" altLang="zh-CN" b="1" dirty="0"/>
              <a:t> ("z = %d\n", z);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输出复合语句外</a:t>
            </a:r>
            <a:r>
              <a:rPr lang="en-US" altLang="zh-CN" sz="1800" b="1" dirty="0">
                <a:solidFill>
                  <a:srgbClr val="002060"/>
                </a:solidFill>
                <a:latin typeface="+mn-lt"/>
                <a:ea typeface="楷体" pitchFamily="49" charset="-122"/>
              </a:rPr>
              <a:t>z</a:t>
            </a:r>
            <a:r>
              <a:rPr lang="zh-CN" altLang="en-US" sz="1800" b="1" dirty="0">
                <a:solidFill>
                  <a:srgbClr val="002060"/>
                </a:solidFill>
                <a:latin typeface="+mn-lt"/>
                <a:ea typeface="楷体" pitchFamily="49" charset="-122"/>
              </a:rPr>
              <a:t>的值</a:t>
            </a:r>
          </a:p>
          <a:p>
            <a:r>
              <a:rPr lang="en-US" altLang="zh-CN" b="1" dirty="0"/>
              <a:t>   return 0;</a:t>
            </a:r>
          </a:p>
          <a:p>
            <a:r>
              <a:rPr lang="en-US" altLang="zh-CN" b="1" dirty="0"/>
              <a:t>}</a:t>
            </a:r>
          </a:p>
        </p:txBody>
      </p:sp>
      <p:sp>
        <p:nvSpPr>
          <p:cNvPr id="831506" name="Rectangle 18"/>
          <p:cNvSpPr>
            <a:spLocks noChangeArrowheads="1"/>
          </p:cNvSpPr>
          <p:nvPr/>
        </p:nvSpPr>
        <p:spPr bwMode="auto">
          <a:xfrm>
            <a:off x="7261734" y="3243707"/>
            <a:ext cx="2520950" cy="1200329"/>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b="1" dirty="0">
                <a:solidFill>
                  <a:srgbClr val="C01920"/>
                </a:solidFill>
                <a:latin typeface="隶书" pitchFamily="49" charset="-122"/>
                <a:ea typeface="隶书" pitchFamily="49" charset="-122"/>
              </a:rPr>
              <a:t>输出结果：</a:t>
            </a:r>
            <a:endParaRPr lang="en-US" altLang="zh-CN" b="1" dirty="0">
              <a:solidFill>
                <a:srgbClr val="C01920"/>
              </a:solidFill>
              <a:latin typeface="隶书" pitchFamily="49" charset="-122"/>
              <a:ea typeface="隶书" pitchFamily="49" charset="-122"/>
            </a:endParaRPr>
          </a:p>
          <a:p>
            <a:r>
              <a:rPr lang="en-US" altLang="zh-CN" b="1" dirty="0">
                <a:latin typeface="+mn-lt"/>
                <a:ea typeface="楷体_GB2312" pitchFamily="49" charset="-122"/>
              </a:rPr>
              <a:t>  z = 200</a:t>
            </a:r>
          </a:p>
          <a:p>
            <a:r>
              <a:rPr lang="en-US" altLang="zh-CN" b="1" dirty="0">
                <a:latin typeface="+mn-lt"/>
                <a:ea typeface="楷体_GB2312" pitchFamily="49" charset="-122"/>
              </a:rPr>
              <a:t>  z = 30</a:t>
            </a:r>
          </a:p>
        </p:txBody>
      </p:sp>
      <p:grpSp>
        <p:nvGrpSpPr>
          <p:cNvPr id="15" name="组合 14"/>
          <p:cNvGrpSpPr/>
          <p:nvPr/>
        </p:nvGrpSpPr>
        <p:grpSpPr>
          <a:xfrm>
            <a:off x="1788755" y="2054462"/>
            <a:ext cx="5676757" cy="3517275"/>
            <a:chOff x="1403648" y="2036340"/>
            <a:chExt cx="5676757" cy="3517275"/>
          </a:xfrm>
        </p:grpSpPr>
        <p:sp>
          <p:nvSpPr>
            <p:cNvPr id="13" name="矩形 12"/>
            <p:cNvSpPr/>
            <p:nvPr/>
          </p:nvSpPr>
          <p:spPr bwMode="auto">
            <a:xfrm>
              <a:off x="1403648" y="3681407"/>
              <a:ext cx="3456384" cy="1872208"/>
            </a:xfrm>
            <a:prstGeom prst="rect">
              <a:avLst/>
            </a:prstGeom>
            <a:noFill/>
            <a:ln w="31750" cap="flat" cmpd="sng" algn="ctr">
              <a:solidFill>
                <a:srgbClr val="C0192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dirty="0">
                <a:solidFill>
                  <a:schemeClr val="accent1">
                    <a:lumMod val="50000"/>
                  </a:schemeClr>
                </a:solidFill>
              </a:endParaRPr>
            </a:p>
          </p:txBody>
        </p:sp>
        <p:sp>
          <p:nvSpPr>
            <p:cNvPr id="14" name="线形标注 2 13"/>
            <p:cNvSpPr/>
            <p:nvPr/>
          </p:nvSpPr>
          <p:spPr bwMode="auto">
            <a:xfrm>
              <a:off x="5352213" y="2036340"/>
              <a:ext cx="1728192" cy="504056"/>
            </a:xfrm>
            <a:prstGeom prst="borderCallout2">
              <a:avLst>
                <a:gd name="adj1" fmla="val 18750"/>
                <a:gd name="adj2" fmla="val -8333"/>
                <a:gd name="adj3" fmla="val 18750"/>
                <a:gd name="adj4" fmla="val -16667"/>
                <a:gd name="adj5" fmla="val 322180"/>
                <a:gd name="adj6" fmla="val -100952"/>
              </a:avLst>
            </a:prstGeom>
            <a:gradFill flip="none" rotWithShape="1">
              <a:gsLst>
                <a:gs pos="0">
                  <a:srgbClr val="BEDFC4"/>
                </a:gs>
                <a:gs pos="100000">
                  <a:schemeClr val="accent1">
                    <a:tint val="23500"/>
                    <a:satMod val="160000"/>
                  </a:schemeClr>
                </a:gs>
              </a:gsLst>
              <a:path path="circle">
                <a:fillToRect l="100000" t="100000"/>
              </a:path>
              <a:tileRect r="-100000" b="-100000"/>
            </a:gradFill>
            <a:ln w="31750" cap="flat" cmpd="sng" algn="ctr">
              <a:solidFill>
                <a:srgbClr val="C0192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r>
                <a:rPr lang="zh-CN" altLang="en-US" b="1" dirty="0">
                  <a:solidFill>
                    <a:srgbClr val="C01920"/>
                  </a:solidFill>
                  <a:latin typeface="隶书" pitchFamily="49" charset="-122"/>
                  <a:ea typeface="隶书" pitchFamily="49" charset="-122"/>
                </a:rPr>
                <a:t>复合语句</a:t>
              </a:r>
            </a:p>
          </p:txBody>
        </p:sp>
      </p:grpSp>
      <p:sp>
        <p:nvSpPr>
          <p:cNvPr id="16" name="Rectangle 4">
            <a:extLst>
              <a:ext uri="{FF2B5EF4-FFF2-40B4-BE49-F238E27FC236}">
                <a16:creationId xmlns:a16="http://schemas.microsoft.com/office/drawing/2014/main" id="{44DF0A6E-D919-4FEC-BC05-4D4C9A8F38B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5.1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程序中语句的分类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1495"/>
                                        </p:tgtEl>
                                        <p:attrNameLst>
                                          <p:attrName>style.visibility</p:attrName>
                                        </p:attrNameLst>
                                      </p:cBhvr>
                                      <p:to>
                                        <p:strVal val="visible"/>
                                      </p:to>
                                    </p:set>
                                    <p:animEffect transition="in" filter="box(in)">
                                      <p:cBhvr>
                                        <p:cTn id="7" dur="500"/>
                                        <p:tgtEl>
                                          <p:spTgt spid="83149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31502"/>
                                        </p:tgtEl>
                                        <p:attrNameLst>
                                          <p:attrName>style.visibility</p:attrName>
                                        </p:attrNameLst>
                                      </p:cBhvr>
                                      <p:to>
                                        <p:strVal val="visible"/>
                                      </p:to>
                                    </p:set>
                                    <p:animEffect transition="in" filter="box(out)">
                                      <p:cBhvr>
                                        <p:cTn id="12" dur="500"/>
                                        <p:tgtEl>
                                          <p:spTgt spid="83150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out)">
                                      <p:cBhvr>
                                        <p:cTn id="17" dur="500"/>
                                        <p:tgtEl>
                                          <p:spTgt spid="1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31501"/>
                                        </p:tgtEl>
                                        <p:attrNameLst>
                                          <p:attrName>style.visibility</p:attrName>
                                        </p:attrNameLst>
                                      </p:cBhvr>
                                      <p:to>
                                        <p:strVal val="visible"/>
                                      </p:to>
                                    </p:set>
                                    <p:animEffect transition="in" filter="box(out)">
                                      <p:cBhvr>
                                        <p:cTn id="22" dur="500"/>
                                        <p:tgtEl>
                                          <p:spTgt spid="831501"/>
                                        </p:tgtEl>
                                      </p:cBhvr>
                                    </p:animEffect>
                                  </p:childTnLst>
                                  <p:subTnLst>
                                    <p:set>
                                      <p:cBhvr override="childStyle">
                                        <p:cTn dur="1" fill="hold" display="0" masterRel="nextClick" afterEffect="1"/>
                                        <p:tgtEl>
                                          <p:spTgt spid="831501"/>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31503"/>
                                        </p:tgtEl>
                                        <p:attrNameLst>
                                          <p:attrName>style.visibility</p:attrName>
                                        </p:attrNameLst>
                                      </p:cBhvr>
                                      <p:to>
                                        <p:strVal val="visible"/>
                                      </p:to>
                                    </p:set>
                                    <p:animEffect transition="in" filter="box(out)">
                                      <p:cBhvr>
                                        <p:cTn id="27" dur="500"/>
                                        <p:tgtEl>
                                          <p:spTgt spid="83150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out)">
                                      <p:cBhvr>
                                        <p:cTn id="32" dur="500"/>
                                        <p:tgtEl>
                                          <p:spTgt spid="1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31505"/>
                                        </p:tgtEl>
                                        <p:attrNameLst>
                                          <p:attrName>style.visibility</p:attrName>
                                        </p:attrNameLst>
                                      </p:cBhvr>
                                      <p:to>
                                        <p:strVal val="visible"/>
                                      </p:to>
                                    </p:set>
                                    <p:animEffect transition="in" filter="box(out)">
                                      <p:cBhvr>
                                        <p:cTn id="37" dur="500"/>
                                        <p:tgtEl>
                                          <p:spTgt spid="83150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strips(upRight)">
                                      <p:cBhvr>
                                        <p:cTn id="42" dur="500"/>
                                        <p:tgtEl>
                                          <p:spTgt spid="15"/>
                                        </p:tgtEl>
                                      </p:cBhvr>
                                    </p:animEffect>
                                  </p:childTnLst>
                                  <p:subTnLs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831506"/>
                                        </p:tgtEl>
                                        <p:attrNameLst>
                                          <p:attrName>style.visibility</p:attrName>
                                        </p:attrNameLst>
                                      </p:cBhvr>
                                      <p:to>
                                        <p:strVal val="visible"/>
                                      </p:to>
                                    </p:set>
                                    <p:animEffect transition="in" filter="box(in)">
                                      <p:cBhvr>
                                        <p:cTn id="47" dur="500"/>
                                        <p:tgtEl>
                                          <p:spTgt spid="831506"/>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503" grpId="0"/>
      <p:bldP spid="831495" grpId="0"/>
      <p:bldP spid="831502" grpId="0"/>
      <p:bldP spid="11" grpId="0" animBg="1"/>
      <p:bldP spid="12" grpId="0" animBg="1"/>
      <p:bldP spid="831501" grpId="0" animBg="1"/>
      <p:bldP spid="831505" grpId="0" animBg="1"/>
      <p:bldP spid="83150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3541" name="Rectangle 5"/>
          <p:cNvSpPr>
            <a:spLocks noChangeArrowheads="1"/>
          </p:cNvSpPr>
          <p:nvPr/>
        </p:nvSpPr>
        <p:spPr bwMode="auto">
          <a:xfrm>
            <a:off x="1055440" y="918593"/>
            <a:ext cx="11182189" cy="2677656"/>
          </a:xfrm>
          <a:prstGeom prst="rect">
            <a:avLst/>
          </a:prstGeom>
          <a:noFill/>
          <a:ln w="9525">
            <a:noFill/>
            <a:miter lim="800000"/>
            <a:headEnd/>
            <a:tailEnd/>
          </a:ln>
          <a:effectLst/>
        </p:spPr>
        <p:txBody>
          <a:bodyPr wrap="square">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控制语句</a:t>
            </a:r>
            <a:endParaRPr lang="en-US" altLang="zh-CN" b="1" dirty="0">
              <a:solidFill>
                <a:srgbClr val="C01920"/>
              </a:solidFill>
              <a:latin typeface="楷体" panose="02010609060101010101" pitchFamily="49" charset="-122"/>
              <a:ea typeface="楷体" panose="02010609060101010101" pitchFamily="49" charset="-122"/>
            </a:endParaRPr>
          </a:p>
          <a:p>
            <a:pPr>
              <a:buFont typeface="Wingdings" pitchFamily="2" charset="2"/>
              <a:buChar char="Ø"/>
            </a:pPr>
            <a:endParaRPr lang="zh-CN" altLang="en-US" b="1"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endParaRPr>
          </a:p>
          <a:p>
            <a:pPr marL="800100" lvl="1" indent="-342900">
              <a:buFont typeface="Wingdings" panose="05000000000000000000" pitchFamily="2" charset="2"/>
              <a:buChar char="l"/>
            </a:pPr>
            <a:r>
              <a:rPr lang="zh-CN" altLang="en-US" b="1" dirty="0">
                <a:solidFill>
                  <a:srgbClr val="002060"/>
                </a:solidFill>
                <a:effectLst>
                  <a:outerShdw blurRad="38100" dist="38100" dir="2700000" algn="tl">
                    <a:srgbClr val="FFFFFF"/>
                  </a:outerShdw>
                </a:effectLst>
                <a:latin typeface="+mn-lt"/>
                <a:ea typeface="楷体" pitchFamily="49" charset="-122"/>
              </a:rPr>
              <a:t>控制语句：</a:t>
            </a:r>
            <a:r>
              <a:rPr lang="zh-CN" altLang="en-US" b="1" dirty="0">
                <a:effectLst>
                  <a:outerShdw blurRad="38100" dist="38100" dir="2700000" algn="tl">
                    <a:srgbClr val="FFFFFF"/>
                  </a:outerShdw>
                </a:effectLst>
                <a:latin typeface="+mn-lt"/>
                <a:ea typeface="楷体" pitchFamily="49" charset="-122"/>
              </a:rPr>
              <a:t>实现一定的控制功能的语句。</a:t>
            </a:r>
            <a:endParaRPr lang="en-US" altLang="zh-CN" b="1" dirty="0">
              <a:effectLst>
                <a:outerShdw blurRad="38100" dist="38100" dir="2700000" algn="tl">
                  <a:srgbClr val="FFFFFF"/>
                </a:outerShdw>
              </a:effectLst>
              <a:latin typeface="+mn-lt"/>
              <a:ea typeface="楷体" pitchFamily="49" charset="-122"/>
            </a:endParaRPr>
          </a:p>
          <a:p>
            <a:pPr marL="800100" lvl="1" indent="-342900">
              <a:buFont typeface="Wingdings" panose="05000000000000000000" pitchFamily="2" charset="2"/>
              <a:buChar char="l"/>
            </a:pPr>
            <a:endParaRPr lang="en-US" altLang="zh-CN" b="1" dirty="0">
              <a:effectLst>
                <a:outerShdw blurRad="38100" dist="38100" dir="2700000" algn="tl">
                  <a:srgbClr val="FFFFFF"/>
                </a:outerShdw>
              </a:effectLst>
              <a:latin typeface="+mn-lt"/>
              <a:ea typeface="楷体" pitchFamily="49" charset="-122"/>
            </a:endParaRPr>
          </a:p>
          <a:p>
            <a:pPr marL="800100" lvl="1" indent="-342900">
              <a:buFont typeface="Wingdings" panose="05000000000000000000" pitchFamily="2" charset="2"/>
              <a:buChar char="l"/>
            </a:pPr>
            <a:r>
              <a:rPr lang="zh-CN" altLang="en-US" b="1" dirty="0">
                <a:solidFill>
                  <a:srgbClr val="002060"/>
                </a:solidFill>
                <a:effectLst>
                  <a:outerShdw blurRad="38100" dist="38100" dir="2700000" algn="tl">
                    <a:srgbClr val="FFFFFF"/>
                  </a:outerShdw>
                </a:effectLst>
                <a:latin typeface="+mn-lt"/>
                <a:ea typeface="楷体" pitchFamily="49" charset="-122"/>
              </a:rPr>
              <a:t>控制语句结构：</a:t>
            </a:r>
            <a:r>
              <a:rPr lang="zh-CN" altLang="en-US" b="1" dirty="0">
                <a:effectLst>
                  <a:outerShdw blurRad="38100" dist="38100" dir="2700000" algn="tl">
                    <a:srgbClr val="FFFFFF"/>
                  </a:outerShdw>
                </a:effectLst>
                <a:latin typeface="+mn-lt"/>
                <a:ea typeface="楷体" pitchFamily="49" charset="-122"/>
              </a:rPr>
              <a:t>选择结构和循环结构。</a:t>
            </a:r>
            <a:endParaRPr lang="en-US" altLang="zh-CN" b="1" dirty="0">
              <a:effectLst>
                <a:outerShdw blurRad="38100" dist="38100" dir="2700000" algn="tl">
                  <a:srgbClr val="FFFFFF"/>
                </a:outerShdw>
              </a:effectLst>
              <a:latin typeface="+mn-lt"/>
              <a:ea typeface="楷体" pitchFamily="49" charset="-122"/>
            </a:endParaRPr>
          </a:p>
          <a:p>
            <a:pPr lvl="1"/>
            <a:endParaRPr lang="en-US" altLang="zh-CN" b="1" dirty="0">
              <a:effectLst>
                <a:outerShdw blurRad="38100" dist="38100" dir="2700000" algn="tl">
                  <a:srgbClr val="FFFFFF"/>
                </a:outerShdw>
              </a:effectLst>
              <a:latin typeface="+mn-lt"/>
              <a:ea typeface="楷体" pitchFamily="49" charset="-122"/>
            </a:endParaRPr>
          </a:p>
          <a:p>
            <a:pPr marL="800100" lvl="1" indent="-342900">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九种控制语句，分成三类。 </a:t>
            </a:r>
          </a:p>
        </p:txBody>
      </p:sp>
      <p:grpSp>
        <p:nvGrpSpPr>
          <p:cNvPr id="833558" name="Group 22"/>
          <p:cNvGrpSpPr>
            <a:grpSpLocks/>
          </p:cNvGrpSpPr>
          <p:nvPr/>
        </p:nvGrpSpPr>
        <p:grpSpPr bwMode="auto">
          <a:xfrm>
            <a:off x="5015880" y="2780928"/>
            <a:ext cx="3552825" cy="3935412"/>
            <a:chOff x="1162" y="1207"/>
            <a:chExt cx="2238" cy="2479"/>
          </a:xfrm>
        </p:grpSpPr>
        <p:sp>
          <p:nvSpPr>
            <p:cNvPr id="833548" name="Text Box 12"/>
            <p:cNvSpPr txBox="1">
              <a:spLocks noChangeArrowheads="1"/>
            </p:cNvSpPr>
            <p:nvPr/>
          </p:nvSpPr>
          <p:spPr bwMode="auto">
            <a:xfrm>
              <a:off x="1927" y="1207"/>
              <a:ext cx="1473" cy="2479"/>
            </a:xfrm>
            <a:prstGeom prst="rect">
              <a:avLst/>
            </a:prstGeom>
            <a:noFill/>
            <a:ln w="12700" cap="sq">
              <a:noFill/>
              <a:miter lim="800000"/>
              <a:headEnd type="none" w="sm" len="sm"/>
              <a:tailEnd type="none" w="sm" len="sm"/>
            </a:ln>
            <a:effectLst/>
          </p:spPr>
          <p:txBody>
            <a:bodyPr wrap="none" anchor="ctr">
              <a:spAutoFit/>
            </a:bodyPr>
            <a:lstStyle/>
            <a:p>
              <a:pPr lvl="1" eaLnBrk="0" hangingPunct="0"/>
              <a:r>
                <a:rPr lang="en-US" altLang="zh-CN" sz="2800" b="1" dirty="0">
                  <a:effectLst>
                    <a:outerShdw blurRad="38100" dist="38100" dir="2700000" algn="tl">
                      <a:srgbClr val="FFFFFF"/>
                    </a:outerShdw>
                  </a:effectLst>
                </a:rPr>
                <a:t>if( )~else~ </a:t>
              </a:r>
            </a:p>
            <a:p>
              <a:pPr lvl="1" eaLnBrk="0" hangingPunct="0"/>
              <a:r>
                <a:rPr lang="en-US" altLang="zh-CN" sz="2800" b="1" dirty="0">
                  <a:effectLst>
                    <a:outerShdw blurRad="38100" dist="38100" dir="2700000" algn="tl">
                      <a:srgbClr val="FFFFFF"/>
                    </a:outerShdw>
                  </a:effectLst>
                </a:rPr>
                <a:t>switch</a:t>
              </a:r>
            </a:p>
            <a:p>
              <a:pPr lvl="1" eaLnBrk="0" hangingPunct="0"/>
              <a:r>
                <a:rPr lang="en-US" altLang="zh-CN" sz="2800" b="1" dirty="0">
                  <a:effectLst>
                    <a:outerShdw blurRad="38100" dist="38100" dir="2700000" algn="tl">
                      <a:srgbClr val="FFFFFF"/>
                    </a:outerShdw>
                  </a:effectLst>
                </a:rPr>
                <a:t>for( )~</a:t>
              </a:r>
            </a:p>
            <a:p>
              <a:pPr lvl="1" eaLnBrk="0" hangingPunct="0"/>
              <a:r>
                <a:rPr lang="en-US" altLang="zh-CN" sz="2800" b="1" dirty="0">
                  <a:effectLst>
                    <a:outerShdw blurRad="38100" dist="38100" dir="2700000" algn="tl">
                      <a:srgbClr val="FFFFFF"/>
                    </a:outerShdw>
                  </a:effectLst>
                </a:rPr>
                <a:t>while( )~</a:t>
              </a:r>
            </a:p>
            <a:p>
              <a:pPr lvl="1" eaLnBrk="0" hangingPunct="0"/>
              <a:r>
                <a:rPr lang="en-US" altLang="zh-CN" sz="2800" b="1" dirty="0" err="1">
                  <a:effectLst>
                    <a:outerShdw blurRad="38100" dist="38100" dir="2700000" algn="tl">
                      <a:srgbClr val="FFFFFF"/>
                    </a:outerShdw>
                  </a:effectLst>
                </a:rPr>
                <a:t>do~while</a:t>
              </a:r>
              <a:r>
                <a:rPr lang="en-US" altLang="zh-CN" sz="2800" b="1" dirty="0">
                  <a:effectLst>
                    <a:outerShdw blurRad="38100" dist="38100" dir="2700000" algn="tl">
                      <a:srgbClr val="FFFFFF"/>
                    </a:outerShdw>
                  </a:effectLst>
                </a:rPr>
                <a:t>( )</a:t>
              </a:r>
            </a:p>
            <a:p>
              <a:pPr lvl="1" eaLnBrk="0" hangingPunct="0"/>
              <a:r>
                <a:rPr lang="en-US" altLang="zh-CN" sz="2800" b="1" dirty="0">
                  <a:effectLst>
                    <a:outerShdw blurRad="38100" dist="38100" dir="2700000" algn="tl">
                      <a:srgbClr val="FFFFFF"/>
                    </a:outerShdw>
                  </a:effectLst>
                </a:rPr>
                <a:t>continue</a:t>
              </a:r>
            </a:p>
            <a:p>
              <a:pPr lvl="1" eaLnBrk="0" hangingPunct="0"/>
              <a:r>
                <a:rPr lang="en-US" altLang="zh-CN" sz="2800" b="1" dirty="0">
                  <a:effectLst>
                    <a:outerShdw blurRad="38100" dist="38100" dir="2700000" algn="tl">
                      <a:srgbClr val="FFFFFF"/>
                    </a:outerShdw>
                  </a:effectLst>
                </a:rPr>
                <a:t>break</a:t>
              </a:r>
            </a:p>
            <a:p>
              <a:pPr lvl="1" eaLnBrk="0" hangingPunct="0"/>
              <a:r>
                <a:rPr lang="en-US" altLang="zh-CN" sz="2800" b="1" dirty="0" err="1">
                  <a:effectLst>
                    <a:outerShdw blurRad="38100" dist="38100" dir="2700000" algn="tl">
                      <a:srgbClr val="FFFFFF"/>
                    </a:outerShdw>
                  </a:effectLst>
                </a:rPr>
                <a:t>goto</a:t>
              </a:r>
              <a:endParaRPr lang="en-US" altLang="zh-CN" sz="2800" b="1" dirty="0">
                <a:effectLst>
                  <a:outerShdw blurRad="38100" dist="38100" dir="2700000" algn="tl">
                    <a:srgbClr val="FFFFFF"/>
                  </a:outerShdw>
                </a:effectLst>
              </a:endParaRPr>
            </a:p>
            <a:p>
              <a:pPr lvl="1" eaLnBrk="0" hangingPunct="0"/>
              <a:r>
                <a:rPr lang="en-US" altLang="zh-CN" sz="2800" b="1" dirty="0">
                  <a:effectLst>
                    <a:outerShdw blurRad="38100" dist="38100" dir="2700000" algn="tl">
                      <a:srgbClr val="FFFFFF"/>
                    </a:outerShdw>
                  </a:effectLst>
                </a:rPr>
                <a:t>return</a:t>
              </a:r>
            </a:p>
          </p:txBody>
        </p:sp>
        <p:sp>
          <p:nvSpPr>
            <p:cNvPr id="833552" name="Text Box 16"/>
            <p:cNvSpPr txBox="1">
              <a:spLocks noChangeArrowheads="1"/>
            </p:cNvSpPr>
            <p:nvPr/>
          </p:nvSpPr>
          <p:spPr bwMode="auto">
            <a:xfrm>
              <a:off x="1499" y="1372"/>
              <a:ext cx="504" cy="292"/>
            </a:xfrm>
            <a:prstGeom prst="rect">
              <a:avLst/>
            </a:prstGeom>
            <a:noFill/>
            <a:ln w="38100">
              <a:noFill/>
              <a:miter lim="800000"/>
              <a:headEnd/>
              <a:tailEnd/>
            </a:ln>
            <a:effectLst/>
          </p:spPr>
          <p:txBody>
            <a:bodyPr wrap="none" lIns="90000" tIns="46800" rIns="90000" bIns="46800">
              <a:spAutoFit/>
            </a:bodyPr>
            <a:lstStyle/>
            <a:p>
              <a:r>
                <a:rPr lang="zh-CN" altLang="en-US" b="1">
                  <a:solidFill>
                    <a:srgbClr val="C01920"/>
                  </a:solidFill>
                  <a:ea typeface="隶书" pitchFamily="49" charset="-122"/>
                </a:rPr>
                <a:t>分支</a:t>
              </a:r>
              <a:endParaRPr lang="zh-CN" altLang="en-US" sz="2000" b="1">
                <a:solidFill>
                  <a:srgbClr val="C01920"/>
                </a:solidFill>
              </a:endParaRPr>
            </a:p>
          </p:txBody>
        </p:sp>
        <p:sp>
          <p:nvSpPr>
            <p:cNvPr id="833553" name="Text Box 17"/>
            <p:cNvSpPr txBox="1">
              <a:spLocks noChangeArrowheads="1"/>
            </p:cNvSpPr>
            <p:nvPr/>
          </p:nvSpPr>
          <p:spPr bwMode="auto">
            <a:xfrm>
              <a:off x="1475" y="2036"/>
              <a:ext cx="504" cy="292"/>
            </a:xfrm>
            <a:prstGeom prst="rect">
              <a:avLst/>
            </a:prstGeom>
            <a:noFill/>
            <a:ln w="38100">
              <a:noFill/>
              <a:miter lim="800000"/>
              <a:headEnd/>
              <a:tailEnd/>
            </a:ln>
            <a:effectLst/>
          </p:spPr>
          <p:txBody>
            <a:bodyPr wrap="none" lIns="90000" tIns="46800" rIns="90000" bIns="46800">
              <a:spAutoFit/>
            </a:bodyPr>
            <a:lstStyle/>
            <a:p>
              <a:r>
                <a:rPr lang="zh-CN" altLang="en-US" b="1">
                  <a:solidFill>
                    <a:srgbClr val="C01920"/>
                  </a:solidFill>
                  <a:ea typeface="隶书" pitchFamily="49" charset="-122"/>
                </a:rPr>
                <a:t>循环</a:t>
              </a:r>
            </a:p>
          </p:txBody>
        </p:sp>
        <p:sp>
          <p:nvSpPr>
            <p:cNvPr id="833554" name="Text Box 18"/>
            <p:cNvSpPr txBox="1">
              <a:spLocks noChangeArrowheads="1"/>
            </p:cNvSpPr>
            <p:nvPr/>
          </p:nvSpPr>
          <p:spPr bwMode="auto">
            <a:xfrm>
              <a:off x="1162" y="2964"/>
              <a:ext cx="894" cy="292"/>
            </a:xfrm>
            <a:prstGeom prst="rect">
              <a:avLst/>
            </a:prstGeom>
            <a:noFill/>
            <a:ln w="38100">
              <a:noFill/>
              <a:miter lim="800000"/>
              <a:headEnd/>
              <a:tailEnd/>
            </a:ln>
            <a:effectLst/>
          </p:spPr>
          <p:txBody>
            <a:bodyPr wrap="none" lIns="90000" tIns="46800" rIns="90000" bIns="46800">
              <a:spAutoFit/>
            </a:bodyPr>
            <a:lstStyle/>
            <a:p>
              <a:r>
                <a:rPr lang="zh-CN" altLang="en-US" b="1" dirty="0">
                  <a:solidFill>
                    <a:srgbClr val="C01920"/>
                  </a:solidFill>
                  <a:ea typeface="隶书" pitchFamily="49" charset="-122"/>
                </a:rPr>
                <a:t>辅助控制</a:t>
              </a:r>
            </a:p>
          </p:txBody>
        </p:sp>
        <p:sp>
          <p:nvSpPr>
            <p:cNvPr id="833555" name="AutoShape 19"/>
            <p:cNvSpPr>
              <a:spLocks/>
            </p:cNvSpPr>
            <p:nvPr/>
          </p:nvSpPr>
          <p:spPr bwMode="auto">
            <a:xfrm>
              <a:off x="2109" y="1344"/>
              <a:ext cx="91" cy="362"/>
            </a:xfrm>
            <a:prstGeom prst="leftBrace">
              <a:avLst>
                <a:gd name="adj1" fmla="val 33150"/>
                <a:gd name="adj2" fmla="val 50000"/>
              </a:avLst>
            </a:prstGeom>
            <a:noFill/>
            <a:ln w="38100">
              <a:solidFill>
                <a:schemeClr val="tx1"/>
              </a:solidFill>
              <a:round/>
              <a:headEnd/>
              <a:tailEnd/>
            </a:ln>
            <a:effectLst/>
          </p:spPr>
          <p:txBody>
            <a:bodyPr wrap="none" anchor="ctr"/>
            <a:lstStyle/>
            <a:p>
              <a:endParaRPr lang="zh-CN" altLang="en-US"/>
            </a:p>
          </p:txBody>
        </p:sp>
        <p:sp>
          <p:nvSpPr>
            <p:cNvPr id="833556" name="AutoShape 20"/>
            <p:cNvSpPr>
              <a:spLocks/>
            </p:cNvSpPr>
            <p:nvPr/>
          </p:nvSpPr>
          <p:spPr bwMode="auto">
            <a:xfrm>
              <a:off x="2093" y="1904"/>
              <a:ext cx="107" cy="619"/>
            </a:xfrm>
            <a:prstGeom prst="leftBrace">
              <a:avLst>
                <a:gd name="adj1" fmla="val 48209"/>
                <a:gd name="adj2" fmla="val 50000"/>
              </a:avLst>
            </a:prstGeom>
            <a:noFill/>
            <a:ln w="38100">
              <a:solidFill>
                <a:schemeClr val="tx1"/>
              </a:solidFill>
              <a:round/>
              <a:headEnd/>
              <a:tailEnd/>
            </a:ln>
            <a:effectLst/>
          </p:spPr>
          <p:txBody>
            <a:bodyPr wrap="none" anchor="ctr"/>
            <a:lstStyle/>
            <a:p>
              <a:endParaRPr lang="zh-CN" altLang="en-US"/>
            </a:p>
          </p:txBody>
        </p:sp>
        <p:sp>
          <p:nvSpPr>
            <p:cNvPr id="833557" name="AutoShape 21"/>
            <p:cNvSpPr>
              <a:spLocks/>
            </p:cNvSpPr>
            <p:nvPr/>
          </p:nvSpPr>
          <p:spPr bwMode="auto">
            <a:xfrm>
              <a:off x="2069" y="2712"/>
              <a:ext cx="125" cy="854"/>
            </a:xfrm>
            <a:prstGeom prst="leftBrace">
              <a:avLst>
                <a:gd name="adj1" fmla="val 56933"/>
                <a:gd name="adj2" fmla="val 49065"/>
              </a:avLst>
            </a:prstGeom>
            <a:noFill/>
            <a:ln w="38100">
              <a:solidFill>
                <a:schemeClr val="tx1"/>
              </a:solidFill>
              <a:round/>
              <a:headEnd/>
              <a:tailEnd/>
            </a:ln>
            <a:effectLst/>
          </p:spPr>
          <p:txBody>
            <a:bodyPr wrap="none" anchor="ctr"/>
            <a:lstStyle/>
            <a:p>
              <a:endParaRPr lang="zh-CN" altLang="en-US"/>
            </a:p>
          </p:txBody>
        </p:sp>
      </p:grpSp>
      <p:sp>
        <p:nvSpPr>
          <p:cNvPr id="833559" name="Oval 23"/>
          <p:cNvSpPr>
            <a:spLocks noChangeArrowheads="1"/>
          </p:cNvSpPr>
          <p:nvPr/>
        </p:nvSpPr>
        <p:spPr bwMode="auto">
          <a:xfrm>
            <a:off x="6520253" y="2808973"/>
            <a:ext cx="1873250" cy="8890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33560" name="Oval 24"/>
          <p:cNvSpPr>
            <a:spLocks noChangeArrowheads="1"/>
          </p:cNvSpPr>
          <p:nvPr/>
        </p:nvSpPr>
        <p:spPr bwMode="auto">
          <a:xfrm>
            <a:off x="6641479" y="5383814"/>
            <a:ext cx="1223963" cy="504825"/>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33563" name="Group 27"/>
          <p:cNvGrpSpPr>
            <a:grpSpLocks/>
          </p:cNvGrpSpPr>
          <p:nvPr/>
        </p:nvGrpSpPr>
        <p:grpSpPr bwMode="auto">
          <a:xfrm>
            <a:off x="7860683" y="4136656"/>
            <a:ext cx="3817940" cy="1422401"/>
            <a:chOff x="3106" y="2005"/>
            <a:chExt cx="2405" cy="896"/>
          </a:xfrm>
        </p:grpSpPr>
        <p:sp>
          <p:nvSpPr>
            <p:cNvPr id="833561" name="AutoShape 25"/>
            <p:cNvSpPr>
              <a:spLocks/>
            </p:cNvSpPr>
            <p:nvPr/>
          </p:nvSpPr>
          <p:spPr bwMode="auto">
            <a:xfrm>
              <a:off x="4422" y="2005"/>
              <a:ext cx="1089" cy="384"/>
            </a:xfrm>
            <a:prstGeom prst="borderCallout2">
              <a:avLst>
                <a:gd name="adj1" fmla="val 18750"/>
                <a:gd name="adj2" fmla="val -4407"/>
                <a:gd name="adj3" fmla="val 18750"/>
                <a:gd name="adj4" fmla="val -48579"/>
                <a:gd name="adj5" fmla="val -116667"/>
                <a:gd name="adj6" fmla="val -94398"/>
              </a:avLst>
            </a:prstGeom>
            <a:gradFill flip="none" rotWithShape="1">
              <a:gsLst>
                <a:gs pos="0">
                  <a:srgbClr val="BEDFC4"/>
                </a:gs>
                <a:gs pos="100000">
                  <a:srgbClr val="DDFAED"/>
                </a:gs>
              </a:gsLst>
              <a:lin ang="10800000" scaled="1"/>
              <a:tileRect/>
            </a:gradFill>
            <a:ln w="28575">
              <a:solidFill>
                <a:srgbClr val="CC0000"/>
              </a:solidFill>
              <a:miter lim="800000"/>
              <a:headEnd/>
              <a:tailEnd/>
            </a:ln>
            <a:effectLst>
              <a:outerShdw blurRad="50800" dist="106680" dir="2700000" algn="tl" rotWithShape="0">
                <a:prstClr val="black">
                  <a:alpha val="43000"/>
                </a:prstClr>
              </a:outerShdw>
            </a:effectLst>
          </p:spPr>
          <p:txBody>
            <a:bodyPr anchor="ctr" anchorCtr="0"/>
            <a:lstStyle/>
            <a:p>
              <a:pPr algn="ctr"/>
              <a:r>
                <a:rPr lang="zh-CN" altLang="en-US" b="1" dirty="0">
                  <a:solidFill>
                    <a:srgbClr val="C01920"/>
                  </a:solidFill>
                  <a:latin typeface="楷体" pitchFamily="49" charset="-122"/>
                  <a:ea typeface="楷体" pitchFamily="49" charset="-122"/>
                </a:rPr>
                <a:t>本章讨论</a:t>
              </a:r>
            </a:p>
          </p:txBody>
        </p:sp>
        <p:sp>
          <p:nvSpPr>
            <p:cNvPr id="833562" name="Line 26"/>
            <p:cNvSpPr>
              <a:spLocks noChangeShapeType="1"/>
            </p:cNvSpPr>
            <p:nvPr/>
          </p:nvSpPr>
          <p:spPr bwMode="auto">
            <a:xfrm flipV="1">
              <a:off x="3106" y="2269"/>
              <a:ext cx="1271" cy="632"/>
            </a:xfrm>
            <a:prstGeom prst="line">
              <a:avLst/>
            </a:prstGeom>
            <a:noFill/>
            <a:ln w="28575">
              <a:solidFill>
                <a:srgbClr val="CC0000"/>
              </a:solidFill>
              <a:round/>
              <a:headEnd/>
              <a:tailEnd/>
            </a:ln>
            <a:effectLst>
              <a:outerShdw dist="107763" dir="2700000" algn="ctr" rotWithShape="0">
                <a:schemeClr val="bg2">
                  <a:alpha val="50000"/>
                </a:schemeClr>
              </a:outerShdw>
            </a:effectLst>
          </p:spPr>
          <p:txBody>
            <a:bodyPr/>
            <a:lstStyle/>
            <a:p>
              <a:endParaRPr lang="zh-CN" altLang="en-US"/>
            </a:p>
          </p:txBody>
        </p:sp>
      </p:grpSp>
      <p:sp>
        <p:nvSpPr>
          <p:cNvPr id="19" name="Rectangle 4">
            <a:extLst>
              <a:ext uri="{FF2B5EF4-FFF2-40B4-BE49-F238E27FC236}">
                <a16:creationId xmlns:a16="http://schemas.microsoft.com/office/drawing/2014/main" id="{63634AC2-317C-4769-8969-FBD350799A4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5.1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程序中语句的分类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3541">
                                            <p:txEl>
                                              <p:pRg st="2" end="2"/>
                                            </p:txEl>
                                          </p:spTgt>
                                        </p:tgtEl>
                                        <p:attrNameLst>
                                          <p:attrName>style.visibility</p:attrName>
                                        </p:attrNameLst>
                                      </p:cBhvr>
                                      <p:to>
                                        <p:strVal val="visible"/>
                                      </p:to>
                                    </p:set>
                                    <p:anim calcmode="lin" valueType="num">
                                      <p:cBhvr additive="base">
                                        <p:cTn id="7" dur="500" fill="hold"/>
                                        <p:tgtEl>
                                          <p:spTgt spid="83354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354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3541">
                                            <p:txEl>
                                              <p:pRg st="4" end="4"/>
                                            </p:txEl>
                                          </p:spTgt>
                                        </p:tgtEl>
                                        <p:attrNameLst>
                                          <p:attrName>style.visibility</p:attrName>
                                        </p:attrNameLst>
                                      </p:cBhvr>
                                      <p:to>
                                        <p:strVal val="visible"/>
                                      </p:to>
                                    </p:set>
                                    <p:anim calcmode="lin" valueType="num">
                                      <p:cBhvr additive="base">
                                        <p:cTn id="13" dur="500" fill="hold"/>
                                        <p:tgtEl>
                                          <p:spTgt spid="83354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354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3541">
                                            <p:txEl>
                                              <p:pRg st="6" end="6"/>
                                            </p:txEl>
                                          </p:spTgt>
                                        </p:tgtEl>
                                        <p:attrNameLst>
                                          <p:attrName>style.visibility</p:attrName>
                                        </p:attrNameLst>
                                      </p:cBhvr>
                                      <p:to>
                                        <p:strVal val="visible"/>
                                      </p:to>
                                    </p:set>
                                    <p:anim calcmode="lin" valueType="num">
                                      <p:cBhvr additive="base">
                                        <p:cTn id="19" dur="500" fill="hold"/>
                                        <p:tgtEl>
                                          <p:spTgt spid="83354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354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833558"/>
                                        </p:tgtEl>
                                        <p:attrNameLst>
                                          <p:attrName>style.visibility</p:attrName>
                                        </p:attrNameLst>
                                      </p:cBhvr>
                                      <p:to>
                                        <p:strVal val="visible"/>
                                      </p:to>
                                    </p:set>
                                    <p:animEffect transition="in" filter="box(out)">
                                      <p:cBhvr>
                                        <p:cTn id="25" dur="500"/>
                                        <p:tgtEl>
                                          <p:spTgt spid="833558"/>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833559"/>
                                        </p:tgtEl>
                                        <p:attrNameLst>
                                          <p:attrName>style.visibility</p:attrName>
                                        </p:attrNameLst>
                                      </p:cBhvr>
                                      <p:to>
                                        <p:strVal val="visible"/>
                                      </p:to>
                                    </p:set>
                                    <p:animEffect transition="in" filter="strips(downLeft)">
                                      <p:cBhvr>
                                        <p:cTn id="30" dur="500"/>
                                        <p:tgtEl>
                                          <p:spTgt spid="833559"/>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18" presetClass="entr" presetSubtype="12" fill="hold" grpId="0" nodeType="afterEffect">
                                  <p:stCondLst>
                                    <p:cond delay="0"/>
                                  </p:stCondLst>
                                  <p:childTnLst>
                                    <p:set>
                                      <p:cBhvr>
                                        <p:cTn id="33" dur="1" fill="hold">
                                          <p:stCondLst>
                                            <p:cond delay="0"/>
                                          </p:stCondLst>
                                        </p:cTn>
                                        <p:tgtEl>
                                          <p:spTgt spid="833560"/>
                                        </p:tgtEl>
                                        <p:attrNameLst>
                                          <p:attrName>style.visibility</p:attrName>
                                        </p:attrNameLst>
                                      </p:cBhvr>
                                      <p:to>
                                        <p:strVal val="visible"/>
                                      </p:to>
                                    </p:set>
                                    <p:animEffect transition="in" filter="strips(downLeft)">
                                      <p:cBhvr>
                                        <p:cTn id="34" dur="500"/>
                                        <p:tgtEl>
                                          <p:spTgt spid="833560"/>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1000"/>
                            </p:stCondLst>
                            <p:childTnLst>
                              <p:par>
                                <p:cTn id="36" presetID="18" presetClass="entr" presetSubtype="6" fill="hold" nodeType="afterEffect">
                                  <p:stCondLst>
                                    <p:cond delay="0"/>
                                  </p:stCondLst>
                                  <p:childTnLst>
                                    <p:set>
                                      <p:cBhvr>
                                        <p:cTn id="37" dur="1" fill="hold">
                                          <p:stCondLst>
                                            <p:cond delay="0"/>
                                          </p:stCondLst>
                                        </p:cTn>
                                        <p:tgtEl>
                                          <p:spTgt spid="833563"/>
                                        </p:tgtEl>
                                        <p:attrNameLst>
                                          <p:attrName>style.visibility</p:attrName>
                                        </p:attrNameLst>
                                      </p:cBhvr>
                                      <p:to>
                                        <p:strVal val="visible"/>
                                      </p:to>
                                    </p:set>
                                    <p:animEffect transition="in" filter="strips(downRight)">
                                      <p:cBhvr>
                                        <p:cTn id="38" dur="500"/>
                                        <p:tgtEl>
                                          <p:spTgt spid="833563"/>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59" grpId="0" animBg="1"/>
      <p:bldP spid="83356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5597" name="Rectangle 13"/>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1. </a:t>
            </a:r>
            <a:r>
              <a:rPr lang="zh-CN" altLang="en-US" sz="2800" b="1" dirty="0">
                <a:solidFill>
                  <a:srgbClr val="C01920"/>
                </a:solidFill>
                <a:latin typeface="楷体" panose="02010609060101010101" pitchFamily="49" charset="-122"/>
                <a:ea typeface="楷体" panose="02010609060101010101" pitchFamily="49" charset="-122"/>
              </a:rPr>
              <a:t>关系运算符和关系表达式 </a:t>
            </a:r>
          </a:p>
        </p:txBody>
      </p:sp>
      <p:graphicFrame>
        <p:nvGraphicFramePr>
          <p:cNvPr id="835749" name="Group 165"/>
          <p:cNvGraphicFramePr>
            <a:graphicFrameLocks noGrp="1"/>
          </p:cNvGraphicFramePr>
          <p:nvPr>
            <p:extLst>
              <p:ext uri="{D42A27DB-BD31-4B8C-83A1-F6EECF244321}">
                <p14:modId xmlns:p14="http://schemas.microsoft.com/office/powerpoint/2010/main" val="836621460"/>
              </p:ext>
            </p:extLst>
          </p:nvPr>
        </p:nvGraphicFramePr>
        <p:xfrm>
          <a:off x="1559496" y="1912938"/>
          <a:ext cx="9577064" cy="2560320"/>
        </p:xfrm>
        <a:graphic>
          <a:graphicData uri="http://schemas.openxmlformats.org/drawingml/2006/table">
            <a:tbl>
              <a:tblPr>
                <a:effectLst>
                  <a:outerShdw blurRad="50800" dist="38100" dir="2700000" algn="tl" rotWithShape="0">
                    <a:prstClr val="black">
                      <a:alpha val="40000"/>
                    </a:prstClr>
                  </a:outerShdw>
                </a:effectLst>
              </a:tblPr>
              <a:tblGrid>
                <a:gridCol w="3654520">
                  <a:extLst>
                    <a:ext uri="{9D8B030D-6E8A-4147-A177-3AD203B41FA5}">
                      <a16:colId xmlns:a16="http://schemas.microsoft.com/office/drawing/2014/main" val="20000"/>
                    </a:ext>
                  </a:extLst>
                </a:gridCol>
                <a:gridCol w="1678163">
                  <a:extLst>
                    <a:ext uri="{9D8B030D-6E8A-4147-A177-3AD203B41FA5}">
                      <a16:colId xmlns:a16="http://schemas.microsoft.com/office/drawing/2014/main" val="20001"/>
                    </a:ext>
                  </a:extLst>
                </a:gridCol>
                <a:gridCol w="2801291">
                  <a:extLst>
                    <a:ext uri="{9D8B030D-6E8A-4147-A177-3AD203B41FA5}">
                      <a16:colId xmlns:a16="http://schemas.microsoft.com/office/drawing/2014/main" val="20002"/>
                    </a:ext>
                  </a:extLst>
                </a:gridCol>
                <a:gridCol w="1443090">
                  <a:extLst>
                    <a:ext uri="{9D8B030D-6E8A-4147-A177-3AD203B41FA5}">
                      <a16:colId xmlns:a16="http://schemas.microsoft.com/office/drawing/2014/main" val="20003"/>
                    </a:ext>
                  </a:extLst>
                </a:gridCol>
              </a:tblGrid>
              <a:tr h="2555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rPr>
                        <a:t>关系运算符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rPr>
                        <a:t>含  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rPr>
                        <a:t>优 先 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rPr>
                        <a:t>结 合 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大于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这些关系运算符等优先级，但比下面的优先级</a:t>
                      </a:r>
                      <a:r>
                        <a:rPr kumimoji="1" lang="zh-CN" altLang="en-US" sz="1800" b="1" i="0" u="none" strike="noStrike" cap="none" normalizeH="0" baseline="0" dirty="0">
                          <a:ln>
                            <a:noFill/>
                          </a:ln>
                          <a:solidFill>
                            <a:srgbClr val="C01920"/>
                          </a:solidFill>
                          <a:effectLst/>
                          <a:latin typeface="+mn-lt"/>
                          <a:ea typeface="楷体" pitchFamily="49" charset="-122"/>
                        </a:rPr>
                        <a:t>高</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6">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kern="1200" cap="none" normalizeH="0" baseline="0" dirty="0">
                          <a:ln>
                            <a:noFill/>
                          </a:ln>
                          <a:solidFill>
                            <a:srgbClr val="C01920"/>
                          </a:solidFill>
                          <a:effectLst/>
                          <a:latin typeface="+mn-lt"/>
                          <a:ea typeface="楷体" pitchFamily="49" charset="-122"/>
                          <a:cs typeface="+mn-cs"/>
                        </a:rPr>
                        <a:t>   左结合性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&gt;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大于或等于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258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小于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&lt;=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&lt;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小于或等于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4"/>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（两个</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这些关系运算符等优先级，但比上面的优先级</a:t>
                      </a:r>
                      <a:r>
                        <a:rPr kumimoji="1" lang="zh-CN" altLang="en-US" sz="1800" b="1" i="0" u="none" strike="noStrike" kern="1200" cap="none" normalizeH="0" baseline="0" dirty="0">
                          <a:ln>
                            <a:noFill/>
                          </a:ln>
                          <a:solidFill>
                            <a:srgbClr val="C01920"/>
                          </a:solidFill>
                          <a:effectLst/>
                          <a:latin typeface="+mn-lt"/>
                          <a:ea typeface="楷体" pitchFamily="49" charset="-122"/>
                          <a:cs typeface="+mn-cs"/>
                        </a:rPr>
                        <a:t>低</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5"/>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和</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之间没有空格）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不等于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835750" name="Rectangle 166"/>
          <p:cNvSpPr>
            <a:spLocks noChangeArrowheads="1"/>
          </p:cNvSpPr>
          <p:nvPr/>
        </p:nvSpPr>
        <p:spPr bwMode="auto">
          <a:xfrm>
            <a:off x="1106897" y="1359844"/>
            <a:ext cx="2130711"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关系运算符</a:t>
            </a:r>
            <a:r>
              <a:rPr lang="zh-CN" altLang="en-US" dirty="0">
                <a:solidFill>
                  <a:srgbClr val="C01920"/>
                </a:solidFill>
                <a:latin typeface="+mn-lt"/>
                <a:ea typeface="楷体" pitchFamily="49" charset="-122"/>
              </a:rPr>
              <a:t> </a:t>
            </a:r>
          </a:p>
        </p:txBody>
      </p:sp>
      <p:sp>
        <p:nvSpPr>
          <p:cNvPr id="835751" name="Rectangle 167"/>
          <p:cNvSpPr>
            <a:spLocks noChangeArrowheads="1"/>
          </p:cNvSpPr>
          <p:nvPr/>
        </p:nvSpPr>
        <p:spPr bwMode="auto">
          <a:xfrm>
            <a:off x="1043397" y="4506269"/>
            <a:ext cx="2130711"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关系表达式 </a:t>
            </a:r>
          </a:p>
        </p:txBody>
      </p:sp>
      <p:sp>
        <p:nvSpPr>
          <p:cNvPr id="835752" name="Rectangle 168"/>
          <p:cNvSpPr>
            <a:spLocks noChangeArrowheads="1"/>
          </p:cNvSpPr>
          <p:nvPr/>
        </p:nvSpPr>
        <p:spPr bwMode="auto">
          <a:xfrm>
            <a:off x="1101948" y="4941889"/>
            <a:ext cx="7226300" cy="701675"/>
          </a:xfrm>
          <a:prstGeom prst="rect">
            <a:avLst/>
          </a:prstGeom>
          <a:noFill/>
          <a:ln w="9525">
            <a:noFill/>
            <a:miter lim="800000"/>
            <a:headEnd/>
            <a:tailEnd/>
          </a:ln>
          <a:effectLst/>
        </p:spPr>
        <p:txBody>
          <a:bodyPr anchor="ctr">
            <a:spAutoFit/>
          </a:bodyPr>
          <a:lstStyle/>
          <a:p>
            <a:pPr indent="266700"/>
            <a:r>
              <a:rPr lang="zh-CN" altLang="en-US" sz="2000" b="1" dirty="0">
                <a:latin typeface="+mn-lt"/>
                <a:ea typeface="楷体" pitchFamily="49" charset="-122"/>
              </a:rPr>
              <a:t>用关系运算符连接起来的式子称为</a:t>
            </a:r>
            <a:r>
              <a:rPr lang="zh-CN" altLang="en-US" sz="2000" b="1" dirty="0">
                <a:solidFill>
                  <a:srgbClr val="C01920"/>
                </a:solidFill>
                <a:latin typeface="+mn-lt"/>
                <a:ea typeface="楷体" pitchFamily="49" charset="-122"/>
              </a:rPr>
              <a:t>关系表达式</a:t>
            </a:r>
            <a:r>
              <a:rPr lang="zh-CN" altLang="en-US" sz="2000" b="1" dirty="0">
                <a:latin typeface="+mn-lt"/>
                <a:ea typeface="楷体" pitchFamily="49" charset="-122"/>
              </a:rPr>
              <a:t>。</a:t>
            </a:r>
          </a:p>
          <a:p>
            <a:pPr indent="266700"/>
            <a:r>
              <a:rPr lang="zh-CN" altLang="en-US" sz="2000" b="1" dirty="0">
                <a:latin typeface="+mn-lt"/>
                <a:ea typeface="楷体" pitchFamily="49" charset="-122"/>
              </a:rPr>
              <a:t>关系表达式的一般形式为：</a:t>
            </a:r>
            <a:r>
              <a:rPr lang="zh-CN" altLang="en-US" sz="2000" b="1" dirty="0">
                <a:solidFill>
                  <a:srgbClr val="C01920"/>
                </a:solidFill>
                <a:latin typeface="+mn-lt"/>
                <a:ea typeface="楷体" pitchFamily="49" charset="-122"/>
              </a:rPr>
              <a:t>表达式 </a:t>
            </a:r>
            <a:r>
              <a:rPr lang="zh-CN" altLang="en-US" sz="2000" b="1" dirty="0">
                <a:solidFill>
                  <a:schemeClr val="accent1">
                    <a:lumMod val="50000"/>
                  </a:schemeClr>
                </a:solidFill>
                <a:latin typeface="+mn-lt"/>
                <a:ea typeface="楷体" pitchFamily="49" charset="-122"/>
              </a:rPr>
              <a:t>关系运算符 </a:t>
            </a:r>
            <a:r>
              <a:rPr lang="zh-CN" altLang="en-US" sz="2000" b="1" dirty="0">
                <a:solidFill>
                  <a:srgbClr val="C01920"/>
                </a:solidFill>
                <a:latin typeface="+mn-lt"/>
                <a:ea typeface="楷体" pitchFamily="49" charset="-122"/>
              </a:rPr>
              <a:t>表达式</a:t>
            </a:r>
          </a:p>
        </p:txBody>
      </p:sp>
      <p:sp>
        <p:nvSpPr>
          <p:cNvPr id="835753" name="Rectangle 169"/>
          <p:cNvSpPr>
            <a:spLocks noChangeArrowheads="1"/>
          </p:cNvSpPr>
          <p:nvPr/>
        </p:nvSpPr>
        <p:spPr bwMode="auto">
          <a:xfrm>
            <a:off x="1559496" y="5803256"/>
            <a:ext cx="9577064"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ea typeface="隶书" pitchFamily="49" charset="-122"/>
              </a:rPr>
              <a:t>例：   </a:t>
            </a:r>
            <a:r>
              <a:rPr lang="en-US" altLang="zh-CN" sz="2000" b="1" dirty="0">
                <a:effectLst>
                  <a:outerShdw blurRad="38100" dist="38100" dir="2700000" algn="tl">
                    <a:srgbClr val="C0C0C0"/>
                  </a:outerShdw>
                </a:effectLst>
              </a:rPr>
              <a:t>a + b &gt; c – d              x &gt; 3 / 2               'a' + 1 &lt; c              </a:t>
            </a:r>
            <a:r>
              <a:rPr lang="en-US" altLang="zh-CN" b="1" dirty="0">
                <a:effectLst>
                  <a:outerShdw blurRad="38100" dist="38100" dir="2700000" algn="tl">
                    <a:srgbClr val="C0C0C0"/>
                  </a:outerShdw>
                </a:effectLst>
              </a:rPr>
              <a:t>–</a:t>
            </a:r>
            <a:r>
              <a:rPr lang="en-US" altLang="zh-CN" b="1" dirty="0"/>
              <a:t> </a:t>
            </a:r>
            <a:r>
              <a:rPr lang="en-US" altLang="zh-CN" sz="2000" b="1" dirty="0" err="1">
                <a:effectLst>
                  <a:outerShdw blurRad="38100" dist="38100" dir="2700000" algn="tl">
                    <a:srgbClr val="C0C0C0"/>
                  </a:outerShdw>
                </a:effectLst>
              </a:rPr>
              <a:t>i</a:t>
            </a:r>
            <a:r>
              <a:rPr lang="en-US" altLang="zh-CN" sz="2000" b="1" dirty="0">
                <a:effectLst>
                  <a:outerShdw blurRad="38100" dist="38100" dir="2700000" algn="tl">
                    <a:srgbClr val="C0C0C0"/>
                  </a:outerShdw>
                </a:effectLst>
              </a:rPr>
              <a:t> – 5 * j == k + 1</a:t>
            </a:r>
            <a:r>
              <a:rPr lang="en-US" altLang="zh-CN" b="1" dirty="0"/>
              <a:t> </a:t>
            </a:r>
          </a:p>
        </p:txBody>
      </p:sp>
      <p:sp>
        <p:nvSpPr>
          <p:cNvPr id="835754" name="Text Box 170"/>
          <p:cNvSpPr txBox="1">
            <a:spLocks noChangeArrowheads="1"/>
          </p:cNvSpPr>
          <p:nvPr/>
        </p:nvSpPr>
        <p:spPr bwMode="auto">
          <a:xfrm>
            <a:off x="1991544" y="2945780"/>
            <a:ext cx="8397378" cy="12954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solidFill>
                  <a:srgbClr val="C01920"/>
                </a:solidFill>
                <a:latin typeface="隶书" pitchFamily="49" charset="-122"/>
                <a:ea typeface="隶书" pitchFamily="49" charset="-122"/>
              </a:rPr>
              <a:t>注意：</a:t>
            </a:r>
          </a:p>
          <a:p>
            <a:pPr lvl="1">
              <a:buClr>
                <a:srgbClr val="002060"/>
              </a:buClr>
              <a:buFont typeface="Wingdings" pitchFamily="2" charset="2"/>
              <a:buChar char="Ø"/>
            </a:pPr>
            <a:r>
              <a:rPr lang="zh-CN" altLang="en-US" b="1" dirty="0">
                <a:solidFill>
                  <a:srgbClr val="C01920"/>
                </a:solidFill>
                <a:latin typeface="隶书" pitchFamily="49" charset="-122"/>
                <a:ea typeface="隶书" pitchFamily="49" charset="-122"/>
              </a:rPr>
              <a:t> </a:t>
            </a:r>
            <a:r>
              <a:rPr lang="en-US" altLang="zh-CN" b="1" dirty="0">
                <a:solidFill>
                  <a:srgbClr val="002060"/>
                </a:solidFill>
                <a:latin typeface="隶书" pitchFamily="49" charset="-122"/>
                <a:ea typeface="隶书" pitchFamily="49" charset="-122"/>
              </a:rPr>
              <a:t>C</a:t>
            </a:r>
            <a:r>
              <a:rPr lang="zh-CN" altLang="en-US" b="1" dirty="0">
                <a:solidFill>
                  <a:srgbClr val="002060"/>
                </a:solidFill>
                <a:latin typeface="隶书" pitchFamily="49" charset="-122"/>
                <a:ea typeface="隶书" pitchFamily="49" charset="-122"/>
              </a:rPr>
              <a:t>语言用</a:t>
            </a:r>
            <a:r>
              <a:rPr lang="en-US" altLang="zh-CN" b="1" dirty="0">
                <a:solidFill>
                  <a:srgbClr val="002060"/>
                </a:solidFill>
                <a:latin typeface="隶书" pitchFamily="49" charset="-122"/>
                <a:ea typeface="隶书" pitchFamily="49" charset="-122"/>
              </a:rPr>
              <a:t>0</a:t>
            </a:r>
            <a:r>
              <a:rPr lang="zh-CN" altLang="en-US" b="1" dirty="0">
                <a:solidFill>
                  <a:srgbClr val="002060"/>
                </a:solidFill>
                <a:latin typeface="隶书" pitchFamily="49" charset="-122"/>
                <a:ea typeface="隶书" pitchFamily="49" charset="-122"/>
              </a:rPr>
              <a:t>表示假，非</a:t>
            </a:r>
            <a:r>
              <a:rPr lang="en-US" altLang="zh-CN" b="1" dirty="0">
                <a:solidFill>
                  <a:srgbClr val="002060"/>
                </a:solidFill>
                <a:latin typeface="隶书" pitchFamily="49" charset="-122"/>
                <a:ea typeface="隶书" pitchFamily="49" charset="-122"/>
              </a:rPr>
              <a:t>0</a:t>
            </a:r>
            <a:r>
              <a:rPr lang="zh-CN" altLang="en-US" b="1" dirty="0">
                <a:solidFill>
                  <a:srgbClr val="002060"/>
                </a:solidFill>
                <a:latin typeface="隶书" pitchFamily="49" charset="-122"/>
                <a:ea typeface="隶书" pitchFamily="49" charset="-122"/>
              </a:rPr>
              <a:t>表示真。</a:t>
            </a:r>
          </a:p>
          <a:p>
            <a:pPr lvl="1">
              <a:buClr>
                <a:srgbClr val="002060"/>
              </a:buClr>
              <a:buFont typeface="Wingdings" pitchFamily="2" charset="2"/>
              <a:buChar char="Ø"/>
            </a:pPr>
            <a:r>
              <a:rPr lang="zh-CN" altLang="en-US" b="1" dirty="0">
                <a:solidFill>
                  <a:srgbClr val="002060"/>
                </a:solidFill>
                <a:latin typeface="隶书" pitchFamily="49" charset="-122"/>
                <a:ea typeface="隶书" pitchFamily="49" charset="-122"/>
              </a:rPr>
              <a:t> 关系表达式的值不是</a:t>
            </a:r>
            <a:r>
              <a:rPr lang="en-US" altLang="zh-CN" b="1" dirty="0">
                <a:solidFill>
                  <a:srgbClr val="002060"/>
                </a:solidFill>
                <a:latin typeface="隶书" pitchFamily="49" charset="-122"/>
                <a:ea typeface="隶书" pitchFamily="49" charset="-122"/>
              </a:rPr>
              <a:t>0</a:t>
            </a:r>
            <a:r>
              <a:rPr lang="zh-CN" altLang="en-US" b="1" dirty="0">
                <a:solidFill>
                  <a:srgbClr val="002060"/>
                </a:solidFill>
                <a:latin typeface="隶书" pitchFamily="49" charset="-122"/>
                <a:ea typeface="隶书" pitchFamily="49" charset="-122"/>
              </a:rPr>
              <a:t>就是</a:t>
            </a:r>
            <a:r>
              <a:rPr lang="en-US" altLang="zh-CN" b="1" dirty="0">
                <a:solidFill>
                  <a:srgbClr val="002060"/>
                </a:solidFill>
                <a:latin typeface="隶书" pitchFamily="49" charset="-122"/>
                <a:ea typeface="隶书" pitchFamily="49" charset="-122"/>
              </a:rPr>
              <a:t>1</a:t>
            </a:r>
            <a:r>
              <a:rPr lang="zh-CN" altLang="en-US" b="1" dirty="0">
                <a:solidFill>
                  <a:srgbClr val="002060"/>
                </a:solidFill>
                <a:latin typeface="隶书" pitchFamily="49" charset="-122"/>
                <a:ea typeface="隶书" pitchFamily="49" charset="-122"/>
              </a:rPr>
              <a:t>，</a:t>
            </a:r>
            <a:r>
              <a:rPr lang="en-US" altLang="zh-CN" b="1" dirty="0">
                <a:solidFill>
                  <a:srgbClr val="002060"/>
                </a:solidFill>
                <a:latin typeface="隶书" pitchFamily="49" charset="-122"/>
                <a:ea typeface="隶书" pitchFamily="49" charset="-122"/>
              </a:rPr>
              <a:t>0</a:t>
            </a:r>
            <a:r>
              <a:rPr lang="zh-CN" altLang="en-US" b="1" dirty="0">
                <a:solidFill>
                  <a:srgbClr val="002060"/>
                </a:solidFill>
                <a:latin typeface="隶书" pitchFamily="49" charset="-122"/>
                <a:ea typeface="隶书" pitchFamily="49" charset="-122"/>
              </a:rPr>
              <a:t>表示假，</a:t>
            </a:r>
            <a:r>
              <a:rPr lang="en-US" altLang="zh-CN" b="1" dirty="0">
                <a:solidFill>
                  <a:srgbClr val="002060"/>
                </a:solidFill>
                <a:latin typeface="隶书" pitchFamily="49" charset="-122"/>
                <a:ea typeface="隶书" pitchFamily="49" charset="-122"/>
              </a:rPr>
              <a:t>1</a:t>
            </a:r>
            <a:r>
              <a:rPr lang="zh-CN" altLang="en-US" b="1" dirty="0">
                <a:solidFill>
                  <a:srgbClr val="002060"/>
                </a:solidFill>
                <a:latin typeface="隶书" pitchFamily="49" charset="-122"/>
                <a:ea typeface="隶书" pitchFamily="49" charset="-122"/>
              </a:rPr>
              <a:t>表示真。</a:t>
            </a:r>
          </a:p>
        </p:txBody>
      </p:sp>
      <p:sp>
        <p:nvSpPr>
          <p:cNvPr id="14" name="Rectangle 4">
            <a:extLst>
              <a:ext uri="{FF2B5EF4-FFF2-40B4-BE49-F238E27FC236}">
                <a16:creationId xmlns:a16="http://schemas.microsoft.com/office/drawing/2014/main" id="{99A8D7F2-2AFE-4083-95EC-377C6C87E36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5750"/>
                                        </p:tgtEl>
                                        <p:attrNameLst>
                                          <p:attrName>style.visibility</p:attrName>
                                        </p:attrNameLst>
                                      </p:cBhvr>
                                      <p:to>
                                        <p:strVal val="visible"/>
                                      </p:to>
                                    </p:set>
                                    <p:anim calcmode="lin" valueType="num">
                                      <p:cBhvr additive="base">
                                        <p:cTn id="7" dur="500" fill="hold"/>
                                        <p:tgtEl>
                                          <p:spTgt spid="835750"/>
                                        </p:tgtEl>
                                        <p:attrNameLst>
                                          <p:attrName>ppt_x</p:attrName>
                                        </p:attrNameLst>
                                      </p:cBhvr>
                                      <p:tavLst>
                                        <p:tav tm="0">
                                          <p:val>
                                            <p:strVal val="0-#ppt_w/2"/>
                                          </p:val>
                                        </p:tav>
                                        <p:tav tm="100000">
                                          <p:val>
                                            <p:strVal val="#ppt_x"/>
                                          </p:val>
                                        </p:tav>
                                      </p:tavLst>
                                    </p:anim>
                                    <p:anim calcmode="lin" valueType="num">
                                      <p:cBhvr additive="base">
                                        <p:cTn id="8" dur="500" fill="hold"/>
                                        <p:tgtEl>
                                          <p:spTgt spid="8357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35749"/>
                                        </p:tgtEl>
                                        <p:attrNameLst>
                                          <p:attrName>style.visibility</p:attrName>
                                        </p:attrNameLst>
                                      </p:cBhvr>
                                      <p:to>
                                        <p:strVal val="visible"/>
                                      </p:to>
                                    </p:set>
                                    <p:animEffect transition="in" filter="box(out)">
                                      <p:cBhvr>
                                        <p:cTn id="13" dur="500"/>
                                        <p:tgtEl>
                                          <p:spTgt spid="835749"/>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35751"/>
                                        </p:tgtEl>
                                        <p:attrNameLst>
                                          <p:attrName>style.visibility</p:attrName>
                                        </p:attrNameLst>
                                      </p:cBhvr>
                                      <p:to>
                                        <p:strVal val="visible"/>
                                      </p:to>
                                    </p:set>
                                    <p:anim calcmode="lin" valueType="num">
                                      <p:cBhvr additive="base">
                                        <p:cTn id="18" dur="500" fill="hold"/>
                                        <p:tgtEl>
                                          <p:spTgt spid="835751"/>
                                        </p:tgtEl>
                                        <p:attrNameLst>
                                          <p:attrName>ppt_x</p:attrName>
                                        </p:attrNameLst>
                                      </p:cBhvr>
                                      <p:tavLst>
                                        <p:tav tm="0">
                                          <p:val>
                                            <p:strVal val="0-#ppt_w/2"/>
                                          </p:val>
                                        </p:tav>
                                        <p:tav tm="100000">
                                          <p:val>
                                            <p:strVal val="#ppt_x"/>
                                          </p:val>
                                        </p:tav>
                                      </p:tavLst>
                                    </p:anim>
                                    <p:anim calcmode="lin" valueType="num">
                                      <p:cBhvr additive="base">
                                        <p:cTn id="19" dur="500" fill="hold"/>
                                        <p:tgtEl>
                                          <p:spTgt spid="8357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835752"/>
                                        </p:tgtEl>
                                        <p:attrNameLst>
                                          <p:attrName>style.visibility</p:attrName>
                                        </p:attrNameLst>
                                      </p:cBhvr>
                                      <p:to>
                                        <p:strVal val="visible"/>
                                      </p:to>
                                    </p:set>
                                    <p:animEffect transition="in" filter="box(out)">
                                      <p:cBhvr>
                                        <p:cTn id="24" dur="500"/>
                                        <p:tgtEl>
                                          <p:spTgt spid="835752"/>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835753"/>
                                        </p:tgtEl>
                                        <p:attrNameLst>
                                          <p:attrName>style.visibility</p:attrName>
                                        </p:attrNameLst>
                                      </p:cBhvr>
                                      <p:to>
                                        <p:strVal val="visible"/>
                                      </p:to>
                                    </p:set>
                                    <p:animEffect transition="in" filter="box(out)">
                                      <p:cBhvr>
                                        <p:cTn id="29" dur="500"/>
                                        <p:tgtEl>
                                          <p:spTgt spid="835753"/>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35754"/>
                                        </p:tgtEl>
                                        <p:attrNameLst>
                                          <p:attrName>style.visibility</p:attrName>
                                        </p:attrNameLst>
                                      </p:cBhvr>
                                      <p:to>
                                        <p:strVal val="visible"/>
                                      </p:to>
                                    </p:set>
                                    <p:animEffect transition="in" filter="box(out)">
                                      <p:cBhvr>
                                        <p:cTn id="34" dur="500"/>
                                        <p:tgtEl>
                                          <p:spTgt spid="835754"/>
                                        </p:tgtEl>
                                      </p:cBhvr>
                                    </p:animEffect>
                                  </p:childTnLst>
                                  <p:subTnLst>
                                    <p:audio>
                                      <p:cMediaNode>
                                        <p:cTn display="0" masterRel="sameClick">
                                          <p:stCondLst>
                                            <p:cond evt="begin" delay="0">
                                              <p:tn val="3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750" grpId="0"/>
      <p:bldP spid="835751" grpId="0"/>
      <p:bldP spid="835752" grpId="0"/>
      <p:bldP spid="835753" grpId="0" animBg="1"/>
      <p:bldP spid="83575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7672" name="Rectangle 40"/>
          <p:cNvSpPr>
            <a:spLocks noChangeArrowheads="1"/>
          </p:cNvSpPr>
          <p:nvPr/>
        </p:nvSpPr>
        <p:spPr bwMode="auto">
          <a:xfrm>
            <a:off x="1181408" y="1392335"/>
            <a:ext cx="352372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关系运算符的优先级</a:t>
            </a:r>
            <a:r>
              <a:rPr lang="zh-CN" altLang="en-US" dirty="0">
                <a:solidFill>
                  <a:srgbClr val="C01920"/>
                </a:solidFill>
                <a:latin typeface="楷体" pitchFamily="49" charset="-122"/>
                <a:ea typeface="楷体" pitchFamily="49" charset="-122"/>
              </a:rPr>
              <a:t> </a:t>
            </a:r>
          </a:p>
        </p:txBody>
      </p:sp>
      <p:sp>
        <p:nvSpPr>
          <p:cNvPr id="837683" name="Rectangle 51"/>
          <p:cNvSpPr>
            <a:spLocks noChangeArrowheads="1"/>
          </p:cNvSpPr>
          <p:nvPr/>
        </p:nvSpPr>
        <p:spPr bwMode="auto">
          <a:xfrm>
            <a:off x="1181408" y="2821149"/>
            <a:ext cx="5794085" cy="2263775"/>
          </a:xfrm>
          <a:prstGeom prst="rect">
            <a:avLst/>
          </a:prstGeom>
          <a:gradFill>
            <a:gsLst>
              <a:gs pos="0">
                <a:srgbClr val="CFCFD1"/>
              </a:gs>
              <a:gs pos="100000">
                <a:schemeClr val="bg1">
                  <a:lumMod val="95000"/>
                </a:schemeClr>
              </a:gs>
            </a:gsLst>
            <a:path path="circle">
              <a:fillToRect l="100000" t="100000"/>
            </a:path>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sz="2000" b="1" dirty="0">
                <a:solidFill>
                  <a:srgbClr val="C01920"/>
                </a:solidFill>
                <a:latin typeface="隶书" pitchFamily="49" charset="-122"/>
                <a:ea typeface="隶书" pitchFamily="49" charset="-122"/>
              </a:rPr>
              <a:t>例如：</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c &gt; a + b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 c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&lt; c            </a:t>
            </a:r>
            <a:r>
              <a:rPr lang="zh-CN" altLang="en-US" sz="2000" b="1" dirty="0">
                <a:effectLst>
                  <a:outerShdw blurRad="38100" dist="38100" dir="2700000" algn="tl">
                    <a:srgbClr val="C0C0C0"/>
                  </a:outerShdw>
                </a:effectLst>
                <a:latin typeface="+mn-lt"/>
                <a:ea typeface="楷体" pitchFamily="49" charset="-122"/>
              </a:rPr>
              <a:t>等价于： </a:t>
            </a:r>
            <a:r>
              <a:rPr lang="zh-CN" altLang="en-US" sz="2000" dirty="0">
                <a:latin typeface="+mn-lt"/>
                <a:ea typeface="楷体" pitchFamily="49" charset="-122"/>
              </a:rPr>
              <a:t> </a:t>
            </a:r>
            <a:endParaRPr lang="zh-CN" altLang="en-US" sz="2000" b="1" dirty="0">
              <a:effectLst>
                <a:outerShdw blurRad="38100" dist="38100" dir="2700000" algn="tl">
                  <a:srgbClr val="C0C0C0"/>
                </a:outerShdw>
              </a:effectLst>
              <a:latin typeface="+mn-lt"/>
              <a:ea typeface="楷体" pitchFamily="49" charset="-122"/>
            </a:endParaRP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&gt; c              </a:t>
            </a:r>
            <a:r>
              <a:rPr lang="zh-CN" altLang="en-US" sz="2000" b="1" dirty="0">
                <a:effectLst>
                  <a:outerShdw blurRad="38100" dist="38100" dir="2700000" algn="tl">
                    <a:srgbClr val="C0C0C0"/>
                  </a:outerShdw>
                </a:effectLst>
                <a:latin typeface="+mn-lt"/>
                <a:ea typeface="楷体" pitchFamily="49" charset="-122"/>
              </a:rPr>
              <a:t>等价于：</a:t>
            </a:r>
            <a:r>
              <a:rPr lang="zh-CN" altLang="en-US" sz="2000" dirty="0">
                <a:latin typeface="+mn-lt"/>
                <a:ea typeface="楷体" pitchFamily="49" charset="-122"/>
              </a:rPr>
              <a:t>  </a:t>
            </a:r>
            <a:endParaRPr lang="zh-CN" altLang="en-US" sz="2000" b="1" dirty="0">
              <a:effectLst>
                <a:outerShdw blurRad="38100" dist="38100" dir="2700000" algn="tl">
                  <a:srgbClr val="C0C0C0"/>
                </a:outerShdw>
              </a:effectLst>
              <a:latin typeface="+mn-lt"/>
              <a:ea typeface="楷体" pitchFamily="49" charset="-122"/>
            </a:endParaRP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&gt;&gt; 2 &lt; c + d      </a:t>
            </a:r>
            <a:r>
              <a:rPr lang="zh-CN" altLang="en-US" sz="2000" b="1" dirty="0">
                <a:effectLst>
                  <a:outerShdw blurRad="38100" dist="38100" dir="2700000" algn="tl">
                    <a:srgbClr val="C0C0C0"/>
                  </a:outerShdw>
                </a:effectLst>
                <a:latin typeface="+mn-lt"/>
                <a:ea typeface="楷体" pitchFamily="49" charset="-122"/>
              </a:rPr>
              <a:t>等价于： </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&amp; 4 &gt; b | c        </a:t>
            </a:r>
            <a:r>
              <a:rPr lang="zh-CN" altLang="en-US" sz="2000" b="1" dirty="0">
                <a:effectLst>
                  <a:outerShdw blurRad="38100" dist="38100" dir="2700000" algn="tl">
                    <a:srgbClr val="C0C0C0"/>
                  </a:outerShdw>
                </a:effectLst>
                <a:latin typeface="+mn-lt"/>
                <a:ea typeface="楷体" pitchFamily="49" charset="-122"/>
              </a:rPr>
              <a:t>等价于： </a:t>
            </a:r>
          </a:p>
        </p:txBody>
      </p:sp>
      <p:sp>
        <p:nvSpPr>
          <p:cNvPr id="837684" name="Rectangle 52"/>
          <p:cNvSpPr>
            <a:spLocks noChangeArrowheads="1"/>
          </p:cNvSpPr>
          <p:nvPr/>
        </p:nvSpPr>
        <p:spPr bwMode="auto">
          <a:xfrm>
            <a:off x="4881350" y="3104072"/>
            <a:ext cx="1276350" cy="396875"/>
          </a:xfrm>
          <a:prstGeom prst="rect">
            <a:avLst/>
          </a:prstGeom>
          <a:noFill/>
          <a:ln w="9525">
            <a:noFill/>
            <a:miter lim="800000"/>
            <a:headEnd/>
            <a:tailEnd/>
          </a:ln>
          <a:effectLst/>
        </p:spPr>
        <p:txBody>
          <a:bodyPr wrap="none">
            <a:spAutoFit/>
          </a:bodyPr>
          <a:lstStyle/>
          <a:p>
            <a:r>
              <a:rPr lang="en-US" altLang="zh-CN" sz="2000" b="1" dirty="0">
                <a:solidFill>
                  <a:srgbClr val="002060"/>
                </a:solidFill>
              </a:rPr>
              <a:t>c &gt; (a + b)</a:t>
            </a:r>
          </a:p>
        </p:txBody>
      </p:sp>
      <p:sp>
        <p:nvSpPr>
          <p:cNvPr id="837685" name="Rectangle 53"/>
          <p:cNvSpPr>
            <a:spLocks noChangeArrowheads="1"/>
          </p:cNvSpPr>
          <p:nvPr/>
        </p:nvSpPr>
        <p:spPr bwMode="auto">
          <a:xfrm>
            <a:off x="4848012" y="3426335"/>
            <a:ext cx="1360488" cy="396875"/>
          </a:xfrm>
          <a:prstGeom prst="rect">
            <a:avLst/>
          </a:prstGeom>
          <a:noFill/>
          <a:ln w="9525">
            <a:noFill/>
            <a:miter lim="800000"/>
            <a:headEnd/>
            <a:tailEnd/>
          </a:ln>
          <a:effectLst/>
        </p:spPr>
        <p:txBody>
          <a:bodyPr wrap="none">
            <a:spAutoFit/>
          </a:bodyPr>
          <a:lstStyle/>
          <a:p>
            <a:r>
              <a:rPr lang="en-US" altLang="zh-CN" sz="2000" b="1" dirty="0">
                <a:solidFill>
                  <a:srgbClr val="002060"/>
                </a:solidFill>
              </a:rPr>
              <a:t>(a &gt; b) != c</a:t>
            </a:r>
          </a:p>
        </p:txBody>
      </p:sp>
      <p:sp>
        <p:nvSpPr>
          <p:cNvPr id="837686" name="Rectangle 54"/>
          <p:cNvSpPr>
            <a:spLocks noChangeArrowheads="1"/>
          </p:cNvSpPr>
          <p:nvPr/>
        </p:nvSpPr>
        <p:spPr bwMode="auto">
          <a:xfrm>
            <a:off x="4855950" y="3708910"/>
            <a:ext cx="1420812" cy="396875"/>
          </a:xfrm>
          <a:prstGeom prst="rect">
            <a:avLst/>
          </a:prstGeom>
          <a:noFill/>
          <a:ln w="9525">
            <a:noFill/>
            <a:miter lim="800000"/>
            <a:headEnd/>
            <a:tailEnd/>
          </a:ln>
          <a:effectLst/>
        </p:spPr>
        <p:txBody>
          <a:bodyPr wrap="none">
            <a:spAutoFit/>
          </a:bodyPr>
          <a:lstStyle/>
          <a:p>
            <a:r>
              <a:rPr lang="en-US" altLang="zh-CN" sz="2000" b="1">
                <a:solidFill>
                  <a:srgbClr val="002060"/>
                </a:solidFill>
              </a:rPr>
              <a:t>a == (b &lt; c)</a:t>
            </a:r>
          </a:p>
        </p:txBody>
      </p:sp>
      <p:sp>
        <p:nvSpPr>
          <p:cNvPr id="837687" name="Rectangle 55"/>
          <p:cNvSpPr>
            <a:spLocks noChangeArrowheads="1"/>
          </p:cNvSpPr>
          <p:nvPr/>
        </p:nvSpPr>
        <p:spPr bwMode="auto">
          <a:xfrm>
            <a:off x="4848012" y="4002597"/>
            <a:ext cx="1276350" cy="396875"/>
          </a:xfrm>
          <a:prstGeom prst="rect">
            <a:avLst/>
          </a:prstGeom>
          <a:noFill/>
          <a:ln w="9525">
            <a:noFill/>
            <a:miter lim="800000"/>
            <a:headEnd/>
            <a:tailEnd/>
          </a:ln>
          <a:effectLst/>
        </p:spPr>
        <p:txBody>
          <a:bodyPr wrap="none">
            <a:spAutoFit/>
          </a:bodyPr>
          <a:lstStyle/>
          <a:p>
            <a:r>
              <a:rPr lang="en-US" altLang="zh-CN" sz="2000" b="1">
                <a:solidFill>
                  <a:srgbClr val="002060"/>
                </a:solidFill>
              </a:rPr>
              <a:t>a = (b &gt; c)</a:t>
            </a:r>
          </a:p>
        </p:txBody>
      </p:sp>
      <p:sp>
        <p:nvSpPr>
          <p:cNvPr id="837688" name="Rectangle 56"/>
          <p:cNvSpPr>
            <a:spLocks noChangeArrowheads="1"/>
          </p:cNvSpPr>
          <p:nvPr/>
        </p:nvSpPr>
        <p:spPr bwMode="auto">
          <a:xfrm>
            <a:off x="4805150" y="4320097"/>
            <a:ext cx="1987550" cy="396875"/>
          </a:xfrm>
          <a:prstGeom prst="rect">
            <a:avLst/>
          </a:prstGeom>
          <a:noFill/>
          <a:ln w="9525">
            <a:noFill/>
            <a:miter lim="800000"/>
            <a:headEnd/>
            <a:tailEnd/>
          </a:ln>
          <a:effectLst/>
        </p:spPr>
        <p:txBody>
          <a:bodyPr wrap="none">
            <a:spAutoFit/>
          </a:bodyPr>
          <a:lstStyle/>
          <a:p>
            <a:r>
              <a:rPr lang="en-US" altLang="zh-CN" sz="2000" b="1">
                <a:solidFill>
                  <a:srgbClr val="002060"/>
                </a:solidFill>
              </a:rPr>
              <a:t>(a &gt;&gt; 2) &lt; (c + d)</a:t>
            </a:r>
          </a:p>
        </p:txBody>
      </p:sp>
      <p:sp>
        <p:nvSpPr>
          <p:cNvPr id="837689" name="Rectangle 57"/>
          <p:cNvSpPr>
            <a:spLocks noChangeArrowheads="1"/>
          </p:cNvSpPr>
          <p:nvPr/>
        </p:nvSpPr>
        <p:spPr bwMode="auto">
          <a:xfrm>
            <a:off x="4817850" y="4624897"/>
            <a:ext cx="1820862" cy="396875"/>
          </a:xfrm>
          <a:prstGeom prst="rect">
            <a:avLst/>
          </a:prstGeom>
          <a:noFill/>
          <a:ln w="9525">
            <a:noFill/>
            <a:miter lim="800000"/>
            <a:headEnd/>
            <a:tailEnd/>
          </a:ln>
          <a:effectLst/>
        </p:spPr>
        <p:txBody>
          <a:bodyPr wrap="none">
            <a:spAutoFit/>
          </a:bodyPr>
          <a:lstStyle/>
          <a:p>
            <a:r>
              <a:rPr lang="en-US" altLang="zh-CN" sz="2000" b="1">
                <a:solidFill>
                  <a:srgbClr val="002060"/>
                </a:solidFill>
              </a:rPr>
              <a:t>(a &amp; (4 &gt; b)) | c</a:t>
            </a:r>
          </a:p>
        </p:txBody>
      </p:sp>
      <p:sp>
        <p:nvSpPr>
          <p:cNvPr id="837690" name="Rectangle 58"/>
          <p:cNvSpPr>
            <a:spLocks noChangeArrowheads="1"/>
          </p:cNvSpPr>
          <p:nvPr/>
        </p:nvSpPr>
        <p:spPr bwMode="auto">
          <a:xfrm>
            <a:off x="1236984" y="5413349"/>
            <a:ext cx="10549765" cy="1225550"/>
          </a:xfrm>
          <a:prstGeom prst="rect">
            <a:avLst/>
          </a:prstGeom>
          <a:gradFill flip="none" rotWithShape="1">
            <a:gsLst>
              <a:gs pos="0">
                <a:srgbClr val="CFCFD1"/>
              </a:gs>
              <a:gs pos="100000">
                <a:schemeClr val="bg1">
                  <a:lumMod val="95000"/>
                </a:schemeClr>
              </a:gs>
            </a:gsLst>
            <a:path path="circle">
              <a:fillToRect l="100000" t="100000"/>
            </a:path>
            <a:tileRect r="-100000" b="-100000"/>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002060"/>
                </a:solidFill>
                <a:latin typeface="+mn-lt"/>
                <a:ea typeface="楷体" pitchFamily="49" charset="-122"/>
              </a:rPr>
              <a:t>已知：</a:t>
            </a:r>
            <a:r>
              <a:rPr lang="en-US" altLang="zh-CN" b="1" dirty="0">
                <a:latin typeface="+mn-lt"/>
                <a:ea typeface="楷体" pitchFamily="49" charset="-122"/>
              </a:rPr>
              <a:t>a = 1; b = 2; c = 3;</a:t>
            </a:r>
          </a:p>
          <a:p>
            <a:pPr indent="266700"/>
            <a:r>
              <a:rPr lang="en-US" altLang="zh-CN" b="1" dirty="0">
                <a:latin typeface="+mn-lt"/>
                <a:ea typeface="楷体" pitchFamily="49" charset="-122"/>
              </a:rPr>
              <a:t>   </a:t>
            </a:r>
            <a:r>
              <a:rPr lang="en-US" altLang="zh-CN" b="1" dirty="0">
                <a:solidFill>
                  <a:srgbClr val="002060"/>
                </a:solidFill>
                <a:latin typeface="+mn-lt"/>
                <a:ea typeface="楷体" pitchFamily="49" charset="-122"/>
              </a:rPr>
              <a:t> </a:t>
            </a:r>
            <a:r>
              <a:rPr lang="zh-CN" altLang="en-US" b="1" dirty="0">
                <a:solidFill>
                  <a:srgbClr val="002060"/>
                </a:solidFill>
                <a:latin typeface="+mn-lt"/>
                <a:ea typeface="楷体" pitchFamily="49" charset="-122"/>
              </a:rPr>
              <a:t>问：</a:t>
            </a:r>
            <a:r>
              <a:rPr lang="en-US" altLang="zh-CN" b="1" dirty="0">
                <a:latin typeface="+mn-lt"/>
                <a:ea typeface="楷体" pitchFamily="49" charset="-122"/>
              </a:rPr>
              <a:t>d = a != c == a &lt; b &lt; c;</a:t>
            </a:r>
            <a:r>
              <a:rPr lang="zh-CN" altLang="en-US" b="1" dirty="0">
                <a:latin typeface="+mn-lt"/>
                <a:ea typeface="楷体" pitchFamily="49" charset="-122"/>
              </a:rPr>
              <a:t>的值？</a:t>
            </a:r>
          </a:p>
          <a:p>
            <a:pPr indent="266700"/>
            <a:r>
              <a:rPr lang="zh-CN" altLang="en-US" b="1" dirty="0">
                <a:latin typeface="+mn-lt"/>
                <a:ea typeface="楷体" pitchFamily="49" charset="-122"/>
              </a:rPr>
              <a:t>                    </a:t>
            </a:r>
            <a:endParaRPr lang="zh-CN" altLang="en-US" dirty="0">
              <a:latin typeface="+mn-lt"/>
              <a:ea typeface="楷体" pitchFamily="49" charset="-122"/>
            </a:endParaRPr>
          </a:p>
        </p:txBody>
      </p:sp>
      <p:sp>
        <p:nvSpPr>
          <p:cNvPr id="837691" name="Rectangle 59"/>
          <p:cNvSpPr>
            <a:spLocks noChangeArrowheads="1"/>
          </p:cNvSpPr>
          <p:nvPr/>
        </p:nvSpPr>
        <p:spPr bwMode="auto">
          <a:xfrm>
            <a:off x="1472627" y="6148010"/>
            <a:ext cx="7524817" cy="461665"/>
          </a:xfrm>
          <a:prstGeom prst="rect">
            <a:avLst/>
          </a:prstGeom>
          <a:noFill/>
          <a:ln w="9525">
            <a:noFill/>
            <a:miter lim="800000"/>
            <a:headEnd/>
            <a:tailEnd/>
          </a:ln>
          <a:effectLst/>
        </p:spPr>
        <p:txBody>
          <a:bodyPr wrap="none">
            <a:spAutoFit/>
          </a:bodyPr>
          <a:lstStyle/>
          <a:p>
            <a:r>
              <a:rPr lang="zh-CN" altLang="en-US" b="1" dirty="0">
                <a:solidFill>
                  <a:srgbClr val="C01920"/>
                </a:solidFill>
                <a:latin typeface="+mn-lt"/>
                <a:ea typeface="楷体" pitchFamily="49" charset="-122"/>
              </a:rPr>
              <a:t>答：</a:t>
            </a:r>
            <a:r>
              <a:rPr lang="en-US" altLang="zh-CN" b="1" dirty="0">
                <a:solidFill>
                  <a:srgbClr val="C01920"/>
                </a:solidFill>
                <a:latin typeface="+mn-lt"/>
                <a:ea typeface="楷体" pitchFamily="49" charset="-122"/>
              </a:rPr>
              <a:t>d </a:t>
            </a:r>
            <a:r>
              <a:rPr lang="zh-CN" altLang="en-US" b="1" dirty="0">
                <a:solidFill>
                  <a:srgbClr val="C01920"/>
                </a:solidFill>
                <a:latin typeface="+mn-lt"/>
                <a:ea typeface="楷体" pitchFamily="49" charset="-122"/>
              </a:rPr>
              <a:t>的值为</a:t>
            </a:r>
            <a:r>
              <a:rPr lang="en-US" altLang="zh-CN" b="1" dirty="0">
                <a:solidFill>
                  <a:srgbClr val="C01920"/>
                </a:solidFill>
                <a:latin typeface="+mn-lt"/>
                <a:ea typeface="楷体" pitchFamily="49" charset="-122"/>
              </a:rPr>
              <a:t>1</a:t>
            </a:r>
            <a:r>
              <a:rPr lang="zh-CN" altLang="en-US" b="1" dirty="0">
                <a:solidFill>
                  <a:srgbClr val="C01920"/>
                </a:solidFill>
                <a:latin typeface="+mn-lt"/>
                <a:ea typeface="楷体" pitchFamily="49" charset="-122"/>
              </a:rPr>
              <a:t>。 等价于：</a:t>
            </a:r>
            <a:r>
              <a:rPr lang="en-US" altLang="zh-CN" b="1" dirty="0">
                <a:solidFill>
                  <a:srgbClr val="C01920"/>
                </a:solidFill>
                <a:latin typeface="+mn-lt"/>
                <a:ea typeface="楷体" pitchFamily="49" charset="-122"/>
              </a:rPr>
              <a:t>d = ((a != c) == ((a &lt; b) &lt; c));</a:t>
            </a:r>
          </a:p>
        </p:txBody>
      </p:sp>
      <p:sp>
        <p:nvSpPr>
          <p:cNvPr id="837692" name="Rectangle 60"/>
          <p:cNvSpPr>
            <a:spLocks noChangeArrowheads="1"/>
          </p:cNvSpPr>
          <p:nvPr/>
        </p:nvSpPr>
        <p:spPr bwMode="auto">
          <a:xfrm>
            <a:off x="7256024" y="2850571"/>
            <a:ext cx="4606925" cy="2808287"/>
          </a:xfrm>
          <a:prstGeom prst="rect">
            <a:avLst/>
          </a:prstGeom>
          <a:gradFill flip="none" rotWithShape="1">
            <a:gsLst>
              <a:gs pos="0">
                <a:srgbClr val="CFCFD1"/>
              </a:gs>
              <a:gs pos="100000">
                <a:schemeClr val="bg1">
                  <a:lumMod val="95000"/>
                </a:schemeClr>
              </a:gs>
            </a:gsLst>
            <a:path path="circle">
              <a:fillToRect l="100000" t="100000"/>
            </a:path>
            <a:tileRect r="-100000" b="-100000"/>
          </a:gradFill>
          <a:ln w="38100" cap="flat" cmpd="sng">
            <a:solidFill>
              <a:srgbClr val="C01920"/>
            </a:solidFill>
            <a:prstDash val="solid"/>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pPr marL="342900" indent="-342900">
              <a:spcBef>
                <a:spcPct val="20000"/>
              </a:spcBef>
            </a:pPr>
            <a:r>
              <a:rPr lang="zh-CN" altLang="en-US" b="1" dirty="0">
                <a:solidFill>
                  <a:srgbClr val="C01920"/>
                </a:solidFill>
                <a:ea typeface="隶书" pitchFamily="49" charset="-122"/>
              </a:rPr>
              <a:t>例：</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3, b = 2, c = 1, d, f;</a:t>
            </a:r>
          </a:p>
          <a:p>
            <a:pPr marL="342900" indent="-342900">
              <a:spcBef>
                <a:spcPct val="20000"/>
              </a:spcBef>
            </a:pPr>
            <a:r>
              <a:rPr lang="en-US" altLang="zh-CN" b="1" dirty="0">
                <a:effectLst>
                  <a:outerShdw blurRad="38100" dist="38100" dir="2700000" algn="tl">
                    <a:srgbClr val="FFFFFF"/>
                  </a:outerShdw>
                </a:effectLst>
              </a:rPr>
              <a:t>        a &gt; b </a:t>
            </a:r>
          </a:p>
          <a:p>
            <a:pPr marL="342900" indent="-342900">
              <a:spcBef>
                <a:spcPct val="20000"/>
              </a:spcBef>
            </a:pPr>
            <a:r>
              <a:rPr lang="en-US" altLang="zh-CN" b="1" dirty="0">
                <a:effectLst>
                  <a:outerShdw blurRad="38100" dist="38100" dir="2700000" algn="tl">
                    <a:srgbClr val="FFFFFF"/>
                  </a:outerShdw>
                </a:effectLst>
              </a:rPr>
              <a:t>       (a &gt; b) == c</a:t>
            </a:r>
          </a:p>
          <a:p>
            <a:pPr marL="342900" indent="-342900">
              <a:spcBef>
                <a:spcPct val="20000"/>
              </a:spcBef>
            </a:pPr>
            <a:r>
              <a:rPr lang="en-US" altLang="zh-CN" b="1" dirty="0">
                <a:effectLst>
                  <a:outerShdw blurRad="38100" dist="38100" dir="2700000" algn="tl">
                    <a:srgbClr val="FFFFFF"/>
                  </a:outerShdw>
                </a:effectLst>
              </a:rPr>
              <a:t>       b + c &lt; a</a:t>
            </a:r>
          </a:p>
          <a:p>
            <a:pPr marL="342900" indent="-342900">
              <a:spcBef>
                <a:spcPct val="20000"/>
              </a:spcBef>
            </a:pPr>
            <a:r>
              <a:rPr lang="en-US" altLang="zh-CN" b="1" dirty="0">
                <a:effectLst>
                  <a:outerShdw blurRad="38100" dist="38100" dir="2700000" algn="tl">
                    <a:srgbClr val="FFFFFF"/>
                  </a:outerShdw>
                </a:effectLst>
              </a:rPr>
              <a:t>       d = a &gt; b</a:t>
            </a:r>
          </a:p>
          <a:p>
            <a:pPr marL="342900" indent="-342900">
              <a:spcBef>
                <a:spcPct val="20000"/>
              </a:spcBef>
            </a:pPr>
            <a:r>
              <a:rPr lang="en-US" altLang="zh-CN" b="1" dirty="0">
                <a:effectLst>
                  <a:outerShdw blurRad="38100" dist="38100" dir="2700000" algn="tl">
                    <a:srgbClr val="FFFFFF"/>
                  </a:outerShdw>
                </a:effectLst>
              </a:rPr>
              <a:t>       f = a &gt; b &gt; c</a:t>
            </a:r>
          </a:p>
        </p:txBody>
      </p:sp>
      <p:sp>
        <p:nvSpPr>
          <p:cNvPr id="837693" name="Text Box 61"/>
          <p:cNvSpPr txBox="1">
            <a:spLocks noChangeArrowheads="1"/>
          </p:cNvSpPr>
          <p:nvPr/>
        </p:nvSpPr>
        <p:spPr bwMode="auto">
          <a:xfrm>
            <a:off x="9937258" y="3334225"/>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表达式值1</a:t>
            </a:r>
            <a:endParaRPr lang="en-US" altLang="zh-CN" sz="2000" b="1" dirty="0">
              <a:solidFill>
                <a:srgbClr val="002060"/>
              </a:solidFill>
              <a:latin typeface="+mn-lt"/>
              <a:ea typeface="楷体" pitchFamily="49" charset="-122"/>
            </a:endParaRPr>
          </a:p>
        </p:txBody>
      </p:sp>
      <p:sp>
        <p:nvSpPr>
          <p:cNvPr id="837694" name="Text Box 62"/>
          <p:cNvSpPr txBox="1">
            <a:spLocks noChangeArrowheads="1"/>
          </p:cNvSpPr>
          <p:nvPr/>
        </p:nvSpPr>
        <p:spPr bwMode="auto">
          <a:xfrm>
            <a:off x="9929321" y="3753325"/>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mn-lt"/>
                <a:ea typeface="楷体" pitchFamily="49" charset="-122"/>
              </a:rPr>
              <a:t>//</a:t>
            </a:r>
            <a:r>
              <a:rPr lang="zh-CN" altLang="zh-CN" sz="2000" b="1">
                <a:solidFill>
                  <a:srgbClr val="002060"/>
                </a:solidFill>
                <a:latin typeface="+mn-lt"/>
                <a:ea typeface="楷体" pitchFamily="49" charset="-122"/>
              </a:rPr>
              <a:t>表达式值1</a:t>
            </a:r>
            <a:endParaRPr lang="en-US" altLang="zh-CN" sz="2000" b="1">
              <a:solidFill>
                <a:srgbClr val="002060"/>
              </a:solidFill>
              <a:latin typeface="+mn-lt"/>
              <a:ea typeface="楷体" pitchFamily="49" charset="-122"/>
            </a:endParaRPr>
          </a:p>
        </p:txBody>
      </p:sp>
      <p:sp>
        <p:nvSpPr>
          <p:cNvPr id="837695" name="Text Box 63"/>
          <p:cNvSpPr txBox="1">
            <a:spLocks noChangeArrowheads="1"/>
          </p:cNvSpPr>
          <p:nvPr/>
        </p:nvSpPr>
        <p:spPr bwMode="auto">
          <a:xfrm>
            <a:off x="9924558" y="4197825"/>
            <a:ext cx="148339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mn-lt"/>
                <a:ea typeface="楷体" pitchFamily="49" charset="-122"/>
              </a:rPr>
              <a:t>//</a:t>
            </a:r>
            <a:r>
              <a:rPr lang="zh-CN" altLang="zh-CN" sz="2000" b="1">
                <a:solidFill>
                  <a:srgbClr val="002060"/>
                </a:solidFill>
                <a:latin typeface="+mn-lt"/>
                <a:ea typeface="楷体" pitchFamily="49" charset="-122"/>
              </a:rPr>
              <a:t>表达式值0</a:t>
            </a:r>
            <a:endParaRPr lang="en-US" altLang="zh-CN" sz="2000" b="1">
              <a:solidFill>
                <a:srgbClr val="002060"/>
              </a:solidFill>
              <a:latin typeface="+mn-lt"/>
              <a:ea typeface="楷体" pitchFamily="49" charset="-122"/>
            </a:endParaRPr>
          </a:p>
        </p:txBody>
      </p:sp>
      <p:sp>
        <p:nvSpPr>
          <p:cNvPr id="837696" name="Text Box 64"/>
          <p:cNvSpPr txBox="1">
            <a:spLocks noChangeArrowheads="1"/>
          </p:cNvSpPr>
          <p:nvPr/>
        </p:nvSpPr>
        <p:spPr bwMode="auto">
          <a:xfrm>
            <a:off x="9911859" y="4629625"/>
            <a:ext cx="867843"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mn-lt"/>
                <a:ea typeface="楷体" pitchFamily="49" charset="-122"/>
              </a:rPr>
              <a:t>//d = 1</a:t>
            </a:r>
          </a:p>
        </p:txBody>
      </p:sp>
      <p:sp>
        <p:nvSpPr>
          <p:cNvPr id="837697" name="Text Box 65"/>
          <p:cNvSpPr txBox="1">
            <a:spLocks noChangeArrowheads="1"/>
          </p:cNvSpPr>
          <p:nvPr/>
        </p:nvSpPr>
        <p:spPr bwMode="auto">
          <a:xfrm>
            <a:off x="9911859" y="5061425"/>
            <a:ext cx="810135"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mn-lt"/>
                <a:ea typeface="楷体" pitchFamily="49" charset="-122"/>
              </a:rPr>
              <a:t>//f = 0</a:t>
            </a:r>
          </a:p>
        </p:txBody>
      </p:sp>
      <p:sp>
        <p:nvSpPr>
          <p:cNvPr id="24" name="Rectangle 4">
            <a:extLst>
              <a:ext uri="{FF2B5EF4-FFF2-40B4-BE49-F238E27FC236}">
                <a16:creationId xmlns:a16="http://schemas.microsoft.com/office/drawing/2014/main" id="{26C8060E-1337-4BED-A9BD-C87B5A7D3B0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25" name="Rectangle 13">
            <a:extLst>
              <a:ext uri="{FF2B5EF4-FFF2-40B4-BE49-F238E27FC236}">
                <a16:creationId xmlns:a16="http://schemas.microsoft.com/office/drawing/2014/main" id="{293CF944-2AD6-4F7C-8A9A-5085FEE21FCA}"/>
              </a:ext>
            </a:extLst>
          </p:cNvPr>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1. </a:t>
            </a:r>
            <a:r>
              <a:rPr lang="zh-CN" altLang="en-US" sz="2800" b="1" dirty="0">
                <a:solidFill>
                  <a:srgbClr val="C01920"/>
                </a:solidFill>
                <a:latin typeface="楷体" panose="02010609060101010101" pitchFamily="49" charset="-122"/>
                <a:ea typeface="楷体" panose="02010609060101010101" pitchFamily="49" charset="-122"/>
              </a:rPr>
              <a:t>关系运算符和关系表达式 </a:t>
            </a:r>
          </a:p>
        </p:txBody>
      </p:sp>
      <p:grpSp>
        <p:nvGrpSpPr>
          <p:cNvPr id="2" name="组合 1">
            <a:extLst>
              <a:ext uri="{FF2B5EF4-FFF2-40B4-BE49-F238E27FC236}">
                <a16:creationId xmlns:a16="http://schemas.microsoft.com/office/drawing/2014/main" id="{0A89ED15-F818-4325-BCE8-D9C7640FDD09}"/>
              </a:ext>
            </a:extLst>
          </p:cNvPr>
          <p:cNvGrpSpPr/>
          <p:nvPr/>
        </p:nvGrpSpPr>
        <p:grpSpPr>
          <a:xfrm>
            <a:off x="6112862" y="927610"/>
            <a:ext cx="2909887" cy="1782763"/>
            <a:chOff x="6112862" y="927610"/>
            <a:chExt cx="2909887" cy="1782763"/>
          </a:xfrm>
        </p:grpSpPr>
        <p:sp>
          <p:nvSpPr>
            <p:cNvPr id="837678" name="Text Box 46" descr="信纸"/>
            <p:cNvSpPr txBox="1">
              <a:spLocks noChangeArrowheads="1"/>
            </p:cNvSpPr>
            <p:nvPr/>
          </p:nvSpPr>
          <p:spPr bwMode="auto">
            <a:xfrm>
              <a:off x="6112862" y="927610"/>
              <a:ext cx="2909887" cy="1782763"/>
            </a:xfrm>
            <a:prstGeom prst="rect">
              <a:avLst/>
            </a:prstGeom>
            <a:gradFill>
              <a:gsLst>
                <a:gs pos="0">
                  <a:srgbClr val="CFCFD1"/>
                </a:gs>
                <a:gs pos="100000">
                  <a:schemeClr val="bg1">
                    <a:lumMod val="95000"/>
                  </a:schemeClr>
                </a:gs>
              </a:gsLst>
              <a:path path="circle">
                <a:fillToRect l="100000" t="100000"/>
              </a:path>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lnSpc>
                  <a:spcPts val="2600"/>
                </a:lnSpc>
              </a:pPr>
              <a:r>
                <a:rPr lang="zh-CN" altLang="en-US" sz="2000" b="1" dirty="0">
                  <a:effectLst>
                    <a:outerShdw blurRad="38100" dist="38100" dir="2700000" algn="tl">
                      <a:srgbClr val="FFFFFF"/>
                    </a:outerShdw>
                  </a:effectLst>
                  <a:latin typeface="+mn-lt"/>
                  <a:ea typeface="楷体" pitchFamily="49" charset="-122"/>
                </a:rPr>
                <a:t>算术运算符           高</a:t>
              </a:r>
            </a:p>
            <a:p>
              <a:pPr algn="just">
                <a:lnSpc>
                  <a:spcPts val="2600"/>
                </a:lnSpc>
              </a:pPr>
              <a:r>
                <a:rPr lang="zh-CN" altLang="en-US" sz="2000" b="1" dirty="0">
                  <a:effectLst>
                    <a:outerShdw blurRad="38100" dist="38100" dir="2700000" algn="tl">
                      <a:srgbClr val="FFFFFF"/>
                    </a:outerShdw>
                  </a:effectLst>
                  <a:latin typeface="+mn-lt"/>
                  <a:ea typeface="楷体" pitchFamily="49" charset="-122"/>
                </a:rPr>
                <a:t>移位运算符</a:t>
              </a:r>
            </a:p>
            <a:p>
              <a:pPr algn="just">
                <a:lnSpc>
                  <a:spcPts val="2600"/>
                </a:lnSpc>
              </a:pPr>
              <a:r>
                <a:rPr lang="zh-CN" altLang="en-US" sz="2000" b="1" u="sng" dirty="0">
                  <a:solidFill>
                    <a:srgbClr val="C01920"/>
                  </a:solidFill>
                  <a:latin typeface="+mn-lt"/>
                  <a:ea typeface="楷体" pitchFamily="49" charset="-122"/>
                </a:rPr>
                <a:t>关系运算符</a:t>
              </a:r>
            </a:p>
            <a:p>
              <a:pPr algn="just">
                <a:lnSpc>
                  <a:spcPts val="2600"/>
                </a:lnSpc>
              </a:pPr>
              <a:r>
                <a:rPr lang="en-US" altLang="zh-CN" sz="2000" b="1" dirty="0">
                  <a:effectLst>
                    <a:outerShdw blurRad="38100" dist="38100" dir="2700000" algn="tl">
                      <a:srgbClr val="FFFFFF"/>
                    </a:outerShdw>
                  </a:effectLst>
                  <a:latin typeface="+mn-lt"/>
                  <a:ea typeface="楷体" pitchFamily="49" charset="-122"/>
                </a:rPr>
                <a:t>&amp;</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p>
            <a:p>
              <a:pPr algn="just">
                <a:lnSpc>
                  <a:spcPts val="2600"/>
                </a:lnSpc>
              </a:pPr>
              <a:r>
                <a:rPr lang="zh-CN" altLang="en-US" sz="2000" b="1" dirty="0">
                  <a:effectLst>
                    <a:outerShdw blurRad="38100" dist="38100" dir="2700000" algn="tl">
                      <a:srgbClr val="FFFFFF"/>
                    </a:outerShdw>
                  </a:effectLst>
                  <a:latin typeface="+mn-lt"/>
                  <a:ea typeface="楷体" pitchFamily="49" charset="-122"/>
                </a:rPr>
                <a:t>赋值运算符           低</a:t>
              </a:r>
            </a:p>
          </p:txBody>
        </p:sp>
        <p:sp>
          <p:nvSpPr>
            <p:cNvPr id="28" name="Line 49">
              <a:extLst>
                <a:ext uri="{FF2B5EF4-FFF2-40B4-BE49-F238E27FC236}">
                  <a16:creationId xmlns:a16="http://schemas.microsoft.com/office/drawing/2014/main" id="{15F59CD3-9873-4668-B37F-85715561BBBB}"/>
                </a:ext>
              </a:extLst>
            </p:cNvPr>
            <p:cNvSpPr>
              <a:spLocks noChangeShapeType="1"/>
            </p:cNvSpPr>
            <p:nvPr/>
          </p:nvSpPr>
          <p:spPr bwMode="auto">
            <a:xfrm flipV="1">
              <a:off x="8040216" y="1067920"/>
              <a:ext cx="0" cy="1527175"/>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a:scene3d>
              <a:camera prst="orthographicFront"/>
              <a:lightRig rig="threePt" dir="t"/>
            </a:scene3d>
            <a:sp3d>
              <a:bevelT w="114300" prst="hardEdge"/>
            </a:sp3d>
          </p:spPr>
          <p:txBody>
            <a:bodyPr/>
            <a:lstStyle/>
            <a:p>
              <a:endParaRPr lang="zh-CN" altLang="en-US">
                <a:latin typeface="+mn-lt"/>
                <a:ea typeface="楷体" pitchFamily="49" charset="-122"/>
              </a:endParaRP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37672"/>
                                        </p:tgtEl>
                                        <p:attrNameLst>
                                          <p:attrName>style.visibility</p:attrName>
                                        </p:attrNameLst>
                                      </p:cBhvr>
                                      <p:to>
                                        <p:strVal val="visible"/>
                                      </p:to>
                                    </p:set>
                                    <p:anim calcmode="lin" valueType="num">
                                      <p:cBhvr additive="base">
                                        <p:cTn id="7" dur="500" fill="hold"/>
                                        <p:tgtEl>
                                          <p:spTgt spid="837672"/>
                                        </p:tgtEl>
                                        <p:attrNameLst>
                                          <p:attrName>ppt_x</p:attrName>
                                        </p:attrNameLst>
                                      </p:cBhvr>
                                      <p:tavLst>
                                        <p:tav tm="0">
                                          <p:val>
                                            <p:strVal val="0-#ppt_w/2"/>
                                          </p:val>
                                        </p:tav>
                                        <p:tav tm="100000">
                                          <p:val>
                                            <p:strVal val="#ppt_x"/>
                                          </p:val>
                                        </p:tav>
                                      </p:tavLst>
                                    </p:anim>
                                    <p:anim calcmode="lin" valueType="num">
                                      <p:cBhvr additive="base">
                                        <p:cTn id="8" dur="500" fill="hold"/>
                                        <p:tgtEl>
                                          <p:spTgt spid="83767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out)">
                                      <p:cBhvr>
                                        <p:cTn id="13" dur="500"/>
                                        <p:tgtEl>
                                          <p:spTgt spid="2"/>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37683"/>
                                        </p:tgtEl>
                                        <p:attrNameLst>
                                          <p:attrName>style.visibility</p:attrName>
                                        </p:attrNameLst>
                                      </p:cBhvr>
                                      <p:to>
                                        <p:strVal val="visible"/>
                                      </p:to>
                                    </p:set>
                                    <p:animEffect transition="in" filter="box(out)">
                                      <p:cBhvr>
                                        <p:cTn id="18" dur="500"/>
                                        <p:tgtEl>
                                          <p:spTgt spid="83768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37684"/>
                                        </p:tgtEl>
                                        <p:attrNameLst>
                                          <p:attrName>style.visibility</p:attrName>
                                        </p:attrNameLst>
                                      </p:cBhvr>
                                      <p:to>
                                        <p:strVal val="visible"/>
                                      </p:to>
                                    </p:set>
                                    <p:anim calcmode="lin" valueType="num">
                                      <p:cBhvr additive="base">
                                        <p:cTn id="23" dur="500" fill="hold"/>
                                        <p:tgtEl>
                                          <p:spTgt spid="837684"/>
                                        </p:tgtEl>
                                        <p:attrNameLst>
                                          <p:attrName>ppt_x</p:attrName>
                                        </p:attrNameLst>
                                      </p:cBhvr>
                                      <p:tavLst>
                                        <p:tav tm="0">
                                          <p:val>
                                            <p:strVal val="#ppt_x"/>
                                          </p:val>
                                        </p:tav>
                                        <p:tav tm="100000">
                                          <p:val>
                                            <p:strVal val="#ppt_x"/>
                                          </p:val>
                                        </p:tav>
                                      </p:tavLst>
                                    </p:anim>
                                    <p:anim calcmode="lin" valueType="num">
                                      <p:cBhvr additive="base">
                                        <p:cTn id="24" dur="500" fill="hold"/>
                                        <p:tgtEl>
                                          <p:spTgt spid="83768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37685"/>
                                        </p:tgtEl>
                                        <p:attrNameLst>
                                          <p:attrName>style.visibility</p:attrName>
                                        </p:attrNameLst>
                                      </p:cBhvr>
                                      <p:to>
                                        <p:strVal val="visible"/>
                                      </p:to>
                                    </p:set>
                                    <p:anim calcmode="lin" valueType="num">
                                      <p:cBhvr additive="base">
                                        <p:cTn id="29" dur="500" fill="hold"/>
                                        <p:tgtEl>
                                          <p:spTgt spid="837685"/>
                                        </p:tgtEl>
                                        <p:attrNameLst>
                                          <p:attrName>ppt_x</p:attrName>
                                        </p:attrNameLst>
                                      </p:cBhvr>
                                      <p:tavLst>
                                        <p:tav tm="0">
                                          <p:val>
                                            <p:strVal val="#ppt_x"/>
                                          </p:val>
                                        </p:tav>
                                        <p:tav tm="100000">
                                          <p:val>
                                            <p:strVal val="#ppt_x"/>
                                          </p:val>
                                        </p:tav>
                                      </p:tavLst>
                                    </p:anim>
                                    <p:anim calcmode="lin" valueType="num">
                                      <p:cBhvr additive="base">
                                        <p:cTn id="30" dur="500" fill="hold"/>
                                        <p:tgtEl>
                                          <p:spTgt spid="83768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37686"/>
                                        </p:tgtEl>
                                        <p:attrNameLst>
                                          <p:attrName>style.visibility</p:attrName>
                                        </p:attrNameLst>
                                      </p:cBhvr>
                                      <p:to>
                                        <p:strVal val="visible"/>
                                      </p:to>
                                    </p:set>
                                    <p:anim calcmode="lin" valueType="num">
                                      <p:cBhvr additive="base">
                                        <p:cTn id="35" dur="500" fill="hold"/>
                                        <p:tgtEl>
                                          <p:spTgt spid="837686"/>
                                        </p:tgtEl>
                                        <p:attrNameLst>
                                          <p:attrName>ppt_x</p:attrName>
                                        </p:attrNameLst>
                                      </p:cBhvr>
                                      <p:tavLst>
                                        <p:tav tm="0">
                                          <p:val>
                                            <p:strVal val="#ppt_x"/>
                                          </p:val>
                                        </p:tav>
                                        <p:tav tm="100000">
                                          <p:val>
                                            <p:strVal val="#ppt_x"/>
                                          </p:val>
                                        </p:tav>
                                      </p:tavLst>
                                    </p:anim>
                                    <p:anim calcmode="lin" valueType="num">
                                      <p:cBhvr additive="base">
                                        <p:cTn id="36" dur="500" fill="hold"/>
                                        <p:tgtEl>
                                          <p:spTgt spid="83768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37687"/>
                                        </p:tgtEl>
                                        <p:attrNameLst>
                                          <p:attrName>style.visibility</p:attrName>
                                        </p:attrNameLst>
                                      </p:cBhvr>
                                      <p:to>
                                        <p:strVal val="visible"/>
                                      </p:to>
                                    </p:set>
                                    <p:anim calcmode="lin" valueType="num">
                                      <p:cBhvr additive="base">
                                        <p:cTn id="41" dur="500" fill="hold"/>
                                        <p:tgtEl>
                                          <p:spTgt spid="837687"/>
                                        </p:tgtEl>
                                        <p:attrNameLst>
                                          <p:attrName>ppt_x</p:attrName>
                                        </p:attrNameLst>
                                      </p:cBhvr>
                                      <p:tavLst>
                                        <p:tav tm="0">
                                          <p:val>
                                            <p:strVal val="#ppt_x"/>
                                          </p:val>
                                        </p:tav>
                                        <p:tav tm="100000">
                                          <p:val>
                                            <p:strVal val="#ppt_x"/>
                                          </p:val>
                                        </p:tav>
                                      </p:tavLst>
                                    </p:anim>
                                    <p:anim calcmode="lin" valueType="num">
                                      <p:cBhvr additive="base">
                                        <p:cTn id="42" dur="500" fill="hold"/>
                                        <p:tgtEl>
                                          <p:spTgt spid="83768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37688"/>
                                        </p:tgtEl>
                                        <p:attrNameLst>
                                          <p:attrName>style.visibility</p:attrName>
                                        </p:attrNameLst>
                                      </p:cBhvr>
                                      <p:to>
                                        <p:strVal val="visible"/>
                                      </p:to>
                                    </p:set>
                                    <p:anim calcmode="lin" valueType="num">
                                      <p:cBhvr additive="base">
                                        <p:cTn id="47" dur="500" fill="hold"/>
                                        <p:tgtEl>
                                          <p:spTgt spid="837688"/>
                                        </p:tgtEl>
                                        <p:attrNameLst>
                                          <p:attrName>ppt_x</p:attrName>
                                        </p:attrNameLst>
                                      </p:cBhvr>
                                      <p:tavLst>
                                        <p:tav tm="0">
                                          <p:val>
                                            <p:strVal val="#ppt_x"/>
                                          </p:val>
                                        </p:tav>
                                        <p:tav tm="100000">
                                          <p:val>
                                            <p:strVal val="#ppt_x"/>
                                          </p:val>
                                        </p:tav>
                                      </p:tavLst>
                                    </p:anim>
                                    <p:anim calcmode="lin" valueType="num">
                                      <p:cBhvr additive="base">
                                        <p:cTn id="48" dur="500" fill="hold"/>
                                        <p:tgtEl>
                                          <p:spTgt spid="83768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837689"/>
                                        </p:tgtEl>
                                        <p:attrNameLst>
                                          <p:attrName>style.visibility</p:attrName>
                                        </p:attrNameLst>
                                      </p:cBhvr>
                                      <p:to>
                                        <p:strVal val="visible"/>
                                      </p:to>
                                    </p:set>
                                    <p:anim calcmode="lin" valueType="num">
                                      <p:cBhvr additive="base">
                                        <p:cTn id="53" dur="500" fill="hold"/>
                                        <p:tgtEl>
                                          <p:spTgt spid="837689"/>
                                        </p:tgtEl>
                                        <p:attrNameLst>
                                          <p:attrName>ppt_x</p:attrName>
                                        </p:attrNameLst>
                                      </p:cBhvr>
                                      <p:tavLst>
                                        <p:tav tm="0">
                                          <p:val>
                                            <p:strVal val="#ppt_x"/>
                                          </p:val>
                                        </p:tav>
                                        <p:tav tm="100000">
                                          <p:val>
                                            <p:strVal val="#ppt_x"/>
                                          </p:val>
                                        </p:tav>
                                      </p:tavLst>
                                    </p:anim>
                                    <p:anim calcmode="lin" valueType="num">
                                      <p:cBhvr additive="base">
                                        <p:cTn id="54" dur="500" fill="hold"/>
                                        <p:tgtEl>
                                          <p:spTgt spid="83768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 fill="hold">
                                          <p:stCondLst>
                                            <p:cond delay="0"/>
                                          </p:stCondLst>
                                        </p:cTn>
                                        <p:tgtEl>
                                          <p:spTgt spid="837690"/>
                                        </p:tgtEl>
                                        <p:attrNameLst>
                                          <p:attrName>style.visibility</p:attrName>
                                        </p:attrNameLst>
                                      </p:cBhvr>
                                      <p:to>
                                        <p:strVal val="visible"/>
                                      </p:to>
                                    </p:set>
                                    <p:animEffect transition="in" filter="box(out)">
                                      <p:cBhvr>
                                        <p:cTn id="59" dur="500"/>
                                        <p:tgtEl>
                                          <p:spTgt spid="837690"/>
                                        </p:tgtEl>
                                      </p:cBhvr>
                                    </p:animEffect>
                                  </p:childTnLst>
                                  <p:subTnLst>
                                    <p:audio>
                                      <p:cMediaNode>
                                        <p:cTn display="0" masterRel="sameClick">
                                          <p:stCondLst>
                                            <p:cond evt="begin" delay="0">
                                              <p:tn val="57"/>
                                            </p:cond>
                                          </p:stCondLst>
                                          <p:endCondLst>
                                            <p:cond evt="onStopAudio" delay="0">
                                              <p:tgtEl>
                                                <p:sldTgt/>
                                              </p:tgtEl>
                                            </p:cond>
                                          </p:endCondLst>
                                        </p:cTn>
                                        <p:tgtEl>
                                          <p:sndTgt r:embed="rId4" name="chimes.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837691"/>
                                        </p:tgtEl>
                                        <p:attrNameLst>
                                          <p:attrName>style.visibility</p:attrName>
                                        </p:attrNameLst>
                                      </p:cBhvr>
                                      <p:to>
                                        <p:strVal val="visible"/>
                                      </p:to>
                                    </p:set>
                                    <p:animEffect transition="in" filter="box(in)">
                                      <p:cBhvr>
                                        <p:cTn id="64" dur="500"/>
                                        <p:tgtEl>
                                          <p:spTgt spid="837691"/>
                                        </p:tgtEl>
                                      </p:cBhvr>
                                    </p:animEffect>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837692"/>
                                        </p:tgtEl>
                                        <p:attrNameLst>
                                          <p:attrName>style.visibility</p:attrName>
                                        </p:attrNameLst>
                                      </p:cBhvr>
                                      <p:to>
                                        <p:strVal val="visible"/>
                                      </p:to>
                                    </p:set>
                                    <p:animEffect transition="in" filter="box(out)">
                                      <p:cBhvr>
                                        <p:cTn id="69" dur="500"/>
                                        <p:tgtEl>
                                          <p:spTgt spid="837692"/>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837693">
                                            <p:txEl>
                                              <p:pRg st="0" end="0"/>
                                            </p:txEl>
                                          </p:spTgt>
                                        </p:tgtEl>
                                        <p:attrNameLst>
                                          <p:attrName>style.visibility</p:attrName>
                                        </p:attrNameLst>
                                      </p:cBhvr>
                                      <p:to>
                                        <p:strVal val="visible"/>
                                      </p:to>
                                    </p:set>
                                    <p:animEffect transition="in" filter="box(out)">
                                      <p:cBhvr>
                                        <p:cTn id="74" dur="500"/>
                                        <p:tgtEl>
                                          <p:spTgt spid="837693">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837694">
                                            <p:txEl>
                                              <p:pRg st="0" end="0"/>
                                            </p:txEl>
                                          </p:spTgt>
                                        </p:tgtEl>
                                        <p:attrNameLst>
                                          <p:attrName>style.visibility</p:attrName>
                                        </p:attrNameLst>
                                      </p:cBhvr>
                                      <p:to>
                                        <p:strVal val="visible"/>
                                      </p:to>
                                    </p:set>
                                    <p:animEffect transition="in" filter="box(out)">
                                      <p:cBhvr>
                                        <p:cTn id="79" dur="500"/>
                                        <p:tgtEl>
                                          <p:spTgt spid="837694">
                                            <p:txEl>
                                              <p:pRg st="0" end="0"/>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837695">
                                            <p:txEl>
                                              <p:pRg st="0" end="0"/>
                                            </p:txEl>
                                          </p:spTgt>
                                        </p:tgtEl>
                                        <p:attrNameLst>
                                          <p:attrName>style.visibility</p:attrName>
                                        </p:attrNameLst>
                                      </p:cBhvr>
                                      <p:to>
                                        <p:strVal val="visible"/>
                                      </p:to>
                                    </p:set>
                                    <p:animEffect transition="in" filter="box(out)">
                                      <p:cBhvr>
                                        <p:cTn id="84" dur="500"/>
                                        <p:tgtEl>
                                          <p:spTgt spid="837695">
                                            <p:txEl>
                                              <p:pRg st="0" end="0"/>
                                            </p:txEl>
                                          </p:spTgt>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32" fill="hold" grpId="0" nodeType="clickEffect">
                                  <p:stCondLst>
                                    <p:cond delay="0"/>
                                  </p:stCondLst>
                                  <p:childTnLst>
                                    <p:set>
                                      <p:cBhvr>
                                        <p:cTn id="88" dur="1" fill="hold">
                                          <p:stCondLst>
                                            <p:cond delay="0"/>
                                          </p:stCondLst>
                                        </p:cTn>
                                        <p:tgtEl>
                                          <p:spTgt spid="837696">
                                            <p:txEl>
                                              <p:pRg st="0" end="0"/>
                                            </p:txEl>
                                          </p:spTgt>
                                        </p:tgtEl>
                                        <p:attrNameLst>
                                          <p:attrName>style.visibility</p:attrName>
                                        </p:attrNameLst>
                                      </p:cBhvr>
                                      <p:to>
                                        <p:strVal val="visible"/>
                                      </p:to>
                                    </p:set>
                                    <p:animEffect transition="in" filter="box(out)">
                                      <p:cBhvr>
                                        <p:cTn id="89" dur="500"/>
                                        <p:tgtEl>
                                          <p:spTgt spid="837696">
                                            <p:txEl>
                                              <p:pRg st="0" end="0"/>
                                            </p:txEl>
                                          </p:spTgt>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grpId="0" nodeType="clickEffect">
                                  <p:stCondLst>
                                    <p:cond delay="0"/>
                                  </p:stCondLst>
                                  <p:childTnLst>
                                    <p:set>
                                      <p:cBhvr>
                                        <p:cTn id="93" dur="1" fill="hold">
                                          <p:stCondLst>
                                            <p:cond delay="0"/>
                                          </p:stCondLst>
                                        </p:cTn>
                                        <p:tgtEl>
                                          <p:spTgt spid="837697">
                                            <p:txEl>
                                              <p:pRg st="0" end="0"/>
                                            </p:txEl>
                                          </p:spTgt>
                                        </p:tgtEl>
                                        <p:attrNameLst>
                                          <p:attrName>style.visibility</p:attrName>
                                        </p:attrNameLst>
                                      </p:cBhvr>
                                      <p:to>
                                        <p:strVal val="visible"/>
                                      </p:to>
                                    </p:set>
                                    <p:animEffect transition="in" filter="box(out)">
                                      <p:cBhvr>
                                        <p:cTn id="94" dur="500"/>
                                        <p:tgtEl>
                                          <p:spTgt spid="837697">
                                            <p:txEl>
                                              <p:pRg st="0" end="0"/>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72" grpId="0"/>
      <p:bldP spid="837683" grpId="0" animBg="1"/>
      <p:bldP spid="837684" grpId="0"/>
      <p:bldP spid="837685" grpId="0"/>
      <p:bldP spid="837686" grpId="0"/>
      <p:bldP spid="837687" grpId="0"/>
      <p:bldP spid="837688" grpId="0"/>
      <p:bldP spid="837689" grpId="0"/>
      <p:bldP spid="837690" grpId="0" animBg="1"/>
      <p:bldP spid="837691" grpId="0"/>
      <p:bldP spid="837692" grpId="0" animBg="1" autoUpdateAnimBg="0"/>
      <p:bldP spid="837693" grpId="0" build="p" autoUpdateAnimBg="0"/>
      <p:bldP spid="837694" grpId="0" build="p" autoUpdateAnimBg="0"/>
      <p:bldP spid="837695" grpId="0" build="p" autoUpdateAnimBg="0"/>
      <p:bldP spid="837696" grpId="0" build="p" autoUpdateAnimBg="0"/>
      <p:bldP spid="83769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682" name="Rectangle 2"/>
          <p:cNvSpPr>
            <a:spLocks noGrp="1" noChangeArrowheads="1"/>
          </p:cNvSpPr>
          <p:nvPr>
            <p:ph type="body" idx="4294967295"/>
          </p:nvPr>
        </p:nvSpPr>
        <p:spPr>
          <a:xfrm>
            <a:off x="1163740" y="1360432"/>
            <a:ext cx="4500563" cy="400050"/>
          </a:xfrm>
        </p:spPr>
        <p:txBody>
          <a:bodyPr/>
          <a:lstStyle/>
          <a:p>
            <a:pPr>
              <a:buFont typeface="Wingdings" pitchFamily="2" charset="2"/>
              <a:buChar char="Ø"/>
            </a:pPr>
            <a:r>
              <a:rPr lang="zh-CN" altLang="en-US" sz="2400" dirty="0">
                <a:solidFill>
                  <a:srgbClr val="C01920"/>
                </a:solidFill>
                <a:effectLst/>
                <a:latin typeface="楷体" pitchFamily="49" charset="-122"/>
                <a:ea typeface="楷体" pitchFamily="49" charset="-122"/>
              </a:rPr>
              <a:t>关系运算注意</a:t>
            </a:r>
            <a:endParaRPr lang="zh-CN" altLang="en-US" sz="2400" dirty="0">
              <a:solidFill>
                <a:srgbClr val="C01920"/>
              </a:solidFill>
              <a:effectLst/>
              <a:latin typeface="楷体" pitchFamily="49" charset="-122"/>
              <a:ea typeface="楷体" pitchFamily="49" charset="-122"/>
              <a:sym typeface="Symbol" pitchFamily="18" charset="2"/>
            </a:endParaRPr>
          </a:p>
        </p:txBody>
      </p:sp>
      <p:sp>
        <p:nvSpPr>
          <p:cNvPr id="839685" name="Rectangle 5"/>
          <p:cNvSpPr>
            <a:spLocks noChangeArrowheads="1"/>
          </p:cNvSpPr>
          <p:nvPr/>
        </p:nvSpPr>
        <p:spPr bwMode="auto">
          <a:xfrm>
            <a:off x="1775520" y="2142148"/>
            <a:ext cx="4867275" cy="833178"/>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C01920"/>
                </a:solidFill>
                <a:latin typeface="隶书" pitchFamily="49" charset="-122"/>
                <a:ea typeface="隶书" pitchFamily="49" charset="-122"/>
                <a:sym typeface="Symbol" pitchFamily="18" charset="2"/>
              </a:rPr>
              <a:t>例</a:t>
            </a:r>
            <a:r>
              <a:rPr lang="zh-CN" altLang="zh-CN" b="1" dirty="0">
                <a:solidFill>
                  <a:srgbClr val="C01920"/>
                </a:solidFill>
                <a:latin typeface="+mn-lt"/>
                <a:ea typeface="楷体" pitchFamily="49" charset="-122"/>
                <a:sym typeface="Symbol" pitchFamily="18" charset="2"/>
              </a:rPr>
              <a:t> </a:t>
            </a:r>
            <a:r>
              <a:rPr lang="zh-CN" altLang="zh-CN" b="1" dirty="0">
                <a:latin typeface="+mn-lt"/>
                <a:ea typeface="楷体" pitchFamily="49" charset="-122"/>
                <a:sym typeface="Symbol" pitchFamily="18" charset="2"/>
              </a:rPr>
              <a:t>  若</a:t>
            </a:r>
            <a:r>
              <a:rPr lang="en-US" altLang="zh-CN" b="1" dirty="0">
                <a:latin typeface="+mn-lt"/>
                <a:ea typeface="楷体" pitchFamily="49" charset="-122"/>
                <a:sym typeface="Symbol" pitchFamily="18" charset="2"/>
              </a:rPr>
              <a:t>a = 0; b = 0.5; x = 0.3;</a:t>
            </a:r>
          </a:p>
          <a:p>
            <a:pPr eaLnBrk="0" hangingPunct="0"/>
            <a:r>
              <a:rPr lang="en-US" altLang="zh-CN" b="1" dirty="0">
                <a:latin typeface="+mn-lt"/>
                <a:ea typeface="楷体" pitchFamily="49" charset="-122"/>
                <a:sym typeface="Symbol" pitchFamily="18" charset="2"/>
              </a:rPr>
              <a:t>       </a:t>
            </a:r>
            <a:r>
              <a:rPr lang="zh-CN" altLang="zh-CN" b="1" dirty="0">
                <a:latin typeface="+mn-lt"/>
                <a:ea typeface="楷体" pitchFamily="49" charset="-122"/>
                <a:sym typeface="Symbol" pitchFamily="18" charset="2"/>
              </a:rPr>
              <a:t>则 </a:t>
            </a:r>
            <a:r>
              <a:rPr lang="en-US" altLang="zh-CN" b="1" dirty="0">
                <a:latin typeface="+mn-lt"/>
                <a:ea typeface="楷体" pitchFamily="49" charset="-122"/>
              </a:rPr>
              <a:t>a </a:t>
            </a:r>
            <a:r>
              <a:rPr lang="en-US" altLang="zh-CN" b="1" dirty="0">
                <a:latin typeface="+mn-lt"/>
                <a:ea typeface="楷体" pitchFamily="49" charset="-122"/>
                <a:sym typeface="Symbol" pitchFamily="18" charset="2"/>
              </a:rPr>
              <a:t>&lt;= x &lt;= b</a:t>
            </a:r>
            <a:r>
              <a:rPr lang="zh-CN" altLang="zh-CN" b="1" dirty="0">
                <a:latin typeface="+mn-lt"/>
                <a:ea typeface="楷体" pitchFamily="49" charset="-122"/>
                <a:sym typeface="Symbol" pitchFamily="18" charset="2"/>
              </a:rPr>
              <a:t>的值为</a:t>
            </a:r>
            <a:r>
              <a:rPr lang="zh-CN" altLang="zh-CN" dirty="0">
                <a:latin typeface="+mn-lt"/>
                <a:ea typeface="楷体" pitchFamily="49" charset="-122"/>
                <a:sym typeface="Symbol" pitchFamily="18" charset="2"/>
              </a:rPr>
              <a:t>    </a:t>
            </a:r>
            <a:endParaRPr lang="zh-CN" altLang="en-US" dirty="0">
              <a:latin typeface="+mn-lt"/>
              <a:ea typeface="楷体" pitchFamily="49" charset="-122"/>
              <a:sym typeface="Symbol" pitchFamily="18" charset="2"/>
            </a:endParaRPr>
          </a:p>
        </p:txBody>
      </p:sp>
      <p:sp>
        <p:nvSpPr>
          <p:cNvPr id="839686" name="Text Box 6"/>
          <p:cNvSpPr txBox="1">
            <a:spLocks noChangeArrowheads="1"/>
          </p:cNvSpPr>
          <p:nvPr/>
        </p:nvSpPr>
        <p:spPr bwMode="auto">
          <a:xfrm>
            <a:off x="5196457" y="2563500"/>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0</a:t>
            </a:r>
          </a:p>
        </p:txBody>
      </p:sp>
      <p:sp>
        <p:nvSpPr>
          <p:cNvPr id="839687" name="Rectangle 7"/>
          <p:cNvSpPr>
            <a:spLocks noChangeArrowheads="1"/>
          </p:cNvSpPr>
          <p:nvPr/>
        </p:nvSpPr>
        <p:spPr bwMode="auto">
          <a:xfrm>
            <a:off x="7175332" y="2124646"/>
            <a:ext cx="3693357" cy="833178"/>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C01920"/>
                </a:solidFill>
                <a:latin typeface="隶书" pitchFamily="49" charset="-122"/>
                <a:ea typeface="隶书" pitchFamily="49" charset="-122"/>
                <a:sym typeface="Symbol" pitchFamily="18" charset="2"/>
              </a:rPr>
              <a:t>例</a:t>
            </a:r>
            <a:r>
              <a:rPr lang="zh-CN" altLang="zh-CN" b="1" dirty="0">
                <a:solidFill>
                  <a:srgbClr val="C01920"/>
                </a:solidFill>
                <a:latin typeface="+mn-lt"/>
                <a:ea typeface="楷体" pitchFamily="49" charset="-122"/>
                <a:sym typeface="Symbol" pitchFamily="18" charset="2"/>
              </a:rPr>
              <a:t> </a:t>
            </a:r>
            <a:r>
              <a:rPr lang="zh-CN" altLang="zh-CN" b="1" dirty="0">
                <a:latin typeface="+mn-lt"/>
                <a:ea typeface="楷体" pitchFamily="49" charset="-122"/>
                <a:sym typeface="Symbol" pitchFamily="18" charset="2"/>
              </a:rPr>
              <a:t>  </a:t>
            </a:r>
            <a:r>
              <a:rPr lang="en-US" altLang="zh-CN" b="1" dirty="0">
                <a:solidFill>
                  <a:srgbClr val="002060"/>
                </a:solidFill>
                <a:latin typeface="+mn-lt"/>
                <a:ea typeface="楷体" pitchFamily="49" charset="-122"/>
                <a:sym typeface="Symbol" pitchFamily="18" charset="2"/>
              </a:rPr>
              <a:t>5 &gt; 2 &gt; 7 &gt; 8</a:t>
            </a:r>
            <a:r>
              <a:rPr lang="zh-CN" altLang="zh-CN" b="1" dirty="0">
                <a:latin typeface="+mn-lt"/>
                <a:ea typeface="楷体" pitchFamily="49" charset="-122"/>
                <a:sym typeface="Symbol" pitchFamily="18" charset="2"/>
              </a:rPr>
              <a:t>在</a:t>
            </a:r>
            <a:r>
              <a:rPr lang="en-US" altLang="zh-CN" b="1" dirty="0">
                <a:latin typeface="+mn-lt"/>
                <a:ea typeface="楷体" pitchFamily="49" charset="-122"/>
                <a:sym typeface="Symbol" pitchFamily="18" charset="2"/>
              </a:rPr>
              <a:t>C</a:t>
            </a:r>
            <a:r>
              <a:rPr lang="zh-CN" altLang="zh-CN" b="1" dirty="0">
                <a:latin typeface="+mn-lt"/>
                <a:ea typeface="楷体" pitchFamily="49" charset="-122"/>
                <a:sym typeface="Symbol" pitchFamily="18" charset="2"/>
              </a:rPr>
              <a:t>中是</a:t>
            </a:r>
            <a:endParaRPr lang="zh-CN" altLang="en-US" b="1" dirty="0">
              <a:latin typeface="+mn-lt"/>
              <a:ea typeface="楷体" pitchFamily="49" charset="-122"/>
              <a:sym typeface="Symbol" pitchFamily="18" charset="2"/>
            </a:endParaRPr>
          </a:p>
          <a:p>
            <a:pPr eaLnBrk="0" hangingPunct="0"/>
            <a:r>
              <a:rPr lang="zh-CN" altLang="zh-CN" b="1" dirty="0">
                <a:latin typeface="+mn-lt"/>
                <a:ea typeface="楷体" pitchFamily="49" charset="-122"/>
                <a:sym typeface="Symbol" pitchFamily="18" charset="2"/>
              </a:rPr>
              <a:t>允许的，值为</a:t>
            </a:r>
            <a:endParaRPr lang="zh-CN" altLang="en-US" b="1" dirty="0">
              <a:latin typeface="+mn-lt"/>
              <a:ea typeface="楷体" pitchFamily="49" charset="-122"/>
              <a:sym typeface="Symbol" pitchFamily="18" charset="2"/>
            </a:endParaRPr>
          </a:p>
        </p:txBody>
      </p:sp>
      <p:sp>
        <p:nvSpPr>
          <p:cNvPr id="839688" name="Text Box 8"/>
          <p:cNvSpPr txBox="1">
            <a:spLocks noChangeArrowheads="1"/>
          </p:cNvSpPr>
          <p:nvPr/>
        </p:nvSpPr>
        <p:spPr bwMode="auto">
          <a:xfrm>
            <a:off x="9070806" y="2523346"/>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0</a:t>
            </a:r>
          </a:p>
        </p:txBody>
      </p:sp>
      <p:sp>
        <p:nvSpPr>
          <p:cNvPr id="839689" name="Rectangle 9"/>
          <p:cNvSpPr>
            <a:spLocks noChangeArrowheads="1"/>
          </p:cNvSpPr>
          <p:nvPr/>
        </p:nvSpPr>
        <p:spPr bwMode="auto">
          <a:xfrm>
            <a:off x="1782609" y="3356992"/>
            <a:ext cx="4860186" cy="120251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C01920"/>
                </a:solidFill>
                <a:latin typeface="隶书" pitchFamily="49" charset="-122"/>
                <a:ea typeface="隶书" pitchFamily="49" charset="-122"/>
                <a:sym typeface="Symbol" pitchFamily="18" charset="2"/>
              </a:rPr>
              <a:t>例</a:t>
            </a:r>
            <a:r>
              <a:rPr lang="zh-CN" altLang="zh-CN" b="1" dirty="0">
                <a:solidFill>
                  <a:srgbClr val="C01920"/>
                </a:solidFill>
                <a:latin typeface="+mn-lt"/>
                <a:ea typeface="楷体" pitchFamily="49" charset="-122"/>
                <a:sym typeface="Symbol" pitchFamily="18" charset="2"/>
              </a:rPr>
              <a:t> </a:t>
            </a:r>
            <a:r>
              <a:rPr lang="zh-CN" altLang="zh-CN" b="1" dirty="0">
                <a:latin typeface="+mn-lt"/>
                <a:ea typeface="楷体" pitchFamily="49" charset="-122"/>
                <a:sym typeface="Symbol" pitchFamily="18" charset="2"/>
              </a:rPr>
              <a:t>    </a:t>
            </a:r>
            <a:r>
              <a:rPr lang="en-US" altLang="zh-CN" b="1" dirty="0" err="1">
                <a:latin typeface="+mn-lt"/>
                <a:ea typeface="楷体" pitchFamily="49" charset="-122"/>
                <a:sym typeface="Symbol" pitchFamily="18" charset="2"/>
              </a:rPr>
              <a:t>int</a:t>
            </a:r>
            <a:r>
              <a:rPr lang="en-US" altLang="zh-CN" b="1" dirty="0">
                <a:latin typeface="+mn-lt"/>
                <a:ea typeface="楷体" pitchFamily="49" charset="-122"/>
                <a:sym typeface="Symbol" pitchFamily="18" charset="2"/>
              </a:rPr>
              <a:t>  </a:t>
            </a:r>
            <a:r>
              <a:rPr lang="en-US" altLang="zh-CN" b="1" dirty="0" err="1">
                <a:latin typeface="+mn-lt"/>
                <a:ea typeface="楷体" pitchFamily="49" charset="-122"/>
                <a:sym typeface="Symbol" pitchFamily="18" charset="2"/>
              </a:rPr>
              <a:t>i</a:t>
            </a:r>
            <a:r>
              <a:rPr lang="en-US" altLang="zh-CN" b="1" dirty="0">
                <a:latin typeface="+mn-lt"/>
                <a:ea typeface="楷体" pitchFamily="49" charset="-122"/>
                <a:sym typeface="Symbol" pitchFamily="18" charset="2"/>
              </a:rPr>
              <a:t> = 1,  j = 7, a;  </a:t>
            </a:r>
          </a:p>
          <a:p>
            <a:pPr eaLnBrk="0" hangingPunct="0"/>
            <a:r>
              <a:rPr lang="en-US" altLang="zh-CN" b="1" dirty="0">
                <a:latin typeface="+mn-lt"/>
                <a:ea typeface="楷体" pitchFamily="49" charset="-122"/>
                <a:sym typeface="Symbol" pitchFamily="18" charset="2"/>
              </a:rPr>
              <a:t>         a = </a:t>
            </a:r>
            <a:r>
              <a:rPr lang="en-US" altLang="zh-CN" b="1" dirty="0" err="1">
                <a:latin typeface="+mn-lt"/>
                <a:ea typeface="楷体" pitchFamily="49" charset="-122"/>
                <a:sym typeface="Symbol" pitchFamily="18" charset="2"/>
              </a:rPr>
              <a:t>i</a:t>
            </a:r>
            <a:r>
              <a:rPr lang="en-US" altLang="zh-CN" b="1" dirty="0">
                <a:latin typeface="+mn-lt"/>
                <a:ea typeface="楷体" pitchFamily="49" charset="-122"/>
                <a:sym typeface="Symbol" pitchFamily="18" charset="2"/>
              </a:rPr>
              <a:t> + (j % 4 != 0);   </a:t>
            </a:r>
          </a:p>
          <a:p>
            <a:pPr eaLnBrk="0" hangingPunct="0"/>
            <a:r>
              <a:rPr lang="en-US" altLang="zh-CN" b="1" dirty="0">
                <a:latin typeface="+mn-lt"/>
                <a:ea typeface="楷体" pitchFamily="49" charset="-122"/>
                <a:sym typeface="Symbol" pitchFamily="18" charset="2"/>
              </a:rPr>
              <a:t>         </a:t>
            </a:r>
            <a:r>
              <a:rPr lang="zh-CN" altLang="zh-CN" b="1" dirty="0">
                <a:latin typeface="+mn-lt"/>
                <a:ea typeface="楷体" pitchFamily="49" charset="-122"/>
                <a:sym typeface="Symbol" pitchFamily="18" charset="2"/>
              </a:rPr>
              <a:t>则</a:t>
            </a:r>
            <a:r>
              <a:rPr lang="en-US" altLang="zh-CN" b="1" dirty="0">
                <a:latin typeface="+mn-lt"/>
                <a:ea typeface="楷体" pitchFamily="49" charset="-122"/>
                <a:sym typeface="Symbol" pitchFamily="18" charset="2"/>
              </a:rPr>
              <a:t>a =</a:t>
            </a:r>
          </a:p>
        </p:txBody>
      </p:sp>
      <p:sp>
        <p:nvSpPr>
          <p:cNvPr id="839690" name="Text Box 10"/>
          <p:cNvSpPr txBox="1">
            <a:spLocks noChangeArrowheads="1"/>
          </p:cNvSpPr>
          <p:nvPr/>
        </p:nvSpPr>
        <p:spPr bwMode="auto">
          <a:xfrm>
            <a:off x="3251809" y="4115580"/>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2</a:t>
            </a:r>
          </a:p>
        </p:txBody>
      </p:sp>
      <p:sp>
        <p:nvSpPr>
          <p:cNvPr id="839691" name="Text Box 11"/>
          <p:cNvSpPr txBox="1">
            <a:spLocks noChangeArrowheads="1"/>
          </p:cNvSpPr>
          <p:nvPr/>
        </p:nvSpPr>
        <p:spPr bwMode="auto">
          <a:xfrm>
            <a:off x="7169522" y="3435626"/>
            <a:ext cx="3693357" cy="860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en-US" b="1" dirty="0">
                <a:solidFill>
                  <a:srgbClr val="C01920"/>
                </a:solidFill>
                <a:latin typeface="隶书" pitchFamily="49" charset="-122"/>
                <a:ea typeface="隶书" pitchFamily="49" charset="-122"/>
                <a:sym typeface="Symbol" pitchFamily="18" charset="2"/>
              </a:rPr>
              <a:t>例</a:t>
            </a:r>
            <a:r>
              <a:rPr lang="zh-CN" altLang="en-US" b="1" dirty="0">
                <a:latin typeface="+mn-lt"/>
                <a:ea typeface="楷体" pitchFamily="49" charset="-122"/>
                <a:sym typeface="Symbol" pitchFamily="18" charset="2"/>
              </a:rPr>
              <a:t>   </a:t>
            </a:r>
            <a:r>
              <a:rPr lang="en-US" altLang="zh-CN" b="1" dirty="0">
                <a:ea typeface="楷体_GB2312" pitchFamily="49" charset="-122"/>
              </a:rPr>
              <a:t>'</a:t>
            </a:r>
            <a:r>
              <a:rPr lang="en-US" altLang="zh-CN" b="1" dirty="0">
                <a:latin typeface="+mn-lt"/>
                <a:ea typeface="楷体" pitchFamily="49" charset="-122"/>
                <a:sym typeface="Symbol" pitchFamily="18" charset="2"/>
              </a:rPr>
              <a:t>a</a:t>
            </a:r>
            <a:r>
              <a:rPr lang="en-US" altLang="zh-CN" b="1" dirty="0">
                <a:ea typeface="楷体_GB2312" pitchFamily="49" charset="-122"/>
              </a:rPr>
              <a:t>'</a:t>
            </a:r>
            <a:r>
              <a:rPr lang="en-US" altLang="zh-CN" b="1" dirty="0">
                <a:latin typeface="+mn-lt"/>
                <a:ea typeface="楷体" pitchFamily="49" charset="-122"/>
                <a:sym typeface="Symbol" pitchFamily="18" charset="2"/>
              </a:rPr>
              <a:t>&gt;0        </a:t>
            </a:r>
            <a:r>
              <a:rPr lang="zh-CN" altLang="zh-CN" b="1" dirty="0">
                <a:latin typeface="+mn-lt"/>
                <a:ea typeface="楷体" pitchFamily="49" charset="-122"/>
                <a:sym typeface="Symbol" pitchFamily="18" charset="2"/>
              </a:rPr>
              <a:t>结果为</a:t>
            </a:r>
          </a:p>
          <a:p>
            <a:pPr eaLnBrk="0" hangingPunct="0"/>
            <a:r>
              <a:rPr lang="zh-CN" altLang="zh-CN" b="1" dirty="0">
                <a:latin typeface="+mn-lt"/>
                <a:ea typeface="楷体" pitchFamily="49" charset="-122"/>
                <a:sym typeface="Symbol" pitchFamily="18" charset="2"/>
              </a:rPr>
              <a:t>      </a:t>
            </a:r>
            <a:r>
              <a:rPr lang="en-US" altLang="zh-CN" b="1" dirty="0">
                <a:ea typeface="楷体_GB2312" pitchFamily="49" charset="-122"/>
              </a:rPr>
              <a:t>'</a:t>
            </a:r>
            <a:r>
              <a:rPr lang="en-US" altLang="zh-CN" b="1" dirty="0">
                <a:latin typeface="+mn-lt"/>
                <a:ea typeface="楷体" pitchFamily="49" charset="-122"/>
                <a:sym typeface="Symbol" pitchFamily="18" charset="2"/>
              </a:rPr>
              <a:t>A</a:t>
            </a:r>
            <a:r>
              <a:rPr lang="en-US" altLang="zh-CN" b="1" dirty="0">
                <a:ea typeface="楷体_GB2312" pitchFamily="49" charset="-122"/>
              </a:rPr>
              <a:t>'</a:t>
            </a:r>
            <a:r>
              <a:rPr lang="en-US" altLang="zh-CN" b="1" dirty="0">
                <a:latin typeface="+mn-lt"/>
                <a:ea typeface="楷体" pitchFamily="49" charset="-122"/>
                <a:sym typeface="Symbol" pitchFamily="18" charset="2"/>
              </a:rPr>
              <a:t>&gt;100    </a:t>
            </a:r>
            <a:r>
              <a:rPr lang="zh-CN" altLang="zh-CN" b="1" dirty="0">
                <a:latin typeface="+mn-lt"/>
                <a:ea typeface="楷体" pitchFamily="49" charset="-122"/>
                <a:sym typeface="Symbol" pitchFamily="18" charset="2"/>
              </a:rPr>
              <a:t>结果为</a:t>
            </a:r>
            <a:endParaRPr lang="zh-CN" altLang="en-US" b="1" dirty="0">
              <a:latin typeface="+mn-lt"/>
              <a:ea typeface="楷体" pitchFamily="49" charset="-122"/>
              <a:sym typeface="Symbol" pitchFamily="18" charset="2"/>
            </a:endParaRPr>
          </a:p>
        </p:txBody>
      </p:sp>
      <p:sp>
        <p:nvSpPr>
          <p:cNvPr id="839692" name="Text Box 12"/>
          <p:cNvSpPr txBox="1">
            <a:spLocks noChangeArrowheads="1"/>
          </p:cNvSpPr>
          <p:nvPr/>
        </p:nvSpPr>
        <p:spPr bwMode="auto">
          <a:xfrm>
            <a:off x="10290918" y="3473726"/>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1</a:t>
            </a:r>
          </a:p>
        </p:txBody>
      </p:sp>
      <p:sp>
        <p:nvSpPr>
          <p:cNvPr id="839693" name="Text Box 13"/>
          <p:cNvSpPr txBox="1">
            <a:spLocks noChangeArrowheads="1"/>
          </p:cNvSpPr>
          <p:nvPr/>
        </p:nvSpPr>
        <p:spPr bwMode="auto">
          <a:xfrm>
            <a:off x="10314668" y="3873776"/>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0</a:t>
            </a:r>
          </a:p>
        </p:txBody>
      </p:sp>
      <p:sp>
        <p:nvSpPr>
          <p:cNvPr id="839700" name="Rectangle 20"/>
          <p:cNvSpPr>
            <a:spLocks noChangeArrowheads="1"/>
          </p:cNvSpPr>
          <p:nvPr/>
        </p:nvSpPr>
        <p:spPr bwMode="auto">
          <a:xfrm>
            <a:off x="1775520" y="4941168"/>
            <a:ext cx="9087359" cy="12025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pPr eaLnBrk="0" hangingPunct="0"/>
            <a:r>
              <a:rPr lang="zh-CN" altLang="zh-CN" b="1" dirty="0">
                <a:solidFill>
                  <a:srgbClr val="C01920"/>
                </a:solidFill>
                <a:latin typeface="隶书" pitchFamily="49" charset="-122"/>
                <a:ea typeface="隶书" pitchFamily="49" charset="-122"/>
                <a:sym typeface="Symbol" pitchFamily="18" charset="2"/>
              </a:rPr>
              <a:t>例</a:t>
            </a:r>
            <a:r>
              <a:rPr lang="zh-CN" altLang="zh-CN" b="1" dirty="0">
                <a:solidFill>
                  <a:srgbClr val="FF33CC"/>
                </a:solidFill>
                <a:latin typeface="隶书" pitchFamily="49" charset="-122"/>
                <a:ea typeface="隶书" pitchFamily="49" charset="-122"/>
                <a:sym typeface="Symbol" pitchFamily="18" charset="2"/>
              </a:rPr>
              <a:t>   </a:t>
            </a:r>
            <a:r>
              <a:rPr lang="zh-CN" altLang="en-US" b="1" dirty="0">
                <a:latin typeface="+mn-lt"/>
                <a:ea typeface="楷体" pitchFamily="49" charset="-122"/>
                <a:sym typeface="Symbol" pitchFamily="18" charset="2"/>
              </a:rPr>
              <a:t>应避免对</a:t>
            </a:r>
            <a:r>
              <a:rPr lang="zh-CN" altLang="en-US" b="1" dirty="0">
                <a:solidFill>
                  <a:srgbClr val="C01920"/>
                </a:solidFill>
                <a:latin typeface="+mn-lt"/>
                <a:ea typeface="楷体" pitchFamily="49" charset="-122"/>
                <a:sym typeface="Symbol" pitchFamily="18" charset="2"/>
              </a:rPr>
              <a:t>实数</a:t>
            </a:r>
            <a:r>
              <a:rPr lang="zh-CN" altLang="en-US" b="1" dirty="0">
                <a:latin typeface="+mn-lt"/>
                <a:ea typeface="楷体" pitchFamily="49" charset="-122"/>
                <a:sym typeface="Symbol" pitchFamily="18" charset="2"/>
              </a:rPr>
              <a:t>作相等或不等的判断</a:t>
            </a:r>
          </a:p>
          <a:p>
            <a:pPr eaLnBrk="0" hangingPunct="0"/>
            <a:r>
              <a:rPr lang="zh-CN" altLang="en-US" b="1" dirty="0">
                <a:latin typeface="+mn-lt"/>
                <a:ea typeface="楷体" pitchFamily="49" charset="-122"/>
                <a:sym typeface="Symbol" pitchFamily="18" charset="2"/>
              </a:rPr>
              <a:t>       如   </a:t>
            </a:r>
            <a:r>
              <a:rPr lang="en-US" altLang="zh-CN" b="1" dirty="0">
                <a:latin typeface="+mn-lt"/>
                <a:ea typeface="楷体" pitchFamily="49" charset="-122"/>
                <a:sym typeface="Symbol" pitchFamily="18" charset="2"/>
              </a:rPr>
              <a:t>1.0/3.0*3.0==1.0    </a:t>
            </a:r>
            <a:r>
              <a:rPr lang="zh-CN" altLang="en-US" b="1" dirty="0">
                <a:latin typeface="+mn-lt"/>
                <a:ea typeface="楷体" pitchFamily="49" charset="-122"/>
                <a:sym typeface="Symbol" pitchFamily="18" charset="2"/>
              </a:rPr>
              <a:t>结果为</a:t>
            </a:r>
          </a:p>
          <a:p>
            <a:pPr eaLnBrk="0" hangingPunct="0"/>
            <a:r>
              <a:rPr lang="zh-CN" altLang="en-US" b="1" dirty="0">
                <a:latin typeface="+mn-lt"/>
                <a:ea typeface="楷体" pitchFamily="49" charset="-122"/>
                <a:sym typeface="Symbol" pitchFamily="18" charset="2"/>
              </a:rPr>
              <a:t>       可改写为：</a:t>
            </a:r>
            <a:r>
              <a:rPr lang="en-US" altLang="zh-CN" b="1" dirty="0" err="1">
                <a:solidFill>
                  <a:srgbClr val="002060"/>
                </a:solidFill>
                <a:latin typeface="+mn-lt"/>
                <a:ea typeface="楷体" pitchFamily="49" charset="-122"/>
                <a:sym typeface="Symbol" pitchFamily="18" charset="2"/>
              </a:rPr>
              <a:t>fabs</a:t>
            </a:r>
            <a:r>
              <a:rPr lang="en-US" altLang="zh-CN" b="1" dirty="0">
                <a:solidFill>
                  <a:srgbClr val="002060"/>
                </a:solidFill>
                <a:latin typeface="+mn-lt"/>
                <a:ea typeface="楷体" pitchFamily="49" charset="-122"/>
                <a:sym typeface="Symbol" pitchFamily="18" charset="2"/>
              </a:rPr>
              <a:t>(1.0/3.0*3.0-1.0)&lt;1e-6</a:t>
            </a:r>
          </a:p>
        </p:txBody>
      </p:sp>
      <p:sp>
        <p:nvSpPr>
          <p:cNvPr id="839701" name="Text Box 21"/>
          <p:cNvSpPr txBox="1">
            <a:spLocks noChangeArrowheads="1"/>
          </p:cNvSpPr>
          <p:nvPr/>
        </p:nvSpPr>
        <p:spPr bwMode="auto">
          <a:xfrm>
            <a:off x="6312123" y="5351591"/>
            <a:ext cx="324426"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C01920"/>
                </a:solidFill>
                <a:latin typeface="Arial" pitchFamily="34" charset="0"/>
                <a:ea typeface="隶书" pitchFamily="49" charset="-122"/>
              </a:rPr>
              <a:t>0</a:t>
            </a:r>
          </a:p>
        </p:txBody>
      </p:sp>
      <p:sp>
        <p:nvSpPr>
          <p:cNvPr id="17" name="Rectangle 4">
            <a:extLst>
              <a:ext uri="{FF2B5EF4-FFF2-40B4-BE49-F238E27FC236}">
                <a16:creationId xmlns:a16="http://schemas.microsoft.com/office/drawing/2014/main" id="{69F1CA27-798A-4276-AE27-80D0FE5AAC5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18" name="Rectangle 13">
            <a:extLst>
              <a:ext uri="{FF2B5EF4-FFF2-40B4-BE49-F238E27FC236}">
                <a16:creationId xmlns:a16="http://schemas.microsoft.com/office/drawing/2014/main" id="{F1EA9A29-DB8A-4EDB-9981-FFD563D08DC6}"/>
              </a:ext>
            </a:extLst>
          </p:cNvPr>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1. </a:t>
            </a:r>
            <a:r>
              <a:rPr lang="zh-CN" altLang="en-US" sz="2800" b="1" dirty="0">
                <a:solidFill>
                  <a:srgbClr val="C01920"/>
                </a:solidFill>
                <a:latin typeface="楷体" panose="02010609060101010101" pitchFamily="49" charset="-122"/>
                <a:ea typeface="楷体" panose="02010609060101010101" pitchFamily="49" charset="-122"/>
              </a:rPr>
              <a:t>关系运算符和关系表达式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39682">
                                            <p:txEl>
                                              <p:pRg st="0" end="0"/>
                                            </p:txEl>
                                          </p:spTgt>
                                        </p:tgtEl>
                                        <p:attrNameLst>
                                          <p:attrName>style.visibility</p:attrName>
                                        </p:attrNameLst>
                                      </p:cBhvr>
                                      <p:to>
                                        <p:strVal val="visible"/>
                                      </p:to>
                                    </p:set>
                                    <p:animEffect transition="in" filter="box(out)">
                                      <p:cBhvr>
                                        <p:cTn id="7" dur="500"/>
                                        <p:tgtEl>
                                          <p:spTgt spid="83968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39685"/>
                                        </p:tgtEl>
                                        <p:attrNameLst>
                                          <p:attrName>style.visibility</p:attrName>
                                        </p:attrNameLst>
                                      </p:cBhvr>
                                      <p:to>
                                        <p:strVal val="visible"/>
                                      </p:to>
                                    </p:set>
                                    <p:animEffect transition="in" filter="box(out)">
                                      <p:cBhvr>
                                        <p:cTn id="12" dur="500"/>
                                        <p:tgtEl>
                                          <p:spTgt spid="83968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39686">
                                            <p:txEl>
                                              <p:pRg st="0" end="0"/>
                                            </p:txEl>
                                          </p:spTgt>
                                        </p:tgtEl>
                                        <p:attrNameLst>
                                          <p:attrName>style.visibility</p:attrName>
                                        </p:attrNameLst>
                                      </p:cBhvr>
                                      <p:to>
                                        <p:strVal val="visible"/>
                                      </p:to>
                                    </p:set>
                                    <p:animEffect transition="in" filter="box(out)">
                                      <p:cBhvr>
                                        <p:cTn id="17" dur="500"/>
                                        <p:tgtEl>
                                          <p:spTgt spid="83968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39687"/>
                                        </p:tgtEl>
                                        <p:attrNameLst>
                                          <p:attrName>style.visibility</p:attrName>
                                        </p:attrNameLst>
                                      </p:cBhvr>
                                      <p:to>
                                        <p:strVal val="visible"/>
                                      </p:to>
                                    </p:set>
                                    <p:animEffect transition="in" filter="box(out)">
                                      <p:cBhvr>
                                        <p:cTn id="22" dur="500"/>
                                        <p:tgtEl>
                                          <p:spTgt spid="839687"/>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39688">
                                            <p:txEl>
                                              <p:pRg st="0" end="0"/>
                                            </p:txEl>
                                          </p:spTgt>
                                        </p:tgtEl>
                                        <p:attrNameLst>
                                          <p:attrName>style.visibility</p:attrName>
                                        </p:attrNameLst>
                                      </p:cBhvr>
                                      <p:to>
                                        <p:strVal val="visible"/>
                                      </p:to>
                                    </p:set>
                                    <p:animEffect transition="in" filter="box(out)">
                                      <p:cBhvr>
                                        <p:cTn id="27" dur="500"/>
                                        <p:tgtEl>
                                          <p:spTgt spid="839688">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39689"/>
                                        </p:tgtEl>
                                        <p:attrNameLst>
                                          <p:attrName>style.visibility</p:attrName>
                                        </p:attrNameLst>
                                      </p:cBhvr>
                                      <p:to>
                                        <p:strVal val="visible"/>
                                      </p:to>
                                    </p:set>
                                    <p:animEffect transition="in" filter="box(out)">
                                      <p:cBhvr>
                                        <p:cTn id="32" dur="500"/>
                                        <p:tgtEl>
                                          <p:spTgt spid="839689"/>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39690">
                                            <p:txEl>
                                              <p:pRg st="0" end="0"/>
                                            </p:txEl>
                                          </p:spTgt>
                                        </p:tgtEl>
                                        <p:attrNameLst>
                                          <p:attrName>style.visibility</p:attrName>
                                        </p:attrNameLst>
                                      </p:cBhvr>
                                      <p:to>
                                        <p:strVal val="visible"/>
                                      </p:to>
                                    </p:set>
                                    <p:animEffect transition="in" filter="box(out)">
                                      <p:cBhvr>
                                        <p:cTn id="37" dur="500"/>
                                        <p:tgtEl>
                                          <p:spTgt spid="839690">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39691"/>
                                        </p:tgtEl>
                                        <p:attrNameLst>
                                          <p:attrName>style.visibility</p:attrName>
                                        </p:attrNameLst>
                                      </p:cBhvr>
                                      <p:to>
                                        <p:strVal val="visible"/>
                                      </p:to>
                                    </p:set>
                                    <p:animEffect transition="in" filter="box(out)">
                                      <p:cBhvr>
                                        <p:cTn id="42" dur="500"/>
                                        <p:tgtEl>
                                          <p:spTgt spid="839691"/>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39692">
                                            <p:txEl>
                                              <p:pRg st="0" end="0"/>
                                            </p:txEl>
                                          </p:spTgt>
                                        </p:tgtEl>
                                        <p:attrNameLst>
                                          <p:attrName>style.visibility</p:attrName>
                                        </p:attrNameLst>
                                      </p:cBhvr>
                                      <p:to>
                                        <p:strVal val="visible"/>
                                      </p:to>
                                    </p:set>
                                    <p:animEffect transition="in" filter="box(out)">
                                      <p:cBhvr>
                                        <p:cTn id="47" dur="500"/>
                                        <p:tgtEl>
                                          <p:spTgt spid="839692">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39693"/>
                                        </p:tgtEl>
                                        <p:attrNameLst>
                                          <p:attrName>style.visibility</p:attrName>
                                        </p:attrNameLst>
                                      </p:cBhvr>
                                      <p:to>
                                        <p:strVal val="visible"/>
                                      </p:to>
                                    </p:set>
                                    <p:animEffect transition="in" filter="blinds(horizontal)">
                                      <p:cBhvr>
                                        <p:cTn id="52" dur="500"/>
                                        <p:tgtEl>
                                          <p:spTgt spid="839693"/>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839700">
                                            <p:bg/>
                                          </p:spTgt>
                                        </p:tgtEl>
                                        <p:attrNameLst>
                                          <p:attrName>style.visibility</p:attrName>
                                        </p:attrNameLst>
                                      </p:cBhvr>
                                      <p:to>
                                        <p:strVal val="visible"/>
                                      </p:to>
                                    </p:set>
                                    <p:animEffect transition="in" filter="box(out)">
                                      <p:cBhvr>
                                        <p:cTn id="57" dur="500"/>
                                        <p:tgtEl>
                                          <p:spTgt spid="839700">
                                            <p:bg/>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839700">
                                            <p:txEl>
                                              <p:pRg st="0" end="0"/>
                                            </p:txEl>
                                          </p:spTgt>
                                        </p:tgtEl>
                                        <p:attrNameLst>
                                          <p:attrName>style.visibility</p:attrName>
                                        </p:attrNameLst>
                                      </p:cBhvr>
                                      <p:to>
                                        <p:strVal val="visible"/>
                                      </p:to>
                                    </p:set>
                                    <p:animEffect transition="in" filter="box(out)">
                                      <p:cBhvr>
                                        <p:cTn id="62" dur="500"/>
                                        <p:tgtEl>
                                          <p:spTgt spid="839700">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839700">
                                            <p:txEl>
                                              <p:pRg st="1" end="1"/>
                                            </p:txEl>
                                          </p:spTgt>
                                        </p:tgtEl>
                                        <p:attrNameLst>
                                          <p:attrName>style.visibility</p:attrName>
                                        </p:attrNameLst>
                                      </p:cBhvr>
                                      <p:to>
                                        <p:strVal val="visible"/>
                                      </p:to>
                                    </p:set>
                                    <p:animEffect transition="in" filter="box(out)">
                                      <p:cBhvr>
                                        <p:cTn id="67" dur="500"/>
                                        <p:tgtEl>
                                          <p:spTgt spid="839700">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839701"/>
                                        </p:tgtEl>
                                        <p:attrNameLst>
                                          <p:attrName>style.visibility</p:attrName>
                                        </p:attrNameLst>
                                      </p:cBhvr>
                                      <p:to>
                                        <p:strVal val="visible"/>
                                      </p:to>
                                    </p:set>
                                    <p:animEffect transition="in" filter="blinds(horizontal)">
                                      <p:cBhvr>
                                        <p:cTn id="72" dur="500"/>
                                        <p:tgtEl>
                                          <p:spTgt spid="839701"/>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839700">
                                            <p:txEl>
                                              <p:pRg st="2" end="2"/>
                                            </p:txEl>
                                          </p:spTgt>
                                        </p:tgtEl>
                                        <p:attrNameLst>
                                          <p:attrName>style.visibility</p:attrName>
                                        </p:attrNameLst>
                                      </p:cBhvr>
                                      <p:to>
                                        <p:strVal val="visible"/>
                                      </p:to>
                                    </p:set>
                                    <p:animEffect transition="in" filter="box(out)">
                                      <p:cBhvr>
                                        <p:cTn id="77" dur="500"/>
                                        <p:tgtEl>
                                          <p:spTgt spid="839700">
                                            <p:txEl>
                                              <p:pRg st="2" end="2"/>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2" grpId="0" build="p" bldLvl="5" autoUpdateAnimBg="0"/>
      <p:bldP spid="839685" grpId="0" animBg="1" autoUpdateAnimBg="0"/>
      <p:bldP spid="839686" grpId="0" build="p" autoUpdateAnimBg="0"/>
      <p:bldP spid="839687" grpId="0" animBg="1" autoUpdateAnimBg="0"/>
      <p:bldP spid="839688" grpId="0" build="p" autoUpdateAnimBg="0"/>
      <p:bldP spid="839689" grpId="0" animBg="1" autoUpdateAnimBg="0"/>
      <p:bldP spid="839690" grpId="0" build="p" autoUpdateAnimBg="0"/>
      <p:bldP spid="839691" grpId="0" animBg="1" autoUpdateAnimBg="0"/>
      <p:bldP spid="839692" grpId="0" build="p" autoUpdateAnimBg="0"/>
      <p:bldP spid="839693" grpId="0"/>
      <p:bldP spid="839700" grpId="0" uiExpand="1" build="p" animBg="1" autoUpdateAnimBg="0"/>
      <p:bldP spid="83970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0744" name="Rectangle 40"/>
          <p:cNvSpPr>
            <a:spLocks noChangeArrowheads="1"/>
          </p:cNvSpPr>
          <p:nvPr/>
        </p:nvSpPr>
        <p:spPr bwMode="auto">
          <a:xfrm>
            <a:off x="1033971" y="1340768"/>
            <a:ext cx="2286203"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rgbClr val="C01920"/>
                </a:solidFill>
                <a:latin typeface="楷体" pitchFamily="49" charset="-122"/>
                <a:ea typeface="楷体" pitchFamily="49" charset="-122"/>
              </a:rPr>
              <a:t> </a:t>
            </a:r>
            <a:r>
              <a:rPr lang="zh-CN" altLang="en-US" b="1">
                <a:solidFill>
                  <a:srgbClr val="C01920"/>
                </a:solidFill>
                <a:latin typeface="楷体" pitchFamily="49" charset="-122"/>
                <a:ea typeface="楷体" pitchFamily="49" charset="-122"/>
              </a:rPr>
              <a:t>逻辑运算符</a:t>
            </a:r>
            <a:r>
              <a:rPr lang="zh-CN" altLang="en-US">
                <a:solidFill>
                  <a:srgbClr val="C01920"/>
                </a:solidFill>
                <a:latin typeface="楷体" pitchFamily="49" charset="-122"/>
                <a:ea typeface="楷体" pitchFamily="49" charset="-122"/>
              </a:rPr>
              <a:t> </a:t>
            </a:r>
          </a:p>
        </p:txBody>
      </p:sp>
      <p:graphicFrame>
        <p:nvGraphicFramePr>
          <p:cNvPr id="840854" name="Group 150"/>
          <p:cNvGraphicFramePr>
            <a:graphicFrameLocks noGrp="1"/>
          </p:cNvGraphicFramePr>
          <p:nvPr>
            <p:extLst>
              <p:ext uri="{D42A27DB-BD31-4B8C-83A1-F6EECF244321}">
                <p14:modId xmlns:p14="http://schemas.microsoft.com/office/powerpoint/2010/main" val="49196872"/>
              </p:ext>
            </p:extLst>
          </p:nvPr>
        </p:nvGraphicFramePr>
        <p:xfrm>
          <a:off x="1558925" y="1906562"/>
          <a:ext cx="9504709" cy="2316480"/>
        </p:xfrm>
        <a:graphic>
          <a:graphicData uri="http://schemas.openxmlformats.org/drawingml/2006/table">
            <a:tbl>
              <a:tblPr>
                <a:effectLst>
                  <a:outerShdw blurRad="50800" dist="38100" dir="2700000" algn="tl" rotWithShape="0">
                    <a:prstClr val="black">
                      <a:alpha val="40000"/>
                    </a:prstClr>
                  </a:outerShdw>
                </a:effectLst>
              </a:tblPr>
              <a:tblGrid>
                <a:gridCol w="2447925">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tblGrid>
              <a:tr h="287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lumMod val="95000"/>
                            </a:schemeClr>
                          </a:solidFill>
                          <a:effectLst/>
                          <a:latin typeface="+mn-lt"/>
                          <a:ea typeface="楷体" pitchFamily="49" charset="-122"/>
                        </a:rPr>
                        <a:t>逻辑运算符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lumMod val="95000"/>
                            </a:schemeClr>
                          </a:solidFill>
                          <a:effectLst/>
                          <a:latin typeface="+mn-lt"/>
                          <a:ea typeface="楷体" pitchFamily="49" charset="-122"/>
                        </a:rPr>
                        <a:t>含  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lumMod val="95000"/>
                            </a:schemeClr>
                          </a:solidFill>
                          <a:effectLst/>
                          <a:latin typeface="+mn-lt"/>
                          <a:ea typeface="楷体" pitchFamily="49" charset="-122"/>
                        </a:rPr>
                        <a:t>结 合 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lumMod val="95000"/>
                            </a:schemeClr>
                          </a:solidFill>
                          <a:effectLst/>
                          <a:latin typeface="+mn-lt"/>
                          <a:ea typeface="楷体" pitchFamily="49" charset="-122"/>
                        </a:rPr>
                        <a:t>优先级关系</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4683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rPr>
                        <a:t>单目运算符，逻辑非，表示相反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rPr>
                        <a:t>右结合性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        </a:t>
                      </a:r>
                      <a:r>
                        <a:rPr kumimoji="1" lang="zh-CN" altLang="en-US" sz="2000" b="1" i="0" u="none" strike="noStrike" cap="none" normalizeH="0" baseline="0" dirty="0">
                          <a:ln>
                            <a:noFill/>
                          </a:ln>
                          <a:solidFill>
                            <a:srgbClr val="C01920"/>
                          </a:solidFill>
                          <a:effectLst/>
                          <a:latin typeface="+mn-lt"/>
                          <a:ea typeface="楷体" pitchFamily="49" charset="-122"/>
                        </a:rPr>
                        <a:t>高</a:t>
                      </a: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C01920"/>
                        </a:solidFill>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C01920"/>
                        </a:solidFill>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C01920"/>
                        </a:solidFill>
                        <a:effectLst/>
                        <a:latin typeface="+mn-lt"/>
                        <a:ea typeface="楷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dirty="0">
                        <a:ln>
                          <a:noFill/>
                        </a:ln>
                        <a:solidFill>
                          <a:srgbClr val="C01920"/>
                        </a:solidFill>
                        <a:effectLst/>
                        <a:latin typeface="+mn-lt"/>
                        <a:ea typeface="楷体"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        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&amp;&amp;</a:t>
                      </a:r>
                      <a:r>
                        <a:rPr kumimoji="1" lang="en-US" altLang="zh-CN" sz="2000" b="1" i="0" u="none" strike="noStrike" cap="none" normalizeH="0" baseline="0" dirty="0">
                          <a:ln>
                            <a:noFill/>
                          </a:ln>
                          <a:solidFill>
                            <a:schemeClr val="tx1"/>
                          </a:solidFill>
                          <a:effectLst/>
                          <a:latin typeface="+mn-lt"/>
                          <a:ea typeface="楷体" pitchFamily="49" charset="-122"/>
                        </a:rPr>
                        <a:t> </a:t>
                      </a:r>
                      <a:r>
                        <a:rPr kumimoji="1" lang="zh-CN" altLang="en-US" sz="2000" b="1" i="0" u="none" strike="noStrike" cap="none" normalizeH="0" baseline="0" dirty="0">
                          <a:ln>
                            <a:noFill/>
                          </a:ln>
                          <a:solidFill>
                            <a:schemeClr val="tx1"/>
                          </a:solidFill>
                          <a:effectLst/>
                          <a:latin typeface="+mn-lt"/>
                          <a:ea typeface="楷体" pitchFamily="49" charset="-122"/>
                        </a:rPr>
                        <a:t>（两个</a:t>
                      </a:r>
                      <a:r>
                        <a:rPr kumimoji="1" lang="en-US" altLang="zh-CN" sz="2000" b="1" i="0" u="none" strike="noStrike" cap="none" normalizeH="0" baseline="0" dirty="0">
                          <a:ln>
                            <a:noFill/>
                          </a:ln>
                          <a:solidFill>
                            <a:schemeClr val="tx1"/>
                          </a:solidFill>
                          <a:effectLst/>
                          <a:latin typeface="+mn-lt"/>
                          <a:ea typeface="楷体" pitchFamily="49" charset="-122"/>
                        </a:rPr>
                        <a:t>&amp;</a:t>
                      </a:r>
                      <a:r>
                        <a:rPr kumimoji="1" lang="zh-CN" altLang="en-US" sz="2000" b="1" i="0" u="none" strike="noStrike" cap="none" normalizeH="0" baseline="0" dirty="0">
                          <a:ln>
                            <a:noFill/>
                          </a:ln>
                          <a:solidFill>
                            <a:schemeClr val="tx1"/>
                          </a:solidFill>
                          <a:effectLst/>
                          <a:latin typeface="+mn-lt"/>
                          <a:ea typeface="楷体" pitchFamily="49" charset="-122"/>
                        </a:rPr>
                        <a:t>之间没有空格）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rPr>
                        <a:t>双目运算符，逻辑与，表示并且</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rPr>
                        <a:t>左结合性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2"/>
                  </a:ext>
                </a:extLst>
              </a:tr>
              <a:tr h="4683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 </a:t>
                      </a:r>
                      <a:r>
                        <a:rPr kumimoji="1" lang="zh-CN" altLang="en-US" sz="2000" b="1" i="0" u="none" strike="noStrike" cap="none" normalizeH="0" baseline="0" dirty="0">
                          <a:ln>
                            <a:noFill/>
                          </a:ln>
                          <a:solidFill>
                            <a:schemeClr val="tx1"/>
                          </a:solidFill>
                          <a:effectLst/>
                          <a:latin typeface="+mn-lt"/>
                          <a:ea typeface="楷体" pitchFamily="49" charset="-122"/>
                        </a:rPr>
                        <a:t>（两个</a:t>
                      </a:r>
                      <a:r>
                        <a:rPr kumimoji="1" lang="en-US" altLang="zh-CN" sz="2000" b="1" i="0" u="none" strike="noStrike" cap="none" normalizeH="0" baseline="0" dirty="0">
                          <a:ln>
                            <a:noFill/>
                          </a:ln>
                          <a:solidFill>
                            <a:schemeClr val="tx1"/>
                          </a:solidFill>
                          <a:effectLst/>
                          <a:latin typeface="+mn-lt"/>
                          <a:ea typeface="楷体" pitchFamily="49" charset="-122"/>
                        </a:rPr>
                        <a:t>|</a:t>
                      </a:r>
                      <a:r>
                        <a:rPr kumimoji="1" lang="zh-CN" altLang="en-US" sz="2000" b="1" i="0" u="none" strike="noStrike" cap="none" normalizeH="0" baseline="0" dirty="0">
                          <a:ln>
                            <a:noFill/>
                          </a:ln>
                          <a:solidFill>
                            <a:schemeClr val="tx1"/>
                          </a:solidFill>
                          <a:effectLst/>
                          <a:latin typeface="+mn-lt"/>
                          <a:ea typeface="楷体" pitchFamily="49" charset="-122"/>
                        </a:rPr>
                        <a:t>之间没有空格）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rPr>
                        <a:t>双目运算符，逻辑或，表示或者</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3"/>
                  </a:ext>
                </a:extLst>
              </a:tr>
            </a:tbl>
          </a:graphicData>
        </a:graphic>
      </p:graphicFrame>
      <p:graphicFrame>
        <p:nvGraphicFramePr>
          <p:cNvPr id="841048" name="Group 344"/>
          <p:cNvGraphicFramePr>
            <a:graphicFrameLocks noGrp="1"/>
          </p:cNvGraphicFramePr>
          <p:nvPr>
            <p:extLst>
              <p:ext uri="{D42A27DB-BD31-4B8C-83A1-F6EECF244321}">
                <p14:modId xmlns:p14="http://schemas.microsoft.com/office/powerpoint/2010/main" val="899774818"/>
              </p:ext>
            </p:extLst>
          </p:nvPr>
        </p:nvGraphicFramePr>
        <p:xfrm>
          <a:off x="1573318" y="4707240"/>
          <a:ext cx="9504708" cy="1893253"/>
        </p:xfrm>
        <a:graphic>
          <a:graphicData uri="http://schemas.openxmlformats.org/drawingml/2006/table">
            <a:tbl>
              <a:tblPr>
                <a:effectLst>
                  <a:outerShdw blurRad="50800" dist="38100" dir="2700000" algn="tl" rotWithShape="0">
                    <a:prstClr val="black">
                      <a:alpha val="40000"/>
                    </a:prstClr>
                  </a:outerShdw>
                </a:effectLst>
              </a:tblPr>
              <a:tblGrid>
                <a:gridCol w="1584474">
                  <a:extLst>
                    <a:ext uri="{9D8B030D-6E8A-4147-A177-3AD203B41FA5}">
                      <a16:colId xmlns:a16="http://schemas.microsoft.com/office/drawing/2014/main" val="20000"/>
                    </a:ext>
                  </a:extLst>
                </a:gridCol>
                <a:gridCol w="1584475">
                  <a:extLst>
                    <a:ext uri="{9D8B030D-6E8A-4147-A177-3AD203B41FA5}">
                      <a16:colId xmlns:a16="http://schemas.microsoft.com/office/drawing/2014/main" val="20001"/>
                    </a:ext>
                  </a:extLst>
                </a:gridCol>
                <a:gridCol w="1584474">
                  <a:extLst>
                    <a:ext uri="{9D8B030D-6E8A-4147-A177-3AD203B41FA5}">
                      <a16:colId xmlns:a16="http://schemas.microsoft.com/office/drawing/2014/main" val="20002"/>
                    </a:ext>
                  </a:extLst>
                </a:gridCol>
                <a:gridCol w="1582336">
                  <a:extLst>
                    <a:ext uri="{9D8B030D-6E8A-4147-A177-3AD203B41FA5}">
                      <a16:colId xmlns:a16="http://schemas.microsoft.com/office/drawing/2014/main" val="20003"/>
                    </a:ext>
                  </a:extLst>
                </a:gridCol>
                <a:gridCol w="1584475">
                  <a:extLst>
                    <a:ext uri="{9D8B030D-6E8A-4147-A177-3AD203B41FA5}">
                      <a16:colId xmlns:a16="http://schemas.microsoft.com/office/drawing/2014/main" val="20004"/>
                    </a:ext>
                  </a:extLst>
                </a:gridCol>
                <a:gridCol w="1584474">
                  <a:extLst>
                    <a:ext uri="{9D8B030D-6E8A-4147-A177-3AD203B41FA5}">
                      <a16:colId xmlns:a16="http://schemas.microsoft.com/office/drawing/2014/main" val="20005"/>
                    </a:ext>
                  </a:extLst>
                </a:gridCol>
              </a:tblGrid>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bg1">
                              <a:lumMod val="95000"/>
                            </a:schemeClr>
                          </a:solidFill>
                          <a:effectLst/>
                          <a:latin typeface="Times New Roman" pitchFamily="18" charset="0"/>
                          <a:ea typeface="楷体_GB2312"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bg1">
                              <a:lumMod val="95000"/>
                            </a:schemeClr>
                          </a:solidFill>
                          <a:effectLst/>
                          <a:latin typeface="Times New Roman" pitchFamily="18" charset="0"/>
                          <a:ea typeface="楷体_GB2312" pitchFamily="49"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bg1">
                              <a:lumMod val="95000"/>
                            </a:schemeClr>
                          </a:solidFill>
                          <a:effectLst/>
                          <a:latin typeface="Times New Roman" pitchFamily="18" charset="0"/>
                          <a:ea typeface="楷体_GB2312"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bg1">
                              <a:lumMod val="95000"/>
                            </a:schemeClr>
                          </a:solidFill>
                          <a:effectLst/>
                          <a:latin typeface="Times New Roman" pitchFamily="18" charset="0"/>
                          <a:ea typeface="楷体_GB2312" pitchFamily="49" charset="-122"/>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bg1">
                              <a:lumMod val="95000"/>
                            </a:schemeClr>
                          </a:solidFill>
                          <a:effectLst/>
                          <a:latin typeface="Times New Roman" pitchFamily="18" charset="0"/>
                          <a:ea typeface="楷体_GB2312" pitchFamily="49" charset="-122"/>
                        </a:rPr>
                        <a:t>A &amp;&amp; 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bg1">
                              <a:lumMod val="95000"/>
                            </a:schemeClr>
                          </a:solidFill>
                          <a:effectLst/>
                          <a:latin typeface="Times New Roman" pitchFamily="18" charset="0"/>
                          <a:ea typeface="楷体_GB2312" pitchFamily="49" charset="-122"/>
                        </a:rPr>
                        <a:t>A || 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2060"/>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30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accent1">
                              <a:lumMod val="50000"/>
                            </a:schemeClr>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002060"/>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rPr>
                        <a:t>假</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2060"/>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mn-lt"/>
                          <a:ea typeface="楷体" pitchFamily="49" charset="-122"/>
                        </a:rPr>
                        <a:t>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accent1">
                              <a:lumMod val="50000"/>
                            </a:schemeClr>
                          </a:solidFill>
                          <a:effectLst/>
                          <a:latin typeface="+mn-lt"/>
                          <a:ea typeface="楷体" pitchFamily="49" charset="-122"/>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002060"/>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841049" name="Rectangle 345"/>
          <p:cNvSpPr>
            <a:spLocks noChangeArrowheads="1"/>
          </p:cNvSpPr>
          <p:nvPr/>
        </p:nvSpPr>
        <p:spPr bwMode="auto">
          <a:xfrm>
            <a:off x="1033970" y="4221088"/>
            <a:ext cx="290496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逻辑运算真值表</a:t>
            </a:r>
            <a:r>
              <a:rPr lang="zh-CN" altLang="en-US" dirty="0">
                <a:solidFill>
                  <a:srgbClr val="C01920"/>
                </a:solidFill>
                <a:latin typeface="楷体" pitchFamily="49" charset="-122"/>
                <a:ea typeface="楷体" pitchFamily="49" charset="-122"/>
              </a:rPr>
              <a:t> </a:t>
            </a:r>
          </a:p>
        </p:txBody>
      </p:sp>
      <p:sp>
        <p:nvSpPr>
          <p:cNvPr id="10" name="Rectangle 4">
            <a:extLst>
              <a:ext uri="{FF2B5EF4-FFF2-40B4-BE49-F238E27FC236}">
                <a16:creationId xmlns:a16="http://schemas.microsoft.com/office/drawing/2014/main" id="{6C82D2FB-8287-430E-A73E-B9D82506BD2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11" name="Rectangle 13">
            <a:extLst>
              <a:ext uri="{FF2B5EF4-FFF2-40B4-BE49-F238E27FC236}">
                <a16:creationId xmlns:a16="http://schemas.microsoft.com/office/drawing/2014/main" id="{55E8B633-C379-4D09-86A8-8CD73BF9481E}"/>
              </a:ext>
            </a:extLst>
          </p:cNvPr>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2. </a:t>
            </a:r>
            <a:r>
              <a:rPr lang="zh-CN" altLang="en-US" sz="2800" b="1" dirty="0">
                <a:solidFill>
                  <a:srgbClr val="C01920"/>
                </a:solidFill>
                <a:latin typeface="楷体" panose="02010609060101010101" pitchFamily="49" charset="-122"/>
                <a:ea typeface="楷体" panose="02010609060101010101" pitchFamily="49" charset="-122"/>
              </a:rPr>
              <a:t>逻辑运算符和逻辑表达式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0744"/>
                                        </p:tgtEl>
                                        <p:attrNameLst>
                                          <p:attrName>style.visibility</p:attrName>
                                        </p:attrNameLst>
                                      </p:cBhvr>
                                      <p:to>
                                        <p:strVal val="visible"/>
                                      </p:to>
                                    </p:set>
                                    <p:anim calcmode="lin" valueType="num">
                                      <p:cBhvr additive="base">
                                        <p:cTn id="7" dur="500" fill="hold"/>
                                        <p:tgtEl>
                                          <p:spTgt spid="840744"/>
                                        </p:tgtEl>
                                        <p:attrNameLst>
                                          <p:attrName>ppt_x</p:attrName>
                                        </p:attrNameLst>
                                      </p:cBhvr>
                                      <p:tavLst>
                                        <p:tav tm="0">
                                          <p:val>
                                            <p:strVal val="0-#ppt_w/2"/>
                                          </p:val>
                                        </p:tav>
                                        <p:tav tm="100000">
                                          <p:val>
                                            <p:strVal val="#ppt_x"/>
                                          </p:val>
                                        </p:tav>
                                      </p:tavLst>
                                    </p:anim>
                                    <p:anim calcmode="lin" valueType="num">
                                      <p:cBhvr additive="base">
                                        <p:cTn id="8" dur="500" fill="hold"/>
                                        <p:tgtEl>
                                          <p:spTgt spid="8407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40854"/>
                                        </p:tgtEl>
                                        <p:attrNameLst>
                                          <p:attrName>style.visibility</p:attrName>
                                        </p:attrNameLst>
                                      </p:cBhvr>
                                      <p:to>
                                        <p:strVal val="visible"/>
                                      </p:to>
                                    </p:set>
                                    <p:animEffect transition="in" filter="box(out)">
                                      <p:cBhvr>
                                        <p:cTn id="13" dur="500"/>
                                        <p:tgtEl>
                                          <p:spTgt spid="840854"/>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41049"/>
                                        </p:tgtEl>
                                        <p:attrNameLst>
                                          <p:attrName>style.visibility</p:attrName>
                                        </p:attrNameLst>
                                      </p:cBhvr>
                                      <p:to>
                                        <p:strVal val="visible"/>
                                      </p:to>
                                    </p:set>
                                    <p:anim calcmode="lin" valueType="num">
                                      <p:cBhvr additive="base">
                                        <p:cTn id="18" dur="500" fill="hold"/>
                                        <p:tgtEl>
                                          <p:spTgt spid="841049"/>
                                        </p:tgtEl>
                                        <p:attrNameLst>
                                          <p:attrName>ppt_x</p:attrName>
                                        </p:attrNameLst>
                                      </p:cBhvr>
                                      <p:tavLst>
                                        <p:tav tm="0">
                                          <p:val>
                                            <p:strVal val="0-#ppt_w/2"/>
                                          </p:val>
                                        </p:tav>
                                        <p:tav tm="100000">
                                          <p:val>
                                            <p:strVal val="#ppt_x"/>
                                          </p:val>
                                        </p:tav>
                                      </p:tavLst>
                                    </p:anim>
                                    <p:anim calcmode="lin" valueType="num">
                                      <p:cBhvr additive="base">
                                        <p:cTn id="19" dur="500" fill="hold"/>
                                        <p:tgtEl>
                                          <p:spTgt spid="8410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841048"/>
                                        </p:tgtEl>
                                        <p:attrNameLst>
                                          <p:attrName>style.visibility</p:attrName>
                                        </p:attrNameLst>
                                      </p:cBhvr>
                                      <p:to>
                                        <p:strVal val="visible"/>
                                      </p:to>
                                    </p:set>
                                    <p:animEffect transition="in" filter="box(out)">
                                      <p:cBhvr>
                                        <p:cTn id="24" dur="500"/>
                                        <p:tgtEl>
                                          <p:spTgt spid="841048"/>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44" grpId="0"/>
      <p:bldP spid="841049"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42790" name="Group 38"/>
          <p:cNvGrpSpPr>
            <a:grpSpLocks/>
          </p:cNvGrpSpPr>
          <p:nvPr/>
        </p:nvGrpSpPr>
        <p:grpSpPr bwMode="auto">
          <a:xfrm>
            <a:off x="1587013" y="3587494"/>
            <a:ext cx="3732213" cy="2303463"/>
            <a:chOff x="1020" y="2024"/>
            <a:chExt cx="2351" cy="1451"/>
          </a:xfrm>
          <a:effectLst>
            <a:outerShdw blurRad="50800" dist="106680" dir="2700000" algn="tl" rotWithShape="0">
              <a:prstClr val="black">
                <a:alpha val="43000"/>
              </a:prstClr>
            </a:outerShdw>
          </a:effectLst>
        </p:grpSpPr>
        <p:sp>
          <p:nvSpPr>
            <p:cNvPr id="842788" name="Text Box 36" descr="信纸"/>
            <p:cNvSpPr txBox="1">
              <a:spLocks noChangeArrowheads="1"/>
            </p:cNvSpPr>
            <p:nvPr/>
          </p:nvSpPr>
          <p:spPr bwMode="auto">
            <a:xfrm>
              <a:off x="1020" y="2024"/>
              <a:ext cx="2351" cy="1451"/>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n w="38100">
              <a:solidFill>
                <a:schemeClr val="accent1">
                  <a:lumMod val="50000"/>
                </a:schemeClr>
              </a:solidFill>
              <a:miter lim="800000"/>
              <a:headEnd/>
              <a:tailEnd/>
            </a:ln>
            <a:effectLst>
              <a:outerShdw dist="107763" dir="2700000" algn="ctr" rotWithShape="0">
                <a:srgbClr val="808080">
                  <a:alpha val="50000"/>
                </a:srgbClr>
              </a:outerShdw>
            </a:effectLst>
            <a:scene3d>
              <a:camera prst="orthographicFront"/>
              <a:lightRig rig="threePt" dir="t"/>
            </a:scene3d>
            <a:sp3d>
              <a:bevelT w="114300" prst="hardEdge"/>
            </a:sp3d>
          </p:spPr>
          <p:txBody>
            <a:bodyPr/>
            <a:lstStyle/>
            <a:p>
              <a:r>
                <a:rPr lang="en-US" altLang="zh-CN" sz="2000" b="1" dirty="0">
                  <a:solidFill>
                    <a:srgbClr val="C01920"/>
                  </a:solidFill>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err="1">
                  <a:effectLst>
                    <a:outerShdw blurRad="38100" dist="38100" dir="2700000" algn="tl">
                      <a:srgbClr val="FFFFFF"/>
                    </a:outerShdw>
                  </a:effectLst>
                  <a:latin typeface="+mn-lt"/>
                  <a:ea typeface="楷体" pitchFamily="49" charset="-122"/>
                </a:rPr>
                <a:t>sizeof</a:t>
              </a: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高</a:t>
              </a:r>
            </a:p>
            <a:p>
              <a:r>
                <a:rPr lang="zh-CN" altLang="en-US" sz="2000" b="1" dirty="0">
                  <a:effectLst>
                    <a:outerShdw blurRad="38100" dist="38100" dir="2700000" algn="tl">
                      <a:srgbClr val="FFFFFF"/>
                    </a:outerShdw>
                  </a:effectLst>
                  <a:latin typeface="+mn-lt"/>
                  <a:ea typeface="楷体" pitchFamily="49" charset="-122"/>
                </a:rPr>
                <a:t>算术运算符</a:t>
              </a:r>
            </a:p>
            <a:p>
              <a:r>
                <a:rPr lang="zh-CN" altLang="en-US" sz="2000" b="1" dirty="0">
                  <a:effectLst>
                    <a:outerShdw blurRad="38100" dist="38100" dir="2700000" algn="tl">
                      <a:srgbClr val="FFFFFF"/>
                    </a:outerShdw>
                  </a:effectLst>
                  <a:latin typeface="+mn-lt"/>
                  <a:ea typeface="楷体" pitchFamily="49" charset="-122"/>
                </a:rPr>
                <a:t>移位运算符</a:t>
              </a:r>
            </a:p>
            <a:p>
              <a:r>
                <a:rPr lang="zh-CN" altLang="en-US" sz="2000" b="1" dirty="0">
                  <a:effectLst>
                    <a:outerShdw blurRad="38100" dist="38100" dir="2700000" algn="tl">
                      <a:srgbClr val="FFFFFF"/>
                    </a:outerShdw>
                  </a:effectLst>
                  <a:latin typeface="+mn-lt"/>
                  <a:ea typeface="楷体" pitchFamily="49" charset="-122"/>
                </a:rPr>
                <a:t>关系运算符</a:t>
              </a:r>
            </a:p>
            <a:p>
              <a:r>
                <a:rPr lang="en-US" altLang="zh-CN" sz="2000" b="1" dirty="0">
                  <a:effectLst>
                    <a:outerShdw blurRad="38100" dist="38100" dir="2700000" algn="tl">
                      <a:srgbClr val="FFFFFF"/>
                    </a:outerShdw>
                  </a:effectLst>
                  <a:latin typeface="+mn-lt"/>
                  <a:ea typeface="楷体" pitchFamily="49" charset="-122"/>
                </a:rPr>
                <a:t>&amp;</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t>
              </a:r>
            </a:p>
            <a:p>
              <a:r>
                <a:rPr lang="en-US" altLang="zh-CN" sz="2000" b="1" dirty="0">
                  <a:solidFill>
                    <a:srgbClr val="C01920"/>
                  </a:solidFill>
                  <a:latin typeface="+mn-lt"/>
                  <a:ea typeface="楷体" pitchFamily="49" charset="-122"/>
                </a:rPr>
                <a:t>&amp;&amp;</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p>
            <a:p>
              <a:r>
                <a:rPr lang="zh-CN" altLang="en-US" sz="2000" b="1" dirty="0">
                  <a:effectLst>
                    <a:outerShdw blurRad="38100" dist="38100" dir="2700000" algn="tl">
                      <a:srgbClr val="FFFFFF"/>
                    </a:outerShdw>
                  </a:effectLst>
                  <a:latin typeface="+mn-lt"/>
                  <a:ea typeface="楷体" pitchFamily="49" charset="-122"/>
                </a:rPr>
                <a:t>赋值运算符                      低</a:t>
              </a:r>
            </a:p>
          </p:txBody>
        </p:sp>
        <p:sp>
          <p:nvSpPr>
            <p:cNvPr id="842789" name="Line 37"/>
            <p:cNvSpPr>
              <a:spLocks noChangeShapeType="1"/>
            </p:cNvSpPr>
            <p:nvPr/>
          </p:nvSpPr>
          <p:spPr bwMode="auto">
            <a:xfrm flipV="1">
              <a:off x="3011" y="2112"/>
              <a:ext cx="0" cy="1247"/>
            </a:xfrm>
            <a:prstGeom prst="line">
              <a:avLst/>
            </a:prstGeom>
            <a:noFill/>
            <a:ln w="28575">
              <a:solidFill>
                <a:srgbClr val="FF0000"/>
              </a:solidFill>
              <a:round/>
              <a:headEnd/>
              <a:tailEnd type="stealth" w="lg" len="lg"/>
            </a:ln>
            <a:effectLst>
              <a:outerShdw dist="35921" dir="2700000" algn="ctr" rotWithShape="0">
                <a:schemeClr val="bg2">
                  <a:alpha val="50000"/>
                </a:schemeClr>
              </a:outerShdw>
            </a:effectLst>
            <a:scene3d>
              <a:camera prst="orthographicFront"/>
              <a:lightRig rig="threePt" dir="t"/>
            </a:scene3d>
            <a:sp3d>
              <a:bevelT w="114300" prst="hardEdge"/>
            </a:sp3d>
          </p:spPr>
          <p:txBody>
            <a:bodyPr/>
            <a:lstStyle/>
            <a:p>
              <a:endParaRPr lang="zh-CN" altLang="en-US">
                <a:latin typeface="+mn-lt"/>
                <a:ea typeface="楷体" pitchFamily="49" charset="-122"/>
              </a:endParaRPr>
            </a:p>
          </p:txBody>
        </p:sp>
      </p:grpSp>
      <p:sp>
        <p:nvSpPr>
          <p:cNvPr id="842791" name="Rectangle 39"/>
          <p:cNvSpPr>
            <a:spLocks noChangeArrowheads="1"/>
          </p:cNvSpPr>
          <p:nvPr/>
        </p:nvSpPr>
        <p:spPr bwMode="auto">
          <a:xfrm>
            <a:off x="5478722" y="3212976"/>
            <a:ext cx="6010531" cy="28733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sz="2000" b="1" dirty="0">
                <a:solidFill>
                  <a:srgbClr val="C01920"/>
                </a:solidFill>
                <a:latin typeface="隶书" pitchFamily="49" charset="-122"/>
                <a:ea typeface="隶书" pitchFamily="49" charset="-122"/>
              </a:rPr>
              <a:t>例如：</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&lt;= x &amp;&amp; x &lt;=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&amp;&amp; x &gt; y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b || x == y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a &gt;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c = a || b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 7 &amp;&amp; b &amp; 8       </a:t>
            </a:r>
            <a:r>
              <a:rPr lang="zh-CN" altLang="en-US" sz="2000" b="1" dirty="0">
                <a:effectLst>
                  <a:outerShdw blurRad="38100" dist="38100" dir="2700000" algn="tl">
                    <a:srgbClr val="C0C0C0"/>
                  </a:outerShdw>
                </a:effectLst>
                <a:latin typeface="+mn-lt"/>
                <a:ea typeface="楷体" pitchFamily="49" charset="-122"/>
              </a:rPr>
              <a:t>等价于：</a:t>
            </a:r>
          </a:p>
          <a:p>
            <a:pPr indent="266700"/>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a &gt;&gt; 2 &amp;&amp; b &lt;&lt; 1  </a:t>
            </a:r>
            <a:r>
              <a:rPr lang="zh-CN" altLang="en-US" sz="2000" b="1" dirty="0">
                <a:effectLst>
                  <a:outerShdw blurRad="38100" dist="38100" dir="2700000" algn="tl">
                    <a:srgbClr val="C0C0C0"/>
                  </a:outerShdw>
                </a:effectLst>
                <a:latin typeface="+mn-lt"/>
                <a:ea typeface="楷体" pitchFamily="49" charset="-122"/>
              </a:rPr>
              <a:t>等价于：</a:t>
            </a:r>
          </a:p>
        </p:txBody>
      </p:sp>
      <p:sp>
        <p:nvSpPr>
          <p:cNvPr id="842759" name="Rectangle 7"/>
          <p:cNvSpPr>
            <a:spLocks noChangeArrowheads="1"/>
          </p:cNvSpPr>
          <p:nvPr/>
        </p:nvSpPr>
        <p:spPr bwMode="auto">
          <a:xfrm>
            <a:off x="1144710" y="1348666"/>
            <a:ext cx="2286203" cy="461665"/>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a:solidFill>
                  <a:srgbClr val="C01920"/>
                </a:solidFill>
                <a:latin typeface="楷体" pitchFamily="49" charset="-122"/>
                <a:ea typeface="楷体" pitchFamily="49" charset="-122"/>
              </a:rPr>
              <a:t> </a:t>
            </a:r>
            <a:r>
              <a:rPr lang="zh-CN" altLang="en-US" b="1">
                <a:solidFill>
                  <a:srgbClr val="C01920"/>
                </a:solidFill>
                <a:latin typeface="楷体" pitchFamily="49" charset="-122"/>
                <a:ea typeface="楷体" pitchFamily="49" charset="-122"/>
              </a:rPr>
              <a:t>逻辑表达式</a:t>
            </a:r>
            <a:r>
              <a:rPr lang="zh-CN" altLang="en-US">
                <a:solidFill>
                  <a:srgbClr val="C01920"/>
                </a:solidFill>
                <a:latin typeface="楷体" pitchFamily="49" charset="-122"/>
                <a:ea typeface="楷体" pitchFamily="49" charset="-122"/>
              </a:rPr>
              <a:t> </a:t>
            </a:r>
          </a:p>
        </p:txBody>
      </p:sp>
      <p:sp>
        <p:nvSpPr>
          <p:cNvPr id="842760" name="Rectangle 8"/>
          <p:cNvSpPr>
            <a:spLocks noChangeArrowheads="1"/>
          </p:cNvSpPr>
          <p:nvPr/>
        </p:nvSpPr>
        <p:spPr bwMode="auto">
          <a:xfrm>
            <a:off x="1271464" y="1715620"/>
            <a:ext cx="9407687" cy="830997"/>
          </a:xfrm>
          <a:prstGeom prst="rect">
            <a:avLst/>
          </a:prstGeom>
          <a:noFill/>
          <a:ln w="9525">
            <a:noFill/>
            <a:miter lim="800000"/>
            <a:headEnd/>
            <a:tailEnd/>
          </a:ln>
          <a:effectLst/>
        </p:spPr>
        <p:txBody>
          <a:bodyPr wrap="square" anchor="ctr">
            <a:spAutoFit/>
          </a:bodyPr>
          <a:lstStyle/>
          <a:p>
            <a:pPr indent="266700"/>
            <a:r>
              <a:rPr lang="zh-CN" altLang="en-US" b="1" dirty="0">
                <a:latin typeface="楷体" pitchFamily="49" charset="-122"/>
                <a:ea typeface="楷体" pitchFamily="49" charset="-122"/>
              </a:rPr>
              <a:t>用逻辑运算符连接起来的式子称为</a:t>
            </a:r>
            <a:r>
              <a:rPr lang="zh-CN" altLang="en-US" b="1" dirty="0">
                <a:solidFill>
                  <a:srgbClr val="C01920"/>
                </a:solidFill>
                <a:latin typeface="楷体" pitchFamily="49" charset="-122"/>
                <a:ea typeface="楷体" pitchFamily="49" charset="-122"/>
              </a:rPr>
              <a:t>逻辑表达式</a:t>
            </a:r>
            <a:r>
              <a:rPr lang="zh-CN" altLang="en-US" b="1" dirty="0">
                <a:latin typeface="楷体" pitchFamily="49" charset="-122"/>
                <a:ea typeface="楷体" pitchFamily="49" charset="-122"/>
              </a:rPr>
              <a:t>。</a:t>
            </a:r>
          </a:p>
          <a:p>
            <a:pPr indent="266700"/>
            <a:r>
              <a:rPr lang="zh-CN" altLang="en-US" b="1" dirty="0">
                <a:latin typeface="楷体" pitchFamily="49" charset="-122"/>
                <a:ea typeface="楷体" pitchFamily="49" charset="-122"/>
              </a:rPr>
              <a:t>逻辑表达式的一般形式为：</a:t>
            </a:r>
            <a:r>
              <a:rPr lang="zh-CN" altLang="en-US" b="1" dirty="0">
                <a:solidFill>
                  <a:srgbClr val="CC0000"/>
                </a:solidFill>
                <a:latin typeface="楷体" pitchFamily="49" charset="-122"/>
                <a:ea typeface="楷体" pitchFamily="49" charset="-122"/>
              </a:rPr>
              <a:t>表达式 </a:t>
            </a:r>
            <a:r>
              <a:rPr lang="zh-CN" altLang="en-US" b="1" dirty="0">
                <a:solidFill>
                  <a:schemeClr val="accent1">
                    <a:lumMod val="50000"/>
                  </a:schemeClr>
                </a:solidFill>
                <a:latin typeface="楷体" pitchFamily="49" charset="-122"/>
                <a:ea typeface="楷体" pitchFamily="49" charset="-122"/>
              </a:rPr>
              <a:t>逻辑运算符</a:t>
            </a:r>
            <a:r>
              <a:rPr lang="zh-CN" altLang="en-US" b="1" dirty="0">
                <a:solidFill>
                  <a:srgbClr val="CC0000"/>
                </a:solidFill>
                <a:latin typeface="楷体" pitchFamily="49" charset="-122"/>
                <a:ea typeface="楷体" pitchFamily="49" charset="-122"/>
              </a:rPr>
              <a:t> 表达式</a:t>
            </a:r>
          </a:p>
        </p:txBody>
      </p:sp>
      <p:sp>
        <p:nvSpPr>
          <p:cNvPr id="842761" name="Rectangle 9"/>
          <p:cNvSpPr>
            <a:spLocks noChangeArrowheads="1"/>
          </p:cNvSpPr>
          <p:nvPr/>
        </p:nvSpPr>
        <p:spPr bwMode="auto">
          <a:xfrm>
            <a:off x="1587013" y="2577032"/>
            <a:ext cx="989015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ea typeface="隶书" pitchFamily="49" charset="-122"/>
              </a:rPr>
              <a:t>例：</a:t>
            </a:r>
            <a:r>
              <a:rPr lang="en-US" altLang="zh-CN" dirty="0"/>
              <a:t>a &lt; b &amp;&amp; b &lt; c</a:t>
            </a:r>
            <a:r>
              <a:rPr lang="zh-CN" altLang="en-US" dirty="0"/>
              <a:t>、             </a:t>
            </a:r>
            <a:r>
              <a:rPr lang="en-US" altLang="zh-CN" dirty="0"/>
              <a:t>x &gt; 10 || x &lt; -10</a:t>
            </a:r>
            <a:r>
              <a:rPr lang="zh-CN" altLang="en-US" dirty="0"/>
              <a:t>、               </a:t>
            </a:r>
            <a:r>
              <a:rPr lang="en-US" altLang="zh-CN" dirty="0"/>
              <a:t>!x &amp;&amp; !y </a:t>
            </a:r>
          </a:p>
        </p:txBody>
      </p:sp>
      <p:sp>
        <p:nvSpPr>
          <p:cNvPr id="842786" name="Rectangle 34"/>
          <p:cNvSpPr>
            <a:spLocks noChangeArrowheads="1"/>
          </p:cNvSpPr>
          <p:nvPr/>
        </p:nvSpPr>
        <p:spPr bwMode="auto">
          <a:xfrm>
            <a:off x="1165346" y="3068960"/>
            <a:ext cx="3523722" cy="461665"/>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逻辑运算符的优先级</a:t>
            </a:r>
            <a:r>
              <a:rPr lang="zh-CN" altLang="en-US" dirty="0">
                <a:solidFill>
                  <a:srgbClr val="C01920"/>
                </a:solidFill>
                <a:latin typeface="楷体" pitchFamily="49" charset="-122"/>
                <a:ea typeface="楷体" pitchFamily="49" charset="-122"/>
              </a:rPr>
              <a:t> </a:t>
            </a:r>
          </a:p>
        </p:txBody>
      </p:sp>
      <p:sp>
        <p:nvSpPr>
          <p:cNvPr id="842792" name="Rectangle 40"/>
          <p:cNvSpPr>
            <a:spLocks noChangeArrowheads="1"/>
          </p:cNvSpPr>
          <p:nvPr/>
        </p:nvSpPr>
        <p:spPr bwMode="auto">
          <a:xfrm>
            <a:off x="9036309" y="3533651"/>
            <a:ext cx="2424112"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&lt;= x) &amp;&amp; (x &lt;= b)</a:t>
            </a:r>
          </a:p>
        </p:txBody>
      </p:sp>
      <p:sp>
        <p:nvSpPr>
          <p:cNvPr id="842793" name="Rectangle 41"/>
          <p:cNvSpPr>
            <a:spLocks noChangeArrowheads="1"/>
          </p:cNvSpPr>
          <p:nvPr/>
        </p:nvSpPr>
        <p:spPr bwMode="auto">
          <a:xfrm>
            <a:off x="9007735" y="3830514"/>
            <a:ext cx="2135187"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&gt; b) &amp;&amp; (x &gt; y)</a:t>
            </a:r>
          </a:p>
        </p:txBody>
      </p:sp>
      <p:sp>
        <p:nvSpPr>
          <p:cNvPr id="842794" name="Rectangle 42"/>
          <p:cNvSpPr>
            <a:spLocks noChangeArrowheads="1"/>
          </p:cNvSpPr>
          <p:nvPr/>
        </p:nvSpPr>
        <p:spPr bwMode="auto">
          <a:xfrm>
            <a:off x="9007734" y="4130551"/>
            <a:ext cx="2112962"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 b) || (x == y)</a:t>
            </a:r>
          </a:p>
        </p:txBody>
      </p:sp>
      <p:sp>
        <p:nvSpPr>
          <p:cNvPr id="842795" name="Rectangle 43"/>
          <p:cNvSpPr>
            <a:spLocks noChangeArrowheads="1"/>
          </p:cNvSpPr>
          <p:nvPr/>
        </p:nvSpPr>
        <p:spPr bwMode="auto">
          <a:xfrm>
            <a:off x="8969634" y="4432176"/>
            <a:ext cx="1509712"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 (a &gt; b)</a:t>
            </a:r>
          </a:p>
        </p:txBody>
      </p:sp>
      <p:sp>
        <p:nvSpPr>
          <p:cNvPr id="842796" name="Rectangle 44"/>
          <p:cNvSpPr>
            <a:spLocks noChangeArrowheads="1"/>
          </p:cNvSpPr>
          <p:nvPr/>
        </p:nvSpPr>
        <p:spPr bwMode="auto">
          <a:xfrm>
            <a:off x="8998209" y="4732214"/>
            <a:ext cx="976312"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&gt; b</a:t>
            </a:r>
          </a:p>
        </p:txBody>
      </p:sp>
      <p:sp>
        <p:nvSpPr>
          <p:cNvPr id="842797" name="Rectangle 45"/>
          <p:cNvSpPr>
            <a:spLocks noChangeArrowheads="1"/>
          </p:cNvSpPr>
          <p:nvPr/>
        </p:nvSpPr>
        <p:spPr bwMode="auto">
          <a:xfrm>
            <a:off x="9007734" y="5054476"/>
            <a:ext cx="1243012" cy="396875"/>
          </a:xfrm>
          <a:prstGeom prst="rect">
            <a:avLst/>
          </a:prstGeom>
          <a:noFill/>
          <a:ln w="9525">
            <a:noFill/>
            <a:miter lim="800000"/>
            <a:headEnd/>
            <a:tailEnd/>
          </a:ln>
          <a:effectLst/>
        </p:spPr>
        <p:txBody>
          <a:bodyPr wrap="square">
            <a:spAutoFit/>
          </a:bodyPr>
          <a:lstStyle/>
          <a:p>
            <a:r>
              <a:rPr lang="en-US" altLang="zh-CN" sz="2000" b="1" dirty="0">
                <a:solidFill>
                  <a:schemeClr val="accent2">
                    <a:lumMod val="50000"/>
                  </a:schemeClr>
                </a:solidFill>
              </a:rPr>
              <a:t>c = (a || b)</a:t>
            </a:r>
          </a:p>
        </p:txBody>
      </p:sp>
      <p:sp>
        <p:nvSpPr>
          <p:cNvPr id="842798" name="Rectangle 46"/>
          <p:cNvSpPr>
            <a:spLocks noChangeArrowheads="1"/>
          </p:cNvSpPr>
          <p:nvPr/>
        </p:nvSpPr>
        <p:spPr bwMode="auto">
          <a:xfrm>
            <a:off x="9002972" y="5343401"/>
            <a:ext cx="2112963" cy="396875"/>
          </a:xfrm>
          <a:prstGeom prst="rect">
            <a:avLst/>
          </a:prstGeom>
          <a:noFill/>
          <a:ln w="9525">
            <a:noFill/>
            <a:miter lim="800000"/>
            <a:headEnd/>
            <a:tailEnd/>
          </a:ln>
          <a:effectLst/>
        </p:spPr>
        <p:txBody>
          <a:bodyPr wrap="square">
            <a:spAutoFit/>
          </a:bodyPr>
          <a:lstStyle/>
          <a:p>
            <a:r>
              <a:rPr lang="en-US" altLang="zh-CN" sz="2000" b="1">
                <a:solidFill>
                  <a:schemeClr val="accent2">
                    <a:lumMod val="50000"/>
                  </a:schemeClr>
                </a:solidFill>
              </a:rPr>
              <a:t>(a | 7) &amp;&amp; (b &amp; 8)</a:t>
            </a:r>
          </a:p>
        </p:txBody>
      </p:sp>
      <p:sp>
        <p:nvSpPr>
          <p:cNvPr id="842799" name="Rectangle 47"/>
          <p:cNvSpPr>
            <a:spLocks noChangeArrowheads="1"/>
          </p:cNvSpPr>
          <p:nvPr/>
        </p:nvSpPr>
        <p:spPr bwMode="auto">
          <a:xfrm>
            <a:off x="8990272" y="5656139"/>
            <a:ext cx="2424113" cy="396875"/>
          </a:xfrm>
          <a:prstGeom prst="rect">
            <a:avLst/>
          </a:prstGeom>
          <a:noFill/>
          <a:ln w="9525">
            <a:noFill/>
            <a:miter lim="800000"/>
            <a:headEnd/>
            <a:tailEnd/>
          </a:ln>
          <a:effectLst/>
        </p:spPr>
        <p:txBody>
          <a:bodyPr wrap="square">
            <a:spAutoFit/>
          </a:bodyPr>
          <a:lstStyle/>
          <a:p>
            <a:r>
              <a:rPr lang="en-US" altLang="zh-CN" sz="2000" b="1" dirty="0">
                <a:solidFill>
                  <a:schemeClr val="accent2">
                    <a:lumMod val="50000"/>
                  </a:schemeClr>
                </a:solidFill>
              </a:rPr>
              <a:t>(a &gt;&gt; 2) &amp;&amp; (b &lt;&lt; 1)</a:t>
            </a:r>
          </a:p>
        </p:txBody>
      </p:sp>
      <p:sp>
        <p:nvSpPr>
          <p:cNvPr id="842800" name="Rectangle 48"/>
          <p:cNvSpPr>
            <a:spLocks noChangeArrowheads="1"/>
          </p:cNvSpPr>
          <p:nvPr/>
        </p:nvSpPr>
        <p:spPr bwMode="auto">
          <a:xfrm>
            <a:off x="1464515" y="5440239"/>
            <a:ext cx="9914329" cy="1225550"/>
          </a:xfrm>
          <a:prstGeom prst="rect">
            <a:avLst/>
          </a:prstGeom>
          <a:gradFill flip="none" rotWithShape="1">
            <a:gsLst>
              <a:gs pos="0">
                <a:srgbClr val="CFCFD1"/>
              </a:gs>
              <a:gs pos="100000">
                <a:schemeClr val="bg1">
                  <a:lumMod val="95000"/>
                </a:schemeClr>
              </a:gs>
            </a:gsLst>
            <a:lin ang="162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002060"/>
                </a:solidFill>
                <a:latin typeface="+mn-lt"/>
                <a:ea typeface="楷体" pitchFamily="49" charset="-122"/>
              </a:rPr>
              <a:t>已知：</a:t>
            </a:r>
            <a:r>
              <a:rPr lang="en-US" altLang="zh-CN" b="1" dirty="0">
                <a:latin typeface="+mn-lt"/>
                <a:ea typeface="楷体" pitchFamily="49" charset="-122"/>
              </a:rPr>
              <a:t>a = 4; b = 5;</a:t>
            </a:r>
          </a:p>
          <a:p>
            <a:pPr indent="266700"/>
            <a:r>
              <a:rPr lang="en-US" altLang="zh-CN" b="1" dirty="0">
                <a:latin typeface="+mn-lt"/>
                <a:ea typeface="楷体" pitchFamily="49" charset="-122"/>
              </a:rPr>
              <a:t> </a:t>
            </a:r>
            <a:r>
              <a:rPr lang="zh-CN" altLang="en-US" b="1" dirty="0">
                <a:solidFill>
                  <a:srgbClr val="002060"/>
                </a:solidFill>
                <a:latin typeface="+mn-lt"/>
                <a:ea typeface="楷体" pitchFamily="49" charset="-122"/>
              </a:rPr>
              <a:t>问：</a:t>
            </a:r>
            <a:r>
              <a:rPr lang="en-US" altLang="zh-CN" b="1" dirty="0">
                <a:latin typeface="+mn-lt"/>
                <a:ea typeface="楷体" pitchFamily="49" charset="-122"/>
              </a:rPr>
              <a:t>c = b &gt; 3 &amp;&amp; 2 || 8 &lt; b - !a;</a:t>
            </a:r>
            <a:r>
              <a:rPr lang="zh-CN" altLang="en-US" b="1" dirty="0">
                <a:latin typeface="+mn-lt"/>
                <a:ea typeface="楷体" pitchFamily="49" charset="-122"/>
              </a:rPr>
              <a:t>的值？</a:t>
            </a:r>
          </a:p>
          <a:p>
            <a:pPr indent="266700"/>
            <a:r>
              <a:rPr lang="zh-CN" altLang="en-US" b="1" dirty="0">
                <a:latin typeface="+mn-lt"/>
                <a:ea typeface="楷体" pitchFamily="49" charset="-122"/>
              </a:rPr>
              <a:t>                    </a:t>
            </a:r>
          </a:p>
        </p:txBody>
      </p:sp>
      <p:sp>
        <p:nvSpPr>
          <p:cNvPr id="842801" name="Rectangle 49"/>
          <p:cNvSpPr>
            <a:spLocks noChangeArrowheads="1"/>
          </p:cNvSpPr>
          <p:nvPr/>
        </p:nvSpPr>
        <p:spPr bwMode="auto">
          <a:xfrm>
            <a:off x="1966661" y="6182691"/>
            <a:ext cx="7762061" cy="461665"/>
          </a:xfrm>
          <a:prstGeom prst="rect">
            <a:avLst/>
          </a:prstGeom>
          <a:noFill/>
          <a:ln w="9525">
            <a:noFill/>
            <a:miter lim="800000"/>
            <a:headEnd/>
            <a:tailEnd/>
          </a:ln>
          <a:effectLst/>
        </p:spPr>
        <p:txBody>
          <a:bodyPr wrap="square">
            <a:spAutoFit/>
          </a:bodyPr>
          <a:lstStyle/>
          <a:p>
            <a:r>
              <a:rPr lang="zh-CN" altLang="en-US" b="1" dirty="0">
                <a:solidFill>
                  <a:srgbClr val="C01920"/>
                </a:solidFill>
                <a:latin typeface="+mn-lt"/>
                <a:ea typeface="楷体" pitchFamily="49" charset="-122"/>
              </a:rPr>
              <a:t>答：</a:t>
            </a:r>
            <a:r>
              <a:rPr lang="en-US" altLang="zh-CN" b="1" dirty="0">
                <a:solidFill>
                  <a:srgbClr val="C01920"/>
                </a:solidFill>
                <a:latin typeface="+mn-lt"/>
                <a:ea typeface="楷体" pitchFamily="49" charset="-122"/>
              </a:rPr>
              <a:t>c </a:t>
            </a:r>
            <a:r>
              <a:rPr lang="zh-CN" altLang="en-US" b="1" dirty="0">
                <a:solidFill>
                  <a:srgbClr val="C01920"/>
                </a:solidFill>
                <a:latin typeface="+mn-lt"/>
                <a:ea typeface="楷体" pitchFamily="49" charset="-122"/>
              </a:rPr>
              <a:t>的值为</a:t>
            </a:r>
            <a:r>
              <a:rPr lang="en-US" altLang="zh-CN" b="1" dirty="0">
                <a:solidFill>
                  <a:srgbClr val="C01920"/>
                </a:solidFill>
                <a:latin typeface="+mn-lt"/>
                <a:ea typeface="楷体" pitchFamily="49" charset="-122"/>
              </a:rPr>
              <a:t>1</a:t>
            </a:r>
            <a:r>
              <a:rPr lang="zh-CN" altLang="en-US" b="1" dirty="0">
                <a:solidFill>
                  <a:srgbClr val="C01920"/>
                </a:solidFill>
                <a:latin typeface="+mn-lt"/>
                <a:ea typeface="楷体" pitchFamily="49" charset="-122"/>
              </a:rPr>
              <a:t>。 等价于：</a:t>
            </a:r>
            <a:r>
              <a:rPr lang="en-US" altLang="zh-CN" sz="2000" b="1" dirty="0">
                <a:solidFill>
                  <a:srgbClr val="C01920"/>
                </a:solidFill>
                <a:latin typeface="+mn-lt"/>
                <a:ea typeface="楷体" pitchFamily="49" charset="-122"/>
              </a:rPr>
              <a:t>c = (((b &gt; 3) &amp;&amp; 2) || (8 &lt; (b – (!a))));</a:t>
            </a:r>
            <a:r>
              <a:rPr lang="en-US" altLang="zh-CN" sz="2000" dirty="0">
                <a:solidFill>
                  <a:srgbClr val="C01920"/>
                </a:solidFill>
                <a:latin typeface="+mn-lt"/>
                <a:ea typeface="楷体" pitchFamily="49" charset="-122"/>
              </a:rPr>
              <a:t> </a:t>
            </a:r>
          </a:p>
        </p:txBody>
      </p:sp>
      <p:sp>
        <p:nvSpPr>
          <p:cNvPr id="842802" name="Rectangle 50"/>
          <p:cNvSpPr>
            <a:spLocks noChangeArrowheads="1"/>
          </p:cNvSpPr>
          <p:nvPr/>
        </p:nvSpPr>
        <p:spPr bwMode="auto">
          <a:xfrm>
            <a:off x="3823715" y="2577032"/>
            <a:ext cx="6119813" cy="42481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cap="flat" cmpd="sng">
            <a:solidFill>
              <a:srgbClr val="C01920"/>
            </a:solidFill>
            <a:prstDash val="solid"/>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pPr marL="342900" indent="-342900">
              <a:spcBef>
                <a:spcPct val="20000"/>
              </a:spcBef>
            </a:pPr>
            <a:r>
              <a:rPr lang="zh-CN" altLang="en-US" b="1" dirty="0">
                <a:solidFill>
                  <a:srgbClr val="C01920"/>
                </a:solidFill>
                <a:ea typeface="隶书" pitchFamily="49" charset="-122"/>
              </a:rPr>
              <a:t>例：</a:t>
            </a:r>
          </a:p>
          <a:p>
            <a:pPr marL="342900" indent="-342900">
              <a:spcBef>
                <a:spcPct val="20000"/>
              </a:spcBef>
            </a:pPr>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 = 4; b = 5;</a:t>
            </a:r>
          </a:p>
          <a:p>
            <a:pPr marL="342900" indent="-342900">
              <a:spcBef>
                <a:spcPct val="20000"/>
              </a:spcBef>
            </a:pPr>
            <a:r>
              <a:rPr lang="en-US" altLang="zh-CN" b="1" dirty="0">
                <a:effectLst>
                  <a:outerShdw blurRad="38100" dist="38100" dir="2700000" algn="tl">
                    <a:srgbClr val="FFFFFF"/>
                  </a:outerShdw>
                </a:effectLst>
              </a:rPr>
              <a:t>     !a</a:t>
            </a:r>
          </a:p>
          <a:p>
            <a:pPr marL="342900" indent="-342900">
              <a:spcBef>
                <a:spcPct val="20000"/>
              </a:spcBef>
            </a:pPr>
            <a:r>
              <a:rPr lang="en-US" altLang="zh-CN" b="1" dirty="0">
                <a:effectLst>
                  <a:outerShdw blurRad="38100" dist="38100" dir="2700000" algn="tl">
                    <a:srgbClr val="FFFFFF"/>
                  </a:outerShdw>
                </a:effectLst>
              </a:rPr>
              <a:t>     a &amp;&amp; b</a:t>
            </a:r>
          </a:p>
          <a:p>
            <a:pPr marL="342900" indent="-342900">
              <a:spcBef>
                <a:spcPct val="20000"/>
              </a:spcBef>
            </a:pPr>
            <a:r>
              <a:rPr lang="en-US" altLang="zh-CN" b="1" dirty="0">
                <a:effectLst>
                  <a:outerShdw blurRad="38100" dist="38100" dir="2700000" algn="tl">
                    <a:srgbClr val="FFFFFF"/>
                  </a:outerShdw>
                </a:effectLst>
              </a:rPr>
              <a:t>     a || b</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!a || b</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4 &amp;&amp; 0 || 2</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5 &gt; 3 &amp;&amp; 2 || 8 &lt; 4 - !0</a:t>
            </a:r>
            <a:endParaRPr lang="en-US" altLang="zh-CN" b="1" dirty="0">
              <a:solidFill>
                <a:srgbClr val="0000FF"/>
              </a:solidFill>
              <a:effectLst>
                <a:outerShdw blurRad="38100" dist="38100" dir="2700000" algn="tl">
                  <a:srgbClr val="000000"/>
                </a:outerShdw>
              </a:effectLst>
            </a:endParaRPr>
          </a:p>
          <a:p>
            <a:pPr marL="342900" indent="-342900">
              <a:spcBef>
                <a:spcPct val="20000"/>
              </a:spcBef>
            </a:pPr>
            <a:r>
              <a:rPr lang="en-US" altLang="zh-CN" b="1" dirty="0">
                <a:effectLst>
                  <a:outerShdw blurRad="38100" dist="38100" dir="2700000" algn="tl">
                    <a:srgbClr val="FFFFFF"/>
                  </a:outerShdw>
                </a:effectLst>
              </a:rPr>
              <a:t>     </a:t>
            </a:r>
            <a:r>
              <a:rPr lang="en-US" altLang="zh-CN" b="1" dirty="0">
                <a:ea typeface="楷体_GB2312" pitchFamily="49" charset="-122"/>
              </a:rPr>
              <a:t>'</a:t>
            </a:r>
            <a:r>
              <a:rPr lang="en-US" altLang="zh-CN" b="1" dirty="0">
                <a:effectLst>
                  <a:outerShdw blurRad="38100" dist="38100" dir="2700000" algn="tl">
                    <a:srgbClr val="FFFFFF"/>
                  </a:outerShdw>
                </a:effectLst>
              </a:rPr>
              <a:t>c</a:t>
            </a:r>
            <a:r>
              <a:rPr lang="en-US" altLang="zh-CN" b="1" dirty="0">
                <a:ea typeface="楷体_GB2312" pitchFamily="49" charset="-122"/>
              </a:rPr>
              <a:t>'</a:t>
            </a:r>
            <a:r>
              <a:rPr lang="en-US" altLang="zh-CN" b="1" dirty="0">
                <a:effectLst>
                  <a:outerShdw blurRad="38100" dist="38100" dir="2700000" algn="tl">
                    <a:srgbClr val="FFFFFF"/>
                  </a:outerShdw>
                </a:effectLst>
              </a:rPr>
              <a:t> &amp;&amp; </a:t>
            </a:r>
            <a:r>
              <a:rPr lang="en-US" altLang="zh-CN" b="1" dirty="0">
                <a:ea typeface="楷体_GB2312" pitchFamily="49" charset="-122"/>
              </a:rPr>
              <a:t>'</a:t>
            </a:r>
            <a:r>
              <a:rPr lang="en-US" altLang="zh-CN" b="1" dirty="0">
                <a:effectLst>
                  <a:outerShdw blurRad="38100" dist="38100" dir="2700000" algn="tl">
                    <a:srgbClr val="FFFFFF"/>
                  </a:outerShdw>
                </a:effectLst>
              </a:rPr>
              <a:t>d</a:t>
            </a:r>
            <a:r>
              <a:rPr lang="en-US" altLang="zh-CN" b="1" dirty="0">
                <a:ea typeface="楷体_GB2312" pitchFamily="49" charset="-122"/>
              </a:rPr>
              <a:t>'</a:t>
            </a:r>
            <a:endParaRPr lang="en-US" altLang="zh-CN" b="1" dirty="0">
              <a:effectLst>
                <a:outerShdw blurRad="38100" dist="38100" dir="2700000" algn="tl">
                  <a:srgbClr val="FFFFFF"/>
                </a:outerShdw>
              </a:effectLst>
            </a:endParaRPr>
          </a:p>
        </p:txBody>
      </p:sp>
      <p:sp>
        <p:nvSpPr>
          <p:cNvPr id="842803" name="Text Box 51"/>
          <p:cNvSpPr txBox="1">
            <a:spLocks noChangeArrowheads="1"/>
          </p:cNvSpPr>
          <p:nvPr/>
        </p:nvSpPr>
        <p:spPr bwMode="auto">
          <a:xfrm>
            <a:off x="7527895" y="36255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dirty="0">
                <a:solidFill>
                  <a:schemeClr val="accent2">
                    <a:lumMod val="50000"/>
                  </a:schemeClr>
                </a:solidFill>
                <a:latin typeface="+mn-lt"/>
                <a:ea typeface="楷体" pitchFamily="49" charset="-122"/>
              </a:rPr>
              <a:t>//</a:t>
            </a:r>
            <a:r>
              <a:rPr lang="zh-CN" altLang="zh-CN" sz="2000" b="1" dirty="0">
                <a:solidFill>
                  <a:schemeClr val="accent2">
                    <a:lumMod val="50000"/>
                  </a:schemeClr>
                </a:solidFill>
                <a:latin typeface="+mn-lt"/>
                <a:ea typeface="楷体" pitchFamily="49" charset="-122"/>
              </a:rPr>
              <a:t>值为0</a:t>
            </a:r>
            <a:endParaRPr lang="en-US" altLang="zh-CN" sz="2000" b="1" dirty="0">
              <a:solidFill>
                <a:schemeClr val="accent2">
                  <a:lumMod val="50000"/>
                </a:schemeClr>
              </a:solidFill>
              <a:latin typeface="+mn-lt"/>
              <a:ea typeface="楷体" pitchFamily="49" charset="-122"/>
            </a:endParaRPr>
          </a:p>
        </p:txBody>
      </p:sp>
      <p:sp>
        <p:nvSpPr>
          <p:cNvPr id="842806" name="Text Box 54"/>
          <p:cNvSpPr txBox="1">
            <a:spLocks noChangeArrowheads="1"/>
          </p:cNvSpPr>
          <p:nvPr/>
        </p:nvSpPr>
        <p:spPr bwMode="auto">
          <a:xfrm>
            <a:off x="7502495" y="40573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842807" name="Text Box 55"/>
          <p:cNvSpPr txBox="1">
            <a:spLocks noChangeArrowheads="1"/>
          </p:cNvSpPr>
          <p:nvPr/>
        </p:nvSpPr>
        <p:spPr bwMode="auto">
          <a:xfrm>
            <a:off x="7515195" y="45145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842808" name="Text Box 56"/>
          <p:cNvSpPr txBox="1">
            <a:spLocks noChangeArrowheads="1"/>
          </p:cNvSpPr>
          <p:nvPr/>
        </p:nvSpPr>
        <p:spPr bwMode="auto">
          <a:xfrm>
            <a:off x="7489795" y="49717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842809" name="Text Box 57"/>
          <p:cNvSpPr txBox="1">
            <a:spLocks noChangeArrowheads="1"/>
          </p:cNvSpPr>
          <p:nvPr/>
        </p:nvSpPr>
        <p:spPr bwMode="auto">
          <a:xfrm>
            <a:off x="7464395" y="53908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842810" name="Text Box 58"/>
          <p:cNvSpPr txBox="1">
            <a:spLocks noChangeArrowheads="1"/>
          </p:cNvSpPr>
          <p:nvPr/>
        </p:nvSpPr>
        <p:spPr bwMode="auto">
          <a:xfrm>
            <a:off x="7451695" y="583530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842811" name="Text Box 59"/>
          <p:cNvSpPr txBox="1">
            <a:spLocks noChangeArrowheads="1"/>
          </p:cNvSpPr>
          <p:nvPr/>
        </p:nvSpPr>
        <p:spPr bwMode="auto">
          <a:xfrm>
            <a:off x="7470745" y="6235350"/>
            <a:ext cx="967229" cy="402291"/>
          </a:xfrm>
          <a:prstGeom prst="rect">
            <a:avLst/>
          </a:prstGeom>
          <a:noFill/>
          <a:ln w="38100">
            <a:noFill/>
            <a:miter lim="800000"/>
            <a:headEnd/>
            <a:tailEnd/>
          </a:ln>
          <a:effectLst/>
        </p:spPr>
        <p:txBody>
          <a:bodyPr wrap="square" lIns="90000" tIns="46800" rIns="90000" bIns="46800">
            <a:spAutoFit/>
          </a:bodyPr>
          <a:lstStyle/>
          <a:p>
            <a:pPr eaLnBrk="0" hangingPunct="0"/>
            <a:r>
              <a:rPr lang="en-US" altLang="zh-CN" sz="2000" b="1">
                <a:solidFill>
                  <a:schemeClr val="accent2">
                    <a:lumMod val="50000"/>
                  </a:schemeClr>
                </a:solidFill>
                <a:latin typeface="+mn-lt"/>
                <a:ea typeface="楷体" pitchFamily="49" charset="-122"/>
              </a:rPr>
              <a:t>//</a:t>
            </a:r>
            <a:r>
              <a:rPr lang="zh-CN" altLang="zh-CN" sz="2000" b="1">
                <a:solidFill>
                  <a:schemeClr val="accent2">
                    <a:lumMod val="50000"/>
                  </a:schemeClr>
                </a:solidFill>
                <a:latin typeface="+mn-lt"/>
                <a:ea typeface="楷体" pitchFamily="49" charset="-122"/>
              </a:rPr>
              <a:t>值为1</a:t>
            </a:r>
            <a:endParaRPr lang="en-US" altLang="zh-CN" sz="2000" b="1">
              <a:solidFill>
                <a:schemeClr val="accent2">
                  <a:lumMod val="50000"/>
                </a:schemeClr>
              </a:solidFill>
              <a:latin typeface="+mn-lt"/>
              <a:ea typeface="楷体" pitchFamily="49" charset="-122"/>
            </a:endParaRPr>
          </a:p>
        </p:txBody>
      </p:sp>
      <p:sp>
        <p:nvSpPr>
          <p:cNvPr id="32" name="Rectangle 4">
            <a:extLst>
              <a:ext uri="{FF2B5EF4-FFF2-40B4-BE49-F238E27FC236}">
                <a16:creationId xmlns:a16="http://schemas.microsoft.com/office/drawing/2014/main" id="{EEDB31B6-DAAF-4A5B-ABCB-4308595FE24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33" name="Rectangle 13">
            <a:extLst>
              <a:ext uri="{FF2B5EF4-FFF2-40B4-BE49-F238E27FC236}">
                <a16:creationId xmlns:a16="http://schemas.microsoft.com/office/drawing/2014/main" id="{138846A1-191C-4142-A159-F2B5353A11BB}"/>
              </a:ext>
            </a:extLst>
          </p:cNvPr>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2. </a:t>
            </a:r>
            <a:r>
              <a:rPr lang="zh-CN" altLang="en-US" sz="2800" b="1" dirty="0">
                <a:solidFill>
                  <a:srgbClr val="C01920"/>
                </a:solidFill>
                <a:latin typeface="楷体" panose="02010609060101010101" pitchFamily="49" charset="-122"/>
                <a:ea typeface="楷体" panose="02010609060101010101" pitchFamily="49" charset="-122"/>
              </a:rPr>
              <a:t>逻辑运算符和逻辑表达式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2759"/>
                                        </p:tgtEl>
                                        <p:attrNameLst>
                                          <p:attrName>style.visibility</p:attrName>
                                        </p:attrNameLst>
                                      </p:cBhvr>
                                      <p:to>
                                        <p:strVal val="visible"/>
                                      </p:to>
                                    </p:set>
                                    <p:anim calcmode="lin" valueType="num">
                                      <p:cBhvr additive="base">
                                        <p:cTn id="7" dur="500" fill="hold"/>
                                        <p:tgtEl>
                                          <p:spTgt spid="842759"/>
                                        </p:tgtEl>
                                        <p:attrNameLst>
                                          <p:attrName>ppt_x</p:attrName>
                                        </p:attrNameLst>
                                      </p:cBhvr>
                                      <p:tavLst>
                                        <p:tav tm="0">
                                          <p:val>
                                            <p:strVal val="0-#ppt_w/2"/>
                                          </p:val>
                                        </p:tav>
                                        <p:tav tm="100000">
                                          <p:val>
                                            <p:strVal val="#ppt_x"/>
                                          </p:val>
                                        </p:tav>
                                      </p:tavLst>
                                    </p:anim>
                                    <p:anim calcmode="lin" valueType="num">
                                      <p:cBhvr additive="base">
                                        <p:cTn id="8" dur="500" fill="hold"/>
                                        <p:tgtEl>
                                          <p:spTgt spid="8427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42760"/>
                                        </p:tgtEl>
                                        <p:attrNameLst>
                                          <p:attrName>style.visibility</p:attrName>
                                        </p:attrNameLst>
                                      </p:cBhvr>
                                      <p:to>
                                        <p:strVal val="visible"/>
                                      </p:to>
                                    </p:set>
                                    <p:animEffect transition="in" filter="box(out)">
                                      <p:cBhvr>
                                        <p:cTn id="13" dur="500"/>
                                        <p:tgtEl>
                                          <p:spTgt spid="842760"/>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42761"/>
                                        </p:tgtEl>
                                        <p:attrNameLst>
                                          <p:attrName>style.visibility</p:attrName>
                                        </p:attrNameLst>
                                      </p:cBhvr>
                                      <p:to>
                                        <p:strVal val="visible"/>
                                      </p:to>
                                    </p:set>
                                    <p:animEffect transition="in" filter="box(out)">
                                      <p:cBhvr>
                                        <p:cTn id="18" dur="500"/>
                                        <p:tgtEl>
                                          <p:spTgt spid="842761"/>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42786"/>
                                        </p:tgtEl>
                                        <p:attrNameLst>
                                          <p:attrName>style.visibility</p:attrName>
                                        </p:attrNameLst>
                                      </p:cBhvr>
                                      <p:to>
                                        <p:strVal val="visible"/>
                                      </p:to>
                                    </p:set>
                                    <p:anim calcmode="lin" valueType="num">
                                      <p:cBhvr additive="base">
                                        <p:cTn id="23" dur="500" fill="hold"/>
                                        <p:tgtEl>
                                          <p:spTgt spid="842786"/>
                                        </p:tgtEl>
                                        <p:attrNameLst>
                                          <p:attrName>ppt_x</p:attrName>
                                        </p:attrNameLst>
                                      </p:cBhvr>
                                      <p:tavLst>
                                        <p:tav tm="0">
                                          <p:val>
                                            <p:strVal val="0-#ppt_w/2"/>
                                          </p:val>
                                        </p:tav>
                                        <p:tav tm="100000">
                                          <p:val>
                                            <p:strVal val="#ppt_x"/>
                                          </p:val>
                                        </p:tav>
                                      </p:tavLst>
                                    </p:anim>
                                    <p:anim calcmode="lin" valueType="num">
                                      <p:cBhvr additive="base">
                                        <p:cTn id="24" dur="500" fill="hold"/>
                                        <p:tgtEl>
                                          <p:spTgt spid="8427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842790"/>
                                        </p:tgtEl>
                                        <p:attrNameLst>
                                          <p:attrName>style.visibility</p:attrName>
                                        </p:attrNameLst>
                                      </p:cBhvr>
                                      <p:to>
                                        <p:strVal val="visible"/>
                                      </p:to>
                                    </p:set>
                                    <p:animEffect transition="in" filter="box(out)">
                                      <p:cBhvr>
                                        <p:cTn id="29" dur="500"/>
                                        <p:tgtEl>
                                          <p:spTgt spid="842790"/>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42791"/>
                                        </p:tgtEl>
                                        <p:attrNameLst>
                                          <p:attrName>style.visibility</p:attrName>
                                        </p:attrNameLst>
                                      </p:cBhvr>
                                      <p:to>
                                        <p:strVal val="visible"/>
                                      </p:to>
                                    </p:set>
                                    <p:animEffect transition="in" filter="box(out)">
                                      <p:cBhvr>
                                        <p:cTn id="34" dur="500"/>
                                        <p:tgtEl>
                                          <p:spTgt spid="842791"/>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42792"/>
                                        </p:tgtEl>
                                        <p:attrNameLst>
                                          <p:attrName>style.visibility</p:attrName>
                                        </p:attrNameLst>
                                      </p:cBhvr>
                                      <p:to>
                                        <p:strVal val="visible"/>
                                      </p:to>
                                    </p:set>
                                    <p:anim calcmode="lin" valueType="num">
                                      <p:cBhvr additive="base">
                                        <p:cTn id="39" dur="500" fill="hold"/>
                                        <p:tgtEl>
                                          <p:spTgt spid="842792"/>
                                        </p:tgtEl>
                                        <p:attrNameLst>
                                          <p:attrName>ppt_x</p:attrName>
                                        </p:attrNameLst>
                                      </p:cBhvr>
                                      <p:tavLst>
                                        <p:tav tm="0">
                                          <p:val>
                                            <p:strVal val="#ppt_x"/>
                                          </p:val>
                                        </p:tav>
                                        <p:tav tm="100000">
                                          <p:val>
                                            <p:strVal val="#ppt_x"/>
                                          </p:val>
                                        </p:tav>
                                      </p:tavLst>
                                    </p:anim>
                                    <p:anim calcmode="lin" valueType="num">
                                      <p:cBhvr additive="base">
                                        <p:cTn id="40" dur="500" fill="hold"/>
                                        <p:tgtEl>
                                          <p:spTgt spid="84279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42793"/>
                                        </p:tgtEl>
                                        <p:attrNameLst>
                                          <p:attrName>style.visibility</p:attrName>
                                        </p:attrNameLst>
                                      </p:cBhvr>
                                      <p:to>
                                        <p:strVal val="visible"/>
                                      </p:to>
                                    </p:set>
                                    <p:anim calcmode="lin" valueType="num">
                                      <p:cBhvr additive="base">
                                        <p:cTn id="45" dur="500" fill="hold"/>
                                        <p:tgtEl>
                                          <p:spTgt spid="842793"/>
                                        </p:tgtEl>
                                        <p:attrNameLst>
                                          <p:attrName>ppt_x</p:attrName>
                                        </p:attrNameLst>
                                      </p:cBhvr>
                                      <p:tavLst>
                                        <p:tav tm="0">
                                          <p:val>
                                            <p:strVal val="#ppt_x"/>
                                          </p:val>
                                        </p:tav>
                                        <p:tav tm="100000">
                                          <p:val>
                                            <p:strVal val="#ppt_x"/>
                                          </p:val>
                                        </p:tav>
                                      </p:tavLst>
                                    </p:anim>
                                    <p:anim calcmode="lin" valueType="num">
                                      <p:cBhvr additive="base">
                                        <p:cTn id="46" dur="500" fill="hold"/>
                                        <p:tgtEl>
                                          <p:spTgt spid="84279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42794"/>
                                        </p:tgtEl>
                                        <p:attrNameLst>
                                          <p:attrName>style.visibility</p:attrName>
                                        </p:attrNameLst>
                                      </p:cBhvr>
                                      <p:to>
                                        <p:strVal val="visible"/>
                                      </p:to>
                                    </p:set>
                                    <p:anim calcmode="lin" valueType="num">
                                      <p:cBhvr additive="base">
                                        <p:cTn id="51" dur="500" fill="hold"/>
                                        <p:tgtEl>
                                          <p:spTgt spid="842794"/>
                                        </p:tgtEl>
                                        <p:attrNameLst>
                                          <p:attrName>ppt_x</p:attrName>
                                        </p:attrNameLst>
                                      </p:cBhvr>
                                      <p:tavLst>
                                        <p:tav tm="0">
                                          <p:val>
                                            <p:strVal val="#ppt_x"/>
                                          </p:val>
                                        </p:tav>
                                        <p:tav tm="100000">
                                          <p:val>
                                            <p:strVal val="#ppt_x"/>
                                          </p:val>
                                        </p:tav>
                                      </p:tavLst>
                                    </p:anim>
                                    <p:anim calcmode="lin" valueType="num">
                                      <p:cBhvr additive="base">
                                        <p:cTn id="52" dur="500" fill="hold"/>
                                        <p:tgtEl>
                                          <p:spTgt spid="84279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42795"/>
                                        </p:tgtEl>
                                        <p:attrNameLst>
                                          <p:attrName>style.visibility</p:attrName>
                                        </p:attrNameLst>
                                      </p:cBhvr>
                                      <p:to>
                                        <p:strVal val="visible"/>
                                      </p:to>
                                    </p:set>
                                    <p:anim calcmode="lin" valueType="num">
                                      <p:cBhvr additive="base">
                                        <p:cTn id="57" dur="500" fill="hold"/>
                                        <p:tgtEl>
                                          <p:spTgt spid="842795"/>
                                        </p:tgtEl>
                                        <p:attrNameLst>
                                          <p:attrName>ppt_x</p:attrName>
                                        </p:attrNameLst>
                                      </p:cBhvr>
                                      <p:tavLst>
                                        <p:tav tm="0">
                                          <p:val>
                                            <p:strVal val="#ppt_x"/>
                                          </p:val>
                                        </p:tav>
                                        <p:tav tm="100000">
                                          <p:val>
                                            <p:strVal val="#ppt_x"/>
                                          </p:val>
                                        </p:tav>
                                      </p:tavLst>
                                    </p:anim>
                                    <p:anim calcmode="lin" valueType="num">
                                      <p:cBhvr additive="base">
                                        <p:cTn id="58" dur="500" fill="hold"/>
                                        <p:tgtEl>
                                          <p:spTgt spid="84279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842796"/>
                                        </p:tgtEl>
                                        <p:attrNameLst>
                                          <p:attrName>style.visibility</p:attrName>
                                        </p:attrNameLst>
                                      </p:cBhvr>
                                      <p:to>
                                        <p:strVal val="visible"/>
                                      </p:to>
                                    </p:set>
                                    <p:anim calcmode="lin" valueType="num">
                                      <p:cBhvr additive="base">
                                        <p:cTn id="63" dur="500" fill="hold"/>
                                        <p:tgtEl>
                                          <p:spTgt spid="842796"/>
                                        </p:tgtEl>
                                        <p:attrNameLst>
                                          <p:attrName>ppt_x</p:attrName>
                                        </p:attrNameLst>
                                      </p:cBhvr>
                                      <p:tavLst>
                                        <p:tav tm="0">
                                          <p:val>
                                            <p:strVal val="#ppt_x"/>
                                          </p:val>
                                        </p:tav>
                                        <p:tav tm="100000">
                                          <p:val>
                                            <p:strVal val="#ppt_x"/>
                                          </p:val>
                                        </p:tav>
                                      </p:tavLst>
                                    </p:anim>
                                    <p:anim calcmode="lin" valueType="num">
                                      <p:cBhvr additive="base">
                                        <p:cTn id="64" dur="500" fill="hold"/>
                                        <p:tgtEl>
                                          <p:spTgt spid="84279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842797"/>
                                        </p:tgtEl>
                                        <p:attrNameLst>
                                          <p:attrName>style.visibility</p:attrName>
                                        </p:attrNameLst>
                                      </p:cBhvr>
                                      <p:to>
                                        <p:strVal val="visible"/>
                                      </p:to>
                                    </p:set>
                                    <p:anim calcmode="lin" valueType="num">
                                      <p:cBhvr additive="base">
                                        <p:cTn id="69" dur="500" fill="hold"/>
                                        <p:tgtEl>
                                          <p:spTgt spid="842797"/>
                                        </p:tgtEl>
                                        <p:attrNameLst>
                                          <p:attrName>ppt_x</p:attrName>
                                        </p:attrNameLst>
                                      </p:cBhvr>
                                      <p:tavLst>
                                        <p:tav tm="0">
                                          <p:val>
                                            <p:strVal val="#ppt_x"/>
                                          </p:val>
                                        </p:tav>
                                        <p:tav tm="100000">
                                          <p:val>
                                            <p:strVal val="#ppt_x"/>
                                          </p:val>
                                        </p:tav>
                                      </p:tavLst>
                                    </p:anim>
                                    <p:anim calcmode="lin" valueType="num">
                                      <p:cBhvr additive="base">
                                        <p:cTn id="70" dur="500" fill="hold"/>
                                        <p:tgtEl>
                                          <p:spTgt spid="84279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842798"/>
                                        </p:tgtEl>
                                        <p:attrNameLst>
                                          <p:attrName>style.visibility</p:attrName>
                                        </p:attrNameLst>
                                      </p:cBhvr>
                                      <p:to>
                                        <p:strVal val="visible"/>
                                      </p:to>
                                    </p:set>
                                    <p:anim calcmode="lin" valueType="num">
                                      <p:cBhvr additive="base">
                                        <p:cTn id="75" dur="500" fill="hold"/>
                                        <p:tgtEl>
                                          <p:spTgt spid="842798"/>
                                        </p:tgtEl>
                                        <p:attrNameLst>
                                          <p:attrName>ppt_x</p:attrName>
                                        </p:attrNameLst>
                                      </p:cBhvr>
                                      <p:tavLst>
                                        <p:tav tm="0">
                                          <p:val>
                                            <p:strVal val="#ppt_x"/>
                                          </p:val>
                                        </p:tav>
                                        <p:tav tm="100000">
                                          <p:val>
                                            <p:strVal val="#ppt_x"/>
                                          </p:val>
                                        </p:tav>
                                      </p:tavLst>
                                    </p:anim>
                                    <p:anim calcmode="lin" valueType="num">
                                      <p:cBhvr additive="base">
                                        <p:cTn id="76" dur="500" fill="hold"/>
                                        <p:tgtEl>
                                          <p:spTgt spid="84279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842799"/>
                                        </p:tgtEl>
                                        <p:attrNameLst>
                                          <p:attrName>style.visibility</p:attrName>
                                        </p:attrNameLst>
                                      </p:cBhvr>
                                      <p:to>
                                        <p:strVal val="visible"/>
                                      </p:to>
                                    </p:set>
                                    <p:anim calcmode="lin" valueType="num">
                                      <p:cBhvr additive="base">
                                        <p:cTn id="81" dur="500" fill="hold"/>
                                        <p:tgtEl>
                                          <p:spTgt spid="842799"/>
                                        </p:tgtEl>
                                        <p:attrNameLst>
                                          <p:attrName>ppt_x</p:attrName>
                                        </p:attrNameLst>
                                      </p:cBhvr>
                                      <p:tavLst>
                                        <p:tav tm="0">
                                          <p:val>
                                            <p:strVal val="#ppt_x"/>
                                          </p:val>
                                        </p:tav>
                                        <p:tav tm="100000">
                                          <p:val>
                                            <p:strVal val="#ppt_x"/>
                                          </p:val>
                                        </p:tav>
                                      </p:tavLst>
                                    </p:anim>
                                    <p:anim calcmode="lin" valueType="num">
                                      <p:cBhvr additive="base">
                                        <p:cTn id="82" dur="500" fill="hold"/>
                                        <p:tgtEl>
                                          <p:spTgt spid="84279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842800"/>
                                        </p:tgtEl>
                                        <p:attrNameLst>
                                          <p:attrName>style.visibility</p:attrName>
                                        </p:attrNameLst>
                                      </p:cBhvr>
                                      <p:to>
                                        <p:strVal val="visible"/>
                                      </p:to>
                                    </p:set>
                                    <p:animEffect transition="in" filter="box(out)">
                                      <p:cBhvr>
                                        <p:cTn id="87" dur="500"/>
                                        <p:tgtEl>
                                          <p:spTgt spid="842800"/>
                                        </p:tgtEl>
                                      </p:cBhvr>
                                    </p:animEffect>
                                  </p:childTnLst>
                                  <p:subTnLst>
                                    <p:audio>
                                      <p:cMediaNode>
                                        <p:cTn display="0" masterRel="sameClick">
                                          <p:stCondLst>
                                            <p:cond evt="begin" delay="0">
                                              <p:tn val="85"/>
                                            </p:cond>
                                          </p:stCondLst>
                                          <p:endCondLst>
                                            <p:cond evt="onStopAudio" delay="0">
                                              <p:tgtEl>
                                                <p:sldTgt/>
                                              </p:tgtEl>
                                            </p:cond>
                                          </p:endCondLst>
                                        </p:cTn>
                                        <p:tgtEl>
                                          <p:sndTgt r:embed="rId4" name="chimes.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842801"/>
                                        </p:tgtEl>
                                        <p:attrNameLst>
                                          <p:attrName>style.visibility</p:attrName>
                                        </p:attrNameLst>
                                      </p:cBhvr>
                                      <p:to>
                                        <p:strVal val="visible"/>
                                      </p:to>
                                    </p:set>
                                    <p:animEffect transition="in" filter="box(in)">
                                      <p:cBhvr>
                                        <p:cTn id="92" dur="500"/>
                                        <p:tgtEl>
                                          <p:spTgt spid="842801"/>
                                        </p:tgtEl>
                                      </p:cBhvr>
                                    </p:animEffect>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842802"/>
                                        </p:tgtEl>
                                        <p:attrNameLst>
                                          <p:attrName>style.visibility</p:attrName>
                                        </p:attrNameLst>
                                      </p:cBhvr>
                                      <p:to>
                                        <p:strVal val="visible"/>
                                      </p:to>
                                    </p:set>
                                    <p:animEffect transition="in" filter="box(out)">
                                      <p:cBhvr>
                                        <p:cTn id="97" dur="500"/>
                                        <p:tgtEl>
                                          <p:spTgt spid="842802"/>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842803">
                                            <p:txEl>
                                              <p:pRg st="0" end="0"/>
                                            </p:txEl>
                                          </p:spTgt>
                                        </p:tgtEl>
                                        <p:attrNameLst>
                                          <p:attrName>style.visibility</p:attrName>
                                        </p:attrNameLst>
                                      </p:cBhvr>
                                      <p:to>
                                        <p:strVal val="visible"/>
                                      </p:to>
                                    </p:set>
                                    <p:animEffect transition="in" filter="box(out)">
                                      <p:cBhvr>
                                        <p:cTn id="102" dur="500"/>
                                        <p:tgtEl>
                                          <p:spTgt spid="842803">
                                            <p:txEl>
                                              <p:pRg st="0" end="0"/>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842806">
                                            <p:txEl>
                                              <p:pRg st="0" end="0"/>
                                            </p:txEl>
                                          </p:spTgt>
                                        </p:tgtEl>
                                        <p:attrNameLst>
                                          <p:attrName>style.visibility</p:attrName>
                                        </p:attrNameLst>
                                      </p:cBhvr>
                                      <p:to>
                                        <p:strVal val="visible"/>
                                      </p:to>
                                    </p:set>
                                    <p:animEffect transition="in" filter="box(out)">
                                      <p:cBhvr>
                                        <p:cTn id="107" dur="500"/>
                                        <p:tgtEl>
                                          <p:spTgt spid="842806">
                                            <p:txEl>
                                              <p:pRg st="0" end="0"/>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842807">
                                            <p:txEl>
                                              <p:pRg st="0" end="0"/>
                                            </p:txEl>
                                          </p:spTgt>
                                        </p:tgtEl>
                                        <p:attrNameLst>
                                          <p:attrName>style.visibility</p:attrName>
                                        </p:attrNameLst>
                                      </p:cBhvr>
                                      <p:to>
                                        <p:strVal val="visible"/>
                                      </p:to>
                                    </p:set>
                                    <p:animEffect transition="in" filter="box(out)">
                                      <p:cBhvr>
                                        <p:cTn id="112" dur="500"/>
                                        <p:tgtEl>
                                          <p:spTgt spid="842807">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842808">
                                            <p:txEl>
                                              <p:pRg st="0" end="0"/>
                                            </p:txEl>
                                          </p:spTgt>
                                        </p:tgtEl>
                                        <p:attrNameLst>
                                          <p:attrName>style.visibility</p:attrName>
                                        </p:attrNameLst>
                                      </p:cBhvr>
                                      <p:to>
                                        <p:strVal val="visible"/>
                                      </p:to>
                                    </p:set>
                                    <p:animEffect transition="in" filter="box(out)">
                                      <p:cBhvr>
                                        <p:cTn id="117" dur="500"/>
                                        <p:tgtEl>
                                          <p:spTgt spid="842808">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842809">
                                            <p:txEl>
                                              <p:pRg st="0" end="0"/>
                                            </p:txEl>
                                          </p:spTgt>
                                        </p:tgtEl>
                                        <p:attrNameLst>
                                          <p:attrName>style.visibility</p:attrName>
                                        </p:attrNameLst>
                                      </p:cBhvr>
                                      <p:to>
                                        <p:strVal val="visible"/>
                                      </p:to>
                                    </p:set>
                                    <p:animEffect transition="in" filter="box(out)">
                                      <p:cBhvr>
                                        <p:cTn id="122" dur="500"/>
                                        <p:tgtEl>
                                          <p:spTgt spid="842809">
                                            <p:txEl>
                                              <p:pRg st="0" end="0"/>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842810">
                                            <p:txEl>
                                              <p:pRg st="0" end="0"/>
                                            </p:txEl>
                                          </p:spTgt>
                                        </p:tgtEl>
                                        <p:attrNameLst>
                                          <p:attrName>style.visibility</p:attrName>
                                        </p:attrNameLst>
                                      </p:cBhvr>
                                      <p:to>
                                        <p:strVal val="visible"/>
                                      </p:to>
                                    </p:set>
                                    <p:animEffect transition="in" filter="box(out)">
                                      <p:cBhvr>
                                        <p:cTn id="127" dur="500"/>
                                        <p:tgtEl>
                                          <p:spTgt spid="842810">
                                            <p:txEl>
                                              <p:pRg st="0" end="0"/>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32" fill="hold" grpId="0" nodeType="clickEffect">
                                  <p:stCondLst>
                                    <p:cond delay="0"/>
                                  </p:stCondLst>
                                  <p:childTnLst>
                                    <p:set>
                                      <p:cBhvr>
                                        <p:cTn id="131" dur="1" fill="hold">
                                          <p:stCondLst>
                                            <p:cond delay="0"/>
                                          </p:stCondLst>
                                        </p:cTn>
                                        <p:tgtEl>
                                          <p:spTgt spid="842811">
                                            <p:txEl>
                                              <p:pRg st="0" end="0"/>
                                            </p:txEl>
                                          </p:spTgt>
                                        </p:tgtEl>
                                        <p:attrNameLst>
                                          <p:attrName>style.visibility</p:attrName>
                                        </p:attrNameLst>
                                      </p:cBhvr>
                                      <p:to>
                                        <p:strVal val="visible"/>
                                      </p:to>
                                    </p:set>
                                    <p:animEffect transition="in" filter="box(out)">
                                      <p:cBhvr>
                                        <p:cTn id="132" dur="500"/>
                                        <p:tgtEl>
                                          <p:spTgt spid="842811">
                                            <p:txEl>
                                              <p:pRg st="0" end="0"/>
                                            </p:txEl>
                                          </p:spTgt>
                                        </p:tgtEl>
                                      </p:cBhvr>
                                    </p:animEffect>
                                  </p:childTnLst>
                                  <p:subTnLst>
                                    <p:audio>
                                      <p:cMediaNode>
                                        <p:cTn display="0" masterRel="sameClick">
                                          <p:stCondLst>
                                            <p:cond evt="begin" delay="0">
                                              <p:tn val="1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91" grpId="0" animBg="1"/>
      <p:bldP spid="842759" grpId="0"/>
      <p:bldP spid="842760" grpId="0"/>
      <p:bldP spid="842761" grpId="0" animBg="1"/>
      <p:bldP spid="842786" grpId="0"/>
      <p:bldP spid="842792" grpId="0"/>
      <p:bldP spid="842793" grpId="0"/>
      <p:bldP spid="842794" grpId="0"/>
      <p:bldP spid="842795" grpId="0"/>
      <p:bldP spid="842796" grpId="0"/>
      <p:bldP spid="842797" grpId="0"/>
      <p:bldP spid="842798" grpId="0"/>
      <p:bldP spid="842799" grpId="0"/>
      <p:bldP spid="842800" grpId="0" animBg="1"/>
      <p:bldP spid="842801" grpId="0"/>
      <p:bldP spid="842802" grpId="0" animBg="1" autoUpdateAnimBg="0"/>
      <p:bldP spid="842803" grpId="0" build="p" autoUpdateAnimBg="0"/>
      <p:bldP spid="842806" grpId="0" build="p" autoUpdateAnimBg="0"/>
      <p:bldP spid="842807" grpId="0" build="p" autoUpdateAnimBg="0"/>
      <p:bldP spid="842808" grpId="0" build="p" autoUpdateAnimBg="0"/>
      <p:bldP spid="842809" grpId="0" build="p" autoUpdateAnimBg="0"/>
      <p:bldP spid="842810" grpId="0" build="p" autoUpdateAnimBg="0"/>
      <p:bldP spid="84281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4802" name="Rectangle 2"/>
          <p:cNvSpPr>
            <a:spLocks noGrp="1" noChangeArrowheads="1"/>
          </p:cNvSpPr>
          <p:nvPr>
            <p:ph type="body" idx="4294967295"/>
          </p:nvPr>
        </p:nvSpPr>
        <p:spPr>
          <a:xfrm>
            <a:off x="1194064" y="1429468"/>
            <a:ext cx="4500563" cy="400050"/>
          </a:xfrm>
        </p:spPr>
        <p:txBody>
          <a:bodyPr/>
          <a:lstStyle/>
          <a:p>
            <a:pPr>
              <a:buFont typeface="Wingdings" pitchFamily="2" charset="2"/>
              <a:buChar char="Ø"/>
            </a:pPr>
            <a:r>
              <a:rPr lang="zh-CN" altLang="en-US" sz="2400" dirty="0">
                <a:solidFill>
                  <a:srgbClr val="C01920"/>
                </a:solidFill>
                <a:effectLst/>
                <a:ea typeface="楷体" pitchFamily="49" charset="-122"/>
              </a:rPr>
              <a:t>逻辑运算注意</a:t>
            </a:r>
            <a:endParaRPr lang="zh-CN" altLang="en-US" sz="2400" dirty="0">
              <a:solidFill>
                <a:srgbClr val="C01920"/>
              </a:solidFill>
              <a:effectLst/>
              <a:ea typeface="楷体" pitchFamily="49" charset="-122"/>
              <a:sym typeface="Symbol" pitchFamily="18" charset="2"/>
            </a:endParaRPr>
          </a:p>
        </p:txBody>
      </p:sp>
      <p:sp>
        <p:nvSpPr>
          <p:cNvPr id="844819" name="Rectangle 19"/>
          <p:cNvSpPr>
            <a:spLocks noChangeArrowheads="1"/>
          </p:cNvSpPr>
          <p:nvPr/>
        </p:nvSpPr>
        <p:spPr bwMode="auto">
          <a:xfrm>
            <a:off x="893185" y="2119571"/>
            <a:ext cx="10627258" cy="830997"/>
          </a:xfrm>
          <a:prstGeom prst="rect">
            <a:avLst/>
          </a:prstGeom>
          <a:noFill/>
          <a:ln w="9525">
            <a:noFill/>
            <a:miter lim="800000"/>
            <a:headEnd/>
            <a:tailEnd/>
          </a:ln>
          <a:effectLst/>
        </p:spPr>
        <p:txBody>
          <a:bodyPr wrap="square">
            <a:spAutoFit/>
          </a:bodyPr>
          <a:lstStyle/>
          <a:p>
            <a:pPr>
              <a:spcBef>
                <a:spcPct val="20000"/>
              </a:spcBef>
              <a:buClr>
                <a:srgbClr val="FF9900"/>
              </a:buClr>
              <a:buFont typeface="Wingdings" pitchFamily="2" charset="2"/>
              <a:buNone/>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逻辑表达式求解时，并非所有的逻辑运算符都被执行，只是在必须执行下一个逻辑运算符才能求出表达式的解时，才执行该运算符。</a:t>
            </a:r>
          </a:p>
        </p:txBody>
      </p:sp>
      <p:sp>
        <p:nvSpPr>
          <p:cNvPr id="844821" name="Rectangle 21"/>
          <p:cNvSpPr>
            <a:spLocks noChangeArrowheads="1"/>
          </p:cNvSpPr>
          <p:nvPr/>
        </p:nvSpPr>
        <p:spPr bwMode="auto">
          <a:xfrm>
            <a:off x="1487488" y="3282138"/>
            <a:ext cx="9865096" cy="267765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latin typeface="+mn-lt"/>
                <a:ea typeface="楷体" pitchFamily="49" charset="-122"/>
              </a:rPr>
              <a:t>a &amp;&amp; b &amp;&amp; c       </a:t>
            </a:r>
          </a:p>
          <a:p>
            <a:r>
              <a:rPr lang="en-US" altLang="zh-CN" b="1" dirty="0">
                <a:solidFill>
                  <a:srgbClr val="0000FF"/>
                </a:solidFill>
                <a:latin typeface="+mn-lt"/>
                <a:ea typeface="楷体" pitchFamily="49" charset="-122"/>
              </a:rPr>
              <a:t>      </a:t>
            </a:r>
            <a:r>
              <a:rPr lang="zh-CN" altLang="zh-CN" b="1" dirty="0">
                <a:solidFill>
                  <a:srgbClr val="002060"/>
                </a:solidFill>
                <a:latin typeface="+mn-lt"/>
                <a:ea typeface="楷体" pitchFamily="49" charset="-122"/>
              </a:rPr>
              <a:t>只在</a:t>
            </a:r>
            <a:r>
              <a:rPr lang="en-US" altLang="zh-CN" b="1" dirty="0">
                <a:solidFill>
                  <a:srgbClr val="002060"/>
                </a:solidFill>
                <a:latin typeface="+mn-lt"/>
                <a:ea typeface="楷体" pitchFamily="49" charset="-122"/>
              </a:rPr>
              <a:t>a</a:t>
            </a:r>
            <a:r>
              <a:rPr lang="zh-CN" altLang="zh-CN" b="1" dirty="0">
                <a:solidFill>
                  <a:srgbClr val="002060"/>
                </a:solidFill>
                <a:latin typeface="+mn-lt"/>
                <a:ea typeface="楷体" pitchFamily="49" charset="-122"/>
              </a:rPr>
              <a:t>为真时，才判别</a:t>
            </a:r>
            <a:r>
              <a:rPr lang="en-US" altLang="zh-CN" b="1" dirty="0">
                <a:solidFill>
                  <a:srgbClr val="002060"/>
                </a:solidFill>
                <a:latin typeface="+mn-lt"/>
                <a:ea typeface="楷体" pitchFamily="49" charset="-122"/>
              </a:rPr>
              <a:t>b</a:t>
            </a:r>
            <a:r>
              <a:rPr lang="zh-CN" altLang="zh-CN" b="1" dirty="0">
                <a:solidFill>
                  <a:srgbClr val="002060"/>
                </a:solidFill>
                <a:latin typeface="+mn-lt"/>
                <a:ea typeface="楷体" pitchFamily="49" charset="-122"/>
              </a:rPr>
              <a:t>的值；只在</a:t>
            </a:r>
            <a:r>
              <a:rPr lang="en-US" altLang="zh-CN" b="1" dirty="0">
                <a:solidFill>
                  <a:srgbClr val="002060"/>
                </a:solidFill>
                <a:latin typeface="+mn-lt"/>
                <a:ea typeface="楷体" pitchFamily="49" charset="-122"/>
              </a:rPr>
              <a:t>a</a:t>
            </a:r>
            <a:r>
              <a:rPr lang="zh-CN" altLang="en-US" b="1" dirty="0">
                <a:solidFill>
                  <a:srgbClr val="002060"/>
                </a:solidFill>
                <a:latin typeface="+mn-lt"/>
                <a:ea typeface="楷体" pitchFamily="49" charset="-122"/>
              </a:rPr>
              <a:t>、</a:t>
            </a:r>
            <a:r>
              <a:rPr lang="en-US" altLang="zh-CN" b="1" dirty="0">
                <a:solidFill>
                  <a:srgbClr val="002060"/>
                </a:solidFill>
                <a:latin typeface="+mn-lt"/>
                <a:ea typeface="楷体" pitchFamily="49" charset="-122"/>
              </a:rPr>
              <a:t>b</a:t>
            </a:r>
            <a:r>
              <a:rPr lang="zh-CN" altLang="zh-CN" b="1" dirty="0">
                <a:solidFill>
                  <a:srgbClr val="002060"/>
                </a:solidFill>
                <a:latin typeface="+mn-lt"/>
                <a:ea typeface="楷体" pitchFamily="49" charset="-122"/>
              </a:rPr>
              <a:t>都为真时，才判别 </a:t>
            </a:r>
            <a:r>
              <a:rPr lang="en-US" altLang="zh-CN" b="1" dirty="0">
                <a:solidFill>
                  <a:srgbClr val="002060"/>
                </a:solidFill>
                <a:latin typeface="+mn-lt"/>
                <a:ea typeface="楷体" pitchFamily="49" charset="-122"/>
              </a:rPr>
              <a:t>c</a:t>
            </a:r>
            <a:r>
              <a:rPr lang="zh-CN" altLang="zh-CN" b="1" dirty="0">
                <a:solidFill>
                  <a:srgbClr val="002060"/>
                </a:solidFill>
                <a:latin typeface="+mn-lt"/>
                <a:ea typeface="楷体" pitchFamily="49" charset="-122"/>
              </a:rPr>
              <a:t>的值</a:t>
            </a:r>
          </a:p>
          <a:p>
            <a:r>
              <a:rPr lang="zh-CN" altLang="zh-CN" b="1" dirty="0">
                <a:solidFill>
                  <a:srgbClr val="C01920"/>
                </a:solidFill>
                <a:latin typeface="隶书" pitchFamily="49" charset="-122"/>
                <a:ea typeface="隶书" pitchFamily="49" charset="-122"/>
              </a:rPr>
              <a:t>例</a:t>
            </a:r>
            <a:r>
              <a:rPr lang="zh-CN" altLang="en-US" b="1" dirty="0">
                <a:solidFill>
                  <a:srgbClr val="C01920"/>
                </a:solidFill>
                <a:latin typeface="隶书" pitchFamily="49" charset="-122"/>
                <a:ea typeface="隶书" pitchFamily="49" charset="-122"/>
              </a:rPr>
              <a:t>：</a:t>
            </a:r>
            <a:r>
              <a:rPr lang="en-US" altLang="zh-CN" b="1" dirty="0">
                <a:latin typeface="+mn-lt"/>
                <a:ea typeface="楷体" pitchFamily="49" charset="-122"/>
              </a:rPr>
              <a:t>a || b || c              </a:t>
            </a:r>
          </a:p>
          <a:p>
            <a:r>
              <a:rPr lang="en-US" altLang="zh-CN" b="1" dirty="0">
                <a:solidFill>
                  <a:srgbClr val="0000FF"/>
                </a:solidFill>
                <a:latin typeface="+mn-lt"/>
                <a:ea typeface="楷体" pitchFamily="49" charset="-122"/>
              </a:rPr>
              <a:t>      </a:t>
            </a:r>
            <a:r>
              <a:rPr lang="zh-CN" altLang="zh-CN" b="1" dirty="0">
                <a:solidFill>
                  <a:srgbClr val="002060"/>
                </a:solidFill>
                <a:latin typeface="+mn-lt"/>
                <a:ea typeface="楷体" pitchFamily="49" charset="-122"/>
              </a:rPr>
              <a:t>只在</a:t>
            </a:r>
            <a:r>
              <a:rPr lang="en-US" altLang="zh-CN" b="1" dirty="0">
                <a:solidFill>
                  <a:srgbClr val="002060"/>
                </a:solidFill>
                <a:latin typeface="+mn-lt"/>
                <a:ea typeface="楷体" pitchFamily="49" charset="-122"/>
              </a:rPr>
              <a:t>a</a:t>
            </a:r>
            <a:r>
              <a:rPr lang="zh-CN" altLang="zh-CN" b="1" dirty="0">
                <a:solidFill>
                  <a:srgbClr val="002060"/>
                </a:solidFill>
                <a:latin typeface="+mn-lt"/>
                <a:ea typeface="楷体" pitchFamily="49" charset="-122"/>
              </a:rPr>
              <a:t>为假时，才判别</a:t>
            </a:r>
            <a:r>
              <a:rPr lang="en-US" altLang="zh-CN" b="1" dirty="0">
                <a:solidFill>
                  <a:srgbClr val="002060"/>
                </a:solidFill>
                <a:latin typeface="+mn-lt"/>
                <a:ea typeface="楷体" pitchFamily="49" charset="-122"/>
              </a:rPr>
              <a:t>b</a:t>
            </a:r>
            <a:r>
              <a:rPr lang="zh-CN" altLang="zh-CN" b="1" dirty="0">
                <a:solidFill>
                  <a:srgbClr val="002060"/>
                </a:solidFill>
                <a:latin typeface="+mn-lt"/>
                <a:ea typeface="楷体" pitchFamily="49" charset="-122"/>
              </a:rPr>
              <a:t>的值；只在</a:t>
            </a:r>
            <a:r>
              <a:rPr lang="en-US" altLang="zh-CN" b="1" dirty="0">
                <a:solidFill>
                  <a:srgbClr val="002060"/>
                </a:solidFill>
                <a:latin typeface="+mn-lt"/>
                <a:ea typeface="楷体" pitchFamily="49" charset="-122"/>
              </a:rPr>
              <a:t>a</a:t>
            </a:r>
            <a:r>
              <a:rPr lang="zh-CN" altLang="en-US" b="1" dirty="0">
                <a:solidFill>
                  <a:srgbClr val="002060"/>
                </a:solidFill>
                <a:latin typeface="+mn-lt"/>
                <a:ea typeface="楷体" pitchFamily="49" charset="-122"/>
              </a:rPr>
              <a:t>、</a:t>
            </a:r>
            <a:r>
              <a:rPr lang="en-US" altLang="zh-CN" b="1" dirty="0">
                <a:solidFill>
                  <a:srgbClr val="002060"/>
                </a:solidFill>
                <a:latin typeface="+mn-lt"/>
                <a:ea typeface="楷体" pitchFamily="49" charset="-122"/>
              </a:rPr>
              <a:t>b</a:t>
            </a:r>
            <a:r>
              <a:rPr lang="zh-CN" altLang="zh-CN" b="1" dirty="0">
                <a:solidFill>
                  <a:srgbClr val="002060"/>
                </a:solidFill>
                <a:latin typeface="+mn-lt"/>
                <a:ea typeface="楷体" pitchFamily="49" charset="-122"/>
              </a:rPr>
              <a:t>都为假时，才判别 </a:t>
            </a:r>
            <a:r>
              <a:rPr lang="en-US" altLang="zh-CN" b="1" dirty="0">
                <a:solidFill>
                  <a:srgbClr val="002060"/>
                </a:solidFill>
                <a:latin typeface="+mn-lt"/>
                <a:ea typeface="楷体" pitchFamily="49" charset="-122"/>
              </a:rPr>
              <a:t>c</a:t>
            </a:r>
            <a:r>
              <a:rPr lang="zh-CN" altLang="zh-CN" b="1" dirty="0">
                <a:solidFill>
                  <a:srgbClr val="002060"/>
                </a:solidFill>
                <a:latin typeface="+mn-lt"/>
                <a:ea typeface="楷体" pitchFamily="49" charset="-122"/>
              </a:rPr>
              <a:t>的值</a:t>
            </a:r>
            <a:endParaRPr lang="zh-CN" altLang="en-US" b="1" dirty="0">
              <a:solidFill>
                <a:srgbClr val="002060"/>
              </a:solidFill>
              <a:latin typeface="+mn-lt"/>
              <a:ea typeface="楷体" pitchFamily="49" charset="-122"/>
            </a:endParaRPr>
          </a:p>
          <a:p>
            <a:r>
              <a:rPr lang="zh-CN" altLang="en-US" b="1" dirty="0">
                <a:solidFill>
                  <a:srgbClr val="C01920"/>
                </a:solidFill>
                <a:latin typeface="隶书" pitchFamily="49" charset="-122"/>
                <a:ea typeface="隶书" pitchFamily="49" charset="-122"/>
              </a:rPr>
              <a:t>例：</a:t>
            </a:r>
            <a:r>
              <a:rPr lang="en-US" altLang="zh-CN" b="1" dirty="0">
                <a:latin typeface="+mn-lt"/>
                <a:ea typeface="楷体" pitchFamily="49" charset="-122"/>
              </a:rPr>
              <a:t>a = 1;   b = 2;   c = 3;   d = 4;   m = 1;   n = 1;</a:t>
            </a:r>
          </a:p>
          <a:p>
            <a:r>
              <a:rPr lang="en-US" altLang="zh-CN" b="1" dirty="0">
                <a:latin typeface="+mn-lt"/>
                <a:ea typeface="楷体" pitchFamily="49" charset="-122"/>
              </a:rPr>
              <a:t>        (m = a &gt; b) &amp;&amp; (n = c &gt; d)</a:t>
            </a:r>
          </a:p>
          <a:p>
            <a:endParaRPr lang="en-US" altLang="zh-CN" b="1" dirty="0">
              <a:latin typeface="+mn-lt"/>
              <a:ea typeface="楷体" pitchFamily="49" charset="-122"/>
            </a:endParaRPr>
          </a:p>
        </p:txBody>
      </p:sp>
      <p:sp>
        <p:nvSpPr>
          <p:cNvPr id="844822" name="Text Box 22"/>
          <p:cNvSpPr txBox="1">
            <a:spLocks noChangeArrowheads="1"/>
          </p:cNvSpPr>
          <p:nvPr/>
        </p:nvSpPr>
        <p:spPr bwMode="auto">
          <a:xfrm>
            <a:off x="2139368" y="5564268"/>
            <a:ext cx="2656794" cy="463846"/>
          </a:xfrm>
          <a:prstGeom prst="rect">
            <a:avLst/>
          </a:prstGeom>
          <a:noFill/>
          <a:ln w="38100">
            <a:noFill/>
            <a:miter lim="800000"/>
            <a:headEnd/>
            <a:tailEnd/>
          </a:ln>
          <a:effectLst/>
        </p:spPr>
        <p:txBody>
          <a:bodyPr wrap="none" lIns="90000" tIns="46800" rIns="90000" bIns="46800">
            <a:spAutoFit/>
          </a:bodyPr>
          <a:lstStyle/>
          <a:p>
            <a:pPr eaLnBrk="0" hangingPunct="0"/>
            <a:r>
              <a:rPr lang="zh-CN" altLang="zh-CN" b="1" dirty="0">
                <a:solidFill>
                  <a:srgbClr val="C01920"/>
                </a:solidFill>
                <a:latin typeface="+mn-lt"/>
                <a:ea typeface="楷体" pitchFamily="49" charset="-122"/>
              </a:rPr>
              <a:t>结果：</a:t>
            </a:r>
            <a:r>
              <a:rPr lang="en-US" altLang="zh-CN" b="1" dirty="0">
                <a:solidFill>
                  <a:srgbClr val="C01920"/>
                </a:solidFill>
                <a:latin typeface="+mn-lt"/>
                <a:ea typeface="楷体" pitchFamily="49" charset="-122"/>
              </a:rPr>
              <a:t>m = 0, n = 1</a:t>
            </a:r>
          </a:p>
        </p:txBody>
      </p:sp>
      <p:sp>
        <p:nvSpPr>
          <p:cNvPr id="9" name="Rectangle 4">
            <a:extLst>
              <a:ext uri="{FF2B5EF4-FFF2-40B4-BE49-F238E27FC236}">
                <a16:creationId xmlns:a16="http://schemas.microsoft.com/office/drawing/2014/main" id="{11BBE828-132C-4F84-B64F-683F7E80C44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10" name="Rectangle 13">
            <a:extLst>
              <a:ext uri="{FF2B5EF4-FFF2-40B4-BE49-F238E27FC236}">
                <a16:creationId xmlns:a16="http://schemas.microsoft.com/office/drawing/2014/main" id="{263DDA1E-8E43-40E2-A951-A4A9C79472B4}"/>
              </a:ext>
            </a:extLst>
          </p:cNvPr>
          <p:cNvSpPr>
            <a:spLocks noChangeArrowheads="1"/>
          </p:cNvSpPr>
          <p:nvPr/>
        </p:nvSpPr>
        <p:spPr bwMode="auto">
          <a:xfrm>
            <a:off x="817971" y="829886"/>
            <a:ext cx="4876656"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2. </a:t>
            </a:r>
            <a:r>
              <a:rPr lang="zh-CN" altLang="en-US" sz="2800" b="1" dirty="0">
                <a:solidFill>
                  <a:srgbClr val="C01920"/>
                </a:solidFill>
                <a:latin typeface="楷体" panose="02010609060101010101" pitchFamily="49" charset="-122"/>
                <a:ea typeface="楷体" panose="02010609060101010101" pitchFamily="49" charset="-122"/>
              </a:rPr>
              <a:t>逻辑运算符和逻辑表达式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4821"/>
                                        </p:tgtEl>
                                        <p:attrNameLst>
                                          <p:attrName>style.visibility</p:attrName>
                                        </p:attrNameLst>
                                      </p:cBhvr>
                                      <p:to>
                                        <p:strVal val="visible"/>
                                      </p:to>
                                    </p:set>
                                    <p:animEffect transition="in" filter="box(out)">
                                      <p:cBhvr>
                                        <p:cTn id="7" dur="500"/>
                                        <p:tgtEl>
                                          <p:spTgt spid="84482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4822">
                                            <p:txEl>
                                              <p:pRg st="0" end="0"/>
                                            </p:txEl>
                                          </p:spTgt>
                                        </p:tgtEl>
                                        <p:attrNameLst>
                                          <p:attrName>style.visibility</p:attrName>
                                        </p:attrNameLst>
                                      </p:cBhvr>
                                      <p:to>
                                        <p:strVal val="visible"/>
                                      </p:to>
                                    </p:set>
                                    <p:animEffect transition="in" filter="box(out)">
                                      <p:cBhvr>
                                        <p:cTn id="12" dur="500"/>
                                        <p:tgtEl>
                                          <p:spTgt spid="844822">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21" grpId="0" animBg="1"/>
      <p:bldP spid="844822"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45832" name="Group 8"/>
          <p:cNvGrpSpPr>
            <a:grpSpLocks/>
          </p:cNvGrpSpPr>
          <p:nvPr/>
        </p:nvGrpSpPr>
        <p:grpSpPr bwMode="auto">
          <a:xfrm>
            <a:off x="8186309" y="1113397"/>
            <a:ext cx="3638550" cy="2362200"/>
            <a:chOff x="3312" y="1584"/>
            <a:chExt cx="2292" cy="1488"/>
          </a:xfrm>
        </p:grpSpPr>
        <p:sp>
          <p:nvSpPr>
            <p:cNvPr id="845833" name="AutoShape 9"/>
            <p:cNvSpPr>
              <a:spLocks noChangeArrowheads="1"/>
            </p:cNvSpPr>
            <p:nvPr/>
          </p:nvSpPr>
          <p:spPr bwMode="auto">
            <a:xfrm>
              <a:off x="3953" y="1884"/>
              <a:ext cx="967" cy="367"/>
            </a:xfrm>
            <a:prstGeom prst="flowChartDecision">
              <a:avLst/>
            </a:prstGeom>
            <a:gradFill flip="none" rotWithShape="1">
              <a:gsLst>
                <a:gs pos="0">
                  <a:srgbClr val="F0E5B7"/>
                </a:gs>
                <a:gs pos="100000">
                  <a:srgbClr val="FFC000">
                    <a:tint val="23500"/>
                    <a:satMod val="160000"/>
                  </a:srgbClr>
                </a:gs>
              </a:gsLst>
              <a:lin ang="108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en-US" altLang="zh-CN" sz="2000" b="1" dirty="0">
                  <a:effectLst>
                    <a:outerShdw blurRad="38100" dist="38100" dir="2700000" algn="tl">
                      <a:srgbClr val="FFFFFF"/>
                    </a:outerShdw>
                  </a:effectLst>
                  <a:latin typeface="+mn-lt"/>
                  <a:ea typeface="楷体" pitchFamily="49" charset="-122"/>
                </a:rPr>
                <a:t>expr1</a:t>
              </a:r>
            </a:p>
          </p:txBody>
        </p:sp>
        <p:sp>
          <p:nvSpPr>
            <p:cNvPr id="845834" name="Text Box 10"/>
            <p:cNvSpPr txBox="1">
              <a:spLocks noChangeArrowheads="1"/>
            </p:cNvSpPr>
            <p:nvPr/>
          </p:nvSpPr>
          <p:spPr bwMode="auto">
            <a:xfrm>
              <a:off x="3312" y="2352"/>
              <a:ext cx="864" cy="256"/>
            </a:xfrm>
            <a:prstGeom prst="rect">
              <a:avLst/>
            </a:prstGeom>
            <a:gradFill flip="none" rotWithShape="1">
              <a:gsLst>
                <a:gs pos="0">
                  <a:srgbClr val="DDFAED"/>
                </a:gs>
                <a:gs pos="100000">
                  <a:schemeClr val="accent1">
                    <a:lumMod val="60000"/>
                    <a:lumOff val="40000"/>
                    <a:tint val="23500"/>
                    <a:satMod val="160000"/>
                  </a:schemeClr>
                </a:gs>
              </a:gsLst>
              <a:path path="circle">
                <a:fillToRect l="50000" t="50000" r="50000" b="50000"/>
              </a:path>
              <a:tileRect/>
            </a:gra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a:effectLst>
                    <a:outerShdw blurRad="38100" dist="38100" dir="2700000" algn="tl">
                      <a:srgbClr val="FFFFFF"/>
                    </a:outerShdw>
                  </a:effectLst>
                  <a:latin typeface="+mn-lt"/>
                  <a:ea typeface="楷体" pitchFamily="49" charset="-122"/>
                </a:rPr>
                <a:t>取</a:t>
              </a:r>
              <a:r>
                <a:rPr lang="en-US" altLang="zh-CN" sz="2000" b="1">
                  <a:effectLst>
                    <a:outerShdw blurRad="38100" dist="38100" dir="2700000" algn="tl">
                      <a:srgbClr val="FFFFFF"/>
                    </a:outerShdw>
                  </a:effectLst>
                  <a:latin typeface="+mn-lt"/>
                  <a:ea typeface="楷体" pitchFamily="49" charset="-122"/>
                </a:rPr>
                <a:t>expr2</a:t>
              </a:r>
              <a:r>
                <a:rPr lang="zh-CN" altLang="zh-CN" sz="2000" b="1">
                  <a:effectLst>
                    <a:outerShdw blurRad="38100" dist="38100" dir="2700000" algn="tl">
                      <a:srgbClr val="FFFFFF"/>
                    </a:outerShdw>
                  </a:effectLst>
                  <a:latin typeface="+mn-lt"/>
                  <a:ea typeface="楷体" pitchFamily="49" charset="-122"/>
                </a:rPr>
                <a:t>值</a:t>
              </a:r>
              <a:endParaRPr lang="zh-CN" altLang="en-US" sz="2000" b="1">
                <a:effectLst>
                  <a:outerShdw blurRad="38100" dist="38100" dir="2700000" algn="tl">
                    <a:srgbClr val="FFFFFF"/>
                  </a:outerShdw>
                </a:effectLst>
                <a:latin typeface="+mn-lt"/>
                <a:ea typeface="楷体" pitchFamily="49" charset="-122"/>
              </a:endParaRPr>
            </a:p>
          </p:txBody>
        </p:sp>
        <p:sp>
          <p:nvSpPr>
            <p:cNvPr id="845835" name="Text Box 11"/>
            <p:cNvSpPr txBox="1">
              <a:spLocks noChangeArrowheads="1"/>
            </p:cNvSpPr>
            <p:nvPr/>
          </p:nvSpPr>
          <p:spPr bwMode="auto">
            <a:xfrm>
              <a:off x="4704" y="2352"/>
              <a:ext cx="900" cy="256"/>
            </a:xfrm>
            <a:prstGeom prst="rect">
              <a:avLst/>
            </a:prstGeom>
            <a:gradFill flip="none" rotWithShape="1">
              <a:gsLst>
                <a:gs pos="0">
                  <a:srgbClr val="BAA1B9"/>
                </a:gs>
                <a:gs pos="100000">
                  <a:schemeClr val="accent6">
                    <a:lumMod val="40000"/>
                    <a:lumOff val="60000"/>
                    <a:tint val="23500"/>
                    <a:satMod val="160000"/>
                  </a:schemeClr>
                </a:gs>
              </a:gsLst>
              <a:lin ang="16200000" scaled="1"/>
              <a:tileRect/>
            </a:gra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spcBef>
                  <a:spcPct val="50000"/>
                </a:spcBef>
              </a:pPr>
              <a:r>
                <a:rPr lang="zh-CN" altLang="en-US" sz="2000" b="1" dirty="0">
                  <a:effectLst>
                    <a:outerShdw blurRad="38100" dist="38100" dir="2700000" algn="tl">
                      <a:srgbClr val="FFFFFF"/>
                    </a:outerShdw>
                  </a:effectLst>
                  <a:latin typeface="+mn-lt"/>
                  <a:ea typeface="楷体" pitchFamily="49" charset="-122"/>
                </a:rPr>
                <a:t>取</a:t>
              </a:r>
              <a:r>
                <a:rPr lang="en-US" altLang="zh-CN" sz="2000" b="1" dirty="0">
                  <a:effectLst>
                    <a:outerShdw blurRad="38100" dist="38100" dir="2700000" algn="tl">
                      <a:srgbClr val="FFFFFF"/>
                    </a:outerShdw>
                  </a:effectLst>
                  <a:latin typeface="+mn-lt"/>
                  <a:ea typeface="楷体" pitchFamily="49" charset="-122"/>
                </a:rPr>
                <a:t>expr3</a:t>
              </a:r>
              <a:r>
                <a:rPr lang="zh-CN" altLang="zh-CN" sz="2000" b="1" dirty="0">
                  <a:effectLst>
                    <a:outerShdw blurRad="38100" dist="38100" dir="2700000" algn="tl">
                      <a:srgbClr val="FFFFFF"/>
                    </a:outerShdw>
                  </a:effectLst>
                  <a:latin typeface="+mn-lt"/>
                  <a:ea typeface="楷体" pitchFamily="49" charset="-122"/>
                </a:rPr>
                <a:t>值</a:t>
              </a:r>
              <a:endParaRPr lang="zh-CN" altLang="en-US" sz="2000" b="1" dirty="0">
                <a:effectLst>
                  <a:outerShdw blurRad="38100" dist="38100" dir="2700000" algn="tl">
                    <a:srgbClr val="FFFFFF"/>
                  </a:outerShdw>
                </a:effectLst>
                <a:latin typeface="+mn-lt"/>
                <a:ea typeface="楷体" pitchFamily="49" charset="-122"/>
              </a:endParaRPr>
            </a:p>
          </p:txBody>
        </p:sp>
        <p:sp>
          <p:nvSpPr>
            <p:cNvPr id="845836" name="Line 12"/>
            <p:cNvSpPr>
              <a:spLocks noChangeShapeType="1"/>
            </p:cNvSpPr>
            <p:nvPr/>
          </p:nvSpPr>
          <p:spPr bwMode="auto">
            <a:xfrm>
              <a:off x="4441" y="1584"/>
              <a:ext cx="0" cy="300"/>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37" name="Line 13"/>
            <p:cNvSpPr>
              <a:spLocks noChangeShapeType="1"/>
            </p:cNvSpPr>
            <p:nvPr/>
          </p:nvSpPr>
          <p:spPr bwMode="auto">
            <a:xfrm flipH="1">
              <a:off x="3731" y="2073"/>
              <a:ext cx="222" cy="0"/>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38" name="Line 14"/>
            <p:cNvSpPr>
              <a:spLocks noChangeShapeType="1"/>
            </p:cNvSpPr>
            <p:nvPr/>
          </p:nvSpPr>
          <p:spPr bwMode="auto">
            <a:xfrm>
              <a:off x="3731" y="2073"/>
              <a:ext cx="0" cy="289"/>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39" name="Line 15"/>
            <p:cNvSpPr>
              <a:spLocks noChangeShapeType="1"/>
            </p:cNvSpPr>
            <p:nvPr/>
          </p:nvSpPr>
          <p:spPr bwMode="auto">
            <a:xfrm>
              <a:off x="4920" y="2073"/>
              <a:ext cx="244" cy="0"/>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0" name="Line 16"/>
            <p:cNvSpPr>
              <a:spLocks noChangeShapeType="1"/>
            </p:cNvSpPr>
            <p:nvPr/>
          </p:nvSpPr>
          <p:spPr bwMode="auto">
            <a:xfrm>
              <a:off x="5164" y="2073"/>
              <a:ext cx="0" cy="289"/>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sp>
          <p:nvSpPr>
            <p:cNvPr id="845841" name="Line 17"/>
            <p:cNvSpPr>
              <a:spLocks noChangeShapeType="1"/>
            </p:cNvSpPr>
            <p:nvPr/>
          </p:nvSpPr>
          <p:spPr bwMode="auto">
            <a:xfrm>
              <a:off x="3731" y="2618"/>
              <a:ext cx="0" cy="244"/>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2" name="Line 18"/>
            <p:cNvSpPr>
              <a:spLocks noChangeShapeType="1"/>
            </p:cNvSpPr>
            <p:nvPr/>
          </p:nvSpPr>
          <p:spPr bwMode="auto">
            <a:xfrm>
              <a:off x="5149" y="2618"/>
              <a:ext cx="0" cy="244"/>
            </a:xfrm>
            <a:prstGeom prst="line">
              <a:avLst/>
            </a:prstGeom>
            <a:noFill/>
            <a:ln w="25400">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45843" name="Line 19"/>
            <p:cNvSpPr>
              <a:spLocks noChangeShapeType="1"/>
            </p:cNvSpPr>
            <p:nvPr/>
          </p:nvSpPr>
          <p:spPr bwMode="auto">
            <a:xfrm>
              <a:off x="3731" y="2862"/>
              <a:ext cx="710" cy="0"/>
            </a:xfrm>
            <a:prstGeom prst="line">
              <a:avLst/>
            </a:prstGeom>
            <a:noFill/>
            <a:ln w="25400">
              <a:solidFill>
                <a:schemeClr val="tx1"/>
              </a:solidFill>
              <a:round/>
              <a:headEnd/>
              <a:tailEnd type="triangle" w="med" len="med"/>
            </a:ln>
            <a:effectLst/>
          </p:spPr>
          <p:txBody>
            <a:bodyPr wrap="none" anchor="ctr"/>
            <a:lstStyle/>
            <a:p>
              <a:endParaRPr lang="zh-CN" altLang="en-US">
                <a:latin typeface="+mn-lt"/>
                <a:ea typeface="楷体" pitchFamily="49" charset="-122"/>
              </a:endParaRPr>
            </a:p>
          </p:txBody>
        </p:sp>
        <p:sp>
          <p:nvSpPr>
            <p:cNvPr id="845844" name="Line 20"/>
            <p:cNvSpPr>
              <a:spLocks noChangeShapeType="1"/>
            </p:cNvSpPr>
            <p:nvPr/>
          </p:nvSpPr>
          <p:spPr bwMode="auto">
            <a:xfrm flipH="1">
              <a:off x="4441" y="2862"/>
              <a:ext cx="708" cy="0"/>
            </a:xfrm>
            <a:prstGeom prst="line">
              <a:avLst/>
            </a:prstGeom>
            <a:noFill/>
            <a:ln w="25400">
              <a:solidFill>
                <a:schemeClr val="tx1"/>
              </a:solidFill>
              <a:round/>
              <a:headEnd/>
              <a:tailEnd type="triangle" w="med" len="med"/>
            </a:ln>
            <a:effectLst/>
          </p:spPr>
          <p:txBody>
            <a:bodyPr wrap="none" anchor="ctr"/>
            <a:lstStyle/>
            <a:p>
              <a:endParaRPr lang="zh-CN" altLang="en-US">
                <a:latin typeface="+mn-lt"/>
                <a:ea typeface="楷体" pitchFamily="49" charset="-122"/>
              </a:endParaRPr>
            </a:p>
          </p:txBody>
        </p:sp>
        <p:sp>
          <p:nvSpPr>
            <p:cNvPr id="845845" name="Text Box 21"/>
            <p:cNvSpPr txBox="1">
              <a:spLocks noChangeArrowheads="1"/>
            </p:cNvSpPr>
            <p:nvPr/>
          </p:nvSpPr>
          <p:spPr bwMode="auto">
            <a:xfrm>
              <a:off x="3667" y="1831"/>
              <a:ext cx="361" cy="252"/>
            </a:xfrm>
            <a:prstGeom prst="rect">
              <a:avLst/>
            </a:prstGeom>
            <a:noFill/>
            <a:ln w="9525">
              <a:noFill/>
              <a:miter lim="800000"/>
              <a:headEnd/>
              <a:tailEnd/>
            </a:ln>
            <a:effectLst/>
          </p:spPr>
          <p:txBody>
            <a:bodyPr wrap="none" anchor="ctr">
              <a:spAutoFit/>
            </a:bodyPr>
            <a:lstStyle/>
            <a:p>
              <a:pPr algn="ctr" eaLnBrk="0" hangingPunct="0"/>
              <a:r>
                <a:rPr lang="zh-CN" altLang="en-US" sz="2000" b="1" dirty="0">
                  <a:solidFill>
                    <a:srgbClr val="C01920"/>
                  </a:solidFill>
                  <a:effectLst>
                    <a:outerShdw blurRad="38100" dist="38100" dir="2700000" algn="tl">
                      <a:srgbClr val="FFFFFF"/>
                    </a:outerShdw>
                  </a:effectLst>
                  <a:latin typeface="+mn-lt"/>
                  <a:ea typeface="楷体" pitchFamily="49" charset="-122"/>
                </a:rPr>
                <a:t>非</a:t>
              </a:r>
              <a:r>
                <a:rPr lang="en-US" altLang="zh-CN" sz="2000" b="1" dirty="0">
                  <a:solidFill>
                    <a:srgbClr val="C01920"/>
                  </a:solidFill>
                  <a:effectLst>
                    <a:outerShdw blurRad="38100" dist="38100" dir="2700000" algn="tl">
                      <a:srgbClr val="FFFFFF"/>
                    </a:outerShdw>
                  </a:effectLst>
                  <a:latin typeface="+mn-lt"/>
                  <a:ea typeface="楷体" pitchFamily="49" charset="-122"/>
                </a:rPr>
                <a:t>0</a:t>
              </a:r>
            </a:p>
          </p:txBody>
        </p:sp>
        <p:sp>
          <p:nvSpPr>
            <p:cNvPr id="845846" name="Text Box 22"/>
            <p:cNvSpPr txBox="1">
              <a:spLocks noChangeArrowheads="1"/>
            </p:cNvSpPr>
            <p:nvPr/>
          </p:nvSpPr>
          <p:spPr bwMode="auto">
            <a:xfrm>
              <a:off x="4914" y="1824"/>
              <a:ext cx="289" cy="252"/>
            </a:xfrm>
            <a:prstGeom prst="rect">
              <a:avLst/>
            </a:prstGeom>
            <a:noFill/>
            <a:ln w="9525">
              <a:noFill/>
              <a:miter lim="800000"/>
              <a:headEnd/>
              <a:tailEnd/>
            </a:ln>
            <a:effectLst/>
          </p:spPr>
          <p:txBody>
            <a:bodyPr wrap="none" anchor="ctr">
              <a:spAutoFit/>
            </a:bodyPr>
            <a:lstStyle/>
            <a:p>
              <a:pPr algn="ctr" eaLnBrk="0" hangingPunct="0"/>
              <a:r>
                <a:rPr lang="en-US" altLang="zh-CN" sz="2000" b="1" dirty="0">
                  <a:solidFill>
                    <a:srgbClr val="C01920"/>
                  </a:solidFill>
                  <a:effectLst>
                    <a:outerShdw blurRad="38100" dist="38100" dir="2700000" algn="tl">
                      <a:srgbClr val="FFFFFF"/>
                    </a:outerShdw>
                  </a:effectLst>
                  <a:latin typeface="+mn-lt"/>
                  <a:ea typeface="楷体" pitchFamily="49" charset="-122"/>
                </a:rPr>
                <a:t>=0</a:t>
              </a:r>
            </a:p>
          </p:txBody>
        </p:sp>
        <p:sp>
          <p:nvSpPr>
            <p:cNvPr id="845847" name="Line 23"/>
            <p:cNvSpPr>
              <a:spLocks noChangeShapeType="1"/>
            </p:cNvSpPr>
            <p:nvPr/>
          </p:nvSpPr>
          <p:spPr bwMode="auto">
            <a:xfrm>
              <a:off x="4449" y="2880"/>
              <a:ext cx="0" cy="192"/>
            </a:xfrm>
            <a:prstGeom prst="line">
              <a:avLst/>
            </a:prstGeom>
            <a:noFill/>
            <a:ln w="25400">
              <a:solidFill>
                <a:schemeClr val="tx1"/>
              </a:solidFill>
              <a:round/>
              <a:headEnd/>
              <a:tailEnd type="stealth" w="lg" len="lg"/>
            </a:ln>
            <a:effectLst/>
          </p:spPr>
          <p:txBody>
            <a:bodyPr wrap="none" anchor="ctr"/>
            <a:lstStyle/>
            <a:p>
              <a:endParaRPr lang="zh-CN" altLang="en-US">
                <a:latin typeface="+mn-lt"/>
                <a:ea typeface="楷体" pitchFamily="49" charset="-122"/>
              </a:endParaRPr>
            </a:p>
          </p:txBody>
        </p:sp>
      </p:grpSp>
      <p:sp>
        <p:nvSpPr>
          <p:cNvPr id="845849" name="Rectangle 25"/>
          <p:cNvSpPr>
            <a:spLocks noChangeArrowheads="1"/>
          </p:cNvSpPr>
          <p:nvPr/>
        </p:nvSpPr>
        <p:spPr bwMode="auto">
          <a:xfrm>
            <a:off x="764579" y="3020533"/>
            <a:ext cx="8501062" cy="1282700"/>
          </a:xfrm>
          <a:prstGeom prst="rect">
            <a:avLst/>
          </a:prstGeom>
          <a:noFill/>
          <a:ln w="9525">
            <a:noFill/>
            <a:miter lim="800000"/>
            <a:headEnd/>
            <a:tailEnd/>
          </a:ln>
        </p:spPr>
        <p:txBody>
          <a:bodyPr/>
          <a:lstStyle/>
          <a:p>
            <a:pPr marL="685800" lvl="1" indent="-228600">
              <a:spcBef>
                <a:spcPct val="20000"/>
              </a:spcBef>
              <a:buClr>
                <a:srgbClr val="C01920"/>
              </a:buClr>
              <a:buFont typeface="Wingdings" pitchFamily="2" charset="2"/>
              <a:buChar char="l"/>
            </a:pPr>
            <a:r>
              <a:rPr lang="zh-CN" altLang="en-US" b="1" dirty="0">
                <a:latin typeface="+mn-lt"/>
                <a:ea typeface="楷体" pitchFamily="49" charset="-122"/>
              </a:rPr>
              <a:t>  条件运算符可嵌套</a:t>
            </a:r>
          </a:p>
          <a:p>
            <a:pPr marL="1143000" lvl="2" indent="-228600">
              <a:spcBef>
                <a:spcPct val="20000"/>
              </a:spcBef>
              <a:buClr>
                <a:schemeClr val="accent1">
                  <a:lumMod val="50000"/>
                </a:schemeClr>
              </a:buClr>
            </a:pPr>
            <a:r>
              <a:rPr lang="zh-CN" altLang="en-US" b="1" dirty="0">
                <a:solidFill>
                  <a:schemeClr val="accent1">
                    <a:lumMod val="50000"/>
                  </a:schemeClr>
                </a:solidFill>
                <a:latin typeface="+mn-lt"/>
                <a:ea typeface="楷体" pitchFamily="49" charset="-122"/>
              </a:rPr>
              <a:t>  如  </a:t>
            </a:r>
            <a:r>
              <a:rPr lang="en-US" altLang="zh-CN" b="1" dirty="0">
                <a:solidFill>
                  <a:schemeClr val="accent1">
                    <a:lumMod val="50000"/>
                  </a:schemeClr>
                </a:solidFill>
                <a:latin typeface="+mn-lt"/>
                <a:ea typeface="楷体" pitchFamily="49" charset="-122"/>
              </a:rPr>
              <a:t>x &gt; 0 ? 1 : (x &lt; 0 ? -1 : 0)</a:t>
            </a:r>
          </a:p>
          <a:p>
            <a:pPr marL="685800" lvl="1" indent="-228600">
              <a:spcBef>
                <a:spcPct val="20000"/>
              </a:spcBef>
              <a:buClr>
                <a:srgbClr val="C01920"/>
              </a:buClr>
              <a:buFont typeface="Wingdings" pitchFamily="2" charset="2"/>
              <a:buChar char="l"/>
            </a:pPr>
            <a:r>
              <a:rPr lang="zh-CN" altLang="en-US" b="1" dirty="0">
                <a:latin typeface="+mn-lt"/>
                <a:ea typeface="楷体" pitchFamily="49" charset="-122"/>
              </a:rPr>
              <a:t>  优先级</a:t>
            </a:r>
            <a:r>
              <a:rPr lang="en-US" altLang="zh-CN" b="1" dirty="0">
                <a:latin typeface="+mn-lt"/>
                <a:ea typeface="楷体" pitchFamily="49" charset="-122"/>
              </a:rPr>
              <a:t>:  13</a:t>
            </a:r>
          </a:p>
        </p:txBody>
      </p:sp>
      <p:sp>
        <p:nvSpPr>
          <p:cNvPr id="845826" name="Rectangle 2"/>
          <p:cNvSpPr>
            <a:spLocks noGrp="1" noChangeArrowheads="1"/>
          </p:cNvSpPr>
          <p:nvPr>
            <p:ph type="body" idx="4294967295"/>
          </p:nvPr>
        </p:nvSpPr>
        <p:spPr>
          <a:xfrm>
            <a:off x="1205102" y="1492017"/>
            <a:ext cx="10717213" cy="1424822"/>
          </a:xfrm>
        </p:spPr>
        <p:txBody>
          <a:bodyPr/>
          <a:lstStyle/>
          <a:p>
            <a:pPr>
              <a:buClr>
                <a:srgbClr val="C01920"/>
              </a:buClr>
              <a:buFont typeface="Wingdings" panose="05000000000000000000" pitchFamily="2" charset="2"/>
              <a:buChar char="l"/>
            </a:pPr>
            <a:r>
              <a:rPr lang="zh-CN" altLang="en-US" sz="2400" dirty="0">
                <a:effectLst/>
                <a:ea typeface="楷体" pitchFamily="49" charset="-122"/>
              </a:rPr>
              <a:t>一般形式：  </a:t>
            </a:r>
            <a:r>
              <a:rPr lang="en-US" altLang="zh-CN" sz="2400" dirty="0">
                <a:solidFill>
                  <a:srgbClr val="002060"/>
                </a:solidFill>
                <a:effectLst/>
                <a:ea typeface="楷体" pitchFamily="49" charset="-122"/>
              </a:rPr>
              <a:t>expr1 </a:t>
            </a:r>
            <a:r>
              <a:rPr lang="en-US" altLang="zh-CN" sz="2400" dirty="0">
                <a:solidFill>
                  <a:srgbClr val="FF0000"/>
                </a:solidFill>
                <a:effectLst/>
                <a:ea typeface="楷体" pitchFamily="49" charset="-122"/>
              </a:rPr>
              <a:t> </a:t>
            </a:r>
            <a:r>
              <a:rPr lang="en-US" altLang="zh-CN" sz="2400" dirty="0">
                <a:solidFill>
                  <a:srgbClr val="C00000"/>
                </a:solidFill>
                <a:effectLst/>
                <a:ea typeface="楷体" pitchFamily="49" charset="-122"/>
              </a:rPr>
              <a:t>?</a:t>
            </a:r>
            <a:r>
              <a:rPr lang="en-US" altLang="zh-CN" sz="2400" dirty="0">
                <a:solidFill>
                  <a:srgbClr val="3333FF"/>
                </a:solidFill>
                <a:effectLst/>
                <a:ea typeface="楷体" pitchFamily="49" charset="-122"/>
              </a:rPr>
              <a:t>  </a:t>
            </a:r>
            <a:r>
              <a:rPr lang="en-US" altLang="zh-CN" sz="2400" dirty="0">
                <a:solidFill>
                  <a:srgbClr val="002060"/>
                </a:solidFill>
                <a:effectLst/>
                <a:ea typeface="楷体" pitchFamily="49" charset="-122"/>
              </a:rPr>
              <a:t>expr2</a:t>
            </a:r>
            <a:r>
              <a:rPr lang="en-US" altLang="zh-CN" sz="2400" dirty="0">
                <a:solidFill>
                  <a:srgbClr val="FF0000"/>
                </a:solidFill>
                <a:effectLst/>
                <a:ea typeface="楷体" pitchFamily="49" charset="-122"/>
              </a:rPr>
              <a:t>  </a:t>
            </a:r>
            <a:r>
              <a:rPr lang="en-US" altLang="zh-CN" sz="2400" dirty="0">
                <a:solidFill>
                  <a:srgbClr val="C00000"/>
                </a:solidFill>
                <a:effectLst/>
                <a:ea typeface="楷体" pitchFamily="49" charset="-122"/>
              </a:rPr>
              <a:t>: </a:t>
            </a:r>
            <a:r>
              <a:rPr lang="en-US" altLang="zh-CN" sz="2400" dirty="0">
                <a:solidFill>
                  <a:srgbClr val="3333FF"/>
                </a:solidFill>
                <a:effectLst/>
                <a:ea typeface="楷体" pitchFamily="49" charset="-122"/>
              </a:rPr>
              <a:t> </a:t>
            </a:r>
            <a:r>
              <a:rPr lang="en-US" altLang="zh-CN" sz="2400" dirty="0">
                <a:solidFill>
                  <a:srgbClr val="002060"/>
                </a:solidFill>
                <a:effectLst/>
                <a:ea typeface="楷体" pitchFamily="49" charset="-122"/>
              </a:rPr>
              <a:t>expr3</a:t>
            </a:r>
          </a:p>
          <a:p>
            <a:pPr>
              <a:buClr>
                <a:srgbClr val="C01920"/>
              </a:buClr>
              <a:buFont typeface="Wingdings" panose="05000000000000000000" pitchFamily="2" charset="2"/>
              <a:buChar char="l"/>
            </a:pPr>
            <a:r>
              <a:rPr lang="zh-CN" altLang="en-US" sz="2400" dirty="0">
                <a:effectLst/>
                <a:ea typeface="楷体" pitchFamily="49" charset="-122"/>
              </a:rPr>
              <a:t>执行过程：</a:t>
            </a:r>
            <a:endParaRPr lang="en-US" altLang="zh-CN" sz="2400" dirty="0">
              <a:effectLst/>
              <a:ea typeface="楷体" pitchFamily="49" charset="-122"/>
            </a:endParaRPr>
          </a:p>
          <a:p>
            <a:pPr>
              <a:buClr>
                <a:srgbClr val="C01920"/>
              </a:buClr>
              <a:buFont typeface="Wingdings" panose="05000000000000000000" pitchFamily="2" charset="2"/>
              <a:buChar char="l"/>
            </a:pPr>
            <a:r>
              <a:rPr lang="zh-CN" altLang="en-US" sz="2400" dirty="0">
                <a:effectLst/>
                <a:ea typeface="楷体" pitchFamily="49" charset="-122"/>
              </a:rPr>
              <a:t>功能：相当于条件语句，但不能取代一般</a:t>
            </a:r>
            <a:r>
              <a:rPr lang="en-US" altLang="zh-CN" sz="2400" dirty="0">
                <a:effectLst/>
                <a:ea typeface="楷体" pitchFamily="49" charset="-122"/>
              </a:rPr>
              <a:t>if</a:t>
            </a:r>
            <a:r>
              <a:rPr lang="zh-CN" altLang="zh-CN" sz="2400" dirty="0">
                <a:effectLst/>
                <a:ea typeface="楷体" pitchFamily="49" charset="-122"/>
              </a:rPr>
              <a:t>语句</a:t>
            </a:r>
            <a:endParaRPr lang="zh-CN" altLang="en-US" sz="2400" dirty="0">
              <a:effectLst/>
              <a:ea typeface="楷体" pitchFamily="49" charset="-122"/>
            </a:endParaRPr>
          </a:p>
        </p:txBody>
      </p:sp>
      <p:sp>
        <p:nvSpPr>
          <p:cNvPr id="845850" name="Rectangle 26"/>
          <p:cNvSpPr>
            <a:spLocks noChangeArrowheads="1"/>
          </p:cNvSpPr>
          <p:nvPr/>
        </p:nvSpPr>
        <p:spPr bwMode="auto">
          <a:xfrm>
            <a:off x="763119" y="4468025"/>
            <a:ext cx="9358239" cy="1774825"/>
          </a:xfrm>
          <a:prstGeom prst="rect">
            <a:avLst/>
          </a:prstGeom>
          <a:noFill/>
          <a:ln w="9525">
            <a:noFill/>
            <a:miter lim="800000"/>
            <a:headEnd/>
            <a:tailEnd/>
          </a:ln>
        </p:spPr>
        <p:txBody>
          <a:bodyPr/>
          <a:lstStyle/>
          <a:p>
            <a:pPr marL="685800" lvl="1" indent="-228600">
              <a:spcBef>
                <a:spcPct val="20000"/>
              </a:spcBef>
              <a:buClr>
                <a:srgbClr val="C01920"/>
              </a:buClr>
              <a:buFont typeface="Wingdings" pitchFamily="2" charset="2"/>
              <a:buChar char="l"/>
            </a:pPr>
            <a:r>
              <a:rPr lang="zh-CN" altLang="en-US" b="1" dirty="0">
                <a:latin typeface="+mn-lt"/>
                <a:ea typeface="楷体" pitchFamily="49" charset="-122"/>
              </a:rPr>
              <a:t>  结合方向：</a:t>
            </a:r>
            <a:r>
              <a:rPr lang="zh-CN" altLang="en-US" b="1" dirty="0">
                <a:solidFill>
                  <a:srgbClr val="C00000"/>
                </a:solidFill>
                <a:latin typeface="+mn-lt"/>
                <a:ea typeface="楷体" pitchFamily="49" charset="-122"/>
              </a:rPr>
              <a:t>自右向左</a:t>
            </a:r>
          </a:p>
          <a:p>
            <a:pPr marL="1143000" lvl="2" indent="-228600">
              <a:spcBef>
                <a:spcPct val="20000"/>
              </a:spcBef>
              <a:buClr>
                <a:schemeClr val="accent1">
                  <a:lumMod val="50000"/>
                </a:schemeClr>
              </a:buClr>
            </a:pPr>
            <a:r>
              <a:rPr lang="zh-CN" altLang="en-US" b="1" dirty="0">
                <a:latin typeface="+mn-lt"/>
                <a:ea typeface="楷体" pitchFamily="49" charset="-122"/>
              </a:rPr>
              <a:t>  </a:t>
            </a:r>
            <a:r>
              <a:rPr lang="zh-CN" altLang="en-US" b="1" dirty="0">
                <a:solidFill>
                  <a:srgbClr val="002060"/>
                </a:solidFill>
                <a:latin typeface="+mn-lt"/>
                <a:ea typeface="楷体" pitchFamily="49" charset="-122"/>
              </a:rPr>
              <a:t>如 </a:t>
            </a:r>
            <a:r>
              <a:rPr lang="en-US" altLang="zh-CN" b="1" dirty="0">
                <a:solidFill>
                  <a:srgbClr val="002060"/>
                </a:solidFill>
                <a:latin typeface="+mn-lt"/>
                <a:ea typeface="楷体" pitchFamily="49" charset="-122"/>
              </a:rPr>
              <a:t>a &gt; b ? a : c &gt; d ? c : d </a:t>
            </a:r>
            <a:r>
              <a:rPr lang="en-US" altLang="zh-CN" b="1" dirty="0">
                <a:solidFill>
                  <a:srgbClr val="002060"/>
                </a:solidFill>
                <a:latin typeface="+mn-lt"/>
                <a:ea typeface="楷体" pitchFamily="49" charset="-122"/>
                <a:sym typeface="Symbol" pitchFamily="18" charset="2"/>
              </a:rPr>
              <a:t> a &gt; b ? a : (c &gt; d ? c : d)</a:t>
            </a:r>
          </a:p>
          <a:p>
            <a:pPr marL="685800" lvl="1" indent="-228600">
              <a:spcBef>
                <a:spcPct val="20000"/>
              </a:spcBef>
              <a:buClr>
                <a:srgbClr val="C01920"/>
              </a:buClr>
              <a:buFont typeface="Wingdings" pitchFamily="2" charset="2"/>
              <a:buChar char="l"/>
            </a:pPr>
            <a:r>
              <a:rPr lang="en-US" altLang="zh-CN" b="1" dirty="0">
                <a:latin typeface="+mn-lt"/>
                <a:ea typeface="楷体" pitchFamily="49" charset="-122"/>
              </a:rPr>
              <a:t>  expr1</a:t>
            </a:r>
            <a:r>
              <a:rPr lang="zh-CN" altLang="en-US" b="1" dirty="0">
                <a:latin typeface="+mn-lt"/>
                <a:ea typeface="楷体" pitchFamily="49" charset="-122"/>
              </a:rPr>
              <a:t>、</a:t>
            </a:r>
            <a:r>
              <a:rPr lang="en-US" altLang="zh-CN" b="1" dirty="0">
                <a:latin typeface="+mn-lt"/>
                <a:ea typeface="楷体" pitchFamily="49" charset="-122"/>
              </a:rPr>
              <a:t>expr2</a:t>
            </a:r>
            <a:r>
              <a:rPr lang="zh-CN" altLang="en-US" b="1" dirty="0">
                <a:latin typeface="+mn-lt"/>
                <a:ea typeface="楷体" pitchFamily="49" charset="-122"/>
              </a:rPr>
              <a:t>、</a:t>
            </a:r>
            <a:r>
              <a:rPr lang="en-US" altLang="zh-CN" b="1" dirty="0">
                <a:latin typeface="+mn-lt"/>
                <a:ea typeface="楷体" pitchFamily="49" charset="-122"/>
              </a:rPr>
              <a:t>expr3</a:t>
            </a:r>
            <a:r>
              <a:rPr lang="zh-CN" altLang="en-US" b="1" dirty="0">
                <a:latin typeface="+mn-lt"/>
                <a:ea typeface="楷体" pitchFamily="49" charset="-122"/>
              </a:rPr>
              <a:t>类型可不同，表达式值取较高的类型</a:t>
            </a:r>
          </a:p>
        </p:txBody>
      </p:sp>
      <p:sp>
        <p:nvSpPr>
          <p:cNvPr id="845858" name="Text Box 34"/>
          <p:cNvSpPr txBox="1">
            <a:spLocks noChangeArrowheads="1"/>
          </p:cNvSpPr>
          <p:nvPr/>
        </p:nvSpPr>
        <p:spPr bwMode="auto">
          <a:xfrm>
            <a:off x="1512231" y="5827351"/>
            <a:ext cx="9453997" cy="830997"/>
          </a:xfrm>
          <a:prstGeom prst="rect">
            <a:avLst/>
          </a:prstGeom>
          <a:solidFill>
            <a:schemeClr val="bg1"/>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a:t>
            </a:r>
            <a:r>
              <a:rPr lang="zh-CN" altLang="en-US" b="1" dirty="0">
                <a:solidFill>
                  <a:srgbClr val="C01920"/>
                </a:solidFill>
                <a:latin typeface="+mn-lt"/>
                <a:ea typeface="楷体" pitchFamily="49" charset="-122"/>
              </a:rPr>
              <a:t>  </a:t>
            </a:r>
            <a:r>
              <a:rPr lang="en-US" altLang="zh-CN" b="1" dirty="0">
                <a:latin typeface="+mn-lt"/>
                <a:ea typeface="楷体" pitchFamily="49" charset="-122"/>
              </a:rPr>
              <a:t>x ? </a:t>
            </a:r>
            <a:r>
              <a:rPr lang="en-US" altLang="zh-CN" b="1" dirty="0">
                <a:ea typeface="楷体_GB2312" pitchFamily="49" charset="-122"/>
              </a:rPr>
              <a:t>'</a:t>
            </a:r>
            <a:r>
              <a:rPr lang="en-US" altLang="zh-CN" b="1" dirty="0">
                <a:latin typeface="+mn-lt"/>
                <a:ea typeface="楷体" pitchFamily="49" charset="-122"/>
              </a:rPr>
              <a:t>a</a:t>
            </a:r>
            <a:r>
              <a:rPr lang="en-US" altLang="zh-CN" b="1" dirty="0">
                <a:ea typeface="楷体_GB2312" pitchFamily="49" charset="-122"/>
              </a:rPr>
              <a:t>'</a:t>
            </a:r>
            <a:r>
              <a:rPr lang="en-US" altLang="zh-CN" b="1" dirty="0">
                <a:latin typeface="+mn-lt"/>
                <a:ea typeface="楷体" pitchFamily="49" charset="-122"/>
              </a:rPr>
              <a:t> : </a:t>
            </a:r>
            <a:r>
              <a:rPr lang="en-US" altLang="zh-CN" b="1" dirty="0">
                <a:ea typeface="楷体_GB2312" pitchFamily="49" charset="-122"/>
              </a:rPr>
              <a:t>'</a:t>
            </a:r>
            <a:r>
              <a:rPr lang="en-US" altLang="zh-CN" b="1" dirty="0">
                <a:latin typeface="+mn-lt"/>
                <a:ea typeface="楷体" pitchFamily="49" charset="-122"/>
              </a:rPr>
              <a:t>b</a:t>
            </a:r>
            <a:r>
              <a:rPr lang="en-US" altLang="zh-CN" b="1" dirty="0">
                <a:ea typeface="楷体_GB2312" pitchFamily="49" charset="-122"/>
              </a:rPr>
              <a:t>'</a:t>
            </a:r>
            <a:r>
              <a:rPr lang="en-US" altLang="zh-CN" b="1" dirty="0">
                <a:latin typeface="+mn-lt"/>
                <a:ea typeface="楷体" pitchFamily="49" charset="-122"/>
              </a:rPr>
              <a:t>           </a:t>
            </a:r>
            <a:r>
              <a:rPr lang="en-US" altLang="zh-CN" b="1" dirty="0">
                <a:solidFill>
                  <a:schemeClr val="accent2">
                    <a:lumMod val="50000"/>
                  </a:schemeClr>
                </a:solidFill>
                <a:latin typeface="+mn-lt"/>
                <a:ea typeface="楷体" pitchFamily="49" charset="-122"/>
              </a:rPr>
              <a:t>//x = 0, </a:t>
            </a:r>
            <a:r>
              <a:rPr lang="zh-CN" altLang="zh-CN" b="1" dirty="0">
                <a:solidFill>
                  <a:schemeClr val="accent2">
                    <a:lumMod val="50000"/>
                  </a:schemeClr>
                </a:solidFill>
                <a:latin typeface="+mn-lt"/>
                <a:ea typeface="楷体" pitchFamily="49" charset="-122"/>
              </a:rPr>
              <a:t>表达式值为</a:t>
            </a:r>
            <a:r>
              <a:rPr lang="en-US" altLang="zh-CN" b="1" dirty="0">
                <a:solidFill>
                  <a:schemeClr val="accent2">
                    <a:lumMod val="50000"/>
                  </a:schemeClr>
                </a:solidFill>
                <a:ea typeface="楷体_GB2312" pitchFamily="49" charset="-122"/>
              </a:rPr>
              <a:t>'</a:t>
            </a:r>
            <a:r>
              <a:rPr lang="en-US" altLang="zh-CN" b="1" dirty="0">
                <a:solidFill>
                  <a:schemeClr val="accent2">
                    <a:lumMod val="50000"/>
                  </a:schemeClr>
                </a:solidFill>
                <a:latin typeface="+mn-lt"/>
                <a:ea typeface="楷体" pitchFamily="49" charset="-122"/>
              </a:rPr>
              <a:t>b</a:t>
            </a:r>
            <a:r>
              <a:rPr lang="en-US" altLang="zh-CN" b="1" dirty="0">
                <a:solidFill>
                  <a:schemeClr val="accent2">
                    <a:lumMod val="50000"/>
                  </a:schemeClr>
                </a:solidFill>
                <a:ea typeface="楷体_GB2312" pitchFamily="49" charset="-122"/>
              </a:rPr>
              <a:t>'</a:t>
            </a:r>
            <a:r>
              <a:rPr lang="en-US" altLang="zh-CN" b="1" dirty="0">
                <a:solidFill>
                  <a:schemeClr val="accent2">
                    <a:lumMod val="50000"/>
                  </a:schemeClr>
                </a:solidFill>
                <a:latin typeface="+mn-lt"/>
                <a:ea typeface="楷体" pitchFamily="49" charset="-122"/>
              </a:rPr>
              <a:t>;  x≠0, </a:t>
            </a:r>
            <a:r>
              <a:rPr lang="zh-CN" altLang="zh-CN" b="1" dirty="0">
                <a:solidFill>
                  <a:schemeClr val="accent2">
                    <a:lumMod val="50000"/>
                  </a:schemeClr>
                </a:solidFill>
                <a:latin typeface="+mn-lt"/>
                <a:ea typeface="楷体" pitchFamily="49" charset="-122"/>
              </a:rPr>
              <a:t>表达式值为</a:t>
            </a:r>
            <a:r>
              <a:rPr lang="en-US" altLang="zh-CN" b="1" dirty="0">
                <a:solidFill>
                  <a:schemeClr val="accent2">
                    <a:lumMod val="50000"/>
                  </a:schemeClr>
                </a:solidFill>
                <a:ea typeface="楷体_GB2312" pitchFamily="49" charset="-122"/>
              </a:rPr>
              <a:t>'</a:t>
            </a:r>
            <a:r>
              <a:rPr lang="en-US" altLang="zh-CN" b="1" dirty="0">
                <a:solidFill>
                  <a:schemeClr val="accent2">
                    <a:lumMod val="50000"/>
                  </a:schemeClr>
                </a:solidFill>
                <a:latin typeface="+mn-lt"/>
                <a:ea typeface="楷体" pitchFamily="49" charset="-122"/>
              </a:rPr>
              <a:t>a</a:t>
            </a:r>
            <a:r>
              <a:rPr lang="en-US" altLang="zh-CN" b="1" dirty="0">
                <a:solidFill>
                  <a:schemeClr val="accent2">
                    <a:lumMod val="50000"/>
                  </a:schemeClr>
                </a:solidFill>
                <a:ea typeface="楷体_GB2312" pitchFamily="49" charset="-122"/>
              </a:rPr>
              <a:t>'</a:t>
            </a:r>
            <a:endParaRPr lang="en-US" altLang="zh-CN" b="1" dirty="0">
              <a:solidFill>
                <a:schemeClr val="accent2">
                  <a:lumMod val="50000"/>
                </a:schemeClr>
              </a:solidFill>
              <a:latin typeface="+mn-lt"/>
              <a:ea typeface="楷体" pitchFamily="49" charset="-122"/>
            </a:endParaRPr>
          </a:p>
          <a:p>
            <a:r>
              <a:rPr lang="en-US" altLang="zh-CN" b="1" dirty="0">
                <a:latin typeface="+mn-lt"/>
                <a:ea typeface="楷体" pitchFamily="49" charset="-122"/>
              </a:rPr>
              <a:t>        x &gt; y ? 1 : 1.5      </a:t>
            </a:r>
            <a:r>
              <a:rPr lang="en-US" altLang="zh-CN" b="1" dirty="0">
                <a:solidFill>
                  <a:schemeClr val="accent2">
                    <a:lumMod val="50000"/>
                  </a:schemeClr>
                </a:solidFill>
                <a:latin typeface="+mn-lt"/>
                <a:ea typeface="楷体" pitchFamily="49" charset="-122"/>
              </a:rPr>
              <a:t>//x &gt; y, </a:t>
            </a:r>
            <a:r>
              <a:rPr lang="zh-CN" altLang="zh-CN" b="1" dirty="0">
                <a:solidFill>
                  <a:schemeClr val="accent2">
                    <a:lumMod val="50000"/>
                  </a:schemeClr>
                </a:solidFill>
                <a:latin typeface="+mn-lt"/>
                <a:ea typeface="楷体" pitchFamily="49" charset="-122"/>
              </a:rPr>
              <a:t>值为1.0;  </a:t>
            </a:r>
            <a:r>
              <a:rPr lang="en-US" altLang="zh-CN" b="1" dirty="0">
                <a:solidFill>
                  <a:schemeClr val="accent2">
                    <a:lumMod val="50000"/>
                  </a:schemeClr>
                </a:solidFill>
                <a:latin typeface="+mn-lt"/>
                <a:ea typeface="楷体" pitchFamily="49" charset="-122"/>
              </a:rPr>
              <a:t>x &lt; y, </a:t>
            </a:r>
            <a:r>
              <a:rPr lang="zh-CN" altLang="zh-CN" b="1" dirty="0">
                <a:solidFill>
                  <a:schemeClr val="accent2">
                    <a:lumMod val="50000"/>
                  </a:schemeClr>
                </a:solidFill>
                <a:latin typeface="+mn-lt"/>
                <a:ea typeface="楷体" pitchFamily="49" charset="-122"/>
              </a:rPr>
              <a:t>值为1.5</a:t>
            </a:r>
            <a:endParaRPr lang="en-US" altLang="zh-CN" b="1" dirty="0">
              <a:solidFill>
                <a:schemeClr val="accent2">
                  <a:lumMod val="50000"/>
                </a:schemeClr>
              </a:solidFill>
              <a:latin typeface="+mn-lt"/>
              <a:ea typeface="楷体" pitchFamily="49" charset="-122"/>
            </a:endParaRPr>
          </a:p>
        </p:txBody>
      </p:sp>
      <p:grpSp>
        <p:nvGrpSpPr>
          <p:cNvPr id="845827" name="Group 3"/>
          <p:cNvGrpSpPr>
            <a:grpSpLocks/>
          </p:cNvGrpSpPr>
          <p:nvPr/>
        </p:nvGrpSpPr>
        <p:grpSpPr bwMode="auto">
          <a:xfrm>
            <a:off x="2105818" y="2895962"/>
            <a:ext cx="7980364" cy="1570038"/>
            <a:chOff x="806" y="2023"/>
            <a:chExt cx="5027" cy="989"/>
          </a:xfrm>
        </p:grpSpPr>
        <p:sp>
          <p:nvSpPr>
            <p:cNvPr id="845828" name="Text Box 4"/>
            <p:cNvSpPr txBox="1">
              <a:spLocks noChangeArrowheads="1"/>
            </p:cNvSpPr>
            <p:nvPr/>
          </p:nvSpPr>
          <p:spPr bwMode="auto">
            <a:xfrm>
              <a:off x="806" y="2023"/>
              <a:ext cx="2100" cy="989"/>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zh-CN" altLang="en-US" b="1" dirty="0">
                  <a:solidFill>
                    <a:srgbClr val="C01920"/>
                  </a:solidFill>
                  <a:latin typeface="+mn-lt"/>
                  <a:ea typeface="隶书" pitchFamily="49" charset="-122"/>
                </a:rPr>
                <a:t>例：</a:t>
              </a:r>
              <a:r>
                <a:rPr lang="en-US" altLang="zh-CN" b="1" dirty="0">
                  <a:latin typeface="+mn-lt"/>
                </a:rPr>
                <a:t>if (a&gt;b)</a:t>
              </a:r>
            </a:p>
            <a:p>
              <a:r>
                <a:rPr lang="en-US" altLang="zh-CN" b="1" dirty="0">
                  <a:latin typeface="+mn-lt"/>
                </a:rPr>
                <a:t>            </a:t>
              </a:r>
              <a:r>
                <a:rPr lang="en-US" altLang="zh-CN" b="1" dirty="0" err="1">
                  <a:latin typeface="+mn-lt"/>
                </a:rPr>
                <a:t>printf</a:t>
              </a:r>
              <a:r>
                <a:rPr lang="en-US" altLang="zh-CN" b="1" dirty="0">
                  <a:latin typeface="+mn-lt"/>
                </a:rPr>
                <a:t>(</a:t>
              </a:r>
              <a:r>
                <a:rPr lang="en-US" altLang="zh-CN" b="1" dirty="0">
                  <a:ea typeface="楷体_GB2312" pitchFamily="49" charset="-122"/>
                </a:rPr>
                <a:t>"</a:t>
              </a:r>
              <a:r>
                <a:rPr lang="en-US" altLang="zh-CN" b="1" dirty="0">
                  <a:latin typeface="+mn-lt"/>
                </a:rPr>
                <a:t>%d</a:t>
              </a:r>
              <a:r>
                <a:rPr lang="en-US" altLang="zh-CN" b="1" dirty="0">
                  <a:ea typeface="楷体_GB2312" pitchFamily="49" charset="-122"/>
                </a:rPr>
                <a:t>"</a:t>
              </a:r>
              <a:r>
                <a:rPr lang="en-US" altLang="zh-CN" b="1" dirty="0">
                  <a:latin typeface="+mn-lt"/>
                </a:rPr>
                <a:t>, a);</a:t>
              </a:r>
            </a:p>
            <a:p>
              <a:r>
                <a:rPr lang="en-US" altLang="zh-CN" b="1" dirty="0">
                  <a:latin typeface="+mn-lt"/>
                </a:rPr>
                <a:t>        else</a:t>
              </a:r>
            </a:p>
            <a:p>
              <a:r>
                <a:rPr lang="en-US" altLang="zh-CN" b="1" dirty="0">
                  <a:latin typeface="+mn-lt"/>
                </a:rPr>
                <a:t>            </a:t>
              </a:r>
              <a:r>
                <a:rPr lang="en-US" altLang="zh-CN" b="1" dirty="0" err="1">
                  <a:latin typeface="+mn-lt"/>
                </a:rPr>
                <a:t>printf</a:t>
              </a:r>
              <a:r>
                <a:rPr lang="en-US" altLang="zh-CN" b="1" dirty="0">
                  <a:latin typeface="+mn-lt"/>
                </a:rPr>
                <a:t>(</a:t>
              </a:r>
              <a:r>
                <a:rPr lang="en-US" altLang="zh-CN" b="1" dirty="0">
                  <a:ea typeface="楷体_GB2312" pitchFamily="49" charset="-122"/>
                </a:rPr>
                <a:t>"</a:t>
              </a:r>
              <a:r>
                <a:rPr lang="en-US" altLang="zh-CN" b="1" dirty="0">
                  <a:latin typeface="+mn-lt"/>
                </a:rPr>
                <a:t>%d</a:t>
              </a:r>
              <a:r>
                <a:rPr lang="en-US" altLang="zh-CN" b="1" dirty="0">
                  <a:ea typeface="楷体_GB2312" pitchFamily="49" charset="-122"/>
                </a:rPr>
                <a:t>"</a:t>
              </a:r>
              <a:r>
                <a:rPr lang="en-US" altLang="zh-CN" b="1" dirty="0">
                  <a:latin typeface="+mn-lt"/>
                </a:rPr>
                <a:t>, b);</a:t>
              </a:r>
            </a:p>
          </p:txBody>
        </p:sp>
        <p:sp>
          <p:nvSpPr>
            <p:cNvPr id="845829" name="AutoShape 5"/>
            <p:cNvSpPr>
              <a:spLocks noChangeArrowheads="1"/>
            </p:cNvSpPr>
            <p:nvPr/>
          </p:nvSpPr>
          <p:spPr bwMode="auto">
            <a:xfrm>
              <a:off x="2954" y="2388"/>
              <a:ext cx="573" cy="108"/>
            </a:xfrm>
            <a:prstGeom prst="leftRightArrow">
              <a:avLst>
                <a:gd name="adj1" fmla="val 50000"/>
                <a:gd name="adj2" fmla="val 126667"/>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845830" name="Text Box 6"/>
            <p:cNvSpPr txBox="1">
              <a:spLocks noChangeArrowheads="1"/>
            </p:cNvSpPr>
            <p:nvPr/>
          </p:nvSpPr>
          <p:spPr bwMode="auto">
            <a:xfrm>
              <a:off x="3579" y="2304"/>
              <a:ext cx="2254" cy="291"/>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C0C0C0"/>
                    </a:outerShdw>
                  </a:effectLst>
                  <a:latin typeface="+mn-lt"/>
                </a:rPr>
                <a:t> </a:t>
              </a:r>
              <a:r>
                <a:rPr lang="en-US" altLang="zh-CN" b="1" dirty="0" err="1">
                  <a:effectLst>
                    <a:outerShdw blurRad="38100" dist="38100" dir="2700000" algn="tl">
                      <a:srgbClr val="C0C0C0"/>
                    </a:outerShdw>
                  </a:effectLst>
                  <a:latin typeface="+mn-lt"/>
                </a:rPr>
                <a:t>printf</a:t>
              </a:r>
              <a:r>
                <a:rPr lang="en-US" altLang="zh-CN" b="1" dirty="0">
                  <a:effectLst>
                    <a:outerShdw blurRad="38100" dist="38100" dir="2700000" algn="tl">
                      <a:srgbClr val="C0C0C0"/>
                    </a:outerShdw>
                  </a:effectLst>
                  <a:latin typeface="+mn-lt"/>
                </a:rPr>
                <a:t>(</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%d</a:t>
              </a:r>
              <a:r>
                <a:rPr lang="en-US" altLang="zh-CN" b="1" dirty="0">
                  <a:effectLst>
                    <a:outerShdw blurRad="38100" dist="38100" dir="2700000" algn="tl">
                      <a:srgbClr val="FFFFFF"/>
                    </a:outerShdw>
                  </a:effectLst>
                  <a:ea typeface="楷体_GB2312" pitchFamily="49" charset="-122"/>
                </a:rPr>
                <a:t>"</a:t>
              </a:r>
              <a:r>
                <a:rPr lang="en-US" altLang="zh-CN" b="1" dirty="0">
                  <a:effectLst>
                    <a:outerShdw blurRad="38100" dist="38100" dir="2700000" algn="tl">
                      <a:srgbClr val="C0C0C0"/>
                    </a:outerShdw>
                  </a:effectLst>
                  <a:latin typeface="+mn-lt"/>
                </a:rPr>
                <a:t>, a&gt;</a:t>
              </a:r>
              <a:r>
                <a:rPr lang="en-US" altLang="zh-CN" b="1" dirty="0" err="1">
                  <a:effectLst>
                    <a:outerShdw blurRad="38100" dist="38100" dir="2700000" algn="tl">
                      <a:srgbClr val="C0C0C0"/>
                    </a:outerShdw>
                  </a:effectLst>
                  <a:latin typeface="+mn-lt"/>
                </a:rPr>
                <a:t>b?a:b</a:t>
              </a:r>
              <a:r>
                <a:rPr lang="en-US" altLang="zh-CN" b="1" dirty="0">
                  <a:effectLst>
                    <a:outerShdw blurRad="38100" dist="38100" dir="2700000" algn="tl">
                      <a:srgbClr val="C0C0C0"/>
                    </a:outerShdw>
                  </a:effectLst>
                  <a:latin typeface="+mn-lt"/>
                </a:rPr>
                <a:t>);</a:t>
              </a:r>
            </a:p>
          </p:txBody>
        </p:sp>
      </p:grpSp>
      <p:sp>
        <p:nvSpPr>
          <p:cNvPr id="845831" name="Text Box 7"/>
          <p:cNvSpPr txBox="1">
            <a:spLocks noChangeArrowheads="1"/>
          </p:cNvSpPr>
          <p:nvPr/>
        </p:nvSpPr>
        <p:spPr bwMode="auto">
          <a:xfrm>
            <a:off x="2070642" y="2993981"/>
            <a:ext cx="7370765" cy="830997"/>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zh-CN" altLang="en-US" dirty="0">
                <a:solidFill>
                  <a:srgbClr val="C01920"/>
                </a:solidFill>
                <a:latin typeface="+mn-lt"/>
                <a:ea typeface="楷体" pitchFamily="49" charset="-122"/>
              </a:rPr>
              <a:t> </a:t>
            </a:r>
            <a:r>
              <a:rPr lang="zh-CN" altLang="en-US" b="1" dirty="0">
                <a:latin typeface="+mn-lt"/>
                <a:ea typeface="楷体" pitchFamily="49" charset="-122"/>
              </a:rPr>
              <a:t>求 </a:t>
            </a:r>
            <a:r>
              <a:rPr lang="en-US" altLang="zh-CN" b="1" dirty="0">
                <a:latin typeface="+mn-lt"/>
                <a:ea typeface="楷体" pitchFamily="49" charset="-122"/>
              </a:rPr>
              <a:t>a + |b|</a:t>
            </a:r>
          </a:p>
          <a:p>
            <a:r>
              <a:rPr lang="en-US" altLang="zh-CN" b="1" dirty="0">
                <a:latin typeface="+mn-lt"/>
                <a:ea typeface="楷体" pitchFamily="49" charset="-122"/>
              </a:rPr>
              <a:t>         </a:t>
            </a:r>
            <a:r>
              <a:rPr lang="en-US" altLang="zh-CN" b="1" dirty="0" err="1">
                <a:latin typeface="+mn-lt"/>
                <a:ea typeface="楷体" pitchFamily="49" charset="-122"/>
              </a:rPr>
              <a:t>printf</a:t>
            </a:r>
            <a:r>
              <a:rPr lang="en-US" altLang="zh-CN" b="1" dirty="0">
                <a:latin typeface="+mn-lt"/>
                <a:ea typeface="楷体" pitchFamily="49" charset="-122"/>
              </a:rPr>
              <a:t>(</a:t>
            </a:r>
            <a:r>
              <a:rPr lang="en-US" altLang="zh-CN" b="1" dirty="0">
                <a:ea typeface="楷体_GB2312" pitchFamily="49" charset="-122"/>
              </a:rPr>
              <a:t>"</a:t>
            </a:r>
            <a:r>
              <a:rPr lang="en-US" altLang="zh-CN" b="1" dirty="0">
                <a:latin typeface="+mn-lt"/>
                <a:ea typeface="楷体" pitchFamily="49" charset="-122"/>
              </a:rPr>
              <a:t>a + |b| = %d\n</a:t>
            </a:r>
            <a:r>
              <a:rPr lang="en-US" altLang="zh-CN" b="1" dirty="0">
                <a:ea typeface="楷体_GB2312" pitchFamily="49" charset="-122"/>
              </a:rPr>
              <a:t>"</a:t>
            </a:r>
            <a:r>
              <a:rPr lang="en-US" altLang="zh-CN" b="1" dirty="0">
                <a:latin typeface="+mn-lt"/>
                <a:ea typeface="楷体" pitchFamily="49" charset="-122"/>
              </a:rPr>
              <a:t>, b &gt; 0? a + b : a - b);</a:t>
            </a:r>
          </a:p>
        </p:txBody>
      </p:sp>
      <p:sp>
        <p:nvSpPr>
          <p:cNvPr id="845848" name="Text Box 24"/>
          <p:cNvSpPr txBox="1">
            <a:spLocks noChangeArrowheads="1"/>
          </p:cNvSpPr>
          <p:nvPr/>
        </p:nvSpPr>
        <p:spPr bwMode="auto">
          <a:xfrm>
            <a:off x="2060224" y="2982949"/>
            <a:ext cx="7365448" cy="156966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latin typeface="+mn-lt"/>
              </a:rPr>
              <a:t>(a == b) ? </a:t>
            </a:r>
            <a:r>
              <a:rPr lang="en-US" altLang="zh-CN" b="1" dirty="0">
                <a:ea typeface="楷体_GB2312" pitchFamily="49" charset="-122"/>
              </a:rPr>
              <a:t> '</a:t>
            </a:r>
            <a:r>
              <a:rPr lang="en-US" altLang="zh-CN" b="1" dirty="0">
                <a:latin typeface="+mn-lt"/>
              </a:rPr>
              <a:t>Y</a:t>
            </a:r>
            <a:r>
              <a:rPr lang="en-US" altLang="zh-CN" b="1" dirty="0">
                <a:ea typeface="楷体_GB2312" pitchFamily="49" charset="-122"/>
              </a:rPr>
              <a:t>' </a:t>
            </a:r>
            <a:r>
              <a:rPr lang="en-US" altLang="zh-CN" b="1" dirty="0">
                <a:latin typeface="+mn-lt"/>
              </a:rPr>
              <a:t>: </a:t>
            </a:r>
            <a:r>
              <a:rPr lang="en-US" altLang="zh-CN" b="1" dirty="0">
                <a:ea typeface="楷体_GB2312" pitchFamily="49" charset="-122"/>
              </a:rPr>
              <a:t>'</a:t>
            </a:r>
            <a:r>
              <a:rPr lang="en-US" altLang="zh-CN" b="1" dirty="0">
                <a:latin typeface="+mn-lt"/>
              </a:rPr>
              <a:t>N</a:t>
            </a:r>
            <a:r>
              <a:rPr lang="en-US" altLang="zh-CN" b="1" dirty="0">
                <a:ea typeface="楷体_GB2312" pitchFamily="49" charset="-122"/>
              </a:rPr>
              <a:t>'</a:t>
            </a:r>
            <a:endParaRPr lang="en-US" altLang="zh-CN" b="1" dirty="0">
              <a:latin typeface="+mn-lt"/>
            </a:endParaRPr>
          </a:p>
          <a:p>
            <a:r>
              <a:rPr lang="en-US" altLang="zh-CN" b="1" dirty="0">
                <a:latin typeface="+mn-lt"/>
              </a:rPr>
              <a:t>         (x % 2 == 1) ? 1 : 0</a:t>
            </a:r>
          </a:p>
          <a:p>
            <a:r>
              <a:rPr lang="en-US" altLang="zh-CN" b="1" dirty="0">
                <a:latin typeface="+mn-lt"/>
              </a:rPr>
              <a:t>         (x &gt;= 0) ? x : -x</a:t>
            </a:r>
          </a:p>
          <a:p>
            <a:r>
              <a:rPr lang="en-US" altLang="zh-CN" b="1" dirty="0">
                <a:latin typeface="+mn-lt"/>
              </a:rPr>
              <a:t>         (c &gt;= </a:t>
            </a:r>
            <a:r>
              <a:rPr lang="en-US" altLang="zh-CN" b="1" dirty="0">
                <a:ea typeface="楷体_GB2312" pitchFamily="49" charset="-122"/>
              </a:rPr>
              <a:t>'</a:t>
            </a:r>
            <a:r>
              <a:rPr lang="en-US" altLang="zh-CN" b="1" dirty="0">
                <a:latin typeface="+mn-lt"/>
              </a:rPr>
              <a:t>a</a:t>
            </a:r>
            <a:r>
              <a:rPr lang="en-US" altLang="zh-CN" b="1" dirty="0">
                <a:ea typeface="楷体_GB2312" pitchFamily="49" charset="-122"/>
              </a:rPr>
              <a:t>'</a:t>
            </a:r>
            <a:r>
              <a:rPr lang="en-US" altLang="zh-CN" b="1" dirty="0">
                <a:latin typeface="+mn-lt"/>
              </a:rPr>
              <a:t> &amp;&amp; c &lt;= </a:t>
            </a:r>
            <a:r>
              <a:rPr lang="en-US" altLang="zh-CN" b="1" dirty="0">
                <a:ea typeface="楷体_GB2312" pitchFamily="49" charset="-122"/>
              </a:rPr>
              <a:t>'</a:t>
            </a:r>
            <a:r>
              <a:rPr lang="en-US" altLang="zh-CN" b="1" dirty="0">
                <a:latin typeface="+mn-lt"/>
              </a:rPr>
              <a:t>z</a:t>
            </a:r>
            <a:r>
              <a:rPr lang="en-US" altLang="zh-CN" b="1" dirty="0">
                <a:ea typeface="楷体_GB2312" pitchFamily="49" charset="-122"/>
              </a:rPr>
              <a:t>'</a:t>
            </a:r>
            <a:r>
              <a:rPr lang="en-US" altLang="zh-CN" b="1" dirty="0">
                <a:latin typeface="+mn-lt"/>
              </a:rPr>
              <a:t>) ? c - </a:t>
            </a:r>
            <a:r>
              <a:rPr lang="en-US" altLang="zh-CN" b="1" dirty="0">
                <a:ea typeface="楷体_GB2312" pitchFamily="49" charset="-122"/>
              </a:rPr>
              <a:t>'</a:t>
            </a:r>
            <a:r>
              <a:rPr lang="en-US" altLang="zh-CN" b="1" dirty="0">
                <a:latin typeface="+mn-lt"/>
              </a:rPr>
              <a:t>a</a:t>
            </a:r>
            <a:r>
              <a:rPr lang="en-US" altLang="zh-CN" b="1" dirty="0">
                <a:ea typeface="楷体_GB2312" pitchFamily="49" charset="-122"/>
              </a:rPr>
              <a:t>' </a:t>
            </a:r>
            <a:r>
              <a:rPr lang="en-US" altLang="zh-CN" b="1" dirty="0">
                <a:latin typeface="+mn-lt"/>
              </a:rPr>
              <a:t>+ </a:t>
            </a:r>
            <a:r>
              <a:rPr lang="en-US" altLang="zh-CN" b="1" dirty="0">
                <a:ea typeface="楷体_GB2312" pitchFamily="49" charset="-122"/>
              </a:rPr>
              <a:t>'</a:t>
            </a:r>
            <a:r>
              <a:rPr lang="en-US" altLang="zh-CN" b="1" dirty="0">
                <a:latin typeface="+mn-lt"/>
              </a:rPr>
              <a:t>A</a:t>
            </a:r>
            <a:r>
              <a:rPr lang="en-US" altLang="zh-CN" b="1" dirty="0">
                <a:ea typeface="楷体_GB2312" pitchFamily="49" charset="-122"/>
              </a:rPr>
              <a:t>' </a:t>
            </a:r>
            <a:r>
              <a:rPr lang="en-US" altLang="zh-CN" b="1" dirty="0">
                <a:latin typeface="+mn-lt"/>
              </a:rPr>
              <a:t>: c</a:t>
            </a:r>
          </a:p>
        </p:txBody>
      </p:sp>
      <p:sp>
        <p:nvSpPr>
          <p:cNvPr id="845865" name="Rectangle 41" descr="信纸"/>
          <p:cNvSpPr>
            <a:spLocks noChangeArrowheads="1"/>
          </p:cNvSpPr>
          <p:nvPr/>
        </p:nvSpPr>
        <p:spPr bwMode="auto">
          <a:xfrm>
            <a:off x="1391451" y="1505510"/>
            <a:ext cx="9517421" cy="5201424"/>
          </a:xfrm>
          <a:prstGeom prst="rect">
            <a:avLst/>
          </a:prstGeom>
          <a:gradFill>
            <a:gsLst>
              <a:gs pos="0">
                <a:srgbClr val="CFCFD1"/>
              </a:gs>
              <a:gs pos="100000">
                <a:schemeClr val="bg1">
                  <a:lumMod val="95000"/>
                </a:schemeClr>
              </a:gs>
            </a:gsLst>
            <a:lin ang="16200000" scaled="1"/>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r>
              <a:rPr lang="zh-CN" altLang="en-US" b="1" dirty="0">
                <a:solidFill>
                  <a:srgbClr val="C01920"/>
                </a:solidFill>
                <a:ea typeface="隶书" pitchFamily="49" charset="-122"/>
              </a:rPr>
              <a:t>例：小写字母转盘。</a:t>
            </a:r>
          </a:p>
          <a:p>
            <a:pPr marL="457200" indent="-457200"/>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pPr marL="457200" indent="-457200"/>
            <a:r>
              <a:rPr lang="en-US" altLang="zh-CN" b="1" dirty="0">
                <a:ea typeface="楷体_GB2312" pitchFamily="49" charset="-122"/>
              </a:rPr>
              <a:t>#include &lt;</a:t>
            </a:r>
            <a:r>
              <a:rPr lang="en-US" altLang="zh-CN" b="1" dirty="0" err="1">
                <a:ea typeface="楷体_GB2312" pitchFamily="49" charset="-122"/>
              </a:rPr>
              <a:t>conio.h</a:t>
            </a:r>
            <a:r>
              <a:rPr lang="en-US" altLang="zh-CN" b="1" dirty="0">
                <a:ea typeface="楷体_GB2312" pitchFamily="49" charset="-122"/>
              </a:rPr>
              <a:t>&gt;</a:t>
            </a:r>
          </a:p>
          <a:p>
            <a:pPr marL="457200" indent="-457200"/>
            <a:r>
              <a:rPr lang="en-US" altLang="zh-CN" b="1" dirty="0" err="1">
                <a:solidFill>
                  <a:srgbClr val="C00000"/>
                </a:solidFill>
                <a:ea typeface="楷体_GB2312" pitchFamily="49" charset="-122"/>
              </a:rPr>
              <a:t>int</a:t>
            </a:r>
            <a:r>
              <a:rPr lang="en-US" altLang="zh-CN" b="1" dirty="0">
                <a:solidFill>
                  <a:srgbClr val="C00000"/>
                </a:solidFill>
                <a:ea typeface="楷体_GB2312" pitchFamily="49" charset="-122"/>
              </a:rPr>
              <a:t> main ( )</a:t>
            </a:r>
          </a:p>
          <a:p>
            <a:pPr marL="457200" indent="-457200"/>
            <a:r>
              <a:rPr lang="en-US" altLang="zh-CN" b="1" dirty="0">
                <a:ea typeface="楷体_GB2312" pitchFamily="49" charset="-122"/>
              </a:rPr>
              <a:t>{</a:t>
            </a:r>
          </a:p>
          <a:p>
            <a:pPr marL="457200" indent="-457200"/>
            <a:r>
              <a:rPr lang="en-US" altLang="zh-CN" b="1" dirty="0">
                <a:ea typeface="楷体_GB2312" pitchFamily="49" charset="-122"/>
              </a:rPr>
              <a:t>   char </a:t>
            </a:r>
            <a:r>
              <a:rPr lang="en-US" altLang="zh-CN" b="1" dirty="0" err="1">
                <a:ea typeface="楷体_GB2312" pitchFamily="49" charset="-122"/>
              </a:rPr>
              <a:t>ch</a:t>
            </a:r>
            <a:r>
              <a:rPr lang="en-US" altLang="zh-CN" b="1" dirty="0">
                <a:ea typeface="楷体_GB2312" pitchFamily="49" charset="-122"/>
              </a:rPr>
              <a:t>, ch1, ch2;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变量定义</a:t>
            </a:r>
            <a:endParaRPr lang="en-US" altLang="zh-CN" sz="2000" b="1" dirty="0">
              <a:solidFill>
                <a:schemeClr val="accent2">
                  <a:lumMod val="50000"/>
                </a:schemeClr>
              </a:solidFill>
              <a:latin typeface="+mn-lt"/>
              <a:ea typeface="楷体" pitchFamily="49" charset="-122"/>
            </a:endParaRPr>
          </a:p>
          <a:p>
            <a:pPr marL="457200" indent="-457200"/>
            <a:endParaRPr lang="zh-CN" altLang="en-US" sz="2000" b="1" dirty="0">
              <a:solidFill>
                <a:srgbClr val="0033CC"/>
              </a:solidFill>
              <a:latin typeface="+mn-lt"/>
              <a:ea typeface="楷体" pitchFamily="49" charset="-122"/>
            </a:endParaRPr>
          </a:p>
          <a:p>
            <a:pPr marL="457200" indent="-457200"/>
            <a:r>
              <a:rPr lang="zh-CN" altLang="en-US" b="1" dirty="0">
                <a:ea typeface="楷体_GB2312" pitchFamily="49" charset="-122"/>
              </a:rPr>
              <a:t>   </a:t>
            </a:r>
            <a:r>
              <a:rPr lang="en-US" altLang="zh-CN" b="1" dirty="0" err="1">
                <a:ea typeface="楷体_GB2312" pitchFamily="49" charset="-122"/>
              </a:rPr>
              <a:t>ch</a:t>
            </a:r>
            <a:r>
              <a:rPr lang="en-US" altLang="zh-CN" b="1" dirty="0">
                <a:ea typeface="楷体_GB2312" pitchFamily="49" charset="-122"/>
              </a:rPr>
              <a:t> = </a:t>
            </a:r>
            <a:r>
              <a:rPr lang="en-US" altLang="zh-CN" b="1" dirty="0" err="1">
                <a:ea typeface="楷体_GB2312" pitchFamily="49" charset="-122"/>
              </a:rPr>
              <a:t>getche</a:t>
            </a:r>
            <a:r>
              <a:rPr lang="en-US" altLang="zh-CN" b="1" dirty="0">
                <a:ea typeface="楷体_GB2312" pitchFamily="49" charset="-122"/>
              </a:rPr>
              <a:t> ( );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读取一字符  </a:t>
            </a:r>
          </a:p>
          <a:p>
            <a:pPr marL="457200" indent="-457200"/>
            <a:r>
              <a:rPr lang="zh-CN" altLang="en-US" b="1" dirty="0">
                <a:ea typeface="楷体_GB2312" pitchFamily="49" charset="-122"/>
              </a:rPr>
              <a:t>   </a:t>
            </a:r>
            <a:r>
              <a:rPr lang="en-US" altLang="zh-CN" b="1" dirty="0" err="1">
                <a:ea typeface="楷体_GB2312" pitchFamily="49" charset="-122"/>
              </a:rPr>
              <a:t>putchar</a:t>
            </a:r>
            <a:r>
              <a:rPr lang="en-US" altLang="zh-CN" b="1" dirty="0">
                <a:ea typeface="楷体_GB2312" pitchFamily="49" charset="-122"/>
              </a:rPr>
              <a:t> ('\n');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换行</a:t>
            </a:r>
          </a:p>
          <a:p>
            <a:pPr marL="457200" indent="-457200"/>
            <a:r>
              <a:rPr lang="zh-CN" altLang="en-US" b="1" dirty="0">
                <a:ea typeface="楷体_GB2312" pitchFamily="49" charset="-122"/>
              </a:rPr>
              <a:t>   </a:t>
            </a:r>
            <a:r>
              <a:rPr lang="en-US" altLang="zh-CN" b="1" dirty="0">
                <a:ea typeface="楷体_GB2312" pitchFamily="49" charset="-122"/>
              </a:rPr>
              <a:t>ch1 = </a:t>
            </a:r>
            <a:r>
              <a:rPr lang="en-US" altLang="zh-CN" b="1" dirty="0" err="1">
                <a:solidFill>
                  <a:srgbClr val="C01920"/>
                </a:solidFill>
                <a:ea typeface="楷体_GB2312" pitchFamily="49" charset="-122"/>
              </a:rPr>
              <a:t>ch</a:t>
            </a:r>
            <a:r>
              <a:rPr lang="en-US" altLang="zh-CN" b="1" dirty="0">
                <a:solidFill>
                  <a:srgbClr val="C01920"/>
                </a:solidFill>
                <a:ea typeface="楷体_GB2312" pitchFamily="49" charset="-122"/>
              </a:rPr>
              <a:t> == 'a' ? 'z' : </a:t>
            </a:r>
            <a:r>
              <a:rPr lang="en-US" altLang="zh-CN" b="1" dirty="0" err="1">
                <a:solidFill>
                  <a:srgbClr val="C01920"/>
                </a:solidFill>
                <a:ea typeface="楷体_GB2312" pitchFamily="49" charset="-122"/>
              </a:rPr>
              <a:t>ch</a:t>
            </a:r>
            <a:r>
              <a:rPr lang="en-US" altLang="zh-CN" b="1" dirty="0">
                <a:solidFill>
                  <a:srgbClr val="C01920"/>
                </a:solidFill>
                <a:ea typeface="楷体_GB2312" pitchFamily="49" charset="-122"/>
              </a:rPr>
              <a:t> - 1;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求前驱字符</a:t>
            </a:r>
          </a:p>
          <a:p>
            <a:pPr marL="457200" indent="-457200"/>
            <a:r>
              <a:rPr lang="zh-CN" altLang="en-US" b="1" dirty="0">
                <a:ea typeface="楷体_GB2312" pitchFamily="49" charset="-122"/>
              </a:rPr>
              <a:t>   </a:t>
            </a:r>
            <a:r>
              <a:rPr lang="en-US" altLang="zh-CN" b="1" dirty="0">
                <a:ea typeface="楷体_GB2312" pitchFamily="49" charset="-122"/>
              </a:rPr>
              <a:t>ch2 = </a:t>
            </a:r>
            <a:r>
              <a:rPr lang="en-US" altLang="zh-CN" b="1" dirty="0" err="1">
                <a:solidFill>
                  <a:srgbClr val="C01920"/>
                </a:solidFill>
                <a:ea typeface="楷体_GB2312" pitchFamily="49" charset="-122"/>
              </a:rPr>
              <a:t>ch</a:t>
            </a:r>
            <a:r>
              <a:rPr lang="en-US" altLang="zh-CN" b="1" dirty="0">
                <a:solidFill>
                  <a:srgbClr val="C01920"/>
                </a:solidFill>
                <a:ea typeface="楷体_GB2312" pitchFamily="49" charset="-122"/>
              </a:rPr>
              <a:t> == 'z' ? 'a' : </a:t>
            </a:r>
            <a:r>
              <a:rPr lang="en-US" altLang="zh-CN" b="1" dirty="0" err="1">
                <a:solidFill>
                  <a:srgbClr val="C01920"/>
                </a:solidFill>
                <a:ea typeface="楷体_GB2312" pitchFamily="49" charset="-122"/>
              </a:rPr>
              <a:t>ch</a:t>
            </a:r>
            <a:r>
              <a:rPr lang="en-US" altLang="zh-CN" b="1" dirty="0">
                <a:solidFill>
                  <a:srgbClr val="C01920"/>
                </a:solidFill>
                <a:ea typeface="楷体_GB2312" pitchFamily="49" charset="-122"/>
              </a:rPr>
              <a:t> + 1;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求后继字符</a:t>
            </a:r>
          </a:p>
          <a:p>
            <a:pPr marL="457200" indent="-457200"/>
            <a:r>
              <a:rPr lang="zh-CN" altLang="en-US"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("ch1 = %c, ch2 = %c\n", ch1, ch2);   </a:t>
            </a:r>
            <a:r>
              <a:rPr lang="en-US" altLang="zh-CN" sz="2000" b="1" dirty="0">
                <a:solidFill>
                  <a:schemeClr val="accent2">
                    <a:lumMod val="50000"/>
                  </a:schemeClr>
                </a:solidFill>
                <a:latin typeface="+mn-lt"/>
                <a:ea typeface="楷体" pitchFamily="49" charset="-122"/>
              </a:rPr>
              <a:t>//</a:t>
            </a:r>
            <a:r>
              <a:rPr lang="zh-CN" altLang="en-US" sz="2000" b="1" dirty="0">
                <a:solidFill>
                  <a:schemeClr val="accent2">
                    <a:lumMod val="50000"/>
                  </a:schemeClr>
                </a:solidFill>
                <a:latin typeface="+mn-lt"/>
                <a:ea typeface="楷体" pitchFamily="49" charset="-122"/>
              </a:rPr>
              <a:t>显示结果</a:t>
            </a:r>
          </a:p>
          <a:p>
            <a:pPr marL="457200" indent="-457200"/>
            <a:r>
              <a:rPr lang="en-US" altLang="zh-CN" b="1" dirty="0">
                <a:ea typeface="楷体_GB2312" pitchFamily="49" charset="-122"/>
              </a:rPr>
              <a:t>   return 0;</a:t>
            </a:r>
          </a:p>
          <a:p>
            <a:pPr marL="457200" indent="-457200"/>
            <a:r>
              <a:rPr lang="en-US" altLang="zh-CN" b="1" dirty="0">
                <a:ea typeface="楷体_GB2312" pitchFamily="49" charset="-122"/>
              </a:rPr>
              <a:t>}</a:t>
            </a:r>
          </a:p>
        </p:txBody>
      </p:sp>
      <p:sp>
        <p:nvSpPr>
          <p:cNvPr id="845866" name="Rectangle 42"/>
          <p:cNvSpPr>
            <a:spLocks noChangeArrowheads="1"/>
          </p:cNvSpPr>
          <p:nvPr/>
        </p:nvSpPr>
        <p:spPr bwMode="auto">
          <a:xfrm>
            <a:off x="7201918" y="2249402"/>
            <a:ext cx="3673475" cy="8001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sz="2000" b="1" dirty="0">
                <a:solidFill>
                  <a:srgbClr val="C01920"/>
                </a:solidFill>
                <a:latin typeface="+mn-lt"/>
                <a:ea typeface="隶书" pitchFamily="49" charset="-122"/>
              </a:rPr>
              <a:t>输出结果（假设输入为</a:t>
            </a:r>
            <a:r>
              <a:rPr lang="en-US" altLang="zh-CN" sz="2000" b="1" dirty="0">
                <a:solidFill>
                  <a:srgbClr val="C01920"/>
                </a:solidFill>
                <a:latin typeface="+mn-lt"/>
                <a:ea typeface="隶书" pitchFamily="49" charset="-122"/>
              </a:rPr>
              <a:t>w</a:t>
            </a:r>
            <a:r>
              <a:rPr lang="zh-CN" altLang="en-US" sz="2000" b="1" dirty="0">
                <a:solidFill>
                  <a:srgbClr val="C01920"/>
                </a:solidFill>
                <a:latin typeface="+mn-lt"/>
                <a:ea typeface="隶书" pitchFamily="49" charset="-122"/>
              </a:rPr>
              <a:t>）：</a:t>
            </a:r>
          </a:p>
          <a:p>
            <a:pPr algn="just"/>
            <a:r>
              <a:rPr lang="en-US" altLang="zh-CN" b="1" dirty="0">
                <a:latin typeface="+mn-lt"/>
                <a:ea typeface="隶书" pitchFamily="49" charset="-122"/>
              </a:rPr>
              <a:t>ch1 = v, ch2 = x</a:t>
            </a:r>
          </a:p>
        </p:txBody>
      </p:sp>
      <p:sp>
        <p:nvSpPr>
          <p:cNvPr id="33" name="Rectangle 4">
            <a:extLst>
              <a:ext uri="{FF2B5EF4-FFF2-40B4-BE49-F238E27FC236}">
                <a16:creationId xmlns:a16="http://schemas.microsoft.com/office/drawing/2014/main" id="{261BD58E-4E68-4AD5-BD58-D1364D7F06F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sp>
        <p:nvSpPr>
          <p:cNvPr id="34" name="Rectangle 13">
            <a:extLst>
              <a:ext uri="{FF2B5EF4-FFF2-40B4-BE49-F238E27FC236}">
                <a16:creationId xmlns:a16="http://schemas.microsoft.com/office/drawing/2014/main" id="{5AFF0FB5-4F81-4B17-AF83-0DF85B02FC3F}"/>
              </a:ext>
            </a:extLst>
          </p:cNvPr>
          <p:cNvSpPr>
            <a:spLocks noChangeArrowheads="1"/>
          </p:cNvSpPr>
          <p:nvPr/>
        </p:nvSpPr>
        <p:spPr bwMode="auto">
          <a:xfrm>
            <a:off x="817971" y="829886"/>
            <a:ext cx="3974165" cy="523220"/>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3. </a:t>
            </a:r>
            <a:r>
              <a:rPr lang="zh-CN" altLang="en-US" sz="2800" b="1" dirty="0">
                <a:solidFill>
                  <a:srgbClr val="C01920"/>
                </a:solidFill>
                <a:latin typeface="楷体" panose="02010609060101010101" pitchFamily="49" charset="-122"/>
                <a:ea typeface="楷体" panose="02010609060101010101" pitchFamily="49" charset="-122"/>
              </a:rPr>
              <a:t>条件运算符与表达式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5826">
                                            <p:txEl>
                                              <p:pRg st="0" end="0"/>
                                            </p:txEl>
                                          </p:spTgt>
                                        </p:tgtEl>
                                        <p:attrNameLst>
                                          <p:attrName>style.visibility</p:attrName>
                                        </p:attrNameLst>
                                      </p:cBhvr>
                                      <p:to>
                                        <p:strVal val="visible"/>
                                      </p:to>
                                    </p:set>
                                    <p:animEffect transition="in" filter="box(out)">
                                      <p:cBhvr>
                                        <p:cTn id="7" dur="500"/>
                                        <p:tgtEl>
                                          <p:spTgt spid="84582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5826">
                                            <p:txEl>
                                              <p:pRg st="1" end="1"/>
                                            </p:txEl>
                                          </p:spTgt>
                                        </p:tgtEl>
                                        <p:attrNameLst>
                                          <p:attrName>style.visibility</p:attrName>
                                        </p:attrNameLst>
                                      </p:cBhvr>
                                      <p:to>
                                        <p:strVal val="visible"/>
                                      </p:to>
                                    </p:set>
                                    <p:animEffect transition="in" filter="box(out)">
                                      <p:cBhvr>
                                        <p:cTn id="12" dur="500"/>
                                        <p:tgtEl>
                                          <p:spTgt spid="84582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45832"/>
                                        </p:tgtEl>
                                        <p:attrNameLst>
                                          <p:attrName>style.visibility</p:attrName>
                                        </p:attrNameLst>
                                      </p:cBhvr>
                                      <p:to>
                                        <p:strVal val="visible"/>
                                      </p:to>
                                    </p:set>
                                    <p:animEffect transition="in" filter="box(out)">
                                      <p:cBhvr>
                                        <p:cTn id="17" dur="500"/>
                                        <p:tgtEl>
                                          <p:spTgt spid="845832"/>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45826">
                                            <p:txEl>
                                              <p:pRg st="2" end="2"/>
                                            </p:txEl>
                                          </p:spTgt>
                                        </p:tgtEl>
                                        <p:attrNameLst>
                                          <p:attrName>style.visibility</p:attrName>
                                        </p:attrNameLst>
                                      </p:cBhvr>
                                      <p:to>
                                        <p:strVal val="visible"/>
                                      </p:to>
                                    </p:set>
                                    <p:animEffect transition="in" filter="box(out)">
                                      <p:cBhvr>
                                        <p:cTn id="22" dur="500"/>
                                        <p:tgtEl>
                                          <p:spTgt spid="845826">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845827"/>
                                        </p:tgtEl>
                                        <p:attrNameLst>
                                          <p:attrName>style.visibility</p:attrName>
                                        </p:attrNameLst>
                                      </p:cBhvr>
                                      <p:to>
                                        <p:strVal val="visible"/>
                                      </p:to>
                                    </p:set>
                                    <p:animEffect transition="in" filter="box(out)">
                                      <p:cBhvr>
                                        <p:cTn id="27" dur="500"/>
                                        <p:tgtEl>
                                          <p:spTgt spid="845827"/>
                                        </p:tgtEl>
                                      </p:cBhvr>
                                    </p:animEffect>
                                  </p:childTnLst>
                                  <p:subTnLst>
                                    <p:set>
                                      <p:cBhvr override="childStyle">
                                        <p:cTn dur="1" fill="hold" display="0" masterRel="nextClick" afterEffect="1"/>
                                        <p:tgtEl>
                                          <p:spTgt spid="845827"/>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45831"/>
                                        </p:tgtEl>
                                        <p:attrNameLst>
                                          <p:attrName>style.visibility</p:attrName>
                                        </p:attrNameLst>
                                      </p:cBhvr>
                                      <p:to>
                                        <p:strVal val="visible"/>
                                      </p:to>
                                    </p:set>
                                    <p:animEffect transition="in" filter="box(out)">
                                      <p:cBhvr>
                                        <p:cTn id="32" dur="500"/>
                                        <p:tgtEl>
                                          <p:spTgt spid="845831"/>
                                        </p:tgtEl>
                                      </p:cBhvr>
                                    </p:animEffect>
                                  </p:childTnLst>
                                  <p:subTnLst>
                                    <p:set>
                                      <p:cBhvr override="childStyle">
                                        <p:cTn dur="1" fill="hold" display="0" masterRel="nextClick" afterEffect="1"/>
                                        <p:tgtEl>
                                          <p:spTgt spid="845831"/>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45848"/>
                                        </p:tgtEl>
                                        <p:attrNameLst>
                                          <p:attrName>style.visibility</p:attrName>
                                        </p:attrNameLst>
                                      </p:cBhvr>
                                      <p:to>
                                        <p:strVal val="visible"/>
                                      </p:to>
                                    </p:set>
                                    <p:animEffect transition="in" filter="box(out)">
                                      <p:cBhvr>
                                        <p:cTn id="37" dur="500"/>
                                        <p:tgtEl>
                                          <p:spTgt spid="845848"/>
                                        </p:tgtEl>
                                      </p:cBhvr>
                                    </p:animEffect>
                                  </p:childTnLst>
                                  <p:subTnLst>
                                    <p:set>
                                      <p:cBhvr override="childStyle">
                                        <p:cTn dur="1" fill="hold" display="0" masterRel="nextClick" afterEffect="1"/>
                                        <p:tgtEl>
                                          <p:spTgt spid="845848"/>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45849">
                                            <p:txEl>
                                              <p:pRg st="0" end="0"/>
                                            </p:txEl>
                                          </p:spTgt>
                                        </p:tgtEl>
                                        <p:attrNameLst>
                                          <p:attrName>style.visibility</p:attrName>
                                        </p:attrNameLst>
                                      </p:cBhvr>
                                      <p:to>
                                        <p:strVal val="visible"/>
                                      </p:to>
                                    </p:set>
                                    <p:animEffect transition="in" filter="box(out)">
                                      <p:cBhvr>
                                        <p:cTn id="42" dur="500"/>
                                        <p:tgtEl>
                                          <p:spTgt spid="845849">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45849">
                                            <p:txEl>
                                              <p:pRg st="1" end="1"/>
                                            </p:txEl>
                                          </p:spTgt>
                                        </p:tgtEl>
                                        <p:attrNameLst>
                                          <p:attrName>style.visibility</p:attrName>
                                        </p:attrNameLst>
                                      </p:cBhvr>
                                      <p:to>
                                        <p:strVal val="visible"/>
                                      </p:to>
                                    </p:set>
                                    <p:animEffect transition="in" filter="box(out)">
                                      <p:cBhvr>
                                        <p:cTn id="47" dur="500"/>
                                        <p:tgtEl>
                                          <p:spTgt spid="845849">
                                            <p:txEl>
                                              <p:pRg st="1" end="1"/>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845849">
                                            <p:txEl>
                                              <p:pRg st="2" end="2"/>
                                            </p:txEl>
                                          </p:spTgt>
                                        </p:tgtEl>
                                        <p:attrNameLst>
                                          <p:attrName>style.visibility</p:attrName>
                                        </p:attrNameLst>
                                      </p:cBhvr>
                                      <p:to>
                                        <p:strVal val="visible"/>
                                      </p:to>
                                    </p:set>
                                    <p:animEffect transition="in" filter="box(out)">
                                      <p:cBhvr>
                                        <p:cTn id="52" dur="500"/>
                                        <p:tgtEl>
                                          <p:spTgt spid="845849">
                                            <p:txEl>
                                              <p:pRg st="2" end="2"/>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845850">
                                            <p:txEl>
                                              <p:pRg st="0" end="0"/>
                                            </p:txEl>
                                          </p:spTgt>
                                        </p:tgtEl>
                                        <p:attrNameLst>
                                          <p:attrName>style.visibility</p:attrName>
                                        </p:attrNameLst>
                                      </p:cBhvr>
                                      <p:to>
                                        <p:strVal val="visible"/>
                                      </p:to>
                                    </p:set>
                                    <p:animEffect transition="in" filter="randombar(horizontal)">
                                      <p:cBhvr>
                                        <p:cTn id="57" dur="500"/>
                                        <p:tgtEl>
                                          <p:spTgt spid="845850">
                                            <p:txEl>
                                              <p:pRg st="0" end="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3" name="WHOOSH.WAV"/>
                                        </p:tgtEl>
                                      </p:cMediaNode>
                                    </p:audio>
                                  </p:sub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845850">
                                            <p:txEl>
                                              <p:pRg st="1" end="1"/>
                                            </p:txEl>
                                          </p:spTgt>
                                        </p:tgtEl>
                                        <p:attrNameLst>
                                          <p:attrName>style.visibility</p:attrName>
                                        </p:attrNameLst>
                                      </p:cBhvr>
                                      <p:to>
                                        <p:strVal val="visible"/>
                                      </p:to>
                                    </p:set>
                                    <p:animEffect transition="in" filter="randombar(horizontal)">
                                      <p:cBhvr>
                                        <p:cTn id="62" dur="500"/>
                                        <p:tgtEl>
                                          <p:spTgt spid="845850">
                                            <p:txEl>
                                              <p:pRg st="1" end="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3" name="WHOOSH.WAV"/>
                                        </p:tgtEl>
                                      </p:cMediaNode>
                                    </p:audio>
                                  </p:sub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845850">
                                            <p:txEl>
                                              <p:pRg st="2" end="2"/>
                                            </p:txEl>
                                          </p:spTgt>
                                        </p:tgtEl>
                                        <p:attrNameLst>
                                          <p:attrName>style.visibility</p:attrName>
                                        </p:attrNameLst>
                                      </p:cBhvr>
                                      <p:to>
                                        <p:strVal val="visible"/>
                                      </p:to>
                                    </p:set>
                                    <p:animEffect transition="in" filter="randombar(horizontal)">
                                      <p:cBhvr>
                                        <p:cTn id="67" dur="500"/>
                                        <p:tgtEl>
                                          <p:spTgt spid="845850">
                                            <p:txEl>
                                              <p:pRg st="2" end="2"/>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3" name="WHOOSH.WAV"/>
                                        </p:tgtEl>
                                      </p:cMediaNode>
                                    </p:audio>
                                  </p:subTnLst>
                                </p:cTn>
                              </p:par>
                            </p:childTnLst>
                          </p:cTn>
                        </p:par>
                      </p:childTnLst>
                    </p:cTn>
                  </p:par>
                  <p:par>
                    <p:cTn id="68" fill="hold">
                      <p:stCondLst>
                        <p:cond delay="indefinite"/>
                      </p:stCondLst>
                      <p:childTnLst>
                        <p:par>
                          <p:cTn id="69" fill="hold">
                            <p:stCondLst>
                              <p:cond delay="0"/>
                            </p:stCondLst>
                            <p:childTnLst>
                              <p:par>
                                <p:cTn id="70" presetID="3" presetClass="entr" presetSubtype="5" fill="hold" grpId="0" nodeType="clickEffect">
                                  <p:stCondLst>
                                    <p:cond delay="0"/>
                                  </p:stCondLst>
                                  <p:childTnLst>
                                    <p:set>
                                      <p:cBhvr>
                                        <p:cTn id="71" dur="1" fill="hold">
                                          <p:stCondLst>
                                            <p:cond delay="0"/>
                                          </p:stCondLst>
                                        </p:cTn>
                                        <p:tgtEl>
                                          <p:spTgt spid="845858"/>
                                        </p:tgtEl>
                                        <p:attrNameLst>
                                          <p:attrName>style.visibility</p:attrName>
                                        </p:attrNameLst>
                                      </p:cBhvr>
                                      <p:to>
                                        <p:strVal val="visible"/>
                                      </p:to>
                                    </p:set>
                                    <p:animEffect transition="in" filter="blinds(vertical)">
                                      <p:cBhvr>
                                        <p:cTn id="72" dur="500"/>
                                        <p:tgtEl>
                                          <p:spTgt spid="845858"/>
                                        </p:tgtEl>
                                      </p:cBhvr>
                                    </p:animEffect>
                                  </p:childTnLst>
                                  <p:subTnLst>
                                    <p:audio>
                                      <p:cMediaNode>
                                        <p:cTn display="0" masterRel="sameClick">
                                          <p:stCondLst>
                                            <p:cond evt="begin" delay="0">
                                              <p:tn val="70"/>
                                            </p:cond>
                                          </p:stCondLst>
                                          <p:endCondLst>
                                            <p:cond evt="onStopAudio" delay="0">
                                              <p:tgtEl>
                                                <p:sldTgt/>
                                              </p:tgtEl>
                                            </p:cond>
                                          </p:endCondLst>
                                        </p:cTn>
                                        <p:tgtEl>
                                          <p:sndTgt r:embed="rId3" name="WHOOSH.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845865"/>
                                        </p:tgtEl>
                                        <p:attrNameLst>
                                          <p:attrName>style.visibility</p:attrName>
                                        </p:attrNameLst>
                                      </p:cBhvr>
                                      <p:to>
                                        <p:strVal val="visible"/>
                                      </p:to>
                                    </p:set>
                                    <p:animEffect transition="in" filter="box(out)">
                                      <p:cBhvr>
                                        <p:cTn id="77" dur="500"/>
                                        <p:tgtEl>
                                          <p:spTgt spid="845865"/>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845866"/>
                                        </p:tgtEl>
                                        <p:attrNameLst>
                                          <p:attrName>style.visibility</p:attrName>
                                        </p:attrNameLst>
                                      </p:cBhvr>
                                      <p:to>
                                        <p:strVal val="visible"/>
                                      </p:to>
                                    </p:set>
                                    <p:animEffect transition="in" filter="box(in)">
                                      <p:cBhvr>
                                        <p:cTn id="82" dur="500"/>
                                        <p:tgtEl>
                                          <p:spTgt spid="845866"/>
                                        </p:tgtEl>
                                      </p:cBhvr>
                                    </p:animEffect>
                                  </p:childTnLst>
                                  <p:subTnLst>
                                    <p:audio>
                                      <p:cMediaNode>
                                        <p:cTn display="0" masterRel="sameClick">
                                          <p:stCondLst>
                                            <p:cond evt="begin" delay="0">
                                              <p:tn val="8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49" grpId="0" build="p" bldLvl="5" autoUpdateAnimBg="0"/>
      <p:bldP spid="845826" grpId="0" uiExpand="1" build="p" bldLvl="5" autoUpdateAnimBg="0"/>
      <p:bldP spid="845850" grpId="0" build="p" bldLvl="3" autoUpdateAnimBg="0"/>
      <p:bldP spid="845858" grpId="0" animBg="1" autoUpdateAnimBg="0"/>
      <p:bldP spid="845831" grpId="0" animBg="1" autoUpdateAnimBg="0"/>
      <p:bldP spid="845848" grpId="0" animBg="1" autoUpdateAnimBg="0"/>
      <p:bldP spid="845865" grpId="0" animBg="1"/>
      <p:bldP spid="84586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6857" name="Rectangle 9"/>
          <p:cNvSpPr>
            <a:spLocks noChangeArrowheads="1"/>
          </p:cNvSpPr>
          <p:nvPr/>
        </p:nvSpPr>
        <p:spPr bwMode="auto">
          <a:xfrm>
            <a:off x="1027906" y="2523411"/>
            <a:ext cx="10276677" cy="341632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buClr>
                <a:srgbClr val="CC0000"/>
              </a:buClr>
            </a:pPr>
            <a:r>
              <a:rPr lang="zh-CN" altLang="en-US" b="1" dirty="0">
                <a:solidFill>
                  <a:schemeClr val="tx2"/>
                </a:solidFill>
                <a:latin typeface="+mn-lt"/>
                <a:ea typeface="楷体" pitchFamily="49" charset="-122"/>
              </a:rPr>
              <a:t>    （</a:t>
            </a:r>
            <a:r>
              <a:rPr lang="en-US" altLang="zh-CN" b="1" dirty="0">
                <a:solidFill>
                  <a:schemeClr val="tx2"/>
                </a:solidFill>
                <a:latin typeface="+mn-lt"/>
                <a:ea typeface="楷体" pitchFamily="49" charset="-122"/>
              </a:rPr>
              <a:t>1</a:t>
            </a:r>
            <a:r>
              <a:rPr lang="zh-CN" altLang="en-US" b="1" dirty="0">
                <a:solidFill>
                  <a:schemeClr val="tx2"/>
                </a:solidFill>
                <a:latin typeface="+mn-lt"/>
                <a:ea typeface="楷体" pitchFamily="49" charset="-122"/>
              </a:rPr>
              <a:t>）总体上讲，单目运算符都是同等优先级的，具有右结合性，并且优先级比双目运算符和三目运算符都高。</a:t>
            </a:r>
          </a:p>
          <a:p>
            <a:pPr>
              <a:buClr>
                <a:srgbClr val="CC0000"/>
              </a:buClr>
            </a:pPr>
            <a:r>
              <a:rPr lang="zh-CN" altLang="en-US" b="1" dirty="0">
                <a:solidFill>
                  <a:schemeClr val="tx2"/>
                </a:solidFill>
                <a:latin typeface="+mn-lt"/>
                <a:ea typeface="楷体" pitchFamily="49" charset="-122"/>
              </a:rPr>
              <a:t>    （</a:t>
            </a:r>
            <a:r>
              <a:rPr lang="en-US" altLang="zh-CN" b="1" dirty="0">
                <a:solidFill>
                  <a:schemeClr val="tx2"/>
                </a:solidFill>
                <a:latin typeface="+mn-lt"/>
                <a:ea typeface="楷体" pitchFamily="49" charset="-122"/>
              </a:rPr>
              <a:t>2</a:t>
            </a:r>
            <a:r>
              <a:rPr lang="zh-CN" altLang="en-US" b="1" dirty="0">
                <a:solidFill>
                  <a:schemeClr val="tx2"/>
                </a:solidFill>
                <a:latin typeface="+mn-lt"/>
                <a:ea typeface="楷体" pitchFamily="49" charset="-122"/>
              </a:rPr>
              <a:t>）三目运算符的优先级比双目运算符要低，但高于赋值运算符和逗号运算符。</a:t>
            </a:r>
          </a:p>
          <a:p>
            <a:pPr>
              <a:buClr>
                <a:srgbClr val="CC0000"/>
              </a:buClr>
            </a:pPr>
            <a:r>
              <a:rPr lang="zh-CN" altLang="en-US" b="1" dirty="0">
                <a:solidFill>
                  <a:schemeClr val="tx2"/>
                </a:solidFill>
                <a:latin typeface="+mn-lt"/>
                <a:ea typeface="楷体" pitchFamily="49" charset="-122"/>
              </a:rPr>
              <a:t>    （</a:t>
            </a:r>
            <a:r>
              <a:rPr lang="en-US" altLang="zh-CN" b="1" dirty="0">
                <a:solidFill>
                  <a:schemeClr val="tx2"/>
                </a:solidFill>
                <a:latin typeface="+mn-lt"/>
                <a:ea typeface="楷体" pitchFamily="49" charset="-122"/>
              </a:rPr>
              <a:t>3</a:t>
            </a:r>
            <a:r>
              <a:rPr lang="zh-CN" altLang="en-US" b="1" dirty="0">
                <a:solidFill>
                  <a:schemeClr val="tx2"/>
                </a:solidFill>
                <a:latin typeface="+mn-lt"/>
                <a:ea typeface="楷体" pitchFamily="49" charset="-122"/>
              </a:rPr>
              <a:t>）逗号运算符的优先级最低，其次是赋值运算符。</a:t>
            </a:r>
          </a:p>
          <a:p>
            <a:pPr>
              <a:buClr>
                <a:srgbClr val="CC0000"/>
              </a:buClr>
            </a:pPr>
            <a:r>
              <a:rPr lang="zh-CN" altLang="en-US" b="1" dirty="0">
                <a:solidFill>
                  <a:schemeClr val="tx2"/>
                </a:solidFill>
                <a:latin typeface="+mn-lt"/>
                <a:ea typeface="楷体" pitchFamily="49" charset="-122"/>
              </a:rPr>
              <a:t>    （</a:t>
            </a:r>
            <a:r>
              <a:rPr lang="en-US" altLang="zh-CN" b="1" dirty="0">
                <a:solidFill>
                  <a:schemeClr val="tx2"/>
                </a:solidFill>
                <a:latin typeface="+mn-lt"/>
                <a:ea typeface="楷体" pitchFamily="49" charset="-122"/>
              </a:rPr>
              <a:t>4</a:t>
            </a:r>
            <a:r>
              <a:rPr lang="zh-CN" altLang="en-US" b="1" dirty="0">
                <a:solidFill>
                  <a:schemeClr val="tx2"/>
                </a:solidFill>
                <a:latin typeface="+mn-lt"/>
                <a:ea typeface="楷体" pitchFamily="49" charset="-122"/>
              </a:rPr>
              <a:t>）只有</a:t>
            </a:r>
            <a:r>
              <a:rPr lang="zh-CN" altLang="en-US" b="1" dirty="0">
                <a:solidFill>
                  <a:srgbClr val="C01920"/>
                </a:solidFill>
                <a:latin typeface="+mn-lt"/>
                <a:ea typeface="楷体" pitchFamily="49" charset="-122"/>
              </a:rPr>
              <a:t>单目运算符、赋值运算符</a:t>
            </a:r>
            <a:r>
              <a:rPr lang="zh-CN" altLang="en-US" b="1" dirty="0">
                <a:solidFill>
                  <a:schemeClr val="tx2"/>
                </a:solidFill>
                <a:latin typeface="+mn-lt"/>
                <a:ea typeface="楷体" pitchFamily="49" charset="-122"/>
              </a:rPr>
              <a:t>和</a:t>
            </a:r>
            <a:r>
              <a:rPr lang="zh-CN" altLang="en-US" b="1" dirty="0">
                <a:solidFill>
                  <a:srgbClr val="C01920"/>
                </a:solidFill>
                <a:latin typeface="+mn-lt"/>
                <a:ea typeface="楷体" pitchFamily="49" charset="-122"/>
              </a:rPr>
              <a:t>条件运算符</a:t>
            </a:r>
            <a:r>
              <a:rPr lang="zh-CN" altLang="en-US" b="1" dirty="0">
                <a:solidFill>
                  <a:schemeClr val="tx2"/>
                </a:solidFill>
                <a:latin typeface="+mn-lt"/>
                <a:ea typeface="楷体" pitchFamily="49" charset="-122"/>
              </a:rPr>
              <a:t>具有</a:t>
            </a:r>
            <a:r>
              <a:rPr lang="zh-CN" altLang="en-US" b="1" dirty="0">
                <a:solidFill>
                  <a:schemeClr val="accent1">
                    <a:lumMod val="50000"/>
                  </a:schemeClr>
                </a:solidFill>
                <a:latin typeface="+mn-lt"/>
                <a:ea typeface="楷体" pitchFamily="49" charset="-122"/>
              </a:rPr>
              <a:t>右结合性</a:t>
            </a:r>
            <a:r>
              <a:rPr lang="zh-CN" altLang="en-US" b="1" dirty="0">
                <a:solidFill>
                  <a:schemeClr val="tx2"/>
                </a:solidFill>
                <a:latin typeface="+mn-lt"/>
                <a:ea typeface="楷体" pitchFamily="49" charset="-122"/>
              </a:rPr>
              <a:t>，其它运算符都是左结合性。</a:t>
            </a:r>
          </a:p>
          <a:p>
            <a:pPr>
              <a:buClr>
                <a:srgbClr val="CC0000"/>
              </a:buClr>
            </a:pPr>
            <a:r>
              <a:rPr lang="zh-CN" altLang="en-US" b="1" dirty="0">
                <a:solidFill>
                  <a:schemeClr val="tx2"/>
                </a:solidFill>
                <a:latin typeface="+mn-lt"/>
                <a:ea typeface="楷体" pitchFamily="49" charset="-122"/>
              </a:rPr>
              <a:t>    （</a:t>
            </a:r>
            <a:r>
              <a:rPr lang="en-US" altLang="zh-CN" b="1" dirty="0">
                <a:solidFill>
                  <a:schemeClr val="tx2"/>
                </a:solidFill>
                <a:latin typeface="+mn-lt"/>
                <a:ea typeface="楷体" pitchFamily="49" charset="-122"/>
              </a:rPr>
              <a:t>5</a:t>
            </a:r>
            <a:r>
              <a:rPr lang="zh-CN" altLang="en-US" b="1" dirty="0">
                <a:solidFill>
                  <a:schemeClr val="tx2"/>
                </a:solidFill>
                <a:latin typeface="+mn-lt"/>
                <a:ea typeface="楷体" pitchFamily="49" charset="-122"/>
              </a:rPr>
              <a:t>）双目运算符中，算术运算符的优先级最高，逻辑运算符的优先级最低。</a:t>
            </a:r>
            <a:r>
              <a:rPr lang="zh-CN" altLang="en-US" dirty="0">
                <a:solidFill>
                  <a:schemeClr val="tx2"/>
                </a:solidFill>
                <a:latin typeface="+mn-lt"/>
                <a:ea typeface="楷体" pitchFamily="49" charset="-122"/>
              </a:rPr>
              <a:t> </a:t>
            </a:r>
          </a:p>
        </p:txBody>
      </p:sp>
      <p:grpSp>
        <p:nvGrpSpPr>
          <p:cNvPr id="12" name="组合 11"/>
          <p:cNvGrpSpPr/>
          <p:nvPr/>
        </p:nvGrpSpPr>
        <p:grpSpPr>
          <a:xfrm>
            <a:off x="2063552" y="3473109"/>
            <a:ext cx="3600450" cy="2879725"/>
            <a:chOff x="1907654" y="3689728"/>
            <a:chExt cx="3600450" cy="2879725"/>
          </a:xfrm>
        </p:grpSpPr>
        <p:sp>
          <p:nvSpPr>
            <p:cNvPr id="846859" name="Text Box 11" descr="信纸"/>
            <p:cNvSpPr txBox="1">
              <a:spLocks noChangeArrowheads="1"/>
            </p:cNvSpPr>
            <p:nvPr/>
          </p:nvSpPr>
          <p:spPr bwMode="auto">
            <a:xfrm>
              <a:off x="1907654" y="3689728"/>
              <a:ext cx="3600450" cy="2879725"/>
            </a:xfrm>
            <a:prstGeom prst="rect">
              <a:avLst/>
            </a:prstGeom>
            <a:gradFill flip="none" rotWithShape="1">
              <a:gsLst>
                <a:gs pos="0">
                  <a:schemeClr val="bg1">
                    <a:lumMod val="95000"/>
                  </a:schemeClr>
                </a:gs>
                <a:gs pos="100000">
                  <a:srgbClr val="CFCFD1"/>
                </a:gs>
              </a:gsLst>
              <a:lin ang="13500000" scaled="1"/>
              <a:tileRect/>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sz="2000" b="1" dirty="0">
                  <a:solidFill>
                    <a:srgbClr val="C00000"/>
                  </a:solidFill>
                  <a:latin typeface="+mn-lt"/>
                  <a:ea typeface="楷体" pitchFamily="49" charset="-122"/>
                </a:rPr>
                <a:t>单</a:t>
              </a:r>
              <a:r>
                <a:rPr lang="zh-CN" altLang="en-US" sz="2000" b="1" dirty="0">
                  <a:latin typeface="+mn-lt"/>
                  <a:ea typeface="楷体" pitchFamily="49" charset="-122"/>
                </a:rPr>
                <a:t>目运算符             </a:t>
              </a:r>
              <a:r>
                <a:rPr lang="zh-CN" altLang="en-US" sz="2000" b="1" dirty="0">
                  <a:solidFill>
                    <a:srgbClr val="C00000"/>
                  </a:solidFill>
                  <a:latin typeface="+mn-lt"/>
                  <a:ea typeface="楷体" pitchFamily="49" charset="-122"/>
                </a:rPr>
                <a:t>高</a:t>
              </a:r>
            </a:p>
            <a:p>
              <a:pPr algn="just"/>
              <a:r>
                <a:rPr lang="zh-CN" altLang="en-US" sz="2000" b="1" dirty="0">
                  <a:solidFill>
                    <a:srgbClr val="C00000"/>
                  </a:solidFill>
                  <a:latin typeface="+mn-lt"/>
                  <a:ea typeface="楷体" pitchFamily="49" charset="-122"/>
                </a:rPr>
                <a:t>算</a:t>
              </a:r>
              <a:r>
                <a:rPr lang="zh-CN" altLang="en-US" sz="2000" b="1" dirty="0">
                  <a:latin typeface="+mn-lt"/>
                  <a:ea typeface="楷体" pitchFamily="49" charset="-122"/>
                </a:rPr>
                <a:t>术运算符</a:t>
              </a:r>
            </a:p>
            <a:p>
              <a:pPr algn="just"/>
              <a:r>
                <a:rPr lang="zh-CN" altLang="en-US" sz="2000" b="1" dirty="0">
                  <a:solidFill>
                    <a:srgbClr val="C00000"/>
                  </a:solidFill>
                  <a:latin typeface="+mn-lt"/>
                  <a:ea typeface="楷体" pitchFamily="49" charset="-122"/>
                </a:rPr>
                <a:t>移</a:t>
              </a:r>
              <a:r>
                <a:rPr lang="zh-CN" altLang="en-US" sz="2000" b="1" dirty="0">
                  <a:latin typeface="+mn-lt"/>
                  <a:ea typeface="楷体" pitchFamily="49" charset="-122"/>
                </a:rPr>
                <a:t>位运算符</a:t>
              </a:r>
            </a:p>
            <a:p>
              <a:pPr algn="just"/>
              <a:r>
                <a:rPr lang="zh-CN" altLang="en-US" sz="2000" b="1" dirty="0">
                  <a:solidFill>
                    <a:srgbClr val="C00000"/>
                  </a:solidFill>
                  <a:latin typeface="+mn-lt"/>
                  <a:ea typeface="楷体" pitchFamily="49" charset="-122"/>
                </a:rPr>
                <a:t>关</a:t>
              </a:r>
              <a:r>
                <a:rPr lang="zh-CN" altLang="en-US" sz="2000" b="1" dirty="0">
                  <a:latin typeface="+mn-lt"/>
                  <a:ea typeface="楷体" pitchFamily="49" charset="-122"/>
                </a:rPr>
                <a:t>系运算符</a:t>
              </a:r>
            </a:p>
            <a:p>
              <a:pPr algn="just"/>
              <a:r>
                <a:rPr lang="zh-CN" altLang="en-US" sz="2000" b="1" dirty="0">
                  <a:solidFill>
                    <a:srgbClr val="C00000"/>
                  </a:solidFill>
                  <a:latin typeface="+mn-lt"/>
                  <a:ea typeface="楷体" pitchFamily="49" charset="-122"/>
                </a:rPr>
                <a:t>位</a:t>
              </a:r>
              <a:r>
                <a:rPr lang="zh-CN" altLang="en-US" sz="2000" b="1" dirty="0">
                  <a:latin typeface="+mn-lt"/>
                  <a:ea typeface="楷体" pitchFamily="49" charset="-122"/>
                </a:rPr>
                <a:t>运算符</a:t>
              </a:r>
            </a:p>
            <a:p>
              <a:pPr algn="just"/>
              <a:r>
                <a:rPr lang="zh-CN" altLang="en-US" sz="2000" b="1" dirty="0">
                  <a:solidFill>
                    <a:srgbClr val="C00000"/>
                  </a:solidFill>
                  <a:latin typeface="+mn-lt"/>
                  <a:ea typeface="楷体" pitchFamily="49" charset="-122"/>
                </a:rPr>
                <a:t>逻</a:t>
              </a:r>
              <a:r>
                <a:rPr lang="zh-CN" altLang="en-US" sz="2000" b="1" dirty="0">
                  <a:latin typeface="+mn-lt"/>
                  <a:ea typeface="楷体" pitchFamily="49" charset="-122"/>
                </a:rPr>
                <a:t>辑运算符</a:t>
              </a:r>
            </a:p>
            <a:p>
              <a:pPr algn="just"/>
              <a:r>
                <a:rPr lang="zh-CN" altLang="en-US" sz="2000" b="1" dirty="0">
                  <a:solidFill>
                    <a:srgbClr val="C00000"/>
                  </a:solidFill>
                  <a:latin typeface="+mn-lt"/>
                  <a:ea typeface="楷体" pitchFamily="49" charset="-122"/>
                </a:rPr>
                <a:t>条</a:t>
              </a:r>
              <a:r>
                <a:rPr lang="zh-CN" altLang="en-US" sz="2000" b="1" dirty="0">
                  <a:latin typeface="+mn-lt"/>
                  <a:ea typeface="楷体" pitchFamily="49" charset="-122"/>
                </a:rPr>
                <a:t>件运算符</a:t>
              </a:r>
            </a:p>
            <a:p>
              <a:pPr algn="just"/>
              <a:r>
                <a:rPr lang="zh-CN" altLang="en-US" sz="2000" b="1" dirty="0">
                  <a:solidFill>
                    <a:srgbClr val="C00000"/>
                  </a:solidFill>
                  <a:latin typeface="+mn-lt"/>
                  <a:ea typeface="楷体" pitchFamily="49" charset="-122"/>
                </a:rPr>
                <a:t>赋</a:t>
              </a:r>
              <a:r>
                <a:rPr lang="zh-CN" altLang="en-US" sz="2000" b="1" dirty="0">
                  <a:latin typeface="+mn-lt"/>
                  <a:ea typeface="楷体" pitchFamily="49" charset="-122"/>
                </a:rPr>
                <a:t>值运算符</a:t>
              </a:r>
            </a:p>
            <a:p>
              <a:pPr algn="just"/>
              <a:r>
                <a:rPr lang="zh-CN" altLang="en-US" sz="2000" b="1" dirty="0">
                  <a:solidFill>
                    <a:srgbClr val="C00000"/>
                  </a:solidFill>
                  <a:latin typeface="+mn-lt"/>
                  <a:ea typeface="楷体" pitchFamily="49" charset="-122"/>
                </a:rPr>
                <a:t>逗</a:t>
              </a:r>
              <a:r>
                <a:rPr lang="zh-CN" altLang="en-US" sz="2000" b="1" dirty="0">
                  <a:latin typeface="+mn-lt"/>
                  <a:ea typeface="楷体" pitchFamily="49" charset="-122"/>
                </a:rPr>
                <a:t>号运算符             </a:t>
              </a:r>
              <a:r>
                <a:rPr lang="zh-CN" altLang="en-US" sz="2000" b="1" dirty="0">
                  <a:solidFill>
                    <a:srgbClr val="C00000"/>
                  </a:solidFill>
                  <a:latin typeface="+mn-lt"/>
                  <a:ea typeface="楷体" pitchFamily="49" charset="-122"/>
                </a:rPr>
                <a:t>低</a:t>
              </a:r>
            </a:p>
          </p:txBody>
        </p:sp>
        <p:sp>
          <p:nvSpPr>
            <p:cNvPr id="846860" name="Line 12"/>
            <p:cNvSpPr>
              <a:spLocks noChangeShapeType="1"/>
            </p:cNvSpPr>
            <p:nvPr/>
          </p:nvSpPr>
          <p:spPr bwMode="auto">
            <a:xfrm flipV="1">
              <a:off x="3800599" y="3767857"/>
              <a:ext cx="0" cy="2627313"/>
            </a:xfrm>
            <a:prstGeom prst="line">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lin ang="13500000" scaled="1"/>
              <a:tileRect/>
            </a:gradFill>
            <a:ln w="28575">
              <a:solidFill>
                <a:srgbClr val="C01920"/>
              </a:solidFill>
              <a:round/>
              <a:headEnd/>
              <a:tailEnd type="stealth" w="lg" len="lg"/>
            </a:ln>
            <a:effectLst>
              <a:outerShdw dist="35921" dir="2700000" algn="ctr" rotWithShape="0">
                <a:srgbClr val="808080">
                  <a:alpha val="50000"/>
                </a:srgbClr>
              </a:outerShdw>
            </a:effectLst>
          </p:spPr>
          <p:txBody>
            <a:bodyPr/>
            <a:lstStyle/>
            <a:p>
              <a:endParaRPr lang="zh-CN" altLang="en-US">
                <a:latin typeface="+mn-lt"/>
                <a:ea typeface="楷体" pitchFamily="49" charset="-122"/>
              </a:endParaRPr>
            </a:p>
          </p:txBody>
        </p:sp>
      </p:grpSp>
      <p:sp>
        <p:nvSpPr>
          <p:cNvPr id="846863" name="Rectangle 15"/>
          <p:cNvSpPr>
            <a:spLocks noChangeArrowheads="1"/>
          </p:cNvSpPr>
          <p:nvPr/>
        </p:nvSpPr>
        <p:spPr bwMode="auto">
          <a:xfrm>
            <a:off x="974131" y="1570176"/>
            <a:ext cx="10684814"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到现在为止，我们已经学习了</a:t>
            </a:r>
            <a:r>
              <a:rPr lang="en-US" altLang="zh-CN" b="1" dirty="0">
                <a:effectLst>
                  <a:outerShdw blurRad="38100" dist="38100" dir="2700000" algn="tl">
                    <a:srgbClr val="FFFFFF"/>
                  </a:outerShdw>
                </a:effectLst>
                <a:latin typeface="+mn-lt"/>
                <a:ea typeface="楷体" pitchFamily="49" charset="-122"/>
              </a:rPr>
              <a:t>30</a:t>
            </a:r>
            <a:r>
              <a:rPr lang="zh-CN" altLang="en-US" b="1" dirty="0">
                <a:effectLst>
                  <a:outerShdw blurRad="38100" dist="38100" dir="2700000" algn="tl">
                    <a:srgbClr val="FFFFFF"/>
                  </a:outerShdw>
                </a:effectLst>
                <a:latin typeface="+mn-lt"/>
                <a:ea typeface="楷体" pitchFamily="49" charset="-122"/>
              </a:rPr>
              <a:t>多个运算符。掌握它们的优先级关系特别重要。优先级的记忆规则：</a:t>
            </a:r>
          </a:p>
        </p:txBody>
      </p:sp>
      <p:sp>
        <p:nvSpPr>
          <p:cNvPr id="532481" name="Rectangle 1"/>
          <p:cNvSpPr>
            <a:spLocks noChangeArrowheads="1"/>
          </p:cNvSpPr>
          <p:nvPr/>
        </p:nvSpPr>
        <p:spPr bwMode="auto">
          <a:xfrm>
            <a:off x="5818347" y="5169853"/>
            <a:ext cx="4824536" cy="830997"/>
          </a:xfrm>
          <a:prstGeom prst="rect">
            <a:avLst/>
          </a:prstGeom>
          <a:gradFill flip="none" rotWithShape="1">
            <a:gsLst>
              <a:gs pos="0">
                <a:srgbClr val="CFCFD1"/>
              </a:gs>
              <a:gs pos="100000">
                <a:schemeClr val="bg1">
                  <a:lumMod val="95000"/>
                </a:schemeClr>
              </a:gs>
            </a:gsLst>
            <a:path path="circle">
              <a:fillToRect l="100000" b="100000"/>
            </a:path>
            <a:tileRect t="-100000" r="-100000"/>
          </a:gradFill>
          <a:ln w="38100">
            <a:solidFill>
              <a:schemeClr val="accent2">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anchor="ctr" anchorCtr="0" compatLnSpc="1">
            <a:prstTxWarp prst="textNoShape">
              <a:avLst/>
            </a:prstTxWarp>
            <a:spAutoFit/>
          </a:bodyPr>
          <a:lstStyle/>
          <a:p>
            <a:pPr indent="266700"/>
            <a:r>
              <a:rPr kumimoji="0" lang="zh-CN" altLang="en-US" b="1" dirty="0">
                <a:solidFill>
                  <a:srgbClr val="002060"/>
                </a:solidFill>
                <a:latin typeface="隶书" pitchFamily="49" charset="-122"/>
                <a:ea typeface="隶书" pitchFamily="49" charset="-122"/>
                <a:cs typeface="Times New Roman" pitchFamily="18" charset="0"/>
              </a:rPr>
              <a:t>运算符优先级口诀：</a:t>
            </a:r>
            <a:endParaRPr kumimoji="0" lang="en-US" altLang="zh-CN" b="1" dirty="0">
              <a:solidFill>
                <a:srgbClr val="002060"/>
              </a:solidFill>
              <a:latin typeface="隶书" pitchFamily="49" charset="-122"/>
              <a:ea typeface="隶书" pitchFamily="49" charset="-122"/>
              <a:cs typeface="Times New Roman" pitchFamily="18" charset="0"/>
            </a:endParaRPr>
          </a:p>
          <a:p>
            <a:pPr indent="266700"/>
            <a:r>
              <a:rPr kumimoji="0" lang="zh-CN" altLang="en-US" b="1" dirty="0">
                <a:solidFill>
                  <a:srgbClr val="C01920"/>
                </a:solidFill>
                <a:latin typeface="隶书" pitchFamily="49" charset="-122"/>
                <a:ea typeface="隶书" pitchFamily="49" charset="-122"/>
                <a:cs typeface="Times New Roman" pitchFamily="18" charset="0"/>
              </a:rPr>
              <a:t>“单算移关，位逻条赋，逗！”</a:t>
            </a:r>
            <a:endParaRPr kumimoji="0" lang="zh-CN" altLang="en-US" b="1" dirty="0">
              <a:solidFill>
                <a:srgbClr val="C01920"/>
              </a:solidFill>
              <a:latin typeface="隶书" pitchFamily="49" charset="-122"/>
              <a:ea typeface="隶书" pitchFamily="49" charset="-122"/>
              <a:cs typeface="宋体" pitchFamily="2" charset="-122"/>
            </a:endParaRPr>
          </a:p>
        </p:txBody>
      </p:sp>
      <p:sp>
        <p:nvSpPr>
          <p:cNvPr id="13" name="Rectangle 4">
            <a:extLst>
              <a:ext uri="{FF2B5EF4-FFF2-40B4-BE49-F238E27FC236}">
                <a16:creationId xmlns:a16="http://schemas.microsoft.com/office/drawing/2014/main" id="{4315A450-61A1-4139-A047-2C96A960125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关系运算符、逻辑运算符、条件运算符</a:t>
            </a:r>
          </a:p>
        </p:txBody>
      </p:sp>
      <p:grpSp>
        <p:nvGrpSpPr>
          <p:cNvPr id="14" name="组合 13">
            <a:extLst>
              <a:ext uri="{FF2B5EF4-FFF2-40B4-BE49-F238E27FC236}">
                <a16:creationId xmlns:a16="http://schemas.microsoft.com/office/drawing/2014/main" id="{928AA6F8-8E59-4B25-8F6F-6449AB7812A4}"/>
              </a:ext>
            </a:extLst>
          </p:cNvPr>
          <p:cNvGrpSpPr/>
          <p:nvPr/>
        </p:nvGrpSpPr>
        <p:grpSpPr>
          <a:xfrm>
            <a:off x="695325" y="967906"/>
            <a:ext cx="3267000" cy="630931"/>
            <a:chOff x="695400" y="1059424"/>
            <a:chExt cx="3267000" cy="630931"/>
          </a:xfrm>
        </p:grpSpPr>
        <p:grpSp>
          <p:nvGrpSpPr>
            <p:cNvPr id="15" name="组合 14">
              <a:extLst>
                <a:ext uri="{FF2B5EF4-FFF2-40B4-BE49-F238E27FC236}">
                  <a16:creationId xmlns:a16="http://schemas.microsoft.com/office/drawing/2014/main" id="{F52A130B-F901-4D48-8E94-03A93509DD33}"/>
                </a:ext>
              </a:extLst>
            </p:cNvPr>
            <p:cNvGrpSpPr/>
            <p:nvPr/>
          </p:nvGrpSpPr>
          <p:grpSpPr>
            <a:xfrm>
              <a:off x="695400" y="1059424"/>
              <a:ext cx="833819" cy="557612"/>
              <a:chOff x="695400" y="1059424"/>
              <a:chExt cx="833819" cy="557612"/>
            </a:xfrm>
          </p:grpSpPr>
          <p:sp>
            <p:nvSpPr>
              <p:cNvPr id="17" name="菱形 16">
                <a:extLst>
                  <a:ext uri="{FF2B5EF4-FFF2-40B4-BE49-F238E27FC236}">
                    <a16:creationId xmlns:a16="http://schemas.microsoft.com/office/drawing/2014/main" id="{7ABBA974-AA8B-4728-8E9F-86F86FDF87DD}"/>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8" name="菱形 17">
                <a:extLst>
                  <a:ext uri="{FF2B5EF4-FFF2-40B4-BE49-F238E27FC236}">
                    <a16:creationId xmlns:a16="http://schemas.microsoft.com/office/drawing/2014/main" id="{45FC9A9B-8FB8-4DF5-A1DF-FB96C8EB7344}"/>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6" name="Text Box 5">
              <a:extLst>
                <a:ext uri="{FF2B5EF4-FFF2-40B4-BE49-F238E27FC236}">
                  <a16:creationId xmlns:a16="http://schemas.microsoft.com/office/drawing/2014/main" id="{27829644-4C40-452E-B76D-EE46D3C6F3F3}"/>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运算符总结：</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4" presetClass="entr" presetSubtype="16" fill="hold" grpId="0" nodeType="withEffect">
                                  <p:stCondLst>
                                    <p:cond delay="0"/>
                                  </p:stCondLst>
                                  <p:childTnLst>
                                    <p:set>
                                      <p:cBhvr>
                                        <p:cTn id="10" dur="1" fill="hold">
                                          <p:stCondLst>
                                            <p:cond delay="0"/>
                                          </p:stCondLst>
                                        </p:cTn>
                                        <p:tgtEl>
                                          <p:spTgt spid="846863"/>
                                        </p:tgtEl>
                                        <p:attrNameLst>
                                          <p:attrName>style.visibility</p:attrName>
                                        </p:attrNameLst>
                                      </p:cBhvr>
                                      <p:to>
                                        <p:strVal val="visible"/>
                                      </p:to>
                                    </p:set>
                                    <p:animEffect transition="in" filter="box(in)">
                                      <p:cBhvr>
                                        <p:cTn id="11" dur="500"/>
                                        <p:tgtEl>
                                          <p:spTgt spid="846863"/>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846857"/>
                                        </p:tgtEl>
                                        <p:attrNameLst>
                                          <p:attrName>style.visibility</p:attrName>
                                        </p:attrNameLst>
                                      </p:cBhvr>
                                      <p:to>
                                        <p:strVal val="visible"/>
                                      </p:to>
                                    </p:set>
                                    <p:animEffect transition="in" filter="box(in)">
                                      <p:cBhvr>
                                        <p:cTn id="16" dur="500"/>
                                        <p:tgtEl>
                                          <p:spTgt spid="846857"/>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amond(in)">
                                      <p:cBhvr>
                                        <p:cTn id="21" dur="2000"/>
                                        <p:tgtEl>
                                          <p:spTgt spid="12"/>
                                        </p:tgtEl>
                                      </p:cBhvr>
                                    </p:animEffect>
                                  </p:childTnLst>
                                  <p:subTnLst>
                                    <p:audio>
                                      <p:cMediaNode>
                                        <p:cTn display="0" masterRel="sameClick">
                                          <p:stCondLst>
                                            <p:cond evt="begin" delay="0">
                                              <p:tn val="19"/>
                                            </p:cond>
                                          </p:stCondLst>
                                          <p:endCondLst>
                                            <p:cond evt="onStopAudio" delay="0">
                                              <p:tgtEl>
                                                <p:sldTgt/>
                                              </p:tgtEl>
                                            </p:cond>
                                          </p:endCondLst>
                                        </p:cTn>
                                        <p:tgtEl>
                                          <p:sndTgt r:embed="rId3" name="chimes.wav"/>
                                        </p:tgtEl>
                                      </p:cMediaNode>
                                    </p:audio>
                                  </p:subTnLst>
                                </p:cTn>
                              </p:par>
                            </p:childTnLst>
                          </p:cTn>
                        </p:par>
                      </p:childTnLst>
                    </p:cTn>
                  </p:par>
                  <p:par>
                    <p:cTn id="22" fill="hold">
                      <p:stCondLst>
                        <p:cond delay="indefinite"/>
                      </p:stCondLst>
                      <p:childTnLst>
                        <p:par>
                          <p:cTn id="23" fill="hold">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532481"/>
                                        </p:tgtEl>
                                        <p:attrNameLst>
                                          <p:attrName>style.visibility</p:attrName>
                                        </p:attrNameLst>
                                      </p:cBhvr>
                                      <p:to>
                                        <p:strVal val="visible"/>
                                      </p:to>
                                    </p:set>
                                    <p:animEffect transition="in" filter="diamond(in)">
                                      <p:cBhvr>
                                        <p:cTn id="26" dur="2000"/>
                                        <p:tgtEl>
                                          <p:spTgt spid="532481"/>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7" grpId="0" animBg="1"/>
      <p:bldP spid="846863" grpId="0"/>
      <p:bldP spid="532481"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7917" name="Rectangle 45"/>
          <p:cNvSpPr>
            <a:spLocks noChangeArrowheads="1"/>
          </p:cNvSpPr>
          <p:nvPr/>
        </p:nvSpPr>
        <p:spPr bwMode="auto">
          <a:xfrm>
            <a:off x="884811" y="804397"/>
            <a:ext cx="2172390"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  if</a:t>
            </a:r>
            <a:r>
              <a:rPr lang="zh-CN" altLang="en-US" sz="2800" b="1" dirty="0">
                <a:solidFill>
                  <a:srgbClr val="C00000"/>
                </a:solidFill>
                <a:latin typeface="楷体" panose="02010609060101010101" pitchFamily="49" charset="-122"/>
                <a:ea typeface="楷体" panose="02010609060101010101" pitchFamily="49" charset="-122"/>
              </a:rPr>
              <a:t>语句</a:t>
            </a:r>
            <a:r>
              <a:rPr lang="zh-CN" altLang="en-US" sz="2800" dirty="0">
                <a:solidFill>
                  <a:srgbClr val="C00000"/>
                </a:solidFill>
                <a:latin typeface="楷体" panose="02010609060101010101" pitchFamily="49" charset="-122"/>
                <a:ea typeface="楷体" panose="02010609060101010101" pitchFamily="49" charset="-122"/>
              </a:rPr>
              <a:t> </a:t>
            </a:r>
          </a:p>
        </p:txBody>
      </p:sp>
      <p:sp>
        <p:nvSpPr>
          <p:cNvPr id="847918" name="Rectangle 46"/>
          <p:cNvSpPr>
            <a:spLocks noChangeArrowheads="1"/>
          </p:cNvSpPr>
          <p:nvPr/>
        </p:nvSpPr>
        <p:spPr bwMode="auto">
          <a:xfrm>
            <a:off x="1230886" y="1347144"/>
            <a:ext cx="262764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简单</a:t>
            </a:r>
            <a:r>
              <a:rPr lang="en-US" altLang="zh-CN" b="1" dirty="0">
                <a:solidFill>
                  <a:srgbClr val="C00000"/>
                </a:solidFill>
                <a:latin typeface="+mn-lt"/>
                <a:ea typeface="楷体" pitchFamily="49" charset="-122"/>
              </a:rPr>
              <a:t>if</a:t>
            </a:r>
            <a:r>
              <a:rPr lang="zh-CN" altLang="en-US" b="1" dirty="0">
                <a:solidFill>
                  <a:srgbClr val="C00000"/>
                </a:solidFill>
                <a:latin typeface="+mn-lt"/>
                <a:ea typeface="楷体" pitchFamily="49" charset="-122"/>
              </a:rPr>
              <a:t>语句形式</a:t>
            </a:r>
            <a:r>
              <a:rPr lang="zh-CN" altLang="en-US" dirty="0">
                <a:solidFill>
                  <a:srgbClr val="C00000"/>
                </a:solidFill>
                <a:latin typeface="+mn-lt"/>
                <a:ea typeface="楷体" pitchFamily="49" charset="-122"/>
              </a:rPr>
              <a:t> </a:t>
            </a:r>
          </a:p>
        </p:txBody>
      </p:sp>
      <p:sp>
        <p:nvSpPr>
          <p:cNvPr id="847919" name="Text Box 47"/>
          <p:cNvSpPr txBox="1">
            <a:spLocks noChangeArrowheads="1"/>
          </p:cNvSpPr>
          <p:nvPr/>
        </p:nvSpPr>
        <p:spPr bwMode="auto">
          <a:xfrm>
            <a:off x="1611886" y="2409765"/>
            <a:ext cx="3535804" cy="72072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a:solidFill>
                  <a:srgbClr val="C00000"/>
                </a:solidFill>
                <a:latin typeface="+mn-lt"/>
                <a:ea typeface="楷体" pitchFamily="49" charset="-122"/>
              </a:rPr>
              <a:t>if  (</a:t>
            </a:r>
            <a:r>
              <a:rPr lang="zh-CN" altLang="en-US" sz="2000" b="1">
                <a:solidFill>
                  <a:srgbClr val="C00000"/>
                </a:solidFill>
                <a:latin typeface="+mn-lt"/>
                <a:ea typeface="楷体" pitchFamily="49" charset="-122"/>
              </a:rPr>
              <a:t>表达式</a:t>
            </a:r>
            <a:r>
              <a:rPr lang="en-US" altLang="zh-CN" sz="2000" b="1">
                <a:solidFill>
                  <a:srgbClr val="C00000"/>
                </a:solidFill>
                <a:latin typeface="+mn-lt"/>
                <a:ea typeface="楷体" pitchFamily="49" charset="-122"/>
              </a:rPr>
              <a:t>)</a:t>
            </a:r>
          </a:p>
          <a:p>
            <a:pPr algn="just"/>
            <a:r>
              <a:rPr lang="en-US" altLang="zh-CN" sz="2000" b="1">
                <a:solidFill>
                  <a:srgbClr val="C00000"/>
                </a:solidFill>
                <a:latin typeface="+mn-lt"/>
                <a:ea typeface="楷体" pitchFamily="49" charset="-122"/>
              </a:rPr>
              <a:t>     </a:t>
            </a:r>
            <a:r>
              <a:rPr lang="zh-CN" altLang="en-US" sz="2000" b="1">
                <a:solidFill>
                  <a:srgbClr val="C00000"/>
                </a:solidFill>
                <a:latin typeface="+mn-lt"/>
                <a:ea typeface="楷体" pitchFamily="49" charset="-122"/>
              </a:rPr>
              <a:t>语句</a:t>
            </a:r>
            <a:r>
              <a:rPr lang="en-US" altLang="zh-CN" sz="2000" b="1">
                <a:solidFill>
                  <a:srgbClr val="C00000"/>
                </a:solidFill>
                <a:latin typeface="+mn-lt"/>
                <a:ea typeface="楷体" pitchFamily="49" charset="-122"/>
              </a:rPr>
              <a:t>;</a:t>
            </a:r>
          </a:p>
        </p:txBody>
      </p:sp>
      <p:sp>
        <p:nvSpPr>
          <p:cNvPr id="847920" name="Rectangle 48"/>
          <p:cNvSpPr>
            <a:spLocks noChangeArrowheads="1"/>
          </p:cNvSpPr>
          <p:nvPr/>
        </p:nvSpPr>
        <p:spPr bwMode="auto">
          <a:xfrm>
            <a:off x="1611887" y="1778944"/>
            <a:ext cx="1212191" cy="461665"/>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格式</a:t>
            </a:r>
            <a:r>
              <a:rPr lang="en-US" altLang="zh-CN" b="1" dirty="0">
                <a:solidFill>
                  <a:srgbClr val="002060"/>
                </a:solidFill>
                <a:effectLst>
                  <a:outerShdw blurRad="38100" dist="38100" dir="2700000" algn="tl">
                    <a:srgbClr val="FFFFFF"/>
                  </a:outerShdw>
                </a:effectLst>
                <a:latin typeface="+mn-lt"/>
                <a:ea typeface="楷体" pitchFamily="49" charset="-122"/>
              </a:rPr>
              <a:t>:</a:t>
            </a:r>
            <a:endParaRPr lang="en-US" altLang="zh-CN" dirty="0">
              <a:solidFill>
                <a:srgbClr val="002060"/>
              </a:solidFill>
              <a:latin typeface="+mn-lt"/>
              <a:ea typeface="楷体" pitchFamily="49" charset="-122"/>
            </a:endParaRPr>
          </a:p>
        </p:txBody>
      </p:sp>
      <p:sp>
        <p:nvSpPr>
          <p:cNvPr id="847921" name="Rectangle 49"/>
          <p:cNvSpPr>
            <a:spLocks noChangeArrowheads="1"/>
          </p:cNvSpPr>
          <p:nvPr/>
        </p:nvSpPr>
        <p:spPr bwMode="auto">
          <a:xfrm>
            <a:off x="6158134" y="1703387"/>
            <a:ext cx="2097087"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执行流程：</a:t>
            </a:r>
            <a:endParaRPr lang="zh-CN" altLang="en-US" dirty="0">
              <a:solidFill>
                <a:srgbClr val="002060"/>
              </a:solidFill>
              <a:latin typeface="+mn-lt"/>
              <a:ea typeface="楷体" pitchFamily="49" charset="-122"/>
            </a:endParaRPr>
          </a:p>
        </p:txBody>
      </p:sp>
      <p:sp>
        <p:nvSpPr>
          <p:cNvPr id="847944" name="Text Box 72"/>
          <p:cNvSpPr txBox="1">
            <a:spLocks noChangeArrowheads="1"/>
          </p:cNvSpPr>
          <p:nvPr/>
        </p:nvSpPr>
        <p:spPr bwMode="auto">
          <a:xfrm>
            <a:off x="7553103" y="2809782"/>
            <a:ext cx="935037" cy="415925"/>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zh-CN" altLang="en-US" sz="2000" b="1">
                <a:effectLst>
                  <a:outerShdw blurRad="38100" dist="38100" dir="2700000" algn="tl">
                    <a:srgbClr val="FFFFFF"/>
                  </a:outerShdw>
                </a:effectLst>
                <a:latin typeface="楷体" pitchFamily="49" charset="-122"/>
                <a:ea typeface="楷体" pitchFamily="49" charset="-122"/>
              </a:rPr>
              <a:t>语句</a:t>
            </a:r>
          </a:p>
        </p:txBody>
      </p:sp>
      <p:sp>
        <p:nvSpPr>
          <p:cNvPr id="847965" name="AutoShape 93"/>
          <p:cNvSpPr>
            <a:spLocks noChangeArrowheads="1"/>
          </p:cNvSpPr>
          <p:nvPr/>
        </p:nvSpPr>
        <p:spPr bwMode="auto">
          <a:xfrm>
            <a:off x="8283353" y="2073181"/>
            <a:ext cx="1876425" cy="647700"/>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zh-CN" altLang="en-US" sz="2000" b="1" dirty="0">
                <a:effectLst>
                  <a:outerShdw blurRad="38100" dist="38100" dir="2700000" algn="tl">
                    <a:srgbClr val="FFFFFF"/>
                  </a:outerShdw>
                </a:effectLst>
                <a:latin typeface="楷体" pitchFamily="49" charset="-122"/>
                <a:ea typeface="楷体" pitchFamily="49" charset="-122"/>
              </a:rPr>
              <a:t>表达式</a:t>
            </a:r>
          </a:p>
        </p:txBody>
      </p:sp>
      <p:sp>
        <p:nvSpPr>
          <p:cNvPr id="847966" name="Line 94"/>
          <p:cNvSpPr>
            <a:spLocks noChangeShapeType="1"/>
          </p:cNvSpPr>
          <p:nvPr/>
        </p:nvSpPr>
        <p:spPr bwMode="auto">
          <a:xfrm>
            <a:off x="9205689" y="1712819"/>
            <a:ext cx="0" cy="36036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848054" name="Group 182"/>
          <p:cNvGrpSpPr>
            <a:grpSpLocks/>
          </p:cNvGrpSpPr>
          <p:nvPr/>
        </p:nvGrpSpPr>
        <p:grpSpPr bwMode="auto">
          <a:xfrm>
            <a:off x="7981727" y="3225706"/>
            <a:ext cx="1300162" cy="793750"/>
            <a:chOff x="3921" y="1616"/>
            <a:chExt cx="819" cy="500"/>
          </a:xfrm>
        </p:grpSpPr>
        <p:sp>
          <p:nvSpPr>
            <p:cNvPr id="847972" name="Line 100"/>
            <p:cNvSpPr>
              <a:spLocks noChangeShapeType="1"/>
            </p:cNvSpPr>
            <p:nvPr/>
          </p:nvSpPr>
          <p:spPr bwMode="auto">
            <a:xfrm flipV="1">
              <a:off x="3921" y="1888"/>
              <a:ext cx="819" cy="1"/>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73" name="Line 101"/>
            <p:cNvSpPr>
              <a:spLocks noChangeShapeType="1"/>
            </p:cNvSpPr>
            <p:nvPr/>
          </p:nvSpPr>
          <p:spPr bwMode="auto">
            <a:xfrm>
              <a:off x="3921" y="1616"/>
              <a:ext cx="0" cy="273"/>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75" name="Line 103"/>
            <p:cNvSpPr>
              <a:spLocks noChangeShapeType="1"/>
            </p:cNvSpPr>
            <p:nvPr/>
          </p:nvSpPr>
          <p:spPr bwMode="auto">
            <a:xfrm>
              <a:off x="4722" y="1889"/>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48049" name="Group 177"/>
          <p:cNvGrpSpPr>
            <a:grpSpLocks/>
          </p:cNvGrpSpPr>
          <p:nvPr/>
        </p:nvGrpSpPr>
        <p:grpSpPr bwMode="auto">
          <a:xfrm>
            <a:off x="7924577" y="2038257"/>
            <a:ext cx="404812" cy="784225"/>
            <a:chOff x="3885" y="868"/>
            <a:chExt cx="255" cy="494"/>
          </a:xfrm>
        </p:grpSpPr>
        <p:grpSp>
          <p:nvGrpSpPr>
            <p:cNvPr id="847967" name="Group 95"/>
            <p:cNvGrpSpPr>
              <a:grpSpLocks/>
            </p:cNvGrpSpPr>
            <p:nvPr/>
          </p:nvGrpSpPr>
          <p:grpSpPr bwMode="auto">
            <a:xfrm>
              <a:off x="3885" y="1090"/>
              <a:ext cx="227" cy="272"/>
              <a:chOff x="2236" y="1797"/>
              <a:chExt cx="227" cy="272"/>
            </a:xfrm>
          </p:grpSpPr>
          <p:sp>
            <p:nvSpPr>
              <p:cNvPr id="847968" name="Line 96"/>
              <p:cNvSpPr>
                <a:spLocks noChangeShapeType="1"/>
              </p:cNvSpPr>
              <p:nvPr/>
            </p:nvSpPr>
            <p:spPr bwMode="auto">
              <a:xfrm>
                <a:off x="2236" y="1797"/>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7969" name="Line 97"/>
              <p:cNvSpPr>
                <a:spLocks noChangeShapeType="1"/>
              </p:cNvSpPr>
              <p:nvPr/>
            </p:nvSpPr>
            <p:spPr bwMode="auto">
              <a:xfrm>
                <a:off x="2236" y="1797"/>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7976" name="Text Box 104"/>
            <p:cNvSpPr txBox="1">
              <a:spLocks noChangeArrowheads="1"/>
            </p:cNvSpPr>
            <p:nvPr/>
          </p:nvSpPr>
          <p:spPr bwMode="auto">
            <a:xfrm>
              <a:off x="3913" y="868"/>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grpSp>
      <p:sp>
        <p:nvSpPr>
          <p:cNvPr id="848001" name="Rectangle 129"/>
          <p:cNvSpPr>
            <a:spLocks noChangeArrowheads="1"/>
          </p:cNvSpPr>
          <p:nvPr/>
        </p:nvSpPr>
        <p:spPr bwMode="auto">
          <a:xfrm>
            <a:off x="1273749" y="3507732"/>
            <a:ext cx="2021707"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0000"/>
                </a:solidFill>
                <a:latin typeface="+mn-lt"/>
                <a:ea typeface="楷体" pitchFamily="49" charset="-122"/>
              </a:rPr>
              <a:t> </a:t>
            </a:r>
            <a:r>
              <a:rPr lang="en-US" altLang="zh-CN" b="1" dirty="0" err="1">
                <a:solidFill>
                  <a:srgbClr val="C00000"/>
                </a:solidFill>
                <a:latin typeface="+mn-lt"/>
                <a:ea typeface="楷体" pitchFamily="49" charset="-122"/>
              </a:rPr>
              <a:t>if_else</a:t>
            </a:r>
            <a:r>
              <a:rPr lang="zh-CN" altLang="en-US" b="1" dirty="0">
                <a:solidFill>
                  <a:srgbClr val="C00000"/>
                </a:solidFill>
                <a:latin typeface="+mn-lt"/>
                <a:ea typeface="楷体" pitchFamily="49" charset="-122"/>
              </a:rPr>
              <a:t>形式</a:t>
            </a:r>
            <a:r>
              <a:rPr lang="zh-CN" altLang="en-US" dirty="0">
                <a:solidFill>
                  <a:srgbClr val="C00000"/>
                </a:solidFill>
                <a:latin typeface="+mn-lt"/>
                <a:ea typeface="楷体" pitchFamily="49" charset="-122"/>
              </a:rPr>
              <a:t> </a:t>
            </a:r>
          </a:p>
        </p:txBody>
      </p:sp>
      <p:sp>
        <p:nvSpPr>
          <p:cNvPr id="848002" name="Text Box 130"/>
          <p:cNvSpPr txBox="1">
            <a:spLocks noChangeArrowheads="1"/>
          </p:cNvSpPr>
          <p:nvPr/>
        </p:nvSpPr>
        <p:spPr bwMode="auto">
          <a:xfrm>
            <a:off x="1650353" y="4522789"/>
            <a:ext cx="3541502" cy="136842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a:solidFill>
                  <a:srgbClr val="C00000"/>
                </a:solidFill>
                <a:latin typeface="+mn-lt"/>
                <a:ea typeface="楷体" pitchFamily="49" charset="-122"/>
              </a:rPr>
              <a:t>if  (</a:t>
            </a:r>
            <a:r>
              <a:rPr lang="zh-CN" altLang="en-US" sz="2000" b="1">
                <a:solidFill>
                  <a:srgbClr val="C00000"/>
                </a:solidFill>
                <a:latin typeface="+mn-lt"/>
                <a:ea typeface="楷体" pitchFamily="49" charset="-122"/>
              </a:rPr>
              <a:t>表达式</a:t>
            </a:r>
            <a:r>
              <a:rPr lang="en-US" altLang="zh-CN" sz="2000" b="1">
                <a:solidFill>
                  <a:srgbClr val="C00000"/>
                </a:solidFill>
                <a:latin typeface="+mn-lt"/>
                <a:ea typeface="楷体" pitchFamily="49" charset="-122"/>
              </a:rPr>
              <a:t>)</a:t>
            </a:r>
          </a:p>
          <a:p>
            <a:pPr algn="just"/>
            <a:r>
              <a:rPr lang="en-US" altLang="zh-CN" sz="2000" b="1">
                <a:solidFill>
                  <a:srgbClr val="C00000"/>
                </a:solidFill>
                <a:latin typeface="+mn-lt"/>
                <a:ea typeface="楷体" pitchFamily="49" charset="-122"/>
              </a:rPr>
              <a:t>     </a:t>
            </a:r>
            <a:r>
              <a:rPr lang="zh-CN" altLang="en-US" sz="2000" b="1">
                <a:solidFill>
                  <a:srgbClr val="C00000"/>
                </a:solidFill>
                <a:latin typeface="+mn-lt"/>
                <a:ea typeface="楷体" pitchFamily="49" charset="-122"/>
              </a:rPr>
              <a:t>语句</a:t>
            </a:r>
            <a:r>
              <a:rPr lang="en-US" altLang="zh-CN" sz="2000" b="1">
                <a:solidFill>
                  <a:srgbClr val="C00000"/>
                </a:solidFill>
                <a:latin typeface="+mn-lt"/>
                <a:ea typeface="楷体" pitchFamily="49" charset="-122"/>
              </a:rPr>
              <a:t>1;</a:t>
            </a:r>
          </a:p>
          <a:p>
            <a:pPr algn="just"/>
            <a:r>
              <a:rPr lang="en-US" altLang="zh-CN" sz="2000" b="1">
                <a:solidFill>
                  <a:srgbClr val="C00000"/>
                </a:solidFill>
                <a:latin typeface="+mn-lt"/>
                <a:ea typeface="楷体" pitchFamily="49" charset="-122"/>
              </a:rPr>
              <a:t>else</a:t>
            </a:r>
          </a:p>
          <a:p>
            <a:pPr algn="just"/>
            <a:r>
              <a:rPr lang="en-US" altLang="zh-CN" sz="2000" b="1">
                <a:solidFill>
                  <a:srgbClr val="C00000"/>
                </a:solidFill>
                <a:latin typeface="+mn-lt"/>
                <a:ea typeface="楷体" pitchFamily="49" charset="-122"/>
              </a:rPr>
              <a:t>     </a:t>
            </a:r>
            <a:r>
              <a:rPr lang="zh-CN" altLang="en-US" sz="2000" b="1">
                <a:solidFill>
                  <a:srgbClr val="C00000"/>
                </a:solidFill>
                <a:latin typeface="+mn-lt"/>
                <a:ea typeface="楷体" pitchFamily="49" charset="-122"/>
              </a:rPr>
              <a:t>语句</a:t>
            </a:r>
            <a:r>
              <a:rPr lang="en-US" altLang="zh-CN" sz="2000" b="1">
                <a:solidFill>
                  <a:srgbClr val="C00000"/>
                </a:solidFill>
                <a:latin typeface="+mn-lt"/>
                <a:ea typeface="楷体" pitchFamily="49" charset="-122"/>
              </a:rPr>
              <a:t>2</a:t>
            </a:r>
            <a:r>
              <a:rPr lang="zh-CN" altLang="en-US" sz="2000" b="1">
                <a:solidFill>
                  <a:srgbClr val="C00000"/>
                </a:solidFill>
                <a:latin typeface="+mn-lt"/>
                <a:ea typeface="楷体" pitchFamily="49" charset="-122"/>
              </a:rPr>
              <a:t>；</a:t>
            </a:r>
          </a:p>
        </p:txBody>
      </p:sp>
      <p:sp>
        <p:nvSpPr>
          <p:cNvPr id="848003" name="Rectangle 131"/>
          <p:cNvSpPr>
            <a:spLocks noChangeArrowheads="1"/>
          </p:cNvSpPr>
          <p:nvPr/>
        </p:nvSpPr>
        <p:spPr bwMode="auto">
          <a:xfrm>
            <a:off x="1603949" y="4013200"/>
            <a:ext cx="1331913"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格式</a:t>
            </a: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a:t>
            </a:r>
            <a:endParaRPr lang="en-US" altLang="zh-CN" dirty="0">
              <a:solidFill>
                <a:srgbClr val="002060"/>
              </a:solidFill>
              <a:latin typeface="楷体" pitchFamily="49" charset="-122"/>
              <a:ea typeface="楷体" pitchFamily="49" charset="-122"/>
            </a:endParaRPr>
          </a:p>
        </p:txBody>
      </p:sp>
      <p:sp>
        <p:nvSpPr>
          <p:cNvPr id="848004" name="Rectangle 132"/>
          <p:cNvSpPr>
            <a:spLocks noChangeArrowheads="1"/>
          </p:cNvSpPr>
          <p:nvPr/>
        </p:nvSpPr>
        <p:spPr bwMode="auto">
          <a:xfrm>
            <a:off x="6200914" y="3973592"/>
            <a:ext cx="2097088"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执行流程：</a:t>
            </a:r>
            <a:endParaRPr lang="zh-CN" altLang="en-US" dirty="0">
              <a:solidFill>
                <a:srgbClr val="002060"/>
              </a:solidFill>
              <a:latin typeface="楷体" pitchFamily="49" charset="-122"/>
              <a:ea typeface="楷体" pitchFamily="49" charset="-122"/>
            </a:endParaRPr>
          </a:p>
        </p:txBody>
      </p:sp>
      <p:sp>
        <p:nvSpPr>
          <p:cNvPr id="848009" name="AutoShape 137"/>
          <p:cNvSpPr>
            <a:spLocks noChangeArrowheads="1"/>
          </p:cNvSpPr>
          <p:nvPr/>
        </p:nvSpPr>
        <p:spPr bwMode="auto">
          <a:xfrm>
            <a:off x="8472264" y="4605075"/>
            <a:ext cx="1657350" cy="431800"/>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zh-CN" altLang="en-US" sz="2000" b="1" dirty="0">
                <a:effectLst>
                  <a:outerShdw blurRad="38100" dist="38100" dir="2700000" algn="tl">
                    <a:srgbClr val="FFFFFF"/>
                  </a:outerShdw>
                </a:effectLst>
                <a:latin typeface="楷体" pitchFamily="49" charset="-122"/>
                <a:ea typeface="楷体" pitchFamily="49" charset="-122"/>
              </a:rPr>
              <a:t>表达式</a:t>
            </a:r>
          </a:p>
        </p:txBody>
      </p:sp>
      <p:sp>
        <p:nvSpPr>
          <p:cNvPr id="848010" name="Text Box 138"/>
          <p:cNvSpPr txBox="1">
            <a:spLocks noChangeArrowheads="1"/>
          </p:cNvSpPr>
          <p:nvPr/>
        </p:nvSpPr>
        <p:spPr bwMode="auto">
          <a:xfrm>
            <a:off x="7756301" y="5268651"/>
            <a:ext cx="935038" cy="415925"/>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effectLst>
                  <a:outerShdw blurRad="38100" dist="38100" dir="2700000" algn="tl">
                    <a:srgbClr val="FFFFFF"/>
                  </a:outerShdw>
                </a:effectLst>
                <a:latin typeface="楷体" pitchFamily="49" charset="-122"/>
                <a:ea typeface="楷体" pitchFamily="49" charset="-122"/>
              </a:defRPr>
            </a:lvl1pPr>
          </a:lstStyle>
          <a:p>
            <a:r>
              <a:rPr lang="zh-CN" altLang="en-US">
                <a:solidFill>
                  <a:srgbClr val="C01920"/>
                </a:solidFill>
              </a:rPr>
              <a:t>语句</a:t>
            </a:r>
            <a:r>
              <a:rPr lang="en-US" altLang="zh-CN">
                <a:solidFill>
                  <a:srgbClr val="C01920"/>
                </a:solidFill>
              </a:rPr>
              <a:t>1</a:t>
            </a:r>
          </a:p>
        </p:txBody>
      </p:sp>
      <p:sp>
        <p:nvSpPr>
          <p:cNvPr id="848011" name="Text Box 139"/>
          <p:cNvSpPr txBox="1">
            <a:spLocks noChangeArrowheads="1"/>
          </p:cNvSpPr>
          <p:nvPr/>
        </p:nvSpPr>
        <p:spPr bwMode="auto">
          <a:xfrm>
            <a:off x="10010551" y="5252776"/>
            <a:ext cx="935038" cy="415925"/>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effectLst>
                  <a:outerShdw blurRad="38100" dist="38100" dir="2700000" algn="tl">
                    <a:srgbClr val="FFFFFF"/>
                  </a:outerShdw>
                </a:effectLst>
                <a:latin typeface="楷体" pitchFamily="49" charset="-122"/>
                <a:ea typeface="楷体" pitchFamily="49" charset="-122"/>
              </a:defRPr>
            </a:lvl1pPr>
          </a:lstStyle>
          <a:p>
            <a:r>
              <a:rPr lang="zh-CN" altLang="en-US" dirty="0">
                <a:solidFill>
                  <a:srgbClr val="002060"/>
                </a:solidFill>
              </a:rPr>
              <a:t>语句</a:t>
            </a:r>
            <a:r>
              <a:rPr lang="en-US" altLang="zh-CN" dirty="0">
                <a:solidFill>
                  <a:srgbClr val="002060"/>
                </a:solidFill>
              </a:rPr>
              <a:t>2</a:t>
            </a:r>
          </a:p>
        </p:txBody>
      </p:sp>
      <p:sp>
        <p:nvSpPr>
          <p:cNvPr id="848012" name="Line 140"/>
          <p:cNvSpPr>
            <a:spLocks noChangeShapeType="1"/>
          </p:cNvSpPr>
          <p:nvPr/>
        </p:nvSpPr>
        <p:spPr bwMode="auto">
          <a:xfrm>
            <a:off x="9308876" y="4244713"/>
            <a:ext cx="0" cy="36036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848061" name="Group 189"/>
          <p:cNvGrpSpPr>
            <a:grpSpLocks/>
          </p:cNvGrpSpPr>
          <p:nvPr/>
        </p:nvGrpSpPr>
        <p:grpSpPr bwMode="auto">
          <a:xfrm>
            <a:off x="8184926" y="5684575"/>
            <a:ext cx="1079500" cy="793750"/>
            <a:chOff x="3878" y="3248"/>
            <a:chExt cx="680" cy="500"/>
          </a:xfrm>
        </p:grpSpPr>
        <p:sp>
          <p:nvSpPr>
            <p:cNvPr id="848019" name="Line 147"/>
            <p:cNvSpPr>
              <a:spLocks noChangeShapeType="1"/>
            </p:cNvSpPr>
            <p:nvPr/>
          </p:nvSpPr>
          <p:spPr bwMode="auto">
            <a:xfrm>
              <a:off x="3878" y="3521"/>
              <a:ext cx="680"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20" name="Line 148"/>
            <p:cNvSpPr>
              <a:spLocks noChangeShapeType="1"/>
            </p:cNvSpPr>
            <p:nvPr/>
          </p:nvSpPr>
          <p:spPr bwMode="auto">
            <a:xfrm>
              <a:off x="3878" y="3248"/>
              <a:ext cx="0" cy="273"/>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22" name="Line 150"/>
            <p:cNvSpPr>
              <a:spLocks noChangeShapeType="1"/>
            </p:cNvSpPr>
            <p:nvPr/>
          </p:nvSpPr>
          <p:spPr bwMode="auto">
            <a:xfrm>
              <a:off x="4549" y="3521"/>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48055" name="Group 183"/>
          <p:cNvGrpSpPr>
            <a:grpSpLocks/>
          </p:cNvGrpSpPr>
          <p:nvPr/>
        </p:nvGrpSpPr>
        <p:grpSpPr bwMode="auto">
          <a:xfrm>
            <a:off x="8170640" y="4500301"/>
            <a:ext cx="376237" cy="752475"/>
            <a:chOff x="3869" y="2502"/>
            <a:chExt cx="237" cy="474"/>
          </a:xfrm>
        </p:grpSpPr>
        <p:grpSp>
          <p:nvGrpSpPr>
            <p:cNvPr id="848013" name="Group 141"/>
            <p:cNvGrpSpPr>
              <a:grpSpLocks/>
            </p:cNvGrpSpPr>
            <p:nvPr/>
          </p:nvGrpSpPr>
          <p:grpSpPr bwMode="auto">
            <a:xfrm>
              <a:off x="3869" y="2704"/>
              <a:ext cx="227" cy="272"/>
              <a:chOff x="2236" y="1797"/>
              <a:chExt cx="227" cy="272"/>
            </a:xfrm>
          </p:grpSpPr>
          <p:sp>
            <p:nvSpPr>
              <p:cNvPr id="848014" name="Line 142"/>
              <p:cNvSpPr>
                <a:spLocks noChangeShapeType="1"/>
              </p:cNvSpPr>
              <p:nvPr/>
            </p:nvSpPr>
            <p:spPr bwMode="auto">
              <a:xfrm>
                <a:off x="2236" y="1797"/>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15" name="Line 143"/>
              <p:cNvSpPr>
                <a:spLocks noChangeShapeType="1"/>
              </p:cNvSpPr>
              <p:nvPr/>
            </p:nvSpPr>
            <p:spPr bwMode="auto">
              <a:xfrm>
                <a:off x="2236" y="1797"/>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23" name="Text Box 151"/>
            <p:cNvSpPr txBox="1">
              <a:spLocks noChangeArrowheads="1"/>
            </p:cNvSpPr>
            <p:nvPr/>
          </p:nvSpPr>
          <p:spPr bwMode="auto">
            <a:xfrm>
              <a:off x="3879" y="2502"/>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grpSp>
      <p:grpSp>
        <p:nvGrpSpPr>
          <p:cNvPr id="848060" name="Group 188"/>
          <p:cNvGrpSpPr>
            <a:grpSpLocks/>
          </p:cNvGrpSpPr>
          <p:nvPr/>
        </p:nvGrpSpPr>
        <p:grpSpPr bwMode="auto">
          <a:xfrm>
            <a:off x="10129615" y="4490776"/>
            <a:ext cx="390525" cy="752475"/>
            <a:chOff x="5103" y="2523"/>
            <a:chExt cx="246" cy="474"/>
          </a:xfrm>
        </p:grpSpPr>
        <p:grpSp>
          <p:nvGrpSpPr>
            <p:cNvPr id="848016" name="Group 144"/>
            <p:cNvGrpSpPr>
              <a:grpSpLocks/>
            </p:cNvGrpSpPr>
            <p:nvPr/>
          </p:nvGrpSpPr>
          <p:grpSpPr bwMode="auto">
            <a:xfrm>
              <a:off x="5103" y="2725"/>
              <a:ext cx="227" cy="272"/>
              <a:chOff x="3470" y="1797"/>
              <a:chExt cx="227" cy="272"/>
            </a:xfrm>
          </p:grpSpPr>
          <p:sp>
            <p:nvSpPr>
              <p:cNvPr id="848017" name="Line 145"/>
              <p:cNvSpPr>
                <a:spLocks noChangeShapeType="1"/>
              </p:cNvSpPr>
              <p:nvPr/>
            </p:nvSpPr>
            <p:spPr bwMode="auto">
              <a:xfrm>
                <a:off x="3470" y="1797"/>
                <a:ext cx="227" cy="0"/>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18" name="Line 146"/>
              <p:cNvSpPr>
                <a:spLocks noChangeShapeType="1"/>
              </p:cNvSpPr>
              <p:nvPr/>
            </p:nvSpPr>
            <p:spPr bwMode="auto">
              <a:xfrm>
                <a:off x="3696" y="1797"/>
                <a:ext cx="0" cy="272"/>
              </a:xfrm>
              <a:prstGeom prst="line">
                <a:avLst/>
              </a:prstGeom>
              <a:noFill/>
              <a:ln w="28575">
                <a:solidFill>
                  <a:srgbClr val="00206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24" name="Text Box 152"/>
            <p:cNvSpPr txBox="1">
              <a:spLocks noChangeArrowheads="1"/>
            </p:cNvSpPr>
            <p:nvPr/>
          </p:nvSpPr>
          <p:spPr bwMode="auto">
            <a:xfrm>
              <a:off x="5122" y="2523"/>
              <a:ext cx="227"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002060"/>
                  </a:solidFill>
                </a:rPr>
                <a:t>F</a:t>
              </a:r>
            </a:p>
          </p:txBody>
        </p:sp>
      </p:grpSp>
      <p:grpSp>
        <p:nvGrpSpPr>
          <p:cNvPr id="848053" name="Group 181"/>
          <p:cNvGrpSpPr>
            <a:grpSpLocks/>
          </p:cNvGrpSpPr>
          <p:nvPr/>
        </p:nvGrpSpPr>
        <p:grpSpPr bwMode="auto">
          <a:xfrm>
            <a:off x="9281890" y="2087470"/>
            <a:ext cx="1236663" cy="1933575"/>
            <a:chOff x="4732" y="899"/>
            <a:chExt cx="779" cy="1218"/>
          </a:xfrm>
        </p:grpSpPr>
        <p:sp>
          <p:nvSpPr>
            <p:cNvPr id="847977" name="Text Box 105"/>
            <p:cNvSpPr txBox="1">
              <a:spLocks noChangeArrowheads="1"/>
            </p:cNvSpPr>
            <p:nvPr/>
          </p:nvSpPr>
          <p:spPr bwMode="auto">
            <a:xfrm>
              <a:off x="5266" y="899"/>
              <a:ext cx="227" cy="231"/>
            </a:xfrm>
            <a:prstGeom prst="rect">
              <a:avLst/>
            </a:prstGeom>
            <a:noFill/>
            <a:ln w="9525">
              <a:noFill/>
              <a:miter lim="800000"/>
              <a:headEnd/>
              <a:tailEnd/>
            </a:ln>
            <a:effectLst/>
          </p:spPr>
          <p:txBody>
            <a:bodyPr>
              <a:spAutoFit/>
            </a:bodyPr>
            <a:lstStyle/>
            <a:p>
              <a:pPr>
                <a:spcBef>
                  <a:spcPct val="50000"/>
                </a:spcBef>
              </a:pPr>
              <a:r>
                <a:rPr lang="en-US" altLang="zh-CN" sz="1800" b="1" dirty="0">
                  <a:solidFill>
                    <a:srgbClr val="002060"/>
                  </a:solidFill>
                </a:rPr>
                <a:t>F</a:t>
              </a:r>
            </a:p>
          </p:txBody>
        </p:sp>
        <p:grpSp>
          <p:nvGrpSpPr>
            <p:cNvPr id="848052" name="Group 180"/>
            <p:cNvGrpSpPr>
              <a:grpSpLocks/>
            </p:cNvGrpSpPr>
            <p:nvPr/>
          </p:nvGrpSpPr>
          <p:grpSpPr bwMode="auto">
            <a:xfrm>
              <a:off x="4732" y="1089"/>
              <a:ext cx="779" cy="1028"/>
              <a:chOff x="4732" y="1089"/>
              <a:chExt cx="779" cy="1028"/>
            </a:xfrm>
          </p:grpSpPr>
          <p:sp>
            <p:nvSpPr>
              <p:cNvPr id="847971" name="Line 99"/>
              <p:cNvSpPr>
                <a:spLocks noChangeShapeType="1"/>
              </p:cNvSpPr>
              <p:nvPr/>
            </p:nvSpPr>
            <p:spPr bwMode="auto">
              <a:xfrm>
                <a:off x="5284" y="1098"/>
                <a:ext cx="227" cy="0"/>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solidFill>
                    <a:srgbClr val="002060"/>
                  </a:solidFill>
                </a:endParaRPr>
              </a:p>
            </p:txBody>
          </p:sp>
          <p:sp>
            <p:nvSpPr>
              <p:cNvPr id="847974" name="Line 102"/>
              <p:cNvSpPr>
                <a:spLocks noChangeShapeType="1"/>
              </p:cNvSpPr>
              <p:nvPr/>
            </p:nvSpPr>
            <p:spPr bwMode="auto">
              <a:xfrm>
                <a:off x="5503" y="1089"/>
                <a:ext cx="0" cy="816"/>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solidFill>
                    <a:srgbClr val="002060"/>
                  </a:solidFill>
                </a:endParaRPr>
              </a:p>
            </p:txBody>
          </p:sp>
          <p:sp>
            <p:nvSpPr>
              <p:cNvPr id="848050" name="Line 178"/>
              <p:cNvSpPr>
                <a:spLocks noChangeShapeType="1"/>
              </p:cNvSpPr>
              <p:nvPr/>
            </p:nvSpPr>
            <p:spPr bwMode="auto">
              <a:xfrm flipV="1">
                <a:off x="4740" y="1888"/>
                <a:ext cx="771" cy="0"/>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solidFill>
                    <a:srgbClr val="002060"/>
                  </a:solidFill>
                </a:endParaRPr>
              </a:p>
            </p:txBody>
          </p:sp>
          <p:sp>
            <p:nvSpPr>
              <p:cNvPr id="848051" name="Line 179"/>
              <p:cNvSpPr>
                <a:spLocks noChangeShapeType="1"/>
              </p:cNvSpPr>
              <p:nvPr/>
            </p:nvSpPr>
            <p:spPr bwMode="auto">
              <a:xfrm>
                <a:off x="4732" y="1890"/>
                <a:ext cx="0" cy="227"/>
              </a:xfrm>
              <a:prstGeom prst="line">
                <a:avLst/>
              </a:prstGeom>
              <a:noFill/>
              <a:ln w="28575">
                <a:solidFill>
                  <a:srgbClr val="002060"/>
                </a:solidFill>
                <a:round/>
                <a:headEnd/>
                <a:tailEnd type="stealth" w="lg" len="lg"/>
              </a:ln>
              <a:effectLst>
                <a:outerShdw dist="35921" dir="2700000" algn="ctr" rotWithShape="0">
                  <a:schemeClr val="bg2">
                    <a:alpha val="50000"/>
                  </a:schemeClr>
                </a:outerShdw>
              </a:effectLst>
            </p:spPr>
            <p:txBody>
              <a:bodyPr/>
              <a:lstStyle/>
              <a:p>
                <a:endParaRPr lang="zh-CN" altLang="en-US">
                  <a:solidFill>
                    <a:srgbClr val="002060"/>
                  </a:solidFill>
                </a:endParaRPr>
              </a:p>
            </p:txBody>
          </p:sp>
        </p:grpSp>
      </p:grpSp>
      <p:grpSp>
        <p:nvGrpSpPr>
          <p:cNvPr id="848058" name="Group 186"/>
          <p:cNvGrpSpPr>
            <a:grpSpLocks/>
          </p:cNvGrpSpPr>
          <p:nvPr/>
        </p:nvGrpSpPr>
        <p:grpSpPr bwMode="auto">
          <a:xfrm>
            <a:off x="9264427" y="5684575"/>
            <a:ext cx="1223963" cy="793750"/>
            <a:chOff x="4558" y="3248"/>
            <a:chExt cx="771" cy="500"/>
          </a:xfrm>
        </p:grpSpPr>
        <p:sp>
          <p:nvSpPr>
            <p:cNvPr id="848021" name="Line 149"/>
            <p:cNvSpPr>
              <a:spLocks noChangeShapeType="1"/>
            </p:cNvSpPr>
            <p:nvPr/>
          </p:nvSpPr>
          <p:spPr bwMode="auto">
            <a:xfrm>
              <a:off x="5329" y="3248"/>
              <a:ext cx="0" cy="273"/>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6" name="Line 184"/>
            <p:cNvSpPr>
              <a:spLocks noChangeShapeType="1"/>
            </p:cNvSpPr>
            <p:nvPr/>
          </p:nvSpPr>
          <p:spPr bwMode="auto">
            <a:xfrm>
              <a:off x="4558" y="3521"/>
              <a:ext cx="771" cy="0"/>
            </a:xfrm>
            <a:prstGeom prst="line">
              <a:avLst/>
            </a:prstGeom>
            <a:noFill/>
            <a:ln w="28575">
              <a:solidFill>
                <a:srgbClr val="002060"/>
              </a:solidFill>
              <a:round/>
              <a:headEnd/>
              <a:tailEnd/>
            </a:ln>
            <a:effectLst>
              <a:outerShdw dist="35921" dir="2700000" algn="ctr" rotWithShape="0">
                <a:schemeClr val="bg2">
                  <a:alpha val="50000"/>
                </a:schemeClr>
              </a:outerShdw>
            </a:effectLst>
          </p:spPr>
          <p:txBody>
            <a:bodyPr/>
            <a:lstStyle/>
            <a:p>
              <a:endParaRPr lang="zh-CN" altLang="en-US"/>
            </a:p>
          </p:txBody>
        </p:sp>
        <p:sp>
          <p:nvSpPr>
            <p:cNvPr id="848057" name="Line 185"/>
            <p:cNvSpPr>
              <a:spLocks noChangeShapeType="1"/>
            </p:cNvSpPr>
            <p:nvPr/>
          </p:nvSpPr>
          <p:spPr bwMode="auto">
            <a:xfrm>
              <a:off x="4567" y="3521"/>
              <a:ext cx="0" cy="227"/>
            </a:xfrm>
            <a:prstGeom prst="line">
              <a:avLst/>
            </a:prstGeom>
            <a:noFill/>
            <a:ln w="28575">
              <a:solidFill>
                <a:srgbClr val="00206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48000" name="Text Box 128" descr="信纸"/>
          <p:cNvSpPr txBox="1">
            <a:spLocks noChangeArrowheads="1"/>
          </p:cNvSpPr>
          <p:nvPr/>
        </p:nvSpPr>
        <p:spPr bwMode="auto">
          <a:xfrm>
            <a:off x="1812702" y="3344695"/>
            <a:ext cx="7921625" cy="3051175"/>
          </a:xfrm>
          <a:prstGeom prst="rect">
            <a:avLst/>
          </a:prstGeom>
          <a:gradFill>
            <a:gsLst>
              <a:gs pos="0">
                <a:srgbClr val="CFCFD1"/>
              </a:gs>
              <a:gs pos="100000">
                <a:schemeClr val="bg1">
                  <a:lumMod val="95000"/>
                </a:scheme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zh-CN" altLang="en-US" b="1" dirty="0">
                <a:solidFill>
                  <a:srgbClr val="FF33CC"/>
                </a:solidFill>
                <a:ea typeface="隶书" pitchFamily="49" charset="-122"/>
              </a:rPr>
              <a:t>  </a:t>
            </a:r>
            <a:r>
              <a:rPr lang="zh-CN" altLang="en-US" b="1" dirty="0">
                <a:solidFill>
                  <a:srgbClr val="C01920"/>
                </a:solidFill>
                <a:ea typeface="隶书" pitchFamily="49" charset="-122"/>
              </a:rPr>
              <a:t>例如：下面的程序段是输入两个整数，输出其中的大数。</a:t>
            </a:r>
          </a:p>
          <a:p>
            <a:r>
              <a:rPr lang="zh-CN" altLang="en-US" b="1" dirty="0"/>
              <a:t>   </a:t>
            </a:r>
            <a:r>
              <a:rPr lang="en-US" altLang="zh-CN" b="1" dirty="0" err="1"/>
              <a:t>int</a:t>
            </a:r>
            <a:r>
              <a:rPr lang="en-US" altLang="zh-CN" b="1" dirty="0"/>
              <a:t> a, b, max;</a:t>
            </a:r>
          </a:p>
          <a:p>
            <a:r>
              <a:rPr lang="en-US" altLang="zh-CN" b="1" dirty="0"/>
              <a:t>   </a:t>
            </a:r>
            <a:r>
              <a:rPr lang="en-US" altLang="zh-CN" b="1" dirty="0" err="1"/>
              <a:t>printf</a:t>
            </a:r>
            <a:r>
              <a:rPr lang="en-US" altLang="zh-CN" b="1" dirty="0"/>
              <a:t> ("input two numbers: ");</a:t>
            </a:r>
          </a:p>
          <a:p>
            <a:r>
              <a:rPr lang="en-US" altLang="zh-CN" b="1" dirty="0"/>
              <a:t>   </a:t>
            </a:r>
            <a:r>
              <a:rPr lang="en-US" altLang="zh-CN" b="1" dirty="0" err="1"/>
              <a:t>scanf</a:t>
            </a:r>
            <a:r>
              <a:rPr lang="en-US" altLang="zh-CN" b="1" dirty="0"/>
              <a:t> ("%</a:t>
            </a:r>
            <a:r>
              <a:rPr lang="en-US" altLang="zh-CN" b="1" dirty="0" err="1"/>
              <a:t>d%d</a:t>
            </a:r>
            <a:r>
              <a:rPr lang="en-US" altLang="zh-CN" b="1" dirty="0"/>
              <a:t>", &amp;a, &amp;b);</a:t>
            </a:r>
          </a:p>
          <a:p>
            <a:r>
              <a:rPr lang="en-US" altLang="zh-CN" b="1" dirty="0"/>
              <a:t>   max = a;</a:t>
            </a:r>
          </a:p>
          <a:p>
            <a:r>
              <a:rPr lang="en-US" altLang="zh-CN" b="1" dirty="0"/>
              <a:t>   </a:t>
            </a:r>
            <a:r>
              <a:rPr lang="en-US" altLang="zh-CN" b="1" dirty="0">
                <a:solidFill>
                  <a:srgbClr val="CC0000"/>
                </a:solidFill>
              </a:rPr>
              <a:t>if (max &lt; b) </a:t>
            </a:r>
          </a:p>
          <a:p>
            <a:r>
              <a:rPr lang="en-US" altLang="zh-CN" b="1" dirty="0">
                <a:solidFill>
                  <a:srgbClr val="CC0000"/>
                </a:solidFill>
              </a:rPr>
              <a:t>      max = b;</a:t>
            </a:r>
          </a:p>
          <a:p>
            <a:r>
              <a:rPr lang="en-US" altLang="zh-CN" b="1" dirty="0"/>
              <a:t>   </a:t>
            </a:r>
            <a:r>
              <a:rPr lang="en-US" altLang="zh-CN" b="1" dirty="0" err="1"/>
              <a:t>printf</a:t>
            </a:r>
            <a:r>
              <a:rPr lang="en-US" altLang="zh-CN" b="1" dirty="0"/>
              <a:t>("max = %d", max);</a:t>
            </a:r>
          </a:p>
        </p:txBody>
      </p:sp>
      <p:sp>
        <p:nvSpPr>
          <p:cNvPr id="848040" name="Text Box 168" descr="信纸"/>
          <p:cNvSpPr txBox="1">
            <a:spLocks noChangeArrowheads="1"/>
          </p:cNvSpPr>
          <p:nvPr/>
        </p:nvSpPr>
        <p:spPr bwMode="auto">
          <a:xfrm>
            <a:off x="1750818" y="3299404"/>
            <a:ext cx="8137525" cy="3051175"/>
          </a:xfrm>
          <a:prstGeom prst="rect">
            <a:avLst/>
          </a:prstGeom>
          <a:gradFill>
            <a:gsLst>
              <a:gs pos="0">
                <a:srgbClr val="CFCFD1"/>
              </a:gs>
              <a:gs pos="100000">
                <a:schemeClr val="bg1">
                  <a:lumMod val="95000"/>
                </a:scheme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zh-CN" altLang="en-US" b="1" dirty="0">
                <a:solidFill>
                  <a:srgbClr val="C01920"/>
                </a:solidFill>
                <a:ea typeface="隶书" pitchFamily="49" charset="-122"/>
              </a:rPr>
              <a:t>  例如：下面的程序段同样是输出两个整数中的最大数。</a:t>
            </a:r>
          </a:p>
          <a:p>
            <a:r>
              <a:rPr lang="zh-CN" altLang="en-US" b="1" dirty="0"/>
              <a:t>   </a:t>
            </a:r>
            <a:r>
              <a:rPr lang="en-US" altLang="zh-CN" b="1" dirty="0" err="1"/>
              <a:t>int</a:t>
            </a:r>
            <a:r>
              <a:rPr lang="en-US" altLang="zh-CN" b="1" dirty="0"/>
              <a:t> a, b;</a:t>
            </a:r>
          </a:p>
          <a:p>
            <a:r>
              <a:rPr lang="en-US" altLang="zh-CN" b="1" dirty="0"/>
              <a:t>   </a:t>
            </a:r>
            <a:r>
              <a:rPr lang="en-US" altLang="zh-CN" b="1" dirty="0" err="1"/>
              <a:t>printf</a:t>
            </a:r>
            <a:r>
              <a:rPr lang="en-US" altLang="zh-CN" b="1" dirty="0"/>
              <a:t> ("input two numbers: ");</a:t>
            </a:r>
          </a:p>
          <a:p>
            <a:r>
              <a:rPr lang="en-US" altLang="zh-CN" b="1" dirty="0"/>
              <a:t>   </a:t>
            </a:r>
            <a:r>
              <a:rPr lang="en-US" altLang="zh-CN" b="1" dirty="0" err="1"/>
              <a:t>scanf</a:t>
            </a:r>
            <a:r>
              <a:rPr lang="en-US" altLang="zh-CN" b="1" dirty="0"/>
              <a:t> ("%</a:t>
            </a:r>
            <a:r>
              <a:rPr lang="en-US" altLang="zh-CN" b="1" dirty="0" err="1"/>
              <a:t>d%d</a:t>
            </a:r>
            <a:r>
              <a:rPr lang="en-US" altLang="zh-CN" b="1" dirty="0"/>
              <a:t>", &amp;a, &amp;b);</a:t>
            </a:r>
          </a:p>
          <a:p>
            <a:r>
              <a:rPr lang="en-US" altLang="zh-CN" b="1" dirty="0"/>
              <a:t>   </a:t>
            </a:r>
            <a:r>
              <a:rPr lang="en-US" altLang="zh-CN" b="1" dirty="0">
                <a:solidFill>
                  <a:srgbClr val="CC0000"/>
                </a:solidFill>
              </a:rPr>
              <a:t>if (a &gt; b)</a:t>
            </a:r>
          </a:p>
          <a:p>
            <a:r>
              <a:rPr lang="en-US" altLang="zh-CN" b="1" dirty="0">
                <a:solidFill>
                  <a:srgbClr val="CC0000"/>
                </a:solidFill>
              </a:rPr>
              <a:t>       </a:t>
            </a:r>
            <a:r>
              <a:rPr lang="en-US" altLang="zh-CN" b="1" dirty="0" err="1">
                <a:solidFill>
                  <a:srgbClr val="CC0000"/>
                </a:solidFill>
              </a:rPr>
              <a:t>printf</a:t>
            </a:r>
            <a:r>
              <a:rPr lang="en-US" altLang="zh-CN" b="1" dirty="0">
                <a:solidFill>
                  <a:srgbClr val="CC0000"/>
                </a:solidFill>
              </a:rPr>
              <a:t> ("max = %d\n", a);</a:t>
            </a:r>
          </a:p>
          <a:p>
            <a:r>
              <a:rPr lang="en-US" altLang="zh-CN" b="1" dirty="0">
                <a:solidFill>
                  <a:srgbClr val="CC0000"/>
                </a:solidFill>
              </a:rPr>
              <a:t>   else</a:t>
            </a:r>
          </a:p>
          <a:p>
            <a:r>
              <a:rPr lang="en-US" altLang="zh-CN" b="1" dirty="0">
                <a:solidFill>
                  <a:srgbClr val="CC0000"/>
                </a:solidFill>
              </a:rPr>
              <a:t>      </a:t>
            </a:r>
            <a:r>
              <a:rPr lang="en-US" altLang="zh-CN" b="1" dirty="0" err="1">
                <a:solidFill>
                  <a:srgbClr val="CC0000"/>
                </a:solidFill>
              </a:rPr>
              <a:t>printf</a:t>
            </a:r>
            <a:r>
              <a:rPr lang="en-US" altLang="zh-CN" b="1" dirty="0">
                <a:solidFill>
                  <a:srgbClr val="CC0000"/>
                </a:solidFill>
              </a:rPr>
              <a:t> ("max = %d\n", b);</a:t>
            </a:r>
          </a:p>
        </p:txBody>
      </p:sp>
      <p:sp>
        <p:nvSpPr>
          <p:cNvPr id="59" name="Rectangle 4">
            <a:extLst>
              <a:ext uri="{FF2B5EF4-FFF2-40B4-BE49-F238E27FC236}">
                <a16:creationId xmlns:a16="http://schemas.microsoft.com/office/drawing/2014/main" id="{9C620D27-2582-4B9E-A2A3-36B633AAF0B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47918"/>
                                        </p:tgtEl>
                                        <p:attrNameLst>
                                          <p:attrName>style.visibility</p:attrName>
                                        </p:attrNameLst>
                                      </p:cBhvr>
                                      <p:to>
                                        <p:strVal val="visible"/>
                                      </p:to>
                                    </p:set>
                                    <p:animEffect transition="in" filter="box(in)">
                                      <p:cBhvr>
                                        <p:cTn id="7" dur="500"/>
                                        <p:tgtEl>
                                          <p:spTgt spid="84791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7920"/>
                                        </p:tgtEl>
                                        <p:attrNameLst>
                                          <p:attrName>style.visibility</p:attrName>
                                        </p:attrNameLst>
                                      </p:cBhvr>
                                      <p:to>
                                        <p:strVal val="visible"/>
                                      </p:to>
                                    </p:set>
                                    <p:animEffect transition="in" filter="box(in)">
                                      <p:cBhvr>
                                        <p:cTn id="12" dur="500"/>
                                        <p:tgtEl>
                                          <p:spTgt spid="84792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16" fill="hold" grpId="0" nodeType="withEffect">
                                  <p:stCondLst>
                                    <p:cond delay="0"/>
                                  </p:stCondLst>
                                  <p:childTnLst>
                                    <p:set>
                                      <p:cBhvr>
                                        <p:cTn id="14" dur="1" fill="hold">
                                          <p:stCondLst>
                                            <p:cond delay="0"/>
                                          </p:stCondLst>
                                        </p:cTn>
                                        <p:tgtEl>
                                          <p:spTgt spid="847919"/>
                                        </p:tgtEl>
                                        <p:attrNameLst>
                                          <p:attrName>style.visibility</p:attrName>
                                        </p:attrNameLst>
                                      </p:cBhvr>
                                      <p:to>
                                        <p:strVal val="visible"/>
                                      </p:to>
                                    </p:set>
                                    <p:animEffect transition="in" filter="box(in)">
                                      <p:cBhvr>
                                        <p:cTn id="15" dur="500"/>
                                        <p:tgtEl>
                                          <p:spTgt spid="847919"/>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847921"/>
                                        </p:tgtEl>
                                        <p:attrNameLst>
                                          <p:attrName>style.visibility</p:attrName>
                                        </p:attrNameLst>
                                      </p:cBhvr>
                                      <p:to>
                                        <p:strVal val="visible"/>
                                      </p:to>
                                    </p:set>
                                    <p:animEffect transition="in" filter="box(in)">
                                      <p:cBhvr>
                                        <p:cTn id="20" dur="500"/>
                                        <p:tgtEl>
                                          <p:spTgt spid="847921"/>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847966"/>
                                        </p:tgtEl>
                                        <p:attrNameLst>
                                          <p:attrName>style.visibility</p:attrName>
                                        </p:attrNameLst>
                                      </p:cBhvr>
                                      <p:to>
                                        <p:strVal val="visible"/>
                                      </p:to>
                                    </p:set>
                                    <p:animEffect transition="in" filter="strips(downLeft)">
                                      <p:cBhvr>
                                        <p:cTn id="24" dur="1000"/>
                                        <p:tgtEl>
                                          <p:spTgt spid="847966"/>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500"/>
                            </p:stCondLst>
                            <p:childTnLst>
                              <p:par>
                                <p:cTn id="26" presetID="8" presetClass="entr" presetSubtype="32" fill="hold" grpId="0" nodeType="afterEffect">
                                  <p:stCondLst>
                                    <p:cond delay="0"/>
                                  </p:stCondLst>
                                  <p:childTnLst>
                                    <p:set>
                                      <p:cBhvr>
                                        <p:cTn id="27" dur="1" fill="hold">
                                          <p:stCondLst>
                                            <p:cond delay="0"/>
                                          </p:stCondLst>
                                        </p:cTn>
                                        <p:tgtEl>
                                          <p:spTgt spid="847965"/>
                                        </p:tgtEl>
                                        <p:attrNameLst>
                                          <p:attrName>style.visibility</p:attrName>
                                        </p:attrNameLst>
                                      </p:cBhvr>
                                      <p:to>
                                        <p:strVal val="visible"/>
                                      </p:to>
                                    </p:set>
                                    <p:animEffect transition="in" filter="diamond(out)">
                                      <p:cBhvr>
                                        <p:cTn id="28" dur="1000"/>
                                        <p:tgtEl>
                                          <p:spTgt spid="847965"/>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2500"/>
                            </p:stCondLst>
                            <p:childTnLst>
                              <p:par>
                                <p:cTn id="30" presetID="18" presetClass="entr" presetSubtype="12" fill="hold" nodeType="afterEffect">
                                  <p:stCondLst>
                                    <p:cond delay="0"/>
                                  </p:stCondLst>
                                  <p:childTnLst>
                                    <p:set>
                                      <p:cBhvr>
                                        <p:cTn id="31" dur="1" fill="hold">
                                          <p:stCondLst>
                                            <p:cond delay="0"/>
                                          </p:stCondLst>
                                        </p:cTn>
                                        <p:tgtEl>
                                          <p:spTgt spid="848049"/>
                                        </p:tgtEl>
                                        <p:attrNameLst>
                                          <p:attrName>style.visibility</p:attrName>
                                        </p:attrNameLst>
                                      </p:cBhvr>
                                      <p:to>
                                        <p:strVal val="visible"/>
                                      </p:to>
                                    </p:set>
                                    <p:animEffect transition="in" filter="strips(downLeft)">
                                      <p:cBhvr>
                                        <p:cTn id="32" dur="1000"/>
                                        <p:tgtEl>
                                          <p:spTgt spid="84804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3500"/>
                            </p:stCondLst>
                            <p:childTnLst>
                              <p:par>
                                <p:cTn id="34" presetID="4" presetClass="entr" presetSubtype="32" fill="hold" grpId="0" nodeType="afterEffect">
                                  <p:stCondLst>
                                    <p:cond delay="0"/>
                                  </p:stCondLst>
                                  <p:childTnLst>
                                    <p:set>
                                      <p:cBhvr>
                                        <p:cTn id="35" dur="1" fill="hold">
                                          <p:stCondLst>
                                            <p:cond delay="0"/>
                                          </p:stCondLst>
                                        </p:cTn>
                                        <p:tgtEl>
                                          <p:spTgt spid="847944"/>
                                        </p:tgtEl>
                                        <p:attrNameLst>
                                          <p:attrName>style.visibility</p:attrName>
                                        </p:attrNameLst>
                                      </p:cBhvr>
                                      <p:to>
                                        <p:strVal val="visible"/>
                                      </p:to>
                                    </p:set>
                                    <p:animEffect transition="in" filter="box(out)">
                                      <p:cBhvr>
                                        <p:cTn id="36" dur="1000"/>
                                        <p:tgtEl>
                                          <p:spTgt spid="847944"/>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7" fill="hold">
                            <p:stCondLst>
                              <p:cond delay="4500"/>
                            </p:stCondLst>
                            <p:childTnLst>
                              <p:par>
                                <p:cTn id="38" presetID="18" presetClass="entr" presetSubtype="6" fill="hold" nodeType="afterEffect">
                                  <p:stCondLst>
                                    <p:cond delay="0"/>
                                  </p:stCondLst>
                                  <p:childTnLst>
                                    <p:set>
                                      <p:cBhvr>
                                        <p:cTn id="39" dur="1" fill="hold">
                                          <p:stCondLst>
                                            <p:cond delay="0"/>
                                          </p:stCondLst>
                                        </p:cTn>
                                        <p:tgtEl>
                                          <p:spTgt spid="848054"/>
                                        </p:tgtEl>
                                        <p:attrNameLst>
                                          <p:attrName>style.visibility</p:attrName>
                                        </p:attrNameLst>
                                      </p:cBhvr>
                                      <p:to>
                                        <p:strVal val="visible"/>
                                      </p:to>
                                    </p:set>
                                    <p:animEffect transition="in" filter="strips(downRight)">
                                      <p:cBhvr>
                                        <p:cTn id="40" dur="1000"/>
                                        <p:tgtEl>
                                          <p:spTgt spid="848054"/>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1" fill="hold">
                            <p:stCondLst>
                              <p:cond delay="5500"/>
                            </p:stCondLst>
                            <p:childTnLst>
                              <p:par>
                                <p:cTn id="42" presetID="18" presetClass="entr" presetSubtype="12" fill="hold" nodeType="afterEffect">
                                  <p:stCondLst>
                                    <p:cond delay="0"/>
                                  </p:stCondLst>
                                  <p:childTnLst>
                                    <p:set>
                                      <p:cBhvr>
                                        <p:cTn id="43" dur="1" fill="hold">
                                          <p:stCondLst>
                                            <p:cond delay="0"/>
                                          </p:stCondLst>
                                        </p:cTn>
                                        <p:tgtEl>
                                          <p:spTgt spid="848053"/>
                                        </p:tgtEl>
                                        <p:attrNameLst>
                                          <p:attrName>style.visibility</p:attrName>
                                        </p:attrNameLst>
                                      </p:cBhvr>
                                      <p:to>
                                        <p:strVal val="visible"/>
                                      </p:to>
                                    </p:set>
                                    <p:animEffect transition="in" filter="strips(downLeft)">
                                      <p:cBhvr>
                                        <p:cTn id="44" dur="1000"/>
                                        <p:tgtEl>
                                          <p:spTgt spid="848053"/>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848000"/>
                                        </p:tgtEl>
                                        <p:attrNameLst>
                                          <p:attrName>style.visibility</p:attrName>
                                        </p:attrNameLst>
                                      </p:cBhvr>
                                      <p:to>
                                        <p:strVal val="visible"/>
                                      </p:to>
                                    </p:set>
                                    <p:animEffect transition="in" filter="box(out)">
                                      <p:cBhvr>
                                        <p:cTn id="49" dur="500"/>
                                        <p:tgtEl>
                                          <p:spTgt spid="848000"/>
                                        </p:tgtEl>
                                      </p:cBhvr>
                                    </p:animEffect>
                                  </p:childTnLst>
                                  <p:subTnLst>
                                    <p:set>
                                      <p:cBhvr override="childStyle">
                                        <p:cTn dur="1" fill="hold" display="0" masterRel="nextClick" afterEffect="1"/>
                                        <p:tgtEl>
                                          <p:spTgt spid="848000"/>
                                        </p:tgtEl>
                                        <p:attrNameLst>
                                          <p:attrName>style.visibility</p:attrName>
                                        </p:attrNameLst>
                                      </p:cBhvr>
                                      <p:to>
                                        <p:strVal val="hidden"/>
                                      </p:to>
                                    </p:se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848001"/>
                                        </p:tgtEl>
                                        <p:attrNameLst>
                                          <p:attrName>style.visibility</p:attrName>
                                        </p:attrNameLst>
                                      </p:cBhvr>
                                      <p:to>
                                        <p:strVal val="visible"/>
                                      </p:to>
                                    </p:set>
                                    <p:animEffect transition="in" filter="box(in)">
                                      <p:cBhvr>
                                        <p:cTn id="54" dur="500"/>
                                        <p:tgtEl>
                                          <p:spTgt spid="848001"/>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848003"/>
                                        </p:tgtEl>
                                        <p:attrNameLst>
                                          <p:attrName>style.visibility</p:attrName>
                                        </p:attrNameLst>
                                      </p:cBhvr>
                                      <p:to>
                                        <p:strVal val="visible"/>
                                      </p:to>
                                    </p:set>
                                    <p:animEffect transition="in" filter="box(in)">
                                      <p:cBhvr>
                                        <p:cTn id="59" dur="500"/>
                                        <p:tgtEl>
                                          <p:spTgt spid="848003"/>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par>
                                <p:cTn id="60" presetID="4" presetClass="entr" presetSubtype="16" fill="hold" grpId="0" nodeType="withEffect">
                                  <p:stCondLst>
                                    <p:cond delay="0"/>
                                  </p:stCondLst>
                                  <p:childTnLst>
                                    <p:set>
                                      <p:cBhvr>
                                        <p:cTn id="61" dur="1" fill="hold">
                                          <p:stCondLst>
                                            <p:cond delay="0"/>
                                          </p:stCondLst>
                                        </p:cTn>
                                        <p:tgtEl>
                                          <p:spTgt spid="848002"/>
                                        </p:tgtEl>
                                        <p:attrNameLst>
                                          <p:attrName>style.visibility</p:attrName>
                                        </p:attrNameLst>
                                      </p:cBhvr>
                                      <p:to>
                                        <p:strVal val="visible"/>
                                      </p:to>
                                    </p:set>
                                    <p:animEffect transition="in" filter="box(in)">
                                      <p:cBhvr>
                                        <p:cTn id="62" dur="500"/>
                                        <p:tgtEl>
                                          <p:spTgt spid="848002"/>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848004"/>
                                        </p:tgtEl>
                                        <p:attrNameLst>
                                          <p:attrName>style.visibility</p:attrName>
                                        </p:attrNameLst>
                                      </p:cBhvr>
                                      <p:to>
                                        <p:strVal val="visible"/>
                                      </p:to>
                                    </p:set>
                                    <p:animEffect transition="in" filter="box(in)">
                                      <p:cBhvr>
                                        <p:cTn id="67" dur="500"/>
                                        <p:tgtEl>
                                          <p:spTgt spid="848004"/>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500"/>
                            </p:stCondLst>
                            <p:childTnLst>
                              <p:par>
                                <p:cTn id="69" presetID="18" presetClass="entr" presetSubtype="12" fill="hold" grpId="0" nodeType="afterEffect">
                                  <p:stCondLst>
                                    <p:cond delay="0"/>
                                  </p:stCondLst>
                                  <p:childTnLst>
                                    <p:set>
                                      <p:cBhvr>
                                        <p:cTn id="70" dur="1" fill="hold">
                                          <p:stCondLst>
                                            <p:cond delay="0"/>
                                          </p:stCondLst>
                                        </p:cTn>
                                        <p:tgtEl>
                                          <p:spTgt spid="848012"/>
                                        </p:tgtEl>
                                        <p:attrNameLst>
                                          <p:attrName>style.visibility</p:attrName>
                                        </p:attrNameLst>
                                      </p:cBhvr>
                                      <p:to>
                                        <p:strVal val="visible"/>
                                      </p:to>
                                    </p:set>
                                    <p:animEffect transition="in" filter="strips(downLeft)">
                                      <p:cBhvr>
                                        <p:cTn id="71" dur="1000"/>
                                        <p:tgtEl>
                                          <p:spTgt spid="848012"/>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2" fill="hold">
                            <p:stCondLst>
                              <p:cond delay="1500"/>
                            </p:stCondLst>
                            <p:childTnLst>
                              <p:par>
                                <p:cTn id="73" presetID="8" presetClass="entr" presetSubtype="32" fill="hold" grpId="0" nodeType="afterEffect">
                                  <p:stCondLst>
                                    <p:cond delay="0"/>
                                  </p:stCondLst>
                                  <p:childTnLst>
                                    <p:set>
                                      <p:cBhvr>
                                        <p:cTn id="74" dur="1" fill="hold">
                                          <p:stCondLst>
                                            <p:cond delay="0"/>
                                          </p:stCondLst>
                                        </p:cTn>
                                        <p:tgtEl>
                                          <p:spTgt spid="848009"/>
                                        </p:tgtEl>
                                        <p:attrNameLst>
                                          <p:attrName>style.visibility</p:attrName>
                                        </p:attrNameLst>
                                      </p:cBhvr>
                                      <p:to>
                                        <p:strVal val="visible"/>
                                      </p:to>
                                    </p:set>
                                    <p:animEffect transition="in" filter="diamond(out)">
                                      <p:cBhvr>
                                        <p:cTn id="75" dur="1000"/>
                                        <p:tgtEl>
                                          <p:spTgt spid="848009"/>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2500"/>
                            </p:stCondLst>
                            <p:childTnLst>
                              <p:par>
                                <p:cTn id="77" presetID="18" presetClass="entr" presetSubtype="12" fill="hold" nodeType="afterEffect">
                                  <p:stCondLst>
                                    <p:cond delay="0"/>
                                  </p:stCondLst>
                                  <p:childTnLst>
                                    <p:set>
                                      <p:cBhvr>
                                        <p:cTn id="78" dur="1" fill="hold">
                                          <p:stCondLst>
                                            <p:cond delay="0"/>
                                          </p:stCondLst>
                                        </p:cTn>
                                        <p:tgtEl>
                                          <p:spTgt spid="848055"/>
                                        </p:tgtEl>
                                        <p:attrNameLst>
                                          <p:attrName>style.visibility</p:attrName>
                                        </p:attrNameLst>
                                      </p:cBhvr>
                                      <p:to>
                                        <p:strVal val="visible"/>
                                      </p:to>
                                    </p:set>
                                    <p:animEffect transition="in" filter="strips(downLeft)">
                                      <p:cBhvr>
                                        <p:cTn id="79" dur="1000"/>
                                        <p:tgtEl>
                                          <p:spTgt spid="848055"/>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3500"/>
                            </p:stCondLst>
                            <p:childTnLst>
                              <p:par>
                                <p:cTn id="81" presetID="4" presetClass="entr" presetSubtype="32" fill="hold" grpId="0" nodeType="afterEffect">
                                  <p:stCondLst>
                                    <p:cond delay="0"/>
                                  </p:stCondLst>
                                  <p:childTnLst>
                                    <p:set>
                                      <p:cBhvr>
                                        <p:cTn id="82" dur="1" fill="hold">
                                          <p:stCondLst>
                                            <p:cond delay="0"/>
                                          </p:stCondLst>
                                        </p:cTn>
                                        <p:tgtEl>
                                          <p:spTgt spid="848010"/>
                                        </p:tgtEl>
                                        <p:attrNameLst>
                                          <p:attrName>style.visibility</p:attrName>
                                        </p:attrNameLst>
                                      </p:cBhvr>
                                      <p:to>
                                        <p:strVal val="visible"/>
                                      </p:to>
                                    </p:set>
                                    <p:animEffect transition="in" filter="box(out)">
                                      <p:cBhvr>
                                        <p:cTn id="83" dur="1000"/>
                                        <p:tgtEl>
                                          <p:spTgt spid="848010"/>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par>
                          <p:cTn id="84" fill="hold">
                            <p:stCondLst>
                              <p:cond delay="4500"/>
                            </p:stCondLst>
                            <p:childTnLst>
                              <p:par>
                                <p:cTn id="85" presetID="18" presetClass="entr" presetSubtype="6" fill="hold" nodeType="afterEffect">
                                  <p:stCondLst>
                                    <p:cond delay="0"/>
                                  </p:stCondLst>
                                  <p:childTnLst>
                                    <p:set>
                                      <p:cBhvr>
                                        <p:cTn id="86" dur="1" fill="hold">
                                          <p:stCondLst>
                                            <p:cond delay="0"/>
                                          </p:stCondLst>
                                        </p:cTn>
                                        <p:tgtEl>
                                          <p:spTgt spid="848061"/>
                                        </p:tgtEl>
                                        <p:attrNameLst>
                                          <p:attrName>style.visibility</p:attrName>
                                        </p:attrNameLst>
                                      </p:cBhvr>
                                      <p:to>
                                        <p:strVal val="visible"/>
                                      </p:to>
                                    </p:set>
                                    <p:animEffect transition="in" filter="strips(downRight)">
                                      <p:cBhvr>
                                        <p:cTn id="87" dur="1000"/>
                                        <p:tgtEl>
                                          <p:spTgt spid="848061"/>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par>
                          <p:cTn id="88" fill="hold">
                            <p:stCondLst>
                              <p:cond delay="5500"/>
                            </p:stCondLst>
                            <p:childTnLst>
                              <p:par>
                                <p:cTn id="89" presetID="18" presetClass="entr" presetSubtype="12" fill="hold" nodeType="afterEffect">
                                  <p:stCondLst>
                                    <p:cond delay="0"/>
                                  </p:stCondLst>
                                  <p:childTnLst>
                                    <p:set>
                                      <p:cBhvr>
                                        <p:cTn id="90" dur="1" fill="hold">
                                          <p:stCondLst>
                                            <p:cond delay="0"/>
                                          </p:stCondLst>
                                        </p:cTn>
                                        <p:tgtEl>
                                          <p:spTgt spid="848060"/>
                                        </p:tgtEl>
                                        <p:attrNameLst>
                                          <p:attrName>style.visibility</p:attrName>
                                        </p:attrNameLst>
                                      </p:cBhvr>
                                      <p:to>
                                        <p:strVal val="visible"/>
                                      </p:to>
                                    </p:set>
                                    <p:animEffect transition="in" filter="strips(downLeft)">
                                      <p:cBhvr>
                                        <p:cTn id="91" dur="1000"/>
                                        <p:tgtEl>
                                          <p:spTgt spid="848060"/>
                                        </p:tgtEl>
                                      </p:cBhvr>
                                    </p:animEffect>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2" fill="hold">
                            <p:stCondLst>
                              <p:cond delay="6500"/>
                            </p:stCondLst>
                            <p:childTnLst>
                              <p:par>
                                <p:cTn id="93" presetID="4" presetClass="entr" presetSubtype="32" fill="hold" grpId="0" nodeType="afterEffect">
                                  <p:stCondLst>
                                    <p:cond delay="0"/>
                                  </p:stCondLst>
                                  <p:childTnLst>
                                    <p:set>
                                      <p:cBhvr>
                                        <p:cTn id="94" dur="1" fill="hold">
                                          <p:stCondLst>
                                            <p:cond delay="0"/>
                                          </p:stCondLst>
                                        </p:cTn>
                                        <p:tgtEl>
                                          <p:spTgt spid="848011"/>
                                        </p:tgtEl>
                                        <p:attrNameLst>
                                          <p:attrName>style.visibility</p:attrName>
                                        </p:attrNameLst>
                                      </p:cBhvr>
                                      <p:to>
                                        <p:strVal val="visible"/>
                                      </p:to>
                                    </p:set>
                                    <p:animEffect transition="in" filter="box(out)">
                                      <p:cBhvr>
                                        <p:cTn id="95" dur="1000"/>
                                        <p:tgtEl>
                                          <p:spTgt spid="848011"/>
                                        </p:tgtEl>
                                      </p:cBhvr>
                                    </p:animEffect>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6" fill="hold">
                            <p:stCondLst>
                              <p:cond delay="7500"/>
                            </p:stCondLst>
                            <p:childTnLst>
                              <p:par>
                                <p:cTn id="97" presetID="18" presetClass="entr" presetSubtype="12" fill="hold" nodeType="afterEffect">
                                  <p:stCondLst>
                                    <p:cond delay="0"/>
                                  </p:stCondLst>
                                  <p:childTnLst>
                                    <p:set>
                                      <p:cBhvr>
                                        <p:cTn id="98" dur="1" fill="hold">
                                          <p:stCondLst>
                                            <p:cond delay="0"/>
                                          </p:stCondLst>
                                        </p:cTn>
                                        <p:tgtEl>
                                          <p:spTgt spid="848058"/>
                                        </p:tgtEl>
                                        <p:attrNameLst>
                                          <p:attrName>style.visibility</p:attrName>
                                        </p:attrNameLst>
                                      </p:cBhvr>
                                      <p:to>
                                        <p:strVal val="visible"/>
                                      </p:to>
                                    </p:set>
                                    <p:animEffect transition="in" filter="strips(downLeft)">
                                      <p:cBhvr>
                                        <p:cTn id="99" dur="1000"/>
                                        <p:tgtEl>
                                          <p:spTgt spid="848058"/>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 fill="hold">
                                          <p:stCondLst>
                                            <p:cond delay="0"/>
                                          </p:stCondLst>
                                        </p:cTn>
                                        <p:tgtEl>
                                          <p:spTgt spid="848040"/>
                                        </p:tgtEl>
                                        <p:attrNameLst>
                                          <p:attrName>style.visibility</p:attrName>
                                        </p:attrNameLst>
                                      </p:cBhvr>
                                      <p:to>
                                        <p:strVal val="visible"/>
                                      </p:to>
                                    </p:set>
                                    <p:animEffect transition="in" filter="box(out)">
                                      <p:cBhvr>
                                        <p:cTn id="104" dur="500"/>
                                        <p:tgtEl>
                                          <p:spTgt spid="848040"/>
                                        </p:tgtEl>
                                      </p:cBhvr>
                                    </p:animEffect>
                                  </p:childTnLst>
                                  <p:subTnLst>
                                    <p:audio>
                                      <p:cMediaNode>
                                        <p:cTn display="0" masterRel="sameClick">
                                          <p:stCondLst>
                                            <p:cond evt="begin" delay="0">
                                              <p:tn val="10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918" grpId="0"/>
      <p:bldP spid="847919" grpId="0" animBg="1"/>
      <p:bldP spid="847920" grpId="0"/>
      <p:bldP spid="847921" grpId="0"/>
      <p:bldP spid="847944" grpId="0" animBg="1"/>
      <p:bldP spid="847965" grpId="0" animBg="1"/>
      <p:bldP spid="847966" grpId="0" animBg="1"/>
      <p:bldP spid="848001" grpId="0"/>
      <p:bldP spid="848002" grpId="0" animBg="1"/>
      <p:bldP spid="848003" grpId="0"/>
      <p:bldP spid="848004" grpId="0"/>
      <p:bldP spid="848009" grpId="0" animBg="1"/>
      <p:bldP spid="848010" grpId="0" animBg="1"/>
      <p:bldP spid="848011" grpId="0" animBg="1"/>
      <p:bldP spid="848012" grpId="0" animBg="1"/>
      <p:bldP spid="848000" grpId="0" animBg="1" autoUpdateAnimBg="0"/>
      <p:bldP spid="84804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27" name="Rectangle 7"/>
          <p:cNvSpPr>
            <a:spLocks noChangeArrowheads="1"/>
          </p:cNvSpPr>
          <p:nvPr/>
        </p:nvSpPr>
        <p:spPr bwMode="auto">
          <a:xfrm>
            <a:off x="1198711" y="1337618"/>
            <a:ext cx="2363147"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if_else_if</a:t>
            </a:r>
            <a:r>
              <a:rPr lang="zh-CN" altLang="en-US" b="1" dirty="0">
                <a:solidFill>
                  <a:srgbClr val="C01920"/>
                </a:solidFill>
                <a:latin typeface="+mn-lt"/>
                <a:ea typeface="楷体" pitchFamily="49" charset="-122"/>
              </a:rPr>
              <a:t>形式</a:t>
            </a:r>
            <a:r>
              <a:rPr lang="zh-CN" altLang="en-US" dirty="0">
                <a:solidFill>
                  <a:srgbClr val="C01920"/>
                </a:solidFill>
                <a:latin typeface="+mn-lt"/>
                <a:ea typeface="楷体" pitchFamily="49" charset="-122"/>
              </a:rPr>
              <a:t> </a:t>
            </a:r>
          </a:p>
        </p:txBody>
      </p:sp>
      <p:sp>
        <p:nvSpPr>
          <p:cNvPr id="849928" name="Text Box 8"/>
          <p:cNvSpPr txBox="1">
            <a:spLocks noChangeArrowheads="1"/>
          </p:cNvSpPr>
          <p:nvPr/>
        </p:nvSpPr>
        <p:spPr bwMode="auto">
          <a:xfrm>
            <a:off x="6367354" y="948485"/>
            <a:ext cx="3815903" cy="2376487"/>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C01920"/>
                </a:solidFill>
                <a:latin typeface="+mn-lt"/>
                <a:ea typeface="楷体" pitchFamily="49" charset="-122"/>
              </a:rPr>
              <a:t>if(</a:t>
            </a:r>
            <a:r>
              <a:rPr lang="zh-CN" altLang="en-US" b="1" dirty="0">
                <a:solidFill>
                  <a:srgbClr val="C01920"/>
                </a:solidFill>
                <a:latin typeface="+mn-lt"/>
                <a:ea typeface="楷体" pitchFamily="49" charset="-122"/>
              </a:rPr>
              <a:t>表达式</a:t>
            </a:r>
            <a:r>
              <a:rPr lang="en-US" altLang="zh-CN" b="1" dirty="0">
                <a:solidFill>
                  <a:srgbClr val="C01920"/>
                </a:solidFill>
                <a:latin typeface="+mn-lt"/>
                <a:ea typeface="楷体" pitchFamily="49" charset="-122"/>
              </a:rPr>
              <a:t>1)           </a:t>
            </a:r>
            <a:r>
              <a:rPr lang="zh-CN" altLang="en-US" b="1" dirty="0">
                <a:solidFill>
                  <a:srgbClr val="C01920"/>
                </a:solidFill>
                <a:latin typeface="+mn-lt"/>
                <a:ea typeface="楷体" pitchFamily="49" charset="-122"/>
              </a:rPr>
              <a:t>语句</a:t>
            </a:r>
            <a:r>
              <a:rPr lang="en-US" altLang="zh-CN" b="1" dirty="0">
                <a:solidFill>
                  <a:srgbClr val="C01920"/>
                </a:solidFill>
                <a:latin typeface="+mn-lt"/>
                <a:ea typeface="楷体" pitchFamily="49" charset="-122"/>
              </a:rPr>
              <a:t>1;</a:t>
            </a:r>
          </a:p>
          <a:p>
            <a:r>
              <a:rPr lang="en-US" altLang="zh-CN" b="1" dirty="0">
                <a:solidFill>
                  <a:srgbClr val="C01920"/>
                </a:solidFill>
                <a:latin typeface="+mn-lt"/>
                <a:ea typeface="楷体" pitchFamily="49" charset="-122"/>
              </a:rPr>
              <a:t>else if (</a:t>
            </a:r>
            <a:r>
              <a:rPr lang="zh-CN" altLang="en-US" b="1" dirty="0">
                <a:solidFill>
                  <a:srgbClr val="C01920"/>
                </a:solidFill>
                <a:latin typeface="+mn-lt"/>
                <a:ea typeface="楷体" pitchFamily="49" charset="-122"/>
              </a:rPr>
              <a:t>表达式</a:t>
            </a:r>
            <a:r>
              <a:rPr lang="en-US" altLang="zh-CN" b="1" dirty="0">
                <a:solidFill>
                  <a:srgbClr val="C01920"/>
                </a:solidFill>
                <a:latin typeface="+mn-lt"/>
                <a:ea typeface="楷体" pitchFamily="49" charset="-122"/>
              </a:rPr>
              <a:t>2)   </a:t>
            </a:r>
            <a:r>
              <a:rPr lang="zh-CN" altLang="en-US" b="1" dirty="0">
                <a:solidFill>
                  <a:srgbClr val="C01920"/>
                </a:solidFill>
                <a:latin typeface="+mn-lt"/>
                <a:ea typeface="楷体" pitchFamily="49" charset="-122"/>
              </a:rPr>
              <a:t>语句</a:t>
            </a:r>
            <a:r>
              <a:rPr lang="en-US" altLang="zh-CN" b="1" dirty="0">
                <a:solidFill>
                  <a:srgbClr val="C01920"/>
                </a:solidFill>
                <a:latin typeface="+mn-lt"/>
                <a:ea typeface="楷体" pitchFamily="49" charset="-122"/>
              </a:rPr>
              <a:t>2;</a:t>
            </a:r>
          </a:p>
          <a:p>
            <a:r>
              <a:rPr lang="en-US" altLang="zh-CN" b="1" dirty="0">
                <a:solidFill>
                  <a:srgbClr val="C01920"/>
                </a:solidFill>
                <a:latin typeface="+mn-lt"/>
                <a:ea typeface="楷体" pitchFamily="49" charset="-122"/>
              </a:rPr>
              <a:t>else if (</a:t>
            </a:r>
            <a:r>
              <a:rPr lang="zh-CN" altLang="en-US" b="1" dirty="0">
                <a:solidFill>
                  <a:srgbClr val="C01920"/>
                </a:solidFill>
                <a:latin typeface="+mn-lt"/>
                <a:ea typeface="楷体" pitchFamily="49" charset="-122"/>
              </a:rPr>
              <a:t>表达式</a:t>
            </a:r>
            <a:r>
              <a:rPr lang="en-US" altLang="zh-CN" b="1" dirty="0">
                <a:solidFill>
                  <a:srgbClr val="C01920"/>
                </a:solidFill>
                <a:latin typeface="+mn-lt"/>
                <a:ea typeface="楷体" pitchFamily="49" charset="-122"/>
              </a:rPr>
              <a:t>3)   </a:t>
            </a:r>
            <a:r>
              <a:rPr lang="zh-CN" altLang="en-US" b="1" dirty="0">
                <a:solidFill>
                  <a:srgbClr val="C01920"/>
                </a:solidFill>
                <a:latin typeface="+mn-lt"/>
                <a:ea typeface="楷体" pitchFamily="49" charset="-122"/>
              </a:rPr>
              <a:t>语句</a:t>
            </a:r>
            <a:r>
              <a:rPr lang="en-US" altLang="zh-CN" b="1" dirty="0">
                <a:solidFill>
                  <a:srgbClr val="C01920"/>
                </a:solidFill>
                <a:latin typeface="+mn-lt"/>
                <a:ea typeface="楷体" pitchFamily="49" charset="-122"/>
              </a:rPr>
              <a:t>3;</a:t>
            </a:r>
          </a:p>
          <a:p>
            <a:r>
              <a:rPr lang="en-US" altLang="zh-CN" b="1" dirty="0">
                <a:solidFill>
                  <a:srgbClr val="C01920"/>
                </a:solidFill>
                <a:latin typeface="+mn-lt"/>
                <a:ea typeface="楷体" pitchFamily="49" charset="-122"/>
              </a:rPr>
              <a:t>……</a:t>
            </a:r>
          </a:p>
          <a:p>
            <a:r>
              <a:rPr lang="en-US" altLang="zh-CN" b="1" dirty="0">
                <a:solidFill>
                  <a:srgbClr val="C01920"/>
                </a:solidFill>
                <a:latin typeface="+mn-lt"/>
                <a:ea typeface="楷体" pitchFamily="49" charset="-122"/>
              </a:rPr>
              <a:t>else if (</a:t>
            </a:r>
            <a:r>
              <a:rPr lang="zh-CN" altLang="en-US" b="1" dirty="0">
                <a:solidFill>
                  <a:srgbClr val="C01920"/>
                </a:solidFill>
                <a:latin typeface="+mn-lt"/>
                <a:ea typeface="楷体" pitchFamily="49" charset="-122"/>
              </a:rPr>
              <a:t>表达式</a:t>
            </a:r>
            <a:r>
              <a:rPr lang="en-US" altLang="zh-CN" b="1" dirty="0">
                <a:solidFill>
                  <a:srgbClr val="C01920"/>
                </a:solidFill>
                <a:latin typeface="+mn-lt"/>
                <a:ea typeface="楷体" pitchFamily="49" charset="-122"/>
              </a:rPr>
              <a:t>n)   </a:t>
            </a:r>
            <a:r>
              <a:rPr lang="zh-CN" altLang="en-US" b="1" dirty="0">
                <a:solidFill>
                  <a:srgbClr val="C01920"/>
                </a:solidFill>
                <a:latin typeface="+mn-lt"/>
                <a:ea typeface="楷体" pitchFamily="49" charset="-122"/>
              </a:rPr>
              <a:t>语句</a:t>
            </a:r>
            <a:r>
              <a:rPr lang="en-US" altLang="zh-CN" b="1" dirty="0">
                <a:solidFill>
                  <a:srgbClr val="C01920"/>
                </a:solidFill>
                <a:latin typeface="+mn-lt"/>
                <a:ea typeface="楷体" pitchFamily="49" charset="-122"/>
              </a:rPr>
              <a:t>n;</a:t>
            </a:r>
          </a:p>
          <a:p>
            <a:r>
              <a:rPr lang="en-US" altLang="zh-CN" b="1" dirty="0">
                <a:solidFill>
                  <a:srgbClr val="C01920"/>
                </a:solidFill>
                <a:latin typeface="+mn-lt"/>
                <a:ea typeface="楷体" pitchFamily="49" charset="-122"/>
              </a:rPr>
              <a:t>else </a:t>
            </a:r>
            <a:r>
              <a:rPr lang="zh-CN" altLang="en-US" b="1" dirty="0">
                <a:solidFill>
                  <a:srgbClr val="C01920"/>
                </a:solidFill>
                <a:latin typeface="+mn-lt"/>
                <a:ea typeface="楷体" pitchFamily="49" charset="-122"/>
              </a:rPr>
              <a:t>语句</a:t>
            </a:r>
            <a:r>
              <a:rPr lang="en-US" altLang="zh-CN" b="1" dirty="0">
                <a:solidFill>
                  <a:srgbClr val="C01920"/>
                </a:solidFill>
                <a:latin typeface="+mn-lt"/>
                <a:ea typeface="楷体" pitchFamily="49" charset="-122"/>
              </a:rPr>
              <a:t>n+1;</a:t>
            </a:r>
          </a:p>
        </p:txBody>
      </p:sp>
      <p:sp>
        <p:nvSpPr>
          <p:cNvPr id="849929" name="Rectangle 9"/>
          <p:cNvSpPr>
            <a:spLocks noChangeArrowheads="1"/>
          </p:cNvSpPr>
          <p:nvPr/>
        </p:nvSpPr>
        <p:spPr bwMode="auto">
          <a:xfrm>
            <a:off x="1414611" y="1819299"/>
            <a:ext cx="1331913"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格式</a:t>
            </a: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a:t>
            </a:r>
            <a:endParaRPr lang="en-US" altLang="zh-CN" dirty="0">
              <a:solidFill>
                <a:srgbClr val="002060"/>
              </a:solidFill>
              <a:latin typeface="楷体" pitchFamily="49" charset="-122"/>
              <a:ea typeface="楷体" pitchFamily="49" charset="-122"/>
            </a:endParaRPr>
          </a:p>
        </p:txBody>
      </p:sp>
      <p:sp>
        <p:nvSpPr>
          <p:cNvPr id="849930" name="Rectangle 10"/>
          <p:cNvSpPr>
            <a:spLocks noChangeArrowheads="1"/>
          </p:cNvSpPr>
          <p:nvPr/>
        </p:nvSpPr>
        <p:spPr bwMode="auto">
          <a:xfrm>
            <a:off x="1414611" y="3490912"/>
            <a:ext cx="2097087" cy="457200"/>
          </a:xfrm>
          <a:prstGeom prst="rect">
            <a:avLst/>
          </a:prstGeom>
          <a:noFill/>
          <a:ln w="9525">
            <a:noFill/>
            <a:miter lim="800000"/>
            <a:headEnd/>
            <a:tailEnd/>
          </a:ln>
          <a:effectLst/>
        </p:spPr>
        <p:txBody>
          <a:bodyPr wrap="none" anchor="ctr">
            <a:spAutoFit/>
          </a:bodyPr>
          <a:lstStyle/>
          <a:p>
            <a:pPr>
              <a:buFont typeface="Wingdings" pitchFamily="2" charset="2"/>
              <a:buChar char="l"/>
            </a:pP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执行流程：</a:t>
            </a:r>
            <a:endParaRPr lang="zh-CN" altLang="en-US" dirty="0">
              <a:solidFill>
                <a:srgbClr val="002060"/>
              </a:solidFill>
              <a:latin typeface="楷体" pitchFamily="49" charset="-122"/>
              <a:ea typeface="楷体" pitchFamily="49" charset="-122"/>
            </a:endParaRPr>
          </a:p>
        </p:txBody>
      </p:sp>
      <p:grpSp>
        <p:nvGrpSpPr>
          <p:cNvPr id="849974" name="Group 54"/>
          <p:cNvGrpSpPr>
            <a:grpSpLocks/>
          </p:cNvGrpSpPr>
          <p:nvPr/>
        </p:nvGrpSpPr>
        <p:grpSpPr bwMode="auto">
          <a:xfrm>
            <a:off x="3212802" y="3395936"/>
            <a:ext cx="1908175" cy="495300"/>
            <a:chOff x="6744" y="1437"/>
            <a:chExt cx="1356" cy="486"/>
          </a:xfrm>
        </p:grpSpPr>
        <p:sp>
          <p:nvSpPr>
            <p:cNvPr id="849975" name="AutoShape 55"/>
            <p:cNvSpPr>
              <a:spLocks noChangeArrowheads="1"/>
            </p:cNvSpPr>
            <p:nvPr/>
          </p:nvSpPr>
          <p:spPr bwMode="auto">
            <a:xfrm>
              <a:off x="6744" y="1437"/>
              <a:ext cx="1356" cy="471"/>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endParaRPr lang="zh-CN" altLang="en-US" sz="2000" b="1">
                <a:solidFill>
                  <a:schemeClr val="dk1"/>
                </a:solidFill>
                <a:latin typeface="楷体" pitchFamily="49" charset="-122"/>
                <a:ea typeface="楷体" pitchFamily="49" charset="-122"/>
              </a:endParaRPr>
            </a:p>
          </p:txBody>
        </p:sp>
        <p:sp>
          <p:nvSpPr>
            <p:cNvPr id="849976" name="Text Box 56"/>
            <p:cNvSpPr txBox="1">
              <a:spLocks noChangeArrowheads="1"/>
            </p:cNvSpPr>
            <p:nvPr/>
          </p:nvSpPr>
          <p:spPr bwMode="auto">
            <a:xfrm>
              <a:off x="6975" y="1455"/>
              <a:ext cx="1080" cy="468"/>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zh-CN"/>
              </a:defPPr>
              <a:lvl1pPr algn="ctr">
                <a:defRPr sz="2000" b="1">
                  <a:solidFill>
                    <a:schemeClr val="dk1"/>
                  </a:solidFill>
                  <a:effectLst>
                    <a:outerShdw blurRad="38100" dist="38100" dir="2700000" algn="tl">
                      <a:srgbClr val="FFFFFF"/>
                    </a:outerShdw>
                  </a:effectLst>
                  <a:latin typeface="楷体" pitchFamily="49" charset="-122"/>
                  <a:ea typeface="楷体" pitchFamily="49" charset="-122"/>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effectLst/>
                </a:rPr>
                <a:t>表达式</a:t>
              </a:r>
              <a:r>
                <a:rPr lang="en-US" altLang="zh-CN" dirty="0">
                  <a:effectLst/>
                </a:rPr>
                <a:t>1</a:t>
              </a:r>
            </a:p>
          </p:txBody>
        </p:sp>
      </p:grpSp>
      <p:sp>
        <p:nvSpPr>
          <p:cNvPr id="849980" name="Line 60"/>
          <p:cNvSpPr>
            <a:spLocks noChangeShapeType="1"/>
          </p:cNvSpPr>
          <p:nvPr/>
        </p:nvSpPr>
        <p:spPr bwMode="auto">
          <a:xfrm>
            <a:off x="4138504" y="3081611"/>
            <a:ext cx="0" cy="31750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nvGrpSpPr>
          <p:cNvPr id="850037" name="Group 117"/>
          <p:cNvGrpSpPr>
            <a:grpSpLocks/>
          </p:cNvGrpSpPr>
          <p:nvPr/>
        </p:nvGrpSpPr>
        <p:grpSpPr bwMode="auto">
          <a:xfrm>
            <a:off x="5136852" y="3299099"/>
            <a:ext cx="447675" cy="563563"/>
            <a:chOff x="3049" y="2535"/>
            <a:chExt cx="282" cy="355"/>
          </a:xfrm>
        </p:grpSpPr>
        <p:sp>
          <p:nvSpPr>
            <p:cNvPr id="849986" name="Text Box 66"/>
            <p:cNvSpPr txBox="1">
              <a:spLocks noChangeArrowheads="1"/>
            </p:cNvSpPr>
            <p:nvPr/>
          </p:nvSpPr>
          <p:spPr bwMode="auto">
            <a:xfrm>
              <a:off x="3092" y="2535"/>
              <a:ext cx="186" cy="177"/>
            </a:xfrm>
            <a:prstGeom prst="rect">
              <a:avLst/>
            </a:prstGeom>
            <a:noFill/>
            <a:ln w="9525">
              <a:noFill/>
              <a:miter lim="800000"/>
              <a:headEnd/>
              <a:tailEnd/>
            </a:ln>
          </p:spPr>
          <p:txBody>
            <a:bodyPr/>
            <a:lstStyle/>
            <a:p>
              <a:pPr algn="just"/>
              <a:r>
                <a:rPr lang="en-US" altLang="zh-CN" sz="1800" b="1" dirty="0">
                  <a:solidFill>
                    <a:srgbClr val="002060"/>
                  </a:solidFill>
                </a:rPr>
                <a:t>F</a:t>
              </a:r>
            </a:p>
          </p:txBody>
        </p:sp>
        <p:grpSp>
          <p:nvGrpSpPr>
            <p:cNvPr id="850024" name="Group 104"/>
            <p:cNvGrpSpPr>
              <a:grpSpLocks/>
            </p:cNvGrpSpPr>
            <p:nvPr/>
          </p:nvGrpSpPr>
          <p:grpSpPr bwMode="auto">
            <a:xfrm>
              <a:off x="3049" y="2744"/>
              <a:ext cx="282" cy="146"/>
              <a:chOff x="3049" y="2744"/>
              <a:chExt cx="282" cy="146"/>
            </a:xfrm>
          </p:grpSpPr>
          <p:sp>
            <p:nvSpPr>
              <p:cNvPr id="849985" name="Line 65"/>
              <p:cNvSpPr>
                <a:spLocks noChangeShapeType="1"/>
              </p:cNvSpPr>
              <p:nvPr/>
            </p:nvSpPr>
            <p:spPr bwMode="auto">
              <a:xfrm flipH="1">
                <a:off x="3049" y="2746"/>
                <a:ext cx="272"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849987" name="Line 67"/>
              <p:cNvSpPr>
                <a:spLocks noChangeShapeType="1"/>
              </p:cNvSpPr>
              <p:nvPr/>
            </p:nvSpPr>
            <p:spPr bwMode="auto">
              <a:xfrm>
                <a:off x="3331" y="2744"/>
                <a:ext cx="0" cy="146"/>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grpSp>
        <p:nvGrpSpPr>
          <p:cNvPr id="849988" name="Group 68"/>
          <p:cNvGrpSpPr>
            <a:grpSpLocks/>
          </p:cNvGrpSpPr>
          <p:nvPr/>
        </p:nvGrpSpPr>
        <p:grpSpPr bwMode="auto">
          <a:xfrm>
            <a:off x="4655840" y="3857898"/>
            <a:ext cx="1908175" cy="495300"/>
            <a:chOff x="6744" y="1437"/>
            <a:chExt cx="1356" cy="486"/>
          </a:xfrm>
        </p:grpSpPr>
        <p:sp>
          <p:nvSpPr>
            <p:cNvPr id="849989" name="AutoShape 69"/>
            <p:cNvSpPr>
              <a:spLocks noChangeArrowheads="1"/>
            </p:cNvSpPr>
            <p:nvPr/>
          </p:nvSpPr>
          <p:spPr bwMode="auto">
            <a:xfrm>
              <a:off x="6744" y="1437"/>
              <a:ext cx="1356" cy="471"/>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endParaRPr lang="zh-CN" altLang="en-US" sz="2000" b="1">
                <a:solidFill>
                  <a:schemeClr val="dk1"/>
                </a:solidFill>
                <a:latin typeface="楷体" pitchFamily="49" charset="-122"/>
                <a:ea typeface="楷体" pitchFamily="49" charset="-122"/>
              </a:endParaRPr>
            </a:p>
          </p:txBody>
        </p:sp>
        <p:sp>
          <p:nvSpPr>
            <p:cNvPr id="849990" name="Text Box 70"/>
            <p:cNvSpPr txBox="1">
              <a:spLocks noChangeArrowheads="1"/>
            </p:cNvSpPr>
            <p:nvPr/>
          </p:nvSpPr>
          <p:spPr bwMode="auto">
            <a:xfrm>
              <a:off x="6975" y="1455"/>
              <a:ext cx="1080" cy="468"/>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zh-CN"/>
              </a:defPPr>
              <a:lvl1pPr algn="ctr">
                <a:defRPr sz="2000" b="1">
                  <a:solidFill>
                    <a:schemeClr val="dk1"/>
                  </a:solidFill>
                  <a:effectLst>
                    <a:outerShdw blurRad="38100" dist="38100" dir="2700000" algn="tl">
                      <a:srgbClr val="FFFFFF"/>
                    </a:outerShdw>
                  </a:effectLst>
                  <a:latin typeface="楷体" pitchFamily="49" charset="-122"/>
                  <a:ea typeface="楷体" pitchFamily="49" charset="-122"/>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a:effectLst/>
                </a:rPr>
                <a:t>表达式</a:t>
              </a:r>
              <a:r>
                <a:rPr lang="en-US" altLang="zh-CN" dirty="0">
                  <a:effectLst/>
                </a:rPr>
                <a:t>2</a:t>
              </a:r>
            </a:p>
          </p:txBody>
        </p:sp>
      </p:grpSp>
      <p:grpSp>
        <p:nvGrpSpPr>
          <p:cNvPr id="849991" name="Group 71"/>
          <p:cNvGrpSpPr>
            <a:grpSpLocks/>
          </p:cNvGrpSpPr>
          <p:nvPr/>
        </p:nvGrpSpPr>
        <p:grpSpPr bwMode="auto">
          <a:xfrm>
            <a:off x="6083002" y="4353198"/>
            <a:ext cx="1908175" cy="495300"/>
            <a:chOff x="6744" y="1437"/>
            <a:chExt cx="1356" cy="486"/>
          </a:xfrm>
        </p:grpSpPr>
        <p:sp>
          <p:nvSpPr>
            <p:cNvPr id="849992" name="AutoShape 72"/>
            <p:cNvSpPr>
              <a:spLocks noChangeArrowheads="1"/>
            </p:cNvSpPr>
            <p:nvPr/>
          </p:nvSpPr>
          <p:spPr bwMode="auto">
            <a:xfrm>
              <a:off x="6744" y="1437"/>
              <a:ext cx="1356" cy="471"/>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endParaRPr lang="zh-CN" altLang="en-US" sz="2000" b="1">
                <a:solidFill>
                  <a:schemeClr val="dk1"/>
                </a:solidFill>
                <a:latin typeface="楷体" pitchFamily="49" charset="-122"/>
                <a:ea typeface="楷体" pitchFamily="49" charset="-122"/>
              </a:endParaRPr>
            </a:p>
          </p:txBody>
        </p:sp>
        <p:sp>
          <p:nvSpPr>
            <p:cNvPr id="849993" name="Text Box 73"/>
            <p:cNvSpPr txBox="1">
              <a:spLocks noChangeArrowheads="1"/>
            </p:cNvSpPr>
            <p:nvPr/>
          </p:nvSpPr>
          <p:spPr bwMode="auto">
            <a:xfrm>
              <a:off x="6975" y="1455"/>
              <a:ext cx="1080" cy="468"/>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zh-CN"/>
              </a:defPPr>
              <a:lvl1pPr algn="ctr">
                <a:defRPr sz="2000" b="1">
                  <a:solidFill>
                    <a:schemeClr val="dk1"/>
                  </a:solidFill>
                  <a:effectLst>
                    <a:outerShdw blurRad="38100" dist="38100" dir="2700000" algn="tl">
                      <a:srgbClr val="FFFFFF"/>
                    </a:outerShdw>
                  </a:effectLst>
                  <a:latin typeface="楷体" pitchFamily="49" charset="-122"/>
                  <a:ea typeface="楷体" pitchFamily="49" charset="-122"/>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a:effectLst/>
                </a:rPr>
                <a:t>表达式</a:t>
              </a:r>
              <a:r>
                <a:rPr lang="en-US" altLang="zh-CN">
                  <a:effectLst/>
                </a:rPr>
                <a:t>3</a:t>
              </a:r>
            </a:p>
          </p:txBody>
        </p:sp>
      </p:grpSp>
      <p:grpSp>
        <p:nvGrpSpPr>
          <p:cNvPr id="850040" name="Group 120"/>
          <p:cNvGrpSpPr>
            <a:grpSpLocks/>
          </p:cNvGrpSpPr>
          <p:nvPr/>
        </p:nvGrpSpPr>
        <p:grpSpPr bwMode="auto">
          <a:xfrm>
            <a:off x="6581477" y="3764236"/>
            <a:ext cx="434975" cy="565150"/>
            <a:chOff x="3948" y="2828"/>
            <a:chExt cx="274" cy="356"/>
          </a:xfrm>
        </p:grpSpPr>
        <p:sp>
          <p:nvSpPr>
            <p:cNvPr id="849996" name="Text Box 76"/>
            <p:cNvSpPr txBox="1">
              <a:spLocks noChangeArrowheads="1"/>
            </p:cNvSpPr>
            <p:nvPr/>
          </p:nvSpPr>
          <p:spPr bwMode="auto">
            <a:xfrm>
              <a:off x="3991" y="2828"/>
              <a:ext cx="202" cy="156"/>
            </a:xfrm>
            <a:prstGeom prst="rect">
              <a:avLst/>
            </a:prstGeom>
            <a:noFill/>
            <a:ln w="9525">
              <a:noFill/>
              <a:miter lim="800000"/>
              <a:headEnd/>
              <a:tailEnd/>
            </a:ln>
          </p:spPr>
          <p:txBody>
            <a:bodyPr/>
            <a:lstStyle/>
            <a:p>
              <a:pPr algn="just"/>
              <a:r>
                <a:rPr lang="en-US" altLang="zh-CN" sz="1800" b="1">
                  <a:solidFill>
                    <a:srgbClr val="002060"/>
                  </a:solidFill>
                </a:rPr>
                <a:t>F</a:t>
              </a:r>
            </a:p>
          </p:txBody>
        </p:sp>
        <p:grpSp>
          <p:nvGrpSpPr>
            <p:cNvPr id="850038" name="Group 118"/>
            <p:cNvGrpSpPr>
              <a:grpSpLocks/>
            </p:cNvGrpSpPr>
            <p:nvPr/>
          </p:nvGrpSpPr>
          <p:grpSpPr bwMode="auto">
            <a:xfrm>
              <a:off x="3948" y="3038"/>
              <a:ext cx="274" cy="146"/>
              <a:chOff x="3948" y="3038"/>
              <a:chExt cx="274" cy="146"/>
            </a:xfrm>
          </p:grpSpPr>
          <p:sp>
            <p:nvSpPr>
              <p:cNvPr id="849995" name="Line 75"/>
              <p:cNvSpPr>
                <a:spLocks noChangeShapeType="1"/>
              </p:cNvSpPr>
              <p:nvPr/>
            </p:nvSpPr>
            <p:spPr bwMode="auto">
              <a:xfrm flipH="1">
                <a:off x="3948" y="3040"/>
                <a:ext cx="271"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849997" name="Line 77"/>
              <p:cNvSpPr>
                <a:spLocks noChangeShapeType="1"/>
              </p:cNvSpPr>
              <p:nvPr/>
            </p:nvSpPr>
            <p:spPr bwMode="auto">
              <a:xfrm>
                <a:off x="4222" y="3038"/>
                <a:ext cx="0" cy="146"/>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grpSp>
        <p:nvGrpSpPr>
          <p:cNvPr id="850036" name="Group 116"/>
          <p:cNvGrpSpPr>
            <a:grpSpLocks/>
          </p:cNvGrpSpPr>
          <p:nvPr/>
        </p:nvGrpSpPr>
        <p:grpSpPr bwMode="auto">
          <a:xfrm>
            <a:off x="3847802" y="3891237"/>
            <a:ext cx="288925" cy="1711325"/>
            <a:chOff x="2237" y="2908"/>
            <a:chExt cx="227" cy="764"/>
          </a:xfrm>
        </p:grpSpPr>
        <p:sp>
          <p:nvSpPr>
            <p:cNvPr id="850005" name="Text Box 85"/>
            <p:cNvSpPr txBox="1">
              <a:spLocks noChangeArrowheads="1"/>
            </p:cNvSpPr>
            <p:nvPr/>
          </p:nvSpPr>
          <p:spPr bwMode="auto">
            <a:xfrm>
              <a:off x="2237" y="3075"/>
              <a:ext cx="227" cy="227"/>
            </a:xfrm>
            <a:prstGeom prst="rect">
              <a:avLst/>
            </a:prstGeom>
            <a:noFill/>
            <a:ln w="9525">
              <a:noFill/>
              <a:miter lim="800000"/>
              <a:headEnd/>
              <a:tailEnd/>
            </a:ln>
          </p:spPr>
          <p:txBody>
            <a:bodyPr/>
            <a:lstStyle/>
            <a:p>
              <a:pPr algn="just"/>
              <a:r>
                <a:rPr lang="en-US" altLang="zh-CN" sz="1800" b="1"/>
                <a:t>T</a:t>
              </a:r>
            </a:p>
          </p:txBody>
        </p:sp>
        <p:sp>
          <p:nvSpPr>
            <p:cNvPr id="850006" name="Line 86"/>
            <p:cNvSpPr>
              <a:spLocks noChangeShapeType="1"/>
            </p:cNvSpPr>
            <p:nvPr/>
          </p:nvSpPr>
          <p:spPr bwMode="auto">
            <a:xfrm>
              <a:off x="2441" y="2908"/>
              <a:ext cx="0" cy="764"/>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34" name="Group 114"/>
          <p:cNvGrpSpPr>
            <a:grpSpLocks/>
          </p:cNvGrpSpPr>
          <p:nvPr/>
        </p:nvGrpSpPr>
        <p:grpSpPr bwMode="auto">
          <a:xfrm>
            <a:off x="9681864" y="4753248"/>
            <a:ext cx="431800" cy="839788"/>
            <a:chOff x="4847" y="3140"/>
            <a:chExt cx="276" cy="529"/>
          </a:xfrm>
        </p:grpSpPr>
        <p:grpSp>
          <p:nvGrpSpPr>
            <p:cNvPr id="850033" name="Group 113"/>
            <p:cNvGrpSpPr>
              <a:grpSpLocks/>
            </p:cNvGrpSpPr>
            <p:nvPr/>
          </p:nvGrpSpPr>
          <p:grpSpPr bwMode="auto">
            <a:xfrm>
              <a:off x="4847" y="3348"/>
              <a:ext cx="276" cy="321"/>
              <a:chOff x="4847" y="3348"/>
              <a:chExt cx="276" cy="321"/>
            </a:xfrm>
          </p:grpSpPr>
          <p:sp>
            <p:nvSpPr>
              <p:cNvPr id="850008" name="Line 88"/>
              <p:cNvSpPr>
                <a:spLocks noChangeShapeType="1"/>
              </p:cNvSpPr>
              <p:nvPr/>
            </p:nvSpPr>
            <p:spPr bwMode="auto">
              <a:xfrm>
                <a:off x="4847" y="3348"/>
                <a:ext cx="276"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850009" name="Line 89"/>
              <p:cNvSpPr>
                <a:spLocks noChangeShapeType="1"/>
              </p:cNvSpPr>
              <p:nvPr/>
            </p:nvSpPr>
            <p:spPr bwMode="auto">
              <a:xfrm>
                <a:off x="5118" y="3359"/>
                <a:ext cx="0" cy="310"/>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10" name="Text Box 90"/>
            <p:cNvSpPr txBox="1">
              <a:spLocks noChangeArrowheads="1"/>
            </p:cNvSpPr>
            <p:nvPr/>
          </p:nvSpPr>
          <p:spPr bwMode="auto">
            <a:xfrm>
              <a:off x="4892" y="3140"/>
              <a:ext cx="147" cy="207"/>
            </a:xfrm>
            <a:prstGeom prst="rect">
              <a:avLst/>
            </a:prstGeom>
            <a:noFill/>
            <a:ln w="9525">
              <a:noFill/>
              <a:miter lim="800000"/>
              <a:headEnd/>
              <a:tailEnd/>
            </a:ln>
          </p:spPr>
          <p:txBody>
            <a:bodyPr/>
            <a:lstStyle/>
            <a:p>
              <a:pPr algn="just"/>
              <a:r>
                <a:rPr lang="en-US" altLang="zh-CN" sz="1800" b="1" dirty="0">
                  <a:solidFill>
                    <a:schemeClr val="accent2"/>
                  </a:solidFill>
                </a:rPr>
                <a:t>F</a:t>
              </a:r>
            </a:p>
          </p:txBody>
        </p:sp>
      </p:grpSp>
      <p:grpSp>
        <p:nvGrpSpPr>
          <p:cNvPr id="850035" name="Group 115"/>
          <p:cNvGrpSpPr>
            <a:grpSpLocks/>
          </p:cNvGrpSpPr>
          <p:nvPr/>
        </p:nvGrpSpPr>
        <p:grpSpPr bwMode="auto">
          <a:xfrm>
            <a:off x="5305126" y="4353199"/>
            <a:ext cx="342900" cy="1249363"/>
            <a:chOff x="3155" y="3199"/>
            <a:chExt cx="190" cy="474"/>
          </a:xfrm>
        </p:grpSpPr>
        <p:sp>
          <p:nvSpPr>
            <p:cNvPr id="850012" name="Line 92"/>
            <p:cNvSpPr>
              <a:spLocks noChangeShapeType="1"/>
            </p:cNvSpPr>
            <p:nvPr/>
          </p:nvSpPr>
          <p:spPr bwMode="auto">
            <a:xfrm>
              <a:off x="3345" y="3199"/>
              <a:ext cx="0" cy="474"/>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a:lstStyle/>
            <a:p>
              <a:endParaRPr lang="zh-CN" altLang="en-US"/>
            </a:p>
          </p:txBody>
        </p:sp>
        <p:sp>
          <p:nvSpPr>
            <p:cNvPr id="850013" name="Text Box 93"/>
            <p:cNvSpPr txBox="1">
              <a:spLocks noChangeArrowheads="1"/>
            </p:cNvSpPr>
            <p:nvPr/>
          </p:nvSpPr>
          <p:spPr bwMode="auto">
            <a:xfrm>
              <a:off x="3155" y="3273"/>
              <a:ext cx="164" cy="215"/>
            </a:xfrm>
            <a:prstGeom prst="rect">
              <a:avLst/>
            </a:prstGeom>
            <a:noFill/>
            <a:ln w="9525">
              <a:noFill/>
              <a:miter lim="800000"/>
              <a:headEnd/>
              <a:tailEnd/>
            </a:ln>
          </p:spPr>
          <p:txBody>
            <a:bodyPr/>
            <a:lstStyle/>
            <a:p>
              <a:pPr algn="just"/>
              <a:r>
                <a:rPr lang="en-US" altLang="zh-CN" sz="1800" b="1" dirty="0"/>
                <a:t>T</a:t>
              </a:r>
            </a:p>
          </p:txBody>
        </p:sp>
      </p:grpSp>
      <p:grpSp>
        <p:nvGrpSpPr>
          <p:cNvPr id="850055" name="Group 135"/>
          <p:cNvGrpSpPr>
            <a:grpSpLocks/>
          </p:cNvGrpSpPr>
          <p:nvPr/>
        </p:nvGrpSpPr>
        <p:grpSpPr bwMode="auto">
          <a:xfrm>
            <a:off x="6713239" y="4810399"/>
            <a:ext cx="317500" cy="792163"/>
            <a:chOff x="3224" y="3158"/>
            <a:chExt cx="200" cy="499"/>
          </a:xfrm>
        </p:grpSpPr>
        <p:sp>
          <p:nvSpPr>
            <p:cNvPr id="850015" name="Line 95"/>
            <p:cNvSpPr>
              <a:spLocks noChangeShapeType="1"/>
            </p:cNvSpPr>
            <p:nvPr/>
          </p:nvSpPr>
          <p:spPr bwMode="auto">
            <a:xfrm>
              <a:off x="3424" y="3158"/>
              <a:ext cx="0" cy="499"/>
            </a:xfrm>
            <a:prstGeom prst="line">
              <a:avLst/>
            </a:prstGeom>
            <a:noFill/>
            <a:ln w="28575">
              <a:solidFill>
                <a:schemeClr val="accent1">
                  <a:lumMod val="50000"/>
                </a:schemeClr>
              </a:solidFill>
              <a:round/>
              <a:headEnd/>
              <a:tailEnd type="stealth" w="lg" len="lg"/>
            </a:ln>
            <a:effectLst>
              <a:outerShdw dist="35921" dir="2700000" algn="ctr" rotWithShape="0">
                <a:srgbClr val="808080"/>
              </a:outerShdw>
            </a:effectLst>
          </p:spPr>
          <p:txBody>
            <a:bodyPr/>
            <a:lstStyle/>
            <a:p>
              <a:endParaRPr lang="zh-CN" altLang="en-US"/>
            </a:p>
          </p:txBody>
        </p:sp>
        <p:sp>
          <p:nvSpPr>
            <p:cNvPr id="850016" name="Text Box 96"/>
            <p:cNvSpPr txBox="1">
              <a:spLocks noChangeArrowheads="1"/>
            </p:cNvSpPr>
            <p:nvPr/>
          </p:nvSpPr>
          <p:spPr bwMode="auto">
            <a:xfrm>
              <a:off x="3224" y="3239"/>
              <a:ext cx="155" cy="236"/>
            </a:xfrm>
            <a:prstGeom prst="rect">
              <a:avLst/>
            </a:prstGeom>
            <a:noFill/>
            <a:ln w="9525">
              <a:noFill/>
              <a:miter lim="800000"/>
              <a:headEnd/>
              <a:tailEnd/>
            </a:ln>
          </p:spPr>
          <p:txBody>
            <a:bodyPr/>
            <a:lstStyle/>
            <a:p>
              <a:pPr algn="just"/>
              <a:r>
                <a:rPr lang="en-US" altLang="zh-CN" sz="1800" b="1"/>
                <a:t>T</a:t>
              </a:r>
            </a:p>
          </p:txBody>
        </p:sp>
      </p:grpSp>
      <p:grpSp>
        <p:nvGrpSpPr>
          <p:cNvPr id="850069" name="Group 149"/>
          <p:cNvGrpSpPr>
            <a:grpSpLocks/>
          </p:cNvGrpSpPr>
          <p:nvPr/>
        </p:nvGrpSpPr>
        <p:grpSpPr bwMode="auto">
          <a:xfrm>
            <a:off x="7953077" y="4259536"/>
            <a:ext cx="809625" cy="565150"/>
            <a:chOff x="4014" y="2811"/>
            <a:chExt cx="510" cy="356"/>
          </a:xfrm>
        </p:grpSpPr>
        <p:grpSp>
          <p:nvGrpSpPr>
            <p:cNvPr id="850046" name="Group 126"/>
            <p:cNvGrpSpPr>
              <a:grpSpLocks/>
            </p:cNvGrpSpPr>
            <p:nvPr/>
          </p:nvGrpSpPr>
          <p:grpSpPr bwMode="auto">
            <a:xfrm>
              <a:off x="4250" y="2811"/>
              <a:ext cx="274" cy="356"/>
              <a:chOff x="3948" y="2828"/>
              <a:chExt cx="274" cy="356"/>
            </a:xfrm>
          </p:grpSpPr>
          <p:sp>
            <p:nvSpPr>
              <p:cNvPr id="850047" name="Text Box 127"/>
              <p:cNvSpPr txBox="1">
                <a:spLocks noChangeArrowheads="1"/>
              </p:cNvSpPr>
              <p:nvPr/>
            </p:nvSpPr>
            <p:spPr bwMode="auto">
              <a:xfrm>
                <a:off x="3991" y="2828"/>
                <a:ext cx="202" cy="156"/>
              </a:xfrm>
              <a:prstGeom prst="rect">
                <a:avLst/>
              </a:prstGeom>
              <a:noFill/>
              <a:ln w="9525">
                <a:noFill/>
                <a:miter lim="800000"/>
                <a:headEnd/>
                <a:tailEnd/>
              </a:ln>
            </p:spPr>
            <p:txBody>
              <a:bodyPr/>
              <a:lstStyle/>
              <a:p>
                <a:pPr algn="just"/>
                <a:r>
                  <a:rPr lang="en-US" altLang="zh-CN" sz="1800" b="1">
                    <a:solidFill>
                      <a:srgbClr val="002060"/>
                    </a:solidFill>
                  </a:rPr>
                  <a:t>F</a:t>
                </a:r>
              </a:p>
            </p:txBody>
          </p:sp>
          <p:grpSp>
            <p:nvGrpSpPr>
              <p:cNvPr id="850048" name="Group 128"/>
              <p:cNvGrpSpPr>
                <a:grpSpLocks/>
              </p:cNvGrpSpPr>
              <p:nvPr/>
            </p:nvGrpSpPr>
            <p:grpSpPr bwMode="auto">
              <a:xfrm>
                <a:off x="3948" y="3038"/>
                <a:ext cx="274" cy="146"/>
                <a:chOff x="3948" y="3038"/>
                <a:chExt cx="274" cy="146"/>
              </a:xfrm>
            </p:grpSpPr>
            <p:sp>
              <p:nvSpPr>
                <p:cNvPr id="850049" name="Line 129"/>
                <p:cNvSpPr>
                  <a:spLocks noChangeShapeType="1"/>
                </p:cNvSpPr>
                <p:nvPr/>
              </p:nvSpPr>
              <p:spPr bwMode="auto">
                <a:xfrm flipH="1">
                  <a:off x="3948" y="3040"/>
                  <a:ext cx="271" cy="0"/>
                </a:xfrm>
                <a:prstGeom prst="line">
                  <a:avLst/>
                </a:prstGeom>
                <a:noFill/>
                <a:ln w="28575">
                  <a:solidFill>
                    <a:srgbClr val="C01920"/>
                  </a:solidFill>
                  <a:round/>
                  <a:headEnd/>
                  <a:tailEnd/>
                </a:ln>
                <a:effectLst>
                  <a:outerShdw dist="35921" dir="2700000" algn="ctr" rotWithShape="0">
                    <a:srgbClr val="808080"/>
                  </a:outerShdw>
                </a:effectLst>
              </p:spPr>
              <p:txBody>
                <a:bodyPr/>
                <a:lstStyle/>
                <a:p>
                  <a:endParaRPr lang="zh-CN" altLang="en-US"/>
                </a:p>
              </p:txBody>
            </p:sp>
            <p:sp>
              <p:nvSpPr>
                <p:cNvPr id="850050" name="Line 130"/>
                <p:cNvSpPr>
                  <a:spLocks noChangeShapeType="1"/>
                </p:cNvSpPr>
                <p:nvPr/>
              </p:nvSpPr>
              <p:spPr bwMode="auto">
                <a:xfrm>
                  <a:off x="4222" y="3038"/>
                  <a:ext cx="0" cy="146"/>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grpSp>
        </p:grpSp>
        <p:sp>
          <p:nvSpPr>
            <p:cNvPr id="850051" name="Line 131"/>
            <p:cNvSpPr>
              <a:spLocks noChangeShapeType="1"/>
            </p:cNvSpPr>
            <p:nvPr/>
          </p:nvSpPr>
          <p:spPr bwMode="auto">
            <a:xfrm>
              <a:off x="4014" y="3022"/>
              <a:ext cx="227" cy="0"/>
            </a:xfrm>
            <a:prstGeom prst="line">
              <a:avLst/>
            </a:prstGeom>
            <a:noFill/>
            <a:ln w="38100">
              <a:solidFill>
                <a:srgbClr val="C01920"/>
              </a:solidFill>
              <a:prstDash val="sysDot"/>
              <a:round/>
              <a:headEnd/>
              <a:tailEnd/>
            </a:ln>
            <a:effectLst>
              <a:outerShdw dist="35921" dir="2700000" algn="ctr" rotWithShape="0">
                <a:schemeClr val="bg2"/>
              </a:outerShdw>
            </a:effectLst>
          </p:spPr>
          <p:txBody>
            <a:bodyPr/>
            <a:lstStyle/>
            <a:p>
              <a:endParaRPr lang="zh-CN" altLang="en-US"/>
            </a:p>
          </p:txBody>
        </p:sp>
      </p:grpSp>
      <p:grpSp>
        <p:nvGrpSpPr>
          <p:cNvPr id="850052" name="Group 132"/>
          <p:cNvGrpSpPr>
            <a:grpSpLocks/>
          </p:cNvGrpSpPr>
          <p:nvPr/>
        </p:nvGrpSpPr>
        <p:grpSpPr bwMode="auto">
          <a:xfrm>
            <a:off x="7802265" y="4853261"/>
            <a:ext cx="1908175" cy="495300"/>
            <a:chOff x="6744" y="1437"/>
            <a:chExt cx="1356" cy="486"/>
          </a:xfrm>
        </p:grpSpPr>
        <p:sp>
          <p:nvSpPr>
            <p:cNvPr id="850053" name="AutoShape 133"/>
            <p:cNvSpPr>
              <a:spLocks noChangeArrowheads="1"/>
            </p:cNvSpPr>
            <p:nvPr/>
          </p:nvSpPr>
          <p:spPr bwMode="auto">
            <a:xfrm>
              <a:off x="6744" y="1437"/>
              <a:ext cx="1356" cy="471"/>
            </a:xfrm>
            <a:prstGeom prst="flowChartDecision">
              <a:avLst/>
            </a:prstGeom>
            <a:gradFill flip="none" rotWithShape="1">
              <a:gsLst>
                <a:gs pos="0">
                  <a:srgbClr val="BEDFC4"/>
                </a:gs>
                <a:gs pos="100000">
                  <a:schemeClr val="accent1">
                    <a:lumMod val="60000"/>
                    <a:lumOff val="40000"/>
                    <a:tint val="23500"/>
                    <a:satMod val="160000"/>
                  </a:schemeClr>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endParaRPr lang="zh-CN" altLang="en-US" sz="2000" b="1">
                <a:solidFill>
                  <a:schemeClr val="dk1"/>
                </a:solidFill>
                <a:latin typeface="楷体" pitchFamily="49" charset="-122"/>
                <a:ea typeface="楷体" pitchFamily="49" charset="-122"/>
              </a:endParaRPr>
            </a:p>
          </p:txBody>
        </p:sp>
        <p:sp>
          <p:nvSpPr>
            <p:cNvPr id="850054" name="Text Box 134"/>
            <p:cNvSpPr txBox="1">
              <a:spLocks noChangeArrowheads="1"/>
            </p:cNvSpPr>
            <p:nvPr/>
          </p:nvSpPr>
          <p:spPr bwMode="auto">
            <a:xfrm>
              <a:off x="6975" y="1455"/>
              <a:ext cx="1080" cy="468"/>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zh-CN"/>
              </a:defPPr>
              <a:lvl1pPr algn="ctr">
                <a:defRPr sz="2000" b="1">
                  <a:solidFill>
                    <a:schemeClr val="dk1"/>
                  </a:solidFill>
                  <a:effectLst>
                    <a:outerShdw blurRad="38100" dist="38100" dir="2700000" algn="tl">
                      <a:srgbClr val="FFFFFF"/>
                    </a:outerShdw>
                  </a:effectLst>
                  <a:latin typeface="楷体" pitchFamily="49" charset="-122"/>
                  <a:ea typeface="楷体" pitchFamily="49" charset="-122"/>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a:effectLst/>
                </a:rPr>
                <a:t>表达式</a:t>
              </a:r>
              <a:r>
                <a:rPr lang="en-US" altLang="zh-CN">
                  <a:effectLst/>
                </a:rPr>
                <a:t>n</a:t>
              </a:r>
            </a:p>
          </p:txBody>
        </p:sp>
      </p:grpSp>
      <p:sp>
        <p:nvSpPr>
          <p:cNvPr id="850059" name="Text Box 139"/>
          <p:cNvSpPr txBox="1">
            <a:spLocks noChangeArrowheads="1"/>
          </p:cNvSpPr>
          <p:nvPr/>
        </p:nvSpPr>
        <p:spPr bwMode="auto">
          <a:xfrm>
            <a:off x="8240414" y="5602561"/>
            <a:ext cx="1008062" cy="406400"/>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solidFill>
                  <a:srgbClr val="002060"/>
                </a:solidFill>
                <a:effectLst>
                  <a:outerShdw blurRad="38100" dist="38100" dir="2700000" algn="tl">
                    <a:srgbClr val="FFFFFF"/>
                  </a:outerShdw>
                </a:effectLst>
                <a:latin typeface="楷体" pitchFamily="49" charset="-122"/>
                <a:ea typeface="楷体" pitchFamily="49" charset="-122"/>
              </a:defRPr>
            </a:lvl1pPr>
          </a:lstStyle>
          <a:p>
            <a:r>
              <a:rPr lang="zh-CN" altLang="en-US"/>
              <a:t>语句</a:t>
            </a:r>
            <a:r>
              <a:rPr lang="en-US" altLang="zh-CN"/>
              <a:t>n</a:t>
            </a:r>
          </a:p>
        </p:txBody>
      </p:sp>
      <p:sp>
        <p:nvSpPr>
          <p:cNvPr id="850063" name="Text Box 143"/>
          <p:cNvSpPr txBox="1">
            <a:spLocks noChangeArrowheads="1"/>
          </p:cNvSpPr>
          <p:nvPr/>
        </p:nvSpPr>
        <p:spPr bwMode="auto">
          <a:xfrm>
            <a:off x="9465965" y="5602561"/>
            <a:ext cx="1150937" cy="406400"/>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solidFill>
                  <a:srgbClr val="002060"/>
                </a:solidFill>
                <a:effectLst>
                  <a:outerShdw blurRad="38100" dist="38100" dir="2700000" algn="tl">
                    <a:srgbClr val="FFFFFF"/>
                  </a:outerShdw>
                </a:effectLst>
                <a:latin typeface="楷体" pitchFamily="49" charset="-122"/>
                <a:ea typeface="楷体" pitchFamily="49" charset="-122"/>
              </a:defRPr>
            </a:lvl1pPr>
          </a:lstStyle>
          <a:p>
            <a:r>
              <a:rPr lang="zh-CN" altLang="en-US"/>
              <a:t>语句</a:t>
            </a:r>
            <a:r>
              <a:rPr lang="en-US" altLang="zh-CN"/>
              <a:t>n+1</a:t>
            </a:r>
          </a:p>
        </p:txBody>
      </p:sp>
      <p:grpSp>
        <p:nvGrpSpPr>
          <p:cNvPr id="850064" name="Group 144"/>
          <p:cNvGrpSpPr>
            <a:grpSpLocks/>
          </p:cNvGrpSpPr>
          <p:nvPr/>
        </p:nvGrpSpPr>
        <p:grpSpPr bwMode="auto">
          <a:xfrm>
            <a:off x="8427739" y="5242199"/>
            <a:ext cx="334962" cy="360363"/>
            <a:chOff x="4313" y="3430"/>
            <a:chExt cx="211" cy="227"/>
          </a:xfrm>
        </p:grpSpPr>
        <p:sp>
          <p:nvSpPr>
            <p:cNvPr id="850058" name="Text Box 138"/>
            <p:cNvSpPr txBox="1">
              <a:spLocks noChangeArrowheads="1"/>
            </p:cNvSpPr>
            <p:nvPr/>
          </p:nvSpPr>
          <p:spPr bwMode="auto">
            <a:xfrm rot="10800000" flipV="1">
              <a:off x="4313" y="3430"/>
              <a:ext cx="211" cy="182"/>
            </a:xfrm>
            <a:prstGeom prst="rect">
              <a:avLst/>
            </a:prstGeom>
            <a:noFill/>
            <a:ln w="9525">
              <a:noFill/>
              <a:miter lim="800000"/>
              <a:headEnd/>
              <a:tailEnd/>
            </a:ln>
          </p:spPr>
          <p:txBody>
            <a:bodyPr/>
            <a:lstStyle/>
            <a:p>
              <a:pPr algn="just"/>
              <a:r>
                <a:rPr lang="en-US" altLang="zh-CN" sz="1800" b="1" dirty="0"/>
                <a:t>T</a:t>
              </a:r>
            </a:p>
          </p:txBody>
        </p:sp>
        <p:sp>
          <p:nvSpPr>
            <p:cNvPr id="850057" name="Line 137"/>
            <p:cNvSpPr>
              <a:spLocks noChangeShapeType="1"/>
            </p:cNvSpPr>
            <p:nvPr/>
          </p:nvSpPr>
          <p:spPr bwMode="auto">
            <a:xfrm flipH="1">
              <a:off x="4513" y="3475"/>
              <a:ext cx="0" cy="182"/>
            </a:xfrm>
            <a:prstGeom prst="line">
              <a:avLst/>
            </a:prstGeom>
            <a:noFill/>
            <a:ln w="28575">
              <a:solidFill>
                <a:srgbClr val="BD6368"/>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65" name="Text Box 145"/>
          <p:cNvSpPr txBox="1">
            <a:spLocks noChangeArrowheads="1"/>
          </p:cNvSpPr>
          <p:nvPr/>
        </p:nvSpPr>
        <p:spPr bwMode="auto">
          <a:xfrm>
            <a:off x="6584652" y="5599386"/>
            <a:ext cx="1008063" cy="406400"/>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solidFill>
                  <a:srgbClr val="002060"/>
                </a:solidFill>
                <a:effectLst>
                  <a:outerShdw blurRad="38100" dist="38100" dir="2700000" algn="tl">
                    <a:srgbClr val="FFFFFF"/>
                  </a:outerShdw>
                </a:effectLst>
                <a:latin typeface="楷体" pitchFamily="49" charset="-122"/>
                <a:ea typeface="楷体" pitchFamily="49" charset="-122"/>
              </a:defRPr>
            </a:lvl1pPr>
          </a:lstStyle>
          <a:p>
            <a:r>
              <a:rPr lang="zh-CN" altLang="en-US"/>
              <a:t>语句</a:t>
            </a:r>
            <a:r>
              <a:rPr lang="en-US" altLang="zh-CN"/>
              <a:t>3</a:t>
            </a:r>
          </a:p>
        </p:txBody>
      </p:sp>
      <p:sp>
        <p:nvSpPr>
          <p:cNvPr id="850066" name="Text Box 146"/>
          <p:cNvSpPr txBox="1">
            <a:spLocks noChangeArrowheads="1"/>
          </p:cNvSpPr>
          <p:nvPr/>
        </p:nvSpPr>
        <p:spPr bwMode="auto">
          <a:xfrm>
            <a:off x="5144789" y="5602561"/>
            <a:ext cx="1008062" cy="406400"/>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solidFill>
                  <a:srgbClr val="002060"/>
                </a:solidFill>
                <a:effectLst>
                  <a:outerShdw blurRad="38100" dist="38100" dir="2700000" algn="tl">
                    <a:srgbClr val="FFFFFF"/>
                  </a:outerShdw>
                </a:effectLst>
                <a:latin typeface="楷体" pitchFamily="49" charset="-122"/>
                <a:ea typeface="楷体" pitchFamily="49" charset="-122"/>
              </a:defRPr>
            </a:lvl1pPr>
          </a:lstStyle>
          <a:p>
            <a:r>
              <a:rPr lang="zh-CN" altLang="en-US"/>
              <a:t>语句</a:t>
            </a:r>
            <a:r>
              <a:rPr lang="en-US" altLang="zh-CN"/>
              <a:t>2</a:t>
            </a:r>
          </a:p>
        </p:txBody>
      </p:sp>
      <p:sp>
        <p:nvSpPr>
          <p:cNvPr id="850067" name="Text Box 147"/>
          <p:cNvSpPr txBox="1">
            <a:spLocks noChangeArrowheads="1"/>
          </p:cNvSpPr>
          <p:nvPr/>
        </p:nvSpPr>
        <p:spPr bwMode="auto">
          <a:xfrm>
            <a:off x="3631902" y="5602561"/>
            <a:ext cx="1008063" cy="406400"/>
          </a:xfrm>
          <a:prstGeom prst="rect">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defPPr>
              <a:defRPr lang="zh-CN"/>
            </a:defPPr>
            <a:lvl1pPr algn="ctr">
              <a:spcBef>
                <a:spcPct val="50000"/>
              </a:spcBef>
              <a:defRPr sz="2000" b="1">
                <a:solidFill>
                  <a:srgbClr val="002060"/>
                </a:solidFill>
                <a:effectLst>
                  <a:outerShdw blurRad="38100" dist="38100" dir="2700000" algn="tl">
                    <a:srgbClr val="FFFFFF"/>
                  </a:outerShdw>
                </a:effectLst>
                <a:latin typeface="楷体" pitchFamily="49" charset="-122"/>
                <a:ea typeface="楷体" pitchFamily="49" charset="-122"/>
              </a:defRPr>
            </a:lvl1pPr>
          </a:lstStyle>
          <a:p>
            <a:r>
              <a:rPr lang="zh-CN" altLang="en-US"/>
              <a:t>语句</a:t>
            </a:r>
            <a:r>
              <a:rPr lang="en-US" altLang="zh-CN"/>
              <a:t>1</a:t>
            </a:r>
          </a:p>
        </p:txBody>
      </p:sp>
      <p:grpSp>
        <p:nvGrpSpPr>
          <p:cNvPr id="850072" name="Group 152"/>
          <p:cNvGrpSpPr>
            <a:grpSpLocks/>
          </p:cNvGrpSpPr>
          <p:nvPr/>
        </p:nvGrpSpPr>
        <p:grpSpPr bwMode="auto">
          <a:xfrm>
            <a:off x="4078180" y="6029598"/>
            <a:ext cx="2314575" cy="552450"/>
            <a:chOff x="1583" y="3926"/>
            <a:chExt cx="1458" cy="348"/>
          </a:xfrm>
        </p:grpSpPr>
        <p:sp>
          <p:nvSpPr>
            <p:cNvPr id="850019" name="Line 99"/>
            <p:cNvSpPr>
              <a:spLocks noChangeShapeType="1"/>
            </p:cNvSpPr>
            <p:nvPr/>
          </p:nvSpPr>
          <p:spPr bwMode="auto">
            <a:xfrm>
              <a:off x="1592" y="3926"/>
              <a:ext cx="0" cy="182"/>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sp>
          <p:nvSpPr>
            <p:cNvPr id="850023" name="Line 103"/>
            <p:cNvSpPr>
              <a:spLocks noChangeShapeType="1"/>
            </p:cNvSpPr>
            <p:nvPr/>
          </p:nvSpPr>
          <p:spPr bwMode="auto">
            <a:xfrm>
              <a:off x="3041" y="4092"/>
              <a:ext cx="0" cy="182"/>
            </a:xfrm>
            <a:prstGeom prst="line">
              <a:avLst/>
            </a:prstGeom>
            <a:noFill/>
            <a:ln w="28575">
              <a:solidFill>
                <a:srgbClr val="C01920"/>
              </a:solidFill>
              <a:round/>
              <a:headEnd/>
              <a:tailEnd type="stealth" w="lg" len="lg"/>
            </a:ln>
            <a:effectLst>
              <a:outerShdw dist="35921" dir="2700000" algn="ctr" rotWithShape="0">
                <a:srgbClr val="808080"/>
              </a:outerShdw>
            </a:effectLst>
          </p:spPr>
          <p:txBody>
            <a:bodyPr/>
            <a:lstStyle/>
            <a:p>
              <a:endParaRPr lang="zh-CN" altLang="en-US"/>
            </a:p>
          </p:txBody>
        </p:sp>
        <p:sp>
          <p:nvSpPr>
            <p:cNvPr id="850070" name="Line 150"/>
            <p:cNvSpPr>
              <a:spLocks noChangeShapeType="1"/>
            </p:cNvSpPr>
            <p:nvPr/>
          </p:nvSpPr>
          <p:spPr bwMode="auto">
            <a:xfrm>
              <a:off x="1583" y="4101"/>
              <a:ext cx="1451" cy="0"/>
            </a:xfrm>
            <a:prstGeom prst="line">
              <a:avLst/>
            </a:prstGeom>
            <a:noFill/>
            <a:ln w="28575">
              <a:solidFill>
                <a:srgbClr val="C01920"/>
              </a:solidFill>
              <a:round/>
              <a:headEnd/>
              <a:tailEnd/>
            </a:ln>
            <a:effectLst>
              <a:outerShdw dist="35921" dir="2700000" algn="ctr" rotWithShape="0">
                <a:schemeClr val="bg2"/>
              </a:outerShdw>
            </a:effectLst>
          </p:spPr>
          <p:txBody>
            <a:bodyPr/>
            <a:lstStyle/>
            <a:p>
              <a:endParaRPr lang="zh-CN" altLang="en-US"/>
            </a:p>
          </p:txBody>
        </p:sp>
      </p:grpSp>
      <p:grpSp>
        <p:nvGrpSpPr>
          <p:cNvPr id="850075" name="Group 155"/>
          <p:cNvGrpSpPr>
            <a:grpSpLocks/>
          </p:cNvGrpSpPr>
          <p:nvPr/>
        </p:nvGrpSpPr>
        <p:grpSpPr bwMode="auto">
          <a:xfrm>
            <a:off x="5603767" y="6010548"/>
            <a:ext cx="792163" cy="571500"/>
            <a:chOff x="2544" y="3914"/>
            <a:chExt cx="499" cy="360"/>
          </a:xfrm>
        </p:grpSpPr>
        <p:sp>
          <p:nvSpPr>
            <p:cNvPr id="850020" name="Line 100"/>
            <p:cNvSpPr>
              <a:spLocks noChangeShapeType="1"/>
            </p:cNvSpPr>
            <p:nvPr/>
          </p:nvSpPr>
          <p:spPr bwMode="auto">
            <a:xfrm>
              <a:off x="2562" y="3914"/>
              <a:ext cx="0" cy="18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a:lstStyle/>
            <a:p>
              <a:endParaRPr lang="zh-CN" altLang="en-US"/>
            </a:p>
          </p:txBody>
        </p:sp>
        <p:sp>
          <p:nvSpPr>
            <p:cNvPr id="850071" name="Line 151"/>
            <p:cNvSpPr>
              <a:spLocks noChangeShapeType="1"/>
            </p:cNvSpPr>
            <p:nvPr/>
          </p:nvSpPr>
          <p:spPr bwMode="auto">
            <a:xfrm>
              <a:off x="3043" y="4092"/>
              <a:ext cx="0" cy="182"/>
            </a:xfrm>
            <a:prstGeom prst="line">
              <a:avLst/>
            </a:prstGeom>
            <a:noFill/>
            <a:ln w="28575">
              <a:solidFill>
                <a:srgbClr val="002060"/>
              </a:solidFill>
              <a:round/>
              <a:headEnd/>
              <a:tailEnd type="stealth" w="lg" len="lg"/>
            </a:ln>
            <a:effectLst>
              <a:outerShdw dist="35921" dir="2700000" algn="ctr" rotWithShape="0">
                <a:srgbClr val="808080"/>
              </a:outerShdw>
            </a:effectLst>
          </p:spPr>
          <p:txBody>
            <a:bodyPr/>
            <a:lstStyle/>
            <a:p>
              <a:endParaRPr lang="zh-CN" altLang="en-US"/>
            </a:p>
          </p:txBody>
        </p:sp>
        <p:sp>
          <p:nvSpPr>
            <p:cNvPr id="850074" name="Line 154"/>
            <p:cNvSpPr>
              <a:spLocks noChangeShapeType="1"/>
            </p:cNvSpPr>
            <p:nvPr/>
          </p:nvSpPr>
          <p:spPr bwMode="auto">
            <a:xfrm>
              <a:off x="2544" y="4101"/>
              <a:ext cx="499" cy="0"/>
            </a:xfrm>
            <a:prstGeom prst="line">
              <a:avLst/>
            </a:prstGeom>
            <a:noFill/>
            <a:ln w="28575">
              <a:solidFill>
                <a:srgbClr val="002060"/>
              </a:solidFill>
              <a:round/>
              <a:headEnd/>
              <a:tailEnd/>
            </a:ln>
            <a:effectLst>
              <a:outerShdw dist="35921" dir="2700000" algn="ctr" rotWithShape="0">
                <a:schemeClr val="bg2"/>
              </a:outerShdw>
            </a:effectLst>
          </p:spPr>
          <p:txBody>
            <a:bodyPr/>
            <a:lstStyle/>
            <a:p>
              <a:endParaRPr lang="zh-CN" altLang="en-US"/>
            </a:p>
          </p:txBody>
        </p:sp>
      </p:grpSp>
      <p:grpSp>
        <p:nvGrpSpPr>
          <p:cNvPr id="850078" name="Group 158"/>
          <p:cNvGrpSpPr>
            <a:grpSpLocks/>
          </p:cNvGrpSpPr>
          <p:nvPr/>
        </p:nvGrpSpPr>
        <p:grpSpPr bwMode="auto">
          <a:xfrm>
            <a:off x="6395930" y="6005786"/>
            <a:ext cx="649287" cy="576262"/>
            <a:chOff x="3043" y="3911"/>
            <a:chExt cx="409" cy="363"/>
          </a:xfrm>
        </p:grpSpPr>
        <p:sp>
          <p:nvSpPr>
            <p:cNvPr id="850021" name="Line 101"/>
            <p:cNvSpPr>
              <a:spLocks noChangeShapeType="1"/>
            </p:cNvSpPr>
            <p:nvPr/>
          </p:nvSpPr>
          <p:spPr bwMode="auto">
            <a:xfrm>
              <a:off x="3435" y="3911"/>
              <a:ext cx="0" cy="182"/>
            </a:xfrm>
            <a:prstGeom prst="line">
              <a:avLst/>
            </a:prstGeom>
            <a:noFill/>
            <a:ln w="28575">
              <a:solidFill>
                <a:schemeClr val="accent1">
                  <a:lumMod val="50000"/>
                </a:schemeClr>
              </a:solidFill>
              <a:round/>
              <a:headEnd/>
              <a:tailEnd type="stealth" w="lg" len="lg"/>
            </a:ln>
            <a:effectLst>
              <a:outerShdw dist="35921" dir="2700000" algn="ctr" rotWithShape="0">
                <a:srgbClr val="808080"/>
              </a:outerShdw>
            </a:effectLst>
          </p:spPr>
          <p:txBody>
            <a:bodyPr/>
            <a:lstStyle/>
            <a:p>
              <a:endParaRPr lang="zh-CN" altLang="en-US"/>
            </a:p>
          </p:txBody>
        </p:sp>
        <p:sp>
          <p:nvSpPr>
            <p:cNvPr id="850076" name="Line 156"/>
            <p:cNvSpPr>
              <a:spLocks noChangeShapeType="1"/>
            </p:cNvSpPr>
            <p:nvPr/>
          </p:nvSpPr>
          <p:spPr bwMode="auto">
            <a:xfrm>
              <a:off x="3043" y="4101"/>
              <a:ext cx="409" cy="0"/>
            </a:xfrm>
            <a:prstGeom prst="line">
              <a:avLst/>
            </a:prstGeom>
            <a:noFill/>
            <a:ln w="28575">
              <a:solidFill>
                <a:schemeClr val="accent1">
                  <a:lumMod val="50000"/>
                </a:schemeClr>
              </a:solidFill>
              <a:round/>
              <a:headEnd/>
              <a:tailEnd/>
            </a:ln>
            <a:effectLst>
              <a:outerShdw dist="35921" dir="2700000" algn="ctr" rotWithShape="0">
                <a:schemeClr val="bg2"/>
              </a:outerShdw>
            </a:effectLst>
          </p:spPr>
          <p:txBody>
            <a:bodyPr/>
            <a:lstStyle/>
            <a:p>
              <a:endParaRPr lang="zh-CN" altLang="en-US"/>
            </a:p>
          </p:txBody>
        </p:sp>
        <p:sp>
          <p:nvSpPr>
            <p:cNvPr id="850077" name="Line 157"/>
            <p:cNvSpPr>
              <a:spLocks noChangeShapeType="1"/>
            </p:cNvSpPr>
            <p:nvPr/>
          </p:nvSpPr>
          <p:spPr bwMode="auto">
            <a:xfrm>
              <a:off x="3043" y="4092"/>
              <a:ext cx="0" cy="182"/>
            </a:xfrm>
            <a:prstGeom prst="line">
              <a:avLst/>
            </a:prstGeom>
            <a:noFill/>
            <a:ln w="28575">
              <a:solidFill>
                <a:schemeClr val="accent1">
                  <a:lumMod val="50000"/>
                </a:schemeClr>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81" name="Group 161"/>
          <p:cNvGrpSpPr>
            <a:grpSpLocks/>
          </p:cNvGrpSpPr>
          <p:nvPr/>
        </p:nvGrpSpPr>
        <p:grpSpPr bwMode="auto">
          <a:xfrm>
            <a:off x="6397326" y="6032773"/>
            <a:ext cx="2374900" cy="534988"/>
            <a:chOff x="3034" y="3928"/>
            <a:chExt cx="1496" cy="337"/>
          </a:xfrm>
        </p:grpSpPr>
        <p:sp>
          <p:nvSpPr>
            <p:cNvPr id="850022" name="Line 102"/>
            <p:cNvSpPr>
              <a:spLocks noChangeShapeType="1"/>
            </p:cNvSpPr>
            <p:nvPr/>
          </p:nvSpPr>
          <p:spPr bwMode="auto">
            <a:xfrm>
              <a:off x="4513" y="3928"/>
              <a:ext cx="0" cy="182"/>
            </a:xfrm>
            <a:prstGeom prst="line">
              <a:avLst/>
            </a:prstGeom>
            <a:noFill/>
            <a:ln w="28575">
              <a:solidFill>
                <a:srgbClr val="BD6368"/>
              </a:solidFill>
              <a:round/>
              <a:headEnd/>
              <a:tailEnd type="stealth" w="lg" len="lg"/>
            </a:ln>
            <a:effectLst>
              <a:outerShdw dist="35921" dir="2700000" algn="ctr" rotWithShape="0">
                <a:srgbClr val="808080"/>
              </a:outerShdw>
            </a:effectLst>
          </p:spPr>
          <p:txBody>
            <a:bodyPr/>
            <a:lstStyle/>
            <a:p>
              <a:endParaRPr lang="zh-CN" altLang="en-US"/>
            </a:p>
          </p:txBody>
        </p:sp>
        <p:sp>
          <p:nvSpPr>
            <p:cNvPr id="850079" name="Line 159"/>
            <p:cNvSpPr>
              <a:spLocks noChangeShapeType="1"/>
            </p:cNvSpPr>
            <p:nvPr/>
          </p:nvSpPr>
          <p:spPr bwMode="auto">
            <a:xfrm>
              <a:off x="3034" y="4101"/>
              <a:ext cx="1496" cy="0"/>
            </a:xfrm>
            <a:prstGeom prst="line">
              <a:avLst/>
            </a:prstGeom>
            <a:noFill/>
            <a:ln w="28575">
              <a:solidFill>
                <a:srgbClr val="BD6368"/>
              </a:solidFill>
              <a:round/>
              <a:headEnd/>
              <a:tailEnd/>
            </a:ln>
            <a:effectLst>
              <a:outerShdw dist="35921" dir="2700000" algn="ctr" rotWithShape="0">
                <a:schemeClr val="bg2"/>
              </a:outerShdw>
            </a:effectLst>
          </p:spPr>
          <p:txBody>
            <a:bodyPr/>
            <a:lstStyle/>
            <a:p>
              <a:endParaRPr lang="zh-CN" altLang="en-US"/>
            </a:p>
          </p:txBody>
        </p:sp>
        <p:sp>
          <p:nvSpPr>
            <p:cNvPr id="850080" name="Line 160"/>
            <p:cNvSpPr>
              <a:spLocks noChangeShapeType="1"/>
            </p:cNvSpPr>
            <p:nvPr/>
          </p:nvSpPr>
          <p:spPr bwMode="auto">
            <a:xfrm>
              <a:off x="3034" y="4083"/>
              <a:ext cx="0" cy="182"/>
            </a:xfrm>
            <a:prstGeom prst="line">
              <a:avLst/>
            </a:prstGeom>
            <a:noFill/>
            <a:ln w="28575">
              <a:solidFill>
                <a:srgbClr val="BD6368"/>
              </a:solidFill>
              <a:round/>
              <a:headEnd/>
              <a:tailEnd type="stealth" w="lg" len="lg"/>
            </a:ln>
            <a:effectLst>
              <a:outerShdw dist="35921" dir="2700000" algn="ctr" rotWithShape="0">
                <a:srgbClr val="808080"/>
              </a:outerShdw>
            </a:effectLst>
          </p:spPr>
          <p:txBody>
            <a:bodyPr/>
            <a:lstStyle/>
            <a:p>
              <a:endParaRPr lang="zh-CN" altLang="en-US"/>
            </a:p>
          </p:txBody>
        </p:sp>
      </p:grpSp>
      <p:grpSp>
        <p:nvGrpSpPr>
          <p:cNvPr id="850084" name="Group 164"/>
          <p:cNvGrpSpPr>
            <a:grpSpLocks/>
          </p:cNvGrpSpPr>
          <p:nvPr/>
        </p:nvGrpSpPr>
        <p:grpSpPr bwMode="auto">
          <a:xfrm>
            <a:off x="6367354" y="6034362"/>
            <a:ext cx="3744912" cy="549275"/>
            <a:chOff x="3025" y="3929"/>
            <a:chExt cx="2359" cy="346"/>
          </a:xfrm>
        </p:grpSpPr>
        <p:sp>
          <p:nvSpPr>
            <p:cNvPr id="850068" name="Line 148"/>
            <p:cNvSpPr>
              <a:spLocks noChangeShapeType="1"/>
            </p:cNvSpPr>
            <p:nvPr/>
          </p:nvSpPr>
          <p:spPr bwMode="auto">
            <a:xfrm>
              <a:off x="5375" y="3929"/>
              <a:ext cx="0" cy="182"/>
            </a:xfrm>
            <a:prstGeom prst="line">
              <a:avLst/>
            </a:prstGeom>
            <a:noFill/>
            <a:ln w="28575">
              <a:solidFill>
                <a:srgbClr val="800000"/>
              </a:solidFill>
              <a:round/>
              <a:headEnd/>
              <a:tailEnd type="stealth" w="lg" len="lg"/>
            </a:ln>
            <a:effectLst>
              <a:outerShdw dist="35921" dir="2700000" algn="ctr" rotWithShape="0">
                <a:srgbClr val="808080"/>
              </a:outerShdw>
            </a:effectLst>
          </p:spPr>
          <p:txBody>
            <a:bodyPr/>
            <a:lstStyle/>
            <a:p>
              <a:endParaRPr lang="zh-CN" altLang="en-US"/>
            </a:p>
          </p:txBody>
        </p:sp>
        <p:sp>
          <p:nvSpPr>
            <p:cNvPr id="850082" name="Line 162"/>
            <p:cNvSpPr>
              <a:spLocks noChangeShapeType="1"/>
            </p:cNvSpPr>
            <p:nvPr/>
          </p:nvSpPr>
          <p:spPr bwMode="auto">
            <a:xfrm>
              <a:off x="3025" y="4101"/>
              <a:ext cx="2359" cy="0"/>
            </a:xfrm>
            <a:prstGeom prst="line">
              <a:avLst/>
            </a:prstGeom>
            <a:noFill/>
            <a:ln w="28575">
              <a:solidFill>
                <a:srgbClr val="800000"/>
              </a:solidFill>
              <a:round/>
              <a:headEnd/>
              <a:tailEnd/>
            </a:ln>
            <a:effectLst>
              <a:outerShdw dist="35921" dir="2700000" algn="ctr" rotWithShape="0">
                <a:schemeClr val="bg2"/>
              </a:outerShdw>
            </a:effectLst>
          </p:spPr>
          <p:txBody>
            <a:bodyPr/>
            <a:lstStyle/>
            <a:p>
              <a:endParaRPr lang="zh-CN" altLang="en-US"/>
            </a:p>
          </p:txBody>
        </p:sp>
        <p:sp>
          <p:nvSpPr>
            <p:cNvPr id="850083" name="Line 163"/>
            <p:cNvSpPr>
              <a:spLocks noChangeShapeType="1"/>
            </p:cNvSpPr>
            <p:nvPr/>
          </p:nvSpPr>
          <p:spPr bwMode="auto">
            <a:xfrm>
              <a:off x="3034" y="4093"/>
              <a:ext cx="0" cy="182"/>
            </a:xfrm>
            <a:prstGeom prst="line">
              <a:avLst/>
            </a:prstGeom>
            <a:noFill/>
            <a:ln w="28575">
              <a:solidFill>
                <a:srgbClr val="800000"/>
              </a:solidFill>
              <a:round/>
              <a:headEnd/>
              <a:tailEnd type="stealth" w="lg" len="lg"/>
            </a:ln>
            <a:effectLst>
              <a:outerShdw dist="35921" dir="2700000" algn="ctr" rotWithShape="0">
                <a:srgbClr val="808080"/>
              </a:outerShdw>
            </a:effectLst>
          </p:spPr>
          <p:txBody>
            <a:bodyPr/>
            <a:lstStyle/>
            <a:p>
              <a:endParaRPr lang="zh-CN" altLang="en-US"/>
            </a:p>
          </p:txBody>
        </p:sp>
      </p:grpSp>
      <p:sp>
        <p:nvSpPr>
          <p:cNvPr id="850042" name="Text Box 122" descr="信纸"/>
          <p:cNvSpPr txBox="1">
            <a:spLocks noChangeArrowheads="1"/>
          </p:cNvSpPr>
          <p:nvPr/>
        </p:nvSpPr>
        <p:spPr bwMode="auto">
          <a:xfrm>
            <a:off x="1575098" y="1347556"/>
            <a:ext cx="8999565" cy="5241925"/>
          </a:xfrm>
          <a:prstGeom prst="rect">
            <a:avLst/>
          </a:prstGeom>
          <a:gradFill>
            <a:gsLst>
              <a:gs pos="0">
                <a:srgbClr val="CFCFD1"/>
              </a:gs>
              <a:gs pos="100000">
                <a:schemeClr val="bg1">
                  <a:lumMod val="95000"/>
                </a:scheme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r>
              <a:rPr lang="zh-CN" altLang="en-US" b="1" dirty="0">
                <a:solidFill>
                  <a:srgbClr val="C01920"/>
                </a:solidFill>
                <a:ea typeface="隶书" pitchFamily="49" charset="-122"/>
              </a:rPr>
              <a:t>   例如：下面的程序段是判断输入字符的种类。</a:t>
            </a:r>
          </a:p>
          <a:p>
            <a:r>
              <a:rPr lang="zh-CN" altLang="en-US" b="1" dirty="0"/>
              <a:t>    </a:t>
            </a:r>
            <a:r>
              <a:rPr lang="en-US" altLang="zh-CN" b="1" dirty="0"/>
              <a:t>char c;</a:t>
            </a:r>
          </a:p>
          <a:p>
            <a:r>
              <a:rPr lang="en-US" altLang="zh-CN" b="1" dirty="0"/>
              <a:t>    </a:t>
            </a:r>
            <a:r>
              <a:rPr lang="en-US" altLang="zh-CN" b="1" dirty="0" err="1"/>
              <a:t>printf</a:t>
            </a:r>
            <a:r>
              <a:rPr lang="en-US" altLang="zh-CN" b="1" dirty="0"/>
              <a:t> ("Enter a character: ");</a:t>
            </a:r>
          </a:p>
          <a:p>
            <a:r>
              <a:rPr lang="en-US" altLang="zh-CN" b="1" dirty="0"/>
              <a:t>    c = </a:t>
            </a:r>
            <a:r>
              <a:rPr lang="en-US" altLang="zh-CN" b="1" dirty="0" err="1"/>
              <a:t>getchar</a:t>
            </a:r>
            <a:r>
              <a:rPr lang="en-US" altLang="zh-CN" b="1" dirty="0"/>
              <a:t> ( );</a:t>
            </a:r>
          </a:p>
          <a:p>
            <a:r>
              <a:rPr lang="en-US" altLang="zh-CN" b="1" dirty="0">
                <a:solidFill>
                  <a:srgbClr val="C01920"/>
                </a:solidFill>
              </a:rPr>
              <a:t>    if </a:t>
            </a:r>
            <a:r>
              <a:rPr lang="en-US" altLang="zh-CN" b="1" dirty="0"/>
              <a:t>(c &lt; 0x20)  </a:t>
            </a:r>
          </a:p>
          <a:p>
            <a:r>
              <a:rPr lang="en-US" altLang="zh-CN" b="1" dirty="0"/>
              <a:t>       </a:t>
            </a:r>
            <a:r>
              <a:rPr lang="en-US" altLang="zh-CN" b="1" dirty="0" err="1"/>
              <a:t>printf</a:t>
            </a:r>
            <a:r>
              <a:rPr lang="en-US" altLang="zh-CN" b="1" dirty="0"/>
              <a:t> ("The character is a control character\n");</a:t>
            </a:r>
          </a:p>
          <a:p>
            <a:r>
              <a:rPr lang="en-US" altLang="zh-CN" b="1" dirty="0">
                <a:solidFill>
                  <a:srgbClr val="C01920"/>
                </a:solidFill>
              </a:rPr>
              <a:t>    else if </a:t>
            </a:r>
            <a:r>
              <a:rPr lang="en-US" altLang="zh-CN" b="1" dirty="0"/>
              <a:t>(c &gt;= '0' &amp;&amp; c &lt;= '9')   </a:t>
            </a:r>
          </a:p>
          <a:p>
            <a:r>
              <a:rPr lang="en-US" altLang="zh-CN" b="1" dirty="0"/>
              <a:t>              </a:t>
            </a:r>
            <a:r>
              <a:rPr lang="en-US" altLang="zh-CN" b="1" dirty="0" err="1"/>
              <a:t>printf</a:t>
            </a:r>
            <a:r>
              <a:rPr lang="en-US" altLang="zh-CN" b="1" dirty="0"/>
              <a:t> ("The character is a digit\n");</a:t>
            </a:r>
          </a:p>
          <a:p>
            <a:r>
              <a:rPr lang="en-US" altLang="zh-CN" b="1" dirty="0"/>
              <a:t>    </a:t>
            </a:r>
            <a:r>
              <a:rPr lang="en-US" altLang="zh-CN" b="1" dirty="0">
                <a:solidFill>
                  <a:srgbClr val="C01920"/>
                </a:solidFill>
              </a:rPr>
              <a:t>else if </a:t>
            </a:r>
            <a:r>
              <a:rPr lang="en-US" altLang="zh-CN" b="1" dirty="0"/>
              <a:t>(c &gt;= 'A' &amp;&amp; c &lt;= 'Z')  </a:t>
            </a:r>
          </a:p>
          <a:p>
            <a:r>
              <a:rPr lang="en-US" altLang="zh-CN" b="1" dirty="0"/>
              <a:t>              </a:t>
            </a:r>
            <a:r>
              <a:rPr lang="en-US" altLang="zh-CN" b="1" dirty="0" err="1"/>
              <a:t>printf</a:t>
            </a:r>
            <a:r>
              <a:rPr lang="en-US" altLang="zh-CN" b="1" dirty="0"/>
              <a:t> ("The character is a capital letter\n");</a:t>
            </a:r>
          </a:p>
          <a:p>
            <a:r>
              <a:rPr lang="en-US" altLang="zh-CN" b="1" dirty="0"/>
              <a:t>    </a:t>
            </a:r>
            <a:r>
              <a:rPr lang="en-US" altLang="zh-CN" b="1" dirty="0">
                <a:solidFill>
                  <a:srgbClr val="C01920"/>
                </a:solidFill>
              </a:rPr>
              <a:t>else if </a:t>
            </a:r>
            <a:r>
              <a:rPr lang="en-US" altLang="zh-CN" b="1" dirty="0"/>
              <a:t>(c &gt;= 'a' &amp;&amp; c &lt;= 'z')   </a:t>
            </a:r>
          </a:p>
          <a:p>
            <a:r>
              <a:rPr lang="en-US" altLang="zh-CN" b="1" dirty="0"/>
              <a:t>              </a:t>
            </a:r>
            <a:r>
              <a:rPr lang="en-US" altLang="zh-CN" b="1" dirty="0" err="1"/>
              <a:t>printf</a:t>
            </a:r>
            <a:r>
              <a:rPr lang="en-US" altLang="zh-CN" b="1" dirty="0"/>
              <a:t> ("The character is a lower letter\n");</a:t>
            </a:r>
          </a:p>
          <a:p>
            <a:r>
              <a:rPr lang="en-US" altLang="zh-CN" b="1" dirty="0">
                <a:solidFill>
                  <a:srgbClr val="CC3300"/>
                </a:solidFill>
              </a:rPr>
              <a:t>    </a:t>
            </a:r>
            <a:r>
              <a:rPr lang="en-US" altLang="zh-CN" b="1" dirty="0">
                <a:solidFill>
                  <a:srgbClr val="C01920"/>
                </a:solidFill>
              </a:rPr>
              <a:t>else </a:t>
            </a:r>
          </a:p>
          <a:p>
            <a:r>
              <a:rPr lang="en-US" altLang="zh-CN" b="1" dirty="0"/>
              <a:t>         </a:t>
            </a:r>
            <a:r>
              <a:rPr lang="en-US" altLang="zh-CN" b="1" dirty="0" err="1"/>
              <a:t>printf</a:t>
            </a:r>
            <a:r>
              <a:rPr lang="en-US" altLang="zh-CN" b="1" dirty="0"/>
              <a:t> ("The character is other character\n");</a:t>
            </a:r>
          </a:p>
        </p:txBody>
      </p:sp>
      <p:sp>
        <p:nvSpPr>
          <p:cNvPr id="83" name="Rectangle 45">
            <a:extLst>
              <a:ext uri="{FF2B5EF4-FFF2-40B4-BE49-F238E27FC236}">
                <a16:creationId xmlns:a16="http://schemas.microsoft.com/office/drawing/2014/main" id="{1A6584C8-142B-4AB2-8A5B-48EF4B235C04}"/>
              </a:ext>
            </a:extLst>
          </p:cNvPr>
          <p:cNvSpPr>
            <a:spLocks noChangeArrowheads="1"/>
          </p:cNvSpPr>
          <p:nvPr/>
        </p:nvSpPr>
        <p:spPr bwMode="auto">
          <a:xfrm>
            <a:off x="884811" y="804397"/>
            <a:ext cx="2172390"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  if</a:t>
            </a:r>
            <a:r>
              <a:rPr lang="zh-CN" altLang="en-US" sz="2800" b="1" dirty="0">
                <a:solidFill>
                  <a:srgbClr val="C00000"/>
                </a:solidFill>
                <a:latin typeface="楷体" panose="02010609060101010101" pitchFamily="49" charset="-122"/>
                <a:ea typeface="楷体" panose="02010609060101010101" pitchFamily="49" charset="-122"/>
              </a:rPr>
              <a:t>语句</a:t>
            </a:r>
            <a:r>
              <a:rPr lang="zh-CN" altLang="en-US" sz="2800" dirty="0">
                <a:solidFill>
                  <a:srgbClr val="C00000"/>
                </a:solidFill>
                <a:latin typeface="楷体" panose="02010609060101010101" pitchFamily="49" charset="-122"/>
                <a:ea typeface="楷体" panose="02010609060101010101" pitchFamily="49" charset="-122"/>
              </a:rPr>
              <a:t> </a:t>
            </a:r>
          </a:p>
        </p:txBody>
      </p:sp>
      <p:sp>
        <p:nvSpPr>
          <p:cNvPr id="84" name="Rectangle 4">
            <a:extLst>
              <a:ext uri="{FF2B5EF4-FFF2-40B4-BE49-F238E27FC236}">
                <a16:creationId xmlns:a16="http://schemas.microsoft.com/office/drawing/2014/main" id="{8D1B3372-BAF5-440F-AF38-DACBFEBE28D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49927"/>
                                        </p:tgtEl>
                                        <p:attrNameLst>
                                          <p:attrName>style.visibility</p:attrName>
                                        </p:attrNameLst>
                                      </p:cBhvr>
                                      <p:to>
                                        <p:strVal val="visible"/>
                                      </p:to>
                                    </p:set>
                                    <p:animEffect transition="in" filter="box(in)">
                                      <p:cBhvr>
                                        <p:cTn id="7" dur="500"/>
                                        <p:tgtEl>
                                          <p:spTgt spid="84992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9929"/>
                                        </p:tgtEl>
                                        <p:attrNameLst>
                                          <p:attrName>style.visibility</p:attrName>
                                        </p:attrNameLst>
                                      </p:cBhvr>
                                      <p:to>
                                        <p:strVal val="visible"/>
                                      </p:to>
                                    </p:set>
                                    <p:animEffect transition="in" filter="box(in)">
                                      <p:cBhvr>
                                        <p:cTn id="12" dur="500"/>
                                        <p:tgtEl>
                                          <p:spTgt spid="84992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16" fill="hold" grpId="0" nodeType="withEffect">
                                  <p:stCondLst>
                                    <p:cond delay="0"/>
                                  </p:stCondLst>
                                  <p:childTnLst>
                                    <p:set>
                                      <p:cBhvr>
                                        <p:cTn id="14" dur="1" fill="hold">
                                          <p:stCondLst>
                                            <p:cond delay="0"/>
                                          </p:stCondLst>
                                        </p:cTn>
                                        <p:tgtEl>
                                          <p:spTgt spid="849928"/>
                                        </p:tgtEl>
                                        <p:attrNameLst>
                                          <p:attrName>style.visibility</p:attrName>
                                        </p:attrNameLst>
                                      </p:cBhvr>
                                      <p:to>
                                        <p:strVal val="visible"/>
                                      </p:to>
                                    </p:set>
                                    <p:animEffect transition="in" filter="box(in)">
                                      <p:cBhvr>
                                        <p:cTn id="15" dur="500"/>
                                        <p:tgtEl>
                                          <p:spTgt spid="849928"/>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849930"/>
                                        </p:tgtEl>
                                        <p:attrNameLst>
                                          <p:attrName>style.visibility</p:attrName>
                                        </p:attrNameLst>
                                      </p:cBhvr>
                                      <p:to>
                                        <p:strVal val="visible"/>
                                      </p:to>
                                    </p:set>
                                    <p:animEffect transition="in" filter="box(in)">
                                      <p:cBhvr>
                                        <p:cTn id="20" dur="500"/>
                                        <p:tgtEl>
                                          <p:spTgt spid="849930"/>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849980"/>
                                        </p:tgtEl>
                                        <p:attrNameLst>
                                          <p:attrName>style.visibility</p:attrName>
                                        </p:attrNameLst>
                                      </p:cBhvr>
                                      <p:to>
                                        <p:strVal val="visible"/>
                                      </p:to>
                                    </p:set>
                                    <p:animEffect transition="in" filter="strips(downLeft)">
                                      <p:cBhvr>
                                        <p:cTn id="24" dur="500"/>
                                        <p:tgtEl>
                                          <p:spTgt spid="849980"/>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8" presetClass="entr" presetSubtype="32" fill="hold" nodeType="afterEffect">
                                  <p:stCondLst>
                                    <p:cond delay="0"/>
                                  </p:stCondLst>
                                  <p:childTnLst>
                                    <p:set>
                                      <p:cBhvr>
                                        <p:cTn id="27" dur="1" fill="hold">
                                          <p:stCondLst>
                                            <p:cond delay="0"/>
                                          </p:stCondLst>
                                        </p:cTn>
                                        <p:tgtEl>
                                          <p:spTgt spid="849974"/>
                                        </p:tgtEl>
                                        <p:attrNameLst>
                                          <p:attrName>style.visibility</p:attrName>
                                        </p:attrNameLst>
                                      </p:cBhvr>
                                      <p:to>
                                        <p:strVal val="visible"/>
                                      </p:to>
                                    </p:set>
                                    <p:animEffect transition="in" filter="diamond(out)">
                                      <p:cBhvr>
                                        <p:cTn id="28" dur="500"/>
                                        <p:tgtEl>
                                          <p:spTgt spid="849974"/>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1500"/>
                            </p:stCondLst>
                            <p:childTnLst>
                              <p:par>
                                <p:cTn id="30" presetID="18" presetClass="entr" presetSubtype="12" fill="hold" nodeType="afterEffect">
                                  <p:stCondLst>
                                    <p:cond delay="0"/>
                                  </p:stCondLst>
                                  <p:childTnLst>
                                    <p:set>
                                      <p:cBhvr>
                                        <p:cTn id="31" dur="1" fill="hold">
                                          <p:stCondLst>
                                            <p:cond delay="0"/>
                                          </p:stCondLst>
                                        </p:cTn>
                                        <p:tgtEl>
                                          <p:spTgt spid="850036"/>
                                        </p:tgtEl>
                                        <p:attrNameLst>
                                          <p:attrName>style.visibility</p:attrName>
                                        </p:attrNameLst>
                                      </p:cBhvr>
                                      <p:to>
                                        <p:strVal val="visible"/>
                                      </p:to>
                                    </p:set>
                                    <p:animEffect transition="in" filter="strips(downLeft)">
                                      <p:cBhvr>
                                        <p:cTn id="32" dur="500"/>
                                        <p:tgtEl>
                                          <p:spTgt spid="850036"/>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2000"/>
                            </p:stCondLst>
                            <p:childTnLst>
                              <p:par>
                                <p:cTn id="34" presetID="4" presetClass="entr" presetSubtype="32" fill="hold" grpId="0" nodeType="afterEffect">
                                  <p:stCondLst>
                                    <p:cond delay="0"/>
                                  </p:stCondLst>
                                  <p:childTnLst>
                                    <p:set>
                                      <p:cBhvr>
                                        <p:cTn id="35" dur="1" fill="hold">
                                          <p:stCondLst>
                                            <p:cond delay="0"/>
                                          </p:stCondLst>
                                        </p:cTn>
                                        <p:tgtEl>
                                          <p:spTgt spid="850067"/>
                                        </p:tgtEl>
                                        <p:attrNameLst>
                                          <p:attrName>style.visibility</p:attrName>
                                        </p:attrNameLst>
                                      </p:cBhvr>
                                      <p:to>
                                        <p:strVal val="visible"/>
                                      </p:to>
                                    </p:set>
                                    <p:animEffect transition="in" filter="box(out)">
                                      <p:cBhvr>
                                        <p:cTn id="36" dur="500"/>
                                        <p:tgtEl>
                                          <p:spTgt spid="850067"/>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7" fill="hold">
                            <p:stCondLst>
                              <p:cond delay="2500"/>
                            </p:stCondLst>
                            <p:childTnLst>
                              <p:par>
                                <p:cTn id="38" presetID="18" presetClass="entr" presetSubtype="6" fill="hold" nodeType="afterEffect">
                                  <p:stCondLst>
                                    <p:cond delay="0"/>
                                  </p:stCondLst>
                                  <p:childTnLst>
                                    <p:set>
                                      <p:cBhvr>
                                        <p:cTn id="39" dur="1" fill="hold">
                                          <p:stCondLst>
                                            <p:cond delay="0"/>
                                          </p:stCondLst>
                                        </p:cTn>
                                        <p:tgtEl>
                                          <p:spTgt spid="850072"/>
                                        </p:tgtEl>
                                        <p:attrNameLst>
                                          <p:attrName>style.visibility</p:attrName>
                                        </p:attrNameLst>
                                      </p:cBhvr>
                                      <p:to>
                                        <p:strVal val="visible"/>
                                      </p:to>
                                    </p:set>
                                    <p:animEffect transition="in" filter="strips(downRight)">
                                      <p:cBhvr>
                                        <p:cTn id="40" dur="500"/>
                                        <p:tgtEl>
                                          <p:spTgt spid="850072"/>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1" fill="hold">
                            <p:stCondLst>
                              <p:cond delay="3000"/>
                            </p:stCondLst>
                            <p:childTnLst>
                              <p:par>
                                <p:cTn id="42" presetID="18" presetClass="entr" presetSubtype="6" fill="hold" nodeType="afterEffect">
                                  <p:stCondLst>
                                    <p:cond delay="0"/>
                                  </p:stCondLst>
                                  <p:childTnLst>
                                    <p:set>
                                      <p:cBhvr>
                                        <p:cTn id="43" dur="1" fill="hold">
                                          <p:stCondLst>
                                            <p:cond delay="0"/>
                                          </p:stCondLst>
                                        </p:cTn>
                                        <p:tgtEl>
                                          <p:spTgt spid="850037"/>
                                        </p:tgtEl>
                                        <p:attrNameLst>
                                          <p:attrName>style.visibility</p:attrName>
                                        </p:attrNameLst>
                                      </p:cBhvr>
                                      <p:to>
                                        <p:strVal val="visible"/>
                                      </p:to>
                                    </p:set>
                                    <p:animEffect transition="in" filter="strips(downRight)">
                                      <p:cBhvr>
                                        <p:cTn id="44" dur="500"/>
                                        <p:tgtEl>
                                          <p:spTgt spid="850037"/>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3500"/>
                            </p:stCondLst>
                            <p:childTnLst>
                              <p:par>
                                <p:cTn id="46" presetID="8" presetClass="entr" presetSubtype="32" fill="hold" nodeType="afterEffect">
                                  <p:stCondLst>
                                    <p:cond delay="0"/>
                                  </p:stCondLst>
                                  <p:childTnLst>
                                    <p:set>
                                      <p:cBhvr>
                                        <p:cTn id="47" dur="1" fill="hold">
                                          <p:stCondLst>
                                            <p:cond delay="0"/>
                                          </p:stCondLst>
                                        </p:cTn>
                                        <p:tgtEl>
                                          <p:spTgt spid="849988"/>
                                        </p:tgtEl>
                                        <p:attrNameLst>
                                          <p:attrName>style.visibility</p:attrName>
                                        </p:attrNameLst>
                                      </p:cBhvr>
                                      <p:to>
                                        <p:strVal val="visible"/>
                                      </p:to>
                                    </p:set>
                                    <p:animEffect transition="in" filter="diamond(out)">
                                      <p:cBhvr>
                                        <p:cTn id="48" dur="500"/>
                                        <p:tgtEl>
                                          <p:spTgt spid="849988"/>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4000"/>
                            </p:stCondLst>
                            <p:childTnLst>
                              <p:par>
                                <p:cTn id="50" presetID="18" presetClass="entr" presetSubtype="12" fill="hold" nodeType="afterEffect">
                                  <p:stCondLst>
                                    <p:cond delay="0"/>
                                  </p:stCondLst>
                                  <p:childTnLst>
                                    <p:set>
                                      <p:cBhvr>
                                        <p:cTn id="51" dur="1" fill="hold">
                                          <p:stCondLst>
                                            <p:cond delay="0"/>
                                          </p:stCondLst>
                                        </p:cTn>
                                        <p:tgtEl>
                                          <p:spTgt spid="850035"/>
                                        </p:tgtEl>
                                        <p:attrNameLst>
                                          <p:attrName>style.visibility</p:attrName>
                                        </p:attrNameLst>
                                      </p:cBhvr>
                                      <p:to>
                                        <p:strVal val="visible"/>
                                      </p:to>
                                    </p:set>
                                    <p:animEffect transition="in" filter="strips(downLeft)">
                                      <p:cBhvr>
                                        <p:cTn id="52" dur="500"/>
                                        <p:tgtEl>
                                          <p:spTgt spid="85003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par>
                          <p:cTn id="53" fill="hold">
                            <p:stCondLst>
                              <p:cond delay="4500"/>
                            </p:stCondLst>
                            <p:childTnLst>
                              <p:par>
                                <p:cTn id="54" presetID="4" presetClass="entr" presetSubtype="32" fill="hold" grpId="0" nodeType="afterEffect">
                                  <p:stCondLst>
                                    <p:cond delay="0"/>
                                  </p:stCondLst>
                                  <p:childTnLst>
                                    <p:set>
                                      <p:cBhvr>
                                        <p:cTn id="55" dur="1" fill="hold">
                                          <p:stCondLst>
                                            <p:cond delay="0"/>
                                          </p:stCondLst>
                                        </p:cTn>
                                        <p:tgtEl>
                                          <p:spTgt spid="850066"/>
                                        </p:tgtEl>
                                        <p:attrNameLst>
                                          <p:attrName>style.visibility</p:attrName>
                                        </p:attrNameLst>
                                      </p:cBhvr>
                                      <p:to>
                                        <p:strVal val="visible"/>
                                      </p:to>
                                    </p:set>
                                    <p:animEffect transition="in" filter="box(out)">
                                      <p:cBhvr>
                                        <p:cTn id="56" dur="500"/>
                                        <p:tgtEl>
                                          <p:spTgt spid="850066"/>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5000"/>
                            </p:stCondLst>
                            <p:childTnLst>
                              <p:par>
                                <p:cTn id="58" presetID="18" presetClass="entr" presetSubtype="6" fill="hold" nodeType="afterEffect">
                                  <p:stCondLst>
                                    <p:cond delay="0"/>
                                  </p:stCondLst>
                                  <p:childTnLst>
                                    <p:set>
                                      <p:cBhvr>
                                        <p:cTn id="59" dur="1" fill="hold">
                                          <p:stCondLst>
                                            <p:cond delay="0"/>
                                          </p:stCondLst>
                                        </p:cTn>
                                        <p:tgtEl>
                                          <p:spTgt spid="850075"/>
                                        </p:tgtEl>
                                        <p:attrNameLst>
                                          <p:attrName>style.visibility</p:attrName>
                                        </p:attrNameLst>
                                      </p:cBhvr>
                                      <p:to>
                                        <p:strVal val="visible"/>
                                      </p:to>
                                    </p:set>
                                    <p:animEffect transition="in" filter="strips(downRight)">
                                      <p:cBhvr>
                                        <p:cTn id="60" dur="500"/>
                                        <p:tgtEl>
                                          <p:spTgt spid="850075"/>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par>
                          <p:cTn id="61" fill="hold">
                            <p:stCondLst>
                              <p:cond delay="5500"/>
                            </p:stCondLst>
                            <p:childTnLst>
                              <p:par>
                                <p:cTn id="62" presetID="18" presetClass="entr" presetSubtype="6" fill="hold" nodeType="afterEffect">
                                  <p:stCondLst>
                                    <p:cond delay="0"/>
                                  </p:stCondLst>
                                  <p:childTnLst>
                                    <p:set>
                                      <p:cBhvr>
                                        <p:cTn id="63" dur="1" fill="hold">
                                          <p:stCondLst>
                                            <p:cond delay="0"/>
                                          </p:stCondLst>
                                        </p:cTn>
                                        <p:tgtEl>
                                          <p:spTgt spid="850040"/>
                                        </p:tgtEl>
                                        <p:attrNameLst>
                                          <p:attrName>style.visibility</p:attrName>
                                        </p:attrNameLst>
                                      </p:cBhvr>
                                      <p:to>
                                        <p:strVal val="visible"/>
                                      </p:to>
                                    </p:set>
                                    <p:animEffect transition="in" filter="strips(downRight)">
                                      <p:cBhvr>
                                        <p:cTn id="64" dur="500"/>
                                        <p:tgtEl>
                                          <p:spTgt spid="850040"/>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6000"/>
                            </p:stCondLst>
                            <p:childTnLst>
                              <p:par>
                                <p:cTn id="66" presetID="8" presetClass="entr" presetSubtype="32" fill="hold" nodeType="afterEffect">
                                  <p:stCondLst>
                                    <p:cond delay="0"/>
                                  </p:stCondLst>
                                  <p:childTnLst>
                                    <p:set>
                                      <p:cBhvr>
                                        <p:cTn id="67" dur="1" fill="hold">
                                          <p:stCondLst>
                                            <p:cond delay="0"/>
                                          </p:stCondLst>
                                        </p:cTn>
                                        <p:tgtEl>
                                          <p:spTgt spid="849991"/>
                                        </p:tgtEl>
                                        <p:attrNameLst>
                                          <p:attrName>style.visibility</p:attrName>
                                        </p:attrNameLst>
                                      </p:cBhvr>
                                      <p:to>
                                        <p:strVal val="visible"/>
                                      </p:to>
                                    </p:set>
                                    <p:animEffect transition="in" filter="diamond(out)">
                                      <p:cBhvr>
                                        <p:cTn id="68" dur="500"/>
                                        <p:tgtEl>
                                          <p:spTgt spid="849991"/>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par>
                          <p:cTn id="69" fill="hold">
                            <p:stCondLst>
                              <p:cond delay="6500"/>
                            </p:stCondLst>
                            <p:childTnLst>
                              <p:par>
                                <p:cTn id="70" presetID="18" presetClass="entr" presetSubtype="6" fill="hold" nodeType="afterEffect">
                                  <p:stCondLst>
                                    <p:cond delay="0"/>
                                  </p:stCondLst>
                                  <p:childTnLst>
                                    <p:set>
                                      <p:cBhvr>
                                        <p:cTn id="71" dur="1" fill="hold">
                                          <p:stCondLst>
                                            <p:cond delay="0"/>
                                          </p:stCondLst>
                                        </p:cTn>
                                        <p:tgtEl>
                                          <p:spTgt spid="850055"/>
                                        </p:tgtEl>
                                        <p:attrNameLst>
                                          <p:attrName>style.visibility</p:attrName>
                                        </p:attrNameLst>
                                      </p:cBhvr>
                                      <p:to>
                                        <p:strVal val="visible"/>
                                      </p:to>
                                    </p:set>
                                    <p:animEffect transition="in" filter="strips(downRight)">
                                      <p:cBhvr>
                                        <p:cTn id="72" dur="500"/>
                                        <p:tgtEl>
                                          <p:spTgt spid="850055"/>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par>
                          <p:cTn id="73" fill="hold">
                            <p:stCondLst>
                              <p:cond delay="7000"/>
                            </p:stCondLst>
                            <p:childTnLst>
                              <p:par>
                                <p:cTn id="74" presetID="4" presetClass="entr" presetSubtype="32" fill="hold" grpId="0" nodeType="afterEffect">
                                  <p:stCondLst>
                                    <p:cond delay="0"/>
                                  </p:stCondLst>
                                  <p:childTnLst>
                                    <p:set>
                                      <p:cBhvr>
                                        <p:cTn id="75" dur="1" fill="hold">
                                          <p:stCondLst>
                                            <p:cond delay="0"/>
                                          </p:stCondLst>
                                        </p:cTn>
                                        <p:tgtEl>
                                          <p:spTgt spid="850065"/>
                                        </p:tgtEl>
                                        <p:attrNameLst>
                                          <p:attrName>style.visibility</p:attrName>
                                        </p:attrNameLst>
                                      </p:cBhvr>
                                      <p:to>
                                        <p:strVal val="visible"/>
                                      </p:to>
                                    </p:set>
                                    <p:animEffect transition="in" filter="box(out)">
                                      <p:cBhvr>
                                        <p:cTn id="76" dur="500"/>
                                        <p:tgtEl>
                                          <p:spTgt spid="850065"/>
                                        </p:tgtEl>
                                      </p:cBhvr>
                                    </p:animEffect>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par>
                          <p:cTn id="77" fill="hold">
                            <p:stCondLst>
                              <p:cond delay="7500"/>
                            </p:stCondLst>
                            <p:childTnLst>
                              <p:par>
                                <p:cTn id="78" presetID="18" presetClass="entr" presetSubtype="12" fill="hold" nodeType="afterEffect">
                                  <p:stCondLst>
                                    <p:cond delay="0"/>
                                  </p:stCondLst>
                                  <p:childTnLst>
                                    <p:set>
                                      <p:cBhvr>
                                        <p:cTn id="79" dur="1" fill="hold">
                                          <p:stCondLst>
                                            <p:cond delay="0"/>
                                          </p:stCondLst>
                                        </p:cTn>
                                        <p:tgtEl>
                                          <p:spTgt spid="850078"/>
                                        </p:tgtEl>
                                        <p:attrNameLst>
                                          <p:attrName>style.visibility</p:attrName>
                                        </p:attrNameLst>
                                      </p:cBhvr>
                                      <p:to>
                                        <p:strVal val="visible"/>
                                      </p:to>
                                    </p:set>
                                    <p:animEffect transition="in" filter="strips(downLeft)">
                                      <p:cBhvr>
                                        <p:cTn id="80" dur="500"/>
                                        <p:tgtEl>
                                          <p:spTgt spid="850078"/>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1" fill="hold">
                            <p:stCondLst>
                              <p:cond delay="8000"/>
                            </p:stCondLst>
                            <p:childTnLst>
                              <p:par>
                                <p:cTn id="82" presetID="18" presetClass="entr" presetSubtype="6" fill="hold" nodeType="afterEffect">
                                  <p:stCondLst>
                                    <p:cond delay="0"/>
                                  </p:stCondLst>
                                  <p:childTnLst>
                                    <p:set>
                                      <p:cBhvr>
                                        <p:cTn id="83" dur="1" fill="hold">
                                          <p:stCondLst>
                                            <p:cond delay="0"/>
                                          </p:stCondLst>
                                        </p:cTn>
                                        <p:tgtEl>
                                          <p:spTgt spid="850069"/>
                                        </p:tgtEl>
                                        <p:attrNameLst>
                                          <p:attrName>style.visibility</p:attrName>
                                        </p:attrNameLst>
                                      </p:cBhvr>
                                      <p:to>
                                        <p:strVal val="visible"/>
                                      </p:to>
                                    </p:set>
                                    <p:animEffect transition="in" filter="strips(downRight)">
                                      <p:cBhvr>
                                        <p:cTn id="84" dur="500"/>
                                        <p:tgtEl>
                                          <p:spTgt spid="850069"/>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5" fill="hold">
                            <p:stCondLst>
                              <p:cond delay="8500"/>
                            </p:stCondLst>
                            <p:childTnLst>
                              <p:par>
                                <p:cTn id="86" presetID="8" presetClass="entr" presetSubtype="32" fill="hold" nodeType="afterEffect">
                                  <p:stCondLst>
                                    <p:cond delay="0"/>
                                  </p:stCondLst>
                                  <p:childTnLst>
                                    <p:set>
                                      <p:cBhvr>
                                        <p:cTn id="87" dur="1" fill="hold">
                                          <p:stCondLst>
                                            <p:cond delay="0"/>
                                          </p:stCondLst>
                                        </p:cTn>
                                        <p:tgtEl>
                                          <p:spTgt spid="850052"/>
                                        </p:tgtEl>
                                        <p:attrNameLst>
                                          <p:attrName>style.visibility</p:attrName>
                                        </p:attrNameLst>
                                      </p:cBhvr>
                                      <p:to>
                                        <p:strVal val="visible"/>
                                      </p:to>
                                    </p:set>
                                    <p:animEffect transition="in" filter="diamond(out)">
                                      <p:cBhvr>
                                        <p:cTn id="88" dur="500"/>
                                        <p:tgtEl>
                                          <p:spTgt spid="850052"/>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9000"/>
                            </p:stCondLst>
                            <p:childTnLst>
                              <p:par>
                                <p:cTn id="90" presetID="18" presetClass="entr" presetSubtype="12" fill="hold" nodeType="afterEffect">
                                  <p:stCondLst>
                                    <p:cond delay="0"/>
                                  </p:stCondLst>
                                  <p:childTnLst>
                                    <p:set>
                                      <p:cBhvr>
                                        <p:cTn id="91" dur="1" fill="hold">
                                          <p:stCondLst>
                                            <p:cond delay="0"/>
                                          </p:stCondLst>
                                        </p:cTn>
                                        <p:tgtEl>
                                          <p:spTgt spid="850064"/>
                                        </p:tgtEl>
                                        <p:attrNameLst>
                                          <p:attrName>style.visibility</p:attrName>
                                        </p:attrNameLst>
                                      </p:cBhvr>
                                      <p:to>
                                        <p:strVal val="visible"/>
                                      </p:to>
                                    </p:set>
                                    <p:animEffect transition="in" filter="strips(downLeft)">
                                      <p:cBhvr>
                                        <p:cTn id="92" dur="500"/>
                                        <p:tgtEl>
                                          <p:spTgt spid="850064"/>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3" fill="hold">
                            <p:stCondLst>
                              <p:cond delay="9500"/>
                            </p:stCondLst>
                            <p:childTnLst>
                              <p:par>
                                <p:cTn id="94" presetID="4" presetClass="entr" presetSubtype="32" fill="hold" grpId="0" nodeType="afterEffect">
                                  <p:stCondLst>
                                    <p:cond delay="0"/>
                                  </p:stCondLst>
                                  <p:childTnLst>
                                    <p:set>
                                      <p:cBhvr>
                                        <p:cTn id="95" dur="1" fill="hold">
                                          <p:stCondLst>
                                            <p:cond delay="0"/>
                                          </p:stCondLst>
                                        </p:cTn>
                                        <p:tgtEl>
                                          <p:spTgt spid="850059"/>
                                        </p:tgtEl>
                                        <p:attrNameLst>
                                          <p:attrName>style.visibility</p:attrName>
                                        </p:attrNameLst>
                                      </p:cBhvr>
                                      <p:to>
                                        <p:strVal val="visible"/>
                                      </p:to>
                                    </p:set>
                                    <p:animEffect transition="in" filter="box(out)">
                                      <p:cBhvr>
                                        <p:cTn id="96" dur="500"/>
                                        <p:tgtEl>
                                          <p:spTgt spid="850059"/>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par>
                          <p:cTn id="97" fill="hold">
                            <p:stCondLst>
                              <p:cond delay="10000"/>
                            </p:stCondLst>
                            <p:childTnLst>
                              <p:par>
                                <p:cTn id="98" presetID="18" presetClass="entr" presetSubtype="12" fill="hold" nodeType="afterEffect">
                                  <p:stCondLst>
                                    <p:cond delay="0"/>
                                  </p:stCondLst>
                                  <p:childTnLst>
                                    <p:set>
                                      <p:cBhvr>
                                        <p:cTn id="99" dur="1" fill="hold">
                                          <p:stCondLst>
                                            <p:cond delay="0"/>
                                          </p:stCondLst>
                                        </p:cTn>
                                        <p:tgtEl>
                                          <p:spTgt spid="850081"/>
                                        </p:tgtEl>
                                        <p:attrNameLst>
                                          <p:attrName>style.visibility</p:attrName>
                                        </p:attrNameLst>
                                      </p:cBhvr>
                                      <p:to>
                                        <p:strVal val="visible"/>
                                      </p:to>
                                    </p:set>
                                    <p:animEffect transition="in" filter="strips(downLeft)">
                                      <p:cBhvr>
                                        <p:cTn id="100" dur="500"/>
                                        <p:tgtEl>
                                          <p:spTgt spid="850081"/>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par>
                          <p:cTn id="101" fill="hold">
                            <p:stCondLst>
                              <p:cond delay="10500"/>
                            </p:stCondLst>
                            <p:childTnLst>
                              <p:par>
                                <p:cTn id="102" presetID="18" presetClass="entr" presetSubtype="6" fill="hold" nodeType="afterEffect">
                                  <p:stCondLst>
                                    <p:cond delay="0"/>
                                  </p:stCondLst>
                                  <p:childTnLst>
                                    <p:set>
                                      <p:cBhvr>
                                        <p:cTn id="103" dur="1" fill="hold">
                                          <p:stCondLst>
                                            <p:cond delay="0"/>
                                          </p:stCondLst>
                                        </p:cTn>
                                        <p:tgtEl>
                                          <p:spTgt spid="850034"/>
                                        </p:tgtEl>
                                        <p:attrNameLst>
                                          <p:attrName>style.visibility</p:attrName>
                                        </p:attrNameLst>
                                      </p:cBhvr>
                                      <p:to>
                                        <p:strVal val="visible"/>
                                      </p:to>
                                    </p:set>
                                    <p:animEffect transition="in" filter="strips(downRight)">
                                      <p:cBhvr>
                                        <p:cTn id="104" dur="500"/>
                                        <p:tgtEl>
                                          <p:spTgt spid="850034"/>
                                        </p:tgtEl>
                                      </p:cBhvr>
                                    </p:animEffect>
                                  </p:childTnLst>
                                  <p:subTnLst>
                                    <p:audio>
                                      <p:cMediaNode>
                                        <p:cTn display="0" masterRel="sameClick">
                                          <p:stCondLst>
                                            <p:cond evt="begin" delay="0">
                                              <p:tn val="102"/>
                                            </p:cond>
                                          </p:stCondLst>
                                          <p:endCondLst>
                                            <p:cond evt="onStopAudio" delay="0">
                                              <p:tgtEl>
                                                <p:sldTgt/>
                                              </p:tgtEl>
                                            </p:cond>
                                          </p:endCondLst>
                                        </p:cTn>
                                        <p:tgtEl>
                                          <p:sndTgt r:embed="rId3" name="camera.wav"/>
                                        </p:tgtEl>
                                      </p:cMediaNode>
                                    </p:audio>
                                  </p:subTnLst>
                                </p:cTn>
                              </p:par>
                            </p:childTnLst>
                          </p:cTn>
                        </p:par>
                        <p:par>
                          <p:cTn id="105" fill="hold">
                            <p:stCondLst>
                              <p:cond delay="11000"/>
                            </p:stCondLst>
                            <p:childTnLst>
                              <p:par>
                                <p:cTn id="106" presetID="4" presetClass="entr" presetSubtype="32" fill="hold" grpId="0" nodeType="afterEffect">
                                  <p:stCondLst>
                                    <p:cond delay="0"/>
                                  </p:stCondLst>
                                  <p:childTnLst>
                                    <p:set>
                                      <p:cBhvr>
                                        <p:cTn id="107" dur="1" fill="hold">
                                          <p:stCondLst>
                                            <p:cond delay="0"/>
                                          </p:stCondLst>
                                        </p:cTn>
                                        <p:tgtEl>
                                          <p:spTgt spid="850063"/>
                                        </p:tgtEl>
                                        <p:attrNameLst>
                                          <p:attrName>style.visibility</p:attrName>
                                        </p:attrNameLst>
                                      </p:cBhvr>
                                      <p:to>
                                        <p:strVal val="visible"/>
                                      </p:to>
                                    </p:set>
                                    <p:animEffect transition="in" filter="box(out)">
                                      <p:cBhvr>
                                        <p:cTn id="108" dur="500"/>
                                        <p:tgtEl>
                                          <p:spTgt spid="850063"/>
                                        </p:tgtEl>
                                      </p:cBhvr>
                                    </p:animEffect>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par>
                          <p:cTn id="109" fill="hold">
                            <p:stCondLst>
                              <p:cond delay="11500"/>
                            </p:stCondLst>
                            <p:childTnLst>
                              <p:par>
                                <p:cTn id="110" presetID="18" presetClass="entr" presetSubtype="12" fill="hold" nodeType="afterEffect">
                                  <p:stCondLst>
                                    <p:cond delay="0"/>
                                  </p:stCondLst>
                                  <p:childTnLst>
                                    <p:set>
                                      <p:cBhvr>
                                        <p:cTn id="111" dur="1" fill="hold">
                                          <p:stCondLst>
                                            <p:cond delay="0"/>
                                          </p:stCondLst>
                                        </p:cTn>
                                        <p:tgtEl>
                                          <p:spTgt spid="850084"/>
                                        </p:tgtEl>
                                        <p:attrNameLst>
                                          <p:attrName>style.visibility</p:attrName>
                                        </p:attrNameLst>
                                      </p:cBhvr>
                                      <p:to>
                                        <p:strVal val="visible"/>
                                      </p:to>
                                    </p:set>
                                    <p:animEffect transition="in" filter="strips(downLeft)">
                                      <p:cBhvr>
                                        <p:cTn id="112" dur="500"/>
                                        <p:tgtEl>
                                          <p:spTgt spid="850084"/>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850042"/>
                                        </p:tgtEl>
                                        <p:attrNameLst>
                                          <p:attrName>style.visibility</p:attrName>
                                        </p:attrNameLst>
                                      </p:cBhvr>
                                      <p:to>
                                        <p:strVal val="visible"/>
                                      </p:to>
                                    </p:set>
                                    <p:animEffect transition="in" filter="box(out)">
                                      <p:cBhvr>
                                        <p:cTn id="117" dur="500"/>
                                        <p:tgtEl>
                                          <p:spTgt spid="850042"/>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7" grpId="0"/>
      <p:bldP spid="849928" grpId="0" animBg="1"/>
      <p:bldP spid="849929" grpId="0"/>
      <p:bldP spid="849930" grpId="0"/>
      <p:bldP spid="849980" grpId="0" animBg="1"/>
      <p:bldP spid="850059" grpId="0" animBg="1"/>
      <p:bldP spid="850063" grpId="0" animBg="1"/>
      <p:bldP spid="850065" grpId="0" animBg="1"/>
      <p:bldP spid="850066" grpId="0" animBg="1"/>
      <p:bldP spid="850067" grpId="0" animBg="1"/>
      <p:bldP spid="85004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2033" name="Rectangle 65"/>
          <p:cNvSpPr>
            <a:spLocks noChangeArrowheads="1"/>
          </p:cNvSpPr>
          <p:nvPr/>
        </p:nvSpPr>
        <p:spPr bwMode="auto">
          <a:xfrm>
            <a:off x="598367" y="1893422"/>
            <a:ext cx="10826871" cy="4524315"/>
          </a:xfrm>
          <a:prstGeom prst="rect">
            <a:avLst/>
          </a:prstGeom>
          <a:noFill/>
          <a:ln w="38100">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(1) if</a:t>
            </a:r>
            <a:r>
              <a:rPr lang="zh-CN" altLang="en-US" b="1" dirty="0">
                <a:effectLst>
                  <a:outerShdw blurRad="38100" dist="38100" dir="2700000" algn="tl">
                    <a:srgbClr val="FFFFFF"/>
                  </a:outerShdw>
                </a:effectLst>
                <a:latin typeface="+mn-lt"/>
                <a:ea typeface="楷体" pitchFamily="49" charset="-122"/>
              </a:rPr>
              <a:t>语句后面的表达式必须用括号括起来</a:t>
            </a:r>
            <a:r>
              <a:rPr lang="zh-CN" altLang="en-US" b="1" dirty="0">
                <a:latin typeface="+mn-lt"/>
                <a:ea typeface="楷体" pitchFamily="49" charset="-122"/>
              </a:rPr>
              <a:t> 。</a:t>
            </a:r>
            <a:endParaRPr lang="en-US" altLang="zh-CN" b="1" dirty="0">
              <a:latin typeface="+mn-lt"/>
              <a:ea typeface="楷体" pitchFamily="49" charset="-122"/>
            </a:endParaRPr>
          </a:p>
          <a:p>
            <a:endParaRPr lang="zh-CN" altLang="en-US" b="1" dirty="0">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(2) </a:t>
            </a:r>
            <a:r>
              <a:rPr lang="zh-CN" altLang="en-US" b="1" dirty="0">
                <a:effectLst>
                  <a:outerShdw blurRad="38100" dist="38100" dir="2700000" algn="tl">
                    <a:srgbClr val="FFFFFF"/>
                  </a:outerShdw>
                </a:effectLst>
                <a:latin typeface="+mn-lt"/>
                <a:ea typeface="楷体" pitchFamily="49" charset="-122"/>
              </a:rPr>
              <a:t>表达式通常是逻辑表达式或关系表达式，但也可以是其它任何表达式，如赋值表达式等，甚至也可以是一个变量。</a:t>
            </a:r>
            <a:r>
              <a:rPr lang="zh-CN" altLang="en-US" b="1" dirty="0">
                <a:solidFill>
                  <a:srgbClr val="C00000"/>
                </a:solidFill>
                <a:effectLst>
                  <a:outerShdw blurRad="38100" dist="38100" dir="2700000" algn="tl">
                    <a:srgbClr val="FFFFFF"/>
                  </a:outerShdw>
                </a:effectLst>
                <a:latin typeface="+mn-lt"/>
                <a:ea typeface="楷体" pitchFamily="49" charset="-122"/>
              </a:rPr>
              <a:t>只要表达式非零时，表达式的值就为真，否则就是假</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a:p>
            <a:endParaRPr lang="zh-CN" altLang="en-US"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 </a:t>
            </a:r>
            <a:r>
              <a:rPr lang="zh-CN" altLang="zh-CN"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语句的三种形式中，所有的语句应为单个语句，如果要想在满足条件时执行一组</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多个</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语句，则必须把这一组语句用</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括起来组成一个复合语句。但要注意的是在</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之后不能再加分号。</a:t>
            </a:r>
            <a:endParaRPr lang="en-US" altLang="zh-CN" b="1" dirty="0">
              <a:effectLst>
                <a:outerShdw blurRad="38100" dist="38100" dir="2700000" algn="tl">
                  <a:srgbClr val="FFFFFF"/>
                </a:outerShdw>
              </a:effectLst>
              <a:latin typeface="+mn-lt"/>
              <a:ea typeface="楷体" pitchFamily="49" charset="-122"/>
            </a:endParaRPr>
          </a:p>
          <a:p>
            <a:endParaRPr lang="zh-CN" altLang="en-US"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 </a:t>
            </a:r>
            <a:r>
              <a:rPr lang="zh-CN" altLang="zh-CN" b="1" dirty="0">
                <a:effectLst>
                  <a:outerShdw blurRad="38100" dist="38100" dir="2700000" algn="tl">
                    <a:srgbClr val="FFFFFF"/>
                  </a:outerShdw>
                </a:effectLst>
                <a:latin typeface="+mn-lt"/>
                <a:ea typeface="楷体" pitchFamily="49" charset="-122"/>
              </a:rPr>
              <a:t>在</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语句中，如果表达式是一个判断两个数是否相等的关系表达式，要当心不要将</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写成了赋值运算符</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p>
        </p:txBody>
      </p:sp>
      <p:sp>
        <p:nvSpPr>
          <p:cNvPr id="851974" name="Rectangle 6"/>
          <p:cNvSpPr>
            <a:spLocks noChangeArrowheads="1"/>
          </p:cNvSpPr>
          <p:nvPr/>
        </p:nvSpPr>
        <p:spPr bwMode="auto">
          <a:xfrm>
            <a:off x="1181754" y="1379687"/>
            <a:ext cx="2627642"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C01920"/>
                </a:solidFill>
                <a:latin typeface="+mn-lt"/>
                <a:ea typeface="楷体" pitchFamily="49" charset="-122"/>
              </a:rPr>
              <a:t> if</a:t>
            </a:r>
            <a:r>
              <a:rPr lang="zh-CN" altLang="en-US" b="1" dirty="0">
                <a:solidFill>
                  <a:srgbClr val="C01920"/>
                </a:solidFill>
                <a:latin typeface="+mn-lt"/>
                <a:ea typeface="楷体" pitchFamily="49" charset="-122"/>
              </a:rPr>
              <a:t>语句注意事项</a:t>
            </a:r>
            <a:r>
              <a:rPr lang="zh-CN" altLang="en-US" dirty="0">
                <a:solidFill>
                  <a:srgbClr val="C01920"/>
                </a:solidFill>
                <a:latin typeface="+mn-lt"/>
                <a:ea typeface="楷体" pitchFamily="49" charset="-122"/>
              </a:rPr>
              <a:t> </a:t>
            </a:r>
          </a:p>
        </p:txBody>
      </p:sp>
      <p:grpSp>
        <p:nvGrpSpPr>
          <p:cNvPr id="27" name="组合 26"/>
          <p:cNvGrpSpPr/>
          <p:nvPr/>
        </p:nvGrpSpPr>
        <p:grpSpPr>
          <a:xfrm>
            <a:off x="1920047" y="2345021"/>
            <a:ext cx="7345480" cy="860425"/>
            <a:chOff x="1907405" y="4929198"/>
            <a:chExt cx="7345480" cy="860425"/>
          </a:xfrm>
        </p:grpSpPr>
        <p:sp>
          <p:nvSpPr>
            <p:cNvPr id="852034" name="Rectangle 66"/>
            <p:cNvSpPr>
              <a:spLocks noChangeArrowheads="1"/>
            </p:cNvSpPr>
            <p:nvPr/>
          </p:nvSpPr>
          <p:spPr bwMode="auto">
            <a:xfrm>
              <a:off x="1907405" y="4929198"/>
              <a:ext cx="3502932" cy="860425"/>
            </a:xfrm>
            <a:prstGeom prst="rect">
              <a:avLst/>
            </a:prstGeom>
            <a:solidFill>
              <a:srgbClr val="FFFFFF"/>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  </a:t>
              </a:r>
              <a:r>
                <a:rPr lang="en-US" altLang="zh-CN" b="1" dirty="0">
                  <a:ea typeface="楷体_GB2312" pitchFamily="49" charset="-122"/>
                </a:rPr>
                <a:t>if x &gt; 0 </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&gt; 0</a:t>
              </a:r>
              <a:r>
                <a:rPr lang="en-US" altLang="zh-CN" b="1" dirty="0"/>
                <a:t>"</a:t>
              </a:r>
              <a:r>
                <a:rPr lang="en-US" altLang="zh-CN" b="1" dirty="0">
                  <a:ea typeface="楷体_GB2312" pitchFamily="49" charset="-122"/>
                </a:rPr>
                <a:t>);</a:t>
              </a:r>
              <a:endParaRPr lang="en-US" altLang="zh-CN" sz="2000" b="1" dirty="0">
                <a:ea typeface="楷体_GB2312" pitchFamily="49" charset="-122"/>
              </a:endParaRPr>
            </a:p>
          </p:txBody>
        </p:sp>
        <p:sp>
          <p:nvSpPr>
            <p:cNvPr id="852035" name="Rectangle 67"/>
            <p:cNvSpPr>
              <a:spLocks noChangeArrowheads="1"/>
            </p:cNvSpPr>
            <p:nvPr/>
          </p:nvSpPr>
          <p:spPr bwMode="auto">
            <a:xfrm>
              <a:off x="5749953" y="4929198"/>
              <a:ext cx="3502932" cy="860425"/>
            </a:xfrm>
            <a:prstGeom prst="rect">
              <a:avLst/>
            </a:prstGeom>
            <a:solidFill>
              <a:srgbClr val="FFFFFF"/>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  </a:t>
              </a:r>
              <a:r>
                <a:rPr lang="en-US" altLang="zh-CN" b="1" dirty="0">
                  <a:ea typeface="楷体_GB2312" pitchFamily="49" charset="-122"/>
                </a:rPr>
                <a:t>if (x &gt; 0) </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&gt; 0</a:t>
              </a:r>
              <a:r>
                <a:rPr lang="en-US" altLang="zh-CN" b="1" dirty="0"/>
                <a:t>"</a:t>
              </a:r>
              <a:r>
                <a:rPr lang="en-US" altLang="zh-CN" b="1" dirty="0">
                  <a:ea typeface="楷体_GB2312" pitchFamily="49" charset="-122"/>
                </a:rPr>
                <a:t>);</a:t>
              </a:r>
              <a:endParaRPr lang="en-US" altLang="zh-CN" sz="2000" b="1" dirty="0">
                <a:ea typeface="楷体_GB2312" pitchFamily="49" charset="-122"/>
              </a:endParaRPr>
            </a:p>
          </p:txBody>
        </p:sp>
        <p:grpSp>
          <p:nvGrpSpPr>
            <p:cNvPr id="852036" name="Group 68"/>
            <p:cNvGrpSpPr>
              <a:grpSpLocks/>
            </p:cNvGrpSpPr>
            <p:nvPr/>
          </p:nvGrpSpPr>
          <p:grpSpPr bwMode="auto">
            <a:xfrm>
              <a:off x="4279877" y="5002223"/>
              <a:ext cx="381000" cy="381000"/>
              <a:chOff x="4870" y="3540"/>
              <a:chExt cx="240" cy="240"/>
            </a:xfrm>
          </p:grpSpPr>
          <p:sp>
            <p:nvSpPr>
              <p:cNvPr id="852037" name="Line 69"/>
              <p:cNvSpPr>
                <a:spLocks noChangeShapeType="1"/>
              </p:cNvSpPr>
              <p:nvPr/>
            </p:nvSpPr>
            <p:spPr bwMode="auto">
              <a:xfrm flipH="1">
                <a:off x="4870" y="3540"/>
                <a:ext cx="240" cy="240"/>
              </a:xfrm>
              <a:prstGeom prst="line">
                <a:avLst/>
              </a:prstGeom>
              <a:noFill/>
              <a:ln w="38100">
                <a:solidFill>
                  <a:schemeClr val="accent1">
                    <a:lumMod val="50000"/>
                  </a:schemeClr>
                </a:solidFill>
                <a:round/>
                <a:headEnd/>
                <a:tailEnd/>
              </a:ln>
              <a:effectLst/>
            </p:spPr>
            <p:txBody>
              <a:bodyPr wrap="none" lIns="90000" tIns="46800" rIns="90000" bIns="46800" anchor="ctr"/>
              <a:lstStyle/>
              <a:p>
                <a:endParaRPr lang="zh-CN" altLang="en-US"/>
              </a:p>
            </p:txBody>
          </p:sp>
          <p:sp>
            <p:nvSpPr>
              <p:cNvPr id="852038" name="Line 70"/>
              <p:cNvSpPr>
                <a:spLocks noChangeShapeType="1"/>
              </p:cNvSpPr>
              <p:nvPr/>
            </p:nvSpPr>
            <p:spPr bwMode="auto">
              <a:xfrm>
                <a:off x="4882" y="3540"/>
                <a:ext cx="228" cy="216"/>
              </a:xfrm>
              <a:prstGeom prst="line">
                <a:avLst/>
              </a:prstGeom>
              <a:noFill/>
              <a:ln w="38100">
                <a:solidFill>
                  <a:schemeClr val="accent1">
                    <a:lumMod val="50000"/>
                  </a:schemeClr>
                </a:solidFill>
                <a:round/>
                <a:headEnd/>
                <a:tailEnd/>
              </a:ln>
              <a:effectLst/>
            </p:spPr>
            <p:txBody>
              <a:bodyPr wrap="none" lIns="90000" tIns="46800" rIns="90000" bIns="46800" anchor="ctr"/>
              <a:lstStyle/>
              <a:p>
                <a:endParaRPr lang="zh-CN" altLang="en-US"/>
              </a:p>
            </p:txBody>
          </p:sp>
        </p:grpSp>
        <p:sp>
          <p:nvSpPr>
            <p:cNvPr id="852039" name="Freeform 71"/>
            <p:cNvSpPr>
              <a:spLocks/>
            </p:cNvSpPr>
            <p:nvPr/>
          </p:nvSpPr>
          <p:spPr bwMode="auto">
            <a:xfrm>
              <a:off x="8173597" y="4929198"/>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chemeClr val="accent1">
                  <a:lumMod val="50000"/>
                </a:schemeClr>
              </a:solidFill>
              <a:prstDash val="solid"/>
              <a:round/>
              <a:headEnd/>
              <a:tailEnd/>
            </a:ln>
            <a:effectLst/>
          </p:spPr>
          <p:txBody>
            <a:bodyPr wrap="none" lIns="90000" tIns="46800" rIns="90000" bIns="46800" anchor="ctr"/>
            <a:lstStyle/>
            <a:p>
              <a:endParaRPr lang="zh-CN" altLang="en-US"/>
            </a:p>
          </p:txBody>
        </p:sp>
      </p:grpSp>
      <p:sp>
        <p:nvSpPr>
          <p:cNvPr id="852041" name="Rectangle 73"/>
          <p:cNvSpPr>
            <a:spLocks noChangeArrowheads="1"/>
          </p:cNvSpPr>
          <p:nvPr/>
        </p:nvSpPr>
        <p:spPr bwMode="auto">
          <a:xfrm>
            <a:off x="1775520" y="3782369"/>
            <a:ext cx="9005085" cy="830997"/>
          </a:xfrm>
          <a:prstGeom prst="rect">
            <a:avLst/>
          </a:prstGeom>
          <a:solidFill>
            <a:srgbClr val="FFFFFF"/>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a:ea typeface="楷体_GB2312" pitchFamily="49" charset="-122"/>
              </a:rPr>
              <a:t>  if (a = 5)   </a:t>
            </a:r>
            <a:r>
              <a:rPr lang="zh-CN" altLang="en-US" sz="2000" b="1" dirty="0">
                <a:latin typeface="楷体" panose="02010609060101010101" pitchFamily="49" charset="-122"/>
                <a:ea typeface="楷体" panose="02010609060101010101" pitchFamily="49" charset="-122"/>
              </a:rPr>
              <a:t>语句；</a:t>
            </a:r>
            <a:r>
              <a:rPr lang="zh-CN" altLang="en-US"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表达式的值永远为非</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，所以其后的语句总是要执行的</a:t>
            </a:r>
          </a:p>
          <a:p>
            <a:pPr indent="266700"/>
            <a:r>
              <a:rPr lang="zh-CN" altLang="en-US" b="1" dirty="0">
                <a:ea typeface="楷体_GB2312" pitchFamily="49" charset="-122"/>
              </a:rPr>
              <a:t>  </a:t>
            </a:r>
            <a:r>
              <a:rPr lang="en-US" altLang="zh-CN" b="1" dirty="0">
                <a:ea typeface="楷体_GB2312" pitchFamily="49" charset="-122"/>
              </a:rPr>
              <a:t>if (b)    </a:t>
            </a:r>
            <a:r>
              <a:rPr lang="zh-CN" altLang="en-US" sz="2000" b="1" dirty="0">
                <a:latin typeface="楷体" panose="02010609060101010101" pitchFamily="49" charset="-122"/>
                <a:ea typeface="楷体" panose="02010609060101010101" pitchFamily="49" charset="-122"/>
              </a:rPr>
              <a:t>语句；</a:t>
            </a:r>
            <a:r>
              <a:rPr lang="zh-CN" altLang="en-US"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等价于</a:t>
            </a:r>
            <a:r>
              <a:rPr lang="en-US" altLang="zh-CN" sz="1800" b="1" dirty="0">
                <a:solidFill>
                  <a:srgbClr val="002060"/>
                </a:solidFill>
                <a:latin typeface="+mn-lt"/>
                <a:ea typeface="楷体" pitchFamily="49" charset="-122"/>
              </a:rPr>
              <a:t>if (b != 0) </a:t>
            </a:r>
            <a:r>
              <a:rPr lang="zh-CN" altLang="en-US" sz="1800" b="1" dirty="0">
                <a:solidFill>
                  <a:srgbClr val="002060"/>
                </a:solidFill>
                <a:latin typeface="+mn-lt"/>
                <a:ea typeface="楷体" pitchFamily="49" charset="-122"/>
              </a:rPr>
              <a:t>语句；</a:t>
            </a:r>
          </a:p>
        </p:txBody>
      </p:sp>
      <p:grpSp>
        <p:nvGrpSpPr>
          <p:cNvPr id="28" name="组合 27"/>
          <p:cNvGrpSpPr/>
          <p:nvPr/>
        </p:nvGrpSpPr>
        <p:grpSpPr>
          <a:xfrm>
            <a:off x="2134449" y="2721833"/>
            <a:ext cx="6408737" cy="3781425"/>
            <a:chOff x="4861241" y="9823461"/>
            <a:chExt cx="6408737" cy="3781425"/>
          </a:xfrm>
        </p:grpSpPr>
        <p:sp>
          <p:nvSpPr>
            <p:cNvPr id="852043" name="Rectangle 75"/>
            <p:cNvSpPr>
              <a:spLocks noChangeArrowheads="1"/>
            </p:cNvSpPr>
            <p:nvPr/>
          </p:nvSpPr>
          <p:spPr bwMode="auto">
            <a:xfrm>
              <a:off x="4861241" y="9823461"/>
              <a:ext cx="3097212" cy="30511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r>
                <a:rPr lang="en-US" altLang="zh-CN" b="1" dirty="0">
                  <a:ea typeface="楷体_GB2312" pitchFamily="49" charset="-122"/>
                </a:rPr>
                <a:t>if (a &gt; b) </a:t>
              </a:r>
            </a:p>
            <a:p>
              <a:r>
                <a:rPr lang="en-US" altLang="zh-CN" b="1" dirty="0">
                  <a:ea typeface="楷体_GB2312" pitchFamily="49" charset="-122"/>
                </a:rPr>
                <a:t>           a++;</a:t>
              </a:r>
            </a:p>
            <a:p>
              <a:r>
                <a:rPr lang="en-US" altLang="zh-CN" b="1" dirty="0">
                  <a:ea typeface="楷体_GB2312" pitchFamily="49" charset="-122"/>
                </a:rPr>
                <a:t>           b++;</a:t>
              </a:r>
            </a:p>
            <a:p>
              <a:r>
                <a:rPr lang="en-US" altLang="zh-CN" b="1" dirty="0">
                  <a:ea typeface="楷体_GB2312" pitchFamily="49" charset="-122"/>
                </a:rPr>
                <a:t>        else</a:t>
              </a:r>
            </a:p>
            <a:p>
              <a:r>
                <a:rPr lang="en-US" altLang="zh-CN" b="1" dirty="0">
                  <a:ea typeface="楷体_GB2312" pitchFamily="49" charset="-122"/>
                </a:rPr>
                <a:t>        {</a:t>
              </a:r>
            </a:p>
            <a:p>
              <a:r>
                <a:rPr lang="en-US" altLang="zh-CN" b="1" dirty="0">
                  <a:ea typeface="楷体_GB2312" pitchFamily="49" charset="-122"/>
                </a:rPr>
                <a:t>          a = 0;</a:t>
              </a:r>
            </a:p>
            <a:p>
              <a:r>
                <a:rPr lang="en-US" altLang="zh-CN" b="1" dirty="0">
                  <a:ea typeface="楷体_GB2312" pitchFamily="49" charset="-122"/>
                </a:rPr>
                <a:t>          b = 1;</a:t>
              </a:r>
            </a:p>
            <a:p>
              <a:r>
                <a:rPr lang="en-US" altLang="zh-CN" b="1" dirty="0">
                  <a:ea typeface="楷体_GB2312" pitchFamily="49" charset="-122"/>
                </a:rPr>
                <a:t>        }</a:t>
              </a:r>
              <a:endParaRPr lang="en-US" altLang="zh-CN" sz="2000" b="1" dirty="0">
                <a:ea typeface="楷体_GB2312" pitchFamily="49" charset="-122"/>
              </a:endParaRPr>
            </a:p>
          </p:txBody>
        </p:sp>
        <p:grpSp>
          <p:nvGrpSpPr>
            <p:cNvPr id="852045" name="Group 77"/>
            <p:cNvGrpSpPr>
              <a:grpSpLocks/>
            </p:cNvGrpSpPr>
            <p:nvPr/>
          </p:nvGrpSpPr>
          <p:grpSpPr bwMode="auto">
            <a:xfrm>
              <a:off x="6732589" y="10458484"/>
              <a:ext cx="381000" cy="381000"/>
              <a:chOff x="4436" y="4500"/>
              <a:chExt cx="240" cy="240"/>
            </a:xfrm>
          </p:grpSpPr>
          <p:sp>
            <p:nvSpPr>
              <p:cNvPr id="852046" name="Line 78"/>
              <p:cNvSpPr>
                <a:spLocks noChangeShapeType="1"/>
              </p:cNvSpPr>
              <p:nvPr/>
            </p:nvSpPr>
            <p:spPr bwMode="auto">
              <a:xfrm flipH="1">
                <a:off x="4436" y="4500"/>
                <a:ext cx="240" cy="240"/>
              </a:xfrm>
              <a:prstGeom prst="line">
                <a:avLst/>
              </a:prstGeom>
              <a:noFill/>
              <a:ln w="38100">
                <a:solidFill>
                  <a:srgbClr val="C01920"/>
                </a:solidFill>
                <a:round/>
                <a:headEnd/>
                <a:tailEnd/>
              </a:ln>
              <a:effectLst/>
            </p:spPr>
            <p:txBody>
              <a:bodyPr wrap="none" lIns="90000" tIns="46800" rIns="90000" bIns="46800" anchor="ctr"/>
              <a:lstStyle/>
              <a:p>
                <a:endParaRPr lang="zh-CN" altLang="en-US"/>
              </a:p>
            </p:txBody>
          </p:sp>
          <p:sp>
            <p:nvSpPr>
              <p:cNvPr id="852047" name="Line 79"/>
              <p:cNvSpPr>
                <a:spLocks noChangeShapeType="1"/>
              </p:cNvSpPr>
              <p:nvPr/>
            </p:nvSpPr>
            <p:spPr bwMode="auto">
              <a:xfrm>
                <a:off x="4448" y="4500"/>
                <a:ext cx="228" cy="216"/>
              </a:xfrm>
              <a:prstGeom prst="line">
                <a:avLst/>
              </a:prstGeom>
              <a:noFill/>
              <a:ln w="38100">
                <a:solidFill>
                  <a:srgbClr val="C01920"/>
                </a:solidFill>
                <a:round/>
                <a:headEnd/>
                <a:tailEnd/>
              </a:ln>
              <a:effectLst/>
            </p:spPr>
            <p:txBody>
              <a:bodyPr wrap="none" lIns="90000" tIns="46800" rIns="90000" bIns="46800" anchor="ctr"/>
              <a:lstStyle/>
              <a:p>
                <a:endParaRPr lang="zh-CN" altLang="en-US"/>
              </a:p>
            </p:txBody>
          </p:sp>
        </p:grpSp>
        <p:sp>
          <p:nvSpPr>
            <p:cNvPr id="852049" name="Rectangle 81"/>
            <p:cNvSpPr>
              <a:spLocks noChangeArrowheads="1"/>
            </p:cNvSpPr>
            <p:nvPr/>
          </p:nvSpPr>
          <p:spPr bwMode="auto">
            <a:xfrm>
              <a:off x="8172766" y="9823461"/>
              <a:ext cx="3097212" cy="378142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r>
                <a:rPr lang="en-US" altLang="zh-CN" b="1" dirty="0">
                  <a:ea typeface="楷体_GB2312" pitchFamily="49" charset="-122"/>
                </a:rPr>
                <a:t>if (a &gt; b) </a:t>
              </a:r>
            </a:p>
            <a:p>
              <a:r>
                <a:rPr lang="en-US" altLang="zh-CN" b="1" dirty="0">
                  <a:ea typeface="楷体_GB2312" pitchFamily="49" charset="-122"/>
                </a:rPr>
                <a:t>        {</a:t>
              </a:r>
            </a:p>
            <a:p>
              <a:r>
                <a:rPr lang="en-US" altLang="zh-CN" b="1" dirty="0">
                  <a:ea typeface="楷体_GB2312" pitchFamily="49" charset="-122"/>
                </a:rPr>
                <a:t>           a++;</a:t>
              </a:r>
            </a:p>
            <a:p>
              <a:r>
                <a:rPr lang="en-US" altLang="zh-CN" b="1" dirty="0">
                  <a:ea typeface="楷体_GB2312" pitchFamily="49" charset="-122"/>
                </a:rPr>
                <a:t>           b++;</a:t>
              </a:r>
            </a:p>
            <a:p>
              <a:r>
                <a:rPr lang="en-US" altLang="zh-CN" b="1" dirty="0">
                  <a:ea typeface="楷体_GB2312" pitchFamily="49" charset="-122"/>
                </a:rPr>
                <a:t>        }</a:t>
              </a:r>
            </a:p>
            <a:p>
              <a:r>
                <a:rPr lang="en-US" altLang="zh-CN" b="1" dirty="0">
                  <a:ea typeface="楷体_GB2312" pitchFamily="49" charset="-122"/>
                </a:rPr>
                <a:t>        else</a:t>
              </a:r>
            </a:p>
            <a:p>
              <a:r>
                <a:rPr lang="en-US" altLang="zh-CN" b="1" dirty="0">
                  <a:ea typeface="楷体_GB2312" pitchFamily="49" charset="-122"/>
                </a:rPr>
                <a:t>        {</a:t>
              </a:r>
            </a:p>
            <a:p>
              <a:r>
                <a:rPr lang="en-US" altLang="zh-CN" b="1" dirty="0">
                  <a:ea typeface="楷体_GB2312" pitchFamily="49" charset="-122"/>
                </a:rPr>
                <a:t>           a = 0;</a:t>
              </a:r>
            </a:p>
            <a:p>
              <a:r>
                <a:rPr lang="en-US" altLang="zh-CN" b="1" dirty="0">
                  <a:ea typeface="楷体_GB2312" pitchFamily="49" charset="-122"/>
                </a:rPr>
                <a:t>           b = 1;</a:t>
              </a:r>
            </a:p>
            <a:p>
              <a:r>
                <a:rPr lang="en-US" altLang="zh-CN" b="1" dirty="0">
                  <a:ea typeface="楷体_GB2312" pitchFamily="49" charset="-122"/>
                </a:rPr>
                <a:t>         }</a:t>
              </a:r>
              <a:endParaRPr lang="en-US" altLang="zh-CN" sz="2000" b="1" dirty="0">
                <a:ea typeface="楷体_GB2312" pitchFamily="49" charset="-122"/>
              </a:endParaRPr>
            </a:p>
          </p:txBody>
        </p:sp>
        <p:sp>
          <p:nvSpPr>
            <p:cNvPr id="852048" name="Freeform 80"/>
            <p:cNvSpPr>
              <a:spLocks/>
            </p:cNvSpPr>
            <p:nvPr/>
          </p:nvSpPr>
          <p:spPr bwMode="auto">
            <a:xfrm>
              <a:off x="10261916" y="10326699"/>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C01920"/>
              </a:solidFill>
              <a:prstDash val="solid"/>
              <a:round/>
              <a:headEnd/>
              <a:tailEnd/>
            </a:ln>
            <a:effectLst/>
          </p:spPr>
          <p:txBody>
            <a:bodyPr wrap="none" lIns="90000" tIns="46800" rIns="90000" bIns="46800" anchor="ctr"/>
            <a:lstStyle/>
            <a:p>
              <a:endParaRPr lang="zh-CN" altLang="en-US"/>
            </a:p>
          </p:txBody>
        </p:sp>
      </p:grpSp>
      <p:grpSp>
        <p:nvGrpSpPr>
          <p:cNvPr id="29" name="组合 28"/>
          <p:cNvGrpSpPr/>
          <p:nvPr/>
        </p:nvGrpSpPr>
        <p:grpSpPr>
          <a:xfrm>
            <a:off x="2026897" y="1965243"/>
            <a:ext cx="7058025" cy="4593809"/>
            <a:chOff x="719026" y="3034569"/>
            <a:chExt cx="7058025" cy="4593809"/>
          </a:xfrm>
        </p:grpSpPr>
        <p:sp>
          <p:nvSpPr>
            <p:cNvPr id="852052" name="Rectangle 84" descr="信纸"/>
            <p:cNvSpPr>
              <a:spLocks noChangeArrowheads="1"/>
            </p:cNvSpPr>
            <p:nvPr/>
          </p:nvSpPr>
          <p:spPr bwMode="auto">
            <a:xfrm>
              <a:off x="719026" y="3034569"/>
              <a:ext cx="3457575" cy="458587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sp3d/>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p>
            <a:p>
              <a:r>
                <a:rPr lang="en-US" altLang="zh-CN" b="1" dirty="0">
                  <a:solidFill>
                    <a:srgbClr val="FF3300"/>
                  </a:solidFill>
                  <a:ea typeface="楷体_GB2312" pitchFamily="49" charset="-122"/>
                </a:rPr>
                <a:t>   </a:t>
              </a: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r>
                <a:rPr lang="en-US" altLang="zh-CN" b="1" dirty="0">
                  <a:solidFill>
                    <a:srgbClr val="C00000"/>
                  </a:solidFill>
                  <a:ea typeface="楷体_GB2312" pitchFamily="49" charset="-122"/>
                </a:rPr>
                <a:t>   </a:t>
              </a:r>
              <a:r>
                <a:rPr lang="en-US" altLang="zh-CN" b="1" dirty="0" err="1">
                  <a:solidFill>
                    <a:srgbClr val="C00000"/>
                  </a:solidFill>
                  <a:ea typeface="楷体_GB2312" pitchFamily="49" charset="-122"/>
                </a:rPr>
                <a:t>int</a:t>
              </a:r>
              <a:r>
                <a:rPr lang="en-US" altLang="zh-CN" b="1" dirty="0">
                  <a:solidFill>
                    <a:srgbClr val="C00000"/>
                  </a:solidFill>
                  <a:ea typeface="楷体_GB2312" pitchFamily="49" charset="-122"/>
                </a:rPr>
                <a:t> main ( )</a:t>
              </a:r>
            </a:p>
            <a:p>
              <a:r>
                <a:rPr lang="en-US" altLang="zh-CN" b="1" dirty="0">
                  <a:ea typeface="楷体_GB2312" pitchFamily="49" charset="-122"/>
                </a:rPr>
                <a:t>   {</a:t>
              </a:r>
            </a:p>
            <a:p>
              <a:r>
                <a:rPr lang="en-US" altLang="zh-CN"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x = 0;</a:t>
              </a:r>
            </a:p>
            <a:p>
              <a:r>
                <a:rPr lang="en-US" altLang="zh-CN" b="1" dirty="0">
                  <a:ea typeface="楷体_GB2312" pitchFamily="49" charset="-122"/>
                </a:rPr>
                <a:t>      if (</a:t>
              </a:r>
              <a:r>
                <a:rPr lang="en-US" altLang="zh-CN" b="1" dirty="0">
                  <a:solidFill>
                    <a:srgbClr val="C00000"/>
                  </a:solidFill>
                  <a:ea typeface="楷体_GB2312" pitchFamily="49" charset="-122"/>
                </a:rPr>
                <a:t>x == 0</a:t>
              </a:r>
              <a:r>
                <a:rPr lang="en-US" altLang="zh-CN" b="1" dirty="0">
                  <a:ea typeface="楷体_GB2312" pitchFamily="49" charset="-122"/>
                </a:rPr>
                <a:t>)</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 0\n</a:t>
              </a:r>
              <a:r>
                <a:rPr lang="en-US" altLang="zh-CN" b="1" dirty="0"/>
                <a:t>"</a:t>
              </a:r>
              <a:r>
                <a:rPr lang="en-US" altLang="zh-CN" b="1" dirty="0">
                  <a:ea typeface="楷体_GB2312" pitchFamily="49" charset="-122"/>
                </a:rPr>
                <a:t>);</a:t>
              </a:r>
            </a:p>
            <a:p>
              <a:r>
                <a:rPr lang="en-US" altLang="zh-CN" b="1" dirty="0">
                  <a:ea typeface="楷体_GB2312" pitchFamily="49" charset="-122"/>
                </a:rPr>
                <a:t>      else</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 0\n</a:t>
              </a:r>
              <a:r>
                <a:rPr lang="en-US" altLang="zh-CN" b="1" dirty="0"/>
                <a:t>"</a:t>
              </a:r>
              <a:r>
                <a:rPr lang="en-US" altLang="zh-CN" b="1" dirty="0">
                  <a:ea typeface="楷体_GB2312" pitchFamily="49" charset="-122"/>
                </a:rPr>
                <a:t>);</a:t>
              </a:r>
            </a:p>
            <a:p>
              <a:r>
                <a:rPr lang="en-US" altLang="zh-CN" b="1" dirty="0">
                  <a:ea typeface="楷体_GB2312" pitchFamily="49" charset="-122"/>
                </a:rPr>
                <a:t>      return 0;</a:t>
              </a:r>
            </a:p>
            <a:p>
              <a:r>
                <a:rPr lang="en-US" altLang="zh-CN" b="1" dirty="0">
                  <a:ea typeface="楷体_GB2312" pitchFamily="49" charset="-122"/>
                </a:rPr>
                <a:t>   }</a:t>
              </a:r>
            </a:p>
            <a:p>
              <a:endParaRPr lang="en-US" altLang="zh-CN" b="1" dirty="0">
                <a:ea typeface="楷体_GB2312" pitchFamily="49" charset="-122"/>
              </a:endParaRPr>
            </a:p>
          </p:txBody>
        </p:sp>
        <p:sp>
          <p:nvSpPr>
            <p:cNvPr id="852058" name="Rectangle 90" descr="信纸"/>
            <p:cNvSpPr>
              <a:spLocks noChangeArrowheads="1"/>
            </p:cNvSpPr>
            <p:nvPr/>
          </p:nvSpPr>
          <p:spPr bwMode="auto">
            <a:xfrm>
              <a:off x="4319476" y="3042507"/>
              <a:ext cx="3457575" cy="458587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sp3d/>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p>
            <a:p>
              <a:r>
                <a:rPr lang="en-US" altLang="zh-CN" b="1" dirty="0">
                  <a:solidFill>
                    <a:srgbClr val="FF3300"/>
                  </a:solidFill>
                  <a:ea typeface="楷体_GB2312" pitchFamily="49" charset="-122"/>
                </a:rPr>
                <a:t>   </a:t>
              </a: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r>
                <a:rPr lang="en-US" altLang="zh-CN" b="1" dirty="0">
                  <a:ea typeface="楷体_GB2312" pitchFamily="49" charset="-122"/>
                </a:rPr>
                <a:t>   </a:t>
              </a:r>
              <a:r>
                <a:rPr lang="en-US" altLang="zh-CN" b="1" dirty="0" err="1">
                  <a:solidFill>
                    <a:srgbClr val="C00000"/>
                  </a:solidFill>
                  <a:ea typeface="楷体_GB2312" pitchFamily="49" charset="-122"/>
                </a:rPr>
                <a:t>int</a:t>
              </a:r>
              <a:r>
                <a:rPr lang="en-US" altLang="zh-CN" b="1" dirty="0">
                  <a:solidFill>
                    <a:srgbClr val="C00000"/>
                  </a:solidFill>
                  <a:ea typeface="楷体_GB2312" pitchFamily="49" charset="-122"/>
                </a:rPr>
                <a:t> main ( )</a:t>
              </a:r>
            </a:p>
            <a:p>
              <a:r>
                <a:rPr lang="en-US" altLang="zh-CN" b="1" dirty="0">
                  <a:ea typeface="楷体_GB2312" pitchFamily="49" charset="-122"/>
                </a:rPr>
                <a:t>   {</a:t>
              </a:r>
            </a:p>
            <a:p>
              <a:r>
                <a:rPr lang="en-US" altLang="zh-CN" b="1" dirty="0">
                  <a:ea typeface="楷体_GB2312" pitchFamily="49" charset="-122"/>
                </a:rPr>
                <a:t>      </a:t>
              </a:r>
              <a:r>
                <a:rPr lang="en-US" altLang="zh-CN" b="1" dirty="0" err="1">
                  <a:ea typeface="楷体_GB2312" pitchFamily="49" charset="-122"/>
                </a:rPr>
                <a:t>int</a:t>
              </a:r>
              <a:r>
                <a:rPr lang="en-US" altLang="zh-CN" b="1" dirty="0">
                  <a:ea typeface="楷体_GB2312" pitchFamily="49" charset="-122"/>
                </a:rPr>
                <a:t> x = 0;</a:t>
              </a:r>
            </a:p>
            <a:p>
              <a:r>
                <a:rPr lang="en-US" altLang="zh-CN" b="1" dirty="0">
                  <a:ea typeface="楷体_GB2312" pitchFamily="49" charset="-122"/>
                </a:rPr>
                <a:t>      if (</a:t>
              </a:r>
              <a:r>
                <a:rPr lang="en-US" altLang="zh-CN" b="1" dirty="0">
                  <a:solidFill>
                    <a:srgbClr val="C00000"/>
                  </a:solidFill>
                  <a:ea typeface="楷体_GB2312" pitchFamily="49" charset="-122"/>
                </a:rPr>
                <a:t>x = 0</a:t>
              </a:r>
              <a:r>
                <a:rPr lang="en-US" altLang="zh-CN" b="1" dirty="0">
                  <a:ea typeface="楷体_GB2312" pitchFamily="49" charset="-122"/>
                </a:rPr>
                <a:t>)</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 0\n</a:t>
              </a:r>
              <a:r>
                <a:rPr lang="en-US" altLang="zh-CN" b="1" dirty="0"/>
                <a:t>"</a:t>
              </a:r>
              <a:r>
                <a:rPr lang="en-US" altLang="zh-CN" b="1" dirty="0">
                  <a:ea typeface="楷体_GB2312" pitchFamily="49" charset="-122"/>
                </a:rPr>
                <a:t>);</a:t>
              </a:r>
            </a:p>
            <a:p>
              <a:r>
                <a:rPr lang="en-US" altLang="zh-CN" b="1" dirty="0">
                  <a:ea typeface="楷体_GB2312" pitchFamily="49" charset="-122"/>
                </a:rPr>
                <a:t>      else</a:t>
              </a:r>
            </a:p>
            <a:p>
              <a:r>
                <a:rPr lang="en-US" altLang="zh-CN" b="1" dirty="0">
                  <a:ea typeface="楷体_GB2312" pitchFamily="49" charset="-122"/>
                </a:rPr>
                <a:t>         </a:t>
              </a:r>
              <a:r>
                <a:rPr lang="en-US" altLang="zh-CN" b="1" dirty="0" err="1">
                  <a:ea typeface="楷体_GB2312" pitchFamily="49" charset="-122"/>
                </a:rPr>
                <a:t>printf</a:t>
              </a:r>
              <a:r>
                <a:rPr lang="en-US" altLang="zh-CN" b="1" dirty="0">
                  <a:ea typeface="楷体_GB2312" pitchFamily="49" charset="-122"/>
                </a:rPr>
                <a:t> (</a:t>
              </a:r>
              <a:r>
                <a:rPr lang="en-US" altLang="zh-CN" b="1" dirty="0"/>
                <a:t>"</a:t>
              </a:r>
              <a:r>
                <a:rPr lang="en-US" altLang="zh-CN" b="1" dirty="0">
                  <a:ea typeface="楷体_GB2312" pitchFamily="49" charset="-122"/>
                </a:rPr>
                <a:t>x != 0\n</a:t>
              </a:r>
              <a:r>
                <a:rPr lang="en-US" altLang="zh-CN" b="1" dirty="0"/>
                <a:t>"</a:t>
              </a:r>
              <a:r>
                <a:rPr lang="en-US" altLang="zh-CN" b="1" dirty="0">
                  <a:ea typeface="楷体_GB2312" pitchFamily="49" charset="-122"/>
                </a:rPr>
                <a:t>);</a:t>
              </a:r>
            </a:p>
            <a:p>
              <a:r>
                <a:rPr lang="en-US" altLang="zh-CN" b="1" dirty="0">
                  <a:ea typeface="楷体_GB2312" pitchFamily="49" charset="-122"/>
                </a:rPr>
                <a:t>      return 0;</a:t>
              </a:r>
            </a:p>
            <a:p>
              <a:r>
                <a:rPr lang="en-US" altLang="zh-CN" b="1" dirty="0">
                  <a:ea typeface="楷体_GB2312" pitchFamily="49" charset="-122"/>
                </a:rPr>
                <a:t>   }</a:t>
              </a:r>
            </a:p>
            <a:p>
              <a:endParaRPr lang="en-US" altLang="zh-CN" b="1" dirty="0">
                <a:ea typeface="楷体_GB2312" pitchFamily="49" charset="-122"/>
              </a:endParaRPr>
            </a:p>
          </p:txBody>
        </p:sp>
      </p:grpSp>
      <p:sp>
        <p:nvSpPr>
          <p:cNvPr id="852061" name="Rectangle 93"/>
          <p:cNvSpPr>
            <a:spLocks noChangeArrowheads="1"/>
          </p:cNvSpPr>
          <p:nvPr/>
        </p:nvSpPr>
        <p:spPr bwMode="auto">
          <a:xfrm>
            <a:off x="3402068" y="6026050"/>
            <a:ext cx="230505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C00000"/>
                </a:solidFill>
                <a:latin typeface="隶书" pitchFamily="49" charset="-122"/>
                <a:ea typeface="隶书" pitchFamily="49" charset="-122"/>
              </a:rPr>
              <a:t>运行结</a:t>
            </a:r>
            <a:r>
              <a:rPr lang="zh-CN" altLang="en-US" sz="2000" b="1" dirty="0">
                <a:solidFill>
                  <a:srgbClr val="C00000"/>
                </a:solidFill>
                <a:latin typeface="隶书" pitchFamily="49" charset="-122"/>
                <a:ea typeface="隶书" pitchFamily="49" charset="-122"/>
              </a:rPr>
              <a:t>果：</a:t>
            </a:r>
            <a:r>
              <a:rPr lang="en-US" altLang="zh-CN" b="1" dirty="0"/>
              <a:t>x = 0</a:t>
            </a:r>
          </a:p>
        </p:txBody>
      </p:sp>
      <p:sp>
        <p:nvSpPr>
          <p:cNvPr id="852062" name="Rectangle 94"/>
          <p:cNvSpPr>
            <a:spLocks noChangeArrowheads="1"/>
          </p:cNvSpPr>
          <p:nvPr/>
        </p:nvSpPr>
        <p:spPr bwMode="auto">
          <a:xfrm>
            <a:off x="6981880" y="6021288"/>
            <a:ext cx="230505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C00000"/>
                </a:solidFill>
                <a:latin typeface="隶书" pitchFamily="49" charset="-122"/>
                <a:ea typeface="隶书" pitchFamily="49" charset="-122"/>
              </a:rPr>
              <a:t>运行结</a:t>
            </a:r>
            <a:r>
              <a:rPr lang="zh-CN" altLang="en-US" sz="2000" b="1" dirty="0">
                <a:solidFill>
                  <a:srgbClr val="C00000"/>
                </a:solidFill>
                <a:latin typeface="隶书" pitchFamily="49" charset="-122"/>
                <a:ea typeface="隶书" pitchFamily="49" charset="-122"/>
              </a:rPr>
              <a:t>果：</a:t>
            </a:r>
            <a:r>
              <a:rPr lang="en-US" altLang="zh-CN" b="1" dirty="0"/>
              <a:t>x != 0</a:t>
            </a:r>
          </a:p>
        </p:txBody>
      </p:sp>
      <p:sp>
        <p:nvSpPr>
          <p:cNvPr id="30" name="Rectangle 45">
            <a:extLst>
              <a:ext uri="{FF2B5EF4-FFF2-40B4-BE49-F238E27FC236}">
                <a16:creationId xmlns:a16="http://schemas.microsoft.com/office/drawing/2014/main" id="{B3F14D71-A6AA-4397-9B00-D1A808F971F2}"/>
              </a:ext>
            </a:extLst>
          </p:cNvPr>
          <p:cNvSpPr>
            <a:spLocks noChangeArrowheads="1"/>
          </p:cNvSpPr>
          <p:nvPr/>
        </p:nvSpPr>
        <p:spPr bwMode="auto">
          <a:xfrm>
            <a:off x="884811" y="804397"/>
            <a:ext cx="2172390"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  if</a:t>
            </a:r>
            <a:r>
              <a:rPr lang="zh-CN" altLang="en-US" sz="2800" b="1" dirty="0">
                <a:solidFill>
                  <a:srgbClr val="C00000"/>
                </a:solidFill>
                <a:latin typeface="楷体" panose="02010609060101010101" pitchFamily="49" charset="-122"/>
                <a:ea typeface="楷体" panose="02010609060101010101" pitchFamily="49" charset="-122"/>
              </a:rPr>
              <a:t>语句</a:t>
            </a:r>
            <a:r>
              <a:rPr lang="zh-CN" altLang="en-US" sz="2800" dirty="0">
                <a:solidFill>
                  <a:srgbClr val="C00000"/>
                </a:solidFill>
                <a:latin typeface="楷体" panose="02010609060101010101" pitchFamily="49" charset="-122"/>
                <a:ea typeface="楷体" panose="02010609060101010101" pitchFamily="49" charset="-122"/>
              </a:rPr>
              <a:t> </a:t>
            </a:r>
          </a:p>
        </p:txBody>
      </p:sp>
      <p:sp>
        <p:nvSpPr>
          <p:cNvPr id="31" name="Rectangle 4">
            <a:extLst>
              <a:ext uri="{FF2B5EF4-FFF2-40B4-BE49-F238E27FC236}">
                <a16:creationId xmlns:a16="http://schemas.microsoft.com/office/drawing/2014/main" id="{D37DB6DE-B19F-40EC-940B-598EE294B7E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1974"/>
                                        </p:tgtEl>
                                        <p:attrNameLst>
                                          <p:attrName>style.visibility</p:attrName>
                                        </p:attrNameLst>
                                      </p:cBhvr>
                                      <p:to>
                                        <p:strVal val="visible"/>
                                      </p:to>
                                    </p:set>
                                    <p:anim calcmode="lin" valueType="num">
                                      <p:cBhvr additive="base">
                                        <p:cTn id="7" dur="500" fill="hold"/>
                                        <p:tgtEl>
                                          <p:spTgt spid="851974"/>
                                        </p:tgtEl>
                                        <p:attrNameLst>
                                          <p:attrName>ppt_x</p:attrName>
                                        </p:attrNameLst>
                                      </p:cBhvr>
                                      <p:tavLst>
                                        <p:tav tm="0">
                                          <p:val>
                                            <p:strVal val="0-#ppt_w/2"/>
                                          </p:val>
                                        </p:tav>
                                        <p:tav tm="100000">
                                          <p:val>
                                            <p:strVal val="#ppt_x"/>
                                          </p:val>
                                        </p:tav>
                                      </p:tavLst>
                                    </p:anim>
                                    <p:anim calcmode="lin" valueType="num">
                                      <p:cBhvr additive="base">
                                        <p:cTn id="8" dur="500" fill="hold"/>
                                        <p:tgtEl>
                                          <p:spTgt spid="8519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2033">
                                            <p:txEl>
                                              <p:pRg st="0" end="0"/>
                                            </p:txEl>
                                          </p:spTgt>
                                        </p:tgtEl>
                                        <p:attrNameLst>
                                          <p:attrName>style.visibility</p:attrName>
                                        </p:attrNameLst>
                                      </p:cBhvr>
                                      <p:to>
                                        <p:strVal val="visible"/>
                                      </p:to>
                                    </p:set>
                                    <p:anim calcmode="lin" valueType="num">
                                      <p:cBhvr additive="base">
                                        <p:cTn id="13" dur="500" fill="hold"/>
                                        <p:tgtEl>
                                          <p:spTgt spid="85203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203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strips(downRight)">
                                      <p:cBhvr>
                                        <p:cTn id="19"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52033">
                                            <p:txEl>
                                              <p:pRg st="2" end="2"/>
                                            </p:txEl>
                                          </p:spTgt>
                                        </p:tgtEl>
                                        <p:attrNameLst>
                                          <p:attrName>style.visibility</p:attrName>
                                        </p:attrNameLst>
                                      </p:cBhvr>
                                      <p:to>
                                        <p:strVal val="visible"/>
                                      </p:to>
                                    </p:set>
                                    <p:anim calcmode="lin" valueType="num">
                                      <p:cBhvr additive="base">
                                        <p:cTn id="24" dur="500" fill="hold"/>
                                        <p:tgtEl>
                                          <p:spTgt spid="85203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85203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852041"/>
                                        </p:tgtEl>
                                        <p:attrNameLst>
                                          <p:attrName>style.visibility</p:attrName>
                                        </p:attrNameLst>
                                      </p:cBhvr>
                                      <p:to>
                                        <p:strVal val="visible"/>
                                      </p:to>
                                    </p:set>
                                    <p:animEffect transition="in" filter="box(out)">
                                      <p:cBhvr>
                                        <p:cTn id="30" dur="500"/>
                                        <p:tgtEl>
                                          <p:spTgt spid="852041"/>
                                        </p:tgtEl>
                                      </p:cBhvr>
                                    </p:animEffect>
                                  </p:childTnLst>
                                  <p:subTnLst>
                                    <p:set>
                                      <p:cBhvr override="childStyle">
                                        <p:cTn dur="1" fill="hold" display="0" masterRel="nextClick" afterEffect="1"/>
                                        <p:tgtEl>
                                          <p:spTgt spid="852041"/>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52033">
                                            <p:txEl>
                                              <p:pRg st="4" end="4"/>
                                            </p:txEl>
                                          </p:spTgt>
                                        </p:tgtEl>
                                        <p:attrNameLst>
                                          <p:attrName>style.visibility</p:attrName>
                                        </p:attrNameLst>
                                      </p:cBhvr>
                                      <p:to>
                                        <p:strVal val="visible"/>
                                      </p:to>
                                    </p:set>
                                    <p:anim calcmode="lin" valueType="num">
                                      <p:cBhvr additive="base">
                                        <p:cTn id="35" dur="500" fill="hold"/>
                                        <p:tgtEl>
                                          <p:spTgt spid="85203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5203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strips(downRight)">
                                      <p:cBhvr>
                                        <p:cTn id="41"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52033">
                                            <p:txEl>
                                              <p:pRg st="6" end="6"/>
                                            </p:txEl>
                                          </p:spTgt>
                                        </p:tgtEl>
                                        <p:attrNameLst>
                                          <p:attrName>style.visibility</p:attrName>
                                        </p:attrNameLst>
                                      </p:cBhvr>
                                      <p:to>
                                        <p:strVal val="visible"/>
                                      </p:to>
                                    </p:set>
                                    <p:anim calcmode="lin" valueType="num">
                                      <p:cBhvr additive="base">
                                        <p:cTn id="46" dur="500" fill="hold"/>
                                        <p:tgtEl>
                                          <p:spTgt spid="852033">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85203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blinds(horizontal)">
                                      <p:cBhvr>
                                        <p:cTn id="52" dur="500"/>
                                        <p:tgtEl>
                                          <p:spTgt spid="29"/>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852061"/>
                                        </p:tgtEl>
                                        <p:attrNameLst>
                                          <p:attrName>style.visibility</p:attrName>
                                        </p:attrNameLst>
                                      </p:cBhvr>
                                      <p:to>
                                        <p:strVal val="visible"/>
                                      </p:to>
                                    </p:set>
                                    <p:animEffect transition="in" filter="box(in)">
                                      <p:cBhvr>
                                        <p:cTn id="57" dur="500"/>
                                        <p:tgtEl>
                                          <p:spTgt spid="852061"/>
                                        </p:tgtEl>
                                      </p:cBhvr>
                                    </p:animEffect>
                                  </p:childTnLst>
                                  <p:subTnLst>
                                    <p:audio>
                                      <p:cMediaNode>
                                        <p:cTn display="0" masterRel="sameClick">
                                          <p:stCondLst>
                                            <p:cond evt="begin" delay="0">
                                              <p:tn val="55"/>
                                            </p:cond>
                                          </p:stCondLst>
                                          <p:endCondLst>
                                            <p:cond evt="onStopAudio" delay="0">
                                              <p:tgtEl>
                                                <p:sldTgt/>
                                              </p:tgtEl>
                                            </p:cond>
                                          </p:endCondLst>
                                        </p:cTn>
                                        <p:tgtEl>
                                          <p:sndTgt r:embed="rId4" name="chimes.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852062"/>
                                        </p:tgtEl>
                                        <p:attrNameLst>
                                          <p:attrName>style.visibility</p:attrName>
                                        </p:attrNameLst>
                                      </p:cBhvr>
                                      <p:to>
                                        <p:strVal val="visible"/>
                                      </p:to>
                                    </p:set>
                                    <p:animEffect transition="in" filter="box(out)">
                                      <p:cBhvr>
                                        <p:cTn id="62" dur="500"/>
                                        <p:tgtEl>
                                          <p:spTgt spid="852062"/>
                                        </p:tgtEl>
                                      </p:cBhvr>
                                    </p:animEffect>
                                  </p:childTnLst>
                                  <p:subTnLst>
                                    <p:audio>
                                      <p:cMediaNode>
                                        <p:cTn display="0" masterRel="sameClick">
                                          <p:stCondLst>
                                            <p:cond evt="begin" delay="0">
                                              <p:tn val="6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4" grpId="0"/>
      <p:bldP spid="852041" grpId="0" animBg="1"/>
      <p:bldP spid="852061" grpId="0" animBg="1"/>
      <p:bldP spid="85206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ChangeArrowheads="1"/>
          </p:cNvSpPr>
          <p:nvPr/>
        </p:nvSpPr>
        <p:spPr bwMode="auto">
          <a:xfrm>
            <a:off x="1187027" y="1318389"/>
            <a:ext cx="3187700" cy="762000"/>
          </a:xfrm>
          <a:prstGeom prst="rect">
            <a:avLst/>
          </a:prstGeom>
          <a:noFill/>
          <a:ln w="9525" cap="flat" cmpd="sng">
            <a:noFill/>
            <a:prstDash val="solid"/>
            <a:miter lim="800000"/>
            <a:headEnd/>
            <a:tailEnd/>
          </a:ln>
          <a:effectLst/>
        </p:spPr>
        <p:txBody>
          <a:bodyPr/>
          <a:lstStyle/>
          <a:p>
            <a:pPr marL="342900" indent="-342900" eaLnBrk="0" hangingPunct="0">
              <a:spcBef>
                <a:spcPct val="20000"/>
              </a:spcBef>
              <a:buClr>
                <a:srgbClr val="C01920"/>
              </a:buClr>
              <a:buFont typeface="Wingdings" pitchFamily="2" charset="2"/>
              <a:buChar char="Ø"/>
            </a:pPr>
            <a:r>
              <a:rPr lang="en-US" altLang="zh-CN" b="1" dirty="0">
                <a:solidFill>
                  <a:srgbClr val="C00000"/>
                </a:solidFill>
                <a:latin typeface="+mn-lt"/>
                <a:ea typeface="楷体" pitchFamily="49" charset="-122"/>
              </a:rPr>
              <a:t>if</a:t>
            </a:r>
            <a:r>
              <a:rPr lang="zh-CN" altLang="zh-CN" b="1" dirty="0">
                <a:solidFill>
                  <a:srgbClr val="C00000"/>
                </a:solidFill>
                <a:latin typeface="+mn-lt"/>
                <a:ea typeface="楷体" pitchFamily="49" charset="-122"/>
              </a:rPr>
              <a:t>语句嵌套</a:t>
            </a:r>
            <a:r>
              <a:rPr lang="zh-CN" altLang="en-US" b="1" dirty="0">
                <a:solidFill>
                  <a:srgbClr val="C00000"/>
                </a:solidFill>
                <a:latin typeface="+mn-lt"/>
                <a:ea typeface="楷体" pitchFamily="49" charset="-122"/>
              </a:rPr>
              <a:t>：</a:t>
            </a:r>
          </a:p>
          <a:p>
            <a:pPr marL="742950" lvl="1" indent="-285750" eaLnBrk="0" hangingPunct="0">
              <a:spcBef>
                <a:spcPct val="20000"/>
              </a:spcBef>
              <a:buClr>
                <a:srgbClr val="002060"/>
              </a:buClr>
              <a:buFont typeface="Wingdings" pitchFamily="2" charset="2"/>
              <a:buChar char="l"/>
            </a:pPr>
            <a:r>
              <a:rPr lang="zh-CN" altLang="en-US" b="1" dirty="0">
                <a:solidFill>
                  <a:srgbClr val="002060"/>
                </a:solidFill>
                <a:latin typeface="+mn-lt"/>
                <a:ea typeface="楷体" pitchFamily="49" charset="-122"/>
              </a:rPr>
              <a:t> 一般形式：</a:t>
            </a:r>
          </a:p>
        </p:txBody>
      </p:sp>
      <p:grpSp>
        <p:nvGrpSpPr>
          <p:cNvPr id="858139" name="Group 27"/>
          <p:cNvGrpSpPr>
            <a:grpSpLocks/>
          </p:cNvGrpSpPr>
          <p:nvPr/>
        </p:nvGrpSpPr>
        <p:grpSpPr bwMode="auto">
          <a:xfrm>
            <a:off x="6816080" y="4113634"/>
            <a:ext cx="4357688" cy="2308225"/>
            <a:chOff x="2928" y="2392"/>
            <a:chExt cx="2745" cy="1454"/>
          </a:xfrm>
        </p:grpSpPr>
        <p:sp>
          <p:nvSpPr>
            <p:cNvPr id="858116" name="Text Box 4"/>
            <p:cNvSpPr txBox="1">
              <a:spLocks noChangeArrowheads="1"/>
            </p:cNvSpPr>
            <p:nvPr/>
          </p:nvSpPr>
          <p:spPr bwMode="auto">
            <a:xfrm>
              <a:off x="2928" y="2392"/>
              <a:ext cx="2097" cy="1454"/>
            </a:xfrm>
            <a:prstGeom prst="rect">
              <a:avLst/>
            </a:prstGeom>
            <a:noFill/>
            <a:ln w="9525">
              <a:noFill/>
              <a:miter lim="800000"/>
              <a:headEnd/>
              <a:tailEnd/>
            </a:ln>
            <a:effectLst/>
          </p:spPr>
          <p:txBody>
            <a:bodyPr wrap="none" anchor="ctr">
              <a:spAutoFit/>
            </a:bodyPr>
            <a:lstStyle/>
            <a:p>
              <a:pPr eaLnBrk="0" hangingPunct="0"/>
              <a:r>
                <a:rPr lang="en-US" altLang="zh-CN" b="1" dirty="0">
                  <a:solidFill>
                    <a:schemeClr val="tx2"/>
                  </a:solidFill>
                  <a:ea typeface="隶书" pitchFamily="49" charset="-122"/>
                </a:rPr>
                <a:t>if (expr1)</a:t>
              </a:r>
            </a:p>
            <a:p>
              <a:pPr eaLnBrk="0" hangingPunct="0"/>
              <a:r>
                <a:rPr lang="en-US" altLang="zh-CN" b="1" dirty="0">
                  <a:solidFill>
                    <a:schemeClr val="tx2"/>
                  </a:solidFill>
                  <a:ea typeface="隶书" pitchFamily="49" charset="-122"/>
                </a:rPr>
                <a:t>    </a:t>
              </a:r>
              <a:r>
                <a:rPr lang="en-US" altLang="zh-CN" b="1" dirty="0">
                  <a:solidFill>
                    <a:schemeClr val="accent1">
                      <a:lumMod val="50000"/>
                    </a:schemeClr>
                  </a:solidFill>
                  <a:ea typeface="隶书" pitchFamily="49" charset="-122"/>
                </a:rPr>
                <a:t>if (expr2)  statement1</a:t>
              </a:r>
            </a:p>
            <a:p>
              <a:pPr eaLnBrk="0" hangingPunct="0"/>
              <a:r>
                <a:rPr lang="en-US" altLang="zh-CN" b="1" dirty="0">
                  <a:solidFill>
                    <a:schemeClr val="accent1">
                      <a:lumMod val="50000"/>
                    </a:schemeClr>
                  </a:solidFill>
                  <a:ea typeface="隶书" pitchFamily="49" charset="-122"/>
                </a:rPr>
                <a:t>    else            statement2</a:t>
              </a:r>
            </a:p>
            <a:p>
              <a:pPr eaLnBrk="0" hangingPunct="0"/>
              <a:r>
                <a:rPr lang="en-US" altLang="zh-CN" b="1" dirty="0">
                  <a:solidFill>
                    <a:schemeClr val="tx2"/>
                  </a:solidFill>
                  <a:ea typeface="隶书" pitchFamily="49" charset="-122"/>
                </a:rPr>
                <a:t>else</a:t>
              </a:r>
            </a:p>
            <a:p>
              <a:pPr eaLnBrk="0" hangingPunct="0"/>
              <a:r>
                <a:rPr lang="en-US" altLang="zh-CN" b="1" dirty="0">
                  <a:solidFill>
                    <a:schemeClr val="tx2"/>
                  </a:solidFill>
                  <a:ea typeface="隶书" pitchFamily="49" charset="-122"/>
                </a:rPr>
                <a:t>    </a:t>
              </a:r>
              <a:r>
                <a:rPr lang="en-US" altLang="zh-CN" b="1" dirty="0">
                  <a:solidFill>
                    <a:schemeClr val="accent1">
                      <a:lumMod val="50000"/>
                    </a:schemeClr>
                  </a:solidFill>
                  <a:ea typeface="隶书" pitchFamily="49" charset="-122"/>
                </a:rPr>
                <a:t>if (expr3)  statement3</a:t>
              </a:r>
            </a:p>
            <a:p>
              <a:pPr eaLnBrk="0" hangingPunct="0"/>
              <a:r>
                <a:rPr lang="en-US" altLang="zh-CN" b="1" dirty="0">
                  <a:solidFill>
                    <a:schemeClr val="accent1">
                      <a:lumMod val="50000"/>
                    </a:schemeClr>
                  </a:solidFill>
                  <a:ea typeface="隶书" pitchFamily="49" charset="-122"/>
                </a:rPr>
                <a:t>    else            statement4</a:t>
              </a:r>
            </a:p>
          </p:txBody>
        </p:sp>
        <p:sp>
          <p:nvSpPr>
            <p:cNvPr id="858117" name="Text Box 5"/>
            <p:cNvSpPr txBox="1">
              <a:spLocks noChangeArrowheads="1"/>
            </p:cNvSpPr>
            <p:nvPr/>
          </p:nvSpPr>
          <p:spPr bwMode="auto">
            <a:xfrm>
              <a:off x="5049" y="2751"/>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C01920"/>
                  </a:solidFill>
                  <a:ea typeface="隶书" pitchFamily="49" charset="-122"/>
                </a:rPr>
                <a:t>内嵌</a:t>
              </a:r>
              <a:r>
                <a:rPr lang="en-US" altLang="zh-CN" b="1" dirty="0">
                  <a:solidFill>
                    <a:srgbClr val="C01920"/>
                  </a:solidFill>
                  <a:ea typeface="隶书" pitchFamily="49" charset="-122"/>
                </a:rPr>
                <a:t>if</a:t>
              </a:r>
            </a:p>
          </p:txBody>
        </p:sp>
        <p:sp>
          <p:nvSpPr>
            <p:cNvPr id="858118" name="Text Box 6"/>
            <p:cNvSpPr txBox="1">
              <a:spLocks noChangeArrowheads="1"/>
            </p:cNvSpPr>
            <p:nvPr/>
          </p:nvSpPr>
          <p:spPr bwMode="auto">
            <a:xfrm>
              <a:off x="5049" y="3411"/>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C01920"/>
                  </a:solidFill>
                  <a:ea typeface="隶书" pitchFamily="49" charset="-122"/>
                </a:rPr>
                <a:t>内嵌</a:t>
              </a:r>
              <a:r>
                <a:rPr lang="en-US" altLang="zh-CN" b="1" dirty="0">
                  <a:solidFill>
                    <a:srgbClr val="C01920"/>
                  </a:solidFill>
                  <a:ea typeface="隶书" pitchFamily="49" charset="-122"/>
                </a:rPr>
                <a:t>if</a:t>
              </a:r>
            </a:p>
          </p:txBody>
        </p:sp>
        <p:sp>
          <p:nvSpPr>
            <p:cNvPr id="858119" name="AutoShape 7"/>
            <p:cNvSpPr>
              <a:spLocks/>
            </p:cNvSpPr>
            <p:nvPr/>
          </p:nvSpPr>
          <p:spPr bwMode="auto">
            <a:xfrm>
              <a:off x="4988" y="2771"/>
              <a:ext cx="48" cy="288"/>
            </a:xfrm>
            <a:prstGeom prst="rightBracket">
              <a:avLst>
                <a:gd name="adj" fmla="val 50000"/>
              </a:avLst>
            </a:prstGeom>
            <a:noFill/>
            <a:ln w="25400">
              <a:solidFill>
                <a:srgbClr val="C01920"/>
              </a:solidFill>
              <a:round/>
              <a:headEnd/>
              <a:tailEnd/>
            </a:ln>
            <a:effectLst/>
          </p:spPr>
          <p:txBody>
            <a:bodyPr wrap="none" anchor="ctr"/>
            <a:lstStyle/>
            <a:p>
              <a:endParaRPr lang="zh-CN" altLang="en-US"/>
            </a:p>
          </p:txBody>
        </p:sp>
        <p:sp>
          <p:nvSpPr>
            <p:cNvPr id="858120" name="AutoShape 8"/>
            <p:cNvSpPr>
              <a:spLocks/>
            </p:cNvSpPr>
            <p:nvPr/>
          </p:nvSpPr>
          <p:spPr bwMode="auto">
            <a:xfrm>
              <a:off x="4995" y="3445"/>
              <a:ext cx="48" cy="288"/>
            </a:xfrm>
            <a:prstGeom prst="rightBracket">
              <a:avLst>
                <a:gd name="adj" fmla="val 50000"/>
              </a:avLst>
            </a:prstGeom>
            <a:noFill/>
            <a:ln w="25400">
              <a:solidFill>
                <a:srgbClr val="FF00FF"/>
              </a:solidFill>
              <a:round/>
              <a:headEnd/>
              <a:tailEnd/>
            </a:ln>
            <a:effectLst/>
          </p:spPr>
          <p:txBody>
            <a:bodyPr wrap="none" anchor="ctr"/>
            <a:lstStyle/>
            <a:p>
              <a:endParaRPr lang="zh-CN" altLang="en-US"/>
            </a:p>
          </p:txBody>
        </p:sp>
      </p:grpSp>
      <p:grpSp>
        <p:nvGrpSpPr>
          <p:cNvPr id="858136" name="Group 24"/>
          <p:cNvGrpSpPr>
            <a:grpSpLocks/>
          </p:cNvGrpSpPr>
          <p:nvPr/>
        </p:nvGrpSpPr>
        <p:grpSpPr bwMode="auto">
          <a:xfrm>
            <a:off x="2187083" y="2199557"/>
            <a:ext cx="3362326" cy="1938338"/>
            <a:chOff x="484" y="759"/>
            <a:chExt cx="2118" cy="1221"/>
          </a:xfrm>
        </p:grpSpPr>
        <p:sp>
          <p:nvSpPr>
            <p:cNvPr id="858122" name="Text Box 10"/>
            <p:cNvSpPr txBox="1">
              <a:spLocks noChangeArrowheads="1"/>
            </p:cNvSpPr>
            <p:nvPr/>
          </p:nvSpPr>
          <p:spPr bwMode="auto">
            <a:xfrm>
              <a:off x="484" y="759"/>
              <a:ext cx="1360" cy="1221"/>
            </a:xfrm>
            <a:prstGeom prst="rect">
              <a:avLst/>
            </a:prstGeom>
            <a:noFill/>
            <a:ln w="9525">
              <a:noFill/>
              <a:miter lim="800000"/>
              <a:headEnd/>
              <a:tailEnd/>
            </a:ln>
            <a:effectLst/>
          </p:spPr>
          <p:txBody>
            <a:bodyPr wrap="none" anchor="ctr">
              <a:spAutoFit/>
            </a:bodyPr>
            <a:lstStyle/>
            <a:p>
              <a:pPr eaLnBrk="0" hangingPunct="0"/>
              <a:r>
                <a:rPr lang="en-US" altLang="zh-CN" b="1" dirty="0">
                  <a:solidFill>
                    <a:schemeClr val="tx2"/>
                  </a:solidFill>
                  <a:ea typeface="隶书" pitchFamily="49" charset="-122"/>
                </a:rPr>
                <a:t>if (expr1)</a:t>
              </a:r>
            </a:p>
            <a:p>
              <a:pPr eaLnBrk="0" hangingPunct="0"/>
              <a:r>
                <a:rPr lang="en-US" altLang="zh-CN" b="1" dirty="0">
                  <a:solidFill>
                    <a:schemeClr val="tx2"/>
                  </a:solidFill>
                  <a:ea typeface="隶书" pitchFamily="49" charset="-122"/>
                </a:rPr>
                <a:t>   </a:t>
              </a:r>
              <a:r>
                <a:rPr lang="en-US" altLang="zh-CN" b="1" dirty="0">
                  <a:solidFill>
                    <a:schemeClr val="accent1">
                      <a:lumMod val="50000"/>
                    </a:schemeClr>
                  </a:solidFill>
                  <a:ea typeface="隶书" pitchFamily="49" charset="-122"/>
                </a:rPr>
                <a:t>if (expr2)   </a:t>
              </a:r>
            </a:p>
            <a:p>
              <a:pPr eaLnBrk="0" hangingPunct="0"/>
              <a:r>
                <a:rPr lang="en-US" altLang="zh-CN" b="1" dirty="0">
                  <a:solidFill>
                    <a:schemeClr val="accent1">
                      <a:lumMod val="50000"/>
                    </a:schemeClr>
                  </a:solidFill>
                  <a:ea typeface="隶书" pitchFamily="49" charset="-122"/>
                </a:rPr>
                <a:t>       statement1</a:t>
              </a:r>
            </a:p>
            <a:p>
              <a:pPr eaLnBrk="0" hangingPunct="0"/>
              <a:r>
                <a:rPr lang="en-US" altLang="zh-CN" b="1" dirty="0">
                  <a:solidFill>
                    <a:schemeClr val="accent1">
                      <a:lumMod val="50000"/>
                    </a:schemeClr>
                  </a:solidFill>
                  <a:ea typeface="隶书" pitchFamily="49" charset="-122"/>
                </a:rPr>
                <a:t>   else   </a:t>
              </a:r>
            </a:p>
            <a:p>
              <a:pPr eaLnBrk="0" hangingPunct="0"/>
              <a:r>
                <a:rPr lang="en-US" altLang="zh-CN" b="1" dirty="0">
                  <a:solidFill>
                    <a:schemeClr val="accent1">
                      <a:lumMod val="50000"/>
                    </a:schemeClr>
                  </a:solidFill>
                  <a:ea typeface="隶书" pitchFamily="49" charset="-122"/>
                </a:rPr>
                <a:t>       statement2</a:t>
              </a:r>
            </a:p>
          </p:txBody>
        </p:sp>
        <p:sp>
          <p:nvSpPr>
            <p:cNvPr id="858123" name="Text Box 11"/>
            <p:cNvSpPr txBox="1">
              <a:spLocks noChangeArrowheads="1"/>
            </p:cNvSpPr>
            <p:nvPr/>
          </p:nvSpPr>
          <p:spPr bwMode="auto">
            <a:xfrm>
              <a:off x="1978" y="1314"/>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C01920"/>
                  </a:solidFill>
                  <a:ea typeface="隶书" pitchFamily="49" charset="-122"/>
                </a:rPr>
                <a:t>内嵌</a:t>
              </a:r>
              <a:r>
                <a:rPr lang="en-US" altLang="zh-CN" b="1" dirty="0">
                  <a:solidFill>
                    <a:srgbClr val="C01920"/>
                  </a:solidFill>
                  <a:ea typeface="隶书" pitchFamily="49" charset="-122"/>
                </a:rPr>
                <a:t>if</a:t>
              </a:r>
            </a:p>
          </p:txBody>
        </p:sp>
        <p:sp>
          <p:nvSpPr>
            <p:cNvPr id="858124" name="AutoShape 12"/>
            <p:cNvSpPr>
              <a:spLocks/>
            </p:cNvSpPr>
            <p:nvPr/>
          </p:nvSpPr>
          <p:spPr bwMode="auto">
            <a:xfrm>
              <a:off x="1895" y="1117"/>
              <a:ext cx="44" cy="757"/>
            </a:xfrm>
            <a:prstGeom prst="rightBracket">
              <a:avLst>
                <a:gd name="adj" fmla="val 118202"/>
              </a:avLst>
            </a:prstGeom>
            <a:noFill/>
            <a:ln w="25400">
              <a:solidFill>
                <a:srgbClr val="C01920"/>
              </a:solidFill>
              <a:round/>
              <a:headEnd/>
              <a:tailEnd/>
            </a:ln>
            <a:effectLst/>
          </p:spPr>
          <p:txBody>
            <a:bodyPr wrap="none" anchor="ctr"/>
            <a:lstStyle/>
            <a:p>
              <a:pPr algn="ctr"/>
              <a:endParaRPr lang="zh-CN" altLang="zh-CN">
                <a:solidFill>
                  <a:srgbClr val="C01920"/>
                </a:solidFill>
              </a:endParaRPr>
            </a:p>
          </p:txBody>
        </p:sp>
      </p:grpSp>
      <p:grpSp>
        <p:nvGrpSpPr>
          <p:cNvPr id="858137" name="Group 25"/>
          <p:cNvGrpSpPr>
            <a:grpSpLocks/>
          </p:cNvGrpSpPr>
          <p:nvPr/>
        </p:nvGrpSpPr>
        <p:grpSpPr bwMode="auto">
          <a:xfrm>
            <a:off x="6900726" y="2157488"/>
            <a:ext cx="3286126" cy="2308225"/>
            <a:chOff x="3344" y="744"/>
            <a:chExt cx="2070" cy="1454"/>
          </a:xfrm>
        </p:grpSpPr>
        <p:sp>
          <p:nvSpPr>
            <p:cNvPr id="858126" name="Text Box 14"/>
            <p:cNvSpPr txBox="1">
              <a:spLocks noChangeArrowheads="1"/>
            </p:cNvSpPr>
            <p:nvPr/>
          </p:nvSpPr>
          <p:spPr bwMode="auto">
            <a:xfrm>
              <a:off x="3344" y="744"/>
              <a:ext cx="1409" cy="1454"/>
            </a:xfrm>
            <a:prstGeom prst="rect">
              <a:avLst/>
            </a:prstGeom>
            <a:noFill/>
            <a:ln w="9525">
              <a:noFill/>
              <a:miter lim="800000"/>
              <a:headEnd/>
              <a:tailEnd/>
            </a:ln>
            <a:effectLst/>
          </p:spPr>
          <p:txBody>
            <a:bodyPr wrap="none" anchor="ctr">
              <a:spAutoFit/>
            </a:bodyPr>
            <a:lstStyle/>
            <a:p>
              <a:pPr eaLnBrk="0" hangingPunct="0"/>
              <a:r>
                <a:rPr lang="en-US" altLang="zh-CN" b="1" dirty="0">
                  <a:solidFill>
                    <a:schemeClr val="tx2"/>
                  </a:solidFill>
                  <a:ea typeface="隶书" pitchFamily="49" charset="-122"/>
                </a:rPr>
                <a:t>if (expr1)</a:t>
              </a:r>
            </a:p>
            <a:p>
              <a:pPr eaLnBrk="0" hangingPunct="0"/>
              <a:r>
                <a:rPr lang="en-US" altLang="zh-CN" b="1" dirty="0">
                  <a:solidFill>
                    <a:schemeClr val="tx2"/>
                  </a:solidFill>
                  <a:ea typeface="隶书" pitchFamily="49" charset="-122"/>
                </a:rPr>
                <a:t>    </a:t>
              </a:r>
              <a:r>
                <a:rPr lang="en-US" altLang="zh-CN" b="1" dirty="0">
                  <a:solidFill>
                    <a:schemeClr val="accent1">
                      <a:lumMod val="50000"/>
                    </a:schemeClr>
                  </a:solidFill>
                  <a:ea typeface="隶书" pitchFamily="49" charset="-122"/>
                </a:rPr>
                <a:t>if (expr2)   </a:t>
              </a:r>
            </a:p>
            <a:p>
              <a:pPr eaLnBrk="0" hangingPunct="0"/>
              <a:r>
                <a:rPr lang="en-US" altLang="zh-CN" b="1" dirty="0">
                  <a:solidFill>
                    <a:schemeClr val="accent1">
                      <a:lumMod val="50000"/>
                    </a:schemeClr>
                  </a:solidFill>
                  <a:ea typeface="隶书" pitchFamily="49" charset="-122"/>
                </a:rPr>
                <a:t>        statement1</a:t>
              </a:r>
            </a:p>
            <a:p>
              <a:pPr eaLnBrk="0" hangingPunct="0"/>
              <a:r>
                <a:rPr lang="en-US" altLang="zh-CN" b="1" dirty="0">
                  <a:solidFill>
                    <a:schemeClr val="tx2"/>
                  </a:solidFill>
                  <a:ea typeface="隶书" pitchFamily="49" charset="-122"/>
                </a:rPr>
                <a:t>else</a:t>
              </a:r>
            </a:p>
            <a:p>
              <a:pPr eaLnBrk="0" hangingPunct="0"/>
              <a:r>
                <a:rPr lang="en-US" altLang="zh-CN" b="1" dirty="0">
                  <a:solidFill>
                    <a:schemeClr val="tx2"/>
                  </a:solidFill>
                  <a:ea typeface="隶书" pitchFamily="49" charset="-122"/>
                </a:rPr>
                <a:t>    statement3</a:t>
              </a:r>
            </a:p>
            <a:p>
              <a:pPr eaLnBrk="0" hangingPunct="0"/>
              <a:r>
                <a:rPr lang="en-US" altLang="zh-CN" b="1" dirty="0">
                  <a:solidFill>
                    <a:schemeClr val="tx2"/>
                  </a:solidFill>
                  <a:ea typeface="隶书" pitchFamily="49" charset="-122"/>
                </a:rPr>
                <a:t>        </a:t>
              </a:r>
              <a:endParaRPr lang="en-US" altLang="zh-CN" b="1" dirty="0">
                <a:ea typeface="隶书" pitchFamily="49" charset="-122"/>
              </a:endParaRPr>
            </a:p>
          </p:txBody>
        </p:sp>
        <p:sp>
          <p:nvSpPr>
            <p:cNvPr id="858127" name="Text Box 15"/>
            <p:cNvSpPr txBox="1">
              <a:spLocks noChangeArrowheads="1"/>
            </p:cNvSpPr>
            <p:nvPr/>
          </p:nvSpPr>
          <p:spPr bwMode="auto">
            <a:xfrm>
              <a:off x="4790" y="1089"/>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C01920"/>
                  </a:solidFill>
                  <a:ea typeface="隶书" pitchFamily="49" charset="-122"/>
                </a:rPr>
                <a:t>内嵌</a:t>
              </a:r>
              <a:r>
                <a:rPr lang="en-US" altLang="zh-CN" b="1" dirty="0">
                  <a:solidFill>
                    <a:srgbClr val="C01920"/>
                  </a:solidFill>
                  <a:ea typeface="隶书" pitchFamily="49" charset="-122"/>
                </a:rPr>
                <a:t>if</a:t>
              </a:r>
            </a:p>
          </p:txBody>
        </p:sp>
        <p:sp>
          <p:nvSpPr>
            <p:cNvPr id="858128" name="AutoShape 16"/>
            <p:cNvSpPr>
              <a:spLocks/>
            </p:cNvSpPr>
            <p:nvPr/>
          </p:nvSpPr>
          <p:spPr bwMode="auto">
            <a:xfrm>
              <a:off x="4722" y="1098"/>
              <a:ext cx="48" cy="288"/>
            </a:xfrm>
            <a:prstGeom prst="rightBracket">
              <a:avLst>
                <a:gd name="adj" fmla="val 50000"/>
              </a:avLst>
            </a:prstGeom>
            <a:noFill/>
            <a:ln w="25400">
              <a:solidFill>
                <a:srgbClr val="C01920"/>
              </a:solidFill>
              <a:round/>
              <a:headEnd/>
              <a:tailEnd/>
            </a:ln>
            <a:effectLst/>
          </p:spPr>
          <p:txBody>
            <a:bodyPr wrap="none" anchor="ctr"/>
            <a:lstStyle/>
            <a:p>
              <a:endParaRPr lang="zh-CN" altLang="en-US"/>
            </a:p>
          </p:txBody>
        </p:sp>
      </p:grpSp>
      <p:grpSp>
        <p:nvGrpSpPr>
          <p:cNvPr id="858138" name="Group 26"/>
          <p:cNvGrpSpPr>
            <a:grpSpLocks/>
          </p:cNvGrpSpPr>
          <p:nvPr/>
        </p:nvGrpSpPr>
        <p:grpSpPr bwMode="auto">
          <a:xfrm>
            <a:off x="2206135" y="4073495"/>
            <a:ext cx="3343274" cy="2678113"/>
            <a:chOff x="311" y="2290"/>
            <a:chExt cx="2106" cy="1687"/>
          </a:xfrm>
        </p:grpSpPr>
        <p:sp>
          <p:nvSpPr>
            <p:cNvPr id="858130" name="Text Box 18"/>
            <p:cNvSpPr txBox="1">
              <a:spLocks noChangeArrowheads="1"/>
            </p:cNvSpPr>
            <p:nvPr/>
          </p:nvSpPr>
          <p:spPr bwMode="auto">
            <a:xfrm>
              <a:off x="311" y="2290"/>
              <a:ext cx="1409" cy="1687"/>
            </a:xfrm>
            <a:prstGeom prst="rect">
              <a:avLst/>
            </a:prstGeom>
            <a:noFill/>
            <a:ln w="9525">
              <a:noFill/>
              <a:miter lim="800000"/>
              <a:headEnd/>
              <a:tailEnd/>
            </a:ln>
            <a:effectLst/>
          </p:spPr>
          <p:txBody>
            <a:bodyPr wrap="none" anchor="ctr">
              <a:spAutoFit/>
            </a:bodyPr>
            <a:lstStyle/>
            <a:p>
              <a:pPr eaLnBrk="0" hangingPunct="0"/>
              <a:r>
                <a:rPr lang="en-US" altLang="zh-CN" b="1" dirty="0">
                  <a:solidFill>
                    <a:schemeClr val="tx2"/>
                  </a:solidFill>
                  <a:ea typeface="隶书" pitchFamily="49" charset="-122"/>
                </a:rPr>
                <a:t>if (expr1)</a:t>
              </a:r>
            </a:p>
            <a:p>
              <a:pPr eaLnBrk="0" hangingPunct="0"/>
              <a:r>
                <a:rPr lang="en-US" altLang="zh-CN" b="1" dirty="0">
                  <a:solidFill>
                    <a:schemeClr val="tx2"/>
                  </a:solidFill>
                  <a:ea typeface="隶书" pitchFamily="49" charset="-122"/>
                </a:rPr>
                <a:t>    statement1</a:t>
              </a:r>
            </a:p>
            <a:p>
              <a:pPr eaLnBrk="0" hangingPunct="0"/>
              <a:r>
                <a:rPr lang="en-US" altLang="zh-CN" b="1" dirty="0">
                  <a:solidFill>
                    <a:schemeClr val="tx2"/>
                  </a:solidFill>
                  <a:ea typeface="隶书" pitchFamily="49" charset="-122"/>
                </a:rPr>
                <a:t>else</a:t>
              </a:r>
            </a:p>
            <a:p>
              <a:pPr eaLnBrk="0" hangingPunct="0"/>
              <a:r>
                <a:rPr lang="en-US" altLang="zh-CN" b="1" dirty="0">
                  <a:solidFill>
                    <a:schemeClr val="tx2"/>
                  </a:solidFill>
                  <a:ea typeface="隶书" pitchFamily="49" charset="-122"/>
                </a:rPr>
                <a:t>    </a:t>
              </a:r>
              <a:r>
                <a:rPr lang="en-US" altLang="zh-CN" b="1" dirty="0">
                  <a:solidFill>
                    <a:schemeClr val="accent1">
                      <a:lumMod val="50000"/>
                    </a:schemeClr>
                  </a:solidFill>
                  <a:ea typeface="隶书" pitchFamily="49" charset="-122"/>
                </a:rPr>
                <a:t>if (expr3)    </a:t>
              </a:r>
            </a:p>
            <a:p>
              <a:pPr eaLnBrk="0" hangingPunct="0"/>
              <a:r>
                <a:rPr lang="en-US" altLang="zh-CN" b="1" dirty="0">
                  <a:solidFill>
                    <a:schemeClr val="accent1">
                      <a:lumMod val="50000"/>
                    </a:schemeClr>
                  </a:solidFill>
                  <a:ea typeface="隶书" pitchFamily="49" charset="-122"/>
                </a:rPr>
                <a:t>        statement3</a:t>
              </a:r>
            </a:p>
            <a:p>
              <a:pPr eaLnBrk="0" hangingPunct="0"/>
              <a:r>
                <a:rPr lang="en-US" altLang="zh-CN" b="1" dirty="0">
                  <a:solidFill>
                    <a:schemeClr val="accent1">
                      <a:lumMod val="50000"/>
                    </a:schemeClr>
                  </a:solidFill>
                  <a:ea typeface="隶书" pitchFamily="49" charset="-122"/>
                </a:rPr>
                <a:t>    else   </a:t>
              </a:r>
            </a:p>
            <a:p>
              <a:pPr eaLnBrk="0" hangingPunct="0"/>
              <a:r>
                <a:rPr lang="en-US" altLang="zh-CN" b="1" dirty="0">
                  <a:solidFill>
                    <a:schemeClr val="accent1">
                      <a:lumMod val="50000"/>
                    </a:schemeClr>
                  </a:solidFill>
                  <a:ea typeface="隶书" pitchFamily="49" charset="-122"/>
                </a:rPr>
                <a:t>        statement4</a:t>
              </a:r>
            </a:p>
          </p:txBody>
        </p:sp>
        <p:sp>
          <p:nvSpPr>
            <p:cNvPr id="858131" name="Text Box 19"/>
            <p:cNvSpPr txBox="1">
              <a:spLocks noChangeArrowheads="1"/>
            </p:cNvSpPr>
            <p:nvPr/>
          </p:nvSpPr>
          <p:spPr bwMode="auto">
            <a:xfrm>
              <a:off x="1793" y="3309"/>
              <a:ext cx="624" cy="291"/>
            </a:xfrm>
            <a:prstGeom prst="rect">
              <a:avLst/>
            </a:prstGeom>
            <a:noFill/>
            <a:ln w="9525">
              <a:noFill/>
              <a:miter lim="800000"/>
              <a:headEnd/>
              <a:tailEnd/>
            </a:ln>
            <a:effectLst/>
          </p:spPr>
          <p:txBody>
            <a:bodyPr wrap="none" anchor="ctr">
              <a:spAutoFit/>
            </a:bodyPr>
            <a:lstStyle/>
            <a:p>
              <a:pPr algn="ctr" eaLnBrk="0" hangingPunct="0"/>
              <a:r>
                <a:rPr lang="zh-CN" altLang="en-US" b="1" dirty="0">
                  <a:solidFill>
                    <a:srgbClr val="C01920"/>
                  </a:solidFill>
                  <a:ea typeface="隶书" pitchFamily="49" charset="-122"/>
                </a:rPr>
                <a:t>内嵌</a:t>
              </a:r>
              <a:r>
                <a:rPr lang="en-US" altLang="zh-CN" b="1" dirty="0">
                  <a:solidFill>
                    <a:srgbClr val="C01920"/>
                  </a:solidFill>
                  <a:ea typeface="隶书" pitchFamily="49" charset="-122"/>
                </a:rPr>
                <a:t>if</a:t>
              </a:r>
            </a:p>
          </p:txBody>
        </p:sp>
        <p:sp>
          <p:nvSpPr>
            <p:cNvPr id="858132" name="AutoShape 20"/>
            <p:cNvSpPr>
              <a:spLocks/>
            </p:cNvSpPr>
            <p:nvPr/>
          </p:nvSpPr>
          <p:spPr bwMode="auto">
            <a:xfrm>
              <a:off x="1739" y="3118"/>
              <a:ext cx="47" cy="734"/>
            </a:xfrm>
            <a:prstGeom prst="rightBracket">
              <a:avLst>
                <a:gd name="adj" fmla="val 130142"/>
              </a:avLst>
            </a:prstGeom>
            <a:noFill/>
            <a:ln w="25400">
              <a:solidFill>
                <a:srgbClr val="C01920"/>
              </a:solidFill>
              <a:round/>
              <a:headEnd/>
              <a:tailEnd/>
            </a:ln>
            <a:effectLst/>
          </p:spPr>
          <p:txBody>
            <a:bodyPr wrap="none" anchor="ctr"/>
            <a:lstStyle/>
            <a:p>
              <a:endParaRPr lang="zh-CN" altLang="en-US"/>
            </a:p>
          </p:txBody>
        </p:sp>
      </p:grpSp>
      <p:sp>
        <p:nvSpPr>
          <p:cNvPr id="24" name="Rectangle 45">
            <a:extLst>
              <a:ext uri="{FF2B5EF4-FFF2-40B4-BE49-F238E27FC236}">
                <a16:creationId xmlns:a16="http://schemas.microsoft.com/office/drawing/2014/main" id="{6354F279-39DE-4E3A-A10D-8CE3722958EE}"/>
              </a:ext>
            </a:extLst>
          </p:cNvPr>
          <p:cNvSpPr>
            <a:spLocks noChangeArrowheads="1"/>
          </p:cNvSpPr>
          <p:nvPr/>
        </p:nvSpPr>
        <p:spPr bwMode="auto">
          <a:xfrm>
            <a:off x="884811" y="804397"/>
            <a:ext cx="2172390"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  if</a:t>
            </a:r>
            <a:r>
              <a:rPr lang="zh-CN" altLang="en-US" sz="2800" b="1" dirty="0">
                <a:solidFill>
                  <a:srgbClr val="C00000"/>
                </a:solidFill>
                <a:latin typeface="楷体" panose="02010609060101010101" pitchFamily="49" charset="-122"/>
                <a:ea typeface="楷体" panose="02010609060101010101" pitchFamily="49" charset="-122"/>
              </a:rPr>
              <a:t>语句</a:t>
            </a:r>
            <a:r>
              <a:rPr lang="zh-CN" altLang="en-US" sz="2800" dirty="0">
                <a:solidFill>
                  <a:srgbClr val="C00000"/>
                </a:solidFill>
                <a:latin typeface="楷体" panose="02010609060101010101" pitchFamily="49" charset="-122"/>
                <a:ea typeface="楷体" panose="02010609060101010101" pitchFamily="49" charset="-122"/>
              </a:rPr>
              <a:t> </a:t>
            </a:r>
          </a:p>
        </p:txBody>
      </p:sp>
      <p:sp>
        <p:nvSpPr>
          <p:cNvPr id="25" name="Rectangle 4">
            <a:extLst>
              <a:ext uri="{FF2B5EF4-FFF2-40B4-BE49-F238E27FC236}">
                <a16:creationId xmlns:a16="http://schemas.microsoft.com/office/drawing/2014/main" id="{F748360F-7400-4E24-93FE-06EF2313345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8114">
                                            <p:txEl>
                                              <p:pRg st="0" end="0"/>
                                            </p:txEl>
                                          </p:spTgt>
                                        </p:tgtEl>
                                        <p:attrNameLst>
                                          <p:attrName>style.visibility</p:attrName>
                                        </p:attrNameLst>
                                      </p:cBhvr>
                                      <p:to>
                                        <p:strVal val="visible"/>
                                      </p:to>
                                    </p:set>
                                    <p:anim calcmode="lin" valueType="num">
                                      <p:cBhvr additive="base">
                                        <p:cTn id="7" dur="500" fill="hold"/>
                                        <p:tgtEl>
                                          <p:spTgt spid="8581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581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58114">
                                            <p:txEl>
                                              <p:pRg st="1" end="1"/>
                                            </p:txEl>
                                          </p:spTgt>
                                        </p:tgtEl>
                                        <p:attrNameLst>
                                          <p:attrName>style.visibility</p:attrName>
                                        </p:attrNameLst>
                                      </p:cBhvr>
                                      <p:to>
                                        <p:strVal val="visible"/>
                                      </p:to>
                                    </p:set>
                                    <p:anim calcmode="lin" valueType="num">
                                      <p:cBhvr additive="base">
                                        <p:cTn id="13" dur="500" fill="hold"/>
                                        <p:tgtEl>
                                          <p:spTgt spid="8581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581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858136"/>
                                        </p:tgtEl>
                                        <p:attrNameLst>
                                          <p:attrName>style.visibility</p:attrName>
                                        </p:attrNameLst>
                                      </p:cBhvr>
                                      <p:to>
                                        <p:strVal val="visible"/>
                                      </p:to>
                                    </p:set>
                                    <p:animEffect transition="in" filter="box(in)">
                                      <p:cBhvr>
                                        <p:cTn id="19" dur="500"/>
                                        <p:tgtEl>
                                          <p:spTgt spid="858136"/>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858137"/>
                                        </p:tgtEl>
                                        <p:attrNameLst>
                                          <p:attrName>style.visibility</p:attrName>
                                        </p:attrNameLst>
                                      </p:cBhvr>
                                      <p:to>
                                        <p:strVal val="visible"/>
                                      </p:to>
                                    </p:set>
                                    <p:animEffect transition="in" filter="box(in)">
                                      <p:cBhvr>
                                        <p:cTn id="24" dur="500"/>
                                        <p:tgtEl>
                                          <p:spTgt spid="858137"/>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858138"/>
                                        </p:tgtEl>
                                        <p:attrNameLst>
                                          <p:attrName>style.visibility</p:attrName>
                                        </p:attrNameLst>
                                      </p:cBhvr>
                                      <p:to>
                                        <p:strVal val="visible"/>
                                      </p:to>
                                    </p:set>
                                    <p:animEffect transition="in" filter="box(in)">
                                      <p:cBhvr>
                                        <p:cTn id="29" dur="500"/>
                                        <p:tgtEl>
                                          <p:spTgt spid="858138"/>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858139"/>
                                        </p:tgtEl>
                                        <p:attrNameLst>
                                          <p:attrName>style.visibility</p:attrName>
                                        </p:attrNameLst>
                                      </p:cBhvr>
                                      <p:to>
                                        <p:strVal val="visible"/>
                                      </p:to>
                                    </p:set>
                                    <p:animEffect transition="in" filter="box(in)">
                                      <p:cBhvr>
                                        <p:cTn id="34" dur="500"/>
                                        <p:tgtEl>
                                          <p:spTgt spid="858139"/>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4" grpId="0" uiExpand="1" build="p" bldLvl="4"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0" name="Text Box 4"/>
          <p:cNvSpPr txBox="1">
            <a:spLocks noChangeArrowheads="1"/>
          </p:cNvSpPr>
          <p:nvPr/>
        </p:nvSpPr>
        <p:spPr bwMode="auto">
          <a:xfrm>
            <a:off x="891798" y="908720"/>
            <a:ext cx="5235729" cy="523220"/>
          </a:xfrm>
          <a:prstGeom prst="rect">
            <a:avLst/>
          </a:prstGeom>
          <a:noFill/>
          <a:ln w="9525">
            <a:noFill/>
            <a:miter lim="800000"/>
            <a:headEnd/>
            <a:tailEnd/>
          </a:ln>
          <a:effectLst/>
        </p:spPr>
        <p:txBody>
          <a:bodyPr wrap="none">
            <a:spAutoFit/>
          </a:bodyPr>
          <a:lstStyle/>
          <a:p>
            <a:r>
              <a:rPr lang="zh-CN" altLang="en-US" sz="2800" b="1" dirty="0">
                <a:solidFill>
                  <a:srgbClr val="C00000"/>
                </a:solidFill>
                <a:latin typeface="楷体" panose="02010609060101010101" pitchFamily="49" charset="-122"/>
                <a:ea typeface="楷体" panose="02010609060101010101" pitchFamily="49" charset="-122"/>
              </a:rPr>
              <a:t>例</a:t>
            </a:r>
            <a:r>
              <a:rPr lang="en-US" altLang="zh-CN" sz="2800" b="1" dirty="0">
                <a:solidFill>
                  <a:srgbClr val="C00000"/>
                </a:solidFill>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 输入两数并判断其大小关系</a:t>
            </a:r>
          </a:p>
        </p:txBody>
      </p:sp>
      <p:sp>
        <p:nvSpPr>
          <p:cNvPr id="859141" name="Text Box 5" descr="信纸"/>
          <p:cNvSpPr txBox="1">
            <a:spLocks noChangeArrowheads="1"/>
          </p:cNvSpPr>
          <p:nvPr/>
        </p:nvSpPr>
        <p:spPr bwMode="auto">
          <a:xfrm>
            <a:off x="1336367" y="1431940"/>
            <a:ext cx="5926671" cy="5265160"/>
          </a:xfrm>
          <a:prstGeom prst="rect">
            <a:avLst/>
          </a:prstGeom>
          <a:gradFill>
            <a:gsLst>
              <a:gs pos="0">
                <a:srgbClr val="CFCFD1"/>
              </a:gs>
              <a:gs pos="100000">
                <a:schemeClr val="bg1">
                  <a:lumMod val="95000"/>
                </a:scheme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en-US" altLang="zh-CN" b="1" dirty="0">
                <a:ea typeface="隶书" pitchFamily="49" charset="-122"/>
              </a:rPr>
              <a:t> #include &lt;</a:t>
            </a:r>
            <a:r>
              <a:rPr lang="en-US" altLang="zh-CN" b="1" dirty="0" err="1">
                <a:ea typeface="隶书" pitchFamily="49" charset="-122"/>
              </a:rPr>
              <a:t>stdio.h</a:t>
            </a:r>
            <a:r>
              <a:rPr lang="en-US" altLang="zh-CN" b="1" dirty="0">
                <a:ea typeface="隶书" pitchFamily="49" charset="-122"/>
              </a:rPr>
              <a:t>&gt;</a:t>
            </a:r>
          </a:p>
          <a:p>
            <a:pPr eaLnBrk="0" hangingPunct="0"/>
            <a:r>
              <a:rPr lang="en-US" altLang="zh-CN" b="1" dirty="0">
                <a:solidFill>
                  <a:srgbClr val="C00000"/>
                </a:solidFill>
                <a:ea typeface="隶书" pitchFamily="49" charset="-122"/>
              </a:rPr>
              <a:t> </a:t>
            </a:r>
            <a:r>
              <a:rPr lang="en-US" altLang="zh-CN" b="1" dirty="0" err="1">
                <a:solidFill>
                  <a:srgbClr val="C00000"/>
                </a:solidFill>
                <a:ea typeface="隶书" pitchFamily="49" charset="-122"/>
              </a:rPr>
              <a:t>int</a:t>
            </a:r>
            <a:r>
              <a:rPr lang="en-US" altLang="zh-CN" b="1" dirty="0">
                <a:solidFill>
                  <a:srgbClr val="C00000"/>
                </a:solidFill>
                <a:ea typeface="隶书" pitchFamily="49" charset="-122"/>
              </a:rPr>
              <a:t> main ( )</a:t>
            </a:r>
          </a:p>
          <a:p>
            <a:pPr eaLnBrk="0" hangingPunct="0"/>
            <a:r>
              <a:rPr lang="en-US" altLang="zh-CN" b="1" dirty="0">
                <a:ea typeface="隶书" pitchFamily="49" charset="-122"/>
              </a:rPr>
              <a:t> {   </a:t>
            </a:r>
          </a:p>
          <a:p>
            <a:pPr eaLnBrk="0" hangingPunct="0"/>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x, y;</a:t>
            </a:r>
          </a:p>
          <a:p>
            <a:pPr eaLnBrk="0" hangingPunct="0"/>
            <a:endParaRPr lang="en-US" altLang="zh-CN" b="1" dirty="0">
              <a:ea typeface="隶书" pitchFamily="49" charset="-122"/>
            </a:endParaRP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("Enter integer x, y: ");</a:t>
            </a:r>
          </a:p>
          <a:p>
            <a:pPr eaLnBrk="0" hangingPunct="0"/>
            <a:r>
              <a:rPr lang="en-US" altLang="zh-CN" b="1" dirty="0">
                <a:ea typeface="隶书" pitchFamily="49" charset="-122"/>
              </a:rPr>
              <a:t>    </a:t>
            </a:r>
            <a:r>
              <a:rPr lang="en-US" altLang="zh-CN" b="1" dirty="0" err="1">
                <a:ea typeface="隶书" pitchFamily="49" charset="-122"/>
              </a:rPr>
              <a:t>scanf</a:t>
            </a:r>
            <a:r>
              <a:rPr lang="en-US" altLang="zh-CN" b="1" dirty="0">
                <a:ea typeface="隶书" pitchFamily="49" charset="-122"/>
              </a:rPr>
              <a:t> ("%d, %d", &amp;x, &amp;y);</a:t>
            </a:r>
          </a:p>
          <a:p>
            <a:pPr eaLnBrk="0" hangingPunct="0"/>
            <a:r>
              <a:rPr lang="en-US" altLang="zh-CN" b="1" dirty="0">
                <a:ea typeface="隶书" pitchFamily="49" charset="-122"/>
              </a:rPr>
              <a:t>    if (x != y)</a:t>
            </a:r>
          </a:p>
          <a:p>
            <a:pPr eaLnBrk="0" hangingPunct="0"/>
            <a:r>
              <a:rPr lang="en-US" altLang="zh-CN" b="1" dirty="0">
                <a:ea typeface="隶书" pitchFamily="49" charset="-122"/>
              </a:rPr>
              <a:t>        if (x &gt; y)  </a:t>
            </a:r>
            <a:r>
              <a:rPr lang="en-US" altLang="zh-CN" b="1" dirty="0" err="1">
                <a:ea typeface="隶书" pitchFamily="49" charset="-122"/>
              </a:rPr>
              <a:t>printf</a:t>
            </a:r>
            <a:r>
              <a:rPr lang="en-US" altLang="zh-CN" b="1" dirty="0">
                <a:ea typeface="隶书" pitchFamily="49" charset="-122"/>
              </a:rPr>
              <a:t> ("X &gt; Y\n");</a:t>
            </a:r>
          </a:p>
          <a:p>
            <a:pPr eaLnBrk="0" hangingPunct="0"/>
            <a:r>
              <a:rPr lang="en-US" altLang="zh-CN" b="1" dirty="0">
                <a:ea typeface="隶书" pitchFamily="49" charset="-122"/>
              </a:rPr>
              <a:t>        else          </a:t>
            </a:r>
            <a:r>
              <a:rPr lang="en-US" altLang="zh-CN" b="1" dirty="0" err="1">
                <a:ea typeface="隶书" pitchFamily="49" charset="-122"/>
              </a:rPr>
              <a:t>printf</a:t>
            </a:r>
            <a:r>
              <a:rPr lang="en-US" altLang="zh-CN" b="1" dirty="0">
                <a:ea typeface="隶书" pitchFamily="49" charset="-122"/>
              </a:rPr>
              <a:t> ("X &lt; Y\n");</a:t>
            </a:r>
          </a:p>
          <a:p>
            <a:pPr eaLnBrk="0" hangingPunct="0"/>
            <a:r>
              <a:rPr lang="en-US" altLang="zh-CN" b="1" dirty="0">
                <a:ea typeface="隶书" pitchFamily="49" charset="-122"/>
              </a:rPr>
              <a:t>    else</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("X == Y\n");</a:t>
            </a:r>
          </a:p>
          <a:p>
            <a:pPr eaLnBrk="0" hangingPunct="0"/>
            <a:r>
              <a:rPr lang="en-US" altLang="zh-CN" b="1" dirty="0">
                <a:ea typeface="隶书" pitchFamily="49" charset="-122"/>
              </a:rPr>
              <a:t>    return 0;</a:t>
            </a:r>
          </a:p>
          <a:p>
            <a:pPr eaLnBrk="0" hangingPunct="0"/>
            <a:r>
              <a:rPr lang="en-US" altLang="zh-CN" b="1" dirty="0">
                <a:ea typeface="隶书" pitchFamily="49" charset="-122"/>
              </a:rPr>
              <a:t> }</a:t>
            </a:r>
          </a:p>
        </p:txBody>
      </p:sp>
      <p:sp>
        <p:nvSpPr>
          <p:cNvPr id="859142" name="Text Box 6"/>
          <p:cNvSpPr txBox="1">
            <a:spLocks noChangeArrowheads="1"/>
          </p:cNvSpPr>
          <p:nvPr/>
        </p:nvSpPr>
        <p:spPr bwMode="auto">
          <a:xfrm>
            <a:off x="7608168" y="3861048"/>
            <a:ext cx="3604302" cy="2246769"/>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0000"/>
                </a:solidFill>
                <a:latin typeface="隶书" pitchFamily="49" charset="-122"/>
                <a:ea typeface="隶书" pitchFamily="49" charset="-122"/>
              </a:rPr>
              <a:t>运行结果：</a:t>
            </a:r>
          </a:p>
          <a:p>
            <a:r>
              <a:rPr lang="zh-CN" altLang="en-US" sz="2000" b="1" dirty="0"/>
              <a:t> </a:t>
            </a:r>
            <a:r>
              <a:rPr lang="en-US" altLang="zh-CN" sz="2000" b="1" dirty="0"/>
              <a:t>Enter  integer  x, y: 12, 23</a:t>
            </a:r>
            <a:r>
              <a:rPr lang="en-US" altLang="zh-CN" sz="2000" b="1" dirty="0">
                <a:latin typeface="+mn-ea"/>
                <a:sym typeface="Symbol" pitchFamily="18" charset="2"/>
              </a:rPr>
              <a:t>↙</a:t>
            </a:r>
            <a:endParaRPr lang="en-US" altLang="zh-CN" sz="2000" b="1" dirty="0">
              <a:latin typeface="+mn-ea"/>
              <a:ea typeface="+mn-ea"/>
              <a:sym typeface="Symbol" pitchFamily="18" charset="2"/>
            </a:endParaRPr>
          </a:p>
          <a:p>
            <a:r>
              <a:rPr lang="en-US" altLang="zh-CN" sz="2000" b="1" dirty="0">
                <a:sym typeface="Symbol" pitchFamily="18" charset="2"/>
              </a:rPr>
              <a:t> X&lt;Y</a:t>
            </a:r>
          </a:p>
          <a:p>
            <a:r>
              <a:rPr lang="en-US" altLang="zh-CN" sz="2000" b="1" dirty="0">
                <a:sym typeface="Symbol" pitchFamily="18" charset="2"/>
              </a:rPr>
              <a:t> </a:t>
            </a:r>
            <a:r>
              <a:rPr lang="en-US" altLang="zh-CN" sz="2000" b="1" dirty="0"/>
              <a:t>Enter  integer  x, y: 12, 6</a:t>
            </a:r>
            <a:r>
              <a:rPr lang="en-US" altLang="zh-CN" sz="2000" b="1" dirty="0">
                <a:latin typeface="+mn-ea"/>
                <a:ea typeface="+mn-ea"/>
                <a:sym typeface="Symbol" pitchFamily="18" charset="2"/>
              </a:rPr>
              <a:t>↙</a:t>
            </a:r>
            <a:endParaRPr lang="en-US" altLang="zh-CN" sz="2000" b="1" dirty="0">
              <a:sym typeface="Symbol" pitchFamily="18" charset="2"/>
            </a:endParaRPr>
          </a:p>
          <a:p>
            <a:r>
              <a:rPr lang="en-US" altLang="zh-CN" sz="2000" b="1" dirty="0">
                <a:sym typeface="Symbol" pitchFamily="18" charset="2"/>
              </a:rPr>
              <a:t> X&gt;Y</a:t>
            </a:r>
          </a:p>
          <a:p>
            <a:r>
              <a:rPr lang="en-US" altLang="zh-CN" sz="2000" b="1" dirty="0"/>
              <a:t> Enter  integer  x, y: 12, 12</a:t>
            </a:r>
            <a:r>
              <a:rPr lang="en-US" altLang="zh-CN" sz="2000" b="1" dirty="0">
                <a:latin typeface="+mn-ea"/>
                <a:sym typeface="Symbol" pitchFamily="18" charset="2"/>
              </a:rPr>
              <a:t>↙</a:t>
            </a:r>
            <a:endParaRPr lang="en-US" altLang="zh-CN" sz="2000" b="1" dirty="0">
              <a:sym typeface="Symbol" pitchFamily="18" charset="2"/>
            </a:endParaRPr>
          </a:p>
          <a:p>
            <a:r>
              <a:rPr lang="en-US" altLang="zh-CN" sz="2000" b="1" dirty="0">
                <a:sym typeface="Symbol" pitchFamily="18" charset="2"/>
              </a:rPr>
              <a:t> X==Y</a:t>
            </a:r>
          </a:p>
        </p:txBody>
      </p:sp>
      <p:sp>
        <p:nvSpPr>
          <p:cNvPr id="8" name="Rectangle 4">
            <a:extLst>
              <a:ext uri="{FF2B5EF4-FFF2-40B4-BE49-F238E27FC236}">
                <a16:creationId xmlns:a16="http://schemas.microsoft.com/office/drawing/2014/main" id="{5FD06981-26A1-4ED5-AB22-4468F04DE8D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9140">
                                            <p:txEl>
                                              <p:pRg st="0" end="0"/>
                                            </p:txEl>
                                          </p:spTgt>
                                        </p:tgtEl>
                                        <p:attrNameLst>
                                          <p:attrName>style.visibility</p:attrName>
                                        </p:attrNameLst>
                                      </p:cBhvr>
                                      <p:to>
                                        <p:strVal val="visible"/>
                                      </p:to>
                                    </p:set>
                                    <p:anim calcmode="lin" valueType="num">
                                      <p:cBhvr additive="base">
                                        <p:cTn id="7" dur="500" fill="hold"/>
                                        <p:tgtEl>
                                          <p:spTgt spid="8591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5914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59141"/>
                                        </p:tgtEl>
                                        <p:attrNameLst>
                                          <p:attrName>style.visibility</p:attrName>
                                        </p:attrNameLst>
                                      </p:cBhvr>
                                      <p:to>
                                        <p:strVal val="visible"/>
                                      </p:to>
                                    </p:set>
                                    <p:animEffect transition="in" filter="box(out)">
                                      <p:cBhvr>
                                        <p:cTn id="13" dur="500"/>
                                        <p:tgtEl>
                                          <p:spTgt spid="85914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59142"/>
                                        </p:tgtEl>
                                        <p:attrNameLst>
                                          <p:attrName>style.visibility</p:attrName>
                                        </p:attrNameLst>
                                      </p:cBhvr>
                                      <p:to>
                                        <p:strVal val="visible"/>
                                      </p:to>
                                    </p:set>
                                    <p:animEffect transition="in" filter="box(out)">
                                      <p:cBhvr>
                                        <p:cTn id="18" dur="500"/>
                                        <p:tgtEl>
                                          <p:spTgt spid="85914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40" grpId="0" build="p" autoUpdateAnimBg="0"/>
      <p:bldP spid="859141" grpId="0" animBg="1" autoUpdateAnimBg="0"/>
      <p:bldP spid="85914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4051" name="Text Box 35"/>
          <p:cNvSpPr txBox="1">
            <a:spLocks noChangeArrowheads="1"/>
          </p:cNvSpPr>
          <p:nvPr/>
        </p:nvSpPr>
        <p:spPr bwMode="auto">
          <a:xfrm>
            <a:off x="839788" y="3933056"/>
            <a:ext cx="3899721" cy="2016125"/>
          </a:xfrm>
          <a:prstGeom prst="rect">
            <a:avLst/>
          </a:prstGeom>
          <a:solidFill>
            <a:srgbClr val="E7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dirty="0"/>
              <a:t>       </a:t>
            </a:r>
            <a:r>
              <a:rPr lang="en-US" altLang="zh-CN" sz="2000" b="1" dirty="0"/>
              <a:t>if  (……)</a:t>
            </a:r>
          </a:p>
          <a:p>
            <a:pPr algn="just"/>
            <a:r>
              <a:rPr lang="en-US" altLang="zh-CN" sz="2000" b="1" dirty="0"/>
              <a:t>              if  (……)</a:t>
            </a:r>
          </a:p>
          <a:p>
            <a:pPr algn="just"/>
            <a:r>
              <a:rPr lang="en-US" altLang="zh-CN" sz="2000" b="1" dirty="0"/>
              <a:t>                    if  (……)</a:t>
            </a:r>
          </a:p>
          <a:p>
            <a:pPr algn="just"/>
            <a:r>
              <a:rPr lang="en-US" altLang="zh-CN" sz="2000" b="1" dirty="0"/>
              <a:t>                   else……</a:t>
            </a:r>
          </a:p>
          <a:p>
            <a:pPr algn="just"/>
            <a:r>
              <a:rPr lang="en-US" altLang="zh-CN" sz="2000" b="1" dirty="0"/>
              <a:t>             else……</a:t>
            </a:r>
          </a:p>
          <a:p>
            <a:pPr algn="just"/>
            <a:r>
              <a:rPr lang="en-US" altLang="zh-CN" sz="2000" b="1" dirty="0"/>
              <a:t>       else……</a:t>
            </a:r>
          </a:p>
        </p:txBody>
      </p:sp>
      <p:sp>
        <p:nvSpPr>
          <p:cNvPr id="854052" name="AutoShape 36"/>
          <p:cNvSpPr>
            <a:spLocks/>
          </p:cNvSpPr>
          <p:nvPr/>
        </p:nvSpPr>
        <p:spPr bwMode="auto">
          <a:xfrm>
            <a:off x="1925638" y="4696331"/>
            <a:ext cx="196850" cy="376237"/>
          </a:xfrm>
          <a:prstGeom prst="leftBracket">
            <a:avLst>
              <a:gd name="adj" fmla="val 78416"/>
            </a:avLst>
          </a:prstGeom>
          <a:noFill/>
          <a:ln w="25400">
            <a:solidFill>
              <a:srgbClr val="00206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3" name="AutoShape 37"/>
          <p:cNvSpPr>
            <a:spLocks/>
          </p:cNvSpPr>
          <p:nvPr/>
        </p:nvSpPr>
        <p:spPr bwMode="auto">
          <a:xfrm>
            <a:off x="1497014" y="4421693"/>
            <a:ext cx="214313" cy="900113"/>
          </a:xfrm>
          <a:prstGeom prst="leftBracket">
            <a:avLst>
              <a:gd name="adj" fmla="val 79567"/>
            </a:avLst>
          </a:prstGeom>
          <a:noFill/>
          <a:ln w="25400">
            <a:solidFill>
              <a:schemeClr val="accent1">
                <a:lumMod val="50000"/>
              </a:schemeClr>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4" name="AutoShape 38"/>
          <p:cNvSpPr>
            <a:spLocks/>
          </p:cNvSpPr>
          <p:nvPr/>
        </p:nvSpPr>
        <p:spPr bwMode="auto">
          <a:xfrm>
            <a:off x="1135063" y="4145467"/>
            <a:ext cx="198438" cy="1550988"/>
          </a:xfrm>
          <a:prstGeom prst="leftBracket">
            <a:avLst>
              <a:gd name="adj" fmla="val 65133"/>
            </a:avLst>
          </a:prstGeom>
          <a:noFill/>
          <a:ln w="25400">
            <a:solidFill>
              <a:srgbClr val="C0192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854057" name="Rectangle 41"/>
          <p:cNvSpPr>
            <a:spLocks noChangeArrowheads="1"/>
          </p:cNvSpPr>
          <p:nvPr/>
        </p:nvSpPr>
        <p:spPr bwMode="auto">
          <a:xfrm>
            <a:off x="830079" y="2489015"/>
            <a:ext cx="3909430" cy="1261884"/>
          </a:xfrm>
          <a:prstGeom prst="rect">
            <a:avLst/>
          </a:prstGeom>
          <a:gradFill rotWithShape="1">
            <a:gsLst>
              <a:gs pos="0">
                <a:srgbClr val="CFCFD1"/>
              </a:gs>
              <a:gs pos="100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en-US" altLang="zh-CN" sz="2800" b="1" dirty="0">
                <a:solidFill>
                  <a:srgbClr val="C00000"/>
                </a:solidFill>
                <a:latin typeface="隶书" pitchFamily="49" charset="-122"/>
                <a:ea typeface="隶书" pitchFamily="49" charset="-122"/>
              </a:rPr>
              <a:t>   </a:t>
            </a:r>
            <a:r>
              <a:rPr lang="zh-CN" altLang="en-US" b="1" dirty="0">
                <a:solidFill>
                  <a:srgbClr val="C00000"/>
                </a:solidFill>
                <a:latin typeface="+mn-lt"/>
                <a:ea typeface="隶书" pitchFamily="49" charset="-122"/>
              </a:rPr>
              <a:t>Ｃ语言规定，在缺省</a:t>
            </a:r>
            <a:r>
              <a:rPr lang="en-US" altLang="zh-CN" b="1" dirty="0">
                <a:solidFill>
                  <a:srgbClr val="C00000"/>
                </a:solidFill>
                <a:latin typeface="+mn-lt"/>
                <a:ea typeface="隶书" pitchFamily="49" charset="-122"/>
              </a:rPr>
              <a:t>{ }</a:t>
            </a:r>
            <a:r>
              <a:rPr lang="zh-CN" altLang="en-US" b="1" dirty="0">
                <a:solidFill>
                  <a:srgbClr val="C00000"/>
                </a:solidFill>
                <a:latin typeface="+mn-lt"/>
                <a:ea typeface="隶书" pitchFamily="49" charset="-122"/>
              </a:rPr>
              <a:t>时，</a:t>
            </a:r>
            <a:r>
              <a:rPr lang="en-US" altLang="zh-CN" b="1" dirty="0">
                <a:solidFill>
                  <a:srgbClr val="C00000"/>
                </a:solidFill>
                <a:latin typeface="+mn-lt"/>
                <a:ea typeface="隶书" pitchFamily="49" charset="-122"/>
              </a:rPr>
              <a:t>else</a:t>
            </a:r>
            <a:r>
              <a:rPr lang="zh-CN" altLang="en-US" b="1" dirty="0">
                <a:solidFill>
                  <a:srgbClr val="C00000"/>
                </a:solidFill>
                <a:latin typeface="+mn-lt"/>
                <a:ea typeface="隶书" pitchFamily="49" charset="-122"/>
              </a:rPr>
              <a:t>总是和它上面离它最近的未配对的</a:t>
            </a:r>
            <a:r>
              <a:rPr lang="en-US" altLang="zh-CN" b="1" dirty="0">
                <a:solidFill>
                  <a:srgbClr val="C00000"/>
                </a:solidFill>
                <a:latin typeface="+mn-lt"/>
                <a:ea typeface="隶书" pitchFamily="49" charset="-122"/>
              </a:rPr>
              <a:t>if</a:t>
            </a:r>
            <a:r>
              <a:rPr lang="zh-CN" altLang="en-US" b="1" dirty="0">
                <a:solidFill>
                  <a:srgbClr val="C00000"/>
                </a:solidFill>
                <a:latin typeface="+mn-lt"/>
                <a:ea typeface="隶书" pitchFamily="49" charset="-122"/>
              </a:rPr>
              <a:t>配对 </a:t>
            </a:r>
          </a:p>
        </p:txBody>
      </p:sp>
      <p:grpSp>
        <p:nvGrpSpPr>
          <p:cNvPr id="16" name="组合 15"/>
          <p:cNvGrpSpPr/>
          <p:nvPr/>
        </p:nvGrpSpPr>
        <p:grpSpPr>
          <a:xfrm>
            <a:off x="4871864" y="1013877"/>
            <a:ext cx="7131050" cy="6004818"/>
            <a:chOff x="428596" y="7000900"/>
            <a:chExt cx="7131050" cy="6004818"/>
          </a:xfrm>
          <a:gradFill>
            <a:gsLst>
              <a:gs pos="0">
                <a:srgbClr val="CFCFD1"/>
              </a:gs>
              <a:gs pos="76000">
                <a:schemeClr val="bg1">
                  <a:lumMod val="95000"/>
                </a:schemeClr>
              </a:gs>
            </a:gsLst>
            <a:lin ang="5400000" scaled="1"/>
          </a:gradFill>
        </p:grpSpPr>
        <p:sp>
          <p:nvSpPr>
            <p:cNvPr id="854059" name="Rectangle 43" descr="信纸"/>
            <p:cNvSpPr>
              <a:spLocks noChangeArrowheads="1"/>
            </p:cNvSpPr>
            <p:nvPr/>
          </p:nvSpPr>
          <p:spPr bwMode="auto">
            <a:xfrm>
              <a:off x="428596" y="7000900"/>
              <a:ext cx="3457575" cy="5262979"/>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p>
            <a:p>
              <a:r>
                <a:rPr lang="en-US" altLang="zh-CN" b="1" dirty="0">
                  <a:solidFill>
                    <a:srgbClr val="FF3300"/>
                  </a:solidFill>
                  <a:ea typeface="楷体_GB2312" pitchFamily="49" charset="-122"/>
                </a:rPr>
                <a:t>   </a:t>
              </a: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r>
                <a:rPr lang="en-US" altLang="zh-CN" b="1" dirty="0">
                  <a:solidFill>
                    <a:srgbClr val="CC3300"/>
                  </a:solidFill>
                  <a:ea typeface="楷体_GB2312" pitchFamily="49" charset="-122"/>
                </a:rPr>
                <a:t>   </a:t>
              </a:r>
              <a:r>
                <a:rPr lang="en-US" altLang="zh-CN" b="1" dirty="0" err="1">
                  <a:solidFill>
                    <a:srgbClr val="CC3300"/>
                  </a:solidFill>
                  <a:ea typeface="楷体_GB2312" pitchFamily="49" charset="-122"/>
                </a:rPr>
                <a:t>int</a:t>
              </a:r>
              <a:r>
                <a:rPr lang="en-US" altLang="zh-CN" b="1" dirty="0">
                  <a:solidFill>
                    <a:srgbClr val="CC3300"/>
                  </a:solidFill>
                  <a:ea typeface="楷体_GB2312" pitchFamily="49" charset="-122"/>
                </a:rPr>
                <a:t> main ( )</a:t>
              </a:r>
            </a:p>
            <a:p>
              <a:r>
                <a:rPr lang="en-US" altLang="zh-CN" b="1" dirty="0">
                  <a:ea typeface="楷体_GB2312" pitchFamily="49" charset="-122"/>
                </a:rPr>
                <a:t>   {</a:t>
              </a:r>
            </a:p>
            <a:p>
              <a:r>
                <a:rPr lang="en-US" altLang="zh-CN" b="1" dirty="0">
                  <a:ea typeface="楷体_GB2312" pitchFamily="49" charset="-122"/>
                </a:rPr>
                <a:t>      </a:t>
              </a:r>
              <a:r>
                <a:rPr lang="en-US" altLang="zh-CN" b="1" dirty="0" err="1"/>
                <a:t>int</a:t>
              </a:r>
              <a:r>
                <a:rPr lang="en-US" altLang="zh-CN" b="1" dirty="0"/>
                <a:t> a = 1, b = -1;</a:t>
              </a:r>
              <a:r>
                <a:rPr lang="en-US" altLang="zh-CN" dirty="0"/>
                <a:t> </a:t>
              </a:r>
              <a:endParaRPr lang="en-US" altLang="zh-CN" b="1" dirty="0">
                <a:ea typeface="楷体_GB2312" pitchFamily="49" charset="-122"/>
              </a:endParaRPr>
            </a:p>
            <a:p>
              <a:r>
                <a:rPr lang="en-US" altLang="zh-CN" b="1" dirty="0">
                  <a:ea typeface="楷体_GB2312" pitchFamily="49" charset="-122"/>
                </a:rPr>
                <a:t>      </a:t>
              </a:r>
              <a:r>
                <a:rPr lang="en-US" altLang="zh-CN" b="1" dirty="0"/>
                <a:t>if  (a &gt; 0)</a:t>
              </a:r>
              <a:r>
                <a:rPr lang="en-US" altLang="zh-CN" dirty="0"/>
                <a:t> </a:t>
              </a:r>
            </a:p>
            <a:p>
              <a:r>
                <a:rPr lang="en-US" altLang="zh-CN" b="1" dirty="0"/>
                <a:t>          </a:t>
              </a:r>
              <a:r>
                <a:rPr lang="en-US" altLang="zh-CN" b="1" dirty="0">
                  <a:solidFill>
                    <a:srgbClr val="002060"/>
                  </a:solidFill>
                </a:rPr>
                <a:t>if  (b &gt; 0)</a:t>
              </a:r>
              <a:r>
                <a:rPr lang="en-US" altLang="zh-CN" dirty="0">
                  <a:solidFill>
                    <a:srgbClr val="002060"/>
                  </a:solidFill>
                </a:rPr>
                <a:t> </a:t>
              </a:r>
              <a:endParaRPr lang="en-US" altLang="zh-CN" b="1" dirty="0">
                <a:solidFill>
                  <a:srgbClr val="002060"/>
                </a:solidFill>
                <a:ea typeface="楷体_GB2312" pitchFamily="49" charset="-122"/>
              </a:endParaRPr>
            </a:p>
            <a:p>
              <a:r>
                <a:rPr lang="en-US" altLang="zh-CN" b="1" dirty="0">
                  <a:solidFill>
                    <a:srgbClr val="002060"/>
                  </a:solidFill>
                </a:rPr>
                <a:t>              a++;</a:t>
              </a:r>
              <a:r>
                <a:rPr lang="en-US" altLang="zh-CN" dirty="0">
                  <a:solidFill>
                    <a:srgbClr val="002060"/>
                  </a:solidFill>
                </a:rPr>
                <a:t> </a:t>
              </a:r>
            </a:p>
            <a:p>
              <a:r>
                <a:rPr lang="en-US" altLang="zh-CN" b="1" dirty="0">
                  <a:ea typeface="楷体_GB2312" pitchFamily="49" charset="-122"/>
                </a:rPr>
                <a:t>          </a:t>
              </a:r>
              <a:r>
                <a:rPr lang="en-US" altLang="zh-CN" b="1" dirty="0"/>
                <a:t>else</a:t>
              </a:r>
              <a:r>
                <a:rPr lang="en-US" altLang="zh-CN" dirty="0"/>
                <a:t> </a:t>
              </a:r>
            </a:p>
            <a:p>
              <a:r>
                <a:rPr lang="en-US" altLang="zh-CN" dirty="0"/>
                <a:t>              </a:t>
              </a:r>
              <a:r>
                <a:rPr lang="en-US" altLang="zh-CN" b="1" dirty="0"/>
                <a:t>a--; </a:t>
              </a:r>
            </a:p>
            <a:p>
              <a:r>
                <a:rPr lang="en-US" altLang="zh-CN" b="1" dirty="0"/>
                <a:t>      </a:t>
              </a:r>
              <a:r>
                <a:rPr lang="en-US" altLang="zh-CN" b="1" dirty="0" err="1"/>
                <a:t>printf</a:t>
              </a:r>
              <a:r>
                <a:rPr lang="en-US" altLang="zh-CN" b="1" dirty="0"/>
                <a:t> ("a = %d\n");</a:t>
              </a:r>
            </a:p>
            <a:p>
              <a:r>
                <a:rPr lang="en-US" altLang="zh-CN" b="1" dirty="0"/>
                <a:t>      return 0; </a:t>
              </a:r>
              <a:endParaRPr lang="en-US" altLang="zh-CN" b="1" dirty="0">
                <a:ea typeface="楷体_GB2312" pitchFamily="49" charset="-122"/>
              </a:endParaRPr>
            </a:p>
            <a:p>
              <a:r>
                <a:rPr lang="en-US" altLang="zh-CN" b="1" dirty="0">
                  <a:ea typeface="楷体_GB2312" pitchFamily="49" charset="-122"/>
                </a:rPr>
                <a:t>   }</a:t>
              </a:r>
            </a:p>
            <a:p>
              <a:pPr lvl="3"/>
              <a:endParaRPr lang="en-US" altLang="zh-CN" b="1" dirty="0">
                <a:ea typeface="楷体_GB2312" pitchFamily="49" charset="-122"/>
              </a:endParaRPr>
            </a:p>
          </p:txBody>
        </p:sp>
        <p:sp>
          <p:nvSpPr>
            <p:cNvPr id="854061" name="Rectangle 45" descr="信纸"/>
            <p:cNvSpPr>
              <a:spLocks noChangeArrowheads="1"/>
            </p:cNvSpPr>
            <p:nvPr/>
          </p:nvSpPr>
          <p:spPr bwMode="auto">
            <a:xfrm>
              <a:off x="4102071" y="7004075"/>
              <a:ext cx="3457575" cy="6001643"/>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b="1" dirty="0">
                  <a:solidFill>
                    <a:srgbClr val="C00000"/>
                  </a:solidFill>
                  <a:latin typeface="隶书" pitchFamily="49" charset="-122"/>
                  <a:ea typeface="隶书" pitchFamily="49" charset="-122"/>
                </a:rPr>
                <a:t>例</a:t>
              </a:r>
              <a:r>
                <a:rPr lang="en-US" altLang="zh-CN" b="1" dirty="0">
                  <a:solidFill>
                    <a:srgbClr val="C00000"/>
                  </a:solidFill>
                  <a:latin typeface="隶书" pitchFamily="49" charset="-122"/>
                  <a:ea typeface="隶书" pitchFamily="49" charset="-122"/>
                </a:rPr>
                <a:t>:  </a:t>
              </a:r>
            </a:p>
            <a:p>
              <a:r>
                <a:rPr lang="en-US" altLang="zh-CN" b="1" dirty="0">
                  <a:solidFill>
                    <a:srgbClr val="FF3300"/>
                  </a:solidFill>
                  <a:ea typeface="楷体_GB2312" pitchFamily="49" charset="-122"/>
                </a:rPr>
                <a:t>   </a:t>
              </a:r>
              <a:r>
                <a:rPr lang="en-US" altLang="zh-CN" b="1" dirty="0">
                  <a:ea typeface="楷体_GB2312" pitchFamily="49" charset="-122"/>
                </a:rPr>
                <a:t>#include &lt;</a:t>
              </a:r>
              <a:r>
                <a:rPr lang="en-US" altLang="zh-CN" b="1" dirty="0" err="1">
                  <a:ea typeface="楷体_GB2312" pitchFamily="49" charset="-122"/>
                </a:rPr>
                <a:t>stdio.h</a:t>
              </a:r>
              <a:r>
                <a:rPr lang="en-US" altLang="zh-CN" b="1" dirty="0">
                  <a:ea typeface="楷体_GB2312" pitchFamily="49" charset="-122"/>
                </a:rPr>
                <a:t>&gt;</a:t>
              </a:r>
            </a:p>
            <a:p>
              <a:r>
                <a:rPr lang="en-US" altLang="zh-CN" b="1" dirty="0">
                  <a:solidFill>
                    <a:srgbClr val="CC3300"/>
                  </a:solidFill>
                  <a:ea typeface="楷体_GB2312" pitchFamily="49" charset="-122"/>
                </a:rPr>
                <a:t>   int main ( )</a:t>
              </a:r>
            </a:p>
            <a:p>
              <a:r>
                <a:rPr lang="en-US" altLang="zh-CN" b="1" dirty="0">
                  <a:ea typeface="楷体_GB2312" pitchFamily="49" charset="-122"/>
                </a:rPr>
                <a:t>   {</a:t>
              </a:r>
            </a:p>
            <a:p>
              <a:r>
                <a:rPr lang="en-US" altLang="zh-CN" b="1" dirty="0">
                  <a:ea typeface="楷体_GB2312" pitchFamily="49" charset="-122"/>
                </a:rPr>
                <a:t>      </a:t>
              </a:r>
              <a:r>
                <a:rPr lang="en-US" altLang="zh-CN" b="1" dirty="0"/>
                <a:t>int a = 1, b = -1;</a:t>
              </a:r>
              <a:r>
                <a:rPr lang="en-US" altLang="zh-CN" dirty="0"/>
                <a:t> </a:t>
              </a:r>
              <a:endParaRPr lang="en-US" altLang="zh-CN" b="1" dirty="0">
                <a:ea typeface="楷体_GB2312" pitchFamily="49" charset="-122"/>
              </a:endParaRPr>
            </a:p>
            <a:p>
              <a:r>
                <a:rPr lang="en-US" altLang="zh-CN" b="1" dirty="0">
                  <a:ea typeface="楷体_GB2312" pitchFamily="49" charset="-122"/>
                </a:rPr>
                <a:t>      </a:t>
              </a:r>
              <a:r>
                <a:rPr lang="en-US" altLang="zh-CN" b="1" dirty="0"/>
                <a:t>if  (a &gt; 0)</a:t>
              </a:r>
              <a:r>
                <a:rPr lang="en-US" altLang="zh-CN" dirty="0"/>
                <a:t> </a:t>
              </a:r>
            </a:p>
            <a:p>
              <a:r>
                <a:rPr lang="en-US" altLang="zh-CN" dirty="0">
                  <a:solidFill>
                    <a:srgbClr val="002060"/>
                  </a:solidFill>
                </a:rPr>
                <a:t>      </a:t>
              </a:r>
              <a:r>
                <a:rPr lang="en-US" altLang="zh-CN" b="1" dirty="0">
                  <a:solidFill>
                    <a:srgbClr val="002060"/>
                  </a:solidFill>
                </a:rPr>
                <a:t>{</a:t>
              </a:r>
            </a:p>
            <a:p>
              <a:r>
                <a:rPr lang="en-US" altLang="zh-CN" b="1" dirty="0">
                  <a:solidFill>
                    <a:srgbClr val="002060"/>
                  </a:solidFill>
                </a:rPr>
                <a:t>          if  (b &gt; 0) </a:t>
              </a:r>
              <a:endParaRPr lang="en-US" altLang="zh-CN" b="1" dirty="0">
                <a:solidFill>
                  <a:srgbClr val="002060"/>
                </a:solidFill>
                <a:ea typeface="楷体_GB2312" pitchFamily="49" charset="-122"/>
              </a:endParaRPr>
            </a:p>
            <a:p>
              <a:r>
                <a:rPr lang="en-US" altLang="zh-CN" b="1" dirty="0">
                  <a:solidFill>
                    <a:srgbClr val="002060"/>
                  </a:solidFill>
                </a:rPr>
                <a:t>              a++; </a:t>
              </a:r>
            </a:p>
            <a:p>
              <a:r>
                <a:rPr lang="en-US" altLang="zh-CN" b="1" dirty="0">
                  <a:solidFill>
                    <a:srgbClr val="002060"/>
                  </a:solidFill>
                </a:rPr>
                <a:t>      }</a:t>
              </a:r>
            </a:p>
            <a:p>
              <a:r>
                <a:rPr lang="en-US" altLang="zh-CN" b="1" dirty="0">
                  <a:ea typeface="楷体_GB2312" pitchFamily="49" charset="-122"/>
                </a:rPr>
                <a:t>      </a:t>
              </a:r>
              <a:r>
                <a:rPr lang="en-US" altLang="zh-CN" b="1" dirty="0"/>
                <a:t>else</a:t>
              </a:r>
              <a:r>
                <a:rPr lang="en-US" altLang="zh-CN" dirty="0"/>
                <a:t> </a:t>
              </a:r>
            </a:p>
            <a:p>
              <a:r>
                <a:rPr lang="en-US" altLang="zh-CN" dirty="0"/>
                <a:t>         </a:t>
              </a:r>
              <a:r>
                <a:rPr lang="en-US" altLang="zh-CN" b="1" dirty="0"/>
                <a:t>a--; </a:t>
              </a:r>
            </a:p>
            <a:p>
              <a:r>
                <a:rPr lang="en-US" altLang="zh-CN" b="1" dirty="0"/>
                <a:t>      </a:t>
              </a:r>
              <a:r>
                <a:rPr lang="en-US" altLang="zh-CN" b="1" dirty="0" err="1"/>
                <a:t>printf</a:t>
              </a:r>
              <a:r>
                <a:rPr lang="en-US" altLang="zh-CN" b="1" dirty="0"/>
                <a:t> ("a = %d\n");</a:t>
              </a:r>
            </a:p>
            <a:p>
              <a:r>
                <a:rPr lang="en-US" altLang="zh-CN" b="1" dirty="0"/>
                <a:t>      return 0;</a:t>
              </a:r>
              <a:r>
                <a:rPr lang="en-US" altLang="zh-CN" dirty="0"/>
                <a:t> </a:t>
              </a:r>
              <a:endParaRPr lang="en-US" altLang="zh-CN" b="1" dirty="0">
                <a:ea typeface="楷体_GB2312" pitchFamily="49" charset="-122"/>
              </a:endParaRPr>
            </a:p>
            <a:p>
              <a:r>
                <a:rPr lang="en-US" altLang="zh-CN" b="1" dirty="0">
                  <a:ea typeface="楷体_GB2312" pitchFamily="49" charset="-122"/>
                </a:rPr>
                <a:t>   }</a:t>
              </a:r>
            </a:p>
            <a:p>
              <a:pPr lvl="3"/>
              <a:endParaRPr lang="en-US" altLang="zh-CN" b="1" dirty="0">
                <a:ea typeface="楷体_GB2312" pitchFamily="49" charset="-122"/>
              </a:endParaRPr>
            </a:p>
          </p:txBody>
        </p:sp>
      </p:grpSp>
      <p:sp>
        <p:nvSpPr>
          <p:cNvPr id="854063" name="Rectangle 47"/>
          <p:cNvSpPr>
            <a:spLocks noChangeArrowheads="1"/>
          </p:cNvSpPr>
          <p:nvPr/>
        </p:nvSpPr>
        <p:spPr bwMode="auto">
          <a:xfrm>
            <a:off x="6202831" y="5465622"/>
            <a:ext cx="230505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C00000"/>
                </a:solidFill>
                <a:latin typeface="隶书" pitchFamily="49" charset="-122"/>
                <a:ea typeface="隶书" pitchFamily="49" charset="-122"/>
              </a:rPr>
              <a:t>运行结</a:t>
            </a:r>
            <a:r>
              <a:rPr lang="zh-CN" altLang="en-US" sz="2000" b="1" dirty="0">
                <a:solidFill>
                  <a:srgbClr val="C00000"/>
                </a:solidFill>
                <a:latin typeface="隶书" pitchFamily="49" charset="-122"/>
                <a:ea typeface="隶书" pitchFamily="49" charset="-122"/>
              </a:rPr>
              <a:t>果：</a:t>
            </a:r>
            <a:r>
              <a:rPr lang="en-US" altLang="zh-CN" b="1" dirty="0"/>
              <a:t>a = 0</a:t>
            </a:r>
          </a:p>
        </p:txBody>
      </p:sp>
      <p:sp>
        <p:nvSpPr>
          <p:cNvPr id="854064" name="Rectangle 48"/>
          <p:cNvSpPr>
            <a:spLocks noChangeArrowheads="1"/>
          </p:cNvSpPr>
          <p:nvPr/>
        </p:nvSpPr>
        <p:spPr bwMode="auto">
          <a:xfrm>
            <a:off x="9624392" y="6252993"/>
            <a:ext cx="230505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kumimoji="0" lang="zh-CN" altLang="en-US" sz="2000" b="1" dirty="0">
                <a:solidFill>
                  <a:srgbClr val="C00000"/>
                </a:solidFill>
                <a:latin typeface="隶书" pitchFamily="49" charset="-122"/>
                <a:ea typeface="隶书" pitchFamily="49" charset="-122"/>
              </a:rPr>
              <a:t>运行结</a:t>
            </a:r>
            <a:r>
              <a:rPr lang="zh-CN" altLang="en-US" sz="2000" b="1" dirty="0">
                <a:solidFill>
                  <a:srgbClr val="C00000"/>
                </a:solidFill>
                <a:latin typeface="隶书" pitchFamily="49" charset="-122"/>
                <a:ea typeface="隶书" pitchFamily="49" charset="-122"/>
              </a:rPr>
              <a:t>果：</a:t>
            </a:r>
            <a:r>
              <a:rPr lang="en-US" altLang="zh-CN" b="1" dirty="0"/>
              <a:t>a = 1</a:t>
            </a:r>
          </a:p>
        </p:txBody>
      </p:sp>
      <p:sp>
        <p:nvSpPr>
          <p:cNvPr id="17" name="Rectangle 4">
            <a:extLst>
              <a:ext uri="{FF2B5EF4-FFF2-40B4-BE49-F238E27FC236}">
                <a16:creationId xmlns:a16="http://schemas.microsoft.com/office/drawing/2014/main" id="{9A5491C5-BE69-4942-84D2-A3E4E114D6F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
        <p:nvSpPr>
          <p:cNvPr id="18" name="Rectangle 2">
            <a:extLst>
              <a:ext uri="{FF2B5EF4-FFF2-40B4-BE49-F238E27FC236}">
                <a16:creationId xmlns:a16="http://schemas.microsoft.com/office/drawing/2014/main" id="{9FD389C2-9FCE-43B1-9AC5-26676F239900}"/>
              </a:ext>
            </a:extLst>
          </p:cNvPr>
          <p:cNvSpPr>
            <a:spLocks noChangeArrowheads="1"/>
          </p:cNvSpPr>
          <p:nvPr/>
        </p:nvSpPr>
        <p:spPr bwMode="auto">
          <a:xfrm>
            <a:off x="1187026" y="1318389"/>
            <a:ext cx="4476925" cy="762000"/>
          </a:xfrm>
          <a:prstGeom prst="rect">
            <a:avLst/>
          </a:prstGeom>
          <a:noFill/>
          <a:ln w="9525" cap="flat" cmpd="sng">
            <a:noFill/>
            <a:prstDash val="solid"/>
            <a:miter lim="800000"/>
            <a:headEnd/>
            <a:tailEnd/>
          </a:ln>
          <a:effectLst/>
        </p:spPr>
        <p:txBody>
          <a:bodyPr/>
          <a:lstStyle/>
          <a:p>
            <a:pPr marL="342900" indent="-342900" eaLnBrk="0" hangingPunct="0">
              <a:spcBef>
                <a:spcPct val="20000"/>
              </a:spcBef>
              <a:buClr>
                <a:srgbClr val="C01920"/>
              </a:buClr>
              <a:buFont typeface="Wingdings" pitchFamily="2" charset="2"/>
              <a:buChar char="Ø"/>
            </a:pPr>
            <a:r>
              <a:rPr lang="en-US" altLang="zh-CN" b="1" dirty="0">
                <a:solidFill>
                  <a:srgbClr val="C00000"/>
                </a:solidFill>
                <a:latin typeface="+mn-lt"/>
                <a:ea typeface="楷体" pitchFamily="49" charset="-122"/>
              </a:rPr>
              <a:t>if</a:t>
            </a:r>
            <a:r>
              <a:rPr lang="zh-CN" altLang="zh-CN" b="1" dirty="0">
                <a:solidFill>
                  <a:srgbClr val="C00000"/>
                </a:solidFill>
                <a:latin typeface="+mn-lt"/>
                <a:ea typeface="楷体" pitchFamily="49" charset="-122"/>
              </a:rPr>
              <a:t>语句嵌套</a:t>
            </a:r>
            <a:r>
              <a:rPr lang="zh-CN" altLang="en-US" b="1" dirty="0">
                <a:solidFill>
                  <a:srgbClr val="C00000"/>
                </a:solidFill>
                <a:latin typeface="+mn-lt"/>
                <a:ea typeface="楷体" pitchFamily="49" charset="-122"/>
              </a:rPr>
              <a:t>：</a:t>
            </a:r>
          </a:p>
          <a:p>
            <a:pPr marL="742950" lvl="1" indent="-285750" eaLnBrk="0" hangingPunct="0">
              <a:spcBef>
                <a:spcPct val="20000"/>
              </a:spcBef>
              <a:buClr>
                <a:srgbClr val="002060"/>
              </a:buClr>
              <a:buFont typeface="Wingdings" pitchFamily="2" charset="2"/>
              <a:buChar char="l"/>
            </a:pPr>
            <a:r>
              <a:rPr lang="zh-CN" altLang="en-US" b="1" dirty="0">
                <a:solidFill>
                  <a:srgbClr val="002060"/>
                </a:solidFill>
                <a:latin typeface="+mn-lt"/>
                <a:ea typeface="楷体" pitchFamily="49" charset="-122"/>
              </a:rPr>
              <a:t> </a:t>
            </a:r>
            <a:r>
              <a:rPr lang="en-US" altLang="zh-CN" b="1" dirty="0">
                <a:solidFill>
                  <a:srgbClr val="002060"/>
                </a:solidFill>
                <a:latin typeface="+mn-lt"/>
                <a:ea typeface="楷体" pitchFamily="49" charset="-122"/>
              </a:rPr>
              <a:t> </a:t>
            </a:r>
            <a:r>
              <a:rPr lang="en-US" altLang="zh-CN" b="1" dirty="0" err="1">
                <a:solidFill>
                  <a:srgbClr val="002060"/>
                </a:solidFill>
                <a:latin typeface="+mn-lt"/>
                <a:ea typeface="楷体" pitchFamily="49" charset="-122"/>
              </a:rPr>
              <a:t>if_else</a:t>
            </a:r>
            <a:r>
              <a:rPr lang="en-US" altLang="zh-CN" b="1" dirty="0">
                <a:solidFill>
                  <a:srgbClr val="002060"/>
                </a:solidFill>
                <a:latin typeface="+mn-lt"/>
                <a:ea typeface="楷体" pitchFamily="49" charset="-122"/>
              </a:rPr>
              <a:t> </a:t>
            </a:r>
            <a:r>
              <a:rPr lang="zh-CN" altLang="en-US" b="1" dirty="0">
                <a:solidFill>
                  <a:srgbClr val="002060"/>
                </a:solidFill>
                <a:latin typeface="+mn-lt"/>
                <a:ea typeface="楷体" pitchFamily="49" charset="-122"/>
              </a:rPr>
              <a:t>配对原则</a:t>
            </a:r>
          </a:p>
          <a:p>
            <a:pPr marL="742950" lvl="1" indent="-285750" eaLnBrk="0" hangingPunct="0">
              <a:spcBef>
                <a:spcPct val="20000"/>
              </a:spcBef>
              <a:buClr>
                <a:srgbClr val="002060"/>
              </a:buClr>
              <a:buFont typeface="Wingdings" pitchFamily="2" charset="2"/>
              <a:buChar char="l"/>
            </a:pPr>
            <a:endParaRPr lang="zh-CN" altLang="en-US" b="1" dirty="0">
              <a:solidFill>
                <a:srgbClr val="002060"/>
              </a:solidFill>
              <a:latin typeface="+mn-lt"/>
              <a:ea typeface="楷体" pitchFamily="49" charset="-122"/>
            </a:endParaRPr>
          </a:p>
        </p:txBody>
      </p:sp>
      <p:sp>
        <p:nvSpPr>
          <p:cNvPr id="19" name="Rectangle 45">
            <a:extLst>
              <a:ext uri="{FF2B5EF4-FFF2-40B4-BE49-F238E27FC236}">
                <a16:creationId xmlns:a16="http://schemas.microsoft.com/office/drawing/2014/main" id="{430A6E85-DBF6-4583-8938-50226D1B6676}"/>
              </a:ext>
            </a:extLst>
          </p:cNvPr>
          <p:cNvSpPr>
            <a:spLocks noChangeArrowheads="1"/>
          </p:cNvSpPr>
          <p:nvPr/>
        </p:nvSpPr>
        <p:spPr bwMode="auto">
          <a:xfrm>
            <a:off x="884811" y="804397"/>
            <a:ext cx="2172390"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1.  if</a:t>
            </a:r>
            <a:r>
              <a:rPr lang="zh-CN" altLang="en-US" sz="2800" b="1" dirty="0">
                <a:solidFill>
                  <a:srgbClr val="C00000"/>
                </a:solidFill>
                <a:latin typeface="楷体" panose="02010609060101010101" pitchFamily="49" charset="-122"/>
                <a:ea typeface="楷体" panose="02010609060101010101" pitchFamily="49" charset="-122"/>
              </a:rPr>
              <a:t>语句</a:t>
            </a:r>
            <a:r>
              <a:rPr lang="zh-CN" altLang="en-US" sz="2800" dirty="0">
                <a:solidFill>
                  <a:srgbClr val="C00000"/>
                </a:solidFill>
                <a:latin typeface="楷体" panose="02010609060101010101" pitchFamily="49" charset="-122"/>
                <a:ea typeface="楷体" panose="02010609060101010101"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 calcmode="lin" valueType="num">
                                      <p:cBhvr additive="base">
                                        <p:cTn id="13" dur="500" fill="hold"/>
                                        <p:tgtEl>
                                          <p:spTgt spid="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854057"/>
                                        </p:tgtEl>
                                        <p:attrNameLst>
                                          <p:attrName>style.visibility</p:attrName>
                                        </p:attrNameLst>
                                      </p:cBhvr>
                                      <p:to>
                                        <p:strVal val="visible"/>
                                      </p:to>
                                    </p:set>
                                    <p:animEffect transition="in" filter="box(out)">
                                      <p:cBhvr>
                                        <p:cTn id="19" dur="500"/>
                                        <p:tgtEl>
                                          <p:spTgt spid="854057"/>
                                        </p:tgtEl>
                                      </p:cBhvr>
                                    </p:animEffect>
                                  </p:childTnLst>
                                  <p:subTnLst>
                                    <p:audio>
                                      <p:cMediaNode>
                                        <p:cTn display="0" masterRel="sameClick">
                                          <p:stCondLst>
                                            <p:cond evt="begin" delay="0">
                                              <p:tn val="17"/>
                                            </p:cond>
                                          </p:stCondLst>
                                          <p:endCondLst>
                                            <p:cond evt="onStopAudio" delay="0">
                                              <p:tgtEl>
                                                <p:sldTgt/>
                                              </p:tgtEl>
                                            </p:cond>
                                          </p:endCondLst>
                                        </p:cTn>
                                        <p:tgtEl>
                                          <p:sndTgt r:embed="rId5" name="chimes.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854051"/>
                                        </p:tgtEl>
                                        <p:attrNameLst>
                                          <p:attrName>style.visibility</p:attrName>
                                        </p:attrNameLst>
                                      </p:cBhvr>
                                      <p:to>
                                        <p:strVal val="visible"/>
                                      </p:to>
                                    </p:set>
                                    <p:animEffect transition="in" filter="box(in)">
                                      <p:cBhvr>
                                        <p:cTn id="24" dur="500"/>
                                        <p:tgtEl>
                                          <p:spTgt spid="854051"/>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854052"/>
                                        </p:tgtEl>
                                        <p:attrNameLst>
                                          <p:attrName>style.visibility</p:attrName>
                                        </p:attrNameLst>
                                      </p:cBhvr>
                                      <p:to>
                                        <p:strVal val="visible"/>
                                      </p:to>
                                    </p:set>
                                    <p:animEffect transition="in" filter="strips(downLeft)">
                                      <p:cBhvr>
                                        <p:cTn id="29" dur="500"/>
                                        <p:tgtEl>
                                          <p:spTgt spid="854052"/>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854053"/>
                                        </p:tgtEl>
                                        <p:attrNameLst>
                                          <p:attrName>style.visibility</p:attrName>
                                        </p:attrNameLst>
                                      </p:cBhvr>
                                      <p:to>
                                        <p:strVal val="visible"/>
                                      </p:to>
                                    </p:set>
                                    <p:animEffect transition="in" filter="strips(downLeft)">
                                      <p:cBhvr>
                                        <p:cTn id="34" dur="500"/>
                                        <p:tgtEl>
                                          <p:spTgt spid="854053"/>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854054"/>
                                        </p:tgtEl>
                                        <p:attrNameLst>
                                          <p:attrName>style.visibility</p:attrName>
                                        </p:attrNameLst>
                                      </p:cBhvr>
                                      <p:to>
                                        <p:strVal val="visible"/>
                                      </p:to>
                                    </p:set>
                                    <p:animEffect transition="in" filter="strips(downLeft)">
                                      <p:cBhvr>
                                        <p:cTn id="39" dur="500"/>
                                        <p:tgtEl>
                                          <p:spTgt spid="854054"/>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ox(in)">
                                      <p:cBhvr>
                                        <p:cTn id="44" dur="500"/>
                                        <p:tgtEl>
                                          <p:spTgt spid="16"/>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854063"/>
                                        </p:tgtEl>
                                        <p:attrNameLst>
                                          <p:attrName>style.visibility</p:attrName>
                                        </p:attrNameLst>
                                      </p:cBhvr>
                                      <p:to>
                                        <p:strVal val="visible"/>
                                      </p:to>
                                    </p:set>
                                    <p:animEffect transition="in" filter="box(in)">
                                      <p:cBhvr>
                                        <p:cTn id="49" dur="500"/>
                                        <p:tgtEl>
                                          <p:spTgt spid="854063"/>
                                        </p:tgtEl>
                                      </p:cBhvr>
                                    </p:animEffect>
                                  </p:childTnLst>
                                  <p:subTnLst>
                                    <p:audio>
                                      <p:cMediaNode>
                                        <p:cTn display="0" masterRel="sameClick">
                                          <p:stCondLst>
                                            <p:cond evt="begin" delay="0">
                                              <p:tn val="47"/>
                                            </p:cond>
                                          </p:stCondLst>
                                          <p:endCondLst>
                                            <p:cond evt="onStopAudio" delay="0">
                                              <p:tgtEl>
                                                <p:sldTgt/>
                                              </p:tgtEl>
                                            </p:cond>
                                          </p:endCondLst>
                                        </p:cTn>
                                        <p:tgtEl>
                                          <p:sndTgt r:embed="rId5" name="chimes.wav"/>
                                        </p:tgtEl>
                                      </p:cMediaNode>
                                    </p:audio>
                                  </p:subTnLst>
                                </p:cTn>
                              </p:par>
                            </p:childTnLst>
                          </p:cTn>
                        </p:par>
                      </p:childTnLst>
                    </p:cTn>
                  </p:par>
                  <p:par>
                    <p:cTn id="50" fill="hold">
                      <p:stCondLst>
                        <p:cond delay="indefinite"/>
                      </p:stCondLst>
                      <p:childTnLst>
                        <p:par>
                          <p:cTn id="51" fill="hold">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854064"/>
                                        </p:tgtEl>
                                        <p:attrNameLst>
                                          <p:attrName>style.visibility</p:attrName>
                                        </p:attrNameLst>
                                      </p:cBhvr>
                                      <p:to>
                                        <p:strVal val="visible"/>
                                      </p:to>
                                    </p:set>
                                    <p:animEffect transition="in" filter="box(in)">
                                      <p:cBhvr>
                                        <p:cTn id="54" dur="500"/>
                                        <p:tgtEl>
                                          <p:spTgt spid="854064"/>
                                        </p:tgtEl>
                                      </p:cBhvr>
                                    </p:animEffect>
                                  </p:childTnLst>
                                  <p:subTnLst>
                                    <p:audio>
                                      <p:cMediaNode>
                                        <p:cTn display="0" masterRel="sameClick">
                                          <p:stCondLst>
                                            <p:cond evt="begin" delay="0">
                                              <p:tn val="52"/>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51" grpId="0" animBg="1"/>
      <p:bldP spid="854052" grpId="0" animBg="1"/>
      <p:bldP spid="854053" grpId="0" animBg="1"/>
      <p:bldP spid="854054" grpId="0" animBg="1"/>
      <p:bldP spid="854057" grpId="0" animBg="1"/>
      <p:bldP spid="854063" grpId="0" animBg="1"/>
      <p:bldP spid="854064" grpId="0" animBg="1"/>
      <p:bldP spid="18" grpId="0" uiExpand="1" build="p" bldLvl="4"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Text Box 2"/>
          <p:cNvSpPr txBox="1">
            <a:spLocks noChangeArrowheads="1"/>
          </p:cNvSpPr>
          <p:nvPr/>
        </p:nvSpPr>
        <p:spPr bwMode="auto">
          <a:xfrm>
            <a:off x="694806" y="408222"/>
            <a:ext cx="5443200" cy="22653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sp3d extrusionH="57150">
              <a:bevelT w="57150" h="38100" prst="hardEdge"/>
            </a:sp3d>
          </a:bodyPr>
          <a:lstStyle/>
          <a:p>
            <a:pPr eaLnBrk="0" hangingPunct="0"/>
            <a:r>
              <a:rPr lang="zh-CN" altLang="en-US" sz="2800" b="1" dirty="0">
                <a:solidFill>
                  <a:srgbClr val="CC3300"/>
                </a:solidFill>
                <a:ea typeface="隶书" pitchFamily="49" charset="-122"/>
              </a:rPr>
              <a:t>  </a:t>
            </a:r>
            <a:r>
              <a:rPr lang="zh-CN" altLang="en-US" sz="2800" b="1" dirty="0">
                <a:solidFill>
                  <a:srgbClr val="C00000"/>
                </a:solidFill>
                <a:ea typeface="隶书" pitchFamily="49" charset="-122"/>
              </a:rPr>
              <a:t>例： </a:t>
            </a:r>
            <a:r>
              <a:rPr lang="en-US" altLang="zh-CN" sz="2800" b="1" dirty="0">
                <a:ea typeface="隶书" pitchFamily="49" charset="-122"/>
              </a:rPr>
              <a:t>if (a==b)</a:t>
            </a:r>
          </a:p>
          <a:p>
            <a:pPr eaLnBrk="0" hangingPunct="0"/>
            <a:r>
              <a:rPr lang="en-US" altLang="zh-CN" sz="2800" b="1" dirty="0">
                <a:ea typeface="隶书" pitchFamily="49" charset="-122"/>
              </a:rPr>
              <a:t>                if(b==c)</a:t>
            </a:r>
          </a:p>
          <a:p>
            <a:pPr eaLnBrk="0" hangingPunct="0"/>
            <a:r>
              <a:rPr lang="en-US" altLang="zh-CN" sz="2800" b="1" dirty="0">
                <a:ea typeface="隶书" pitchFamily="49" charset="-122"/>
              </a:rPr>
              <a:t>                        </a:t>
            </a:r>
            <a:r>
              <a:rPr lang="en-US" altLang="zh-CN" sz="2800" b="1" dirty="0" err="1">
                <a:ea typeface="隶书" pitchFamily="49" charset="-122"/>
              </a:rPr>
              <a:t>printf</a:t>
            </a:r>
            <a:r>
              <a:rPr lang="en-US" altLang="zh-CN" sz="2800" b="1" dirty="0">
                <a:ea typeface="隶书" pitchFamily="49" charset="-122"/>
              </a:rPr>
              <a:t>(</a:t>
            </a:r>
            <a:r>
              <a:rPr lang="en-US" altLang="zh-CN" sz="2800" b="1" dirty="0"/>
              <a:t>"</a:t>
            </a:r>
            <a:r>
              <a:rPr lang="en-US" altLang="zh-CN" sz="2800" b="1" dirty="0">
                <a:ea typeface="隶书" pitchFamily="49" charset="-122"/>
              </a:rPr>
              <a:t>a==b==c</a:t>
            </a:r>
            <a:r>
              <a:rPr lang="en-US" altLang="zh-CN" sz="2800" b="1" dirty="0"/>
              <a:t>"</a:t>
            </a:r>
            <a:r>
              <a:rPr lang="en-US" altLang="zh-CN" sz="2800" b="1" dirty="0">
                <a:ea typeface="隶书" pitchFamily="49" charset="-122"/>
              </a:rPr>
              <a:t>);</a:t>
            </a:r>
          </a:p>
          <a:p>
            <a:pPr eaLnBrk="0" hangingPunct="0"/>
            <a:r>
              <a:rPr lang="en-US" altLang="zh-CN" sz="2800" b="1" dirty="0">
                <a:ea typeface="隶书" pitchFamily="49" charset="-122"/>
              </a:rPr>
              <a:t>           else</a:t>
            </a:r>
          </a:p>
          <a:p>
            <a:pPr eaLnBrk="0" hangingPunct="0"/>
            <a:r>
              <a:rPr lang="en-US" altLang="zh-CN" sz="2800" b="1" dirty="0">
                <a:ea typeface="隶书" pitchFamily="49" charset="-122"/>
              </a:rPr>
              <a:t>                </a:t>
            </a:r>
            <a:r>
              <a:rPr lang="en-US" altLang="zh-CN" sz="2800" b="1" dirty="0" err="1">
                <a:ea typeface="隶书" pitchFamily="49" charset="-122"/>
              </a:rPr>
              <a:t>printf</a:t>
            </a:r>
            <a:r>
              <a:rPr lang="en-US" altLang="zh-CN" sz="2800" b="1" dirty="0">
                <a:ea typeface="隶书" pitchFamily="49" charset="-122"/>
              </a:rPr>
              <a:t>(</a:t>
            </a:r>
            <a:r>
              <a:rPr lang="en-US" altLang="zh-CN" sz="2800" b="1" dirty="0"/>
              <a:t>"</a:t>
            </a:r>
            <a:r>
              <a:rPr lang="en-US" altLang="zh-CN" sz="2800" b="1" dirty="0">
                <a:ea typeface="隶书" pitchFamily="49" charset="-122"/>
              </a:rPr>
              <a:t>a!=b</a:t>
            </a:r>
            <a:r>
              <a:rPr lang="en-US" altLang="zh-CN" sz="2800" b="1" dirty="0"/>
              <a:t>"</a:t>
            </a:r>
            <a:r>
              <a:rPr lang="en-US" altLang="zh-CN" sz="2800" b="1" dirty="0">
                <a:ea typeface="隶书" pitchFamily="49" charset="-122"/>
              </a:rPr>
              <a:t>);</a:t>
            </a:r>
          </a:p>
        </p:txBody>
      </p:sp>
      <p:sp>
        <p:nvSpPr>
          <p:cNvPr id="860163" name="Text Box 3"/>
          <p:cNvSpPr txBox="1">
            <a:spLocks noChangeArrowheads="1"/>
          </p:cNvSpPr>
          <p:nvPr/>
        </p:nvSpPr>
        <p:spPr bwMode="auto">
          <a:xfrm>
            <a:off x="678947" y="3030841"/>
            <a:ext cx="5441703" cy="2679837"/>
          </a:xfrm>
          <a:prstGeom prst="rect">
            <a:avLst/>
          </a:prstGeom>
          <a:solidFill>
            <a:srgbClr val="FFFFFF"/>
          </a:soli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0" tIns="46800" rIns="90000" bIns="46800">
            <a:spAutoFit/>
            <a:sp3d extrusionH="57150">
              <a:bevelT w="57150" h="38100" prst="hardEdge"/>
            </a:sp3d>
          </a:bodyPr>
          <a:lstStyle/>
          <a:p>
            <a:pPr eaLnBrk="0" hangingPunct="0"/>
            <a:r>
              <a:rPr lang="zh-CN" altLang="en-US" sz="2800" b="1" dirty="0">
                <a:solidFill>
                  <a:srgbClr val="C00000"/>
                </a:solidFill>
                <a:ea typeface="隶书" pitchFamily="49" charset="-122"/>
              </a:rPr>
              <a:t>  修改： </a:t>
            </a:r>
            <a:r>
              <a:rPr lang="en-US" altLang="zh-CN" sz="2800" b="1" dirty="0">
                <a:ea typeface="隶书" pitchFamily="49" charset="-122"/>
              </a:rPr>
              <a:t>if (a==b)</a:t>
            </a:r>
          </a:p>
          <a:p>
            <a:pPr eaLnBrk="0" hangingPunct="0"/>
            <a:r>
              <a:rPr lang="en-US" altLang="zh-CN" sz="2800" b="1" dirty="0">
                <a:ea typeface="隶书" pitchFamily="49" charset="-122"/>
              </a:rPr>
              <a:t>               </a:t>
            </a:r>
            <a:r>
              <a:rPr lang="en-US" altLang="zh-CN" sz="2800" b="1" dirty="0">
                <a:solidFill>
                  <a:srgbClr val="C00000"/>
                </a:solidFill>
                <a:ea typeface="隶书" pitchFamily="49" charset="-122"/>
              </a:rPr>
              <a:t>{</a:t>
            </a:r>
            <a:r>
              <a:rPr lang="en-US" altLang="zh-CN" sz="2800" b="1" dirty="0">
                <a:ea typeface="隶书" pitchFamily="49" charset="-122"/>
              </a:rPr>
              <a:t>      if (b==c)</a:t>
            </a:r>
          </a:p>
          <a:p>
            <a:pPr eaLnBrk="0" hangingPunct="0"/>
            <a:r>
              <a:rPr lang="en-US" altLang="zh-CN" sz="2800" b="1" dirty="0">
                <a:ea typeface="隶书" pitchFamily="49" charset="-122"/>
              </a:rPr>
              <a:t>                          </a:t>
            </a:r>
            <a:r>
              <a:rPr lang="en-US" altLang="zh-CN" sz="2800" b="1" dirty="0" err="1">
                <a:ea typeface="隶书" pitchFamily="49" charset="-122"/>
              </a:rPr>
              <a:t>printf</a:t>
            </a:r>
            <a:r>
              <a:rPr lang="en-US" altLang="zh-CN" sz="2800" b="1" dirty="0">
                <a:ea typeface="隶书" pitchFamily="49" charset="-122"/>
              </a:rPr>
              <a:t>(</a:t>
            </a:r>
            <a:r>
              <a:rPr lang="en-US" altLang="zh-CN" sz="2800" b="1" dirty="0"/>
              <a:t>"</a:t>
            </a:r>
            <a:r>
              <a:rPr lang="en-US" altLang="zh-CN" sz="2800" b="1" dirty="0">
                <a:ea typeface="隶书" pitchFamily="49" charset="-122"/>
              </a:rPr>
              <a:t>a==b==c</a:t>
            </a:r>
            <a:r>
              <a:rPr lang="en-US" altLang="zh-CN" sz="2800" b="1" dirty="0"/>
              <a:t>"</a:t>
            </a:r>
            <a:r>
              <a:rPr lang="en-US" altLang="zh-CN" sz="2800" b="1" dirty="0">
                <a:ea typeface="隶书" pitchFamily="49" charset="-122"/>
              </a:rPr>
              <a:t>);</a:t>
            </a:r>
          </a:p>
          <a:p>
            <a:pPr eaLnBrk="0" hangingPunct="0"/>
            <a:r>
              <a:rPr lang="en-US" altLang="zh-CN" sz="2800" b="1" dirty="0">
                <a:ea typeface="隶书" pitchFamily="49" charset="-122"/>
              </a:rPr>
              <a:t>              </a:t>
            </a:r>
            <a:r>
              <a:rPr lang="en-US" altLang="zh-CN" sz="2800" b="1" dirty="0">
                <a:solidFill>
                  <a:srgbClr val="C00000"/>
                </a:solidFill>
                <a:ea typeface="隶书" pitchFamily="49" charset="-122"/>
              </a:rPr>
              <a:t> }</a:t>
            </a:r>
          </a:p>
          <a:p>
            <a:pPr eaLnBrk="0" hangingPunct="0"/>
            <a:r>
              <a:rPr lang="en-US" altLang="zh-CN" sz="2800" b="1" dirty="0">
                <a:ea typeface="隶书" pitchFamily="49" charset="-122"/>
              </a:rPr>
              <a:t>               else</a:t>
            </a:r>
          </a:p>
          <a:p>
            <a:pPr eaLnBrk="0" hangingPunct="0"/>
            <a:r>
              <a:rPr lang="en-US" altLang="zh-CN" sz="2800" b="1" dirty="0">
                <a:ea typeface="隶书" pitchFamily="49" charset="-122"/>
              </a:rPr>
              <a:t>                   </a:t>
            </a:r>
            <a:r>
              <a:rPr lang="en-US" altLang="zh-CN" sz="2800" b="1" dirty="0" err="1">
                <a:ea typeface="隶书" pitchFamily="49" charset="-122"/>
              </a:rPr>
              <a:t>printf</a:t>
            </a:r>
            <a:r>
              <a:rPr lang="en-US" altLang="zh-CN" sz="2800" b="1" dirty="0">
                <a:ea typeface="隶书" pitchFamily="49" charset="-122"/>
              </a:rPr>
              <a:t>(</a:t>
            </a:r>
            <a:r>
              <a:rPr lang="en-US" altLang="zh-CN" sz="2800" b="1" dirty="0"/>
              <a:t>"</a:t>
            </a:r>
            <a:r>
              <a:rPr lang="en-US" altLang="zh-CN" sz="2800" b="1" dirty="0">
                <a:ea typeface="隶书" pitchFamily="49" charset="-122"/>
              </a:rPr>
              <a:t>a!=b</a:t>
            </a:r>
            <a:r>
              <a:rPr lang="en-US" altLang="zh-CN" sz="2800" b="1" dirty="0"/>
              <a:t>"</a:t>
            </a:r>
            <a:r>
              <a:rPr lang="en-US" altLang="zh-CN" sz="2800" b="1" dirty="0">
                <a:ea typeface="隶书" pitchFamily="49" charset="-122"/>
              </a:rPr>
              <a:t>);</a:t>
            </a:r>
          </a:p>
        </p:txBody>
      </p:sp>
      <p:sp>
        <p:nvSpPr>
          <p:cNvPr id="860164" name="Text Box 4"/>
          <p:cNvSpPr txBox="1">
            <a:spLocks noChangeArrowheads="1"/>
          </p:cNvSpPr>
          <p:nvPr/>
        </p:nvSpPr>
        <p:spPr bwMode="auto">
          <a:xfrm>
            <a:off x="623392" y="6002124"/>
            <a:ext cx="5514614" cy="52322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gn="ctr" eaLnBrk="0" hangingPunct="0"/>
            <a:r>
              <a:rPr lang="zh-CN" altLang="en-US" sz="2800" b="1">
                <a:solidFill>
                  <a:srgbClr val="C00000"/>
                </a:solidFill>
                <a:ea typeface="隶书" pitchFamily="49" charset="-122"/>
              </a:rPr>
              <a:t>实现</a:t>
            </a:r>
            <a:r>
              <a:rPr lang="en-US" altLang="zh-CN" sz="2800" b="1">
                <a:solidFill>
                  <a:srgbClr val="C00000"/>
                </a:solidFill>
                <a:ea typeface="隶书" pitchFamily="49" charset="-122"/>
              </a:rPr>
              <a:t>if ~ else </a:t>
            </a:r>
            <a:r>
              <a:rPr lang="zh-CN" altLang="zh-CN" sz="2800" b="1">
                <a:solidFill>
                  <a:srgbClr val="C00000"/>
                </a:solidFill>
                <a:ea typeface="隶书" pitchFamily="49" charset="-122"/>
              </a:rPr>
              <a:t>正确配对方法：加{ }</a:t>
            </a:r>
            <a:endParaRPr lang="en-US" altLang="zh-CN" sz="2800" b="1">
              <a:solidFill>
                <a:srgbClr val="C00000"/>
              </a:solidFill>
              <a:ea typeface="隶书" pitchFamily="49" charset="-122"/>
            </a:endParaRPr>
          </a:p>
        </p:txBody>
      </p:sp>
      <p:sp>
        <p:nvSpPr>
          <p:cNvPr id="860166" name="Freeform 6"/>
          <p:cNvSpPr>
            <a:spLocks/>
          </p:cNvSpPr>
          <p:nvPr/>
        </p:nvSpPr>
        <p:spPr bwMode="auto">
          <a:xfrm rot="20582666">
            <a:off x="1420303" y="1163488"/>
            <a:ext cx="807214" cy="770476"/>
          </a:xfrm>
          <a:custGeom>
            <a:avLst/>
            <a:gdLst/>
            <a:ahLst/>
            <a:cxnLst>
              <a:cxn ang="0">
                <a:pos x="20" y="511"/>
              </a:cxn>
              <a:cxn ang="0">
                <a:pos x="153" y="123"/>
              </a:cxn>
              <a:cxn ang="0">
                <a:pos x="453" y="0"/>
              </a:cxn>
            </a:cxnLst>
            <a:rect l="0" t="0" r="r" b="b"/>
            <a:pathLst>
              <a:path w="453" h="511">
                <a:moveTo>
                  <a:pt x="20" y="511"/>
                </a:moveTo>
                <a:cubicBezTo>
                  <a:pt x="0" y="341"/>
                  <a:pt x="7" y="220"/>
                  <a:pt x="153" y="123"/>
                </a:cubicBezTo>
                <a:cubicBezTo>
                  <a:pt x="226" y="10"/>
                  <a:pt x="332" y="0"/>
                  <a:pt x="453" y="0"/>
                </a:cubicBezTo>
              </a:path>
            </a:pathLst>
          </a:custGeom>
          <a:noFill/>
          <a:ln w="38100" cap="flat" cmpd="sng">
            <a:solidFill>
              <a:srgbClr val="008000"/>
            </a:solidFill>
            <a:prstDash val="solid"/>
            <a:round/>
            <a:headEnd type="triangle" w="med" len="med"/>
            <a:tailEnd type="triangle" w="med" len="med"/>
          </a:ln>
          <a:effectLst/>
        </p:spPr>
        <p:txBody>
          <a:bodyPr wrap="none" anchor="ctr"/>
          <a:lstStyle/>
          <a:p>
            <a:endParaRPr lang="zh-CN" altLang="en-US"/>
          </a:p>
        </p:txBody>
      </p:sp>
      <p:sp>
        <p:nvSpPr>
          <p:cNvPr id="12" name="椭圆形标注 11"/>
          <p:cNvSpPr/>
          <p:nvPr/>
        </p:nvSpPr>
        <p:spPr bwMode="auto">
          <a:xfrm>
            <a:off x="4176196" y="2965031"/>
            <a:ext cx="2999924" cy="934104"/>
          </a:xfrm>
          <a:prstGeom prst="wedgeEllipseCallout">
            <a:avLst>
              <a:gd name="adj1" fmla="val -119268"/>
              <a:gd name="adj2" fmla="val -149427"/>
            </a:avLst>
          </a:prstGeom>
          <a:gradFill flip="none" rotWithShape="1">
            <a:gsLst>
              <a:gs pos="0">
                <a:srgbClr val="BEDFC4"/>
              </a:gs>
              <a:gs pos="100000">
                <a:schemeClr val="accent1">
                  <a:lumMod val="60000"/>
                  <a:lumOff val="40000"/>
                  <a:tint val="23500"/>
                  <a:satMod val="160000"/>
                </a:schemeClr>
              </a:gs>
            </a:gsLst>
            <a:lin ang="16200000" scaled="1"/>
            <a:tileRect/>
          </a:gradFill>
          <a:ln w="9525" cap="flat" cmpd="sng" algn="ctr">
            <a:solidFill>
              <a:schemeClr val="tx1"/>
            </a:solidFill>
            <a:prstDash val="solid"/>
            <a:round/>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r>
              <a:rPr lang="en-US" altLang="zh-CN" b="1" dirty="0">
                <a:solidFill>
                  <a:srgbClr val="C00000"/>
                </a:solidFill>
                <a:effectLst>
                  <a:outerShdw blurRad="38100" dist="38100" dir="2700000" algn="tl">
                    <a:srgbClr val="000000">
                      <a:alpha val="43137"/>
                    </a:srgbClr>
                  </a:outerShdw>
                </a:effectLst>
                <a:latin typeface="隶书" pitchFamily="49" charset="-122"/>
                <a:ea typeface="隶书" pitchFamily="49" charset="-122"/>
              </a:rPr>
              <a:t>else</a:t>
            </a:r>
            <a:r>
              <a:rPr lang="zh-CN" altLang="en-US" b="1" dirty="0">
                <a:solidFill>
                  <a:srgbClr val="C00000"/>
                </a:solidFill>
                <a:effectLst>
                  <a:outerShdw blurRad="38100" dist="38100" dir="2700000" algn="tl">
                    <a:srgbClr val="000000">
                      <a:alpha val="43137"/>
                    </a:srgbClr>
                  </a:outerShdw>
                </a:effectLst>
                <a:latin typeface="隶书" pitchFamily="49" charset="-122"/>
                <a:ea typeface="隶书" pitchFamily="49" charset="-122"/>
              </a:rPr>
              <a:t>与谁配对？</a:t>
            </a:r>
          </a:p>
        </p:txBody>
      </p:sp>
      <p:sp>
        <p:nvSpPr>
          <p:cNvPr id="10" name="Text Box 2" descr="信纸">
            <a:extLst>
              <a:ext uri="{FF2B5EF4-FFF2-40B4-BE49-F238E27FC236}">
                <a16:creationId xmlns:a16="http://schemas.microsoft.com/office/drawing/2014/main" id="{19508F90-6AB8-447B-85CE-51F228A9414B}"/>
              </a:ext>
            </a:extLst>
          </p:cNvPr>
          <p:cNvSpPr txBox="1">
            <a:spLocks noChangeArrowheads="1"/>
          </p:cNvSpPr>
          <p:nvPr/>
        </p:nvSpPr>
        <p:spPr bwMode="auto">
          <a:xfrm>
            <a:off x="6789874" y="185015"/>
            <a:ext cx="4967906" cy="6496267"/>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eaLnBrk="0" hangingPunct="0"/>
            <a:r>
              <a:rPr lang="zh-CN" altLang="en-US" sz="2800" b="1" dirty="0">
                <a:solidFill>
                  <a:srgbClr val="C00000"/>
                </a:solidFill>
                <a:ea typeface="隶书" pitchFamily="49" charset="-122"/>
              </a:rPr>
              <a:t>  例：考虑下面程序输出结果</a:t>
            </a:r>
            <a:r>
              <a:rPr lang="en-US" altLang="zh-CN" sz="2800" b="1" dirty="0">
                <a:solidFill>
                  <a:srgbClr val="C00000"/>
                </a:solidFill>
                <a:ea typeface="隶书" pitchFamily="49" charset="-122"/>
              </a:rPr>
              <a:t>:</a:t>
            </a:r>
          </a:p>
          <a:p>
            <a:pPr eaLnBrk="0" hangingPunct="0"/>
            <a:r>
              <a:rPr lang="en-US" altLang="zh-CN" sz="2800" b="1" dirty="0">
                <a:solidFill>
                  <a:srgbClr val="C00000"/>
                </a:solidFill>
                <a:ea typeface="隶书" pitchFamily="49" charset="-122"/>
              </a:rPr>
              <a:t>     </a:t>
            </a:r>
            <a:r>
              <a:rPr lang="en-US" altLang="zh-CN" b="1" dirty="0" err="1">
                <a:solidFill>
                  <a:srgbClr val="C00000"/>
                </a:solidFill>
                <a:ea typeface="隶书" pitchFamily="49" charset="-122"/>
              </a:rPr>
              <a:t>int</a:t>
            </a:r>
            <a:r>
              <a:rPr lang="en-US" altLang="zh-CN" b="1" dirty="0">
                <a:solidFill>
                  <a:srgbClr val="C00000"/>
                </a:solidFill>
                <a:ea typeface="隶书" pitchFamily="49" charset="-122"/>
              </a:rPr>
              <a:t> main( )</a:t>
            </a:r>
          </a:p>
          <a:p>
            <a:pPr eaLnBrk="0" hangingPunct="0"/>
            <a:r>
              <a:rPr lang="en-US" altLang="zh-CN" b="1" dirty="0">
                <a:ea typeface="隶书" pitchFamily="49" charset="-122"/>
              </a:rPr>
              <a:t>      {   </a:t>
            </a:r>
          </a:p>
          <a:p>
            <a:pPr eaLnBrk="0" hangingPunct="0"/>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x = 100, a = 10, b = 20;</a:t>
            </a:r>
          </a:p>
          <a:p>
            <a:pPr eaLnBrk="0" hangingPunct="0"/>
            <a:r>
              <a:rPr lang="en-US" altLang="zh-CN" b="1" dirty="0">
                <a:ea typeface="隶书" pitchFamily="49" charset="-122"/>
              </a:rPr>
              <a:t>          </a:t>
            </a:r>
            <a:r>
              <a:rPr lang="en-US" altLang="zh-CN" b="1" dirty="0" err="1">
                <a:ea typeface="隶书" pitchFamily="49" charset="-122"/>
              </a:rPr>
              <a:t>int</a:t>
            </a:r>
            <a:r>
              <a:rPr lang="en-US" altLang="zh-CN" b="1" dirty="0">
                <a:ea typeface="隶书" pitchFamily="49" charset="-122"/>
              </a:rPr>
              <a:t> v1 = 5, v2 = 0;</a:t>
            </a:r>
          </a:p>
          <a:p>
            <a:pPr eaLnBrk="0" hangingPunct="0"/>
            <a:endParaRPr lang="en-US" altLang="zh-CN" b="1" dirty="0">
              <a:ea typeface="隶书" pitchFamily="49" charset="-122"/>
            </a:endParaRPr>
          </a:p>
          <a:p>
            <a:pPr eaLnBrk="0" hangingPunct="0"/>
            <a:r>
              <a:rPr lang="en-US" altLang="zh-CN" b="1" dirty="0">
                <a:solidFill>
                  <a:srgbClr val="FF33CC"/>
                </a:solidFill>
                <a:ea typeface="隶书" pitchFamily="49" charset="-122"/>
              </a:rPr>
              <a:t>          </a:t>
            </a:r>
            <a:r>
              <a:rPr lang="en-US" altLang="zh-CN" b="1" dirty="0">
                <a:solidFill>
                  <a:srgbClr val="C00000"/>
                </a:solidFill>
                <a:ea typeface="隶书" pitchFamily="49" charset="-122"/>
              </a:rPr>
              <a:t>if (a &lt; b)</a:t>
            </a:r>
          </a:p>
          <a:p>
            <a:pPr eaLnBrk="0" hangingPunct="0"/>
            <a:r>
              <a:rPr lang="en-US" altLang="zh-CN" b="1" dirty="0">
                <a:ea typeface="隶书" pitchFamily="49" charset="-122"/>
              </a:rPr>
              <a:t>               </a:t>
            </a:r>
            <a:r>
              <a:rPr lang="en-US" altLang="zh-CN" b="1" dirty="0">
                <a:solidFill>
                  <a:srgbClr val="002060"/>
                </a:solidFill>
                <a:ea typeface="隶书" pitchFamily="49" charset="-122"/>
              </a:rPr>
              <a:t>if (b != 15)</a:t>
            </a:r>
          </a:p>
          <a:p>
            <a:pPr eaLnBrk="0" hangingPunct="0"/>
            <a:r>
              <a:rPr lang="en-US" altLang="zh-CN" b="1" dirty="0">
                <a:ea typeface="隶书" pitchFamily="49" charset="-122"/>
              </a:rPr>
              <a:t>                    </a:t>
            </a:r>
            <a:r>
              <a:rPr lang="en-US" altLang="zh-CN" b="1" dirty="0">
                <a:solidFill>
                  <a:srgbClr val="008080"/>
                </a:solidFill>
                <a:ea typeface="隶书" pitchFamily="49" charset="-122"/>
              </a:rPr>
              <a:t>if (!v1)</a:t>
            </a:r>
          </a:p>
          <a:p>
            <a:pPr eaLnBrk="0" hangingPunct="0"/>
            <a:r>
              <a:rPr lang="en-US" altLang="zh-CN" b="1" dirty="0">
                <a:ea typeface="隶书" pitchFamily="49" charset="-122"/>
              </a:rPr>
              <a:t>                        x=1;</a:t>
            </a:r>
          </a:p>
          <a:p>
            <a:pPr eaLnBrk="0" hangingPunct="0"/>
            <a:r>
              <a:rPr lang="en-US" altLang="zh-CN" b="1" dirty="0">
                <a:ea typeface="隶书" pitchFamily="49" charset="-122"/>
              </a:rPr>
              <a:t>                    </a:t>
            </a:r>
            <a:r>
              <a:rPr lang="en-US" altLang="zh-CN" b="1" dirty="0">
                <a:solidFill>
                  <a:srgbClr val="008080"/>
                </a:solidFill>
                <a:ea typeface="隶书" pitchFamily="49" charset="-122"/>
              </a:rPr>
              <a:t>else</a:t>
            </a:r>
          </a:p>
          <a:p>
            <a:pPr eaLnBrk="0" hangingPunct="0"/>
            <a:r>
              <a:rPr lang="en-US" altLang="zh-CN" b="1" dirty="0">
                <a:solidFill>
                  <a:srgbClr val="CC00FF"/>
                </a:solidFill>
                <a:ea typeface="隶书" pitchFamily="49" charset="-122"/>
              </a:rPr>
              <a:t>                        </a:t>
            </a:r>
            <a:r>
              <a:rPr lang="en-US" altLang="zh-CN" b="1" dirty="0">
                <a:solidFill>
                  <a:schemeClr val="accent1">
                    <a:lumMod val="50000"/>
                  </a:schemeClr>
                </a:solidFill>
                <a:ea typeface="隶书" pitchFamily="49" charset="-122"/>
              </a:rPr>
              <a:t>if (v2)  </a:t>
            </a:r>
            <a:r>
              <a:rPr lang="en-US" altLang="zh-CN" b="1" dirty="0">
                <a:ea typeface="隶书" pitchFamily="49" charset="-122"/>
              </a:rPr>
              <a:t>x = 10;</a:t>
            </a:r>
          </a:p>
          <a:p>
            <a:pPr eaLnBrk="0" hangingPunct="0"/>
            <a:endParaRPr lang="en-US" altLang="zh-CN" b="1" dirty="0">
              <a:ea typeface="隶书" pitchFamily="49" charset="-122"/>
            </a:endParaRPr>
          </a:p>
          <a:p>
            <a:pPr eaLnBrk="0" hangingPunct="0"/>
            <a:r>
              <a:rPr lang="en-US" altLang="zh-CN" b="1" dirty="0">
                <a:ea typeface="隶书" pitchFamily="49" charset="-122"/>
              </a:rPr>
              <a:t>          x = -1;</a:t>
            </a:r>
          </a:p>
          <a:p>
            <a:pPr eaLnBrk="0" hangingPunct="0"/>
            <a:r>
              <a:rPr lang="en-US" altLang="zh-CN" b="1" dirty="0">
                <a:ea typeface="隶书" pitchFamily="49" charset="-122"/>
              </a:rPr>
              <a:t>          </a:t>
            </a:r>
            <a:r>
              <a:rPr lang="en-US" altLang="zh-CN" b="1" dirty="0" err="1">
                <a:ea typeface="隶书" pitchFamily="49" charset="-122"/>
              </a:rPr>
              <a:t>printf</a:t>
            </a:r>
            <a:r>
              <a:rPr lang="en-US" altLang="zh-CN" b="1" dirty="0">
                <a:ea typeface="隶书" pitchFamily="49" charset="-122"/>
              </a:rPr>
              <a:t> (</a:t>
            </a:r>
            <a:r>
              <a:rPr lang="en-US" altLang="zh-CN" b="1" dirty="0"/>
              <a:t>"</a:t>
            </a:r>
            <a:r>
              <a:rPr lang="en-US" altLang="zh-CN" b="1" dirty="0">
                <a:ea typeface="隶书" pitchFamily="49" charset="-122"/>
              </a:rPr>
              <a:t>%d</a:t>
            </a:r>
            <a:r>
              <a:rPr lang="en-US" altLang="zh-CN" b="1" dirty="0"/>
              <a:t>"</a:t>
            </a:r>
            <a:r>
              <a:rPr lang="en-US" altLang="zh-CN" b="1" dirty="0">
                <a:ea typeface="隶书" pitchFamily="49" charset="-122"/>
              </a:rPr>
              <a:t>, x);</a:t>
            </a:r>
          </a:p>
          <a:p>
            <a:pPr eaLnBrk="0" hangingPunct="0"/>
            <a:r>
              <a:rPr lang="en-US" altLang="zh-CN" b="1" dirty="0">
                <a:ea typeface="隶书" pitchFamily="49" charset="-122"/>
              </a:rPr>
              <a:t>          return 0;</a:t>
            </a:r>
          </a:p>
          <a:p>
            <a:pPr eaLnBrk="0" hangingPunct="0"/>
            <a:r>
              <a:rPr lang="en-US" altLang="zh-CN" b="1" dirty="0">
                <a:ea typeface="隶书" pitchFamily="49" charset="-122"/>
              </a:rPr>
              <a:t>      }</a:t>
            </a:r>
          </a:p>
        </p:txBody>
      </p:sp>
      <p:sp>
        <p:nvSpPr>
          <p:cNvPr id="11" name="Text Box 5">
            <a:extLst>
              <a:ext uri="{FF2B5EF4-FFF2-40B4-BE49-F238E27FC236}">
                <a16:creationId xmlns:a16="http://schemas.microsoft.com/office/drawing/2014/main" id="{7717DC32-7576-4D06-AACB-F82A625FAA9D}"/>
              </a:ext>
            </a:extLst>
          </p:cNvPr>
          <p:cNvSpPr txBox="1">
            <a:spLocks noChangeArrowheads="1"/>
          </p:cNvSpPr>
          <p:nvPr/>
        </p:nvSpPr>
        <p:spPr bwMode="auto">
          <a:xfrm>
            <a:off x="10057823" y="5908178"/>
            <a:ext cx="1423788"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zh-CN" altLang="en-US" b="1" dirty="0">
                <a:solidFill>
                  <a:srgbClr val="C00000"/>
                </a:solidFill>
                <a:latin typeface="隶书" pitchFamily="49" charset="-122"/>
                <a:ea typeface="隶书" pitchFamily="49" charset="-122"/>
              </a:rPr>
              <a:t>结果：</a:t>
            </a:r>
            <a:r>
              <a:rPr lang="en-US" altLang="zh-CN" b="1" dirty="0">
                <a:latin typeface="+mn-lt"/>
                <a:ea typeface="楷体_GB2312" pitchFamily="49" charset="-122"/>
              </a:rPr>
              <a:t>-1</a:t>
            </a:r>
          </a:p>
        </p:txBody>
      </p:sp>
      <p:sp>
        <p:nvSpPr>
          <p:cNvPr id="13" name="Rectangle 9">
            <a:extLst>
              <a:ext uri="{FF2B5EF4-FFF2-40B4-BE49-F238E27FC236}">
                <a16:creationId xmlns:a16="http://schemas.microsoft.com/office/drawing/2014/main" id="{BD98E0B6-D39D-4309-A8F8-0AE6BFB5AA65}"/>
              </a:ext>
            </a:extLst>
          </p:cNvPr>
          <p:cNvSpPr>
            <a:spLocks noChangeArrowheads="1"/>
          </p:cNvSpPr>
          <p:nvPr/>
        </p:nvSpPr>
        <p:spPr bwMode="auto">
          <a:xfrm>
            <a:off x="7793173" y="2966506"/>
            <a:ext cx="3240087" cy="2135187"/>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4" name="Rectangle 10">
            <a:extLst>
              <a:ext uri="{FF2B5EF4-FFF2-40B4-BE49-F238E27FC236}">
                <a16:creationId xmlns:a16="http://schemas.microsoft.com/office/drawing/2014/main" id="{9D2B6675-2923-4E16-914F-8F855FBCBF0C}"/>
              </a:ext>
            </a:extLst>
          </p:cNvPr>
          <p:cNvSpPr>
            <a:spLocks noChangeArrowheads="1"/>
          </p:cNvSpPr>
          <p:nvPr/>
        </p:nvSpPr>
        <p:spPr bwMode="auto">
          <a:xfrm>
            <a:off x="8177330" y="3311007"/>
            <a:ext cx="2592387" cy="1584325"/>
          </a:xfrm>
          <a:prstGeom prst="rect">
            <a:avLst/>
          </a:prstGeom>
          <a:noFill/>
          <a:ln w="28575">
            <a:solidFill>
              <a:srgbClr val="002060"/>
            </a:solidFill>
            <a:miter lim="800000"/>
            <a:headEnd/>
            <a:tailEnd/>
          </a:ln>
          <a:effectLst>
            <a:outerShdw blurRad="50800" dist="38100" dir="2700000" algn="tl" rotWithShape="0">
              <a:prstClr val="black">
                <a:alpha val="40000"/>
              </a:prstClr>
            </a:outerShdw>
          </a:effectLst>
        </p:spPr>
        <p:txBody>
          <a:bodyPr wrap="none" anchor="ctr"/>
          <a:lstStyle/>
          <a:p>
            <a:pPr algn="ctr"/>
            <a:endParaRPr lang="zh-CN" altLang="zh-CN">
              <a:solidFill>
                <a:schemeClr val="accent2"/>
              </a:solidFill>
            </a:endParaRPr>
          </a:p>
        </p:txBody>
      </p:sp>
      <p:sp>
        <p:nvSpPr>
          <p:cNvPr id="15" name="Rectangle 11">
            <a:extLst>
              <a:ext uri="{FF2B5EF4-FFF2-40B4-BE49-F238E27FC236}">
                <a16:creationId xmlns:a16="http://schemas.microsoft.com/office/drawing/2014/main" id="{724F2D79-39FA-4BED-8446-1D3B441EE5B4}"/>
              </a:ext>
            </a:extLst>
          </p:cNvPr>
          <p:cNvSpPr>
            <a:spLocks noChangeArrowheads="1"/>
          </p:cNvSpPr>
          <p:nvPr/>
        </p:nvSpPr>
        <p:spPr bwMode="auto">
          <a:xfrm>
            <a:off x="9453697" y="4429411"/>
            <a:ext cx="1008062" cy="360363"/>
          </a:xfrm>
          <a:prstGeom prst="rect">
            <a:avLst/>
          </a:prstGeom>
          <a:noFill/>
          <a:ln w="28575">
            <a:solidFill>
              <a:schemeClr val="accent1">
                <a:lumMod val="50000"/>
              </a:schemeClr>
            </a:solidFill>
            <a:miter lim="800000"/>
            <a:headEnd/>
            <a:tailEnd/>
          </a:ln>
          <a:effectLst>
            <a:outerShdw blurRad="50800" dist="38100" dir="2700000" algn="tl" rotWithShape="0">
              <a:prstClr val="black">
                <a:alpha val="40000"/>
              </a:prstClr>
            </a:outerShdw>
          </a:effectLst>
        </p:spPr>
        <p:txBody>
          <a:bodyPr wrap="none" anchor="ctr"/>
          <a:lstStyle/>
          <a:p>
            <a:pPr algn="ctr"/>
            <a:endParaRPr lang="zh-CN" altLang="zh-CN">
              <a:solidFill>
                <a:srgbClr val="339933"/>
              </a:solidFill>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60162"/>
                                        </p:tgtEl>
                                        <p:attrNameLst>
                                          <p:attrName>style.visibility</p:attrName>
                                        </p:attrNameLst>
                                      </p:cBhvr>
                                      <p:to>
                                        <p:strVal val="visible"/>
                                      </p:to>
                                    </p:set>
                                    <p:animEffect transition="in" filter="box(out)">
                                      <p:cBhvr>
                                        <p:cTn id="7" dur="500"/>
                                        <p:tgtEl>
                                          <p:spTgt spid="86016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Right)">
                                      <p:cBhvr>
                                        <p:cTn id="12"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60166"/>
                                        </p:tgtEl>
                                        <p:attrNameLst>
                                          <p:attrName>style.visibility</p:attrName>
                                        </p:attrNameLst>
                                      </p:cBhvr>
                                      <p:to>
                                        <p:strVal val="visible"/>
                                      </p:to>
                                    </p:set>
                                    <p:animEffect transition="in" filter="box(out)">
                                      <p:cBhvr>
                                        <p:cTn id="17" dur="500"/>
                                        <p:tgtEl>
                                          <p:spTgt spid="860166"/>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60163"/>
                                        </p:tgtEl>
                                        <p:attrNameLst>
                                          <p:attrName>style.visibility</p:attrName>
                                        </p:attrNameLst>
                                      </p:cBhvr>
                                      <p:to>
                                        <p:strVal val="visible"/>
                                      </p:to>
                                    </p:set>
                                    <p:animEffect transition="in" filter="box(out)">
                                      <p:cBhvr>
                                        <p:cTn id="22" dur="500"/>
                                        <p:tgtEl>
                                          <p:spTgt spid="860163"/>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60164"/>
                                        </p:tgtEl>
                                        <p:attrNameLst>
                                          <p:attrName>style.visibility</p:attrName>
                                        </p:attrNameLst>
                                      </p:cBhvr>
                                      <p:to>
                                        <p:strVal val="visible"/>
                                      </p:to>
                                    </p:set>
                                    <p:animEffect transition="in" filter="box(out)">
                                      <p:cBhvr>
                                        <p:cTn id="27" dur="500"/>
                                        <p:tgtEl>
                                          <p:spTgt spid="860164"/>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out)">
                                      <p:cBhvr>
                                        <p:cTn id="32" dur="500"/>
                                        <p:tgtEl>
                                          <p:spTgt spid="1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Left)">
                                      <p:cBhvr>
                                        <p:cTn id="37" dur="500"/>
                                        <p:tgtEl>
                                          <p:spTgt spid="13"/>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strips(downLeft)">
                                      <p:cBhvr>
                                        <p:cTn id="42" dur="500"/>
                                        <p:tgtEl>
                                          <p:spTgt spid="14"/>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ox(in)">
                                      <p:cBhvr>
                                        <p:cTn id="47" dur="500"/>
                                        <p:tgtEl>
                                          <p:spTgt spid="15"/>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ox(out)">
                                      <p:cBhvr>
                                        <p:cTn id="52" dur="500"/>
                                        <p:tgtEl>
                                          <p:spTgt spid="11"/>
                                        </p:tgtEl>
                                      </p:cBhvr>
                                    </p:animEffect>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2" grpId="0" animBg="1" autoUpdateAnimBg="0"/>
      <p:bldP spid="860163" grpId="0" animBg="1" autoUpdateAnimBg="0"/>
      <p:bldP spid="860164" grpId="0" animBg="1" autoUpdateAnimBg="0"/>
      <p:bldP spid="860166" grpId="0" animBg="1"/>
      <p:bldP spid="12" grpId="0" animBg="1"/>
      <p:bldP spid="10" grpId="0" animBg="1" autoUpdateAnimBg="0"/>
      <p:bldP spid="11" grpId="0" animBg="1" autoUpdateAnimBg="0"/>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ChangeArrowheads="1"/>
          </p:cNvSpPr>
          <p:nvPr/>
        </p:nvSpPr>
        <p:spPr bwMode="auto">
          <a:xfrm>
            <a:off x="820923" y="1446832"/>
            <a:ext cx="3186845" cy="415136"/>
          </a:xfrm>
          <a:prstGeom prst="rect">
            <a:avLst/>
          </a:prstGeom>
          <a:noFill/>
          <a:ln w="9525">
            <a:noFill/>
            <a:miter lim="800000"/>
            <a:headEnd/>
            <a:tailEnd/>
          </a:ln>
        </p:spPr>
        <p:txBody>
          <a:bodyPr/>
          <a:lstStyle/>
          <a:p>
            <a:pPr marL="800100" lvl="1" indent="-342900" eaLnBrk="0" hangingPunct="0">
              <a:buClr>
                <a:srgbClr val="C01920"/>
              </a:buClr>
              <a:buFont typeface="Wingdings" panose="05000000000000000000" pitchFamily="2" charset="2"/>
              <a:buChar char="l"/>
            </a:pPr>
            <a:r>
              <a:rPr lang="zh-CN" altLang="en-US" b="1" dirty="0">
                <a:solidFill>
                  <a:srgbClr val="C01920"/>
                </a:solidFill>
                <a:latin typeface="+mn-lt"/>
                <a:ea typeface="隶书" pitchFamily="49" charset="-122"/>
              </a:rPr>
              <a:t>一般形式：</a:t>
            </a:r>
          </a:p>
        </p:txBody>
      </p:sp>
      <p:sp>
        <p:nvSpPr>
          <p:cNvPr id="862211" name="Text Box 3"/>
          <p:cNvSpPr txBox="1">
            <a:spLocks noChangeArrowheads="1"/>
          </p:cNvSpPr>
          <p:nvPr/>
        </p:nvSpPr>
        <p:spPr bwMode="auto">
          <a:xfrm>
            <a:off x="7850512" y="908720"/>
            <a:ext cx="3671887" cy="5632311"/>
          </a:xfrm>
          <a:prstGeom prst="rect">
            <a:avLst/>
          </a:prstGeom>
          <a:gradFill rotWithShape="1">
            <a:gsLst>
              <a:gs pos="0">
                <a:srgbClr val="CFCFD1"/>
              </a:gs>
              <a:gs pos="95000">
                <a:schemeClr val="bg1">
                  <a:lumMod val="95000"/>
                </a:schemeClr>
              </a:gs>
            </a:gsLst>
            <a:lin ang="5400000" scaled="1"/>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eaLnBrk="0" hangingPunct="0"/>
            <a:r>
              <a:rPr lang="en-US" altLang="zh-CN" b="1">
                <a:solidFill>
                  <a:srgbClr val="C00000"/>
                </a:solidFill>
                <a:ea typeface="隶书" pitchFamily="49" charset="-122"/>
              </a:rPr>
              <a:t>switch ( </a:t>
            </a:r>
            <a:r>
              <a:rPr lang="zh-CN" altLang="en-US" b="1">
                <a:solidFill>
                  <a:srgbClr val="C00000"/>
                </a:solidFill>
                <a:ea typeface="隶书" pitchFamily="49" charset="-122"/>
              </a:rPr>
              <a:t>表达式</a:t>
            </a:r>
            <a:r>
              <a:rPr lang="en-US" altLang="zh-CN" b="1">
                <a:solidFill>
                  <a:srgbClr val="C00000"/>
                </a:solidFill>
                <a:ea typeface="隶书" pitchFamily="49" charset="-122"/>
              </a:rPr>
              <a:t>)</a:t>
            </a:r>
          </a:p>
          <a:p>
            <a:pPr eaLnBrk="0" hangingPunct="0"/>
            <a:r>
              <a:rPr lang="en-US" altLang="zh-CN" b="1">
                <a:solidFill>
                  <a:srgbClr val="C00000"/>
                </a:solidFill>
                <a:ea typeface="隶书" pitchFamily="49" charset="-122"/>
              </a:rPr>
              <a:t>{      case     E</a:t>
            </a:r>
            <a:r>
              <a:rPr lang="en-US" altLang="zh-CN" b="1" baseline="-25000">
                <a:solidFill>
                  <a:srgbClr val="C00000"/>
                </a:solidFill>
                <a:ea typeface="隶书" pitchFamily="49" charset="-122"/>
              </a:rPr>
              <a:t>1</a:t>
            </a:r>
            <a:r>
              <a:rPr lang="en-US" altLang="zh-CN" b="1">
                <a:solidFill>
                  <a:srgbClr val="C00000"/>
                </a:solidFill>
                <a:ea typeface="隶书" pitchFamily="49" charset="-122"/>
              </a:rPr>
              <a:t>:</a:t>
            </a:r>
          </a:p>
          <a:p>
            <a:pPr eaLnBrk="0" hangingPunct="0"/>
            <a:r>
              <a:rPr lang="en-US" altLang="zh-CN" b="1">
                <a:solidFill>
                  <a:srgbClr val="C00000"/>
                </a:solidFill>
                <a:ea typeface="隶书" pitchFamily="49" charset="-122"/>
              </a:rPr>
              <a:t>                    </a:t>
            </a:r>
            <a:r>
              <a:rPr lang="zh-CN" altLang="en-US" b="1">
                <a:solidFill>
                  <a:srgbClr val="C00000"/>
                </a:solidFill>
                <a:ea typeface="隶书" pitchFamily="49" charset="-122"/>
              </a:rPr>
              <a:t>语句组 </a:t>
            </a:r>
            <a:r>
              <a:rPr lang="en-US" altLang="zh-CN" b="1">
                <a:solidFill>
                  <a:srgbClr val="C00000"/>
                </a:solidFill>
                <a:ea typeface="隶书" pitchFamily="49" charset="-122"/>
              </a:rPr>
              <a:t>1;</a:t>
            </a:r>
          </a:p>
          <a:p>
            <a:pPr eaLnBrk="0" hangingPunct="0"/>
            <a:r>
              <a:rPr lang="en-US" altLang="zh-CN" b="1">
                <a:solidFill>
                  <a:srgbClr val="C00000"/>
                </a:solidFill>
                <a:ea typeface="隶书" pitchFamily="49" charset="-122"/>
              </a:rPr>
              <a:t>                    break;</a:t>
            </a:r>
          </a:p>
          <a:p>
            <a:pPr eaLnBrk="0" hangingPunct="0"/>
            <a:r>
              <a:rPr lang="en-US" altLang="zh-CN" b="1">
                <a:solidFill>
                  <a:srgbClr val="C00000"/>
                </a:solidFill>
                <a:ea typeface="隶书" pitchFamily="49" charset="-122"/>
              </a:rPr>
              <a:t>        case     E</a:t>
            </a:r>
            <a:r>
              <a:rPr lang="en-US" altLang="zh-CN" b="1" baseline="-25000">
                <a:solidFill>
                  <a:srgbClr val="C00000"/>
                </a:solidFill>
                <a:ea typeface="隶书" pitchFamily="49" charset="-122"/>
              </a:rPr>
              <a:t>2</a:t>
            </a:r>
            <a:r>
              <a:rPr lang="en-US" altLang="zh-CN" b="1">
                <a:solidFill>
                  <a:srgbClr val="C00000"/>
                </a:solidFill>
                <a:ea typeface="隶书" pitchFamily="49" charset="-122"/>
              </a:rPr>
              <a:t>:</a:t>
            </a:r>
          </a:p>
          <a:p>
            <a:pPr eaLnBrk="0" hangingPunct="0"/>
            <a:r>
              <a:rPr lang="en-US" altLang="zh-CN" b="1">
                <a:solidFill>
                  <a:srgbClr val="C00000"/>
                </a:solidFill>
                <a:ea typeface="隶书" pitchFamily="49" charset="-122"/>
              </a:rPr>
              <a:t>                   </a:t>
            </a:r>
            <a:r>
              <a:rPr lang="zh-CN" altLang="en-US" b="1">
                <a:solidFill>
                  <a:srgbClr val="C00000"/>
                </a:solidFill>
                <a:ea typeface="隶书" pitchFamily="49" charset="-122"/>
              </a:rPr>
              <a:t>语句组 </a:t>
            </a:r>
            <a:r>
              <a:rPr lang="en-US" altLang="zh-CN" b="1">
                <a:solidFill>
                  <a:srgbClr val="C00000"/>
                </a:solidFill>
                <a:ea typeface="隶书" pitchFamily="49" charset="-122"/>
              </a:rPr>
              <a:t>2;</a:t>
            </a:r>
          </a:p>
          <a:p>
            <a:pPr eaLnBrk="0" hangingPunct="0"/>
            <a:r>
              <a:rPr lang="en-US" altLang="zh-CN" b="1">
                <a:solidFill>
                  <a:srgbClr val="C00000"/>
                </a:solidFill>
                <a:ea typeface="隶书" pitchFamily="49" charset="-122"/>
              </a:rPr>
              <a:t>                    break;</a:t>
            </a:r>
          </a:p>
          <a:p>
            <a:pPr eaLnBrk="0" hangingPunct="0"/>
            <a:r>
              <a:rPr lang="en-US" altLang="zh-CN" b="1">
                <a:solidFill>
                  <a:srgbClr val="C00000"/>
                </a:solidFill>
                <a:ea typeface="隶书" pitchFamily="49" charset="-122"/>
              </a:rPr>
              <a:t>         …….</a:t>
            </a:r>
          </a:p>
          <a:p>
            <a:pPr eaLnBrk="0" hangingPunct="0"/>
            <a:r>
              <a:rPr lang="en-US" altLang="zh-CN" b="1">
                <a:solidFill>
                  <a:srgbClr val="C00000"/>
                </a:solidFill>
                <a:ea typeface="隶书" pitchFamily="49" charset="-122"/>
              </a:rPr>
              <a:t>        case    E</a:t>
            </a:r>
            <a:r>
              <a:rPr lang="en-US" altLang="zh-CN" b="1" baseline="-25000">
                <a:solidFill>
                  <a:srgbClr val="C00000"/>
                </a:solidFill>
                <a:ea typeface="隶书" pitchFamily="49" charset="-122"/>
              </a:rPr>
              <a:t>n</a:t>
            </a:r>
            <a:r>
              <a:rPr lang="en-US" altLang="zh-CN" b="1">
                <a:solidFill>
                  <a:srgbClr val="C00000"/>
                </a:solidFill>
                <a:ea typeface="隶书" pitchFamily="49" charset="-122"/>
              </a:rPr>
              <a:t>:</a:t>
            </a:r>
          </a:p>
          <a:p>
            <a:pPr eaLnBrk="0" hangingPunct="0"/>
            <a:r>
              <a:rPr lang="en-US" altLang="zh-CN" b="1">
                <a:solidFill>
                  <a:srgbClr val="C00000"/>
                </a:solidFill>
                <a:ea typeface="隶书" pitchFamily="49" charset="-122"/>
              </a:rPr>
              <a:t>                  </a:t>
            </a:r>
            <a:r>
              <a:rPr lang="zh-CN" altLang="en-US" b="1">
                <a:solidFill>
                  <a:srgbClr val="C00000"/>
                </a:solidFill>
                <a:ea typeface="隶书" pitchFamily="49" charset="-122"/>
              </a:rPr>
              <a:t>语句组 </a:t>
            </a:r>
            <a:r>
              <a:rPr lang="en-US" altLang="zh-CN" b="1">
                <a:solidFill>
                  <a:srgbClr val="C00000"/>
                </a:solidFill>
                <a:ea typeface="隶书" pitchFamily="49" charset="-122"/>
              </a:rPr>
              <a:t>n;</a:t>
            </a:r>
          </a:p>
          <a:p>
            <a:pPr eaLnBrk="0" hangingPunct="0"/>
            <a:r>
              <a:rPr lang="en-US" altLang="zh-CN" b="1">
                <a:solidFill>
                  <a:srgbClr val="C00000"/>
                </a:solidFill>
                <a:ea typeface="隶书" pitchFamily="49" charset="-122"/>
              </a:rPr>
              <a:t>                   break;</a:t>
            </a:r>
          </a:p>
          <a:p>
            <a:pPr eaLnBrk="0" hangingPunct="0"/>
            <a:r>
              <a:rPr lang="en-US" altLang="zh-CN" b="1">
                <a:solidFill>
                  <a:srgbClr val="C00000"/>
                </a:solidFill>
                <a:ea typeface="隶书" pitchFamily="49" charset="-122"/>
              </a:rPr>
              <a:t>        [default:</a:t>
            </a:r>
          </a:p>
          <a:p>
            <a:pPr eaLnBrk="0" hangingPunct="0"/>
            <a:r>
              <a:rPr lang="en-US" altLang="zh-CN" b="1">
                <a:solidFill>
                  <a:srgbClr val="C00000"/>
                </a:solidFill>
                <a:ea typeface="隶书" pitchFamily="49" charset="-122"/>
              </a:rPr>
              <a:t>                   </a:t>
            </a:r>
            <a:r>
              <a:rPr lang="zh-CN" altLang="en-US" b="1">
                <a:solidFill>
                  <a:srgbClr val="C00000"/>
                </a:solidFill>
                <a:ea typeface="隶书" pitchFamily="49" charset="-122"/>
              </a:rPr>
              <a:t>语句组 </a:t>
            </a:r>
            <a:r>
              <a:rPr lang="en-US" altLang="zh-CN" b="1">
                <a:solidFill>
                  <a:srgbClr val="C00000"/>
                </a:solidFill>
                <a:ea typeface="隶书" pitchFamily="49" charset="-122"/>
              </a:rPr>
              <a:t>;</a:t>
            </a:r>
          </a:p>
          <a:p>
            <a:pPr eaLnBrk="0" hangingPunct="0"/>
            <a:r>
              <a:rPr lang="en-US" altLang="zh-CN" b="1">
                <a:solidFill>
                  <a:srgbClr val="C00000"/>
                </a:solidFill>
                <a:ea typeface="隶书" pitchFamily="49" charset="-122"/>
              </a:rPr>
              <a:t>                    break;]</a:t>
            </a:r>
          </a:p>
          <a:p>
            <a:pPr eaLnBrk="0" hangingPunct="0"/>
            <a:r>
              <a:rPr lang="en-US" altLang="zh-CN" b="1">
                <a:solidFill>
                  <a:srgbClr val="C00000"/>
                </a:solidFill>
                <a:ea typeface="隶书" pitchFamily="49" charset="-122"/>
              </a:rPr>
              <a:t>}  </a:t>
            </a:r>
          </a:p>
        </p:txBody>
      </p:sp>
      <p:sp>
        <p:nvSpPr>
          <p:cNvPr id="862240" name="Rectangle 32"/>
          <p:cNvSpPr>
            <a:spLocks noChangeArrowheads="1"/>
          </p:cNvSpPr>
          <p:nvPr/>
        </p:nvSpPr>
        <p:spPr bwMode="auto">
          <a:xfrm>
            <a:off x="1688406" y="6781578"/>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2215" name="AutoShape 7"/>
          <p:cNvSpPr>
            <a:spLocks noChangeArrowheads="1"/>
          </p:cNvSpPr>
          <p:nvPr/>
        </p:nvSpPr>
        <p:spPr bwMode="auto">
          <a:xfrm>
            <a:off x="3575944" y="3098726"/>
            <a:ext cx="1143000" cy="381000"/>
          </a:xfrm>
          <a:prstGeom prst="flowChartAlternateProcess">
            <a:avLst/>
          </a:prstGeom>
          <a:gradFill rotWithShape="1">
            <a:gsLst>
              <a:gs pos="0">
                <a:srgbClr val="F0E5B7"/>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p>
            <a:pPr algn="ctr" eaLnBrk="0" hangingPunct="0"/>
            <a:r>
              <a:rPr lang="en-US" altLang="zh-CN" sz="2000" b="1" dirty="0">
                <a:effectLst>
                  <a:outerShdw blurRad="38100" dist="38100" dir="2700000" algn="tl">
                    <a:srgbClr val="FFFFFF"/>
                  </a:outerShdw>
                </a:effectLst>
                <a:ea typeface="隶书" pitchFamily="49" charset="-122"/>
              </a:rPr>
              <a:t>switch</a:t>
            </a:r>
          </a:p>
        </p:txBody>
      </p:sp>
      <p:sp>
        <p:nvSpPr>
          <p:cNvPr id="862216" name="Line 8"/>
          <p:cNvSpPr>
            <a:spLocks noChangeShapeType="1"/>
          </p:cNvSpPr>
          <p:nvPr/>
        </p:nvSpPr>
        <p:spPr bwMode="auto">
          <a:xfrm>
            <a:off x="4126806" y="3474964"/>
            <a:ext cx="0" cy="304800"/>
          </a:xfrm>
          <a:prstGeom prst="line">
            <a:avLst/>
          </a:prstGeom>
          <a:noFill/>
          <a:ln w="28575">
            <a:solidFill>
              <a:srgbClr val="C0000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17" name="AutoShape 9"/>
          <p:cNvSpPr>
            <a:spLocks noChangeArrowheads="1"/>
          </p:cNvSpPr>
          <p:nvPr/>
        </p:nvSpPr>
        <p:spPr bwMode="auto">
          <a:xfrm>
            <a:off x="3288606" y="3779764"/>
            <a:ext cx="1676400" cy="533400"/>
          </a:xfrm>
          <a:prstGeom prst="flowChartDecision">
            <a:avLst/>
          </a:prstGeom>
          <a:gradFill rotWithShape="1">
            <a:gsLst>
              <a:gs pos="0">
                <a:srgbClr val="FFCC99"/>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p>
            <a:pPr algn="ctr" eaLnBrk="0" hangingPunct="0"/>
            <a:r>
              <a:rPr lang="zh-CN" altLang="en-US" sz="2000" b="1">
                <a:effectLst>
                  <a:outerShdw blurRad="38100" dist="38100" dir="2700000" algn="tl">
                    <a:srgbClr val="FFFFFF"/>
                  </a:outerShdw>
                </a:effectLst>
                <a:ea typeface="隶书" pitchFamily="49" charset="-122"/>
              </a:rPr>
              <a:t>表达式</a:t>
            </a:r>
          </a:p>
        </p:txBody>
      </p:sp>
      <p:sp>
        <p:nvSpPr>
          <p:cNvPr id="862220" name="Text Box 12"/>
          <p:cNvSpPr txBox="1">
            <a:spLocks noChangeArrowheads="1"/>
          </p:cNvSpPr>
          <p:nvPr/>
        </p:nvSpPr>
        <p:spPr bwMode="auto">
          <a:xfrm>
            <a:off x="1307407" y="5151364"/>
            <a:ext cx="1082675" cy="406400"/>
          </a:xfrm>
          <a:prstGeom prst="rect">
            <a:avLst/>
          </a:prstGeom>
          <a:gradFill rotWithShape="1">
            <a:gsLst>
              <a:gs pos="0">
                <a:srgbClr val="BEDFC4"/>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p>
            <a:pPr algn="ctr" eaLnBrk="0" hangingPunct="0">
              <a:spcBef>
                <a:spcPct val="50000"/>
              </a:spcBef>
            </a:pPr>
            <a:r>
              <a:rPr lang="zh-CN" altLang="en-US" sz="2000" b="1" dirty="0">
                <a:effectLst>
                  <a:outerShdw blurRad="38100" dist="38100" dir="2700000" algn="tl">
                    <a:srgbClr val="FFFFFF"/>
                  </a:outerShdw>
                </a:effectLst>
                <a:ea typeface="隶书" pitchFamily="49" charset="-122"/>
              </a:rPr>
              <a:t>语句组</a:t>
            </a:r>
            <a:r>
              <a:rPr lang="en-US" altLang="zh-CN" sz="2000" b="1" dirty="0">
                <a:effectLst>
                  <a:outerShdw blurRad="38100" dist="38100" dir="2700000" algn="tl">
                    <a:srgbClr val="FFFFFF"/>
                  </a:outerShdw>
                </a:effectLst>
                <a:ea typeface="隶书" pitchFamily="49" charset="-122"/>
              </a:rPr>
              <a:t>1</a:t>
            </a:r>
          </a:p>
        </p:txBody>
      </p:sp>
      <p:sp>
        <p:nvSpPr>
          <p:cNvPr id="862221" name="Text Box 13"/>
          <p:cNvSpPr txBox="1">
            <a:spLocks noChangeArrowheads="1"/>
          </p:cNvSpPr>
          <p:nvPr/>
        </p:nvSpPr>
        <p:spPr bwMode="auto">
          <a:xfrm>
            <a:off x="2755207" y="5151364"/>
            <a:ext cx="1082675" cy="406400"/>
          </a:xfrm>
          <a:prstGeom prst="rect">
            <a:avLst/>
          </a:prstGeom>
          <a:gradFill rotWithShape="1">
            <a:gsLst>
              <a:gs pos="0">
                <a:srgbClr val="BEDFC4"/>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defPPr>
              <a:defRPr lang="zh-CN"/>
            </a:defPPr>
            <a:lvl1pPr algn="ctr" eaLnBrk="0" hangingPunct="0">
              <a:spcBef>
                <a:spcPct val="50000"/>
              </a:spcBef>
              <a:defRPr sz="2000" b="1">
                <a:effectLst>
                  <a:outerShdw blurRad="38100" dist="38100" dir="2700000" algn="tl">
                    <a:srgbClr val="FFFFFF"/>
                  </a:outerShdw>
                </a:effectLst>
                <a:ea typeface="隶书" pitchFamily="49" charset="-122"/>
              </a:defRPr>
            </a:lvl1pPr>
          </a:lstStyle>
          <a:p>
            <a:r>
              <a:rPr lang="zh-CN" altLang="en-US" dirty="0"/>
              <a:t>语句组</a:t>
            </a:r>
            <a:r>
              <a:rPr lang="en-US" altLang="zh-CN" dirty="0"/>
              <a:t>2</a:t>
            </a:r>
          </a:p>
        </p:txBody>
      </p:sp>
      <p:sp>
        <p:nvSpPr>
          <p:cNvPr id="862222" name="Text Box 14"/>
          <p:cNvSpPr txBox="1">
            <a:spLocks noChangeArrowheads="1"/>
          </p:cNvSpPr>
          <p:nvPr/>
        </p:nvSpPr>
        <p:spPr bwMode="auto">
          <a:xfrm>
            <a:off x="4812607" y="5151364"/>
            <a:ext cx="1082675" cy="406400"/>
          </a:xfrm>
          <a:prstGeom prst="rect">
            <a:avLst/>
          </a:prstGeom>
          <a:gradFill rotWithShape="1">
            <a:gsLst>
              <a:gs pos="0">
                <a:srgbClr val="BEDFC4"/>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defPPr>
              <a:defRPr lang="zh-CN"/>
            </a:defPPr>
            <a:lvl1pPr algn="ctr" eaLnBrk="0" hangingPunct="0">
              <a:spcBef>
                <a:spcPct val="50000"/>
              </a:spcBef>
              <a:defRPr sz="2000" b="1">
                <a:effectLst>
                  <a:outerShdw blurRad="38100" dist="38100" dir="2700000" algn="tl">
                    <a:srgbClr val="FFFFFF"/>
                  </a:outerShdw>
                </a:effectLst>
                <a:ea typeface="隶书" pitchFamily="49" charset="-122"/>
              </a:defRPr>
            </a:lvl1pPr>
          </a:lstStyle>
          <a:p>
            <a:r>
              <a:rPr lang="zh-CN" altLang="en-US" dirty="0"/>
              <a:t>语句组</a:t>
            </a:r>
            <a:r>
              <a:rPr lang="en-US" altLang="zh-CN" dirty="0"/>
              <a:t>n</a:t>
            </a:r>
          </a:p>
        </p:txBody>
      </p:sp>
      <p:sp>
        <p:nvSpPr>
          <p:cNvPr id="862223" name="Text Box 15"/>
          <p:cNvSpPr txBox="1">
            <a:spLocks noChangeArrowheads="1"/>
          </p:cNvSpPr>
          <p:nvPr/>
        </p:nvSpPr>
        <p:spPr bwMode="auto">
          <a:xfrm>
            <a:off x="6247707" y="5151364"/>
            <a:ext cx="955675" cy="406400"/>
          </a:xfrm>
          <a:prstGeom prst="rect">
            <a:avLst/>
          </a:prstGeom>
          <a:gradFill rotWithShape="1">
            <a:gsLst>
              <a:gs pos="0">
                <a:srgbClr val="BEDFC4"/>
              </a:gs>
              <a:gs pos="100000">
                <a:schemeClr val="bg1"/>
              </a:gs>
            </a:gsLst>
            <a:lin ang="5400000" scaled="1"/>
          </a:gradFill>
          <a:ln w="9525">
            <a:noFill/>
            <a:miter lim="800000"/>
            <a:headEnd/>
            <a:tailEnd/>
          </a:ln>
          <a:effectLst>
            <a:outerShdw dist="107763" dir="2700000" algn="ctr" rotWithShape="0">
              <a:schemeClr val="bg2">
                <a:alpha val="50000"/>
              </a:schemeClr>
            </a:outerShdw>
          </a:effectLst>
        </p:spPr>
        <p:txBody>
          <a:bodyPr wrap="none" anchor="ctr"/>
          <a:lstStyle>
            <a:defPPr>
              <a:defRPr lang="zh-CN"/>
            </a:defPPr>
            <a:lvl1pPr algn="ctr" eaLnBrk="0" hangingPunct="0">
              <a:spcBef>
                <a:spcPct val="50000"/>
              </a:spcBef>
              <a:defRPr sz="2000" b="1">
                <a:effectLst>
                  <a:outerShdw blurRad="38100" dist="38100" dir="2700000" algn="tl">
                    <a:srgbClr val="FFFFFF"/>
                  </a:outerShdw>
                </a:effectLst>
                <a:ea typeface="隶书" pitchFamily="49" charset="-122"/>
              </a:defRPr>
            </a:lvl1pPr>
          </a:lstStyle>
          <a:p>
            <a:r>
              <a:rPr lang="zh-CN" altLang="en-US"/>
              <a:t>语句组</a:t>
            </a:r>
          </a:p>
        </p:txBody>
      </p:sp>
      <p:sp>
        <p:nvSpPr>
          <p:cNvPr id="862224" name="Text Box 16"/>
          <p:cNvSpPr txBox="1">
            <a:spLocks noChangeArrowheads="1"/>
          </p:cNvSpPr>
          <p:nvPr/>
        </p:nvSpPr>
        <p:spPr bwMode="auto">
          <a:xfrm>
            <a:off x="3974406" y="5227565"/>
            <a:ext cx="628650" cy="396875"/>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a typeface="隶书" pitchFamily="49" charset="-122"/>
              </a:rPr>
              <a:t>…...</a:t>
            </a:r>
          </a:p>
        </p:txBody>
      </p:sp>
      <p:grpSp>
        <p:nvGrpSpPr>
          <p:cNvPr id="862275" name="Group 67"/>
          <p:cNvGrpSpPr>
            <a:grpSpLocks/>
          </p:cNvGrpSpPr>
          <p:nvPr/>
        </p:nvGrpSpPr>
        <p:grpSpPr bwMode="auto">
          <a:xfrm>
            <a:off x="1840807" y="5570464"/>
            <a:ext cx="2454275" cy="723900"/>
            <a:chOff x="744" y="2901"/>
            <a:chExt cx="1546" cy="456"/>
          </a:xfrm>
        </p:grpSpPr>
        <p:sp>
          <p:nvSpPr>
            <p:cNvPr id="862238" name="Line 30"/>
            <p:cNvSpPr>
              <a:spLocks noChangeShapeType="1"/>
            </p:cNvSpPr>
            <p:nvPr/>
          </p:nvSpPr>
          <p:spPr bwMode="auto">
            <a:xfrm flipV="1">
              <a:off x="744" y="3113"/>
              <a:ext cx="1546" cy="4"/>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wrap="none" anchor="ctr"/>
            <a:lstStyle/>
            <a:p>
              <a:endParaRPr lang="zh-CN" altLang="en-US"/>
            </a:p>
          </p:txBody>
        </p:sp>
        <p:sp>
          <p:nvSpPr>
            <p:cNvPr id="862234" name="Line 26"/>
            <p:cNvSpPr>
              <a:spLocks noChangeShapeType="1"/>
            </p:cNvSpPr>
            <p:nvPr/>
          </p:nvSpPr>
          <p:spPr bwMode="auto">
            <a:xfrm>
              <a:off x="744" y="2901"/>
              <a:ext cx="0" cy="215"/>
            </a:xfrm>
            <a:prstGeom prst="line">
              <a:avLst/>
            </a:prstGeom>
            <a:noFill/>
            <a:ln w="28575">
              <a:solidFill>
                <a:srgbClr val="C0192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9" name="Line 31"/>
            <p:cNvSpPr>
              <a:spLocks noChangeShapeType="1"/>
            </p:cNvSpPr>
            <p:nvPr/>
          </p:nvSpPr>
          <p:spPr bwMode="auto">
            <a:xfrm>
              <a:off x="2280" y="3117"/>
              <a:ext cx="0" cy="240"/>
            </a:xfrm>
            <a:prstGeom prst="line">
              <a:avLst/>
            </a:prstGeom>
            <a:noFill/>
            <a:ln w="28575">
              <a:solidFill>
                <a:srgbClr val="C0192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grpSp>
        <p:nvGrpSpPr>
          <p:cNvPr id="862257" name="Group 49"/>
          <p:cNvGrpSpPr>
            <a:grpSpLocks/>
          </p:cNvGrpSpPr>
          <p:nvPr/>
        </p:nvGrpSpPr>
        <p:grpSpPr bwMode="auto">
          <a:xfrm>
            <a:off x="1832869" y="4313164"/>
            <a:ext cx="3054350" cy="831850"/>
            <a:chOff x="739" y="2109"/>
            <a:chExt cx="1924" cy="524"/>
          </a:xfrm>
        </p:grpSpPr>
        <p:sp>
          <p:nvSpPr>
            <p:cNvPr id="862226" name="Text Box 18"/>
            <p:cNvSpPr txBox="1">
              <a:spLocks noChangeArrowheads="1"/>
            </p:cNvSpPr>
            <p:nvPr/>
          </p:nvSpPr>
          <p:spPr bwMode="auto">
            <a:xfrm>
              <a:off x="773" y="2349"/>
              <a:ext cx="334"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dirty="0">
                  <a:solidFill>
                    <a:srgbClr val="002060"/>
                  </a:solidFill>
                  <a:ea typeface="隶书" pitchFamily="49" charset="-122"/>
                </a:rPr>
                <a:t>E </a:t>
              </a:r>
              <a:r>
                <a:rPr lang="en-US" altLang="zh-CN" sz="2000" b="1" baseline="-25000" dirty="0">
                  <a:solidFill>
                    <a:srgbClr val="002060"/>
                  </a:solidFill>
                  <a:ea typeface="隶书" pitchFamily="49" charset="-122"/>
                </a:rPr>
                <a:t>1</a:t>
              </a:r>
            </a:p>
          </p:txBody>
        </p:sp>
        <p:sp>
          <p:nvSpPr>
            <p:cNvPr id="862225" name="Line 17"/>
            <p:cNvSpPr>
              <a:spLocks noChangeShapeType="1"/>
            </p:cNvSpPr>
            <p:nvPr/>
          </p:nvSpPr>
          <p:spPr bwMode="auto">
            <a:xfrm>
              <a:off x="748" y="2345"/>
              <a:ext cx="0" cy="288"/>
            </a:xfrm>
            <a:prstGeom prst="line">
              <a:avLst/>
            </a:prstGeom>
            <a:noFill/>
            <a:ln w="28575">
              <a:solidFill>
                <a:srgbClr val="C0192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nvGrpSpPr>
            <p:cNvPr id="862253" name="Group 45"/>
            <p:cNvGrpSpPr>
              <a:grpSpLocks/>
            </p:cNvGrpSpPr>
            <p:nvPr/>
          </p:nvGrpSpPr>
          <p:grpSpPr bwMode="auto">
            <a:xfrm>
              <a:off x="2184" y="2109"/>
              <a:ext cx="479" cy="250"/>
              <a:chOff x="2184" y="2109"/>
              <a:chExt cx="479" cy="250"/>
            </a:xfrm>
          </p:grpSpPr>
          <p:sp>
            <p:nvSpPr>
              <p:cNvPr id="862218" name="Line 10"/>
              <p:cNvSpPr>
                <a:spLocks noChangeShapeType="1"/>
              </p:cNvSpPr>
              <p:nvPr/>
            </p:nvSpPr>
            <p:spPr bwMode="auto">
              <a:xfrm>
                <a:off x="2184" y="2109"/>
                <a:ext cx="0" cy="240"/>
              </a:xfrm>
              <a:prstGeom prst="line">
                <a:avLst/>
              </a:prstGeom>
              <a:noFill/>
              <a:ln w="28575">
                <a:solidFill>
                  <a:srgbClr val="C0192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3" name="Text Box 25"/>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52" name="Line 44"/>
            <p:cNvSpPr>
              <a:spLocks noChangeShapeType="1"/>
            </p:cNvSpPr>
            <p:nvPr/>
          </p:nvSpPr>
          <p:spPr bwMode="auto">
            <a:xfrm>
              <a:off x="739" y="2341"/>
              <a:ext cx="1452" cy="0"/>
            </a:xfrm>
            <a:prstGeom prst="line">
              <a:avLst/>
            </a:prstGeom>
            <a:noFill/>
            <a:ln w="28575">
              <a:solidFill>
                <a:srgbClr val="C01920"/>
              </a:solidFill>
              <a:round/>
              <a:headEnd/>
              <a:tailEnd/>
            </a:ln>
            <a:effectLst>
              <a:outerShdw dist="35921" dir="2700000" algn="ctr" rotWithShape="0">
                <a:schemeClr val="bg2"/>
              </a:outerShdw>
            </a:effectLst>
          </p:spPr>
          <p:txBody>
            <a:bodyPr/>
            <a:lstStyle/>
            <a:p>
              <a:endParaRPr lang="zh-CN" altLang="en-US"/>
            </a:p>
          </p:txBody>
        </p:sp>
      </p:grpSp>
      <p:grpSp>
        <p:nvGrpSpPr>
          <p:cNvPr id="862259" name="Group 51"/>
          <p:cNvGrpSpPr>
            <a:grpSpLocks/>
          </p:cNvGrpSpPr>
          <p:nvPr/>
        </p:nvGrpSpPr>
        <p:grpSpPr bwMode="auto">
          <a:xfrm>
            <a:off x="3276905" y="4306113"/>
            <a:ext cx="1612900" cy="850900"/>
            <a:chOff x="1646" y="2106"/>
            <a:chExt cx="1016" cy="536"/>
          </a:xfrm>
        </p:grpSpPr>
        <p:sp>
          <p:nvSpPr>
            <p:cNvPr id="862230" name="Text Box 22"/>
            <p:cNvSpPr txBox="1">
              <a:spLocks noChangeArrowheads="1"/>
            </p:cNvSpPr>
            <p:nvPr/>
          </p:nvSpPr>
          <p:spPr bwMode="auto">
            <a:xfrm>
              <a:off x="1667" y="2349"/>
              <a:ext cx="334"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dirty="0">
                  <a:solidFill>
                    <a:srgbClr val="002060"/>
                  </a:solidFill>
                  <a:ea typeface="隶书" pitchFamily="49" charset="-122"/>
                </a:rPr>
                <a:t>E </a:t>
              </a:r>
              <a:r>
                <a:rPr lang="en-US" altLang="zh-CN" sz="2000" b="1" baseline="-25000" dirty="0">
                  <a:solidFill>
                    <a:srgbClr val="002060"/>
                  </a:solidFill>
                  <a:ea typeface="隶书" pitchFamily="49" charset="-122"/>
                </a:rPr>
                <a:t>2</a:t>
              </a:r>
            </a:p>
          </p:txBody>
        </p:sp>
        <p:grpSp>
          <p:nvGrpSpPr>
            <p:cNvPr id="862254" name="Group 46"/>
            <p:cNvGrpSpPr>
              <a:grpSpLocks/>
            </p:cNvGrpSpPr>
            <p:nvPr/>
          </p:nvGrpSpPr>
          <p:grpSpPr bwMode="auto">
            <a:xfrm>
              <a:off x="2183" y="2106"/>
              <a:ext cx="479" cy="250"/>
              <a:chOff x="2184" y="2109"/>
              <a:chExt cx="479" cy="250"/>
            </a:xfrm>
          </p:grpSpPr>
          <p:sp>
            <p:nvSpPr>
              <p:cNvPr id="862255" name="Line 47"/>
              <p:cNvSpPr>
                <a:spLocks noChangeShapeType="1"/>
              </p:cNvSpPr>
              <p:nvPr/>
            </p:nvSpPr>
            <p:spPr bwMode="auto">
              <a:xfrm>
                <a:off x="2184" y="2109"/>
                <a:ext cx="0" cy="240"/>
              </a:xfrm>
              <a:prstGeom prst="line">
                <a:avLst/>
              </a:prstGeom>
              <a:noFill/>
              <a:ln w="28575">
                <a:solidFill>
                  <a:srgbClr val="00206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56" name="Text Box 48"/>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58" name="Line 50"/>
            <p:cNvSpPr>
              <a:spLocks noChangeShapeType="1"/>
            </p:cNvSpPr>
            <p:nvPr/>
          </p:nvSpPr>
          <p:spPr bwMode="auto">
            <a:xfrm>
              <a:off x="1646" y="2341"/>
              <a:ext cx="545" cy="0"/>
            </a:xfrm>
            <a:prstGeom prst="line">
              <a:avLst/>
            </a:prstGeom>
            <a:noFill/>
            <a:ln w="28575">
              <a:solidFill>
                <a:srgbClr val="002060"/>
              </a:solidFill>
              <a:round/>
              <a:headEnd/>
              <a:tailEnd/>
            </a:ln>
            <a:effectLst>
              <a:outerShdw dist="35921" dir="2700000" algn="ctr" rotWithShape="0">
                <a:schemeClr val="bg2"/>
              </a:outerShdw>
            </a:effectLst>
          </p:spPr>
          <p:txBody>
            <a:bodyPr/>
            <a:lstStyle/>
            <a:p>
              <a:endParaRPr lang="zh-CN" altLang="en-US"/>
            </a:p>
          </p:txBody>
        </p:sp>
        <p:sp>
          <p:nvSpPr>
            <p:cNvPr id="862227" name="Line 19"/>
            <p:cNvSpPr>
              <a:spLocks noChangeShapeType="1"/>
            </p:cNvSpPr>
            <p:nvPr/>
          </p:nvSpPr>
          <p:spPr bwMode="auto">
            <a:xfrm>
              <a:off x="1656" y="2331"/>
              <a:ext cx="0" cy="311"/>
            </a:xfrm>
            <a:prstGeom prst="line">
              <a:avLst/>
            </a:prstGeom>
            <a:noFill/>
            <a:ln w="28575">
              <a:solidFill>
                <a:srgbClr val="00206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grpSp>
      <p:grpSp>
        <p:nvGrpSpPr>
          <p:cNvPr id="862271" name="Group 63"/>
          <p:cNvGrpSpPr>
            <a:grpSpLocks/>
          </p:cNvGrpSpPr>
          <p:nvPr/>
        </p:nvGrpSpPr>
        <p:grpSpPr bwMode="auto">
          <a:xfrm>
            <a:off x="4101408" y="4307308"/>
            <a:ext cx="1676400" cy="842963"/>
            <a:chOff x="2163" y="2106"/>
            <a:chExt cx="1056" cy="531"/>
          </a:xfrm>
        </p:grpSpPr>
        <p:sp>
          <p:nvSpPr>
            <p:cNvPr id="862228" name="Line 20"/>
            <p:cNvSpPr>
              <a:spLocks noChangeShapeType="1"/>
            </p:cNvSpPr>
            <p:nvPr/>
          </p:nvSpPr>
          <p:spPr bwMode="auto">
            <a:xfrm>
              <a:off x="2961" y="2349"/>
              <a:ext cx="0" cy="288"/>
            </a:xfrm>
            <a:prstGeom prst="line">
              <a:avLst/>
            </a:prstGeom>
            <a:noFill/>
            <a:ln w="28575">
              <a:solidFill>
                <a:schemeClr val="accent1">
                  <a:lumMod val="50000"/>
                </a:schemeClr>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1" name="Text Box 23"/>
            <p:cNvSpPr txBox="1">
              <a:spLocks noChangeArrowheads="1"/>
            </p:cNvSpPr>
            <p:nvPr/>
          </p:nvSpPr>
          <p:spPr bwMode="auto">
            <a:xfrm>
              <a:off x="2971" y="2341"/>
              <a:ext cx="248"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dirty="0" err="1">
                  <a:solidFill>
                    <a:srgbClr val="002060"/>
                  </a:solidFill>
                  <a:ea typeface="隶书" pitchFamily="49" charset="-122"/>
                </a:rPr>
                <a:t>E</a:t>
              </a:r>
              <a:r>
                <a:rPr lang="en-US" altLang="zh-CN" sz="2000" b="1" baseline="-25000" dirty="0" err="1">
                  <a:solidFill>
                    <a:srgbClr val="002060"/>
                  </a:solidFill>
                  <a:ea typeface="隶书" pitchFamily="49" charset="-122"/>
                </a:rPr>
                <a:t>n</a:t>
              </a:r>
              <a:endParaRPr lang="en-US" altLang="zh-CN" sz="2000" b="1" baseline="-25000" dirty="0">
                <a:solidFill>
                  <a:srgbClr val="002060"/>
                </a:solidFill>
                <a:ea typeface="隶书" pitchFamily="49" charset="-122"/>
              </a:endParaRPr>
            </a:p>
          </p:txBody>
        </p:sp>
        <p:grpSp>
          <p:nvGrpSpPr>
            <p:cNvPr id="862262" name="Group 54"/>
            <p:cNvGrpSpPr>
              <a:grpSpLocks/>
            </p:cNvGrpSpPr>
            <p:nvPr/>
          </p:nvGrpSpPr>
          <p:grpSpPr bwMode="auto">
            <a:xfrm>
              <a:off x="2183" y="2106"/>
              <a:ext cx="479" cy="250"/>
              <a:chOff x="2184" y="2109"/>
              <a:chExt cx="479" cy="250"/>
            </a:xfrm>
          </p:grpSpPr>
          <p:sp>
            <p:nvSpPr>
              <p:cNvPr id="862263" name="Line 55"/>
              <p:cNvSpPr>
                <a:spLocks noChangeShapeType="1"/>
              </p:cNvSpPr>
              <p:nvPr/>
            </p:nvSpPr>
            <p:spPr bwMode="auto">
              <a:xfrm>
                <a:off x="2184" y="2109"/>
                <a:ext cx="0" cy="240"/>
              </a:xfrm>
              <a:prstGeom prst="line">
                <a:avLst/>
              </a:prstGeom>
              <a:noFill/>
              <a:ln w="28575">
                <a:solidFill>
                  <a:schemeClr val="accent1">
                    <a:lumMod val="50000"/>
                  </a:schemeClr>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64" name="Text Box 56"/>
              <p:cNvSpPr txBox="1">
                <a:spLocks noChangeArrowheads="1"/>
              </p:cNvSpPr>
              <p:nvPr/>
            </p:nvSpPr>
            <p:spPr bwMode="auto">
              <a:xfrm>
                <a:off x="2232" y="2109"/>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a:effectLst>
                      <a:outerShdw blurRad="38100" dist="38100" dir="2700000" algn="tl">
                        <a:srgbClr val="FFFFFF"/>
                      </a:outerShdw>
                    </a:effectLst>
                    <a:ea typeface="隶书" pitchFamily="49" charset="-122"/>
                  </a:rPr>
                  <a:t>case</a:t>
                </a:r>
                <a:r>
                  <a:rPr lang="en-US" altLang="zh-CN" sz="2000" b="1">
                    <a:ea typeface="隶书" pitchFamily="49" charset="-122"/>
                  </a:rPr>
                  <a:t> </a:t>
                </a:r>
              </a:p>
            </p:txBody>
          </p:sp>
        </p:grpSp>
        <p:sp>
          <p:nvSpPr>
            <p:cNvPr id="862267" name="Line 59"/>
            <p:cNvSpPr>
              <a:spLocks noChangeShapeType="1"/>
            </p:cNvSpPr>
            <p:nvPr/>
          </p:nvSpPr>
          <p:spPr bwMode="auto">
            <a:xfrm>
              <a:off x="2163" y="2341"/>
              <a:ext cx="793" cy="0"/>
            </a:xfrm>
            <a:prstGeom prst="line">
              <a:avLst/>
            </a:prstGeom>
            <a:noFill/>
            <a:ln w="28575">
              <a:solidFill>
                <a:schemeClr val="accent1">
                  <a:lumMod val="50000"/>
                </a:schemeClr>
              </a:solidFill>
              <a:round/>
              <a:headEnd/>
              <a:tailEnd/>
            </a:ln>
            <a:effectLst>
              <a:outerShdw dist="35921" dir="2700000" algn="ctr" rotWithShape="0">
                <a:schemeClr val="bg2"/>
              </a:outerShdw>
            </a:effectLst>
          </p:spPr>
          <p:txBody>
            <a:bodyPr/>
            <a:lstStyle/>
            <a:p>
              <a:endParaRPr lang="zh-CN" altLang="en-US"/>
            </a:p>
          </p:txBody>
        </p:sp>
      </p:grpSp>
      <p:grpSp>
        <p:nvGrpSpPr>
          <p:cNvPr id="862273" name="Group 65"/>
          <p:cNvGrpSpPr>
            <a:grpSpLocks/>
          </p:cNvGrpSpPr>
          <p:nvPr/>
        </p:nvGrpSpPr>
        <p:grpSpPr bwMode="auto">
          <a:xfrm>
            <a:off x="3367482" y="4268824"/>
            <a:ext cx="3481388" cy="828675"/>
            <a:chOff x="2184" y="2106"/>
            <a:chExt cx="2193" cy="522"/>
          </a:xfrm>
        </p:grpSpPr>
        <p:sp>
          <p:nvSpPr>
            <p:cNvPr id="862229" name="Line 21"/>
            <p:cNvSpPr>
              <a:spLocks noChangeShapeType="1"/>
            </p:cNvSpPr>
            <p:nvPr/>
          </p:nvSpPr>
          <p:spPr bwMode="auto">
            <a:xfrm>
              <a:off x="3825" y="2340"/>
              <a:ext cx="0" cy="288"/>
            </a:xfrm>
            <a:prstGeom prst="line">
              <a:avLst/>
            </a:prstGeom>
            <a:noFill/>
            <a:ln w="28575">
              <a:solidFill>
                <a:srgbClr val="BD6368"/>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32" name="Text Box 24"/>
            <p:cNvSpPr txBox="1">
              <a:spLocks noChangeArrowheads="1"/>
            </p:cNvSpPr>
            <p:nvPr/>
          </p:nvSpPr>
          <p:spPr bwMode="auto">
            <a:xfrm>
              <a:off x="3878" y="2351"/>
              <a:ext cx="499"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dirty="0">
                  <a:solidFill>
                    <a:srgbClr val="C00000"/>
                  </a:solidFill>
                  <a:ea typeface="隶书" pitchFamily="49" charset="-122"/>
                </a:rPr>
                <a:t>default</a:t>
              </a:r>
            </a:p>
          </p:txBody>
        </p:sp>
        <p:grpSp>
          <p:nvGrpSpPr>
            <p:cNvPr id="862268" name="Group 60"/>
            <p:cNvGrpSpPr>
              <a:grpSpLocks/>
            </p:cNvGrpSpPr>
            <p:nvPr/>
          </p:nvGrpSpPr>
          <p:grpSpPr bwMode="auto">
            <a:xfrm>
              <a:off x="2184" y="2106"/>
              <a:ext cx="952" cy="264"/>
              <a:chOff x="2184" y="2109"/>
              <a:chExt cx="952" cy="264"/>
            </a:xfrm>
          </p:grpSpPr>
          <p:sp>
            <p:nvSpPr>
              <p:cNvPr id="862269" name="Line 61"/>
              <p:cNvSpPr>
                <a:spLocks noChangeShapeType="1"/>
              </p:cNvSpPr>
              <p:nvPr/>
            </p:nvSpPr>
            <p:spPr bwMode="auto">
              <a:xfrm>
                <a:off x="2184" y="2109"/>
                <a:ext cx="0" cy="240"/>
              </a:xfrm>
              <a:prstGeom prst="line">
                <a:avLst/>
              </a:prstGeom>
              <a:noFill/>
              <a:ln w="28575">
                <a:solidFill>
                  <a:srgbClr val="BD6368"/>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0" name="Text Box 62"/>
              <p:cNvSpPr txBox="1">
                <a:spLocks noChangeArrowheads="1"/>
              </p:cNvSpPr>
              <p:nvPr/>
            </p:nvSpPr>
            <p:spPr bwMode="auto">
              <a:xfrm>
                <a:off x="2705" y="2123"/>
                <a:ext cx="431" cy="250"/>
              </a:xfrm>
              <a:prstGeom prst="rect">
                <a:avLst/>
              </a:prstGeom>
              <a:noFill/>
              <a:ln w="9525">
                <a:noFill/>
                <a:miter lim="800000"/>
                <a:headEnd/>
                <a:tailEnd/>
              </a:ln>
              <a:effectLst/>
            </p:spPr>
            <p:txBody>
              <a:bodyPr wrap="none" anchor="ctr"/>
              <a:lstStyle/>
              <a:p>
                <a:pPr algn="ctr" eaLnBrk="0" hangingPunct="0">
                  <a:spcBef>
                    <a:spcPct val="50000"/>
                  </a:spcBef>
                </a:pPr>
                <a:r>
                  <a:rPr lang="en-US" altLang="zh-CN" sz="2000" b="1" dirty="0">
                    <a:effectLst>
                      <a:outerShdw blurRad="38100" dist="38100" dir="2700000" algn="tl">
                        <a:srgbClr val="FFFFFF"/>
                      </a:outerShdw>
                    </a:effectLst>
                    <a:ea typeface="隶书" pitchFamily="49" charset="-122"/>
                  </a:rPr>
                  <a:t>case</a:t>
                </a:r>
                <a:r>
                  <a:rPr lang="en-US" altLang="zh-CN" sz="2000" b="1" dirty="0">
                    <a:ea typeface="隶书" pitchFamily="49" charset="-122"/>
                  </a:rPr>
                  <a:t> </a:t>
                </a:r>
              </a:p>
            </p:txBody>
          </p:sp>
        </p:grpSp>
        <p:sp>
          <p:nvSpPr>
            <p:cNvPr id="862272" name="Line 64"/>
            <p:cNvSpPr>
              <a:spLocks noChangeShapeType="1"/>
            </p:cNvSpPr>
            <p:nvPr/>
          </p:nvSpPr>
          <p:spPr bwMode="auto">
            <a:xfrm>
              <a:off x="2200" y="2341"/>
              <a:ext cx="1633" cy="0"/>
            </a:xfrm>
            <a:prstGeom prst="line">
              <a:avLst/>
            </a:prstGeom>
            <a:noFill/>
            <a:ln w="28575">
              <a:solidFill>
                <a:srgbClr val="BD6368"/>
              </a:solidFill>
              <a:round/>
              <a:headEnd/>
              <a:tailEnd/>
            </a:ln>
            <a:effectLst>
              <a:outerShdw dist="35921" dir="2700000" algn="ctr" rotWithShape="0">
                <a:schemeClr val="bg2"/>
              </a:outerShdw>
            </a:effectLst>
          </p:spPr>
          <p:txBody>
            <a:bodyPr/>
            <a:lstStyle/>
            <a:p>
              <a:endParaRPr lang="zh-CN" altLang="en-US"/>
            </a:p>
          </p:txBody>
        </p:sp>
      </p:grpSp>
      <p:grpSp>
        <p:nvGrpSpPr>
          <p:cNvPr id="862278" name="Group 70"/>
          <p:cNvGrpSpPr>
            <a:grpSpLocks/>
          </p:cNvGrpSpPr>
          <p:nvPr/>
        </p:nvGrpSpPr>
        <p:grpSpPr bwMode="auto">
          <a:xfrm>
            <a:off x="3272732" y="5565706"/>
            <a:ext cx="1008063" cy="722313"/>
            <a:chOff x="1646" y="2898"/>
            <a:chExt cx="635" cy="455"/>
          </a:xfrm>
        </p:grpSpPr>
        <p:sp>
          <p:nvSpPr>
            <p:cNvPr id="862235" name="Line 27"/>
            <p:cNvSpPr>
              <a:spLocks noChangeShapeType="1"/>
            </p:cNvSpPr>
            <p:nvPr/>
          </p:nvSpPr>
          <p:spPr bwMode="auto">
            <a:xfrm>
              <a:off x="1656" y="2898"/>
              <a:ext cx="0" cy="215"/>
            </a:xfrm>
            <a:prstGeom prst="line">
              <a:avLst/>
            </a:prstGeom>
            <a:noFill/>
            <a:ln w="28575">
              <a:solidFill>
                <a:srgbClr val="00206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4" name="Line 66"/>
            <p:cNvSpPr>
              <a:spLocks noChangeShapeType="1"/>
            </p:cNvSpPr>
            <p:nvPr/>
          </p:nvSpPr>
          <p:spPr bwMode="auto">
            <a:xfrm>
              <a:off x="2281" y="3113"/>
              <a:ext cx="0" cy="240"/>
            </a:xfrm>
            <a:prstGeom prst="line">
              <a:avLst/>
            </a:prstGeom>
            <a:noFill/>
            <a:ln w="28575">
              <a:solidFill>
                <a:srgbClr val="002060"/>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77" name="Line 69"/>
            <p:cNvSpPr>
              <a:spLocks noChangeShapeType="1"/>
            </p:cNvSpPr>
            <p:nvPr/>
          </p:nvSpPr>
          <p:spPr bwMode="auto">
            <a:xfrm>
              <a:off x="1646" y="3113"/>
              <a:ext cx="635" cy="0"/>
            </a:xfrm>
            <a:prstGeom prst="line">
              <a:avLst/>
            </a:prstGeom>
            <a:noFill/>
            <a:ln w="28575">
              <a:solidFill>
                <a:srgbClr val="002060"/>
              </a:solidFill>
              <a:round/>
              <a:headEnd/>
              <a:tailEnd/>
            </a:ln>
            <a:effectLst>
              <a:outerShdw dist="35921" dir="2700000" algn="ctr" rotWithShape="0">
                <a:schemeClr val="bg2"/>
              </a:outerShdw>
            </a:effectLst>
          </p:spPr>
          <p:txBody>
            <a:bodyPr/>
            <a:lstStyle/>
            <a:p>
              <a:endParaRPr lang="zh-CN" altLang="en-US"/>
            </a:p>
          </p:txBody>
        </p:sp>
      </p:grpSp>
      <p:grpSp>
        <p:nvGrpSpPr>
          <p:cNvPr id="862282" name="Group 74"/>
          <p:cNvGrpSpPr>
            <a:grpSpLocks/>
          </p:cNvGrpSpPr>
          <p:nvPr/>
        </p:nvGrpSpPr>
        <p:grpSpPr bwMode="auto">
          <a:xfrm>
            <a:off x="4280795" y="5557772"/>
            <a:ext cx="1095375" cy="717551"/>
            <a:chOff x="2281" y="2893"/>
            <a:chExt cx="690" cy="452"/>
          </a:xfrm>
        </p:grpSpPr>
        <p:sp>
          <p:nvSpPr>
            <p:cNvPr id="862236" name="Line 28"/>
            <p:cNvSpPr>
              <a:spLocks noChangeShapeType="1"/>
            </p:cNvSpPr>
            <p:nvPr/>
          </p:nvSpPr>
          <p:spPr bwMode="auto">
            <a:xfrm>
              <a:off x="2964" y="2893"/>
              <a:ext cx="0" cy="215"/>
            </a:xfrm>
            <a:prstGeom prst="line">
              <a:avLst/>
            </a:prstGeom>
            <a:noFill/>
            <a:ln w="28575">
              <a:solidFill>
                <a:schemeClr val="accent1">
                  <a:lumMod val="50000"/>
                </a:schemeClr>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0" name="Line 72"/>
            <p:cNvSpPr>
              <a:spLocks noChangeShapeType="1"/>
            </p:cNvSpPr>
            <p:nvPr/>
          </p:nvSpPr>
          <p:spPr bwMode="auto">
            <a:xfrm>
              <a:off x="2281" y="3105"/>
              <a:ext cx="0" cy="240"/>
            </a:xfrm>
            <a:prstGeom prst="line">
              <a:avLst/>
            </a:prstGeom>
            <a:noFill/>
            <a:ln w="28575">
              <a:solidFill>
                <a:schemeClr val="accent1">
                  <a:lumMod val="50000"/>
                </a:schemeClr>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1" name="Line 73"/>
            <p:cNvSpPr>
              <a:spLocks noChangeShapeType="1"/>
            </p:cNvSpPr>
            <p:nvPr/>
          </p:nvSpPr>
          <p:spPr bwMode="auto">
            <a:xfrm>
              <a:off x="2290" y="3113"/>
              <a:ext cx="681" cy="0"/>
            </a:xfrm>
            <a:prstGeom prst="line">
              <a:avLst/>
            </a:prstGeom>
            <a:noFill/>
            <a:ln w="28575">
              <a:solidFill>
                <a:schemeClr val="accent1">
                  <a:lumMod val="50000"/>
                </a:schemeClr>
              </a:solidFill>
              <a:round/>
              <a:headEnd/>
              <a:tailEnd/>
            </a:ln>
            <a:effectLst>
              <a:outerShdw dist="35921" dir="2700000" algn="ctr" rotWithShape="0">
                <a:schemeClr val="bg2"/>
              </a:outerShdw>
            </a:effectLst>
          </p:spPr>
          <p:txBody>
            <a:bodyPr/>
            <a:lstStyle/>
            <a:p>
              <a:endParaRPr lang="zh-CN" altLang="en-US"/>
            </a:p>
          </p:txBody>
        </p:sp>
      </p:grpSp>
      <p:grpSp>
        <p:nvGrpSpPr>
          <p:cNvPr id="862285" name="Group 77"/>
          <p:cNvGrpSpPr>
            <a:grpSpLocks/>
          </p:cNvGrpSpPr>
          <p:nvPr/>
        </p:nvGrpSpPr>
        <p:grpSpPr bwMode="auto">
          <a:xfrm>
            <a:off x="4280794" y="5557772"/>
            <a:ext cx="2463800" cy="715963"/>
            <a:chOff x="2281" y="2893"/>
            <a:chExt cx="1552" cy="451"/>
          </a:xfrm>
        </p:grpSpPr>
        <p:sp>
          <p:nvSpPr>
            <p:cNvPr id="862237" name="Line 29"/>
            <p:cNvSpPr>
              <a:spLocks noChangeShapeType="1"/>
            </p:cNvSpPr>
            <p:nvPr/>
          </p:nvSpPr>
          <p:spPr bwMode="auto">
            <a:xfrm>
              <a:off x="3816" y="2893"/>
              <a:ext cx="0" cy="215"/>
            </a:xfrm>
            <a:prstGeom prst="line">
              <a:avLst/>
            </a:prstGeom>
            <a:noFill/>
            <a:ln w="28575">
              <a:solidFill>
                <a:srgbClr val="BD6368"/>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3" name="Line 75"/>
            <p:cNvSpPr>
              <a:spLocks noChangeShapeType="1"/>
            </p:cNvSpPr>
            <p:nvPr/>
          </p:nvSpPr>
          <p:spPr bwMode="auto">
            <a:xfrm>
              <a:off x="2281" y="3104"/>
              <a:ext cx="0" cy="240"/>
            </a:xfrm>
            <a:prstGeom prst="line">
              <a:avLst/>
            </a:prstGeom>
            <a:noFill/>
            <a:ln w="28575">
              <a:solidFill>
                <a:srgbClr val="BD6368"/>
              </a:solidFill>
              <a:round/>
              <a:headEnd/>
              <a:tailEnd type="triangle" w="med" len="med"/>
            </a:ln>
            <a:effectLst>
              <a:outerShdw dist="35921" dir="2700000" algn="ctr" rotWithShape="0">
                <a:schemeClr val="bg2">
                  <a:alpha val="50000"/>
                </a:schemeClr>
              </a:outerShdw>
            </a:effectLst>
          </p:spPr>
          <p:txBody>
            <a:bodyPr wrap="none" anchor="ctr"/>
            <a:lstStyle/>
            <a:p>
              <a:endParaRPr lang="zh-CN" altLang="en-US"/>
            </a:p>
          </p:txBody>
        </p:sp>
        <p:sp>
          <p:nvSpPr>
            <p:cNvPr id="862284" name="Line 76"/>
            <p:cNvSpPr>
              <a:spLocks noChangeShapeType="1"/>
            </p:cNvSpPr>
            <p:nvPr/>
          </p:nvSpPr>
          <p:spPr bwMode="auto">
            <a:xfrm>
              <a:off x="2290" y="3113"/>
              <a:ext cx="1543" cy="0"/>
            </a:xfrm>
            <a:prstGeom prst="line">
              <a:avLst/>
            </a:prstGeom>
            <a:noFill/>
            <a:ln w="28575">
              <a:solidFill>
                <a:srgbClr val="BD6368"/>
              </a:solidFill>
              <a:round/>
              <a:headEnd/>
              <a:tailEnd/>
            </a:ln>
            <a:effectLst>
              <a:outerShdw dist="35921" dir="2700000" algn="ctr" rotWithShape="0">
                <a:schemeClr val="bg2"/>
              </a:outerShdw>
            </a:effectLst>
          </p:spPr>
          <p:txBody>
            <a:bodyPr/>
            <a:lstStyle/>
            <a:p>
              <a:endParaRPr lang="zh-CN" altLang="en-US"/>
            </a:p>
          </p:txBody>
        </p:sp>
      </p:grpSp>
      <p:sp>
        <p:nvSpPr>
          <p:cNvPr id="62" name="Rectangle 45">
            <a:extLst>
              <a:ext uri="{FF2B5EF4-FFF2-40B4-BE49-F238E27FC236}">
                <a16:creationId xmlns:a16="http://schemas.microsoft.com/office/drawing/2014/main" id="{ABB27BAD-3C42-4F45-BD6B-06D330C83964}"/>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63" name="Rectangle 4">
            <a:extLst>
              <a:ext uri="{FF2B5EF4-FFF2-40B4-BE49-F238E27FC236}">
                <a16:creationId xmlns:a16="http://schemas.microsoft.com/office/drawing/2014/main" id="{EB1FBB51-DFC8-4010-A66D-4EC933F0E1F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
        <p:nvSpPr>
          <p:cNvPr id="64" name="Rectangle 2">
            <a:extLst>
              <a:ext uri="{FF2B5EF4-FFF2-40B4-BE49-F238E27FC236}">
                <a16:creationId xmlns:a16="http://schemas.microsoft.com/office/drawing/2014/main" id="{29D44AC6-4198-4A10-90C3-930C674C8506}"/>
              </a:ext>
            </a:extLst>
          </p:cNvPr>
          <p:cNvSpPr>
            <a:spLocks noChangeArrowheads="1"/>
          </p:cNvSpPr>
          <p:nvPr/>
        </p:nvSpPr>
        <p:spPr bwMode="auto">
          <a:xfrm>
            <a:off x="820923" y="2500300"/>
            <a:ext cx="3186845" cy="415136"/>
          </a:xfrm>
          <a:prstGeom prst="rect">
            <a:avLst/>
          </a:prstGeom>
          <a:noFill/>
          <a:ln w="9525">
            <a:noFill/>
            <a:miter lim="800000"/>
            <a:headEnd/>
            <a:tailEnd/>
          </a:ln>
        </p:spPr>
        <p:txBody>
          <a:bodyPr/>
          <a:lstStyle/>
          <a:p>
            <a:pPr marL="800100" lvl="1" indent="-342900" eaLnBrk="0" hangingPunct="0">
              <a:buClr>
                <a:srgbClr val="C01920"/>
              </a:buClr>
              <a:buFont typeface="Wingdings" panose="05000000000000000000" pitchFamily="2" charset="2"/>
              <a:buChar char="l"/>
            </a:pPr>
            <a:r>
              <a:rPr lang="zh-CN" altLang="en-US" b="1" dirty="0">
                <a:solidFill>
                  <a:srgbClr val="C01920"/>
                </a:solidFill>
                <a:latin typeface="+mn-lt"/>
                <a:ea typeface="隶书" pitchFamily="49" charset="-122"/>
              </a:rPr>
              <a:t>执行过程</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2210">
                                            <p:txEl>
                                              <p:pRg st="0" end="0"/>
                                            </p:txEl>
                                          </p:spTgt>
                                        </p:tgtEl>
                                        <p:attrNameLst>
                                          <p:attrName>style.visibility</p:attrName>
                                        </p:attrNameLst>
                                      </p:cBhvr>
                                      <p:to>
                                        <p:strVal val="visible"/>
                                      </p:to>
                                    </p:set>
                                    <p:anim calcmode="lin" valueType="num">
                                      <p:cBhvr additive="base">
                                        <p:cTn id="7" dur="500" fill="hold"/>
                                        <p:tgtEl>
                                          <p:spTgt spid="8622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22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62211"/>
                                        </p:tgtEl>
                                        <p:attrNameLst>
                                          <p:attrName>style.visibility</p:attrName>
                                        </p:attrNameLst>
                                      </p:cBhvr>
                                      <p:to>
                                        <p:strVal val="visible"/>
                                      </p:to>
                                    </p:set>
                                    <p:animEffect transition="in" filter="box(out)">
                                      <p:cBhvr>
                                        <p:cTn id="13" dur="500"/>
                                        <p:tgtEl>
                                          <p:spTgt spid="86221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4">
                                            <p:txEl>
                                              <p:pRg st="0" end="0"/>
                                            </p:txEl>
                                          </p:spTgt>
                                        </p:tgtEl>
                                        <p:attrNameLst>
                                          <p:attrName>style.visibility</p:attrName>
                                        </p:attrNameLst>
                                      </p:cBhvr>
                                      <p:to>
                                        <p:strVal val="visible"/>
                                      </p:to>
                                    </p:set>
                                    <p:anim calcmode="lin" valueType="num">
                                      <p:cBhvr additive="base">
                                        <p:cTn id="18" dur="500" fill="hold"/>
                                        <p:tgtEl>
                                          <p:spTgt spid="64">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par>
                          <p:cTn id="20" fill="hold">
                            <p:stCondLst>
                              <p:cond delay="500"/>
                            </p:stCondLst>
                            <p:childTnLst>
                              <p:par>
                                <p:cTn id="21" presetID="4" presetClass="entr" presetSubtype="16" fill="hold" grpId="0" nodeType="afterEffect">
                                  <p:stCondLst>
                                    <p:cond delay="0"/>
                                  </p:stCondLst>
                                  <p:childTnLst>
                                    <p:set>
                                      <p:cBhvr>
                                        <p:cTn id="22" dur="1" fill="hold">
                                          <p:stCondLst>
                                            <p:cond delay="0"/>
                                          </p:stCondLst>
                                        </p:cTn>
                                        <p:tgtEl>
                                          <p:spTgt spid="862215"/>
                                        </p:tgtEl>
                                        <p:attrNameLst>
                                          <p:attrName>style.visibility</p:attrName>
                                        </p:attrNameLst>
                                      </p:cBhvr>
                                      <p:to>
                                        <p:strVal val="visible"/>
                                      </p:to>
                                    </p:set>
                                    <p:animEffect transition="in" filter="box(in)">
                                      <p:cBhvr>
                                        <p:cTn id="23" dur="500"/>
                                        <p:tgtEl>
                                          <p:spTgt spid="86221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1000"/>
                            </p:stCondLst>
                            <p:childTnLst>
                              <p:par>
                                <p:cTn id="25" presetID="18" presetClass="entr" presetSubtype="12" fill="hold" grpId="0" nodeType="afterEffect">
                                  <p:stCondLst>
                                    <p:cond delay="0"/>
                                  </p:stCondLst>
                                  <p:childTnLst>
                                    <p:set>
                                      <p:cBhvr>
                                        <p:cTn id="26" dur="1" fill="hold">
                                          <p:stCondLst>
                                            <p:cond delay="0"/>
                                          </p:stCondLst>
                                        </p:cTn>
                                        <p:tgtEl>
                                          <p:spTgt spid="862216"/>
                                        </p:tgtEl>
                                        <p:attrNameLst>
                                          <p:attrName>style.visibility</p:attrName>
                                        </p:attrNameLst>
                                      </p:cBhvr>
                                      <p:to>
                                        <p:strVal val="visible"/>
                                      </p:to>
                                    </p:set>
                                    <p:animEffect transition="in" filter="strips(downLeft)">
                                      <p:cBhvr>
                                        <p:cTn id="27" dur="500"/>
                                        <p:tgtEl>
                                          <p:spTgt spid="86221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8" fill="hold">
                            <p:stCondLst>
                              <p:cond delay="1500"/>
                            </p:stCondLst>
                            <p:childTnLst>
                              <p:par>
                                <p:cTn id="29" presetID="8" presetClass="entr" presetSubtype="32" fill="hold" grpId="0" nodeType="afterEffect">
                                  <p:stCondLst>
                                    <p:cond delay="0"/>
                                  </p:stCondLst>
                                  <p:childTnLst>
                                    <p:set>
                                      <p:cBhvr>
                                        <p:cTn id="30" dur="1" fill="hold">
                                          <p:stCondLst>
                                            <p:cond delay="0"/>
                                          </p:stCondLst>
                                        </p:cTn>
                                        <p:tgtEl>
                                          <p:spTgt spid="862217"/>
                                        </p:tgtEl>
                                        <p:attrNameLst>
                                          <p:attrName>style.visibility</p:attrName>
                                        </p:attrNameLst>
                                      </p:cBhvr>
                                      <p:to>
                                        <p:strVal val="visible"/>
                                      </p:to>
                                    </p:set>
                                    <p:animEffect transition="in" filter="diamond(out)">
                                      <p:cBhvr>
                                        <p:cTn id="31" dur="500"/>
                                        <p:tgtEl>
                                          <p:spTgt spid="862217"/>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2000"/>
                            </p:stCondLst>
                            <p:childTnLst>
                              <p:par>
                                <p:cTn id="33" presetID="18" presetClass="entr" presetSubtype="12" fill="hold" nodeType="afterEffect">
                                  <p:stCondLst>
                                    <p:cond delay="0"/>
                                  </p:stCondLst>
                                  <p:childTnLst>
                                    <p:set>
                                      <p:cBhvr>
                                        <p:cTn id="34" dur="1" fill="hold">
                                          <p:stCondLst>
                                            <p:cond delay="0"/>
                                          </p:stCondLst>
                                        </p:cTn>
                                        <p:tgtEl>
                                          <p:spTgt spid="862257"/>
                                        </p:tgtEl>
                                        <p:attrNameLst>
                                          <p:attrName>style.visibility</p:attrName>
                                        </p:attrNameLst>
                                      </p:cBhvr>
                                      <p:to>
                                        <p:strVal val="visible"/>
                                      </p:to>
                                    </p:set>
                                    <p:animEffect transition="in" filter="strips(downLeft)">
                                      <p:cBhvr>
                                        <p:cTn id="35" dur="500"/>
                                        <p:tgtEl>
                                          <p:spTgt spid="862257"/>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2500"/>
                            </p:stCondLst>
                            <p:childTnLst>
                              <p:par>
                                <p:cTn id="37" presetID="4" presetClass="entr" presetSubtype="32" fill="hold" grpId="0" nodeType="afterEffect">
                                  <p:stCondLst>
                                    <p:cond delay="0"/>
                                  </p:stCondLst>
                                  <p:childTnLst>
                                    <p:set>
                                      <p:cBhvr>
                                        <p:cTn id="38" dur="1" fill="hold">
                                          <p:stCondLst>
                                            <p:cond delay="0"/>
                                          </p:stCondLst>
                                        </p:cTn>
                                        <p:tgtEl>
                                          <p:spTgt spid="862220"/>
                                        </p:tgtEl>
                                        <p:attrNameLst>
                                          <p:attrName>style.visibility</p:attrName>
                                        </p:attrNameLst>
                                      </p:cBhvr>
                                      <p:to>
                                        <p:strVal val="visible"/>
                                      </p:to>
                                    </p:set>
                                    <p:animEffect transition="in" filter="box(out)">
                                      <p:cBhvr>
                                        <p:cTn id="39" dur="500"/>
                                        <p:tgtEl>
                                          <p:spTgt spid="862220"/>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0" fill="hold">
                            <p:stCondLst>
                              <p:cond delay="3000"/>
                            </p:stCondLst>
                            <p:childTnLst>
                              <p:par>
                                <p:cTn id="41" presetID="18" presetClass="entr" presetSubtype="6" fill="hold" nodeType="afterEffect">
                                  <p:stCondLst>
                                    <p:cond delay="0"/>
                                  </p:stCondLst>
                                  <p:childTnLst>
                                    <p:set>
                                      <p:cBhvr>
                                        <p:cTn id="42" dur="1" fill="hold">
                                          <p:stCondLst>
                                            <p:cond delay="0"/>
                                          </p:stCondLst>
                                        </p:cTn>
                                        <p:tgtEl>
                                          <p:spTgt spid="862275"/>
                                        </p:tgtEl>
                                        <p:attrNameLst>
                                          <p:attrName>style.visibility</p:attrName>
                                        </p:attrNameLst>
                                      </p:cBhvr>
                                      <p:to>
                                        <p:strVal val="visible"/>
                                      </p:to>
                                    </p:set>
                                    <p:animEffect transition="in" filter="strips(downRight)">
                                      <p:cBhvr>
                                        <p:cTn id="43" dur="500"/>
                                        <p:tgtEl>
                                          <p:spTgt spid="862275"/>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3500"/>
                            </p:stCondLst>
                            <p:childTnLst>
                              <p:par>
                                <p:cTn id="45" presetID="18" presetClass="entr" presetSubtype="12" fill="hold" nodeType="afterEffect">
                                  <p:stCondLst>
                                    <p:cond delay="0"/>
                                  </p:stCondLst>
                                  <p:childTnLst>
                                    <p:set>
                                      <p:cBhvr>
                                        <p:cTn id="46" dur="1" fill="hold">
                                          <p:stCondLst>
                                            <p:cond delay="0"/>
                                          </p:stCondLst>
                                        </p:cTn>
                                        <p:tgtEl>
                                          <p:spTgt spid="862259"/>
                                        </p:tgtEl>
                                        <p:attrNameLst>
                                          <p:attrName>style.visibility</p:attrName>
                                        </p:attrNameLst>
                                      </p:cBhvr>
                                      <p:to>
                                        <p:strVal val="visible"/>
                                      </p:to>
                                    </p:set>
                                    <p:animEffect transition="in" filter="strips(downLeft)">
                                      <p:cBhvr>
                                        <p:cTn id="47" dur="500"/>
                                        <p:tgtEl>
                                          <p:spTgt spid="862259"/>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4000"/>
                            </p:stCondLst>
                            <p:childTnLst>
                              <p:par>
                                <p:cTn id="49" presetID="4" presetClass="entr" presetSubtype="32" fill="hold" grpId="0" nodeType="afterEffect">
                                  <p:stCondLst>
                                    <p:cond delay="0"/>
                                  </p:stCondLst>
                                  <p:childTnLst>
                                    <p:set>
                                      <p:cBhvr>
                                        <p:cTn id="50" dur="1" fill="hold">
                                          <p:stCondLst>
                                            <p:cond delay="0"/>
                                          </p:stCondLst>
                                        </p:cTn>
                                        <p:tgtEl>
                                          <p:spTgt spid="862221"/>
                                        </p:tgtEl>
                                        <p:attrNameLst>
                                          <p:attrName>style.visibility</p:attrName>
                                        </p:attrNameLst>
                                      </p:cBhvr>
                                      <p:to>
                                        <p:strVal val="visible"/>
                                      </p:to>
                                    </p:set>
                                    <p:animEffect transition="in" filter="box(out)">
                                      <p:cBhvr>
                                        <p:cTn id="51" dur="500"/>
                                        <p:tgtEl>
                                          <p:spTgt spid="862221"/>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4500"/>
                            </p:stCondLst>
                            <p:childTnLst>
                              <p:par>
                                <p:cTn id="53" presetID="18" presetClass="entr" presetSubtype="6" fill="hold" nodeType="afterEffect">
                                  <p:stCondLst>
                                    <p:cond delay="0"/>
                                  </p:stCondLst>
                                  <p:childTnLst>
                                    <p:set>
                                      <p:cBhvr>
                                        <p:cTn id="54" dur="1" fill="hold">
                                          <p:stCondLst>
                                            <p:cond delay="0"/>
                                          </p:stCondLst>
                                        </p:cTn>
                                        <p:tgtEl>
                                          <p:spTgt spid="862278"/>
                                        </p:tgtEl>
                                        <p:attrNameLst>
                                          <p:attrName>style.visibility</p:attrName>
                                        </p:attrNameLst>
                                      </p:cBhvr>
                                      <p:to>
                                        <p:strVal val="visible"/>
                                      </p:to>
                                    </p:set>
                                    <p:animEffect transition="in" filter="strips(downRight)">
                                      <p:cBhvr>
                                        <p:cTn id="55" dur="500"/>
                                        <p:tgtEl>
                                          <p:spTgt spid="862278"/>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5000"/>
                            </p:stCondLst>
                            <p:childTnLst>
                              <p:par>
                                <p:cTn id="57" presetID="4" presetClass="entr" presetSubtype="32" fill="hold" grpId="0" nodeType="afterEffect">
                                  <p:stCondLst>
                                    <p:cond delay="0"/>
                                  </p:stCondLst>
                                  <p:childTnLst>
                                    <p:set>
                                      <p:cBhvr>
                                        <p:cTn id="58" dur="1" fill="hold">
                                          <p:stCondLst>
                                            <p:cond delay="0"/>
                                          </p:stCondLst>
                                        </p:cTn>
                                        <p:tgtEl>
                                          <p:spTgt spid="862224"/>
                                        </p:tgtEl>
                                        <p:attrNameLst>
                                          <p:attrName>style.visibility</p:attrName>
                                        </p:attrNameLst>
                                      </p:cBhvr>
                                      <p:to>
                                        <p:strVal val="visible"/>
                                      </p:to>
                                    </p:set>
                                    <p:animEffect transition="in" filter="box(out)">
                                      <p:cBhvr>
                                        <p:cTn id="59" dur="500"/>
                                        <p:tgtEl>
                                          <p:spTgt spid="862224"/>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par>
                          <p:cTn id="60" fill="hold">
                            <p:stCondLst>
                              <p:cond delay="5500"/>
                            </p:stCondLst>
                            <p:childTnLst>
                              <p:par>
                                <p:cTn id="61" presetID="18" presetClass="entr" presetSubtype="6" fill="hold" nodeType="afterEffect">
                                  <p:stCondLst>
                                    <p:cond delay="0"/>
                                  </p:stCondLst>
                                  <p:childTnLst>
                                    <p:set>
                                      <p:cBhvr>
                                        <p:cTn id="62" dur="1" fill="hold">
                                          <p:stCondLst>
                                            <p:cond delay="0"/>
                                          </p:stCondLst>
                                        </p:cTn>
                                        <p:tgtEl>
                                          <p:spTgt spid="862271"/>
                                        </p:tgtEl>
                                        <p:attrNameLst>
                                          <p:attrName>style.visibility</p:attrName>
                                        </p:attrNameLst>
                                      </p:cBhvr>
                                      <p:to>
                                        <p:strVal val="visible"/>
                                      </p:to>
                                    </p:set>
                                    <p:animEffect transition="in" filter="strips(downRight)">
                                      <p:cBhvr>
                                        <p:cTn id="63" dur="500"/>
                                        <p:tgtEl>
                                          <p:spTgt spid="862271"/>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par>
                          <p:cTn id="64" fill="hold">
                            <p:stCondLst>
                              <p:cond delay="6000"/>
                            </p:stCondLst>
                            <p:childTnLst>
                              <p:par>
                                <p:cTn id="65" presetID="4" presetClass="entr" presetSubtype="32" fill="hold" grpId="0" nodeType="afterEffect">
                                  <p:stCondLst>
                                    <p:cond delay="0"/>
                                  </p:stCondLst>
                                  <p:childTnLst>
                                    <p:set>
                                      <p:cBhvr>
                                        <p:cTn id="66" dur="1" fill="hold">
                                          <p:stCondLst>
                                            <p:cond delay="0"/>
                                          </p:stCondLst>
                                        </p:cTn>
                                        <p:tgtEl>
                                          <p:spTgt spid="862222"/>
                                        </p:tgtEl>
                                        <p:attrNameLst>
                                          <p:attrName>style.visibility</p:attrName>
                                        </p:attrNameLst>
                                      </p:cBhvr>
                                      <p:to>
                                        <p:strVal val="visible"/>
                                      </p:to>
                                    </p:set>
                                    <p:animEffect transition="in" filter="box(out)">
                                      <p:cBhvr>
                                        <p:cTn id="67" dur="500"/>
                                        <p:tgtEl>
                                          <p:spTgt spid="862222"/>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6500"/>
                            </p:stCondLst>
                            <p:childTnLst>
                              <p:par>
                                <p:cTn id="69" presetID="18" presetClass="entr" presetSubtype="12" fill="hold" nodeType="afterEffect">
                                  <p:stCondLst>
                                    <p:cond delay="0"/>
                                  </p:stCondLst>
                                  <p:childTnLst>
                                    <p:set>
                                      <p:cBhvr>
                                        <p:cTn id="70" dur="1" fill="hold">
                                          <p:stCondLst>
                                            <p:cond delay="0"/>
                                          </p:stCondLst>
                                        </p:cTn>
                                        <p:tgtEl>
                                          <p:spTgt spid="862282"/>
                                        </p:tgtEl>
                                        <p:attrNameLst>
                                          <p:attrName>style.visibility</p:attrName>
                                        </p:attrNameLst>
                                      </p:cBhvr>
                                      <p:to>
                                        <p:strVal val="visible"/>
                                      </p:to>
                                    </p:set>
                                    <p:animEffect transition="in" filter="strips(downLeft)">
                                      <p:cBhvr>
                                        <p:cTn id="71" dur="500"/>
                                        <p:tgtEl>
                                          <p:spTgt spid="862282"/>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2" fill="hold">
                            <p:stCondLst>
                              <p:cond delay="7000"/>
                            </p:stCondLst>
                            <p:childTnLst>
                              <p:par>
                                <p:cTn id="73" presetID="18" presetClass="entr" presetSubtype="6" fill="hold" nodeType="afterEffect">
                                  <p:stCondLst>
                                    <p:cond delay="0"/>
                                  </p:stCondLst>
                                  <p:childTnLst>
                                    <p:set>
                                      <p:cBhvr>
                                        <p:cTn id="74" dur="1" fill="hold">
                                          <p:stCondLst>
                                            <p:cond delay="0"/>
                                          </p:stCondLst>
                                        </p:cTn>
                                        <p:tgtEl>
                                          <p:spTgt spid="862273"/>
                                        </p:tgtEl>
                                        <p:attrNameLst>
                                          <p:attrName>style.visibility</p:attrName>
                                        </p:attrNameLst>
                                      </p:cBhvr>
                                      <p:to>
                                        <p:strVal val="visible"/>
                                      </p:to>
                                    </p:set>
                                    <p:animEffect transition="in" filter="strips(downRight)">
                                      <p:cBhvr>
                                        <p:cTn id="75" dur="500"/>
                                        <p:tgtEl>
                                          <p:spTgt spid="862273"/>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7500"/>
                            </p:stCondLst>
                            <p:childTnLst>
                              <p:par>
                                <p:cTn id="77" presetID="4" presetClass="entr" presetSubtype="32" fill="hold" grpId="0" nodeType="afterEffect">
                                  <p:stCondLst>
                                    <p:cond delay="0"/>
                                  </p:stCondLst>
                                  <p:childTnLst>
                                    <p:set>
                                      <p:cBhvr>
                                        <p:cTn id="78" dur="1" fill="hold">
                                          <p:stCondLst>
                                            <p:cond delay="0"/>
                                          </p:stCondLst>
                                        </p:cTn>
                                        <p:tgtEl>
                                          <p:spTgt spid="862223"/>
                                        </p:tgtEl>
                                        <p:attrNameLst>
                                          <p:attrName>style.visibility</p:attrName>
                                        </p:attrNameLst>
                                      </p:cBhvr>
                                      <p:to>
                                        <p:strVal val="visible"/>
                                      </p:to>
                                    </p:set>
                                    <p:animEffect transition="in" filter="box(out)">
                                      <p:cBhvr>
                                        <p:cTn id="79" dur="500"/>
                                        <p:tgtEl>
                                          <p:spTgt spid="862223"/>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0" fill="hold">
                            <p:stCondLst>
                              <p:cond delay="8000"/>
                            </p:stCondLst>
                            <p:childTnLst>
                              <p:par>
                                <p:cTn id="81" presetID="18" presetClass="entr" presetSubtype="12" fill="hold" nodeType="afterEffect">
                                  <p:stCondLst>
                                    <p:cond delay="0"/>
                                  </p:stCondLst>
                                  <p:childTnLst>
                                    <p:set>
                                      <p:cBhvr>
                                        <p:cTn id="82" dur="1" fill="hold">
                                          <p:stCondLst>
                                            <p:cond delay="0"/>
                                          </p:stCondLst>
                                        </p:cTn>
                                        <p:tgtEl>
                                          <p:spTgt spid="862285"/>
                                        </p:tgtEl>
                                        <p:attrNameLst>
                                          <p:attrName>style.visibility</p:attrName>
                                        </p:attrNameLst>
                                      </p:cBhvr>
                                      <p:to>
                                        <p:strVal val="visible"/>
                                      </p:to>
                                    </p:set>
                                    <p:animEffect transition="in" filter="strips(downLeft)">
                                      <p:cBhvr>
                                        <p:cTn id="83" dur="500"/>
                                        <p:tgtEl>
                                          <p:spTgt spid="862285"/>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0" grpId="0" build="p" bldLvl="3" autoUpdateAnimBg="0"/>
      <p:bldP spid="862211" grpId="0" animBg="1" autoUpdateAnimBg="0"/>
      <p:bldP spid="862215" grpId="0" animBg="1"/>
      <p:bldP spid="862216" grpId="0" animBg="1"/>
      <p:bldP spid="862217" grpId="0" animBg="1"/>
      <p:bldP spid="862220" grpId="0" animBg="1"/>
      <p:bldP spid="862221" grpId="0" animBg="1"/>
      <p:bldP spid="862222" grpId="0" animBg="1"/>
      <p:bldP spid="862223" grpId="0" animBg="1"/>
      <p:bldP spid="862224" grpId="0"/>
      <p:bldP spid="64"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866307" name="Rectangle 3"/>
          <p:cNvSpPr>
            <a:spLocks noChangeArrowheads="1"/>
          </p:cNvSpPr>
          <p:nvPr/>
        </p:nvSpPr>
        <p:spPr bwMode="auto">
          <a:xfrm>
            <a:off x="1089033" y="7264227"/>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6311" name="Rectangle 7"/>
          <p:cNvSpPr>
            <a:spLocks noChangeArrowheads="1"/>
          </p:cNvSpPr>
          <p:nvPr/>
        </p:nvSpPr>
        <p:spPr bwMode="auto">
          <a:xfrm>
            <a:off x="839788" y="2008513"/>
            <a:ext cx="10925909"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(1) switch</a:t>
            </a:r>
            <a:r>
              <a:rPr lang="zh-CN" altLang="en-US" b="1" dirty="0">
                <a:effectLst>
                  <a:outerShdw blurRad="38100" dist="38100" dir="2700000" algn="tl">
                    <a:srgbClr val="FFFFFF"/>
                  </a:outerShdw>
                </a:effectLst>
                <a:latin typeface="+mn-lt"/>
                <a:ea typeface="楷体" pitchFamily="49" charset="-122"/>
              </a:rPr>
              <a:t>后面的“表达式”，可以是</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char</a:t>
            </a:r>
            <a:r>
              <a:rPr lang="zh-CN" altLang="en-US" b="1" dirty="0">
                <a:effectLst>
                  <a:outerShdw blurRad="38100" dist="38100" dir="2700000" algn="tl">
                    <a:srgbClr val="FFFFFF"/>
                  </a:outerShdw>
                </a:effectLst>
                <a:latin typeface="+mn-lt"/>
                <a:ea typeface="楷体" pitchFamily="49" charset="-122"/>
              </a:rPr>
              <a:t>和枚举型中的一种，但不可为浮点型。    </a:t>
            </a:r>
          </a:p>
        </p:txBody>
      </p:sp>
      <p:sp>
        <p:nvSpPr>
          <p:cNvPr id="866312" name="Text Box 8" descr="信纸"/>
          <p:cNvSpPr txBox="1">
            <a:spLocks noChangeArrowheads="1"/>
          </p:cNvSpPr>
          <p:nvPr/>
        </p:nvSpPr>
        <p:spPr bwMode="auto">
          <a:xfrm>
            <a:off x="2345675" y="2636912"/>
            <a:ext cx="7921625" cy="3781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0000"/>
              </a:prstClr>
            </a:outerShdw>
          </a:effectLst>
          <a:scene3d>
            <a:camera prst="orthographicFront"/>
            <a:lightRig rig="threePt" dir="t"/>
          </a:scene3d>
          <a:sp3d>
            <a:bevelT w="114300" prst="hardEdge"/>
          </a:sp3d>
        </p:spPr>
        <p:txBody>
          <a:bodyPr lIns="0" tIns="46800" rIns="90000" bIns="46800">
            <a:spAutoFit/>
          </a:bodyPr>
          <a:lstStyle/>
          <a:p>
            <a:pPr lvl="1"/>
            <a:r>
              <a:rPr lang="en-US" altLang="zh-CN" b="1" dirty="0">
                <a:effectLst>
                  <a:outerShdw blurRad="50800" dist="38100" dir="10800000" algn="r" rotWithShape="0">
                    <a:prstClr val="black">
                      <a:alpha val="40000"/>
                    </a:prstClr>
                  </a:outerShdw>
                </a:effectLst>
              </a:rPr>
              <a:t>float  a, b = 4.0;</a:t>
            </a:r>
          </a:p>
          <a:p>
            <a:pPr lvl="1"/>
            <a:endParaRPr lang="en-US" altLang="zh-CN" b="1" dirty="0">
              <a:effectLst>
                <a:outerShdw blurRad="50800" dist="38100" dir="10800000" algn="r" rotWithShape="0">
                  <a:prstClr val="black">
                    <a:alpha val="40000"/>
                  </a:prstClr>
                </a:outerShdw>
              </a:effectLst>
            </a:endParaRPr>
          </a:p>
          <a:p>
            <a:pPr lvl="1"/>
            <a:r>
              <a:rPr lang="en-US" altLang="zh-CN" b="1" dirty="0" err="1">
                <a:effectLst>
                  <a:outerShdw blurRad="50800" dist="38100" dir="10800000" algn="r" rotWithShape="0">
                    <a:prstClr val="black">
                      <a:alpha val="40000"/>
                    </a:prstClr>
                  </a:outerShdw>
                </a:effectLst>
              </a:rPr>
              <a:t>scanf</a:t>
            </a:r>
            <a:r>
              <a:rPr lang="en-US" altLang="zh-CN" b="1" dirty="0">
                <a:effectLst>
                  <a:outerShdw blurRad="50800" dist="38100" dir="10800000" algn="r" rotWithShape="0">
                    <a:prstClr val="black">
                      <a:alpha val="40000"/>
                    </a:prstClr>
                  </a:outerShdw>
                </a:effectLst>
              </a:rPr>
              <a:t> ("%f", &amp;a);</a:t>
            </a:r>
          </a:p>
          <a:p>
            <a:pPr lvl="1"/>
            <a:r>
              <a:rPr lang="en-US" altLang="zh-CN" b="1" dirty="0">
                <a:effectLst>
                  <a:outerShdw blurRad="50800" dist="38100" dir="10800000" algn="r" rotWithShape="0">
                    <a:prstClr val="black">
                      <a:alpha val="40000"/>
                    </a:prstClr>
                  </a:outerShdw>
                </a:effectLst>
              </a:rPr>
              <a:t>switch ( a )    </a:t>
            </a:r>
          </a:p>
          <a:p>
            <a:pPr lvl="1"/>
            <a:r>
              <a:rPr lang="en-US" altLang="zh-CN" b="1" dirty="0">
                <a:effectLst>
                  <a:outerShdw blurRad="50800" dist="38100" dir="10800000" algn="r" rotWithShape="0">
                    <a:prstClr val="black">
                      <a:alpha val="40000"/>
                    </a:prstClr>
                  </a:outerShdw>
                </a:effectLst>
              </a:rPr>
              <a:t>{</a:t>
            </a:r>
          </a:p>
          <a:p>
            <a:pPr lvl="1"/>
            <a:r>
              <a:rPr lang="en-US" altLang="zh-CN" b="1" dirty="0">
                <a:effectLst>
                  <a:outerShdw blurRad="50800" dist="38100" dir="10800000" algn="r" rotWithShape="0">
                    <a:prstClr val="black">
                      <a:alpha val="40000"/>
                    </a:prstClr>
                  </a:outerShdw>
                </a:effectLst>
              </a:rPr>
              <a:t>  case 1:  b = b + 1;  break;</a:t>
            </a:r>
          </a:p>
          <a:p>
            <a:pPr lvl="1"/>
            <a:r>
              <a:rPr lang="en-US" altLang="zh-CN" b="1" dirty="0">
                <a:effectLst>
                  <a:outerShdw blurRad="50800" dist="38100" dir="10800000" algn="r" rotWithShape="0">
                    <a:prstClr val="black">
                      <a:alpha val="40000"/>
                    </a:prstClr>
                  </a:outerShdw>
                </a:effectLst>
              </a:rPr>
              <a:t>  case 2:  b = b - 1;   break;</a:t>
            </a:r>
          </a:p>
          <a:p>
            <a:pPr lvl="1"/>
            <a:r>
              <a:rPr lang="en-US" altLang="zh-CN" b="1" dirty="0">
                <a:effectLst>
                  <a:outerShdw blurRad="50800" dist="38100" dir="10800000" algn="r" rotWithShape="0">
                    <a:prstClr val="black">
                      <a:alpha val="40000"/>
                    </a:prstClr>
                  </a:outerShdw>
                </a:effectLst>
              </a:rPr>
              <a:t>}</a:t>
            </a:r>
          </a:p>
          <a:p>
            <a:pPr lvl="1"/>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("b = %f\n", b);</a:t>
            </a:r>
          </a:p>
          <a:p>
            <a:pPr lvl="1"/>
            <a:endParaRPr lang="en-US" altLang="zh-CN" b="1" dirty="0">
              <a:effectLst>
                <a:outerShdw blurRad="50800" dist="38100" dir="10800000" algn="r" rotWithShape="0">
                  <a:prstClr val="black">
                    <a:alpha val="40000"/>
                  </a:prstClr>
                </a:outerShdw>
              </a:effectLst>
            </a:endParaRPr>
          </a:p>
        </p:txBody>
      </p:sp>
      <p:sp>
        <p:nvSpPr>
          <p:cNvPr id="866313" name="Oval 9"/>
          <p:cNvSpPr>
            <a:spLocks noChangeArrowheads="1"/>
          </p:cNvSpPr>
          <p:nvPr/>
        </p:nvSpPr>
        <p:spPr bwMode="auto">
          <a:xfrm>
            <a:off x="3795034" y="3881511"/>
            <a:ext cx="287337" cy="287338"/>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6324" name="Group 20"/>
          <p:cNvGrpSpPr>
            <a:grpSpLocks/>
          </p:cNvGrpSpPr>
          <p:nvPr/>
        </p:nvGrpSpPr>
        <p:grpSpPr bwMode="auto">
          <a:xfrm>
            <a:off x="4074462" y="2636912"/>
            <a:ext cx="5327650" cy="1655763"/>
            <a:chOff x="1565" y="1344"/>
            <a:chExt cx="3356" cy="1043"/>
          </a:xfrm>
          <a:gradFill>
            <a:gsLst>
              <a:gs pos="0">
                <a:srgbClr val="CFCFD1"/>
              </a:gs>
              <a:gs pos="100000">
                <a:schemeClr val="bg1"/>
              </a:gs>
            </a:gsLst>
            <a:lin ang="5400000" scaled="1"/>
          </a:gradFill>
          <a:effectLst>
            <a:outerShdw blurRad="50800" dist="106680" dir="2700000" algn="tl" rotWithShape="0">
              <a:prstClr val="black">
                <a:alpha val="43000"/>
              </a:prstClr>
            </a:outerShdw>
          </a:effectLst>
        </p:grpSpPr>
        <p:sp>
          <p:nvSpPr>
            <p:cNvPr id="866314" name="AutoShape 10"/>
            <p:cNvSpPr>
              <a:spLocks noChangeArrowheads="1"/>
            </p:cNvSpPr>
            <p:nvPr/>
          </p:nvSpPr>
          <p:spPr bwMode="auto">
            <a:xfrm>
              <a:off x="2336" y="1344"/>
              <a:ext cx="2585" cy="1043"/>
            </a:xfrm>
            <a:prstGeom prst="irregularSeal1">
              <a:avLst/>
            </a:prstGeom>
            <a:grpFill/>
            <a:ln w="28575">
              <a:solidFill>
                <a:srgbClr val="002060"/>
              </a:solidFill>
              <a:miter lim="800000"/>
              <a:headEnd/>
              <a:tailEnd/>
            </a:ln>
            <a:effectLst>
              <a:outerShdw dist="107763" dir="2700000" algn="ctr" rotWithShape="0">
                <a:schemeClr val="bg2">
                  <a:alpha val="50000"/>
                </a:schemeClr>
              </a:outerShdw>
            </a:effectLst>
          </p:spPr>
          <p:txBody>
            <a:bodyPr wrap="none" anchor="ctr"/>
            <a:lstStyle/>
            <a:p>
              <a:pPr algn="ctr"/>
              <a:r>
                <a:rPr lang="zh-CN" altLang="en-US" b="1" dirty="0">
                  <a:solidFill>
                    <a:srgbClr val="C01920"/>
                  </a:solidFill>
                  <a:ea typeface="隶书" pitchFamily="49" charset="-122"/>
                </a:rPr>
                <a:t>不可为浮点型</a:t>
              </a:r>
            </a:p>
            <a:p>
              <a:pPr algn="ctr"/>
              <a:r>
                <a:rPr lang="zh-CN" altLang="en-US" b="1" dirty="0">
                  <a:solidFill>
                    <a:srgbClr val="C01920"/>
                  </a:solidFill>
                  <a:ea typeface="隶书" pitchFamily="49" charset="-122"/>
                </a:rPr>
                <a:t>表达式</a:t>
              </a:r>
            </a:p>
          </p:txBody>
        </p:sp>
        <p:sp>
          <p:nvSpPr>
            <p:cNvPr id="866315" name="Line 11"/>
            <p:cNvSpPr>
              <a:spLocks noChangeShapeType="1"/>
            </p:cNvSpPr>
            <p:nvPr/>
          </p:nvSpPr>
          <p:spPr bwMode="auto">
            <a:xfrm flipV="1">
              <a:off x="1565" y="1797"/>
              <a:ext cx="816" cy="363"/>
            </a:xfrm>
            <a:prstGeom prst="line">
              <a:avLst/>
            </a:prstGeom>
            <a:grpFill/>
            <a:ln w="28575">
              <a:solidFill>
                <a:srgbClr val="C01920"/>
              </a:solidFill>
              <a:round/>
              <a:headEnd/>
              <a:tailEnd/>
            </a:ln>
            <a:effectLst/>
          </p:spPr>
          <p:txBody>
            <a:bodyPr/>
            <a:lstStyle/>
            <a:p>
              <a:endParaRPr lang="zh-CN" altLang="en-US">
                <a:solidFill>
                  <a:srgbClr val="C01920"/>
                </a:solidFill>
              </a:endParaRPr>
            </a:p>
          </p:txBody>
        </p:sp>
      </p:grpSp>
      <p:grpSp>
        <p:nvGrpSpPr>
          <p:cNvPr id="866319" name="Group 15"/>
          <p:cNvGrpSpPr>
            <a:grpSpLocks/>
          </p:cNvGrpSpPr>
          <p:nvPr/>
        </p:nvGrpSpPr>
        <p:grpSpPr bwMode="auto">
          <a:xfrm>
            <a:off x="4539570" y="3932311"/>
            <a:ext cx="381000" cy="381000"/>
            <a:chOff x="4344" y="3540"/>
            <a:chExt cx="240" cy="240"/>
          </a:xfrm>
        </p:grpSpPr>
        <p:sp>
          <p:nvSpPr>
            <p:cNvPr id="866320" name="Line 16"/>
            <p:cNvSpPr>
              <a:spLocks noChangeShapeType="1"/>
            </p:cNvSpPr>
            <p:nvPr/>
          </p:nvSpPr>
          <p:spPr bwMode="auto">
            <a:xfrm flipH="1">
              <a:off x="4344" y="3540"/>
              <a:ext cx="240" cy="240"/>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6321" name="Line 17"/>
            <p:cNvSpPr>
              <a:spLocks noChangeShapeType="1"/>
            </p:cNvSpPr>
            <p:nvPr/>
          </p:nvSpPr>
          <p:spPr bwMode="auto">
            <a:xfrm>
              <a:off x="4356" y="3540"/>
              <a:ext cx="228" cy="216"/>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sp>
        <p:nvSpPr>
          <p:cNvPr id="16" name="Rectangle 45">
            <a:extLst>
              <a:ext uri="{FF2B5EF4-FFF2-40B4-BE49-F238E27FC236}">
                <a16:creationId xmlns:a16="http://schemas.microsoft.com/office/drawing/2014/main" id="{EF847ED3-CB41-4187-9BA2-127E1DF08FED}"/>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7" name="Rectangle 4">
            <a:extLst>
              <a:ext uri="{FF2B5EF4-FFF2-40B4-BE49-F238E27FC236}">
                <a16:creationId xmlns:a16="http://schemas.microsoft.com/office/drawing/2014/main" id="{0EB6CF61-7310-413C-8934-12D3EA49AD6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6306">
                                            <p:txEl>
                                              <p:pRg st="0" end="0"/>
                                            </p:txEl>
                                          </p:spTgt>
                                        </p:tgtEl>
                                        <p:attrNameLst>
                                          <p:attrName>style.visibility</p:attrName>
                                        </p:attrNameLst>
                                      </p:cBhvr>
                                      <p:to>
                                        <p:strVal val="visible"/>
                                      </p:to>
                                    </p:set>
                                    <p:anim calcmode="lin" valueType="num">
                                      <p:cBhvr additive="base">
                                        <p:cTn id="7" dur="500" fill="hold"/>
                                        <p:tgtEl>
                                          <p:spTgt spid="8663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6630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66311"/>
                                        </p:tgtEl>
                                        <p:attrNameLst>
                                          <p:attrName>style.visibility</p:attrName>
                                        </p:attrNameLst>
                                      </p:cBhvr>
                                      <p:to>
                                        <p:strVal val="visible"/>
                                      </p:to>
                                    </p:set>
                                    <p:animEffect transition="in" filter="box(out)">
                                      <p:cBhvr>
                                        <p:cTn id="13" dur="500"/>
                                        <p:tgtEl>
                                          <p:spTgt spid="86631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66312"/>
                                        </p:tgtEl>
                                        <p:attrNameLst>
                                          <p:attrName>style.visibility</p:attrName>
                                        </p:attrNameLst>
                                      </p:cBhvr>
                                      <p:to>
                                        <p:strVal val="visible"/>
                                      </p:to>
                                    </p:set>
                                    <p:animEffect transition="in" filter="box(out)">
                                      <p:cBhvr>
                                        <p:cTn id="18" dur="500"/>
                                        <p:tgtEl>
                                          <p:spTgt spid="86631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866319"/>
                                        </p:tgtEl>
                                        <p:attrNameLst>
                                          <p:attrName>style.visibility</p:attrName>
                                        </p:attrNameLst>
                                      </p:cBhvr>
                                      <p:to>
                                        <p:strVal val="visible"/>
                                      </p:to>
                                    </p:set>
                                    <p:animEffect transition="in" filter="box(out)">
                                      <p:cBhvr>
                                        <p:cTn id="23" dur="500"/>
                                        <p:tgtEl>
                                          <p:spTgt spid="866319"/>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866313"/>
                                        </p:tgtEl>
                                        <p:attrNameLst>
                                          <p:attrName>style.visibility</p:attrName>
                                        </p:attrNameLst>
                                      </p:cBhvr>
                                      <p:to>
                                        <p:strVal val="visible"/>
                                      </p:to>
                                    </p:set>
                                    <p:animEffect transition="in" filter="strips(downRight)">
                                      <p:cBhvr>
                                        <p:cTn id="28" dur="500"/>
                                        <p:tgtEl>
                                          <p:spTgt spid="866313"/>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6" fill="hold" nodeType="afterEffect">
                                  <p:stCondLst>
                                    <p:cond delay="0"/>
                                  </p:stCondLst>
                                  <p:childTnLst>
                                    <p:set>
                                      <p:cBhvr>
                                        <p:cTn id="31" dur="1" fill="hold">
                                          <p:stCondLst>
                                            <p:cond delay="0"/>
                                          </p:stCondLst>
                                        </p:cTn>
                                        <p:tgtEl>
                                          <p:spTgt spid="866324"/>
                                        </p:tgtEl>
                                        <p:attrNameLst>
                                          <p:attrName>style.visibility</p:attrName>
                                        </p:attrNameLst>
                                      </p:cBhvr>
                                      <p:to>
                                        <p:strVal val="visible"/>
                                      </p:to>
                                    </p:set>
                                    <p:animEffect transition="in" filter="strips(downRight)">
                                      <p:cBhvr>
                                        <p:cTn id="32" dur="500"/>
                                        <p:tgtEl>
                                          <p:spTgt spid="866324"/>
                                        </p:tgtEl>
                                      </p:cBhvr>
                                    </p:animEffect>
                                  </p:childTnLst>
                                  <p:subTnLst>
                                    <p:audio>
                                      <p:cMediaNode>
                                        <p:cTn display="0" masterRel="sameClick">
                                          <p:stCondLst>
                                            <p:cond evt="begin" delay="0">
                                              <p:tn val="30"/>
                                            </p:cond>
                                          </p:stCondLst>
                                          <p:endCondLst>
                                            <p:cond evt="onStopAudio" delay="0">
                                              <p:tgtEl>
                                                <p:sldTgt/>
                                              </p:tgtEl>
                                            </p:cond>
                                          </p:endCondLst>
                                        </p:cTn>
                                        <p:tgtEl>
                                          <p:sndTgt r:embed="rId5"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6" grpId="0" build="p" bldLvl="3" autoUpdateAnimBg="0"/>
      <p:bldP spid="866311" grpId="0"/>
      <p:bldP spid="866312" grpId="0" animBg="1" autoUpdateAnimBg="0"/>
      <p:bldP spid="8663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61" name="Rectangle 5"/>
          <p:cNvSpPr>
            <a:spLocks noChangeArrowheads="1"/>
          </p:cNvSpPr>
          <p:nvPr/>
        </p:nvSpPr>
        <p:spPr bwMode="auto">
          <a:xfrm>
            <a:off x="1062869" y="7472636"/>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4295" name="Rectangle 39"/>
          <p:cNvSpPr>
            <a:spLocks noChangeArrowheads="1"/>
          </p:cNvSpPr>
          <p:nvPr/>
        </p:nvSpPr>
        <p:spPr bwMode="auto">
          <a:xfrm>
            <a:off x="839789" y="1957668"/>
            <a:ext cx="10585450" cy="156966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(2) case</a:t>
            </a:r>
            <a:r>
              <a:rPr lang="zh-CN" altLang="en-US" b="1" dirty="0">
                <a:effectLst>
                  <a:outerShdw blurRad="38100" dist="38100" dir="2700000" algn="tl">
                    <a:srgbClr val="FFFFFF"/>
                  </a:outerShdw>
                </a:effectLst>
                <a:latin typeface="+mn-lt"/>
                <a:ea typeface="楷体" pitchFamily="49" charset="-122"/>
              </a:rPr>
              <a:t>后面语句（组）可加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也可以不加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，但一般不加</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 </a:t>
            </a:r>
            <a:endParaRPr lang="en-US" altLang="zh-CN" b="1" dirty="0">
              <a:effectLst>
                <a:outerShdw blurRad="38100" dist="38100" dir="2700000" algn="tl">
                  <a:srgbClr val="FFFFFF"/>
                </a:outerShdw>
              </a:effectLst>
              <a:latin typeface="+mn-lt"/>
              <a:ea typeface="楷体" pitchFamily="49" charset="-122"/>
            </a:endParaRPr>
          </a:p>
          <a:p>
            <a:endParaRPr lang="zh-CN" altLang="en-US"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 </a:t>
            </a:r>
            <a:r>
              <a:rPr lang="zh-CN" altLang="en-US" b="1" dirty="0">
                <a:effectLst>
                  <a:outerShdw blurRad="38100" dist="38100" dir="2700000" algn="tl">
                    <a:srgbClr val="FFFFFF"/>
                  </a:outerShdw>
                </a:effectLst>
                <a:latin typeface="+mn-lt"/>
                <a:ea typeface="楷体" pitchFamily="49" charset="-122"/>
              </a:rPr>
              <a:t>每个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后面“常量表达式”的值，必须各不相同，否则会出现相互矛盾的现象。    </a:t>
            </a:r>
          </a:p>
        </p:txBody>
      </p:sp>
      <p:sp>
        <p:nvSpPr>
          <p:cNvPr id="864296" name="Text Box 40" descr="信纸"/>
          <p:cNvSpPr txBox="1">
            <a:spLocks noChangeArrowheads="1"/>
          </p:cNvSpPr>
          <p:nvPr/>
        </p:nvSpPr>
        <p:spPr bwMode="auto">
          <a:xfrm>
            <a:off x="2732525" y="2451100"/>
            <a:ext cx="7921625" cy="195580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t>  switch ( </a:t>
            </a:r>
            <a:r>
              <a:rPr lang="en-US" altLang="zh-CN" b="1" dirty="0" err="1"/>
              <a:t>i</a:t>
            </a:r>
            <a:r>
              <a:rPr lang="en-US" altLang="zh-CN" b="1" dirty="0"/>
              <a:t> )</a:t>
            </a:r>
          </a:p>
          <a:p>
            <a:r>
              <a:rPr lang="en-US" altLang="zh-CN" b="1" dirty="0"/>
              <a:t>  {</a:t>
            </a:r>
          </a:p>
          <a:p>
            <a:r>
              <a:rPr lang="en-US" altLang="zh-CN" b="1" dirty="0"/>
              <a:t>     case 1:  { b = b + 1;  break; }    </a:t>
            </a:r>
            <a:r>
              <a:rPr lang="en-US" altLang="zh-CN" sz="2000" b="1" dirty="0">
                <a:solidFill>
                  <a:srgbClr val="C01920"/>
                </a:solidFill>
                <a:latin typeface="+mn-lt"/>
                <a:ea typeface="楷体" pitchFamily="49" charset="-122"/>
              </a:rPr>
              <a:t>// { }</a:t>
            </a:r>
            <a:r>
              <a:rPr lang="zh-CN" altLang="en-US" sz="2000" b="1" dirty="0">
                <a:solidFill>
                  <a:srgbClr val="C01920"/>
                </a:solidFill>
                <a:latin typeface="+mn-lt"/>
                <a:ea typeface="楷体" pitchFamily="49" charset="-122"/>
              </a:rPr>
              <a:t>可加可不加</a:t>
            </a:r>
          </a:p>
          <a:p>
            <a:r>
              <a:rPr lang="zh-CN" altLang="en-US" b="1" dirty="0"/>
              <a:t>     </a:t>
            </a:r>
            <a:r>
              <a:rPr lang="en-US" altLang="zh-CN" b="1" dirty="0"/>
              <a:t>case 2:     b = b - 1;   break;</a:t>
            </a:r>
          </a:p>
          <a:p>
            <a:r>
              <a:rPr lang="en-US" altLang="zh-CN" b="1" dirty="0"/>
              <a:t>  }</a:t>
            </a:r>
          </a:p>
        </p:txBody>
      </p:sp>
      <p:sp>
        <p:nvSpPr>
          <p:cNvPr id="864297" name="Text Box 41" descr="信纸"/>
          <p:cNvSpPr txBox="1">
            <a:spLocks noChangeArrowheads="1"/>
          </p:cNvSpPr>
          <p:nvPr/>
        </p:nvSpPr>
        <p:spPr bwMode="auto">
          <a:xfrm>
            <a:off x="2732524" y="3212976"/>
            <a:ext cx="7921625" cy="341630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effectLst>
                  <a:outerShdw blurRad="38100" dist="38100" dir="2700000" algn="tl">
                    <a:srgbClr val="FFFFFF"/>
                  </a:outerShdw>
                </a:effectLst>
              </a:rPr>
              <a:t>  </a:t>
            </a:r>
            <a:r>
              <a:rPr lang="en-US" altLang="zh-CN" b="1" dirty="0" err="1">
                <a:effectLst>
                  <a:outerShdw blurRad="50800" dist="38100" dir="10800000" algn="r" rotWithShape="0">
                    <a:prstClr val="black">
                      <a:alpha val="40000"/>
                    </a:prstClr>
                  </a:outerShdw>
                </a:effectLst>
              </a:rPr>
              <a:t>int</a:t>
            </a:r>
            <a:r>
              <a:rPr lang="en-US" altLang="zh-CN" b="1" dirty="0">
                <a:effectLst>
                  <a:outerShdw blurRad="50800" dist="38100" dir="10800000" algn="r" rotWithShape="0">
                    <a:prstClr val="black">
                      <a:alpha val="40000"/>
                    </a:prstClr>
                  </a:outerShdw>
                </a:effectLst>
              </a:rPr>
              <a:t>  a, b = 4;</a:t>
            </a:r>
          </a:p>
          <a:p>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scanf</a:t>
            </a:r>
            <a:r>
              <a:rPr lang="en-US" altLang="zh-CN" b="1" dirty="0">
                <a:effectLst>
                  <a:outerShdw blurRad="50800" dist="38100" dir="10800000" algn="r" rotWithShape="0">
                    <a:prstClr val="black">
                      <a:alpha val="40000"/>
                    </a:prstClr>
                  </a:outerShdw>
                </a:effectLst>
              </a:rPr>
              <a:t> ("%d", &amp;a);</a:t>
            </a:r>
          </a:p>
          <a:p>
            <a:r>
              <a:rPr lang="en-US" altLang="zh-CN" b="1" dirty="0">
                <a:effectLst>
                  <a:outerShdw blurRad="50800" dist="38100" dir="10800000" algn="r" rotWithShape="0">
                    <a:prstClr val="black">
                      <a:alpha val="40000"/>
                    </a:prstClr>
                  </a:outerShdw>
                </a:effectLst>
              </a:rPr>
              <a:t>  switch (a)</a:t>
            </a:r>
          </a:p>
          <a:p>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case 1:  b = b + 2;  break;</a:t>
            </a:r>
          </a:p>
          <a:p>
            <a:r>
              <a:rPr lang="en-US" altLang="zh-CN" b="1" dirty="0">
                <a:effectLst>
                  <a:outerShdw blurRad="50800" dist="38100" dir="10800000" algn="r" rotWithShape="0">
                    <a:prstClr val="black">
                      <a:alpha val="40000"/>
                    </a:prstClr>
                  </a:outerShdw>
                </a:effectLst>
              </a:rPr>
              <a:t>     case 2:  b = b * 2;  break;</a:t>
            </a:r>
          </a:p>
          <a:p>
            <a:r>
              <a:rPr lang="en-US" altLang="zh-CN" b="1" dirty="0">
                <a:effectLst>
                  <a:outerShdw blurRad="50800" dist="38100" dir="10800000" algn="r" rotWithShape="0">
                    <a:prstClr val="black">
                      <a:alpha val="40000"/>
                    </a:prstClr>
                  </a:outerShdw>
                </a:effectLst>
              </a:rPr>
              <a:t>     case 1:  b = b + 2;  break;      </a:t>
            </a:r>
          </a:p>
          <a:p>
            <a:r>
              <a:rPr lang="en-US" altLang="zh-CN" b="1" dirty="0">
                <a:effectLst>
                  <a:outerShdw blurRad="50800" dist="38100" dir="10800000" algn="r" rotWithShape="0">
                    <a:prstClr val="black">
                      <a:alpha val="40000"/>
                    </a:prstClr>
                  </a:outerShdw>
                </a:effectLst>
              </a:rPr>
              <a:t>  }</a:t>
            </a:r>
          </a:p>
          <a:p>
            <a:r>
              <a:rPr lang="en-US" altLang="zh-CN" b="1" dirty="0">
                <a:effectLst>
                  <a:outerShdw blurRad="50800" dist="38100" dir="10800000" algn="r" rotWithShape="0">
                    <a:prstClr val="black">
                      <a:alpha val="40000"/>
                    </a:prstClr>
                  </a:outerShdw>
                </a:effectLst>
              </a:rPr>
              <a:t>  </a:t>
            </a:r>
            <a:r>
              <a:rPr lang="en-US" altLang="zh-CN" b="1" dirty="0" err="1">
                <a:effectLst>
                  <a:outerShdw blurRad="50800" dist="38100" dir="10800000" algn="r" rotWithShape="0">
                    <a:prstClr val="black">
                      <a:alpha val="40000"/>
                    </a:prstClr>
                  </a:outerShdw>
                </a:effectLst>
              </a:rPr>
              <a:t>printf</a:t>
            </a:r>
            <a:r>
              <a:rPr lang="en-US" altLang="zh-CN" b="1" dirty="0">
                <a:effectLst>
                  <a:outerShdw blurRad="50800" dist="38100" dir="10800000" algn="r" rotWithShape="0">
                    <a:prstClr val="black">
                      <a:alpha val="40000"/>
                    </a:prstClr>
                  </a:outerShdw>
                </a:effectLst>
              </a:rPr>
              <a:t> ("b = %d\n", b);</a:t>
            </a:r>
          </a:p>
        </p:txBody>
      </p:sp>
      <p:sp>
        <p:nvSpPr>
          <p:cNvPr id="864298" name="Oval 42"/>
          <p:cNvSpPr>
            <a:spLocks noChangeArrowheads="1"/>
          </p:cNvSpPr>
          <p:nvPr/>
        </p:nvSpPr>
        <p:spPr bwMode="auto">
          <a:xfrm>
            <a:off x="2973958" y="5443884"/>
            <a:ext cx="3671887" cy="433388"/>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4303" name="Group 47"/>
          <p:cNvGrpSpPr>
            <a:grpSpLocks/>
          </p:cNvGrpSpPr>
          <p:nvPr/>
        </p:nvGrpSpPr>
        <p:grpSpPr bwMode="auto">
          <a:xfrm>
            <a:off x="5644152" y="3858198"/>
            <a:ext cx="381000" cy="381000"/>
            <a:chOff x="4344" y="3540"/>
            <a:chExt cx="240" cy="240"/>
          </a:xfrm>
        </p:grpSpPr>
        <p:sp>
          <p:nvSpPr>
            <p:cNvPr id="864304" name="Line 48"/>
            <p:cNvSpPr>
              <a:spLocks noChangeShapeType="1"/>
            </p:cNvSpPr>
            <p:nvPr/>
          </p:nvSpPr>
          <p:spPr bwMode="auto">
            <a:xfrm flipH="1">
              <a:off x="4344" y="3540"/>
              <a:ext cx="240" cy="240"/>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4305" name="Line 49"/>
            <p:cNvSpPr>
              <a:spLocks noChangeShapeType="1"/>
            </p:cNvSpPr>
            <p:nvPr/>
          </p:nvSpPr>
          <p:spPr bwMode="auto">
            <a:xfrm>
              <a:off x="4356" y="3540"/>
              <a:ext cx="228" cy="216"/>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grpSp>
        <p:nvGrpSpPr>
          <p:cNvPr id="864302" name="Group 46"/>
          <p:cNvGrpSpPr>
            <a:grpSpLocks/>
          </p:cNvGrpSpPr>
          <p:nvPr/>
        </p:nvGrpSpPr>
        <p:grpSpPr bwMode="auto">
          <a:xfrm>
            <a:off x="5375845" y="3330922"/>
            <a:ext cx="5400675" cy="2087562"/>
            <a:chOff x="2200" y="1661"/>
            <a:chExt cx="3402" cy="1315"/>
          </a:xfrm>
          <a:gradFill>
            <a:gsLst>
              <a:gs pos="0">
                <a:srgbClr val="CFCFD1"/>
              </a:gs>
              <a:gs pos="100000">
                <a:schemeClr val="bg1"/>
              </a:gs>
            </a:gsLst>
            <a:lin ang="5400000" scaled="1"/>
          </a:gradFill>
          <a:effectLst>
            <a:outerShdw blurRad="50800" dist="38100" dir="2700000" algn="tl" rotWithShape="0">
              <a:prstClr val="black">
                <a:alpha val="40000"/>
              </a:prstClr>
            </a:outerShdw>
          </a:effectLst>
        </p:grpSpPr>
        <p:sp>
          <p:nvSpPr>
            <p:cNvPr id="864300" name="AutoShape 44"/>
            <p:cNvSpPr>
              <a:spLocks noChangeArrowheads="1"/>
            </p:cNvSpPr>
            <p:nvPr/>
          </p:nvSpPr>
          <p:spPr bwMode="auto">
            <a:xfrm>
              <a:off x="2789" y="1661"/>
              <a:ext cx="2813" cy="1179"/>
            </a:xfrm>
            <a:prstGeom prst="irregularSeal1">
              <a:avLst/>
            </a:prstGeom>
            <a:grpFill/>
            <a:ln w="28575">
              <a:solidFill>
                <a:srgbClr val="002060"/>
              </a:solidFill>
              <a:miter lim="800000"/>
              <a:headEnd/>
              <a:tailEnd/>
            </a:ln>
            <a:effectLst>
              <a:outerShdw blurRad="50800" dist="106680" dir="2700000" algn="tl" rotWithShape="0">
                <a:prstClr val="black">
                  <a:alpha val="43000"/>
                </a:prstClr>
              </a:outerShdw>
            </a:effectLst>
          </p:spPr>
          <p:txBody>
            <a:bodyPr wrap="none" anchor="ctr"/>
            <a:lstStyle/>
            <a:p>
              <a:pPr algn="ctr"/>
              <a:r>
                <a:rPr lang="en-US" altLang="zh-CN" b="1">
                  <a:solidFill>
                    <a:srgbClr val="C01920"/>
                  </a:solidFill>
                  <a:ea typeface="隶书" pitchFamily="49" charset="-122"/>
                </a:rPr>
                <a:t>case 1</a:t>
              </a:r>
              <a:r>
                <a:rPr lang="zh-CN" altLang="en-US" b="1">
                  <a:solidFill>
                    <a:srgbClr val="C01920"/>
                  </a:solidFill>
                  <a:latin typeface="隶书" pitchFamily="49" charset="-122"/>
                  <a:ea typeface="隶书" pitchFamily="49" charset="-122"/>
                </a:rPr>
                <a:t>在前面已使用</a:t>
              </a:r>
            </a:p>
          </p:txBody>
        </p:sp>
        <p:sp>
          <p:nvSpPr>
            <p:cNvPr id="864301" name="Line 45"/>
            <p:cNvSpPr>
              <a:spLocks noChangeShapeType="1"/>
            </p:cNvSpPr>
            <p:nvPr/>
          </p:nvSpPr>
          <p:spPr bwMode="auto">
            <a:xfrm flipV="1">
              <a:off x="2200" y="2432"/>
              <a:ext cx="998" cy="544"/>
            </a:xfrm>
            <a:prstGeom prst="line">
              <a:avLst/>
            </a:prstGeom>
            <a:grpFill/>
            <a:ln w="28575">
              <a:solidFill>
                <a:srgbClr val="C01920"/>
              </a:solidFill>
              <a:round/>
              <a:headEnd/>
              <a:tailEnd/>
            </a:ln>
            <a:effectLst>
              <a:outerShdw blurRad="50800" dist="38100" dir="2700000" algn="tl" rotWithShape="0">
                <a:prstClr val="black">
                  <a:alpha val="40000"/>
                </a:prstClr>
              </a:outerShdw>
            </a:effectLst>
          </p:spPr>
          <p:txBody>
            <a:bodyPr/>
            <a:lstStyle/>
            <a:p>
              <a:endParaRPr lang="zh-CN" altLang="en-US">
                <a:solidFill>
                  <a:srgbClr val="C01920"/>
                </a:solidFill>
                <a:effectLst>
                  <a:outerShdw blurRad="38100" dist="38100" dir="2700000" algn="tl">
                    <a:srgbClr val="000000">
                      <a:alpha val="43137"/>
                    </a:srgbClr>
                  </a:outerShdw>
                </a:effectLst>
              </a:endParaRPr>
            </a:p>
          </p:txBody>
        </p:sp>
      </p:grpSp>
      <p:sp>
        <p:nvSpPr>
          <p:cNvPr id="17" name="Rectangle 2">
            <a:extLst>
              <a:ext uri="{FF2B5EF4-FFF2-40B4-BE49-F238E27FC236}">
                <a16:creationId xmlns:a16="http://schemas.microsoft.com/office/drawing/2014/main" id="{291B39FE-A664-45D8-8867-1A8330FEB6FC}"/>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18" name="Rectangle 45">
            <a:extLst>
              <a:ext uri="{FF2B5EF4-FFF2-40B4-BE49-F238E27FC236}">
                <a16:creationId xmlns:a16="http://schemas.microsoft.com/office/drawing/2014/main" id="{313AFE6C-8887-4924-8ADE-7C6A6D7F1DD5}"/>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9" name="Rectangle 4">
            <a:extLst>
              <a:ext uri="{FF2B5EF4-FFF2-40B4-BE49-F238E27FC236}">
                <a16:creationId xmlns:a16="http://schemas.microsoft.com/office/drawing/2014/main" id="{D9FA383A-5FEC-4924-9DE0-95A695F1E0F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64295">
                                            <p:txEl>
                                              <p:pRg st="0" end="0"/>
                                            </p:txEl>
                                          </p:spTgt>
                                        </p:tgtEl>
                                        <p:attrNameLst>
                                          <p:attrName>style.visibility</p:attrName>
                                        </p:attrNameLst>
                                      </p:cBhvr>
                                      <p:to>
                                        <p:strVal val="visible"/>
                                      </p:to>
                                    </p:set>
                                    <p:animEffect transition="in" filter="box(out)">
                                      <p:cBhvr>
                                        <p:cTn id="13" dur="500"/>
                                        <p:tgtEl>
                                          <p:spTgt spid="864295">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64296"/>
                                        </p:tgtEl>
                                        <p:attrNameLst>
                                          <p:attrName>style.visibility</p:attrName>
                                        </p:attrNameLst>
                                      </p:cBhvr>
                                      <p:to>
                                        <p:strVal val="visible"/>
                                      </p:to>
                                    </p:set>
                                    <p:animEffect transition="in" filter="box(out)">
                                      <p:cBhvr>
                                        <p:cTn id="18" dur="500"/>
                                        <p:tgtEl>
                                          <p:spTgt spid="864296"/>
                                        </p:tgtEl>
                                      </p:cBhvr>
                                    </p:animEffect>
                                  </p:childTnLst>
                                  <p:subTnLst>
                                    <p:set>
                                      <p:cBhvr override="childStyle">
                                        <p:cTn dur="1" fill="hold" display="0" masterRel="nextClick" afterEffect="1"/>
                                        <p:tgtEl>
                                          <p:spTgt spid="864296"/>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864295">
                                            <p:txEl>
                                              <p:pRg st="2" end="2"/>
                                            </p:txEl>
                                          </p:spTgt>
                                        </p:tgtEl>
                                        <p:attrNameLst>
                                          <p:attrName>style.visibility</p:attrName>
                                        </p:attrNameLst>
                                      </p:cBhvr>
                                      <p:to>
                                        <p:strVal val="visible"/>
                                      </p:to>
                                    </p:set>
                                    <p:animEffect transition="in" filter="box(out)">
                                      <p:cBhvr>
                                        <p:cTn id="23" dur="500"/>
                                        <p:tgtEl>
                                          <p:spTgt spid="864295">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864297"/>
                                        </p:tgtEl>
                                        <p:attrNameLst>
                                          <p:attrName>style.visibility</p:attrName>
                                        </p:attrNameLst>
                                      </p:cBhvr>
                                      <p:to>
                                        <p:strVal val="visible"/>
                                      </p:to>
                                    </p:set>
                                    <p:animEffect transition="in" filter="box(out)">
                                      <p:cBhvr>
                                        <p:cTn id="28" dur="500"/>
                                        <p:tgtEl>
                                          <p:spTgt spid="86429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864303"/>
                                        </p:tgtEl>
                                        <p:attrNameLst>
                                          <p:attrName>style.visibility</p:attrName>
                                        </p:attrNameLst>
                                      </p:cBhvr>
                                      <p:to>
                                        <p:strVal val="visible"/>
                                      </p:to>
                                    </p:set>
                                    <p:animEffect transition="in" filter="box(out)">
                                      <p:cBhvr>
                                        <p:cTn id="33" dur="500"/>
                                        <p:tgtEl>
                                          <p:spTgt spid="864303"/>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864298"/>
                                        </p:tgtEl>
                                        <p:attrNameLst>
                                          <p:attrName>style.visibility</p:attrName>
                                        </p:attrNameLst>
                                      </p:cBhvr>
                                      <p:to>
                                        <p:strVal val="visible"/>
                                      </p:to>
                                    </p:set>
                                    <p:animEffect transition="in" filter="strips(downRight)">
                                      <p:cBhvr>
                                        <p:cTn id="38" dur="500"/>
                                        <p:tgtEl>
                                          <p:spTgt spid="86429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8" presetClass="entr" presetSubtype="6" fill="hold" nodeType="afterEffect">
                                  <p:stCondLst>
                                    <p:cond delay="0"/>
                                  </p:stCondLst>
                                  <p:childTnLst>
                                    <p:set>
                                      <p:cBhvr>
                                        <p:cTn id="41" dur="1" fill="hold">
                                          <p:stCondLst>
                                            <p:cond delay="0"/>
                                          </p:stCondLst>
                                        </p:cTn>
                                        <p:tgtEl>
                                          <p:spTgt spid="864302"/>
                                        </p:tgtEl>
                                        <p:attrNameLst>
                                          <p:attrName>style.visibility</p:attrName>
                                        </p:attrNameLst>
                                      </p:cBhvr>
                                      <p:to>
                                        <p:strVal val="visible"/>
                                      </p:to>
                                    </p:set>
                                    <p:animEffect transition="in" filter="strips(downRight)">
                                      <p:cBhvr>
                                        <p:cTn id="42" dur="500"/>
                                        <p:tgtEl>
                                          <p:spTgt spid="864302"/>
                                        </p:tgtEl>
                                      </p:cBhvr>
                                    </p:animEffect>
                                  </p:childTnLst>
                                  <p:subTnLst>
                                    <p:audio>
                                      <p:cMediaNode>
                                        <p:cTn display="0" masterRel="sameClick">
                                          <p:stCondLst>
                                            <p:cond evt="begin" delay="0">
                                              <p:tn val="40"/>
                                            </p:cond>
                                          </p:stCondLst>
                                          <p:endCondLst>
                                            <p:cond evt="onStopAudio" delay="0">
                                              <p:tgtEl>
                                                <p:sldTgt/>
                                              </p:tgtEl>
                                            </p:cond>
                                          </p:endCondLst>
                                        </p:cTn>
                                        <p:tgtEl>
                                          <p:sndTgt r:embed="rId5"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96" grpId="0" animBg="1" autoUpdateAnimBg="0"/>
      <p:bldP spid="864297" grpId="0" animBg="1" autoUpdateAnimBg="0"/>
      <p:bldP spid="864298" grpId="0" animBg="1"/>
      <p:bldP spid="17" grpId="0" build="p" bldLvl="3"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5" name="Rectangle 3"/>
          <p:cNvSpPr>
            <a:spLocks noChangeArrowheads="1"/>
          </p:cNvSpPr>
          <p:nvPr/>
        </p:nvSpPr>
        <p:spPr bwMode="auto">
          <a:xfrm>
            <a:off x="1164096" y="6727727"/>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68359" name="Rectangle 7"/>
          <p:cNvSpPr>
            <a:spLocks noChangeArrowheads="1"/>
          </p:cNvSpPr>
          <p:nvPr/>
        </p:nvSpPr>
        <p:spPr bwMode="auto">
          <a:xfrm>
            <a:off x="806463" y="1819995"/>
            <a:ext cx="10186081"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(4) </a:t>
            </a:r>
            <a:r>
              <a:rPr lang="zh-CN" altLang="en-US" b="1" dirty="0">
                <a:effectLst>
                  <a:outerShdw blurRad="38100" dist="38100" dir="2700000" algn="tl">
                    <a:srgbClr val="FFFFFF"/>
                  </a:outerShdw>
                </a:effectLst>
                <a:latin typeface="+mn-lt"/>
                <a:ea typeface="楷体" pitchFamily="49" charset="-122"/>
              </a:rPr>
              <a:t>每个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后面必须是“常量表达式”，表达式中不能包含变量。    </a:t>
            </a:r>
          </a:p>
        </p:txBody>
      </p:sp>
      <p:sp>
        <p:nvSpPr>
          <p:cNvPr id="868360" name="Text Box 8" descr="信纸"/>
          <p:cNvSpPr txBox="1">
            <a:spLocks noChangeArrowheads="1"/>
          </p:cNvSpPr>
          <p:nvPr/>
        </p:nvSpPr>
        <p:spPr bwMode="auto">
          <a:xfrm>
            <a:off x="1343297" y="2276872"/>
            <a:ext cx="9793263" cy="451167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r>
              <a:rPr lang="en-US" altLang="zh-CN" b="1" dirty="0">
                <a:solidFill>
                  <a:srgbClr val="C01920"/>
                </a:solidFill>
                <a:latin typeface="隶书" pitchFamily="49" charset="-122"/>
                <a:ea typeface="隶书" pitchFamily="49" charset="-122"/>
              </a:rPr>
              <a:t> </a:t>
            </a:r>
            <a:r>
              <a:rPr lang="zh-CN" altLang="en-US" b="1" dirty="0">
                <a:solidFill>
                  <a:srgbClr val="C01920"/>
                </a:solidFill>
                <a:latin typeface="隶书" pitchFamily="49" charset="-122"/>
                <a:ea typeface="隶书" pitchFamily="49" charset="-122"/>
              </a:rPr>
              <a:t>例：按成绩分成</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B</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C</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D</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E</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F</a:t>
            </a:r>
            <a:r>
              <a:rPr lang="zh-CN" altLang="en-US" b="1" dirty="0">
                <a:solidFill>
                  <a:srgbClr val="C01920"/>
                </a:solidFill>
                <a:latin typeface="隶书" pitchFamily="49" charset="-122"/>
                <a:ea typeface="隶书" pitchFamily="49" charset="-122"/>
              </a:rPr>
              <a:t>几个等级。</a:t>
            </a:r>
          </a:p>
          <a:p>
            <a:r>
              <a:rPr lang="zh-CN" altLang="en-US" b="1" dirty="0"/>
              <a:t>  </a:t>
            </a:r>
            <a:r>
              <a:rPr lang="en-US" altLang="zh-CN" b="1" dirty="0"/>
              <a:t>char score;</a:t>
            </a:r>
          </a:p>
          <a:p>
            <a:r>
              <a:rPr lang="en-US" altLang="zh-CN" b="1" dirty="0"/>
              <a:t>  </a:t>
            </a:r>
            <a:r>
              <a:rPr lang="en-US" altLang="zh-CN" b="1" dirty="0" err="1"/>
              <a:t>printf</a:t>
            </a:r>
            <a:r>
              <a:rPr lang="en-US" altLang="zh-CN" b="1" dirty="0"/>
              <a:t> ("Enter Score: ");</a:t>
            </a:r>
          </a:p>
          <a:p>
            <a:r>
              <a:rPr lang="en-US" altLang="zh-CN" b="1" dirty="0"/>
              <a:t>  </a:t>
            </a:r>
            <a:r>
              <a:rPr lang="en-US" altLang="zh-CN" b="1" dirty="0" err="1"/>
              <a:t>scanf</a:t>
            </a:r>
            <a:r>
              <a:rPr lang="en-US" altLang="zh-CN" b="1" dirty="0"/>
              <a:t> ("%d", &amp;score);</a:t>
            </a:r>
          </a:p>
          <a:p>
            <a:r>
              <a:rPr lang="en-US" altLang="zh-CN" b="1" dirty="0"/>
              <a:t>  switch (score)</a:t>
            </a:r>
          </a:p>
          <a:p>
            <a:r>
              <a:rPr lang="en-US" altLang="zh-CN" b="1" dirty="0"/>
              <a:t>  {</a:t>
            </a:r>
          </a:p>
          <a:p>
            <a:r>
              <a:rPr lang="en-US" altLang="zh-CN" b="1" dirty="0"/>
              <a:t>    case  score &gt;= 90 :                            </a:t>
            </a:r>
            <a:r>
              <a:rPr lang="en-US" altLang="zh-CN" b="1" dirty="0" err="1"/>
              <a:t>printf</a:t>
            </a:r>
            <a:r>
              <a:rPr lang="en-US" altLang="zh-CN" b="1" dirty="0"/>
              <a:t> ("A");  break;</a:t>
            </a:r>
          </a:p>
          <a:p>
            <a:r>
              <a:rPr lang="en-US" altLang="zh-CN" b="1" dirty="0"/>
              <a:t>    case  score &gt;= 80 &amp;&amp; score &lt; 90 :</a:t>
            </a:r>
            <a:r>
              <a:rPr lang="en-US" altLang="zh-CN" dirty="0"/>
              <a:t>  </a:t>
            </a:r>
            <a:r>
              <a:rPr lang="en-US" altLang="zh-CN" b="1" dirty="0" err="1"/>
              <a:t>printf</a:t>
            </a:r>
            <a:r>
              <a:rPr lang="en-US" altLang="zh-CN" b="1" dirty="0"/>
              <a:t> ("B");  break;</a:t>
            </a:r>
          </a:p>
          <a:p>
            <a:r>
              <a:rPr lang="en-US" altLang="zh-CN" b="1" dirty="0"/>
              <a:t>    case  score &gt;= 70 &amp;&amp; score &lt; 80 :</a:t>
            </a:r>
            <a:r>
              <a:rPr lang="en-US" altLang="zh-CN" dirty="0"/>
              <a:t>  </a:t>
            </a:r>
            <a:r>
              <a:rPr lang="en-US" altLang="zh-CN" b="1" dirty="0" err="1"/>
              <a:t>printf</a:t>
            </a:r>
            <a:r>
              <a:rPr lang="en-US" altLang="zh-CN" b="1" dirty="0"/>
              <a:t> ("C");  break;</a:t>
            </a:r>
          </a:p>
          <a:p>
            <a:r>
              <a:rPr lang="en-US" altLang="zh-CN" b="1" dirty="0"/>
              <a:t>    case  score &gt;= 60 &amp;&amp; score &lt; 70 :</a:t>
            </a:r>
            <a:r>
              <a:rPr lang="en-US" altLang="zh-CN" dirty="0"/>
              <a:t>  </a:t>
            </a:r>
            <a:r>
              <a:rPr lang="en-US" altLang="zh-CN" b="1" dirty="0" err="1"/>
              <a:t>printf</a:t>
            </a:r>
            <a:r>
              <a:rPr lang="en-US" altLang="zh-CN" b="1" dirty="0"/>
              <a:t> ("E");  break;</a:t>
            </a:r>
          </a:p>
          <a:p>
            <a:r>
              <a:rPr lang="en-US" altLang="zh-CN" b="1" dirty="0"/>
              <a:t>    default :                                            </a:t>
            </a:r>
            <a:r>
              <a:rPr lang="en-US" altLang="zh-CN" b="1" dirty="0" err="1"/>
              <a:t>printf</a:t>
            </a:r>
            <a:r>
              <a:rPr lang="en-US" altLang="zh-CN" b="1" dirty="0"/>
              <a:t> ("F");  break;</a:t>
            </a:r>
          </a:p>
          <a:p>
            <a:r>
              <a:rPr lang="en-US" altLang="zh-CN" b="1" dirty="0"/>
              <a:t>  }</a:t>
            </a:r>
          </a:p>
        </p:txBody>
      </p:sp>
      <p:sp>
        <p:nvSpPr>
          <p:cNvPr id="868366" name="Rectangle 14"/>
          <p:cNvSpPr>
            <a:spLocks noChangeArrowheads="1"/>
          </p:cNvSpPr>
          <p:nvPr/>
        </p:nvSpPr>
        <p:spPr bwMode="auto">
          <a:xfrm>
            <a:off x="2279921" y="4581921"/>
            <a:ext cx="3522668" cy="1439862"/>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868367" name="Group 15"/>
          <p:cNvGrpSpPr>
            <a:grpSpLocks/>
          </p:cNvGrpSpPr>
          <p:nvPr/>
        </p:nvGrpSpPr>
        <p:grpSpPr bwMode="auto">
          <a:xfrm>
            <a:off x="3935685" y="2565796"/>
            <a:ext cx="5400675" cy="2087562"/>
            <a:chOff x="2200" y="1661"/>
            <a:chExt cx="3402" cy="1315"/>
          </a:xfrm>
        </p:grpSpPr>
        <p:sp>
          <p:nvSpPr>
            <p:cNvPr id="868368" name="AutoShape 16"/>
            <p:cNvSpPr>
              <a:spLocks noChangeArrowheads="1"/>
            </p:cNvSpPr>
            <p:nvPr/>
          </p:nvSpPr>
          <p:spPr bwMode="auto">
            <a:xfrm>
              <a:off x="2789" y="1661"/>
              <a:ext cx="2813" cy="1179"/>
            </a:xfrm>
            <a:prstGeom prst="irregularSeal1">
              <a:avLst/>
            </a:prstGeom>
            <a:gradFill rotWithShape="1">
              <a:gsLst>
                <a:gs pos="0">
                  <a:srgbClr val="CFCFD1"/>
                </a:gs>
                <a:gs pos="100000">
                  <a:schemeClr val="bg1">
                    <a:lumMod val="95000"/>
                  </a:schemeClr>
                </a:gs>
              </a:gsLst>
              <a:lin ang="5400000" scaled="1"/>
            </a:gradFill>
            <a:ln w="28575">
              <a:solidFill>
                <a:srgbClr val="002060"/>
              </a:solidFill>
              <a:miter lim="800000"/>
              <a:headEnd/>
              <a:tailEnd/>
            </a:ln>
            <a:effectLst>
              <a:outerShdw blurRad="50800" dist="106680" dir="2700000" algn="tl" rotWithShape="0">
                <a:prstClr val="black">
                  <a:alpha val="43000"/>
                </a:prstClr>
              </a:outerShdw>
            </a:effectLst>
          </p:spPr>
          <p:txBody>
            <a:bodyPr wrap="none" anchor="ctr"/>
            <a:lstStyle/>
            <a:p>
              <a:pPr algn="ctr"/>
              <a:r>
                <a:rPr lang="en-US" altLang="zh-CN" b="1">
                  <a:solidFill>
                    <a:srgbClr val="C01920"/>
                  </a:solidFill>
                  <a:ea typeface="隶书" pitchFamily="49" charset="-122"/>
                </a:rPr>
                <a:t>case </a:t>
              </a:r>
              <a:r>
                <a:rPr lang="zh-CN" altLang="en-US" b="1">
                  <a:solidFill>
                    <a:srgbClr val="C01920"/>
                  </a:solidFill>
                  <a:ea typeface="隶书" pitchFamily="49" charset="-122"/>
                </a:rPr>
                <a:t>后面包含变量</a:t>
              </a:r>
              <a:endParaRPr lang="zh-CN" altLang="en-US" b="1">
                <a:solidFill>
                  <a:srgbClr val="C01920"/>
                </a:solidFill>
                <a:latin typeface="隶书" pitchFamily="49" charset="-122"/>
                <a:ea typeface="隶书" pitchFamily="49" charset="-122"/>
              </a:endParaRPr>
            </a:p>
          </p:txBody>
        </p:sp>
        <p:sp>
          <p:nvSpPr>
            <p:cNvPr id="868369" name="Line 17"/>
            <p:cNvSpPr>
              <a:spLocks noChangeShapeType="1"/>
            </p:cNvSpPr>
            <p:nvPr/>
          </p:nvSpPr>
          <p:spPr bwMode="auto">
            <a:xfrm flipV="1">
              <a:off x="2200" y="2432"/>
              <a:ext cx="998" cy="544"/>
            </a:xfrm>
            <a:prstGeom prst="line">
              <a:avLst/>
            </a:prstGeom>
            <a:noFill/>
            <a:ln w="28575">
              <a:solidFill>
                <a:srgbClr val="C01920"/>
              </a:solidFill>
              <a:round/>
              <a:headEnd/>
              <a:tailEnd/>
            </a:ln>
            <a:effectLst>
              <a:outerShdw blurRad="50800" dist="38100" dir="2700000" algn="tl" rotWithShape="0">
                <a:prstClr val="black">
                  <a:alpha val="40000"/>
                </a:prstClr>
              </a:outerShdw>
            </a:effectLst>
          </p:spPr>
          <p:txBody>
            <a:bodyPr/>
            <a:lstStyle/>
            <a:p>
              <a:endParaRPr lang="zh-CN" altLang="en-US"/>
            </a:p>
          </p:txBody>
        </p:sp>
      </p:grpSp>
      <p:grpSp>
        <p:nvGrpSpPr>
          <p:cNvPr id="868370" name="Group 18"/>
          <p:cNvGrpSpPr>
            <a:grpSpLocks/>
          </p:cNvGrpSpPr>
          <p:nvPr/>
        </p:nvGrpSpPr>
        <p:grpSpPr bwMode="auto">
          <a:xfrm>
            <a:off x="4583384" y="4653358"/>
            <a:ext cx="381000" cy="381000"/>
            <a:chOff x="4344" y="3540"/>
            <a:chExt cx="240" cy="240"/>
          </a:xfrm>
        </p:grpSpPr>
        <p:sp>
          <p:nvSpPr>
            <p:cNvPr id="868371" name="Line 19"/>
            <p:cNvSpPr>
              <a:spLocks noChangeShapeType="1"/>
            </p:cNvSpPr>
            <p:nvPr/>
          </p:nvSpPr>
          <p:spPr bwMode="auto">
            <a:xfrm flipH="1">
              <a:off x="4344" y="3540"/>
              <a:ext cx="240" cy="240"/>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sp>
          <p:nvSpPr>
            <p:cNvPr id="868372" name="Line 20"/>
            <p:cNvSpPr>
              <a:spLocks noChangeShapeType="1"/>
            </p:cNvSpPr>
            <p:nvPr/>
          </p:nvSpPr>
          <p:spPr bwMode="auto">
            <a:xfrm>
              <a:off x="4356" y="3540"/>
              <a:ext cx="228" cy="216"/>
            </a:xfrm>
            <a:prstGeom prst="line">
              <a:avLst/>
            </a:prstGeom>
            <a:noFill/>
            <a:ln w="38100">
              <a:solidFill>
                <a:srgbClr val="C01920"/>
              </a:solidFill>
              <a:round/>
              <a:headEnd/>
              <a:tailEnd/>
            </a:ln>
            <a:effectLst>
              <a:outerShdw dist="35921" dir="2700000" algn="ctr" rotWithShape="0">
                <a:schemeClr val="bg2">
                  <a:alpha val="50000"/>
                </a:schemeClr>
              </a:outerShdw>
            </a:effectLst>
          </p:spPr>
          <p:txBody>
            <a:bodyPr wrap="none" lIns="90000" tIns="46800" rIns="90000" bIns="46800" anchor="ctr"/>
            <a:lstStyle/>
            <a:p>
              <a:endParaRPr lang="zh-CN" altLang="en-US"/>
            </a:p>
          </p:txBody>
        </p:sp>
      </p:grpSp>
      <p:sp>
        <p:nvSpPr>
          <p:cNvPr id="16" name="Rectangle 2">
            <a:extLst>
              <a:ext uri="{FF2B5EF4-FFF2-40B4-BE49-F238E27FC236}">
                <a16:creationId xmlns:a16="http://schemas.microsoft.com/office/drawing/2014/main" id="{9BF7B32B-4DF3-4C53-9434-36C697BE43E8}"/>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17" name="Rectangle 45">
            <a:extLst>
              <a:ext uri="{FF2B5EF4-FFF2-40B4-BE49-F238E27FC236}">
                <a16:creationId xmlns:a16="http://schemas.microsoft.com/office/drawing/2014/main" id="{F4FD40D5-8258-430C-9CA8-AF5051759AA5}"/>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8" name="Rectangle 4">
            <a:extLst>
              <a:ext uri="{FF2B5EF4-FFF2-40B4-BE49-F238E27FC236}">
                <a16:creationId xmlns:a16="http://schemas.microsoft.com/office/drawing/2014/main" id="{CBC0FD46-36FE-4B4A-AF28-7DD741D9FB7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68359">
                                            <p:txEl>
                                              <p:pRg st="0" end="0"/>
                                            </p:txEl>
                                          </p:spTgt>
                                        </p:tgtEl>
                                        <p:attrNameLst>
                                          <p:attrName>style.visibility</p:attrName>
                                        </p:attrNameLst>
                                      </p:cBhvr>
                                      <p:to>
                                        <p:strVal val="visible"/>
                                      </p:to>
                                    </p:set>
                                    <p:animEffect transition="in" filter="box(out)">
                                      <p:cBhvr>
                                        <p:cTn id="13" dur="500"/>
                                        <p:tgtEl>
                                          <p:spTgt spid="868359">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68360"/>
                                        </p:tgtEl>
                                        <p:attrNameLst>
                                          <p:attrName>style.visibility</p:attrName>
                                        </p:attrNameLst>
                                      </p:cBhvr>
                                      <p:to>
                                        <p:strVal val="visible"/>
                                      </p:to>
                                    </p:set>
                                    <p:animEffect transition="in" filter="box(out)">
                                      <p:cBhvr>
                                        <p:cTn id="18" dur="500"/>
                                        <p:tgtEl>
                                          <p:spTgt spid="86836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868370"/>
                                        </p:tgtEl>
                                        <p:attrNameLst>
                                          <p:attrName>style.visibility</p:attrName>
                                        </p:attrNameLst>
                                      </p:cBhvr>
                                      <p:to>
                                        <p:strVal val="visible"/>
                                      </p:to>
                                    </p:set>
                                    <p:animEffect transition="in" filter="box(out)">
                                      <p:cBhvr>
                                        <p:cTn id="23" dur="500"/>
                                        <p:tgtEl>
                                          <p:spTgt spid="86837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868366"/>
                                        </p:tgtEl>
                                        <p:attrNameLst>
                                          <p:attrName>style.visibility</p:attrName>
                                        </p:attrNameLst>
                                      </p:cBhvr>
                                      <p:to>
                                        <p:strVal val="visible"/>
                                      </p:to>
                                    </p:set>
                                    <p:animEffect transition="in" filter="strips(downRight)">
                                      <p:cBhvr>
                                        <p:cTn id="28" dur="500"/>
                                        <p:tgtEl>
                                          <p:spTgt spid="868366"/>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18" presetClass="entr" presetSubtype="6" fill="hold" nodeType="afterEffect">
                                  <p:stCondLst>
                                    <p:cond delay="0"/>
                                  </p:stCondLst>
                                  <p:childTnLst>
                                    <p:set>
                                      <p:cBhvr>
                                        <p:cTn id="31" dur="1" fill="hold">
                                          <p:stCondLst>
                                            <p:cond delay="0"/>
                                          </p:stCondLst>
                                        </p:cTn>
                                        <p:tgtEl>
                                          <p:spTgt spid="868367"/>
                                        </p:tgtEl>
                                        <p:attrNameLst>
                                          <p:attrName>style.visibility</p:attrName>
                                        </p:attrNameLst>
                                      </p:cBhvr>
                                      <p:to>
                                        <p:strVal val="visible"/>
                                      </p:to>
                                    </p:set>
                                    <p:animEffect transition="in" filter="strips(downRight)">
                                      <p:cBhvr>
                                        <p:cTn id="32" dur="500"/>
                                        <p:tgtEl>
                                          <p:spTgt spid="868367"/>
                                        </p:tgtEl>
                                      </p:cBhvr>
                                    </p:animEffect>
                                  </p:childTnLst>
                                  <p:subTnLst>
                                    <p:audio>
                                      <p:cMediaNode>
                                        <p:cTn display="0" masterRel="sameClick">
                                          <p:stCondLst>
                                            <p:cond evt="begin" delay="0">
                                              <p:tn val="30"/>
                                            </p:cond>
                                          </p:stCondLst>
                                          <p:endCondLst>
                                            <p:cond evt="onStopAudio" delay="0">
                                              <p:tgtEl>
                                                <p:sldTgt/>
                                              </p:tgtEl>
                                            </p:cond>
                                          </p:endCondLst>
                                        </p:cTn>
                                        <p:tgtEl>
                                          <p:sndTgt r:embed="rId5" name="bomb.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0" grpId="0" animBg="1" autoUpdateAnimBg="0"/>
      <p:bldP spid="868366" grpId="0" animBg="1"/>
      <p:bldP spid="16"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3" name="Rectangle 3"/>
          <p:cNvSpPr>
            <a:spLocks noChangeArrowheads="1"/>
          </p:cNvSpPr>
          <p:nvPr/>
        </p:nvSpPr>
        <p:spPr bwMode="auto">
          <a:xfrm>
            <a:off x="655025" y="5948546"/>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0407" name="Rectangle 7"/>
          <p:cNvSpPr>
            <a:spLocks noChangeArrowheads="1"/>
          </p:cNvSpPr>
          <p:nvPr/>
        </p:nvSpPr>
        <p:spPr bwMode="auto">
          <a:xfrm>
            <a:off x="823513" y="1796623"/>
            <a:ext cx="11077686" cy="1200329"/>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(5) case</a:t>
            </a:r>
            <a:r>
              <a:rPr lang="zh-CN" altLang="en-US" b="1" dirty="0">
                <a:effectLst>
                  <a:outerShdw blurRad="38100" dist="38100" dir="2700000" algn="tl">
                    <a:srgbClr val="FFFFFF"/>
                  </a:outerShdw>
                </a:effectLst>
                <a:latin typeface="+mn-lt"/>
                <a:ea typeface="楷体" pitchFamily="49" charset="-122"/>
              </a:rPr>
              <a:t>后面的“常量表达式”仅起语句标号作用，并不进行条件判断。系统一旦找到入口标号，就从此标号开始执行，不再进行标号判断，所以必须加上</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语句，以便结束</a:t>
            </a:r>
            <a:r>
              <a:rPr lang="en-US" altLang="zh-CN" b="1" dirty="0">
                <a:effectLst>
                  <a:outerShdw blurRad="38100" dist="38100" dir="2700000" algn="tl">
                    <a:srgbClr val="FFFFFF"/>
                  </a:outerShdw>
                </a:effectLst>
                <a:latin typeface="+mn-lt"/>
                <a:ea typeface="楷体" pitchFamily="49" charset="-122"/>
              </a:rPr>
              <a:t>switch</a:t>
            </a:r>
            <a:r>
              <a:rPr lang="zh-CN" altLang="en-US" b="1" dirty="0">
                <a:effectLst>
                  <a:outerShdw blurRad="38100" dist="38100" dir="2700000" algn="tl">
                    <a:srgbClr val="FFFFFF"/>
                  </a:outerShdw>
                </a:effectLst>
                <a:latin typeface="+mn-lt"/>
                <a:ea typeface="楷体" pitchFamily="49" charset="-122"/>
              </a:rPr>
              <a:t>语句。</a:t>
            </a:r>
            <a:r>
              <a:rPr lang="zh-CN" altLang="en-US" dirty="0">
                <a:latin typeface="+mn-lt"/>
                <a:ea typeface="楷体" pitchFamily="49" charset="-122"/>
              </a:rPr>
              <a:t> </a:t>
            </a:r>
          </a:p>
        </p:txBody>
      </p:sp>
      <p:sp>
        <p:nvSpPr>
          <p:cNvPr id="870408" name="Text Box 8" descr="信纸"/>
          <p:cNvSpPr txBox="1">
            <a:spLocks noChangeArrowheads="1"/>
          </p:cNvSpPr>
          <p:nvPr/>
        </p:nvSpPr>
        <p:spPr bwMode="auto">
          <a:xfrm>
            <a:off x="905889" y="2192942"/>
            <a:ext cx="4681537" cy="4464941"/>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solidFill>
                  <a:srgbClr val="FF33CC"/>
                </a:solidFill>
                <a:latin typeface="隶书" pitchFamily="49" charset="-122"/>
                <a:ea typeface="隶书" pitchFamily="49" charset="-122"/>
              </a:rPr>
              <a:t> </a:t>
            </a:r>
            <a:r>
              <a:rPr lang="en-US" altLang="zh-CN" sz="2000" b="1" dirty="0"/>
              <a:t>#include &lt;</a:t>
            </a:r>
            <a:r>
              <a:rPr lang="en-US" altLang="zh-CN" sz="2000" b="1" dirty="0" err="1"/>
              <a:t>stdio.h</a:t>
            </a:r>
            <a:r>
              <a:rPr lang="en-US" altLang="zh-CN" sz="2000" b="1" dirty="0"/>
              <a:t>&gt;</a:t>
            </a:r>
          </a:p>
          <a:p>
            <a:r>
              <a:rPr lang="en-US" altLang="zh-CN" sz="2000" b="1" dirty="0">
                <a:solidFill>
                  <a:srgbClr val="CC3300"/>
                </a:solidFill>
              </a:rPr>
              <a:t>  </a:t>
            </a:r>
            <a:r>
              <a:rPr lang="en-US" altLang="zh-CN" sz="2000" b="1" dirty="0" err="1">
                <a:solidFill>
                  <a:srgbClr val="CC3300"/>
                </a:solidFill>
              </a:rPr>
              <a:t>int</a:t>
            </a:r>
            <a:r>
              <a:rPr lang="en-US" altLang="zh-CN" sz="2000" b="1" dirty="0">
                <a:solidFill>
                  <a:srgbClr val="CC3300"/>
                </a:solidFill>
              </a:rPr>
              <a:t> main ( )</a:t>
            </a:r>
          </a:p>
          <a:p>
            <a:r>
              <a:rPr lang="en-US" altLang="zh-CN" sz="2000" b="1" dirty="0"/>
              <a:t>  {</a:t>
            </a:r>
          </a:p>
          <a:p>
            <a:r>
              <a:rPr lang="en-US" altLang="zh-CN" sz="2000" b="1" dirty="0"/>
              <a:t>     char  </a:t>
            </a:r>
            <a:r>
              <a:rPr lang="en-US" altLang="zh-CN" sz="2000" b="1" dirty="0" err="1"/>
              <a:t>ch</a:t>
            </a:r>
            <a:r>
              <a:rPr lang="en-US" altLang="zh-CN" sz="2000" b="1" dirty="0"/>
              <a:t>;</a:t>
            </a:r>
          </a:p>
          <a:p>
            <a:r>
              <a:rPr lang="en-US" altLang="zh-CN" sz="2000" b="1" dirty="0"/>
              <a:t>     </a:t>
            </a:r>
            <a:r>
              <a:rPr lang="en-US" altLang="zh-CN" sz="2000" b="1" dirty="0" err="1"/>
              <a:t>ch</a:t>
            </a:r>
            <a:r>
              <a:rPr lang="en-US" altLang="zh-CN" sz="2000" b="1" dirty="0"/>
              <a:t> = </a:t>
            </a:r>
            <a:r>
              <a:rPr lang="en-US" altLang="zh-CN" sz="2000" b="1" dirty="0" err="1"/>
              <a:t>getch</a:t>
            </a:r>
            <a:r>
              <a:rPr lang="en-US" altLang="zh-CN" sz="2000" b="1" dirty="0"/>
              <a:t> ( ); </a:t>
            </a:r>
          </a:p>
          <a:p>
            <a:r>
              <a:rPr lang="en-US" altLang="zh-CN" sz="2000" b="1" dirty="0"/>
              <a:t>     switch ( </a:t>
            </a:r>
            <a:r>
              <a:rPr lang="en-US" altLang="zh-CN" sz="2000" b="1" dirty="0" err="1"/>
              <a:t>ch</a:t>
            </a:r>
            <a:r>
              <a:rPr lang="en-US" altLang="zh-CN" sz="2000" b="1" dirty="0"/>
              <a:t> )</a:t>
            </a:r>
          </a:p>
          <a:p>
            <a:r>
              <a:rPr lang="en-US" altLang="zh-CN" sz="2000" b="1" dirty="0"/>
              <a:t>     {</a:t>
            </a:r>
          </a:p>
          <a:p>
            <a:r>
              <a:rPr lang="en-US" altLang="zh-CN" sz="2000" b="1" dirty="0"/>
              <a:t>        case 'Y' :  </a:t>
            </a:r>
            <a:r>
              <a:rPr lang="en-US" altLang="zh-CN" sz="2000" b="1" dirty="0" err="1"/>
              <a:t>printf</a:t>
            </a:r>
            <a:r>
              <a:rPr lang="en-US" altLang="zh-CN" sz="2000" b="1" dirty="0"/>
              <a:t> ("Yes\n");  break;</a:t>
            </a:r>
          </a:p>
          <a:p>
            <a:r>
              <a:rPr lang="en-US" altLang="zh-CN" sz="2000" b="1" dirty="0"/>
              <a:t>        case 'N' :  </a:t>
            </a:r>
            <a:r>
              <a:rPr lang="en-US" altLang="zh-CN" sz="2000" b="1" dirty="0" err="1"/>
              <a:t>printf</a:t>
            </a:r>
            <a:r>
              <a:rPr lang="en-US" altLang="zh-CN" sz="2000" b="1" dirty="0"/>
              <a:t> ("No\n");  break;</a:t>
            </a:r>
          </a:p>
          <a:p>
            <a:r>
              <a:rPr lang="en-US" altLang="zh-CN" sz="2000" b="1" dirty="0"/>
              <a:t>        case 'A' :  </a:t>
            </a:r>
            <a:r>
              <a:rPr lang="en-US" altLang="zh-CN" sz="2000" b="1" dirty="0" err="1"/>
              <a:t>printf</a:t>
            </a:r>
            <a:r>
              <a:rPr lang="en-US" altLang="zh-CN" sz="2000" b="1" dirty="0"/>
              <a:t> ("All\n");  break;</a:t>
            </a:r>
          </a:p>
          <a:p>
            <a:r>
              <a:rPr lang="en-US" altLang="zh-CN" sz="2000" b="1" dirty="0"/>
              <a:t>        default  :  </a:t>
            </a:r>
            <a:r>
              <a:rPr lang="en-US" altLang="zh-CN" sz="2000" b="1" dirty="0" err="1"/>
              <a:t>printf</a:t>
            </a:r>
            <a:r>
              <a:rPr lang="en-US" altLang="zh-CN" sz="2000" b="1" dirty="0"/>
              <a:t> ("</a:t>
            </a:r>
            <a:r>
              <a:rPr lang="en-US" altLang="zh-CN" sz="2000" b="1" dirty="0" err="1"/>
              <a:t>Yes,No</a:t>
            </a:r>
            <a:r>
              <a:rPr lang="en-US" altLang="zh-CN" sz="2000" b="1" dirty="0"/>
              <a:t> or All\n"); </a:t>
            </a:r>
          </a:p>
          <a:p>
            <a:r>
              <a:rPr lang="en-US" altLang="zh-CN" sz="2000" b="1" dirty="0"/>
              <a:t>     }</a:t>
            </a:r>
          </a:p>
          <a:p>
            <a:r>
              <a:rPr lang="en-US" altLang="zh-CN" sz="2000" b="1" dirty="0"/>
              <a:t>     return 0;</a:t>
            </a:r>
          </a:p>
          <a:p>
            <a:r>
              <a:rPr lang="en-US" altLang="zh-CN" sz="2000" b="1" dirty="0"/>
              <a:t>  }</a:t>
            </a:r>
          </a:p>
        </p:txBody>
      </p:sp>
      <p:sp>
        <p:nvSpPr>
          <p:cNvPr id="870416" name="Rectangle 16"/>
          <p:cNvSpPr>
            <a:spLocks noChangeArrowheads="1"/>
          </p:cNvSpPr>
          <p:nvPr/>
        </p:nvSpPr>
        <p:spPr bwMode="auto">
          <a:xfrm>
            <a:off x="3907607" y="2372221"/>
            <a:ext cx="1475084" cy="707886"/>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1920"/>
                </a:solidFill>
                <a:latin typeface="隶书" pitchFamily="49" charset="-122"/>
                <a:ea typeface="隶书" pitchFamily="49" charset="-122"/>
              </a:rPr>
              <a:t>运行结果：</a:t>
            </a:r>
          </a:p>
          <a:p>
            <a:r>
              <a:rPr lang="zh-CN" altLang="en-US" sz="2000" dirty="0">
                <a:solidFill>
                  <a:srgbClr val="002060"/>
                </a:solidFill>
              </a:rPr>
              <a:t>    </a:t>
            </a:r>
            <a:r>
              <a:rPr lang="en-US" altLang="zh-CN" sz="2000" b="1" dirty="0">
                <a:solidFill>
                  <a:srgbClr val="002060"/>
                </a:solidFill>
              </a:rPr>
              <a:t>No</a:t>
            </a:r>
          </a:p>
        </p:txBody>
      </p:sp>
      <p:sp>
        <p:nvSpPr>
          <p:cNvPr id="870417" name="Line 17"/>
          <p:cNvSpPr>
            <a:spLocks noChangeShapeType="1"/>
          </p:cNvSpPr>
          <p:nvPr/>
        </p:nvSpPr>
        <p:spPr bwMode="auto">
          <a:xfrm>
            <a:off x="978914" y="4929791"/>
            <a:ext cx="358775" cy="0"/>
          </a:xfrm>
          <a:prstGeom prst="line">
            <a:avLst/>
          </a:prstGeom>
          <a:noFill/>
          <a:ln w="28575">
            <a:solidFill>
              <a:srgbClr val="C01920"/>
            </a:solidFill>
            <a:round/>
            <a:headEnd/>
            <a:tailEnd type="stealth" w="lg" len="lg"/>
          </a:ln>
          <a:effectLst>
            <a:outerShdw blurRad="50800" dist="38100" dir="13500000" algn="br" rotWithShape="0">
              <a:prstClr val="black">
                <a:alpha val="40000"/>
              </a:prstClr>
            </a:outerShdw>
          </a:effectLst>
        </p:spPr>
        <p:txBody>
          <a:bodyPr/>
          <a:lstStyle/>
          <a:p>
            <a:endParaRPr lang="zh-CN" altLang="en-US"/>
          </a:p>
        </p:txBody>
      </p:sp>
      <p:grpSp>
        <p:nvGrpSpPr>
          <p:cNvPr id="870423" name="Group 23"/>
          <p:cNvGrpSpPr>
            <a:grpSpLocks/>
          </p:cNvGrpSpPr>
          <p:nvPr/>
        </p:nvGrpSpPr>
        <p:grpSpPr bwMode="auto">
          <a:xfrm>
            <a:off x="2230815" y="4929792"/>
            <a:ext cx="3222644" cy="1223963"/>
            <a:chOff x="610" y="3158"/>
            <a:chExt cx="2641" cy="771"/>
          </a:xfrm>
          <a:effectLst>
            <a:outerShdw blurRad="50800" dist="38100" dir="13500000" algn="br" rotWithShape="0">
              <a:prstClr val="black">
                <a:alpha val="40000"/>
              </a:prstClr>
            </a:outerShdw>
          </a:effectLst>
        </p:grpSpPr>
        <p:sp>
          <p:nvSpPr>
            <p:cNvPr id="870420" name="Line 20"/>
            <p:cNvSpPr>
              <a:spLocks noChangeShapeType="1"/>
            </p:cNvSpPr>
            <p:nvPr/>
          </p:nvSpPr>
          <p:spPr bwMode="auto">
            <a:xfrm>
              <a:off x="3113" y="3163"/>
              <a:ext cx="136" cy="0"/>
            </a:xfrm>
            <a:prstGeom prst="line">
              <a:avLst/>
            </a:prstGeom>
            <a:noFill/>
            <a:ln w="28575">
              <a:solidFill>
                <a:srgbClr val="C01920"/>
              </a:solidFill>
              <a:round/>
              <a:headEnd/>
              <a:tailEnd/>
            </a:ln>
            <a:effectLst/>
          </p:spPr>
          <p:txBody>
            <a:bodyPr/>
            <a:lstStyle/>
            <a:p>
              <a:endParaRPr lang="zh-CN" altLang="en-US"/>
            </a:p>
          </p:txBody>
        </p:sp>
        <p:sp>
          <p:nvSpPr>
            <p:cNvPr id="870421" name="Line 21"/>
            <p:cNvSpPr>
              <a:spLocks noChangeShapeType="1"/>
            </p:cNvSpPr>
            <p:nvPr/>
          </p:nvSpPr>
          <p:spPr bwMode="auto">
            <a:xfrm>
              <a:off x="3243" y="3158"/>
              <a:ext cx="0" cy="771"/>
            </a:xfrm>
            <a:prstGeom prst="line">
              <a:avLst/>
            </a:prstGeom>
            <a:noFill/>
            <a:ln w="28575">
              <a:solidFill>
                <a:srgbClr val="C01920"/>
              </a:solidFill>
              <a:round/>
              <a:headEnd/>
              <a:tailEnd/>
            </a:ln>
            <a:effectLst/>
          </p:spPr>
          <p:txBody>
            <a:bodyPr/>
            <a:lstStyle/>
            <a:p>
              <a:endParaRPr lang="zh-CN" altLang="en-US"/>
            </a:p>
          </p:txBody>
        </p:sp>
        <p:sp>
          <p:nvSpPr>
            <p:cNvPr id="870422" name="Line 22"/>
            <p:cNvSpPr>
              <a:spLocks noChangeShapeType="1"/>
            </p:cNvSpPr>
            <p:nvPr/>
          </p:nvSpPr>
          <p:spPr bwMode="auto">
            <a:xfrm flipH="1">
              <a:off x="610" y="3929"/>
              <a:ext cx="2641" cy="0"/>
            </a:xfrm>
            <a:prstGeom prst="line">
              <a:avLst/>
            </a:prstGeom>
            <a:noFill/>
            <a:ln w="28575">
              <a:solidFill>
                <a:srgbClr val="C01920"/>
              </a:solidFill>
              <a:round/>
              <a:headEnd/>
              <a:tailEnd type="stealth" w="lg" len="lg"/>
            </a:ln>
            <a:effectLst/>
          </p:spPr>
          <p:txBody>
            <a:bodyPr/>
            <a:lstStyle/>
            <a:p>
              <a:endParaRPr lang="zh-CN" altLang="en-US"/>
            </a:p>
          </p:txBody>
        </p:sp>
      </p:grpSp>
      <p:sp>
        <p:nvSpPr>
          <p:cNvPr id="870424" name="Text Box 24"/>
          <p:cNvSpPr txBox="1">
            <a:spLocks noChangeArrowheads="1"/>
          </p:cNvSpPr>
          <p:nvPr/>
        </p:nvSpPr>
        <p:spPr bwMode="auto">
          <a:xfrm>
            <a:off x="2850575" y="3489930"/>
            <a:ext cx="2592388" cy="396875"/>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假设输入为：</a:t>
            </a:r>
            <a:r>
              <a:rPr lang="en-US" altLang="zh-CN" sz="2000" b="1" dirty="0">
                <a:solidFill>
                  <a:srgbClr val="C01920"/>
                </a:solidFill>
                <a:latin typeface="+mn-lt"/>
                <a:ea typeface="楷体" pitchFamily="49" charset="-122"/>
              </a:rPr>
              <a:t>N</a:t>
            </a:r>
          </a:p>
        </p:txBody>
      </p:sp>
      <p:sp>
        <p:nvSpPr>
          <p:cNvPr id="870425" name="Text Box 25" descr="信纸"/>
          <p:cNvSpPr txBox="1">
            <a:spLocks noChangeArrowheads="1"/>
          </p:cNvSpPr>
          <p:nvPr/>
        </p:nvSpPr>
        <p:spPr bwMode="auto">
          <a:xfrm>
            <a:off x="6306488" y="2215520"/>
            <a:ext cx="4681538" cy="4464941"/>
          </a:xfrm>
          <a:prstGeom prst="rect">
            <a:avLst/>
          </a:prstGeom>
          <a:gradFill>
            <a:gsLst>
              <a:gs pos="0">
                <a:srgbClr val="CFCFD1"/>
              </a:gs>
              <a:gs pos="100000">
                <a:schemeClr val="bg1">
                  <a:lumMod val="95000"/>
                </a:schemeClr>
              </a:gs>
            </a:gsLst>
            <a:lin ang="5400000" scaled="1"/>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r>
              <a:rPr lang="en-US" altLang="zh-CN" b="1" dirty="0">
                <a:solidFill>
                  <a:srgbClr val="FF33CC"/>
                </a:solidFill>
                <a:latin typeface="隶书" pitchFamily="49" charset="-122"/>
                <a:ea typeface="隶书" pitchFamily="49" charset="-122"/>
              </a:rPr>
              <a:t> </a:t>
            </a:r>
            <a:r>
              <a:rPr lang="en-US" altLang="zh-CN" sz="2000" b="1" dirty="0"/>
              <a:t>#include &lt;</a:t>
            </a:r>
            <a:r>
              <a:rPr lang="en-US" altLang="zh-CN" sz="2000" b="1" dirty="0" err="1"/>
              <a:t>stdio.h</a:t>
            </a:r>
            <a:r>
              <a:rPr lang="en-US" altLang="zh-CN" sz="2000" b="1" dirty="0"/>
              <a:t>&gt;</a:t>
            </a:r>
          </a:p>
          <a:p>
            <a:r>
              <a:rPr lang="en-US" altLang="zh-CN" sz="2000" b="1" dirty="0">
                <a:solidFill>
                  <a:srgbClr val="CC3300"/>
                </a:solidFill>
              </a:rPr>
              <a:t>  </a:t>
            </a:r>
            <a:r>
              <a:rPr lang="en-US" altLang="zh-CN" sz="2000" b="1" dirty="0" err="1">
                <a:solidFill>
                  <a:srgbClr val="CC3300"/>
                </a:solidFill>
              </a:rPr>
              <a:t>int</a:t>
            </a:r>
            <a:r>
              <a:rPr lang="en-US" altLang="zh-CN" sz="2000" b="1" dirty="0">
                <a:solidFill>
                  <a:srgbClr val="CC3300"/>
                </a:solidFill>
              </a:rPr>
              <a:t> main ( )</a:t>
            </a:r>
          </a:p>
          <a:p>
            <a:r>
              <a:rPr lang="en-US" altLang="zh-CN" sz="2000" b="1" dirty="0"/>
              <a:t>  {</a:t>
            </a:r>
          </a:p>
          <a:p>
            <a:r>
              <a:rPr lang="en-US" altLang="zh-CN" sz="2000" b="1" dirty="0"/>
              <a:t>     char  </a:t>
            </a:r>
            <a:r>
              <a:rPr lang="en-US" altLang="zh-CN" sz="2000" b="1" dirty="0" err="1"/>
              <a:t>ch</a:t>
            </a:r>
            <a:r>
              <a:rPr lang="en-US" altLang="zh-CN" sz="2000" b="1" dirty="0"/>
              <a:t>;</a:t>
            </a:r>
          </a:p>
          <a:p>
            <a:r>
              <a:rPr lang="en-US" altLang="zh-CN" sz="2000" b="1" dirty="0"/>
              <a:t>     </a:t>
            </a:r>
            <a:r>
              <a:rPr lang="en-US" altLang="zh-CN" sz="2000" b="1" dirty="0" err="1"/>
              <a:t>ch</a:t>
            </a:r>
            <a:r>
              <a:rPr lang="en-US" altLang="zh-CN" sz="2000" b="1" dirty="0"/>
              <a:t> = </a:t>
            </a:r>
            <a:r>
              <a:rPr lang="en-US" altLang="zh-CN" sz="2000" b="1" dirty="0" err="1"/>
              <a:t>getch</a:t>
            </a:r>
            <a:r>
              <a:rPr lang="en-US" altLang="zh-CN" sz="2000" b="1" dirty="0"/>
              <a:t> ( ); </a:t>
            </a:r>
          </a:p>
          <a:p>
            <a:r>
              <a:rPr lang="en-US" altLang="zh-CN" sz="2000" b="1" dirty="0"/>
              <a:t>     switch ( </a:t>
            </a:r>
            <a:r>
              <a:rPr lang="en-US" altLang="zh-CN" sz="2000" b="1" dirty="0" err="1"/>
              <a:t>ch</a:t>
            </a:r>
            <a:r>
              <a:rPr lang="en-US" altLang="zh-CN" sz="2000" b="1" dirty="0"/>
              <a:t> )</a:t>
            </a:r>
          </a:p>
          <a:p>
            <a:r>
              <a:rPr lang="en-US" altLang="zh-CN" sz="2000" b="1" dirty="0"/>
              <a:t>     {</a:t>
            </a:r>
          </a:p>
          <a:p>
            <a:r>
              <a:rPr lang="en-US" altLang="zh-CN" sz="2000" b="1" dirty="0"/>
              <a:t>        case 'Y' :  </a:t>
            </a:r>
            <a:r>
              <a:rPr lang="en-US" altLang="zh-CN" sz="2000" b="1" dirty="0" err="1"/>
              <a:t>printf</a:t>
            </a:r>
            <a:r>
              <a:rPr lang="en-US" altLang="zh-CN" sz="2000" b="1" dirty="0"/>
              <a:t> ("Yes\n");  break;</a:t>
            </a:r>
          </a:p>
          <a:p>
            <a:r>
              <a:rPr lang="en-US" altLang="zh-CN" sz="2000" b="1" dirty="0"/>
              <a:t>        case 'N' :  </a:t>
            </a:r>
            <a:r>
              <a:rPr lang="en-US" altLang="zh-CN" sz="2000" b="1" dirty="0" err="1"/>
              <a:t>printf</a:t>
            </a:r>
            <a:r>
              <a:rPr lang="en-US" altLang="zh-CN" sz="2000" b="1" dirty="0"/>
              <a:t> ("No\n");  </a:t>
            </a:r>
          </a:p>
          <a:p>
            <a:r>
              <a:rPr lang="en-US" altLang="zh-CN" sz="2000" b="1" dirty="0"/>
              <a:t>        case 'A' :  </a:t>
            </a:r>
            <a:r>
              <a:rPr lang="en-US" altLang="zh-CN" sz="2000" b="1" dirty="0" err="1"/>
              <a:t>printf</a:t>
            </a:r>
            <a:r>
              <a:rPr lang="en-US" altLang="zh-CN" sz="2000" b="1" dirty="0"/>
              <a:t> ("All\n");  break;</a:t>
            </a:r>
          </a:p>
          <a:p>
            <a:r>
              <a:rPr lang="en-US" altLang="zh-CN" sz="2000" b="1" dirty="0"/>
              <a:t>        default  :  </a:t>
            </a:r>
            <a:r>
              <a:rPr lang="en-US" altLang="zh-CN" sz="2000" b="1" dirty="0" err="1"/>
              <a:t>printf</a:t>
            </a:r>
            <a:r>
              <a:rPr lang="en-US" altLang="zh-CN" sz="2000" b="1" dirty="0"/>
              <a:t> ("</a:t>
            </a:r>
            <a:r>
              <a:rPr lang="en-US" altLang="zh-CN" sz="2000" b="1" dirty="0" err="1"/>
              <a:t>Yes,No</a:t>
            </a:r>
            <a:r>
              <a:rPr lang="en-US" altLang="zh-CN" sz="2000" b="1" dirty="0"/>
              <a:t> or All\n"); </a:t>
            </a:r>
          </a:p>
          <a:p>
            <a:r>
              <a:rPr lang="en-US" altLang="zh-CN" sz="2000" b="1" dirty="0"/>
              <a:t>     }</a:t>
            </a:r>
          </a:p>
          <a:p>
            <a:r>
              <a:rPr lang="en-US" altLang="zh-CN" sz="2000" b="1" dirty="0"/>
              <a:t>     return 0;</a:t>
            </a:r>
          </a:p>
          <a:p>
            <a:r>
              <a:rPr lang="en-US" altLang="zh-CN" sz="2000" b="1" dirty="0"/>
              <a:t>  }</a:t>
            </a:r>
          </a:p>
        </p:txBody>
      </p:sp>
      <p:sp>
        <p:nvSpPr>
          <p:cNvPr id="870426" name="Text Box 26"/>
          <p:cNvSpPr txBox="1">
            <a:spLocks noChangeArrowheads="1"/>
          </p:cNvSpPr>
          <p:nvPr/>
        </p:nvSpPr>
        <p:spPr bwMode="auto">
          <a:xfrm>
            <a:off x="8179615" y="3524259"/>
            <a:ext cx="2592387" cy="396875"/>
          </a:xfrm>
          <a:prstGeom prst="rect">
            <a:avLst/>
          </a:prstGeom>
          <a:noFill/>
          <a:ln w="9525">
            <a:noFill/>
            <a:miter lim="800000"/>
            <a:headEnd/>
            <a:tailEnd/>
          </a:ln>
          <a:effectLst/>
        </p:spPr>
        <p:txBody>
          <a:bodyPr>
            <a:spAutoFit/>
          </a:bodyPr>
          <a:lstStyle/>
          <a:p>
            <a:pPr>
              <a:spcBef>
                <a:spcPct val="50000"/>
              </a:spcBef>
            </a:pP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假设输入为：</a:t>
            </a:r>
            <a:r>
              <a:rPr lang="en-US" altLang="zh-CN" sz="2000" b="1" dirty="0">
                <a:solidFill>
                  <a:srgbClr val="C01920"/>
                </a:solidFill>
                <a:latin typeface="+mn-lt"/>
                <a:ea typeface="楷体" pitchFamily="49" charset="-122"/>
              </a:rPr>
              <a:t>N</a:t>
            </a:r>
          </a:p>
        </p:txBody>
      </p:sp>
      <p:sp>
        <p:nvSpPr>
          <p:cNvPr id="870427" name="Line 27"/>
          <p:cNvSpPr>
            <a:spLocks noChangeShapeType="1"/>
          </p:cNvSpPr>
          <p:nvPr/>
        </p:nvSpPr>
        <p:spPr bwMode="auto">
          <a:xfrm>
            <a:off x="6416027" y="4939669"/>
            <a:ext cx="358775" cy="0"/>
          </a:xfrm>
          <a:prstGeom prst="line">
            <a:avLst/>
          </a:prstGeom>
          <a:noFill/>
          <a:ln w="28575">
            <a:solidFill>
              <a:srgbClr val="C01920"/>
            </a:solidFill>
            <a:round/>
            <a:headEnd/>
            <a:tailEnd type="stealth" w="lg" len="lg"/>
          </a:ln>
          <a:effectLst>
            <a:outerShdw blurRad="50800" dist="38100" dir="13500000" algn="br" rotWithShape="0">
              <a:prstClr val="black">
                <a:alpha val="40000"/>
              </a:prstClr>
            </a:outerShdw>
          </a:effectLst>
        </p:spPr>
        <p:txBody>
          <a:bodyPr/>
          <a:lstStyle/>
          <a:p>
            <a:endParaRPr lang="zh-CN" altLang="en-US"/>
          </a:p>
        </p:txBody>
      </p:sp>
      <p:grpSp>
        <p:nvGrpSpPr>
          <p:cNvPr id="870428" name="Group 28"/>
          <p:cNvGrpSpPr>
            <a:grpSpLocks/>
          </p:cNvGrpSpPr>
          <p:nvPr/>
        </p:nvGrpSpPr>
        <p:grpSpPr bwMode="auto">
          <a:xfrm>
            <a:off x="7592372" y="5239707"/>
            <a:ext cx="3267066" cy="936625"/>
            <a:chOff x="604" y="3158"/>
            <a:chExt cx="2641" cy="771"/>
          </a:xfrm>
          <a:effectLst>
            <a:outerShdw blurRad="50800" dist="38100" dir="13500000" algn="br" rotWithShape="0">
              <a:prstClr val="black">
                <a:alpha val="40000"/>
              </a:prstClr>
            </a:outerShdw>
          </a:effectLst>
        </p:grpSpPr>
        <p:sp>
          <p:nvSpPr>
            <p:cNvPr id="870429" name="Line 29"/>
            <p:cNvSpPr>
              <a:spLocks noChangeShapeType="1"/>
            </p:cNvSpPr>
            <p:nvPr/>
          </p:nvSpPr>
          <p:spPr bwMode="auto">
            <a:xfrm>
              <a:off x="3107" y="3161"/>
              <a:ext cx="136" cy="0"/>
            </a:xfrm>
            <a:prstGeom prst="line">
              <a:avLst/>
            </a:prstGeom>
            <a:noFill/>
            <a:ln w="28575">
              <a:solidFill>
                <a:srgbClr val="C01920"/>
              </a:solidFill>
              <a:round/>
              <a:headEnd/>
              <a:tailEnd/>
            </a:ln>
            <a:effectLst/>
          </p:spPr>
          <p:txBody>
            <a:bodyPr/>
            <a:lstStyle/>
            <a:p>
              <a:endParaRPr lang="zh-CN" altLang="en-US"/>
            </a:p>
          </p:txBody>
        </p:sp>
        <p:sp>
          <p:nvSpPr>
            <p:cNvPr id="870430" name="Line 30"/>
            <p:cNvSpPr>
              <a:spLocks noChangeShapeType="1"/>
            </p:cNvSpPr>
            <p:nvPr/>
          </p:nvSpPr>
          <p:spPr bwMode="auto">
            <a:xfrm>
              <a:off x="3243" y="3158"/>
              <a:ext cx="0" cy="771"/>
            </a:xfrm>
            <a:prstGeom prst="line">
              <a:avLst/>
            </a:prstGeom>
            <a:noFill/>
            <a:ln w="28575">
              <a:solidFill>
                <a:srgbClr val="C01920"/>
              </a:solidFill>
              <a:round/>
              <a:headEnd/>
              <a:tailEnd/>
            </a:ln>
            <a:effectLst/>
          </p:spPr>
          <p:txBody>
            <a:bodyPr/>
            <a:lstStyle/>
            <a:p>
              <a:endParaRPr lang="zh-CN" altLang="en-US"/>
            </a:p>
          </p:txBody>
        </p:sp>
        <p:sp>
          <p:nvSpPr>
            <p:cNvPr id="870431" name="Line 31"/>
            <p:cNvSpPr>
              <a:spLocks noChangeShapeType="1"/>
            </p:cNvSpPr>
            <p:nvPr/>
          </p:nvSpPr>
          <p:spPr bwMode="auto">
            <a:xfrm flipH="1">
              <a:off x="604" y="3929"/>
              <a:ext cx="2641" cy="0"/>
            </a:xfrm>
            <a:prstGeom prst="line">
              <a:avLst/>
            </a:prstGeom>
            <a:noFill/>
            <a:ln w="28575">
              <a:solidFill>
                <a:srgbClr val="C01920"/>
              </a:solidFill>
              <a:round/>
              <a:headEnd/>
              <a:tailEnd type="stealth" w="lg" len="lg"/>
            </a:ln>
            <a:effectLst/>
          </p:spPr>
          <p:txBody>
            <a:bodyPr/>
            <a:lstStyle/>
            <a:p>
              <a:endParaRPr lang="zh-CN" altLang="en-US"/>
            </a:p>
          </p:txBody>
        </p:sp>
      </p:grpSp>
      <p:sp>
        <p:nvSpPr>
          <p:cNvPr id="870432" name="Rectangle 32"/>
          <p:cNvSpPr>
            <a:spLocks noChangeArrowheads="1"/>
          </p:cNvSpPr>
          <p:nvPr/>
        </p:nvSpPr>
        <p:spPr bwMode="auto">
          <a:xfrm>
            <a:off x="9296918" y="2392471"/>
            <a:ext cx="1475084" cy="1015663"/>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C01920"/>
                </a:solidFill>
                <a:latin typeface="隶书" pitchFamily="49" charset="-122"/>
                <a:ea typeface="隶书" pitchFamily="49" charset="-122"/>
              </a:rPr>
              <a:t>运行结果：</a:t>
            </a:r>
          </a:p>
          <a:p>
            <a:r>
              <a:rPr lang="zh-CN" altLang="en-US" sz="2000" dirty="0">
                <a:solidFill>
                  <a:srgbClr val="002060"/>
                </a:solidFill>
              </a:rPr>
              <a:t>    </a:t>
            </a:r>
            <a:r>
              <a:rPr lang="en-US" altLang="zh-CN" sz="2000" b="1" dirty="0">
                <a:solidFill>
                  <a:srgbClr val="002060"/>
                </a:solidFill>
              </a:rPr>
              <a:t>No</a:t>
            </a:r>
          </a:p>
          <a:p>
            <a:r>
              <a:rPr lang="en-US" altLang="zh-CN" sz="2000" b="1" dirty="0">
                <a:solidFill>
                  <a:srgbClr val="002060"/>
                </a:solidFill>
              </a:rPr>
              <a:t>    ALL</a:t>
            </a:r>
          </a:p>
        </p:txBody>
      </p:sp>
      <p:sp>
        <p:nvSpPr>
          <p:cNvPr id="24" name="Rectangle 2">
            <a:extLst>
              <a:ext uri="{FF2B5EF4-FFF2-40B4-BE49-F238E27FC236}">
                <a16:creationId xmlns:a16="http://schemas.microsoft.com/office/drawing/2014/main" id="{6C2C0D19-8F8A-4C3E-8ED6-529007C54B3D}"/>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25" name="Rectangle 45">
            <a:extLst>
              <a:ext uri="{FF2B5EF4-FFF2-40B4-BE49-F238E27FC236}">
                <a16:creationId xmlns:a16="http://schemas.microsoft.com/office/drawing/2014/main" id="{26A92F5F-BFB0-4603-B9F1-204DC7B8E4CE}"/>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26" name="Rectangle 4">
            <a:extLst>
              <a:ext uri="{FF2B5EF4-FFF2-40B4-BE49-F238E27FC236}">
                <a16:creationId xmlns:a16="http://schemas.microsoft.com/office/drawing/2014/main" id="{4ACB3AF4-32A3-4564-89E4-87765E94F03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70407">
                                            <p:txEl>
                                              <p:pRg st="0" end="0"/>
                                            </p:txEl>
                                          </p:spTgt>
                                        </p:tgtEl>
                                        <p:attrNameLst>
                                          <p:attrName>style.visibility</p:attrName>
                                        </p:attrNameLst>
                                      </p:cBhvr>
                                      <p:to>
                                        <p:strVal val="visible"/>
                                      </p:to>
                                    </p:set>
                                    <p:animEffect transition="in" filter="box(out)">
                                      <p:cBhvr>
                                        <p:cTn id="13" dur="500"/>
                                        <p:tgtEl>
                                          <p:spTgt spid="87040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70408">
                                            <p:bg/>
                                          </p:spTgt>
                                        </p:tgtEl>
                                        <p:attrNameLst>
                                          <p:attrName>style.visibility</p:attrName>
                                        </p:attrNameLst>
                                      </p:cBhvr>
                                      <p:to>
                                        <p:strVal val="visible"/>
                                      </p:to>
                                    </p:set>
                                    <p:animEffect transition="in" filter="box(out)">
                                      <p:cBhvr>
                                        <p:cTn id="18" dur="500"/>
                                        <p:tgtEl>
                                          <p:spTgt spid="870408">
                                            <p:bg/>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870408">
                                            <p:txEl>
                                              <p:pRg st="0" end="0"/>
                                            </p:txEl>
                                          </p:spTgt>
                                        </p:tgtEl>
                                        <p:attrNameLst>
                                          <p:attrName>style.visibility</p:attrName>
                                        </p:attrNameLst>
                                      </p:cBhvr>
                                      <p:to>
                                        <p:strVal val="visible"/>
                                      </p:to>
                                    </p:set>
                                    <p:animEffect transition="in" filter="box(out)">
                                      <p:cBhvr>
                                        <p:cTn id="21" dur="500"/>
                                        <p:tgtEl>
                                          <p:spTgt spid="870408">
                                            <p:txEl>
                                              <p:pRg st="0" end="0"/>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870408">
                                            <p:txEl>
                                              <p:pRg st="1" end="1"/>
                                            </p:txEl>
                                          </p:spTgt>
                                        </p:tgtEl>
                                        <p:attrNameLst>
                                          <p:attrName>style.visibility</p:attrName>
                                        </p:attrNameLst>
                                      </p:cBhvr>
                                      <p:to>
                                        <p:strVal val="visible"/>
                                      </p:to>
                                    </p:set>
                                    <p:animEffect transition="in" filter="box(out)">
                                      <p:cBhvr>
                                        <p:cTn id="24" dur="500"/>
                                        <p:tgtEl>
                                          <p:spTgt spid="870408">
                                            <p:txEl>
                                              <p:pRg st="1" end="1"/>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par>
                                <p:cTn id="25" presetID="4" presetClass="entr" presetSubtype="32" fill="hold" grpId="0" nodeType="withEffect">
                                  <p:stCondLst>
                                    <p:cond delay="0"/>
                                  </p:stCondLst>
                                  <p:childTnLst>
                                    <p:set>
                                      <p:cBhvr>
                                        <p:cTn id="26" dur="1" fill="hold">
                                          <p:stCondLst>
                                            <p:cond delay="0"/>
                                          </p:stCondLst>
                                        </p:cTn>
                                        <p:tgtEl>
                                          <p:spTgt spid="870408">
                                            <p:txEl>
                                              <p:pRg st="2" end="2"/>
                                            </p:txEl>
                                          </p:spTgt>
                                        </p:tgtEl>
                                        <p:attrNameLst>
                                          <p:attrName>style.visibility</p:attrName>
                                        </p:attrNameLst>
                                      </p:cBhvr>
                                      <p:to>
                                        <p:strVal val="visible"/>
                                      </p:to>
                                    </p:set>
                                    <p:animEffect transition="in" filter="box(out)">
                                      <p:cBhvr>
                                        <p:cTn id="27" dur="500"/>
                                        <p:tgtEl>
                                          <p:spTgt spid="870408">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4" presetClass="entr" presetSubtype="32" fill="hold" grpId="0" nodeType="withEffect">
                                  <p:stCondLst>
                                    <p:cond delay="0"/>
                                  </p:stCondLst>
                                  <p:childTnLst>
                                    <p:set>
                                      <p:cBhvr>
                                        <p:cTn id="29" dur="1" fill="hold">
                                          <p:stCondLst>
                                            <p:cond delay="0"/>
                                          </p:stCondLst>
                                        </p:cTn>
                                        <p:tgtEl>
                                          <p:spTgt spid="870408">
                                            <p:txEl>
                                              <p:pRg st="3" end="3"/>
                                            </p:txEl>
                                          </p:spTgt>
                                        </p:tgtEl>
                                        <p:attrNameLst>
                                          <p:attrName>style.visibility</p:attrName>
                                        </p:attrNameLst>
                                      </p:cBhvr>
                                      <p:to>
                                        <p:strVal val="visible"/>
                                      </p:to>
                                    </p:set>
                                    <p:animEffect transition="in" filter="box(out)">
                                      <p:cBhvr>
                                        <p:cTn id="30" dur="500"/>
                                        <p:tgtEl>
                                          <p:spTgt spid="870408">
                                            <p:txEl>
                                              <p:pRg st="3" end="3"/>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par>
                                <p:cTn id="31" presetID="4" presetClass="entr" presetSubtype="32" fill="hold" grpId="0" nodeType="withEffect">
                                  <p:stCondLst>
                                    <p:cond delay="0"/>
                                  </p:stCondLst>
                                  <p:childTnLst>
                                    <p:set>
                                      <p:cBhvr>
                                        <p:cTn id="32" dur="1" fill="hold">
                                          <p:stCondLst>
                                            <p:cond delay="0"/>
                                          </p:stCondLst>
                                        </p:cTn>
                                        <p:tgtEl>
                                          <p:spTgt spid="870408">
                                            <p:txEl>
                                              <p:pRg st="4" end="4"/>
                                            </p:txEl>
                                          </p:spTgt>
                                        </p:tgtEl>
                                        <p:attrNameLst>
                                          <p:attrName>style.visibility</p:attrName>
                                        </p:attrNameLst>
                                      </p:cBhvr>
                                      <p:to>
                                        <p:strVal val="visible"/>
                                      </p:to>
                                    </p:set>
                                    <p:animEffect transition="in" filter="box(out)">
                                      <p:cBhvr>
                                        <p:cTn id="33" dur="500"/>
                                        <p:tgtEl>
                                          <p:spTgt spid="870408">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4" presetClass="entr" presetSubtype="32" fill="hold" grpId="0" nodeType="withEffect">
                                  <p:stCondLst>
                                    <p:cond delay="0"/>
                                  </p:stCondLst>
                                  <p:childTnLst>
                                    <p:set>
                                      <p:cBhvr>
                                        <p:cTn id="35" dur="1" fill="hold">
                                          <p:stCondLst>
                                            <p:cond delay="0"/>
                                          </p:stCondLst>
                                        </p:cTn>
                                        <p:tgtEl>
                                          <p:spTgt spid="870408">
                                            <p:txEl>
                                              <p:pRg st="5" end="5"/>
                                            </p:txEl>
                                          </p:spTgt>
                                        </p:tgtEl>
                                        <p:attrNameLst>
                                          <p:attrName>style.visibility</p:attrName>
                                        </p:attrNameLst>
                                      </p:cBhvr>
                                      <p:to>
                                        <p:strVal val="visible"/>
                                      </p:to>
                                    </p:set>
                                    <p:animEffect transition="in" filter="box(out)">
                                      <p:cBhvr>
                                        <p:cTn id="36" dur="500"/>
                                        <p:tgtEl>
                                          <p:spTgt spid="870408">
                                            <p:txEl>
                                              <p:pRg st="5" end="5"/>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870408">
                                            <p:txEl>
                                              <p:pRg st="6" end="6"/>
                                            </p:txEl>
                                          </p:spTgt>
                                        </p:tgtEl>
                                        <p:attrNameLst>
                                          <p:attrName>style.visibility</p:attrName>
                                        </p:attrNameLst>
                                      </p:cBhvr>
                                      <p:to>
                                        <p:strVal val="visible"/>
                                      </p:to>
                                    </p:set>
                                    <p:animEffect transition="in" filter="box(out)">
                                      <p:cBhvr>
                                        <p:cTn id="39" dur="500"/>
                                        <p:tgtEl>
                                          <p:spTgt spid="870408">
                                            <p:txEl>
                                              <p:pRg st="6" end="6"/>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40" presetID="4" presetClass="entr" presetSubtype="32" fill="hold" grpId="0" nodeType="withEffect">
                                  <p:stCondLst>
                                    <p:cond delay="0"/>
                                  </p:stCondLst>
                                  <p:childTnLst>
                                    <p:set>
                                      <p:cBhvr>
                                        <p:cTn id="41" dur="1" fill="hold">
                                          <p:stCondLst>
                                            <p:cond delay="0"/>
                                          </p:stCondLst>
                                        </p:cTn>
                                        <p:tgtEl>
                                          <p:spTgt spid="870408">
                                            <p:txEl>
                                              <p:pRg st="7" end="7"/>
                                            </p:txEl>
                                          </p:spTgt>
                                        </p:tgtEl>
                                        <p:attrNameLst>
                                          <p:attrName>style.visibility</p:attrName>
                                        </p:attrNameLst>
                                      </p:cBhvr>
                                      <p:to>
                                        <p:strVal val="visible"/>
                                      </p:to>
                                    </p:set>
                                    <p:animEffect transition="in" filter="box(out)">
                                      <p:cBhvr>
                                        <p:cTn id="42" dur="500"/>
                                        <p:tgtEl>
                                          <p:spTgt spid="870408">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par>
                                <p:cTn id="43" presetID="4" presetClass="entr" presetSubtype="32" fill="hold" grpId="0" nodeType="withEffect">
                                  <p:stCondLst>
                                    <p:cond delay="0"/>
                                  </p:stCondLst>
                                  <p:childTnLst>
                                    <p:set>
                                      <p:cBhvr>
                                        <p:cTn id="44" dur="1" fill="hold">
                                          <p:stCondLst>
                                            <p:cond delay="0"/>
                                          </p:stCondLst>
                                        </p:cTn>
                                        <p:tgtEl>
                                          <p:spTgt spid="870408">
                                            <p:txEl>
                                              <p:pRg st="8" end="8"/>
                                            </p:txEl>
                                          </p:spTgt>
                                        </p:tgtEl>
                                        <p:attrNameLst>
                                          <p:attrName>style.visibility</p:attrName>
                                        </p:attrNameLst>
                                      </p:cBhvr>
                                      <p:to>
                                        <p:strVal val="visible"/>
                                      </p:to>
                                    </p:set>
                                    <p:animEffect transition="in" filter="box(out)">
                                      <p:cBhvr>
                                        <p:cTn id="45" dur="500"/>
                                        <p:tgtEl>
                                          <p:spTgt spid="870408">
                                            <p:txEl>
                                              <p:pRg st="8" end="8"/>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par>
                                <p:cTn id="46" presetID="4" presetClass="entr" presetSubtype="32" fill="hold" grpId="0" nodeType="withEffect">
                                  <p:stCondLst>
                                    <p:cond delay="0"/>
                                  </p:stCondLst>
                                  <p:childTnLst>
                                    <p:set>
                                      <p:cBhvr>
                                        <p:cTn id="47" dur="1" fill="hold">
                                          <p:stCondLst>
                                            <p:cond delay="0"/>
                                          </p:stCondLst>
                                        </p:cTn>
                                        <p:tgtEl>
                                          <p:spTgt spid="870408">
                                            <p:txEl>
                                              <p:pRg st="9" end="9"/>
                                            </p:txEl>
                                          </p:spTgt>
                                        </p:tgtEl>
                                        <p:attrNameLst>
                                          <p:attrName>style.visibility</p:attrName>
                                        </p:attrNameLst>
                                      </p:cBhvr>
                                      <p:to>
                                        <p:strVal val="visible"/>
                                      </p:to>
                                    </p:set>
                                    <p:animEffect transition="in" filter="box(out)">
                                      <p:cBhvr>
                                        <p:cTn id="48" dur="500"/>
                                        <p:tgtEl>
                                          <p:spTgt spid="870408">
                                            <p:txEl>
                                              <p:pRg st="9" end="9"/>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par>
                                <p:cTn id="49" presetID="4" presetClass="entr" presetSubtype="32" fill="hold" grpId="0" nodeType="withEffect">
                                  <p:stCondLst>
                                    <p:cond delay="0"/>
                                  </p:stCondLst>
                                  <p:childTnLst>
                                    <p:set>
                                      <p:cBhvr>
                                        <p:cTn id="50" dur="1" fill="hold">
                                          <p:stCondLst>
                                            <p:cond delay="0"/>
                                          </p:stCondLst>
                                        </p:cTn>
                                        <p:tgtEl>
                                          <p:spTgt spid="870408">
                                            <p:txEl>
                                              <p:pRg st="10" end="10"/>
                                            </p:txEl>
                                          </p:spTgt>
                                        </p:tgtEl>
                                        <p:attrNameLst>
                                          <p:attrName>style.visibility</p:attrName>
                                        </p:attrNameLst>
                                      </p:cBhvr>
                                      <p:to>
                                        <p:strVal val="visible"/>
                                      </p:to>
                                    </p:set>
                                    <p:animEffect transition="in" filter="box(out)">
                                      <p:cBhvr>
                                        <p:cTn id="51" dur="500"/>
                                        <p:tgtEl>
                                          <p:spTgt spid="870408">
                                            <p:txEl>
                                              <p:pRg st="10" end="1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par>
                                <p:cTn id="52" presetID="4" presetClass="entr" presetSubtype="32" fill="hold" grpId="0" nodeType="withEffect">
                                  <p:stCondLst>
                                    <p:cond delay="0"/>
                                  </p:stCondLst>
                                  <p:childTnLst>
                                    <p:set>
                                      <p:cBhvr>
                                        <p:cTn id="53" dur="1" fill="hold">
                                          <p:stCondLst>
                                            <p:cond delay="0"/>
                                          </p:stCondLst>
                                        </p:cTn>
                                        <p:tgtEl>
                                          <p:spTgt spid="870408">
                                            <p:txEl>
                                              <p:pRg st="11" end="11"/>
                                            </p:txEl>
                                          </p:spTgt>
                                        </p:tgtEl>
                                        <p:attrNameLst>
                                          <p:attrName>style.visibility</p:attrName>
                                        </p:attrNameLst>
                                      </p:cBhvr>
                                      <p:to>
                                        <p:strVal val="visible"/>
                                      </p:to>
                                    </p:set>
                                    <p:animEffect transition="in" filter="box(out)">
                                      <p:cBhvr>
                                        <p:cTn id="54" dur="500"/>
                                        <p:tgtEl>
                                          <p:spTgt spid="870408">
                                            <p:txEl>
                                              <p:pRg st="11" end="11"/>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par>
                                <p:cTn id="55" presetID="4" presetClass="entr" presetSubtype="32" fill="hold" grpId="0" nodeType="withEffect">
                                  <p:stCondLst>
                                    <p:cond delay="0"/>
                                  </p:stCondLst>
                                  <p:childTnLst>
                                    <p:set>
                                      <p:cBhvr>
                                        <p:cTn id="56" dur="1" fill="hold">
                                          <p:stCondLst>
                                            <p:cond delay="0"/>
                                          </p:stCondLst>
                                        </p:cTn>
                                        <p:tgtEl>
                                          <p:spTgt spid="870408">
                                            <p:txEl>
                                              <p:pRg st="12" end="12"/>
                                            </p:txEl>
                                          </p:spTgt>
                                        </p:tgtEl>
                                        <p:attrNameLst>
                                          <p:attrName>style.visibility</p:attrName>
                                        </p:attrNameLst>
                                      </p:cBhvr>
                                      <p:to>
                                        <p:strVal val="visible"/>
                                      </p:to>
                                    </p:set>
                                    <p:animEffect transition="in" filter="box(out)">
                                      <p:cBhvr>
                                        <p:cTn id="57" dur="500"/>
                                        <p:tgtEl>
                                          <p:spTgt spid="870408">
                                            <p:txEl>
                                              <p:pRg st="12" end="12"/>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par>
                                <p:cTn id="58" presetID="4" presetClass="entr" presetSubtype="32" fill="hold" grpId="0" nodeType="withEffect">
                                  <p:stCondLst>
                                    <p:cond delay="0"/>
                                  </p:stCondLst>
                                  <p:childTnLst>
                                    <p:set>
                                      <p:cBhvr>
                                        <p:cTn id="59" dur="1" fill="hold">
                                          <p:stCondLst>
                                            <p:cond delay="0"/>
                                          </p:stCondLst>
                                        </p:cTn>
                                        <p:tgtEl>
                                          <p:spTgt spid="870408">
                                            <p:txEl>
                                              <p:pRg st="13" end="13"/>
                                            </p:txEl>
                                          </p:spTgt>
                                        </p:tgtEl>
                                        <p:attrNameLst>
                                          <p:attrName>style.visibility</p:attrName>
                                        </p:attrNameLst>
                                      </p:cBhvr>
                                      <p:to>
                                        <p:strVal val="visible"/>
                                      </p:to>
                                    </p:set>
                                    <p:animEffect transition="in" filter="box(out)">
                                      <p:cBhvr>
                                        <p:cTn id="60" dur="500"/>
                                        <p:tgtEl>
                                          <p:spTgt spid="870408">
                                            <p:txEl>
                                              <p:pRg st="13" end="13"/>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870424"/>
                                        </p:tgtEl>
                                        <p:attrNameLst>
                                          <p:attrName>style.visibility</p:attrName>
                                        </p:attrNameLst>
                                      </p:cBhvr>
                                      <p:to>
                                        <p:strVal val="visible"/>
                                      </p:to>
                                    </p:set>
                                    <p:animEffect transition="in" filter="box(out)">
                                      <p:cBhvr>
                                        <p:cTn id="65" dur="500"/>
                                        <p:tgtEl>
                                          <p:spTgt spid="870424"/>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500"/>
                            </p:stCondLst>
                            <p:childTnLst>
                              <p:par>
                                <p:cTn id="67" presetID="18" presetClass="entr" presetSubtype="6" fill="hold" grpId="0" nodeType="afterEffect">
                                  <p:stCondLst>
                                    <p:cond delay="0"/>
                                  </p:stCondLst>
                                  <p:childTnLst>
                                    <p:set>
                                      <p:cBhvr>
                                        <p:cTn id="68" dur="1" fill="hold">
                                          <p:stCondLst>
                                            <p:cond delay="0"/>
                                          </p:stCondLst>
                                        </p:cTn>
                                        <p:tgtEl>
                                          <p:spTgt spid="870417"/>
                                        </p:tgtEl>
                                        <p:attrNameLst>
                                          <p:attrName>style.visibility</p:attrName>
                                        </p:attrNameLst>
                                      </p:cBhvr>
                                      <p:to>
                                        <p:strVal val="visible"/>
                                      </p:to>
                                    </p:set>
                                    <p:animEffect transition="in" filter="strips(downRight)">
                                      <p:cBhvr>
                                        <p:cTn id="69" dur="1000"/>
                                        <p:tgtEl>
                                          <p:spTgt spid="870417"/>
                                        </p:tgtEl>
                                      </p:cBhvr>
                                    </p:animEffect>
                                  </p:childTnLst>
                                  <p:subTnLst>
                                    <p:audio>
                                      <p:cMediaNode>
                                        <p:cTn display="0" masterRel="sameClick">
                                          <p:stCondLst>
                                            <p:cond evt="begin" delay="0">
                                              <p:tn val="67"/>
                                            </p:cond>
                                          </p:stCondLst>
                                          <p:endCondLst>
                                            <p:cond evt="onStopAudio" delay="0">
                                              <p:tgtEl>
                                                <p:sldTgt/>
                                              </p:tgtEl>
                                            </p:cond>
                                          </p:endCondLst>
                                        </p:cTn>
                                        <p:tgtEl>
                                          <p:sndTgt r:embed="rId5" name="laser.wav"/>
                                        </p:tgtEl>
                                      </p:cMediaNode>
                                    </p:audio>
                                  </p:subTnLst>
                                </p:cTn>
                              </p:par>
                            </p:childTnLst>
                          </p:cTn>
                        </p:par>
                        <p:par>
                          <p:cTn id="70" fill="hold">
                            <p:stCondLst>
                              <p:cond delay="1500"/>
                            </p:stCondLst>
                            <p:childTnLst>
                              <p:par>
                                <p:cTn id="71" presetID="18" presetClass="entr" presetSubtype="6" fill="hold" nodeType="afterEffect">
                                  <p:stCondLst>
                                    <p:cond delay="0"/>
                                  </p:stCondLst>
                                  <p:childTnLst>
                                    <p:set>
                                      <p:cBhvr>
                                        <p:cTn id="72" dur="1" fill="hold">
                                          <p:stCondLst>
                                            <p:cond delay="0"/>
                                          </p:stCondLst>
                                        </p:cTn>
                                        <p:tgtEl>
                                          <p:spTgt spid="870408">
                                            <p:txEl>
                                              <p:pRg st="8" end="8"/>
                                            </p:txEl>
                                          </p:spTgt>
                                        </p:tgtEl>
                                        <p:attrNameLst>
                                          <p:attrName>style.visibility</p:attrName>
                                        </p:attrNameLst>
                                      </p:cBhvr>
                                      <p:to>
                                        <p:strVal val="visible"/>
                                      </p:to>
                                    </p:set>
                                    <p:animEffect transition="in" filter="strips(downRight)">
                                      <p:cBhvr>
                                        <p:cTn id="73" dur="500"/>
                                        <p:tgtEl>
                                          <p:spTgt spid="870408">
                                            <p:txEl>
                                              <p:pRg st="8" end="8"/>
                                            </p:txEl>
                                          </p:spTgt>
                                        </p:tgtEl>
                                      </p:cBhvr>
                                    </p:animEffect>
                                  </p:childTnLst>
                                  <p:subTnLst>
                                    <p:animClr clrSpc="rgb" dir="cw">
                                      <p:cBhvr override="childStyle">
                                        <p:cTn dur="1" fill="hold" display="0" masterRel="nextClick" afterEffect="1"/>
                                        <p:tgtEl>
                                          <p:spTgt spid="870408">
                                            <p:txEl>
                                              <p:pRg st="8" end="8"/>
                                            </p:txEl>
                                          </p:spTgt>
                                        </p:tgtEl>
                                        <p:attrNameLst>
                                          <p:attrName>ppt_c</p:attrName>
                                        </p:attrNameLst>
                                      </p:cBhvr>
                                      <p:to>
                                        <a:srgbClr val="FF3300"/>
                                      </p:to>
                                    </p:animClr>
                                    <p:audio>
                                      <p:cMediaNode>
                                        <p:cTn display="0" masterRel="sameClick">
                                          <p:stCondLst>
                                            <p:cond evt="begin" delay="0">
                                              <p:tn val="71"/>
                                            </p:cond>
                                          </p:stCondLst>
                                          <p:endCondLst>
                                            <p:cond evt="onStopAudio" delay="0">
                                              <p:tgtEl>
                                                <p:sldTgt/>
                                              </p:tgtEl>
                                            </p:cond>
                                          </p:endCondLst>
                                        </p:cTn>
                                        <p:tgtEl>
                                          <p:sndTgt r:embed="rId5" name="laser.wav"/>
                                        </p:tgtEl>
                                      </p:cMediaNode>
                                    </p:audio>
                                  </p:subTnLst>
                                </p:cTn>
                              </p:par>
                            </p:childTnLst>
                          </p:cTn>
                        </p:par>
                        <p:par>
                          <p:cTn id="74" fill="hold">
                            <p:stCondLst>
                              <p:cond delay="2000"/>
                            </p:stCondLst>
                            <p:childTnLst>
                              <p:par>
                                <p:cTn id="75" presetID="18" presetClass="entr" presetSubtype="12" fill="hold" nodeType="afterEffect">
                                  <p:stCondLst>
                                    <p:cond delay="0"/>
                                  </p:stCondLst>
                                  <p:childTnLst>
                                    <p:set>
                                      <p:cBhvr>
                                        <p:cTn id="76" dur="1" fill="hold">
                                          <p:stCondLst>
                                            <p:cond delay="0"/>
                                          </p:stCondLst>
                                        </p:cTn>
                                        <p:tgtEl>
                                          <p:spTgt spid="870423"/>
                                        </p:tgtEl>
                                        <p:attrNameLst>
                                          <p:attrName>style.visibility</p:attrName>
                                        </p:attrNameLst>
                                      </p:cBhvr>
                                      <p:to>
                                        <p:strVal val="visible"/>
                                      </p:to>
                                    </p:set>
                                    <p:animEffect transition="in" filter="strips(downLeft)">
                                      <p:cBhvr>
                                        <p:cTn id="77" dur="1000"/>
                                        <p:tgtEl>
                                          <p:spTgt spid="870423"/>
                                        </p:tgtEl>
                                      </p:cBhvr>
                                    </p:animEffect>
                                  </p:childTnLst>
                                  <p:subTnLst>
                                    <p:audio>
                                      <p:cMediaNode>
                                        <p:cTn display="0" masterRel="sameClick">
                                          <p:stCondLst>
                                            <p:cond evt="begin" delay="0">
                                              <p:tn val="75"/>
                                            </p:cond>
                                          </p:stCondLst>
                                          <p:endCondLst>
                                            <p:cond evt="onStopAudio" delay="0">
                                              <p:tgtEl>
                                                <p:sldTgt/>
                                              </p:tgtEl>
                                            </p:cond>
                                          </p:endCondLst>
                                        </p:cTn>
                                        <p:tgtEl>
                                          <p:sndTgt r:embed="rId5" name="laser.wav"/>
                                        </p:tgtEl>
                                      </p:cMediaNode>
                                    </p:audio>
                                  </p:subTnLst>
                                </p:cTn>
                              </p:par>
                            </p:childTnLst>
                          </p:cTn>
                        </p:par>
                        <p:par>
                          <p:cTn id="78" fill="hold">
                            <p:stCondLst>
                              <p:cond delay="3000"/>
                            </p:stCondLst>
                            <p:childTnLst>
                              <p:par>
                                <p:cTn id="79" presetID="4" presetClass="entr" presetSubtype="32" fill="hold" grpId="0" nodeType="afterEffect">
                                  <p:stCondLst>
                                    <p:cond delay="0"/>
                                  </p:stCondLst>
                                  <p:childTnLst>
                                    <p:set>
                                      <p:cBhvr>
                                        <p:cTn id="80" dur="1" fill="hold">
                                          <p:stCondLst>
                                            <p:cond delay="0"/>
                                          </p:stCondLst>
                                        </p:cTn>
                                        <p:tgtEl>
                                          <p:spTgt spid="870416"/>
                                        </p:tgtEl>
                                        <p:attrNameLst>
                                          <p:attrName>style.visibility</p:attrName>
                                        </p:attrNameLst>
                                      </p:cBhvr>
                                      <p:to>
                                        <p:strVal val="visible"/>
                                      </p:to>
                                    </p:set>
                                    <p:animEffect transition="in" filter="box(out)">
                                      <p:cBhvr>
                                        <p:cTn id="81" dur="500"/>
                                        <p:tgtEl>
                                          <p:spTgt spid="870416"/>
                                        </p:tgtEl>
                                      </p:cBhvr>
                                    </p:animEffect>
                                  </p:childTnLst>
                                  <p:subTnLst>
                                    <p:audio>
                                      <p:cMediaNode>
                                        <p:cTn display="0" masterRel="sameClick">
                                          <p:stCondLst>
                                            <p:cond evt="begin" delay="0">
                                              <p:tn val="79"/>
                                            </p:cond>
                                          </p:stCondLst>
                                          <p:endCondLst>
                                            <p:cond evt="onStopAudio" delay="0">
                                              <p:tgtEl>
                                                <p:sldTgt/>
                                              </p:tgtEl>
                                            </p:cond>
                                          </p:endCondLst>
                                        </p:cTn>
                                        <p:tgtEl>
                                          <p:sndTgt r:embed="rId6" name="chimes.wav"/>
                                        </p:tgtEl>
                                      </p:cMediaNode>
                                    </p:audio>
                                  </p:subTnLst>
                                </p:cTn>
                              </p:par>
                            </p:childTnLst>
                          </p:cTn>
                        </p:par>
                      </p:childTnLst>
                    </p:cTn>
                  </p:par>
                  <p:par>
                    <p:cTn id="82" fill="hold">
                      <p:stCondLst>
                        <p:cond delay="indefinite"/>
                      </p:stCondLst>
                      <p:childTnLst>
                        <p:par>
                          <p:cTn id="83" fill="hold">
                            <p:stCondLst>
                              <p:cond delay="0"/>
                            </p:stCondLst>
                            <p:childTnLst>
                              <p:par>
                                <p:cTn id="84" presetID="4" presetClass="entr" presetSubtype="32" fill="hold" grpId="0" nodeType="clickEffect">
                                  <p:stCondLst>
                                    <p:cond delay="0"/>
                                  </p:stCondLst>
                                  <p:childTnLst>
                                    <p:set>
                                      <p:cBhvr>
                                        <p:cTn id="85" dur="1" fill="hold">
                                          <p:stCondLst>
                                            <p:cond delay="0"/>
                                          </p:stCondLst>
                                        </p:cTn>
                                        <p:tgtEl>
                                          <p:spTgt spid="870425">
                                            <p:bg/>
                                          </p:spTgt>
                                        </p:tgtEl>
                                        <p:attrNameLst>
                                          <p:attrName>style.visibility</p:attrName>
                                        </p:attrNameLst>
                                      </p:cBhvr>
                                      <p:to>
                                        <p:strVal val="visible"/>
                                      </p:to>
                                    </p:set>
                                    <p:animEffect transition="in" filter="box(out)">
                                      <p:cBhvr>
                                        <p:cTn id="86" dur="500"/>
                                        <p:tgtEl>
                                          <p:spTgt spid="870425">
                                            <p:bg/>
                                          </p:spTgt>
                                        </p:tgtEl>
                                      </p:cBhvr>
                                    </p:animEffect>
                                  </p:childTnLst>
                                </p:cTn>
                              </p:par>
                              <p:par>
                                <p:cTn id="87" presetID="4" presetClass="entr" presetSubtype="32" fill="hold" grpId="0" nodeType="withEffect">
                                  <p:stCondLst>
                                    <p:cond delay="0"/>
                                  </p:stCondLst>
                                  <p:childTnLst>
                                    <p:set>
                                      <p:cBhvr>
                                        <p:cTn id="88" dur="1" fill="hold">
                                          <p:stCondLst>
                                            <p:cond delay="0"/>
                                          </p:stCondLst>
                                        </p:cTn>
                                        <p:tgtEl>
                                          <p:spTgt spid="870425">
                                            <p:txEl>
                                              <p:pRg st="0" end="0"/>
                                            </p:txEl>
                                          </p:spTgt>
                                        </p:tgtEl>
                                        <p:attrNameLst>
                                          <p:attrName>style.visibility</p:attrName>
                                        </p:attrNameLst>
                                      </p:cBhvr>
                                      <p:to>
                                        <p:strVal val="visible"/>
                                      </p:to>
                                    </p:set>
                                    <p:animEffect transition="in" filter="box(out)">
                                      <p:cBhvr>
                                        <p:cTn id="89" dur="500"/>
                                        <p:tgtEl>
                                          <p:spTgt spid="870425">
                                            <p:txEl>
                                              <p:pRg st="0" end="0"/>
                                            </p:txEl>
                                          </p:spTgt>
                                        </p:tgtEl>
                                      </p:cBhvr>
                                    </p:animEffect>
                                  </p:childTnLst>
                                </p:cTn>
                              </p:par>
                              <p:par>
                                <p:cTn id="90" presetID="4" presetClass="entr" presetSubtype="32" fill="hold" grpId="0" nodeType="withEffect">
                                  <p:stCondLst>
                                    <p:cond delay="0"/>
                                  </p:stCondLst>
                                  <p:childTnLst>
                                    <p:set>
                                      <p:cBhvr>
                                        <p:cTn id="91" dur="1" fill="hold">
                                          <p:stCondLst>
                                            <p:cond delay="0"/>
                                          </p:stCondLst>
                                        </p:cTn>
                                        <p:tgtEl>
                                          <p:spTgt spid="870425">
                                            <p:txEl>
                                              <p:pRg st="1" end="1"/>
                                            </p:txEl>
                                          </p:spTgt>
                                        </p:tgtEl>
                                        <p:attrNameLst>
                                          <p:attrName>style.visibility</p:attrName>
                                        </p:attrNameLst>
                                      </p:cBhvr>
                                      <p:to>
                                        <p:strVal val="visible"/>
                                      </p:to>
                                    </p:set>
                                    <p:animEffect transition="in" filter="box(out)">
                                      <p:cBhvr>
                                        <p:cTn id="92" dur="500"/>
                                        <p:tgtEl>
                                          <p:spTgt spid="870425">
                                            <p:txEl>
                                              <p:pRg st="1" end="1"/>
                                            </p:txEl>
                                          </p:spTgt>
                                        </p:tgtEl>
                                      </p:cBhvr>
                                    </p:animEffect>
                                  </p:childTnLst>
                                </p:cTn>
                              </p:par>
                              <p:par>
                                <p:cTn id="93" presetID="4" presetClass="entr" presetSubtype="32" fill="hold" grpId="0" nodeType="withEffect">
                                  <p:stCondLst>
                                    <p:cond delay="0"/>
                                  </p:stCondLst>
                                  <p:childTnLst>
                                    <p:set>
                                      <p:cBhvr>
                                        <p:cTn id="94" dur="1" fill="hold">
                                          <p:stCondLst>
                                            <p:cond delay="0"/>
                                          </p:stCondLst>
                                        </p:cTn>
                                        <p:tgtEl>
                                          <p:spTgt spid="870425">
                                            <p:txEl>
                                              <p:pRg st="2" end="2"/>
                                            </p:txEl>
                                          </p:spTgt>
                                        </p:tgtEl>
                                        <p:attrNameLst>
                                          <p:attrName>style.visibility</p:attrName>
                                        </p:attrNameLst>
                                      </p:cBhvr>
                                      <p:to>
                                        <p:strVal val="visible"/>
                                      </p:to>
                                    </p:set>
                                    <p:animEffect transition="in" filter="box(out)">
                                      <p:cBhvr>
                                        <p:cTn id="95" dur="500"/>
                                        <p:tgtEl>
                                          <p:spTgt spid="870425">
                                            <p:txEl>
                                              <p:pRg st="2" end="2"/>
                                            </p:txEl>
                                          </p:spTgt>
                                        </p:tgtEl>
                                      </p:cBhvr>
                                    </p:animEffect>
                                  </p:childTnLst>
                                </p:cTn>
                              </p:par>
                              <p:par>
                                <p:cTn id="96" presetID="4" presetClass="entr" presetSubtype="32" fill="hold" grpId="0" nodeType="withEffect">
                                  <p:stCondLst>
                                    <p:cond delay="0"/>
                                  </p:stCondLst>
                                  <p:childTnLst>
                                    <p:set>
                                      <p:cBhvr>
                                        <p:cTn id="97" dur="1" fill="hold">
                                          <p:stCondLst>
                                            <p:cond delay="0"/>
                                          </p:stCondLst>
                                        </p:cTn>
                                        <p:tgtEl>
                                          <p:spTgt spid="870425">
                                            <p:txEl>
                                              <p:pRg st="3" end="3"/>
                                            </p:txEl>
                                          </p:spTgt>
                                        </p:tgtEl>
                                        <p:attrNameLst>
                                          <p:attrName>style.visibility</p:attrName>
                                        </p:attrNameLst>
                                      </p:cBhvr>
                                      <p:to>
                                        <p:strVal val="visible"/>
                                      </p:to>
                                    </p:set>
                                    <p:animEffect transition="in" filter="box(out)">
                                      <p:cBhvr>
                                        <p:cTn id="98" dur="500"/>
                                        <p:tgtEl>
                                          <p:spTgt spid="870425">
                                            <p:txEl>
                                              <p:pRg st="3" end="3"/>
                                            </p:txEl>
                                          </p:spTgt>
                                        </p:tgtEl>
                                      </p:cBhvr>
                                    </p:animEffect>
                                  </p:childTnLst>
                                </p:cTn>
                              </p:par>
                              <p:par>
                                <p:cTn id="99" presetID="4" presetClass="entr" presetSubtype="32" fill="hold" grpId="0" nodeType="withEffect">
                                  <p:stCondLst>
                                    <p:cond delay="0"/>
                                  </p:stCondLst>
                                  <p:childTnLst>
                                    <p:set>
                                      <p:cBhvr>
                                        <p:cTn id="100" dur="1" fill="hold">
                                          <p:stCondLst>
                                            <p:cond delay="0"/>
                                          </p:stCondLst>
                                        </p:cTn>
                                        <p:tgtEl>
                                          <p:spTgt spid="870425">
                                            <p:txEl>
                                              <p:pRg st="4" end="4"/>
                                            </p:txEl>
                                          </p:spTgt>
                                        </p:tgtEl>
                                        <p:attrNameLst>
                                          <p:attrName>style.visibility</p:attrName>
                                        </p:attrNameLst>
                                      </p:cBhvr>
                                      <p:to>
                                        <p:strVal val="visible"/>
                                      </p:to>
                                    </p:set>
                                    <p:animEffect transition="in" filter="box(out)">
                                      <p:cBhvr>
                                        <p:cTn id="101" dur="500"/>
                                        <p:tgtEl>
                                          <p:spTgt spid="870425">
                                            <p:txEl>
                                              <p:pRg st="4" end="4"/>
                                            </p:txEl>
                                          </p:spTgt>
                                        </p:tgtEl>
                                      </p:cBhvr>
                                    </p:animEffect>
                                  </p:childTnLst>
                                </p:cTn>
                              </p:par>
                              <p:par>
                                <p:cTn id="102" presetID="4" presetClass="entr" presetSubtype="32" fill="hold" grpId="0" nodeType="withEffect">
                                  <p:stCondLst>
                                    <p:cond delay="0"/>
                                  </p:stCondLst>
                                  <p:childTnLst>
                                    <p:set>
                                      <p:cBhvr>
                                        <p:cTn id="103" dur="1" fill="hold">
                                          <p:stCondLst>
                                            <p:cond delay="0"/>
                                          </p:stCondLst>
                                        </p:cTn>
                                        <p:tgtEl>
                                          <p:spTgt spid="870425">
                                            <p:txEl>
                                              <p:pRg st="5" end="5"/>
                                            </p:txEl>
                                          </p:spTgt>
                                        </p:tgtEl>
                                        <p:attrNameLst>
                                          <p:attrName>style.visibility</p:attrName>
                                        </p:attrNameLst>
                                      </p:cBhvr>
                                      <p:to>
                                        <p:strVal val="visible"/>
                                      </p:to>
                                    </p:set>
                                    <p:animEffect transition="in" filter="box(out)">
                                      <p:cBhvr>
                                        <p:cTn id="104" dur="500"/>
                                        <p:tgtEl>
                                          <p:spTgt spid="870425">
                                            <p:txEl>
                                              <p:pRg st="5" end="5"/>
                                            </p:txEl>
                                          </p:spTgt>
                                        </p:tgtEl>
                                      </p:cBhvr>
                                    </p:animEffect>
                                  </p:childTnLst>
                                </p:cTn>
                              </p:par>
                              <p:par>
                                <p:cTn id="105" presetID="4" presetClass="entr" presetSubtype="32" fill="hold" grpId="0" nodeType="withEffect">
                                  <p:stCondLst>
                                    <p:cond delay="0"/>
                                  </p:stCondLst>
                                  <p:childTnLst>
                                    <p:set>
                                      <p:cBhvr>
                                        <p:cTn id="106" dur="1" fill="hold">
                                          <p:stCondLst>
                                            <p:cond delay="0"/>
                                          </p:stCondLst>
                                        </p:cTn>
                                        <p:tgtEl>
                                          <p:spTgt spid="870425">
                                            <p:txEl>
                                              <p:pRg st="6" end="6"/>
                                            </p:txEl>
                                          </p:spTgt>
                                        </p:tgtEl>
                                        <p:attrNameLst>
                                          <p:attrName>style.visibility</p:attrName>
                                        </p:attrNameLst>
                                      </p:cBhvr>
                                      <p:to>
                                        <p:strVal val="visible"/>
                                      </p:to>
                                    </p:set>
                                    <p:animEffect transition="in" filter="box(out)">
                                      <p:cBhvr>
                                        <p:cTn id="107" dur="500"/>
                                        <p:tgtEl>
                                          <p:spTgt spid="870425">
                                            <p:txEl>
                                              <p:pRg st="6" end="6"/>
                                            </p:txEl>
                                          </p:spTgt>
                                        </p:tgtEl>
                                      </p:cBhvr>
                                    </p:animEffect>
                                  </p:childTnLst>
                                </p:cTn>
                              </p:par>
                              <p:par>
                                <p:cTn id="108" presetID="4" presetClass="entr" presetSubtype="32" fill="hold" grpId="0" nodeType="withEffect">
                                  <p:stCondLst>
                                    <p:cond delay="0"/>
                                  </p:stCondLst>
                                  <p:childTnLst>
                                    <p:set>
                                      <p:cBhvr>
                                        <p:cTn id="109" dur="1" fill="hold">
                                          <p:stCondLst>
                                            <p:cond delay="0"/>
                                          </p:stCondLst>
                                        </p:cTn>
                                        <p:tgtEl>
                                          <p:spTgt spid="870425">
                                            <p:txEl>
                                              <p:pRg st="7" end="7"/>
                                            </p:txEl>
                                          </p:spTgt>
                                        </p:tgtEl>
                                        <p:attrNameLst>
                                          <p:attrName>style.visibility</p:attrName>
                                        </p:attrNameLst>
                                      </p:cBhvr>
                                      <p:to>
                                        <p:strVal val="visible"/>
                                      </p:to>
                                    </p:set>
                                    <p:animEffect transition="in" filter="box(out)">
                                      <p:cBhvr>
                                        <p:cTn id="110" dur="500"/>
                                        <p:tgtEl>
                                          <p:spTgt spid="870425">
                                            <p:txEl>
                                              <p:pRg st="7" end="7"/>
                                            </p:txEl>
                                          </p:spTgt>
                                        </p:tgtEl>
                                      </p:cBhvr>
                                    </p:animEffect>
                                  </p:childTnLst>
                                </p:cTn>
                              </p:par>
                              <p:par>
                                <p:cTn id="111" presetID="4" presetClass="entr" presetSubtype="32" fill="hold" grpId="0" nodeType="withEffect">
                                  <p:stCondLst>
                                    <p:cond delay="0"/>
                                  </p:stCondLst>
                                  <p:childTnLst>
                                    <p:set>
                                      <p:cBhvr>
                                        <p:cTn id="112" dur="1" fill="hold">
                                          <p:stCondLst>
                                            <p:cond delay="0"/>
                                          </p:stCondLst>
                                        </p:cTn>
                                        <p:tgtEl>
                                          <p:spTgt spid="870425">
                                            <p:txEl>
                                              <p:pRg st="8" end="8"/>
                                            </p:txEl>
                                          </p:spTgt>
                                        </p:tgtEl>
                                        <p:attrNameLst>
                                          <p:attrName>style.visibility</p:attrName>
                                        </p:attrNameLst>
                                      </p:cBhvr>
                                      <p:to>
                                        <p:strVal val="visible"/>
                                      </p:to>
                                    </p:set>
                                    <p:animEffect transition="in" filter="box(out)">
                                      <p:cBhvr>
                                        <p:cTn id="113" dur="500"/>
                                        <p:tgtEl>
                                          <p:spTgt spid="870425">
                                            <p:txEl>
                                              <p:pRg st="8" end="8"/>
                                            </p:txEl>
                                          </p:spTgt>
                                        </p:tgtEl>
                                      </p:cBhvr>
                                    </p:animEffect>
                                  </p:childTnLst>
                                </p:cTn>
                              </p:par>
                              <p:par>
                                <p:cTn id="114" presetID="4" presetClass="entr" presetSubtype="32" fill="hold" grpId="0" nodeType="withEffect">
                                  <p:stCondLst>
                                    <p:cond delay="0"/>
                                  </p:stCondLst>
                                  <p:childTnLst>
                                    <p:set>
                                      <p:cBhvr>
                                        <p:cTn id="115" dur="1" fill="hold">
                                          <p:stCondLst>
                                            <p:cond delay="0"/>
                                          </p:stCondLst>
                                        </p:cTn>
                                        <p:tgtEl>
                                          <p:spTgt spid="870425">
                                            <p:txEl>
                                              <p:pRg st="9" end="9"/>
                                            </p:txEl>
                                          </p:spTgt>
                                        </p:tgtEl>
                                        <p:attrNameLst>
                                          <p:attrName>style.visibility</p:attrName>
                                        </p:attrNameLst>
                                      </p:cBhvr>
                                      <p:to>
                                        <p:strVal val="visible"/>
                                      </p:to>
                                    </p:set>
                                    <p:animEffect transition="in" filter="box(out)">
                                      <p:cBhvr>
                                        <p:cTn id="116" dur="500"/>
                                        <p:tgtEl>
                                          <p:spTgt spid="870425">
                                            <p:txEl>
                                              <p:pRg st="9" end="9"/>
                                            </p:txEl>
                                          </p:spTgt>
                                        </p:tgtEl>
                                      </p:cBhvr>
                                    </p:animEffect>
                                  </p:childTnLst>
                                </p:cTn>
                              </p:par>
                              <p:par>
                                <p:cTn id="117" presetID="4" presetClass="entr" presetSubtype="32" fill="hold" grpId="0" nodeType="withEffect">
                                  <p:stCondLst>
                                    <p:cond delay="0"/>
                                  </p:stCondLst>
                                  <p:childTnLst>
                                    <p:set>
                                      <p:cBhvr>
                                        <p:cTn id="118" dur="1" fill="hold">
                                          <p:stCondLst>
                                            <p:cond delay="0"/>
                                          </p:stCondLst>
                                        </p:cTn>
                                        <p:tgtEl>
                                          <p:spTgt spid="870425">
                                            <p:txEl>
                                              <p:pRg st="10" end="10"/>
                                            </p:txEl>
                                          </p:spTgt>
                                        </p:tgtEl>
                                        <p:attrNameLst>
                                          <p:attrName>style.visibility</p:attrName>
                                        </p:attrNameLst>
                                      </p:cBhvr>
                                      <p:to>
                                        <p:strVal val="visible"/>
                                      </p:to>
                                    </p:set>
                                    <p:animEffect transition="in" filter="box(out)">
                                      <p:cBhvr>
                                        <p:cTn id="119" dur="500"/>
                                        <p:tgtEl>
                                          <p:spTgt spid="870425">
                                            <p:txEl>
                                              <p:pRg st="10" end="10"/>
                                            </p:txEl>
                                          </p:spTgt>
                                        </p:tgtEl>
                                      </p:cBhvr>
                                    </p:animEffect>
                                  </p:childTnLst>
                                </p:cTn>
                              </p:par>
                              <p:par>
                                <p:cTn id="120" presetID="4" presetClass="entr" presetSubtype="32" fill="hold" grpId="0" nodeType="withEffect">
                                  <p:stCondLst>
                                    <p:cond delay="0"/>
                                  </p:stCondLst>
                                  <p:childTnLst>
                                    <p:set>
                                      <p:cBhvr>
                                        <p:cTn id="121" dur="1" fill="hold">
                                          <p:stCondLst>
                                            <p:cond delay="0"/>
                                          </p:stCondLst>
                                        </p:cTn>
                                        <p:tgtEl>
                                          <p:spTgt spid="870425">
                                            <p:txEl>
                                              <p:pRg st="11" end="11"/>
                                            </p:txEl>
                                          </p:spTgt>
                                        </p:tgtEl>
                                        <p:attrNameLst>
                                          <p:attrName>style.visibility</p:attrName>
                                        </p:attrNameLst>
                                      </p:cBhvr>
                                      <p:to>
                                        <p:strVal val="visible"/>
                                      </p:to>
                                    </p:set>
                                    <p:animEffect transition="in" filter="box(out)">
                                      <p:cBhvr>
                                        <p:cTn id="122" dur="500"/>
                                        <p:tgtEl>
                                          <p:spTgt spid="870425">
                                            <p:txEl>
                                              <p:pRg st="11" end="11"/>
                                            </p:txEl>
                                          </p:spTgt>
                                        </p:tgtEl>
                                      </p:cBhvr>
                                    </p:animEffect>
                                  </p:childTnLst>
                                </p:cTn>
                              </p:par>
                              <p:par>
                                <p:cTn id="123" presetID="4" presetClass="entr" presetSubtype="32" fill="hold" grpId="0" nodeType="withEffect">
                                  <p:stCondLst>
                                    <p:cond delay="0"/>
                                  </p:stCondLst>
                                  <p:childTnLst>
                                    <p:set>
                                      <p:cBhvr>
                                        <p:cTn id="124" dur="1" fill="hold">
                                          <p:stCondLst>
                                            <p:cond delay="0"/>
                                          </p:stCondLst>
                                        </p:cTn>
                                        <p:tgtEl>
                                          <p:spTgt spid="870425">
                                            <p:txEl>
                                              <p:pRg st="12" end="12"/>
                                            </p:txEl>
                                          </p:spTgt>
                                        </p:tgtEl>
                                        <p:attrNameLst>
                                          <p:attrName>style.visibility</p:attrName>
                                        </p:attrNameLst>
                                      </p:cBhvr>
                                      <p:to>
                                        <p:strVal val="visible"/>
                                      </p:to>
                                    </p:set>
                                    <p:animEffect transition="in" filter="box(out)">
                                      <p:cBhvr>
                                        <p:cTn id="125" dur="500"/>
                                        <p:tgtEl>
                                          <p:spTgt spid="870425">
                                            <p:txEl>
                                              <p:pRg st="12" end="12"/>
                                            </p:txEl>
                                          </p:spTgt>
                                        </p:tgtEl>
                                      </p:cBhvr>
                                    </p:animEffect>
                                  </p:childTnLst>
                                </p:cTn>
                              </p:par>
                              <p:par>
                                <p:cTn id="126" presetID="4" presetClass="entr" presetSubtype="32" fill="hold" grpId="0" nodeType="withEffect">
                                  <p:stCondLst>
                                    <p:cond delay="0"/>
                                  </p:stCondLst>
                                  <p:childTnLst>
                                    <p:set>
                                      <p:cBhvr>
                                        <p:cTn id="127" dur="1" fill="hold">
                                          <p:stCondLst>
                                            <p:cond delay="0"/>
                                          </p:stCondLst>
                                        </p:cTn>
                                        <p:tgtEl>
                                          <p:spTgt spid="870425">
                                            <p:txEl>
                                              <p:pRg st="13" end="13"/>
                                            </p:txEl>
                                          </p:spTgt>
                                        </p:tgtEl>
                                        <p:attrNameLst>
                                          <p:attrName>style.visibility</p:attrName>
                                        </p:attrNameLst>
                                      </p:cBhvr>
                                      <p:to>
                                        <p:strVal val="visible"/>
                                      </p:to>
                                    </p:set>
                                    <p:animEffect transition="in" filter="box(out)">
                                      <p:cBhvr>
                                        <p:cTn id="128" dur="500"/>
                                        <p:tgtEl>
                                          <p:spTgt spid="870425">
                                            <p:txEl>
                                              <p:pRg st="13" end="13"/>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870426"/>
                                        </p:tgtEl>
                                        <p:attrNameLst>
                                          <p:attrName>style.visibility</p:attrName>
                                        </p:attrNameLst>
                                      </p:cBhvr>
                                      <p:to>
                                        <p:strVal val="visible"/>
                                      </p:to>
                                    </p:set>
                                    <p:animEffect transition="in" filter="box(out)">
                                      <p:cBhvr>
                                        <p:cTn id="133" dur="500"/>
                                        <p:tgtEl>
                                          <p:spTgt spid="870426"/>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par>
                          <p:cTn id="134" fill="hold">
                            <p:stCondLst>
                              <p:cond delay="500"/>
                            </p:stCondLst>
                            <p:childTnLst>
                              <p:par>
                                <p:cTn id="135" presetID="18" presetClass="entr" presetSubtype="6" fill="hold" grpId="0" nodeType="afterEffect">
                                  <p:stCondLst>
                                    <p:cond delay="0"/>
                                  </p:stCondLst>
                                  <p:childTnLst>
                                    <p:set>
                                      <p:cBhvr>
                                        <p:cTn id="136" dur="1" fill="hold">
                                          <p:stCondLst>
                                            <p:cond delay="0"/>
                                          </p:stCondLst>
                                        </p:cTn>
                                        <p:tgtEl>
                                          <p:spTgt spid="870427"/>
                                        </p:tgtEl>
                                        <p:attrNameLst>
                                          <p:attrName>style.visibility</p:attrName>
                                        </p:attrNameLst>
                                      </p:cBhvr>
                                      <p:to>
                                        <p:strVal val="visible"/>
                                      </p:to>
                                    </p:set>
                                    <p:animEffect transition="in" filter="strips(downRight)">
                                      <p:cBhvr>
                                        <p:cTn id="137" dur="1000"/>
                                        <p:tgtEl>
                                          <p:spTgt spid="870427"/>
                                        </p:tgtEl>
                                      </p:cBhvr>
                                    </p:animEffect>
                                  </p:childTnLst>
                                  <p:subTnLst>
                                    <p:audio>
                                      <p:cMediaNode>
                                        <p:cTn display="0" masterRel="sameClick">
                                          <p:stCondLst>
                                            <p:cond evt="begin" delay="0">
                                              <p:tn val="135"/>
                                            </p:cond>
                                          </p:stCondLst>
                                          <p:endCondLst>
                                            <p:cond evt="onStopAudio" delay="0">
                                              <p:tgtEl>
                                                <p:sldTgt/>
                                              </p:tgtEl>
                                            </p:cond>
                                          </p:endCondLst>
                                        </p:cTn>
                                        <p:tgtEl>
                                          <p:sndTgt r:embed="rId5" name="laser.wav"/>
                                        </p:tgtEl>
                                      </p:cMediaNode>
                                    </p:audio>
                                  </p:subTnLst>
                                </p:cTn>
                              </p:par>
                            </p:childTnLst>
                          </p:cTn>
                        </p:par>
                        <p:par>
                          <p:cTn id="138" fill="hold">
                            <p:stCondLst>
                              <p:cond delay="1500"/>
                            </p:stCondLst>
                            <p:childTnLst>
                              <p:par>
                                <p:cTn id="139" presetID="18" presetClass="entr" presetSubtype="6" fill="hold" nodeType="afterEffect">
                                  <p:stCondLst>
                                    <p:cond delay="0"/>
                                  </p:stCondLst>
                                  <p:childTnLst>
                                    <p:set>
                                      <p:cBhvr>
                                        <p:cTn id="140" dur="1" fill="hold">
                                          <p:stCondLst>
                                            <p:cond delay="0"/>
                                          </p:stCondLst>
                                        </p:cTn>
                                        <p:tgtEl>
                                          <p:spTgt spid="870425">
                                            <p:txEl>
                                              <p:pRg st="8" end="8"/>
                                            </p:txEl>
                                          </p:spTgt>
                                        </p:tgtEl>
                                        <p:attrNameLst>
                                          <p:attrName>style.visibility</p:attrName>
                                        </p:attrNameLst>
                                      </p:cBhvr>
                                      <p:to>
                                        <p:strVal val="visible"/>
                                      </p:to>
                                    </p:set>
                                    <p:animEffect transition="in" filter="strips(downRight)">
                                      <p:cBhvr>
                                        <p:cTn id="141" dur="500"/>
                                        <p:tgtEl>
                                          <p:spTgt spid="870425">
                                            <p:txEl>
                                              <p:pRg st="8" end="8"/>
                                            </p:txEl>
                                          </p:spTgt>
                                        </p:tgtEl>
                                      </p:cBhvr>
                                    </p:animEffect>
                                  </p:childTnLst>
                                  <p:subTnLst>
                                    <p:animClr clrSpc="rgb" dir="cw">
                                      <p:cBhvr override="childStyle">
                                        <p:cTn dur="1" fill="hold" display="0" masterRel="nextClick" afterEffect="1"/>
                                        <p:tgtEl>
                                          <p:spTgt spid="870425">
                                            <p:txEl>
                                              <p:pRg st="8" end="8"/>
                                            </p:txEl>
                                          </p:spTgt>
                                        </p:tgtEl>
                                        <p:attrNameLst>
                                          <p:attrName>ppt_c</p:attrName>
                                        </p:attrNameLst>
                                      </p:cBhvr>
                                      <p:to>
                                        <a:srgbClr val="FF3300"/>
                                      </p:to>
                                    </p:animClr>
                                    <p:audio>
                                      <p:cMediaNode>
                                        <p:cTn display="0" masterRel="sameClick">
                                          <p:stCondLst>
                                            <p:cond evt="begin" delay="0">
                                              <p:tn val="139"/>
                                            </p:cond>
                                          </p:stCondLst>
                                          <p:endCondLst>
                                            <p:cond evt="onStopAudio" delay="0">
                                              <p:tgtEl>
                                                <p:sldTgt/>
                                              </p:tgtEl>
                                            </p:cond>
                                          </p:endCondLst>
                                        </p:cTn>
                                        <p:tgtEl>
                                          <p:sndTgt r:embed="rId5" name="laser.wav"/>
                                        </p:tgtEl>
                                      </p:cMediaNode>
                                    </p:audio>
                                  </p:subTnLst>
                                </p:cTn>
                              </p:par>
                            </p:childTnLst>
                          </p:cTn>
                        </p:par>
                        <p:par>
                          <p:cTn id="142" fill="hold">
                            <p:stCondLst>
                              <p:cond delay="2000"/>
                            </p:stCondLst>
                            <p:childTnLst>
                              <p:par>
                                <p:cTn id="143" presetID="18" presetClass="entr" presetSubtype="6" fill="hold" nodeType="afterEffect">
                                  <p:stCondLst>
                                    <p:cond delay="0"/>
                                  </p:stCondLst>
                                  <p:childTnLst>
                                    <p:set>
                                      <p:cBhvr>
                                        <p:cTn id="144" dur="1" fill="hold">
                                          <p:stCondLst>
                                            <p:cond delay="0"/>
                                          </p:stCondLst>
                                        </p:cTn>
                                        <p:tgtEl>
                                          <p:spTgt spid="870425">
                                            <p:txEl>
                                              <p:pRg st="9" end="9"/>
                                            </p:txEl>
                                          </p:spTgt>
                                        </p:tgtEl>
                                        <p:attrNameLst>
                                          <p:attrName>style.visibility</p:attrName>
                                        </p:attrNameLst>
                                      </p:cBhvr>
                                      <p:to>
                                        <p:strVal val="visible"/>
                                      </p:to>
                                    </p:set>
                                    <p:animEffect transition="in" filter="strips(downRight)">
                                      <p:cBhvr>
                                        <p:cTn id="145" dur="500"/>
                                        <p:tgtEl>
                                          <p:spTgt spid="870425">
                                            <p:txEl>
                                              <p:pRg st="9" end="9"/>
                                            </p:txEl>
                                          </p:spTgt>
                                        </p:tgtEl>
                                      </p:cBhvr>
                                    </p:animEffect>
                                  </p:childTnLst>
                                  <p:subTnLst>
                                    <p:animClr clrSpc="rgb" dir="cw">
                                      <p:cBhvr override="childStyle">
                                        <p:cTn dur="1" fill="hold" display="0" masterRel="nextClick" afterEffect="1"/>
                                        <p:tgtEl>
                                          <p:spTgt spid="870425">
                                            <p:txEl>
                                              <p:pRg st="9" end="9"/>
                                            </p:txEl>
                                          </p:spTgt>
                                        </p:tgtEl>
                                        <p:attrNameLst>
                                          <p:attrName>ppt_c</p:attrName>
                                        </p:attrNameLst>
                                      </p:cBhvr>
                                      <p:to>
                                        <a:srgbClr val="FF3300"/>
                                      </p:to>
                                    </p:animClr>
                                    <p:audio>
                                      <p:cMediaNode>
                                        <p:cTn display="0" masterRel="sameClick">
                                          <p:stCondLst>
                                            <p:cond evt="begin" delay="0">
                                              <p:tn val="143"/>
                                            </p:cond>
                                          </p:stCondLst>
                                          <p:endCondLst>
                                            <p:cond evt="onStopAudio" delay="0">
                                              <p:tgtEl>
                                                <p:sldTgt/>
                                              </p:tgtEl>
                                            </p:cond>
                                          </p:endCondLst>
                                        </p:cTn>
                                        <p:tgtEl>
                                          <p:sndTgt r:embed="rId5" name="laser.wav"/>
                                        </p:tgtEl>
                                      </p:cMediaNode>
                                    </p:audio>
                                  </p:subTnLst>
                                </p:cTn>
                              </p:par>
                            </p:childTnLst>
                          </p:cTn>
                        </p:par>
                        <p:par>
                          <p:cTn id="146" fill="hold">
                            <p:stCondLst>
                              <p:cond delay="2500"/>
                            </p:stCondLst>
                            <p:childTnLst>
                              <p:par>
                                <p:cTn id="147" presetID="18" presetClass="entr" presetSubtype="12" fill="hold" nodeType="afterEffect">
                                  <p:stCondLst>
                                    <p:cond delay="0"/>
                                  </p:stCondLst>
                                  <p:childTnLst>
                                    <p:set>
                                      <p:cBhvr>
                                        <p:cTn id="148" dur="1" fill="hold">
                                          <p:stCondLst>
                                            <p:cond delay="0"/>
                                          </p:stCondLst>
                                        </p:cTn>
                                        <p:tgtEl>
                                          <p:spTgt spid="870428"/>
                                        </p:tgtEl>
                                        <p:attrNameLst>
                                          <p:attrName>style.visibility</p:attrName>
                                        </p:attrNameLst>
                                      </p:cBhvr>
                                      <p:to>
                                        <p:strVal val="visible"/>
                                      </p:to>
                                    </p:set>
                                    <p:animEffect transition="in" filter="strips(downLeft)">
                                      <p:cBhvr>
                                        <p:cTn id="149" dur="1000"/>
                                        <p:tgtEl>
                                          <p:spTgt spid="870428"/>
                                        </p:tgtEl>
                                      </p:cBhvr>
                                    </p:animEffect>
                                  </p:childTnLst>
                                  <p:subTnLst>
                                    <p:audio>
                                      <p:cMediaNode>
                                        <p:cTn display="0" masterRel="sameClick">
                                          <p:stCondLst>
                                            <p:cond evt="begin" delay="0">
                                              <p:tn val="147"/>
                                            </p:cond>
                                          </p:stCondLst>
                                          <p:endCondLst>
                                            <p:cond evt="onStopAudio" delay="0">
                                              <p:tgtEl>
                                                <p:sldTgt/>
                                              </p:tgtEl>
                                            </p:cond>
                                          </p:endCondLst>
                                        </p:cTn>
                                        <p:tgtEl>
                                          <p:sndTgt r:embed="rId5" name="laser.wav"/>
                                        </p:tgtEl>
                                      </p:cMediaNode>
                                    </p:audio>
                                  </p:subTnLst>
                                </p:cTn>
                              </p:par>
                            </p:childTnLst>
                          </p:cTn>
                        </p:par>
                        <p:par>
                          <p:cTn id="150" fill="hold">
                            <p:stCondLst>
                              <p:cond delay="3500"/>
                            </p:stCondLst>
                            <p:childTnLst>
                              <p:par>
                                <p:cTn id="151" presetID="4" presetClass="entr" presetSubtype="32" fill="hold" grpId="0" nodeType="afterEffect">
                                  <p:stCondLst>
                                    <p:cond delay="0"/>
                                  </p:stCondLst>
                                  <p:childTnLst>
                                    <p:set>
                                      <p:cBhvr>
                                        <p:cTn id="152" dur="1" fill="hold">
                                          <p:stCondLst>
                                            <p:cond delay="0"/>
                                          </p:stCondLst>
                                        </p:cTn>
                                        <p:tgtEl>
                                          <p:spTgt spid="870432"/>
                                        </p:tgtEl>
                                        <p:attrNameLst>
                                          <p:attrName>style.visibility</p:attrName>
                                        </p:attrNameLst>
                                      </p:cBhvr>
                                      <p:to>
                                        <p:strVal val="visible"/>
                                      </p:to>
                                    </p:set>
                                    <p:animEffect transition="in" filter="box(out)">
                                      <p:cBhvr>
                                        <p:cTn id="153" dur="500"/>
                                        <p:tgtEl>
                                          <p:spTgt spid="870432"/>
                                        </p:tgtEl>
                                      </p:cBhvr>
                                    </p:animEffect>
                                  </p:childTnLst>
                                  <p:subTnLst>
                                    <p:audio>
                                      <p:cMediaNode>
                                        <p:cTn display="0" masterRel="sameClick">
                                          <p:stCondLst>
                                            <p:cond evt="begin" delay="0">
                                              <p:tn val="151"/>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08" grpId="0" build="allAtOnce" animBg="1" autoUpdateAnimBg="0"/>
      <p:bldP spid="870416" grpId="0" animBg="1"/>
      <p:bldP spid="870417" grpId="0" animBg="1"/>
      <p:bldP spid="870424" grpId="0"/>
      <p:bldP spid="870425" grpId="0" build="allAtOnce" animBg="1"/>
      <p:bldP spid="870426" grpId="0"/>
      <p:bldP spid="870427" grpId="0" animBg="1"/>
      <p:bldP spid="870432" grpId="0" animBg="1"/>
      <p:bldP spid="24" grpId="0" build="p" bldLvl="3"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C27B8CDC-B25B-4AAC-9DFA-ED9D99D6A76B}"/>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872451" name="Rectangle 3"/>
          <p:cNvSpPr>
            <a:spLocks noChangeArrowheads="1"/>
          </p:cNvSpPr>
          <p:nvPr/>
        </p:nvSpPr>
        <p:spPr bwMode="auto">
          <a:xfrm>
            <a:off x="1012568"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2455" name="Rectangle 7"/>
          <p:cNvSpPr>
            <a:spLocks noChangeArrowheads="1"/>
          </p:cNvSpPr>
          <p:nvPr/>
        </p:nvSpPr>
        <p:spPr bwMode="auto">
          <a:xfrm>
            <a:off x="1130195" y="1884844"/>
            <a:ext cx="6789756" cy="45720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(6)</a:t>
            </a:r>
            <a:r>
              <a:rPr lang="zh-CN" altLang="en-US" b="1" dirty="0">
                <a:effectLst>
                  <a:outerShdw blurRad="38100" dist="38100" dir="2700000" algn="tl">
                    <a:srgbClr val="FFFFFF"/>
                  </a:outerShdw>
                </a:effectLst>
                <a:latin typeface="+mn-lt"/>
                <a:ea typeface="楷体" pitchFamily="49" charset="-122"/>
              </a:rPr>
              <a:t>多个</a:t>
            </a:r>
            <a:r>
              <a:rPr lang="en-US" altLang="zh-CN" b="1" dirty="0">
                <a:effectLst>
                  <a:outerShdw blurRad="38100" dist="38100" dir="2700000" algn="tl">
                    <a:srgbClr val="FFFFFF"/>
                  </a:outerShdw>
                </a:effectLst>
                <a:latin typeface="+mn-lt"/>
                <a:ea typeface="楷体" pitchFamily="49" charset="-122"/>
              </a:rPr>
              <a:t>case</a:t>
            </a:r>
            <a:r>
              <a:rPr lang="zh-CN" altLang="en-US" b="1" dirty="0">
                <a:effectLst>
                  <a:outerShdw blurRad="38100" dist="38100" dir="2700000" algn="tl">
                    <a:srgbClr val="FFFFFF"/>
                  </a:outerShdw>
                </a:effectLst>
                <a:latin typeface="+mn-lt"/>
                <a:ea typeface="楷体" pitchFamily="49" charset="-122"/>
              </a:rPr>
              <a:t>子句，可共用同一语句（组）。</a:t>
            </a:r>
            <a:r>
              <a:rPr lang="zh-CN" altLang="en-US" dirty="0">
                <a:latin typeface="+mn-lt"/>
                <a:ea typeface="楷体" pitchFamily="49" charset="-122"/>
              </a:rPr>
              <a:t> </a:t>
            </a:r>
          </a:p>
        </p:txBody>
      </p:sp>
      <p:sp>
        <p:nvSpPr>
          <p:cNvPr id="872472" name="Text Box 24" descr="信纸"/>
          <p:cNvSpPr txBox="1">
            <a:spLocks noChangeArrowheads="1"/>
          </p:cNvSpPr>
          <p:nvPr/>
        </p:nvSpPr>
        <p:spPr bwMode="auto">
          <a:xfrm>
            <a:off x="897316" y="1293720"/>
            <a:ext cx="10685643" cy="526516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zh-CN" altLang="en-US" b="1" dirty="0">
                <a:solidFill>
                  <a:srgbClr val="FF33CC"/>
                </a:solidFill>
                <a:latin typeface="隶书" pitchFamily="49" charset="-122"/>
                <a:ea typeface="隶书" pitchFamily="49" charset="-122"/>
              </a:rPr>
              <a:t> </a:t>
            </a:r>
            <a:r>
              <a:rPr lang="zh-CN" altLang="en-US" b="1" dirty="0">
                <a:solidFill>
                  <a:srgbClr val="C01920"/>
                </a:solidFill>
                <a:latin typeface="隶书" pitchFamily="49" charset="-122"/>
                <a:ea typeface="隶书" pitchFamily="49" charset="-122"/>
              </a:rPr>
              <a:t>例：当</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的值是</a:t>
            </a:r>
            <a:r>
              <a:rPr lang="en-US" altLang="zh-CN" b="1" dirty="0">
                <a:solidFill>
                  <a:srgbClr val="C01920"/>
                </a:solidFill>
                <a:latin typeface="隶书" pitchFamily="49" charset="-122"/>
                <a:ea typeface="隶书" pitchFamily="49" charset="-122"/>
              </a:rPr>
              <a:t>1</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3</a:t>
            </a:r>
            <a:r>
              <a:rPr lang="zh-CN" altLang="en-US" b="1" dirty="0">
                <a:solidFill>
                  <a:srgbClr val="C01920"/>
                </a:solidFill>
                <a:latin typeface="隶书" pitchFamily="49" charset="-122"/>
                <a:ea typeface="隶书" pitchFamily="49" charset="-122"/>
              </a:rPr>
              <a:t>时，将</a:t>
            </a:r>
            <a:r>
              <a:rPr lang="en-US" altLang="zh-CN" b="1" dirty="0">
                <a:solidFill>
                  <a:srgbClr val="C01920"/>
                </a:solidFill>
                <a:latin typeface="隶书" pitchFamily="49" charset="-122"/>
                <a:ea typeface="隶书" pitchFamily="49" charset="-122"/>
              </a:rPr>
              <a:t>b</a:t>
            </a:r>
            <a:r>
              <a:rPr lang="zh-CN" altLang="en-US" b="1" dirty="0">
                <a:solidFill>
                  <a:srgbClr val="C01920"/>
                </a:solidFill>
                <a:latin typeface="隶书" pitchFamily="49" charset="-122"/>
                <a:ea typeface="隶书" pitchFamily="49" charset="-122"/>
              </a:rPr>
              <a:t>的值加</a:t>
            </a:r>
            <a:r>
              <a:rPr lang="en-US" altLang="zh-CN" b="1" dirty="0">
                <a:solidFill>
                  <a:srgbClr val="C01920"/>
                </a:solidFill>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，当</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的值是</a:t>
            </a:r>
            <a:r>
              <a:rPr lang="en-US" altLang="zh-CN" b="1" dirty="0">
                <a:solidFill>
                  <a:srgbClr val="C01920"/>
                </a:solidFill>
                <a:latin typeface="隶书" pitchFamily="49" charset="-122"/>
                <a:ea typeface="隶书" pitchFamily="49" charset="-122"/>
              </a:rPr>
              <a:t>4</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5</a:t>
            </a:r>
            <a:r>
              <a:rPr lang="zh-CN" altLang="en-US" b="1" dirty="0">
                <a:solidFill>
                  <a:srgbClr val="C01920"/>
                </a:solidFill>
                <a:latin typeface="隶书" pitchFamily="49" charset="-122"/>
                <a:ea typeface="隶书" pitchFamily="49" charset="-122"/>
              </a:rPr>
              <a:t>、</a:t>
            </a:r>
            <a:r>
              <a:rPr lang="en-US" altLang="zh-CN" b="1" dirty="0">
                <a:solidFill>
                  <a:srgbClr val="C01920"/>
                </a:solidFill>
                <a:latin typeface="隶书" pitchFamily="49" charset="-122"/>
                <a:ea typeface="隶书" pitchFamily="49" charset="-122"/>
              </a:rPr>
              <a:t>6</a:t>
            </a:r>
            <a:r>
              <a:rPr lang="zh-CN" altLang="en-US" b="1" dirty="0">
                <a:solidFill>
                  <a:srgbClr val="C01920"/>
                </a:solidFill>
                <a:latin typeface="隶书" pitchFamily="49" charset="-122"/>
                <a:ea typeface="隶书" pitchFamily="49" charset="-122"/>
              </a:rPr>
              <a:t>时，将</a:t>
            </a:r>
            <a:r>
              <a:rPr lang="en-US" altLang="zh-CN" b="1" dirty="0">
                <a:solidFill>
                  <a:srgbClr val="C01920"/>
                </a:solidFill>
                <a:latin typeface="隶书" pitchFamily="49" charset="-122"/>
                <a:ea typeface="隶书" pitchFamily="49" charset="-122"/>
              </a:rPr>
              <a:t>b</a:t>
            </a:r>
            <a:r>
              <a:rPr lang="zh-CN" altLang="en-US" b="1" dirty="0">
                <a:solidFill>
                  <a:srgbClr val="C01920"/>
                </a:solidFill>
                <a:latin typeface="隶书" pitchFamily="49" charset="-122"/>
                <a:ea typeface="隶书" pitchFamily="49" charset="-122"/>
              </a:rPr>
              <a:t>的值减</a:t>
            </a:r>
            <a:r>
              <a:rPr lang="en-US" altLang="zh-CN" b="1" dirty="0">
                <a:solidFill>
                  <a:srgbClr val="C01920"/>
                </a:solidFill>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a:t>
            </a:r>
          </a:p>
          <a:p>
            <a:pPr marL="457200" indent="-457200"/>
            <a:r>
              <a:rPr lang="zh-CN" altLang="en-US" b="1" dirty="0"/>
              <a:t>  </a:t>
            </a:r>
            <a:r>
              <a:rPr lang="en-US" altLang="zh-CN" b="1" dirty="0"/>
              <a:t>int  a, b = 4;</a:t>
            </a:r>
          </a:p>
          <a:p>
            <a:pPr marL="457200" indent="-457200"/>
            <a:r>
              <a:rPr lang="en-US" altLang="zh-CN" b="1" dirty="0"/>
              <a:t>  </a:t>
            </a:r>
            <a:r>
              <a:rPr lang="en-US" altLang="zh-CN" b="1" dirty="0" err="1"/>
              <a:t>scanf</a:t>
            </a:r>
            <a:r>
              <a:rPr lang="en-US" altLang="zh-CN" b="1" dirty="0"/>
              <a:t> ("%d", &amp;a);</a:t>
            </a:r>
          </a:p>
          <a:p>
            <a:pPr marL="457200" indent="-457200"/>
            <a:r>
              <a:rPr lang="en-US" altLang="zh-CN" b="1" dirty="0"/>
              <a:t>  switch (a)</a:t>
            </a:r>
          </a:p>
          <a:p>
            <a:pPr marL="457200" indent="-457200"/>
            <a:r>
              <a:rPr lang="en-US" altLang="zh-CN" b="1" dirty="0"/>
              <a:t>  {</a:t>
            </a:r>
          </a:p>
          <a:p>
            <a:pPr marL="457200" indent="-457200"/>
            <a:r>
              <a:rPr lang="en-US" altLang="zh-CN" b="1" dirty="0">
                <a:solidFill>
                  <a:srgbClr val="0070C0"/>
                </a:solidFill>
              </a:rPr>
              <a:t>    </a:t>
            </a:r>
            <a:r>
              <a:rPr lang="en-US" altLang="zh-CN" b="1" dirty="0">
                <a:solidFill>
                  <a:srgbClr val="002060"/>
                </a:solidFill>
              </a:rPr>
              <a:t>case 1:</a:t>
            </a:r>
          </a:p>
          <a:p>
            <a:pPr marL="457200" indent="-457200"/>
            <a:r>
              <a:rPr lang="en-US" altLang="zh-CN" b="1" dirty="0">
                <a:solidFill>
                  <a:srgbClr val="002060"/>
                </a:solidFill>
              </a:rPr>
              <a:t>    case 2:</a:t>
            </a:r>
          </a:p>
          <a:p>
            <a:pPr marL="457200" indent="-457200"/>
            <a:r>
              <a:rPr lang="en-US" altLang="zh-CN" b="1" dirty="0">
                <a:solidFill>
                  <a:srgbClr val="002060"/>
                </a:solidFill>
              </a:rPr>
              <a:t>    case 3:  b += 2;   break;</a:t>
            </a:r>
          </a:p>
          <a:p>
            <a:pPr marL="457200" indent="-457200"/>
            <a:r>
              <a:rPr lang="en-US" altLang="zh-CN" b="1" dirty="0"/>
              <a:t>    </a:t>
            </a:r>
            <a:r>
              <a:rPr lang="en-US" altLang="zh-CN" b="1" dirty="0">
                <a:solidFill>
                  <a:schemeClr val="accent1">
                    <a:lumMod val="50000"/>
                  </a:schemeClr>
                </a:solidFill>
              </a:rPr>
              <a:t>case 4:</a:t>
            </a:r>
          </a:p>
          <a:p>
            <a:pPr marL="457200" indent="-457200"/>
            <a:r>
              <a:rPr lang="en-US" altLang="zh-CN" b="1" dirty="0">
                <a:solidFill>
                  <a:schemeClr val="accent1">
                    <a:lumMod val="50000"/>
                  </a:schemeClr>
                </a:solidFill>
              </a:rPr>
              <a:t>    case 5:</a:t>
            </a:r>
          </a:p>
          <a:p>
            <a:pPr marL="457200" indent="-457200"/>
            <a:r>
              <a:rPr lang="en-US" altLang="zh-CN" b="1" dirty="0">
                <a:solidFill>
                  <a:schemeClr val="accent1">
                    <a:lumMod val="50000"/>
                  </a:schemeClr>
                </a:solidFill>
              </a:rPr>
              <a:t>    case 6:  b -= 2;    break;</a:t>
            </a:r>
          </a:p>
          <a:p>
            <a:pPr marL="457200" indent="-457200"/>
            <a:r>
              <a:rPr lang="en-US" altLang="zh-CN" b="1" dirty="0"/>
              <a:t>    default:  b *= 2;   break;</a:t>
            </a:r>
          </a:p>
          <a:p>
            <a:pPr marL="457200" indent="-457200"/>
            <a:r>
              <a:rPr lang="en-US" altLang="zh-CN" b="1" dirty="0"/>
              <a:t>  }</a:t>
            </a:r>
          </a:p>
          <a:p>
            <a:pPr marL="457200" indent="-457200"/>
            <a:r>
              <a:rPr lang="en-US" altLang="zh-CN" b="1" dirty="0"/>
              <a:t>  </a:t>
            </a:r>
            <a:r>
              <a:rPr lang="en-US" altLang="zh-CN" b="1" dirty="0" err="1"/>
              <a:t>printf</a:t>
            </a:r>
            <a:r>
              <a:rPr lang="en-US" altLang="zh-CN" b="1" dirty="0"/>
              <a:t> ("b = %d\n", b);</a:t>
            </a:r>
          </a:p>
        </p:txBody>
      </p:sp>
      <p:sp>
        <p:nvSpPr>
          <p:cNvPr id="10" name="Rectangle 45">
            <a:extLst>
              <a:ext uri="{FF2B5EF4-FFF2-40B4-BE49-F238E27FC236}">
                <a16:creationId xmlns:a16="http://schemas.microsoft.com/office/drawing/2014/main" id="{669762B1-2609-4084-ABE4-7A233CDBABD1}"/>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1" name="Rectangle 4">
            <a:extLst>
              <a:ext uri="{FF2B5EF4-FFF2-40B4-BE49-F238E27FC236}">
                <a16:creationId xmlns:a16="http://schemas.microsoft.com/office/drawing/2014/main" id="{A429AFF1-10C2-4160-9BA1-D8A91A1669A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72455">
                                            <p:txEl>
                                              <p:pRg st="0" end="0"/>
                                            </p:txEl>
                                          </p:spTgt>
                                        </p:tgtEl>
                                        <p:attrNameLst>
                                          <p:attrName>style.visibility</p:attrName>
                                        </p:attrNameLst>
                                      </p:cBhvr>
                                      <p:to>
                                        <p:strVal val="visible"/>
                                      </p:to>
                                    </p:set>
                                    <p:animEffect transition="in" filter="box(out)">
                                      <p:cBhvr>
                                        <p:cTn id="13" dur="500"/>
                                        <p:tgtEl>
                                          <p:spTgt spid="872455">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72472"/>
                                        </p:tgtEl>
                                        <p:attrNameLst>
                                          <p:attrName>style.visibility</p:attrName>
                                        </p:attrNameLst>
                                      </p:cBhvr>
                                      <p:to>
                                        <p:strVal val="visible"/>
                                      </p:to>
                                    </p:set>
                                    <p:animEffect transition="in" filter="box(out)">
                                      <p:cBhvr>
                                        <p:cTn id="18" dur="500"/>
                                        <p:tgtEl>
                                          <p:spTgt spid="87247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3" autoUpdateAnimBg="0"/>
      <p:bldP spid="872472"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28B4098E-E349-448D-A19C-B504DBCD6DC8}"/>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12" name="Rectangle 45">
            <a:extLst>
              <a:ext uri="{FF2B5EF4-FFF2-40B4-BE49-F238E27FC236}">
                <a16:creationId xmlns:a16="http://schemas.microsoft.com/office/drawing/2014/main" id="{2DF7FB9D-333B-4A52-9B98-551471D6736C}"/>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3" name="Rectangle 4">
            <a:extLst>
              <a:ext uri="{FF2B5EF4-FFF2-40B4-BE49-F238E27FC236}">
                <a16:creationId xmlns:a16="http://schemas.microsoft.com/office/drawing/2014/main" id="{00AE3EAD-60C8-4CD1-92BC-0A869FC7183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
        <p:nvSpPr>
          <p:cNvPr id="874499" name="Rectangle 3"/>
          <p:cNvSpPr>
            <a:spLocks noChangeArrowheads="1"/>
          </p:cNvSpPr>
          <p:nvPr/>
        </p:nvSpPr>
        <p:spPr bwMode="auto">
          <a:xfrm>
            <a:off x="1016751"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4503" name="Rectangle 7"/>
          <p:cNvSpPr>
            <a:spLocks noChangeArrowheads="1"/>
          </p:cNvSpPr>
          <p:nvPr/>
        </p:nvSpPr>
        <p:spPr bwMode="auto">
          <a:xfrm>
            <a:off x="728194" y="1847751"/>
            <a:ext cx="11227114" cy="830997"/>
          </a:xfrm>
          <a:prstGeom prst="rect">
            <a:avLst/>
          </a:prstGeom>
          <a:noFill/>
          <a:ln w="9525">
            <a:noFill/>
            <a:miter lim="800000"/>
            <a:headEnd/>
            <a:tailEnd/>
          </a:ln>
          <a:effectLst/>
        </p:spPr>
        <p:txBody>
          <a:bodyPr wrap="square" anchor="ctr">
            <a:spAutoFit/>
          </a:bodyPr>
          <a:lstStyle/>
          <a:p>
            <a:r>
              <a:rPr lang="en-US" altLang="zh-CN" b="1" dirty="0">
                <a:latin typeface="+mn-lt"/>
                <a:ea typeface="楷体" pitchFamily="49" charset="-122"/>
              </a:rPr>
              <a:t>         (7) case</a:t>
            </a:r>
            <a:r>
              <a:rPr lang="zh-CN" altLang="en-US" b="1" dirty="0">
                <a:latin typeface="+mn-lt"/>
                <a:ea typeface="楷体" pitchFamily="49" charset="-122"/>
              </a:rPr>
              <a:t>子句和</a:t>
            </a:r>
            <a:r>
              <a:rPr lang="en-US" altLang="zh-CN" b="1" dirty="0">
                <a:latin typeface="+mn-lt"/>
                <a:ea typeface="楷体" pitchFamily="49" charset="-122"/>
              </a:rPr>
              <a:t>default</a:t>
            </a:r>
            <a:r>
              <a:rPr lang="zh-CN" altLang="en-US" b="1" dirty="0">
                <a:latin typeface="+mn-lt"/>
                <a:ea typeface="楷体" pitchFamily="49" charset="-122"/>
              </a:rPr>
              <a:t>子句如果都带有</a:t>
            </a:r>
            <a:r>
              <a:rPr lang="en-US" altLang="zh-CN" b="1" dirty="0">
                <a:latin typeface="+mn-lt"/>
                <a:ea typeface="楷体" pitchFamily="49" charset="-122"/>
              </a:rPr>
              <a:t>break</a:t>
            </a:r>
            <a:r>
              <a:rPr lang="zh-CN" altLang="en-US" b="1" dirty="0">
                <a:latin typeface="+mn-lt"/>
                <a:ea typeface="楷体" pitchFamily="49" charset="-122"/>
              </a:rPr>
              <a:t>子句，那么它们之间顺序的变化不会影响</a:t>
            </a:r>
            <a:r>
              <a:rPr lang="en-US" altLang="zh-CN" b="1" dirty="0">
                <a:latin typeface="+mn-lt"/>
                <a:ea typeface="楷体" pitchFamily="49" charset="-122"/>
              </a:rPr>
              <a:t>switch</a:t>
            </a:r>
            <a:r>
              <a:rPr lang="zh-CN" altLang="en-US" b="1" dirty="0">
                <a:latin typeface="+mn-lt"/>
                <a:ea typeface="楷体" pitchFamily="49" charset="-122"/>
              </a:rPr>
              <a:t>语句的功能。 </a:t>
            </a:r>
          </a:p>
        </p:txBody>
      </p:sp>
      <p:sp>
        <p:nvSpPr>
          <p:cNvPr id="874504" name="Text Box 8" descr="信纸"/>
          <p:cNvSpPr txBox="1">
            <a:spLocks noChangeArrowheads="1"/>
          </p:cNvSpPr>
          <p:nvPr/>
        </p:nvSpPr>
        <p:spPr bwMode="auto">
          <a:xfrm>
            <a:off x="1284610" y="1558453"/>
            <a:ext cx="4719600" cy="5080494"/>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t>  #include &lt;</a:t>
            </a:r>
            <a:r>
              <a:rPr lang="en-US" altLang="zh-CN" sz="1800" b="1" dirty="0" err="1"/>
              <a:t>stdio.h</a:t>
            </a:r>
            <a:r>
              <a:rPr lang="en-US" altLang="zh-CN" sz="1800" b="1" dirty="0"/>
              <a:t>&gt;</a:t>
            </a:r>
          </a:p>
          <a:p>
            <a:pPr marL="457200" indent="-457200"/>
            <a:r>
              <a:rPr lang="en-US" altLang="zh-CN" sz="1800" b="1" dirty="0">
                <a:solidFill>
                  <a:srgbClr val="C01920"/>
                </a:solidFill>
              </a:rPr>
              <a:t>  </a:t>
            </a:r>
            <a:r>
              <a:rPr lang="en-US" altLang="zh-CN" sz="1800" b="1" dirty="0" err="1">
                <a:solidFill>
                  <a:srgbClr val="C01920"/>
                </a:solidFill>
              </a:rPr>
              <a:t>int</a:t>
            </a:r>
            <a:r>
              <a:rPr lang="en-US" altLang="zh-CN" sz="1800" b="1" dirty="0">
                <a:solidFill>
                  <a:srgbClr val="C01920"/>
                </a:solidFill>
              </a:rPr>
              <a:t> main ( )</a:t>
            </a:r>
          </a:p>
          <a:p>
            <a:pPr marL="457200" indent="-457200"/>
            <a:r>
              <a:rPr lang="en-US" altLang="zh-CN" sz="1800" b="1" dirty="0"/>
              <a:t>  {</a:t>
            </a:r>
          </a:p>
          <a:p>
            <a:pPr marL="457200" indent="-457200"/>
            <a:r>
              <a:rPr lang="en-US" altLang="zh-CN" sz="1800" b="1" dirty="0"/>
              <a:t>    char  </a:t>
            </a:r>
            <a:r>
              <a:rPr lang="en-US" altLang="zh-CN" sz="1800" b="1" dirty="0" err="1"/>
              <a:t>ch</a:t>
            </a:r>
            <a:r>
              <a:rPr lang="en-US" altLang="zh-CN" sz="1800" b="1" dirty="0"/>
              <a:t>;</a:t>
            </a:r>
          </a:p>
          <a:p>
            <a:pPr marL="457200" indent="-457200"/>
            <a:r>
              <a:rPr lang="en-US" altLang="zh-CN" sz="1800" b="1" dirty="0"/>
              <a:t>    </a:t>
            </a:r>
            <a:r>
              <a:rPr lang="en-US" altLang="zh-CN" sz="1800" b="1" dirty="0" err="1"/>
              <a:t>ch</a:t>
            </a:r>
            <a:r>
              <a:rPr lang="en-US" altLang="zh-CN" sz="1800" b="1" dirty="0"/>
              <a:t> = </a:t>
            </a:r>
            <a:r>
              <a:rPr lang="en-US" altLang="zh-CN" sz="1800" b="1" dirty="0" err="1"/>
              <a:t>getch</a:t>
            </a:r>
            <a:r>
              <a:rPr lang="en-US" altLang="zh-CN" sz="1800" b="1" dirty="0"/>
              <a:t> ( );</a:t>
            </a:r>
          </a:p>
          <a:p>
            <a:pPr marL="457200" indent="-457200"/>
            <a:r>
              <a:rPr lang="en-US" altLang="zh-CN" sz="1800" b="1" dirty="0"/>
              <a:t>    switch ( </a:t>
            </a:r>
            <a:r>
              <a:rPr lang="en-US" altLang="zh-CN" sz="1800" b="1" dirty="0" err="1"/>
              <a:t>ch</a:t>
            </a:r>
            <a:r>
              <a:rPr lang="en-US" altLang="zh-CN" sz="1800" b="1" dirty="0"/>
              <a:t> )</a:t>
            </a:r>
          </a:p>
          <a:p>
            <a:pPr marL="457200" indent="-457200"/>
            <a:r>
              <a:rPr lang="en-US" altLang="zh-CN" sz="1800" b="1" dirty="0"/>
              <a:t>    {</a:t>
            </a:r>
          </a:p>
          <a:p>
            <a:pPr marL="457200" indent="-457200"/>
            <a:r>
              <a:rPr lang="en-US" altLang="zh-CN" sz="1800" b="1" dirty="0"/>
              <a:t>      case 'Y' :  </a:t>
            </a:r>
            <a:r>
              <a:rPr lang="en-US" altLang="zh-CN" sz="1800" b="1" dirty="0" err="1"/>
              <a:t>printf</a:t>
            </a:r>
            <a:r>
              <a:rPr lang="en-US" altLang="zh-CN" sz="1800" b="1" dirty="0"/>
              <a:t> ("Yes\n");  </a:t>
            </a:r>
          </a:p>
          <a:p>
            <a:pPr marL="457200" indent="-457200"/>
            <a:r>
              <a:rPr lang="en-US" altLang="zh-CN" sz="1800" b="1" dirty="0"/>
              <a:t>                       break;</a:t>
            </a:r>
          </a:p>
          <a:p>
            <a:pPr marL="457200" indent="-457200"/>
            <a:r>
              <a:rPr lang="en-US" altLang="zh-CN" sz="1800" b="1" dirty="0"/>
              <a:t>      case 'N' :  </a:t>
            </a:r>
            <a:r>
              <a:rPr lang="en-US" altLang="zh-CN" sz="1800" b="1" dirty="0" err="1"/>
              <a:t>printf</a:t>
            </a:r>
            <a:r>
              <a:rPr lang="en-US" altLang="zh-CN" sz="1800" b="1" dirty="0"/>
              <a:t> ("No\n");  </a:t>
            </a:r>
          </a:p>
          <a:p>
            <a:pPr marL="457200" indent="-457200"/>
            <a:r>
              <a:rPr lang="en-US" altLang="zh-CN" sz="1800" b="1" dirty="0"/>
              <a:t>                       break;</a:t>
            </a:r>
          </a:p>
          <a:p>
            <a:pPr marL="457200" indent="-457200"/>
            <a:r>
              <a:rPr lang="en-US" altLang="zh-CN" sz="1800" b="1" dirty="0"/>
              <a:t>      case 'A' :  </a:t>
            </a:r>
            <a:r>
              <a:rPr lang="en-US" altLang="zh-CN" sz="1800" b="1" dirty="0" err="1"/>
              <a:t>printf</a:t>
            </a:r>
            <a:r>
              <a:rPr lang="en-US" altLang="zh-CN" sz="1800" b="1" dirty="0"/>
              <a:t> ("All\n");  </a:t>
            </a:r>
          </a:p>
          <a:p>
            <a:pPr marL="457200" indent="-457200"/>
            <a:r>
              <a:rPr lang="en-US" altLang="zh-CN" sz="1800" b="1" dirty="0"/>
              <a:t>                       break;</a:t>
            </a:r>
          </a:p>
          <a:p>
            <a:pPr marL="457200" indent="-457200"/>
            <a:r>
              <a:rPr lang="en-US" altLang="zh-CN" sz="1800" b="1" dirty="0"/>
              <a:t>      </a:t>
            </a:r>
            <a:r>
              <a:rPr lang="en-US" altLang="zh-CN" sz="1800" b="1" dirty="0">
                <a:solidFill>
                  <a:srgbClr val="C01920"/>
                </a:solidFill>
              </a:rPr>
              <a:t>default :   </a:t>
            </a:r>
            <a:r>
              <a:rPr lang="en-US" altLang="zh-CN" sz="1800" b="1" dirty="0" err="1">
                <a:solidFill>
                  <a:srgbClr val="C01920"/>
                </a:solidFill>
              </a:rPr>
              <a:t>printf</a:t>
            </a:r>
            <a:r>
              <a:rPr lang="en-US" altLang="zh-CN" sz="1800" b="1" dirty="0">
                <a:solidFill>
                  <a:srgbClr val="C01920"/>
                </a:solidFill>
              </a:rPr>
              <a:t> ("</a:t>
            </a:r>
            <a:r>
              <a:rPr lang="en-US" altLang="zh-CN" sz="1800" b="1" dirty="0" err="1">
                <a:solidFill>
                  <a:srgbClr val="C01920"/>
                </a:solidFill>
              </a:rPr>
              <a:t>Yes,No</a:t>
            </a:r>
            <a:r>
              <a:rPr lang="en-US" altLang="zh-CN" sz="1800" b="1" dirty="0">
                <a:solidFill>
                  <a:srgbClr val="C01920"/>
                </a:solidFill>
              </a:rPr>
              <a:t> or All\n"); </a:t>
            </a:r>
          </a:p>
          <a:p>
            <a:pPr marL="457200" indent="-457200"/>
            <a:r>
              <a:rPr lang="en-US" altLang="zh-CN" sz="1800" b="1" dirty="0">
                <a:solidFill>
                  <a:srgbClr val="C01920"/>
                </a:solidFill>
              </a:rPr>
              <a:t>                       break;</a:t>
            </a:r>
          </a:p>
          <a:p>
            <a:pPr marL="457200" indent="-457200"/>
            <a:r>
              <a:rPr lang="en-US" altLang="zh-CN" sz="1800" b="1" dirty="0"/>
              <a:t>    }</a:t>
            </a:r>
          </a:p>
          <a:p>
            <a:pPr marL="457200" indent="-457200"/>
            <a:r>
              <a:rPr lang="en-US" altLang="zh-CN" sz="1800" b="1" dirty="0"/>
              <a:t>    return 0;</a:t>
            </a:r>
          </a:p>
          <a:p>
            <a:pPr marL="457200" indent="-457200"/>
            <a:r>
              <a:rPr lang="en-US" altLang="zh-CN" sz="1800" b="1" dirty="0"/>
              <a:t>  }</a:t>
            </a:r>
          </a:p>
        </p:txBody>
      </p:sp>
      <p:sp>
        <p:nvSpPr>
          <p:cNvPr id="874505" name="Text Box 9" descr="信纸"/>
          <p:cNvSpPr txBox="1">
            <a:spLocks noChangeArrowheads="1"/>
          </p:cNvSpPr>
          <p:nvPr/>
        </p:nvSpPr>
        <p:spPr bwMode="auto">
          <a:xfrm>
            <a:off x="6631406" y="1558453"/>
            <a:ext cx="4721178" cy="5080494"/>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t>  #include &lt;</a:t>
            </a:r>
            <a:r>
              <a:rPr lang="en-US" altLang="zh-CN" sz="1800" b="1" dirty="0" err="1"/>
              <a:t>stdio.h</a:t>
            </a:r>
            <a:r>
              <a:rPr lang="en-US" altLang="zh-CN" sz="1800" b="1" dirty="0"/>
              <a:t>&gt;</a:t>
            </a:r>
          </a:p>
          <a:p>
            <a:pPr marL="457200" indent="-457200"/>
            <a:r>
              <a:rPr lang="en-US" altLang="zh-CN" sz="1800" b="1" dirty="0">
                <a:solidFill>
                  <a:srgbClr val="CC3300"/>
                </a:solidFill>
              </a:rPr>
              <a:t>  </a:t>
            </a:r>
            <a:r>
              <a:rPr lang="en-US" altLang="zh-CN" sz="1800" b="1" dirty="0" err="1">
                <a:solidFill>
                  <a:srgbClr val="C01920"/>
                </a:solidFill>
              </a:rPr>
              <a:t>int</a:t>
            </a:r>
            <a:r>
              <a:rPr lang="en-US" altLang="zh-CN" sz="1800" b="1" dirty="0">
                <a:solidFill>
                  <a:srgbClr val="C01920"/>
                </a:solidFill>
              </a:rPr>
              <a:t> main ( )</a:t>
            </a:r>
          </a:p>
          <a:p>
            <a:pPr marL="457200" indent="-457200"/>
            <a:r>
              <a:rPr lang="en-US" altLang="zh-CN" sz="1800" b="1" dirty="0"/>
              <a:t>  {</a:t>
            </a:r>
          </a:p>
          <a:p>
            <a:pPr marL="457200" indent="-457200"/>
            <a:r>
              <a:rPr lang="en-US" altLang="zh-CN" sz="1800" b="1" dirty="0"/>
              <a:t>    char  </a:t>
            </a:r>
            <a:r>
              <a:rPr lang="en-US" altLang="zh-CN" sz="1800" b="1" dirty="0" err="1"/>
              <a:t>ch</a:t>
            </a:r>
            <a:r>
              <a:rPr lang="en-US" altLang="zh-CN" sz="1800" b="1" dirty="0"/>
              <a:t>;</a:t>
            </a:r>
          </a:p>
          <a:p>
            <a:pPr marL="457200" indent="-457200"/>
            <a:r>
              <a:rPr lang="en-US" altLang="zh-CN" sz="1800" b="1" dirty="0"/>
              <a:t>    </a:t>
            </a:r>
            <a:r>
              <a:rPr lang="en-US" altLang="zh-CN" sz="1800" b="1" dirty="0" err="1"/>
              <a:t>ch</a:t>
            </a:r>
            <a:r>
              <a:rPr lang="en-US" altLang="zh-CN" sz="1800" b="1" dirty="0"/>
              <a:t> = </a:t>
            </a:r>
            <a:r>
              <a:rPr lang="en-US" altLang="zh-CN" sz="1800" b="1" dirty="0" err="1"/>
              <a:t>getch</a:t>
            </a:r>
            <a:r>
              <a:rPr lang="en-US" altLang="zh-CN" sz="1800" b="1" dirty="0"/>
              <a:t> ( );</a:t>
            </a:r>
          </a:p>
          <a:p>
            <a:pPr marL="457200" indent="-457200"/>
            <a:r>
              <a:rPr lang="en-US" altLang="zh-CN" sz="1800" b="1" dirty="0"/>
              <a:t>    switch ( </a:t>
            </a:r>
            <a:r>
              <a:rPr lang="en-US" altLang="zh-CN" sz="1800" b="1" dirty="0" err="1"/>
              <a:t>ch</a:t>
            </a:r>
            <a:r>
              <a:rPr lang="en-US" altLang="zh-CN" sz="1800" b="1" dirty="0"/>
              <a:t> )</a:t>
            </a:r>
          </a:p>
          <a:p>
            <a:pPr marL="457200" indent="-457200"/>
            <a:r>
              <a:rPr lang="en-US" altLang="zh-CN" sz="1800" b="1" dirty="0"/>
              <a:t>    {</a:t>
            </a:r>
          </a:p>
          <a:p>
            <a:pPr marL="457200" indent="-457200"/>
            <a:r>
              <a:rPr lang="en-US" altLang="zh-CN" sz="1800" b="1" dirty="0"/>
              <a:t>      case 'Y' :  </a:t>
            </a:r>
            <a:r>
              <a:rPr lang="en-US" altLang="zh-CN" sz="1800" b="1" dirty="0" err="1"/>
              <a:t>printf</a:t>
            </a:r>
            <a:r>
              <a:rPr lang="en-US" altLang="zh-CN" sz="1800" b="1" dirty="0"/>
              <a:t> ("Yes\n");  </a:t>
            </a:r>
          </a:p>
          <a:p>
            <a:pPr marL="457200" indent="-457200"/>
            <a:r>
              <a:rPr lang="en-US" altLang="zh-CN" sz="1800" b="1" dirty="0"/>
              <a:t>                       break;</a:t>
            </a:r>
          </a:p>
          <a:p>
            <a:pPr marL="457200" indent="-457200"/>
            <a:r>
              <a:rPr lang="en-US" altLang="zh-CN" sz="1800" dirty="0">
                <a:solidFill>
                  <a:srgbClr val="C01920"/>
                </a:solidFill>
              </a:rPr>
              <a:t>      </a:t>
            </a:r>
            <a:r>
              <a:rPr lang="en-US" altLang="zh-CN" sz="1800" b="1" dirty="0">
                <a:solidFill>
                  <a:srgbClr val="C01920"/>
                </a:solidFill>
              </a:rPr>
              <a:t>default :  </a:t>
            </a:r>
            <a:r>
              <a:rPr lang="en-US" altLang="zh-CN" sz="1800" b="1" dirty="0" err="1">
                <a:solidFill>
                  <a:srgbClr val="C01920"/>
                </a:solidFill>
              </a:rPr>
              <a:t>printf</a:t>
            </a:r>
            <a:r>
              <a:rPr lang="en-US" altLang="zh-CN" sz="1800" b="1" dirty="0">
                <a:solidFill>
                  <a:srgbClr val="C01920"/>
                </a:solidFill>
              </a:rPr>
              <a:t> ("</a:t>
            </a:r>
            <a:r>
              <a:rPr lang="en-US" altLang="zh-CN" sz="1800" b="1" dirty="0" err="1">
                <a:solidFill>
                  <a:srgbClr val="C01920"/>
                </a:solidFill>
              </a:rPr>
              <a:t>Yes,No</a:t>
            </a:r>
            <a:r>
              <a:rPr lang="en-US" altLang="zh-CN" sz="1800" b="1" dirty="0">
                <a:solidFill>
                  <a:srgbClr val="C01920"/>
                </a:solidFill>
              </a:rPr>
              <a:t> or All\n"); </a:t>
            </a:r>
          </a:p>
          <a:p>
            <a:pPr marL="457200" indent="-457200"/>
            <a:r>
              <a:rPr lang="en-US" altLang="zh-CN" sz="1800" b="1" dirty="0">
                <a:solidFill>
                  <a:srgbClr val="C01920"/>
                </a:solidFill>
              </a:rPr>
              <a:t>                       break;</a:t>
            </a:r>
          </a:p>
          <a:p>
            <a:pPr marL="457200" indent="-457200"/>
            <a:r>
              <a:rPr lang="en-US" altLang="zh-CN" sz="1800" b="1" dirty="0"/>
              <a:t>      case 'N' :  </a:t>
            </a:r>
            <a:r>
              <a:rPr lang="en-US" altLang="zh-CN" sz="1800" b="1" dirty="0" err="1"/>
              <a:t>printf</a:t>
            </a:r>
            <a:r>
              <a:rPr lang="en-US" altLang="zh-CN" sz="1800" b="1" dirty="0"/>
              <a:t> ("No\n");  </a:t>
            </a:r>
          </a:p>
          <a:p>
            <a:pPr marL="457200" indent="-457200"/>
            <a:r>
              <a:rPr lang="en-US" altLang="zh-CN" sz="1800" b="1" dirty="0"/>
              <a:t>                       break;</a:t>
            </a:r>
          </a:p>
          <a:p>
            <a:pPr marL="457200" indent="-457200"/>
            <a:r>
              <a:rPr lang="en-US" altLang="zh-CN" sz="1800" b="1" dirty="0"/>
              <a:t>      case 'A' :  </a:t>
            </a:r>
            <a:r>
              <a:rPr lang="en-US" altLang="zh-CN" sz="1800" b="1" dirty="0" err="1"/>
              <a:t>printf</a:t>
            </a:r>
            <a:r>
              <a:rPr lang="en-US" altLang="zh-CN" sz="1800" b="1" dirty="0"/>
              <a:t> ("All\n");  </a:t>
            </a:r>
          </a:p>
          <a:p>
            <a:pPr marL="457200" indent="-457200"/>
            <a:r>
              <a:rPr lang="en-US" altLang="zh-CN" sz="1800" b="1" dirty="0"/>
              <a:t>                       break;</a:t>
            </a:r>
          </a:p>
          <a:p>
            <a:pPr marL="457200" indent="-457200"/>
            <a:r>
              <a:rPr lang="en-US" altLang="zh-CN" sz="1800" b="1" dirty="0"/>
              <a:t>    }</a:t>
            </a:r>
          </a:p>
          <a:p>
            <a:pPr marL="457200" indent="-457200"/>
            <a:r>
              <a:rPr lang="en-US" altLang="zh-CN" sz="1800" b="1" dirty="0"/>
              <a:t>    return 0;</a:t>
            </a:r>
          </a:p>
          <a:p>
            <a:pPr marL="457200" indent="-457200"/>
            <a:r>
              <a:rPr lang="en-US" altLang="zh-CN" sz="1800" b="1" dirty="0"/>
              <a:t>  }</a:t>
            </a:r>
          </a:p>
        </p:txBody>
      </p:sp>
      <p:sp>
        <p:nvSpPr>
          <p:cNvPr id="874506" name="AutoShape 10"/>
          <p:cNvSpPr>
            <a:spLocks noChangeArrowheads="1"/>
          </p:cNvSpPr>
          <p:nvPr/>
        </p:nvSpPr>
        <p:spPr bwMode="auto">
          <a:xfrm>
            <a:off x="5377013" y="3678368"/>
            <a:ext cx="1655762" cy="503238"/>
          </a:xfrm>
          <a:prstGeom prst="leftRightArrow">
            <a:avLst>
              <a:gd name="adj1" fmla="val 50000"/>
              <a:gd name="adj2" fmla="val 65804"/>
            </a:avLst>
          </a:prstGeom>
          <a:gradFill rotWithShape="1">
            <a:gsLst>
              <a:gs pos="0">
                <a:srgbClr val="C01920"/>
              </a:gs>
              <a:gs pos="100000">
                <a:srgbClr val="C01920"/>
              </a:gs>
            </a:gsLst>
            <a:lin ang="5400000" scaled="1"/>
          </a:gra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74503">
                                            <p:txEl>
                                              <p:pRg st="0" end="0"/>
                                            </p:txEl>
                                          </p:spTgt>
                                        </p:tgtEl>
                                        <p:attrNameLst>
                                          <p:attrName>style.visibility</p:attrName>
                                        </p:attrNameLst>
                                      </p:cBhvr>
                                      <p:to>
                                        <p:strVal val="visible"/>
                                      </p:to>
                                    </p:set>
                                    <p:animEffect transition="in" filter="box(out)">
                                      <p:cBhvr>
                                        <p:cTn id="13" dur="500"/>
                                        <p:tgtEl>
                                          <p:spTgt spid="874503">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74504"/>
                                        </p:tgtEl>
                                        <p:attrNameLst>
                                          <p:attrName>style.visibility</p:attrName>
                                        </p:attrNameLst>
                                      </p:cBhvr>
                                      <p:to>
                                        <p:strVal val="visible"/>
                                      </p:to>
                                    </p:set>
                                    <p:animEffect transition="in" filter="box(out)">
                                      <p:cBhvr>
                                        <p:cTn id="18" dur="500"/>
                                        <p:tgtEl>
                                          <p:spTgt spid="874504"/>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874506"/>
                                        </p:tgtEl>
                                        <p:attrNameLst>
                                          <p:attrName>style.visibility</p:attrName>
                                        </p:attrNameLst>
                                      </p:cBhvr>
                                      <p:to>
                                        <p:strVal val="visible"/>
                                      </p:to>
                                    </p:set>
                                    <p:animEffect transition="in" filter="strips(downRight)">
                                      <p:cBhvr>
                                        <p:cTn id="23" dur="500"/>
                                        <p:tgtEl>
                                          <p:spTgt spid="874506"/>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874505"/>
                                        </p:tgtEl>
                                        <p:attrNameLst>
                                          <p:attrName>style.visibility</p:attrName>
                                        </p:attrNameLst>
                                      </p:cBhvr>
                                      <p:to>
                                        <p:strVal val="visible"/>
                                      </p:to>
                                    </p:set>
                                    <p:animEffect transition="in" filter="box(out)">
                                      <p:cBhvr>
                                        <p:cTn id="27" dur="500"/>
                                        <p:tgtEl>
                                          <p:spTgt spid="874505"/>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3" autoUpdateAnimBg="0"/>
      <p:bldP spid="874504" grpId="0" animBg="1" autoUpdateAnimBg="0"/>
      <p:bldP spid="874505" grpId="0" animBg="1" autoUpdateAnimBg="0"/>
      <p:bldP spid="87450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207D08F8-6535-4C4F-8C6E-ADFADCEAF1D5}"/>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876547" name="Rectangle 3"/>
          <p:cNvSpPr>
            <a:spLocks noChangeArrowheads="1"/>
          </p:cNvSpPr>
          <p:nvPr/>
        </p:nvSpPr>
        <p:spPr bwMode="auto">
          <a:xfrm>
            <a:off x="948319" y="5960468"/>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6551" name="Rectangle 7"/>
          <p:cNvSpPr>
            <a:spLocks noChangeArrowheads="1"/>
          </p:cNvSpPr>
          <p:nvPr/>
        </p:nvSpPr>
        <p:spPr bwMode="auto">
          <a:xfrm>
            <a:off x="819509" y="1932910"/>
            <a:ext cx="10911741"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_GB2312" pitchFamily="49" charset="-122"/>
                <a:ea typeface="楷体_GB2312" pitchFamily="49" charset="-122"/>
              </a:rPr>
              <a:t>       </a:t>
            </a:r>
            <a:r>
              <a:rPr lang="en-US" altLang="zh-CN" b="1" dirty="0">
                <a:effectLst>
                  <a:outerShdw blurRad="38100" dist="38100" dir="2700000" algn="tl">
                    <a:srgbClr val="FFFFFF"/>
                  </a:outerShdw>
                </a:effectLst>
                <a:latin typeface="+mn-lt"/>
                <a:ea typeface="楷体" pitchFamily="49" charset="-122"/>
              </a:rPr>
              <a:t>(8) case</a:t>
            </a:r>
            <a:r>
              <a:rPr lang="zh-CN" altLang="en-US" b="1" dirty="0">
                <a:effectLst>
                  <a:outerShdw blurRad="38100" dist="38100" dir="2700000" algn="tl">
                    <a:srgbClr val="FFFFFF"/>
                  </a:outerShdw>
                </a:effectLst>
                <a:latin typeface="+mn-lt"/>
                <a:ea typeface="楷体" pitchFamily="49" charset="-122"/>
              </a:rPr>
              <a:t>子句和</a:t>
            </a:r>
            <a:r>
              <a:rPr lang="en-US" altLang="zh-CN" b="1" dirty="0">
                <a:effectLst>
                  <a:outerShdw blurRad="38100" dist="38100" dir="2700000" algn="tl">
                    <a:srgbClr val="FFFFFF"/>
                  </a:outerShdw>
                </a:effectLst>
                <a:latin typeface="+mn-lt"/>
                <a:ea typeface="楷体" pitchFamily="49" charset="-122"/>
              </a:rPr>
              <a:t>default</a:t>
            </a:r>
            <a:r>
              <a:rPr lang="zh-CN" altLang="en-US" b="1" dirty="0">
                <a:effectLst>
                  <a:outerShdw blurRad="38100" dist="38100" dir="2700000" algn="tl">
                    <a:srgbClr val="FFFFFF"/>
                  </a:outerShdw>
                </a:effectLst>
                <a:latin typeface="+mn-lt"/>
                <a:ea typeface="楷体" pitchFamily="49" charset="-122"/>
              </a:rPr>
              <a:t>子句如果有的带有</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子句，而有的没有带</a:t>
            </a:r>
            <a:r>
              <a:rPr lang="en-US" altLang="zh-CN" b="1" dirty="0">
                <a:effectLst>
                  <a:outerShdw blurRad="38100" dist="38100" dir="2700000" algn="tl">
                    <a:srgbClr val="FFFFFF"/>
                  </a:outerShdw>
                </a:effectLst>
                <a:latin typeface="+mn-lt"/>
                <a:ea typeface="楷体" pitchFamily="49" charset="-122"/>
              </a:rPr>
              <a:t>break</a:t>
            </a:r>
            <a:r>
              <a:rPr lang="zh-CN" altLang="en-US" b="1" dirty="0">
                <a:effectLst>
                  <a:outerShdw blurRad="38100" dist="38100" dir="2700000" algn="tl">
                    <a:srgbClr val="FFFFFF"/>
                  </a:outerShdw>
                </a:effectLst>
                <a:latin typeface="+mn-lt"/>
                <a:ea typeface="楷体" pitchFamily="49" charset="-122"/>
              </a:rPr>
              <a:t>子句，那么它们之间顺序的变化可能会影响输出的结果。 </a:t>
            </a:r>
          </a:p>
        </p:txBody>
      </p:sp>
      <p:sp>
        <p:nvSpPr>
          <p:cNvPr id="876555" name="Text Box 11" descr="信纸"/>
          <p:cNvSpPr txBox="1">
            <a:spLocks noChangeArrowheads="1"/>
          </p:cNvSpPr>
          <p:nvPr/>
        </p:nvSpPr>
        <p:spPr bwMode="auto">
          <a:xfrm>
            <a:off x="1089136" y="1725860"/>
            <a:ext cx="4935600" cy="5018939"/>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72000"/>
            <a:r>
              <a:rPr lang="en-US" altLang="zh-CN" sz="2000" b="1" dirty="0"/>
              <a:t>#include &lt;</a:t>
            </a:r>
            <a:r>
              <a:rPr lang="en-US" altLang="zh-CN" sz="2000" b="1" dirty="0" err="1"/>
              <a:t>stdio.h</a:t>
            </a:r>
            <a:r>
              <a:rPr lang="en-US" altLang="zh-CN" sz="2000" b="1" dirty="0"/>
              <a:t>&gt;</a:t>
            </a:r>
          </a:p>
          <a:p>
            <a:pPr marL="72000"/>
            <a:r>
              <a:rPr lang="en-US" altLang="zh-CN" sz="2000" b="1" dirty="0">
                <a:solidFill>
                  <a:srgbClr val="C01920"/>
                </a:solidFill>
              </a:rPr>
              <a:t>void main ( )</a:t>
            </a:r>
          </a:p>
          <a:p>
            <a:pPr marL="72000"/>
            <a:r>
              <a:rPr lang="en-US" altLang="zh-CN" sz="2000" b="1" dirty="0"/>
              <a:t>{</a:t>
            </a:r>
          </a:p>
          <a:p>
            <a:pPr marL="72000"/>
            <a:r>
              <a:rPr lang="en-US" altLang="zh-CN" sz="2000" b="1" dirty="0"/>
              <a:t>  char  </a:t>
            </a:r>
            <a:r>
              <a:rPr lang="en-US" altLang="zh-CN" sz="2000" b="1" dirty="0" err="1"/>
              <a:t>ch</a:t>
            </a:r>
            <a:r>
              <a:rPr lang="en-US" altLang="zh-CN" sz="2000" b="1" dirty="0"/>
              <a:t>;</a:t>
            </a:r>
          </a:p>
          <a:p>
            <a:pPr marL="72000"/>
            <a:r>
              <a:rPr lang="en-US" altLang="zh-CN" sz="2000" b="1" dirty="0"/>
              <a:t>  </a:t>
            </a:r>
            <a:r>
              <a:rPr lang="en-US" altLang="zh-CN" sz="2000" b="1" dirty="0" err="1"/>
              <a:t>ch</a:t>
            </a:r>
            <a:r>
              <a:rPr lang="en-US" altLang="zh-CN" sz="2000" b="1" dirty="0"/>
              <a:t> = </a:t>
            </a:r>
            <a:r>
              <a:rPr lang="en-US" altLang="zh-CN" sz="2000" b="1" dirty="0" err="1"/>
              <a:t>getch</a:t>
            </a:r>
            <a:r>
              <a:rPr lang="en-US" altLang="zh-CN" sz="2000" b="1" dirty="0"/>
              <a:t> ( );</a:t>
            </a:r>
          </a:p>
          <a:p>
            <a:pPr marL="72000"/>
            <a:r>
              <a:rPr lang="en-US" altLang="zh-CN" sz="2000" b="1" dirty="0"/>
              <a:t>  switch ( </a:t>
            </a:r>
            <a:r>
              <a:rPr lang="en-US" altLang="zh-CN" sz="2000" b="1" dirty="0" err="1"/>
              <a:t>ch</a:t>
            </a:r>
            <a:r>
              <a:rPr lang="en-US" altLang="zh-CN" sz="2000" b="1" dirty="0"/>
              <a:t> )</a:t>
            </a:r>
          </a:p>
          <a:p>
            <a:pPr marL="72000"/>
            <a:r>
              <a:rPr lang="en-US" altLang="zh-CN" sz="2000" b="1" dirty="0"/>
              <a:t>  {</a:t>
            </a:r>
          </a:p>
          <a:p>
            <a:pPr marL="72000"/>
            <a:r>
              <a:rPr lang="en-US" altLang="zh-CN" sz="2000" b="1" dirty="0"/>
              <a:t>    case 'Y' :  </a:t>
            </a:r>
            <a:r>
              <a:rPr lang="en-US" altLang="zh-CN" sz="2000" b="1" dirty="0" err="1"/>
              <a:t>printf</a:t>
            </a:r>
            <a:r>
              <a:rPr lang="en-US" altLang="zh-CN" sz="2000" b="1" dirty="0"/>
              <a:t> ("Yes\n");  </a:t>
            </a:r>
          </a:p>
          <a:p>
            <a:pPr marL="72000"/>
            <a:r>
              <a:rPr lang="en-US" altLang="zh-CN" sz="2000" b="1" dirty="0"/>
              <a:t>                     break;</a:t>
            </a:r>
          </a:p>
          <a:p>
            <a:pPr marL="72000"/>
            <a:r>
              <a:rPr lang="en-US" altLang="zh-CN" sz="2000" b="1" dirty="0"/>
              <a:t>    case 'N' :  </a:t>
            </a:r>
            <a:r>
              <a:rPr lang="en-US" altLang="zh-CN" sz="2000" b="1" dirty="0" err="1"/>
              <a:t>printf</a:t>
            </a:r>
            <a:r>
              <a:rPr lang="en-US" altLang="zh-CN" sz="2000" b="1" dirty="0"/>
              <a:t> ("No\n");  </a:t>
            </a:r>
          </a:p>
          <a:p>
            <a:pPr marL="72000"/>
            <a:r>
              <a:rPr lang="en-US" altLang="zh-CN" sz="2000" b="1" dirty="0"/>
              <a:t>                     break;</a:t>
            </a:r>
          </a:p>
          <a:p>
            <a:pPr marL="72000"/>
            <a:r>
              <a:rPr lang="en-US" altLang="zh-CN" sz="2000" b="1" dirty="0"/>
              <a:t>    case 'A' :  </a:t>
            </a:r>
            <a:r>
              <a:rPr lang="en-US" altLang="zh-CN" sz="2000" b="1" dirty="0" err="1"/>
              <a:t>printf</a:t>
            </a:r>
            <a:r>
              <a:rPr lang="en-US" altLang="zh-CN" sz="2000" b="1" dirty="0"/>
              <a:t> ("All\n");  </a:t>
            </a:r>
          </a:p>
          <a:p>
            <a:pPr marL="72000"/>
            <a:r>
              <a:rPr lang="en-US" altLang="zh-CN" sz="2000" b="1" dirty="0"/>
              <a:t>                     break;</a:t>
            </a:r>
          </a:p>
          <a:p>
            <a:pPr marL="72000"/>
            <a:r>
              <a:rPr lang="en-US" altLang="zh-CN" sz="2000" b="1" dirty="0">
                <a:solidFill>
                  <a:srgbClr val="C01920"/>
                </a:solidFill>
              </a:rPr>
              <a:t>    default :   </a:t>
            </a:r>
            <a:r>
              <a:rPr lang="en-US" altLang="zh-CN" sz="2000" b="1" dirty="0" err="1">
                <a:solidFill>
                  <a:srgbClr val="C01920"/>
                </a:solidFill>
              </a:rPr>
              <a:t>printf</a:t>
            </a:r>
            <a:r>
              <a:rPr lang="en-US" altLang="zh-CN" sz="2000" b="1" dirty="0">
                <a:solidFill>
                  <a:srgbClr val="C01920"/>
                </a:solidFill>
              </a:rPr>
              <a:t> ("</a:t>
            </a:r>
            <a:r>
              <a:rPr lang="en-US" altLang="zh-CN" sz="2000" b="1" dirty="0" err="1">
                <a:solidFill>
                  <a:srgbClr val="C01920"/>
                </a:solidFill>
              </a:rPr>
              <a:t>Yes,No</a:t>
            </a:r>
            <a:r>
              <a:rPr lang="en-US" altLang="zh-CN" sz="2000" b="1" dirty="0">
                <a:solidFill>
                  <a:srgbClr val="C01920"/>
                </a:solidFill>
              </a:rPr>
              <a:t> or All\n");</a:t>
            </a:r>
            <a:r>
              <a:rPr lang="en-US" altLang="zh-CN" sz="2000" b="1" dirty="0">
                <a:solidFill>
                  <a:srgbClr val="FF3300"/>
                </a:solidFill>
              </a:rPr>
              <a:t> </a:t>
            </a:r>
          </a:p>
          <a:p>
            <a:pPr marL="72000"/>
            <a:r>
              <a:rPr lang="en-US" altLang="zh-CN" sz="2000" b="1" dirty="0"/>
              <a:t>  }</a:t>
            </a:r>
          </a:p>
          <a:p>
            <a:pPr marL="72000"/>
            <a:r>
              <a:rPr lang="en-US" altLang="zh-CN" sz="2000" b="1" dirty="0"/>
              <a:t>}</a:t>
            </a:r>
          </a:p>
        </p:txBody>
      </p:sp>
      <p:sp>
        <p:nvSpPr>
          <p:cNvPr id="876556" name="Text Box 12" descr="信纸"/>
          <p:cNvSpPr txBox="1">
            <a:spLocks noChangeArrowheads="1"/>
          </p:cNvSpPr>
          <p:nvPr/>
        </p:nvSpPr>
        <p:spPr bwMode="auto">
          <a:xfrm>
            <a:off x="6491214" y="1700808"/>
            <a:ext cx="4934024" cy="5018939"/>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72000"/>
            <a:r>
              <a:rPr lang="en-US" altLang="zh-CN" sz="2000" b="1" dirty="0"/>
              <a:t>#include &lt;</a:t>
            </a:r>
            <a:r>
              <a:rPr lang="en-US" altLang="zh-CN" sz="2000" b="1" dirty="0" err="1"/>
              <a:t>stdio.h</a:t>
            </a:r>
            <a:r>
              <a:rPr lang="en-US" altLang="zh-CN" sz="2000" b="1" dirty="0"/>
              <a:t>&gt;</a:t>
            </a:r>
          </a:p>
          <a:p>
            <a:pPr marL="72000"/>
            <a:r>
              <a:rPr lang="en-US" altLang="zh-CN" sz="2000" b="1" dirty="0">
                <a:solidFill>
                  <a:srgbClr val="C01920"/>
                </a:solidFill>
              </a:rPr>
              <a:t>void main ( )</a:t>
            </a:r>
          </a:p>
          <a:p>
            <a:pPr marL="72000"/>
            <a:r>
              <a:rPr lang="en-US" altLang="zh-CN" sz="2000" b="1" dirty="0"/>
              <a:t>{</a:t>
            </a:r>
          </a:p>
          <a:p>
            <a:pPr marL="72000"/>
            <a:r>
              <a:rPr lang="en-US" altLang="zh-CN" sz="2000" b="1" dirty="0"/>
              <a:t>  char  </a:t>
            </a:r>
            <a:r>
              <a:rPr lang="en-US" altLang="zh-CN" sz="2000" b="1" dirty="0" err="1"/>
              <a:t>ch</a:t>
            </a:r>
            <a:r>
              <a:rPr lang="en-US" altLang="zh-CN" sz="2000" b="1" dirty="0"/>
              <a:t>;</a:t>
            </a:r>
          </a:p>
          <a:p>
            <a:pPr marL="72000"/>
            <a:r>
              <a:rPr lang="en-US" altLang="zh-CN" sz="2000" b="1" dirty="0"/>
              <a:t>  </a:t>
            </a:r>
            <a:r>
              <a:rPr lang="en-US" altLang="zh-CN" sz="2000" b="1" dirty="0" err="1"/>
              <a:t>ch</a:t>
            </a:r>
            <a:r>
              <a:rPr lang="en-US" altLang="zh-CN" sz="2000" b="1" dirty="0"/>
              <a:t> = </a:t>
            </a:r>
            <a:r>
              <a:rPr lang="en-US" altLang="zh-CN" sz="2000" b="1" dirty="0" err="1"/>
              <a:t>getch</a:t>
            </a:r>
            <a:r>
              <a:rPr lang="en-US" altLang="zh-CN" sz="2000" b="1" dirty="0"/>
              <a:t> ( );</a:t>
            </a:r>
            <a:endParaRPr lang="en-US" altLang="zh-CN" sz="2000" b="1" dirty="0">
              <a:solidFill>
                <a:schemeClr val="accent2"/>
              </a:solidFill>
              <a:latin typeface="+mn-lt"/>
              <a:ea typeface="楷体" pitchFamily="49" charset="-122"/>
            </a:endParaRPr>
          </a:p>
          <a:p>
            <a:pPr marL="72000"/>
            <a:r>
              <a:rPr lang="en-US" altLang="zh-CN" sz="2000" b="1" dirty="0"/>
              <a:t>  switch ( </a:t>
            </a:r>
            <a:r>
              <a:rPr lang="en-US" altLang="zh-CN" sz="2000" b="1" dirty="0" err="1"/>
              <a:t>ch</a:t>
            </a:r>
            <a:r>
              <a:rPr lang="en-US" altLang="zh-CN" sz="2000" b="1" dirty="0"/>
              <a:t> )</a:t>
            </a:r>
          </a:p>
          <a:p>
            <a:pPr marL="72000"/>
            <a:r>
              <a:rPr lang="en-US" altLang="zh-CN" sz="2000" b="1" dirty="0"/>
              <a:t>  {</a:t>
            </a:r>
          </a:p>
          <a:p>
            <a:pPr marL="72000"/>
            <a:r>
              <a:rPr lang="en-US" altLang="zh-CN" sz="2000" b="1" dirty="0"/>
              <a:t>    case 'Y' :  </a:t>
            </a:r>
            <a:r>
              <a:rPr lang="en-US" altLang="zh-CN" sz="2000" b="1" dirty="0" err="1"/>
              <a:t>printf</a:t>
            </a:r>
            <a:r>
              <a:rPr lang="en-US" altLang="zh-CN" sz="2000" b="1" dirty="0"/>
              <a:t> ("Yes\n");  </a:t>
            </a:r>
          </a:p>
          <a:p>
            <a:pPr marL="72000"/>
            <a:r>
              <a:rPr lang="en-US" altLang="zh-CN" sz="2000" b="1" dirty="0"/>
              <a:t>                     break;</a:t>
            </a:r>
          </a:p>
          <a:p>
            <a:pPr marL="72000"/>
            <a:r>
              <a:rPr lang="en-US" altLang="zh-CN" sz="2000" dirty="0"/>
              <a:t>   </a:t>
            </a:r>
            <a:r>
              <a:rPr lang="en-US" altLang="zh-CN" sz="2000" b="1" dirty="0">
                <a:solidFill>
                  <a:srgbClr val="C01920"/>
                </a:solidFill>
              </a:rPr>
              <a:t>default :   </a:t>
            </a:r>
            <a:r>
              <a:rPr lang="en-US" altLang="zh-CN" sz="2000" b="1" dirty="0" err="1">
                <a:solidFill>
                  <a:srgbClr val="C01920"/>
                </a:solidFill>
              </a:rPr>
              <a:t>printf</a:t>
            </a:r>
            <a:r>
              <a:rPr lang="en-US" altLang="zh-CN" sz="2000" b="1" dirty="0">
                <a:solidFill>
                  <a:srgbClr val="C01920"/>
                </a:solidFill>
              </a:rPr>
              <a:t> ("</a:t>
            </a:r>
            <a:r>
              <a:rPr lang="en-US" altLang="zh-CN" sz="2000" b="1" dirty="0" err="1">
                <a:solidFill>
                  <a:srgbClr val="C01920"/>
                </a:solidFill>
              </a:rPr>
              <a:t>Yes,No</a:t>
            </a:r>
            <a:r>
              <a:rPr lang="en-US" altLang="zh-CN" sz="2000" b="1" dirty="0">
                <a:solidFill>
                  <a:srgbClr val="C01920"/>
                </a:solidFill>
              </a:rPr>
              <a:t> or All\n"); </a:t>
            </a:r>
          </a:p>
          <a:p>
            <a:pPr marL="72000"/>
            <a:r>
              <a:rPr lang="en-US" altLang="zh-CN" sz="2000" b="1" dirty="0"/>
              <a:t>   case 'N' :  </a:t>
            </a:r>
            <a:r>
              <a:rPr lang="en-US" altLang="zh-CN" sz="2000" b="1" dirty="0" err="1"/>
              <a:t>printf</a:t>
            </a:r>
            <a:r>
              <a:rPr lang="en-US" altLang="zh-CN" sz="2000" b="1" dirty="0"/>
              <a:t> ("No\n");  </a:t>
            </a:r>
          </a:p>
          <a:p>
            <a:pPr marL="72000"/>
            <a:r>
              <a:rPr lang="en-US" altLang="zh-CN" sz="2000" b="1" dirty="0"/>
              <a:t>                     break;</a:t>
            </a:r>
          </a:p>
          <a:p>
            <a:pPr marL="72000"/>
            <a:r>
              <a:rPr lang="en-US" altLang="zh-CN" sz="2000" b="1" dirty="0"/>
              <a:t>    case 'A' :  </a:t>
            </a:r>
            <a:r>
              <a:rPr lang="en-US" altLang="zh-CN" sz="2000" b="1" dirty="0" err="1"/>
              <a:t>printf</a:t>
            </a:r>
            <a:r>
              <a:rPr lang="en-US" altLang="zh-CN" sz="2000" b="1" dirty="0"/>
              <a:t> ("All\n");  </a:t>
            </a:r>
          </a:p>
          <a:p>
            <a:pPr marL="72000"/>
            <a:r>
              <a:rPr lang="en-US" altLang="zh-CN" sz="2000" b="1" dirty="0"/>
              <a:t>                     break;</a:t>
            </a:r>
          </a:p>
          <a:p>
            <a:pPr marL="72000"/>
            <a:r>
              <a:rPr lang="en-US" altLang="zh-CN" sz="2000" b="1" dirty="0"/>
              <a:t>  }</a:t>
            </a:r>
          </a:p>
          <a:p>
            <a:pPr marL="72000"/>
            <a:r>
              <a:rPr lang="en-US" altLang="zh-CN" sz="2000" b="1" dirty="0"/>
              <a:t>}</a:t>
            </a:r>
          </a:p>
        </p:txBody>
      </p:sp>
      <p:sp>
        <p:nvSpPr>
          <p:cNvPr id="876557" name="Text Box 13"/>
          <p:cNvSpPr txBox="1">
            <a:spLocks noChangeArrowheads="1"/>
          </p:cNvSpPr>
          <p:nvPr/>
        </p:nvSpPr>
        <p:spPr bwMode="auto">
          <a:xfrm>
            <a:off x="3047803" y="2996952"/>
            <a:ext cx="2040829" cy="369332"/>
          </a:xfrm>
          <a:prstGeom prst="rect">
            <a:avLst/>
          </a:prstGeom>
          <a:noFill/>
          <a:ln w="9525">
            <a:noFill/>
            <a:miter lim="800000"/>
            <a:headEnd/>
            <a:tailEnd/>
          </a:ln>
          <a:effectLst/>
        </p:spPr>
        <p:txBody>
          <a:bodyPr wrap="square">
            <a:spAutoFit/>
          </a:bodyPr>
          <a:lstStyle/>
          <a:p>
            <a:pPr>
              <a:spcBef>
                <a:spcPct val="50000"/>
              </a:spcBef>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假设输入为：</a:t>
            </a:r>
            <a:r>
              <a:rPr lang="en-US" altLang="zh-CN" sz="1800" b="1" dirty="0">
                <a:solidFill>
                  <a:srgbClr val="C01920"/>
                </a:solidFill>
                <a:latin typeface="+mn-lt"/>
                <a:ea typeface="楷体" pitchFamily="49" charset="-122"/>
              </a:rPr>
              <a:t>B</a:t>
            </a:r>
          </a:p>
        </p:txBody>
      </p:sp>
      <p:sp>
        <p:nvSpPr>
          <p:cNvPr id="876558" name="Rectangle 14"/>
          <p:cNvSpPr>
            <a:spLocks noChangeArrowheads="1"/>
          </p:cNvSpPr>
          <p:nvPr/>
        </p:nvSpPr>
        <p:spPr bwMode="auto">
          <a:xfrm>
            <a:off x="4171999" y="1906824"/>
            <a:ext cx="1656184" cy="707886"/>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err="1">
                <a:solidFill>
                  <a:srgbClr val="002060"/>
                </a:solidFill>
              </a:rPr>
              <a:t>Yes,No</a:t>
            </a:r>
            <a:r>
              <a:rPr lang="en-US" altLang="zh-CN" sz="2000" b="1" dirty="0">
                <a:solidFill>
                  <a:srgbClr val="002060"/>
                </a:solidFill>
              </a:rPr>
              <a:t> or All</a:t>
            </a:r>
          </a:p>
        </p:txBody>
      </p:sp>
      <p:sp>
        <p:nvSpPr>
          <p:cNvPr id="876559" name="Rectangle 15"/>
          <p:cNvSpPr>
            <a:spLocks noChangeArrowheads="1"/>
          </p:cNvSpPr>
          <p:nvPr/>
        </p:nvSpPr>
        <p:spPr bwMode="auto">
          <a:xfrm>
            <a:off x="9553922" y="1909281"/>
            <a:ext cx="1655390" cy="10156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err="1">
                <a:solidFill>
                  <a:srgbClr val="002060"/>
                </a:solidFill>
              </a:rPr>
              <a:t>Yes,No</a:t>
            </a:r>
            <a:r>
              <a:rPr lang="en-US" altLang="zh-CN" sz="2000" b="1" dirty="0">
                <a:solidFill>
                  <a:srgbClr val="002060"/>
                </a:solidFill>
              </a:rPr>
              <a:t> or All</a:t>
            </a:r>
          </a:p>
          <a:p>
            <a:r>
              <a:rPr lang="en-US" altLang="zh-CN" sz="2000" b="1" dirty="0">
                <a:solidFill>
                  <a:srgbClr val="002060"/>
                </a:solidFill>
              </a:rPr>
              <a:t>No</a:t>
            </a:r>
          </a:p>
        </p:txBody>
      </p:sp>
      <p:sp>
        <p:nvSpPr>
          <p:cNvPr id="876560" name="Text Box 16"/>
          <p:cNvSpPr txBox="1">
            <a:spLocks noChangeArrowheads="1"/>
          </p:cNvSpPr>
          <p:nvPr/>
        </p:nvSpPr>
        <p:spPr bwMode="auto">
          <a:xfrm>
            <a:off x="8292971" y="2962004"/>
            <a:ext cx="2088207" cy="369332"/>
          </a:xfrm>
          <a:prstGeom prst="rect">
            <a:avLst/>
          </a:prstGeom>
          <a:noFill/>
          <a:ln w="9525">
            <a:noFill/>
            <a:miter lim="800000"/>
            <a:headEnd/>
            <a:tailEnd/>
          </a:ln>
          <a:effectLst/>
        </p:spPr>
        <p:txBody>
          <a:bodyPr wrap="square">
            <a:spAutoFit/>
          </a:bodyPr>
          <a:lstStyle/>
          <a:p>
            <a:pPr>
              <a:spcBef>
                <a:spcPct val="50000"/>
              </a:spcBef>
            </a:pP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假设输入为：</a:t>
            </a:r>
            <a:r>
              <a:rPr lang="en-US" altLang="zh-CN" sz="1800" b="1" dirty="0">
                <a:solidFill>
                  <a:srgbClr val="C01920"/>
                </a:solidFill>
                <a:latin typeface="+mn-lt"/>
                <a:ea typeface="楷体" pitchFamily="49" charset="-122"/>
              </a:rPr>
              <a:t>B</a:t>
            </a:r>
          </a:p>
        </p:txBody>
      </p:sp>
      <p:sp>
        <p:nvSpPr>
          <p:cNvPr id="15" name="Rectangle 45">
            <a:extLst>
              <a:ext uri="{FF2B5EF4-FFF2-40B4-BE49-F238E27FC236}">
                <a16:creationId xmlns:a16="http://schemas.microsoft.com/office/drawing/2014/main" id="{BB5B86E8-AB0F-4F85-A744-9A6072D60D9B}"/>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6" name="Rectangle 4">
            <a:extLst>
              <a:ext uri="{FF2B5EF4-FFF2-40B4-BE49-F238E27FC236}">
                <a16:creationId xmlns:a16="http://schemas.microsoft.com/office/drawing/2014/main" id="{EDE77E64-6D2A-475D-BF7E-0628013AE00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76551">
                                            <p:txEl>
                                              <p:pRg st="0" end="0"/>
                                            </p:txEl>
                                          </p:spTgt>
                                        </p:tgtEl>
                                        <p:attrNameLst>
                                          <p:attrName>style.visibility</p:attrName>
                                        </p:attrNameLst>
                                      </p:cBhvr>
                                      <p:to>
                                        <p:strVal val="visible"/>
                                      </p:to>
                                    </p:set>
                                    <p:animEffect transition="in" filter="box(out)">
                                      <p:cBhvr>
                                        <p:cTn id="13" dur="500"/>
                                        <p:tgtEl>
                                          <p:spTgt spid="876551">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76555"/>
                                        </p:tgtEl>
                                        <p:attrNameLst>
                                          <p:attrName>style.visibility</p:attrName>
                                        </p:attrNameLst>
                                      </p:cBhvr>
                                      <p:to>
                                        <p:strVal val="visible"/>
                                      </p:to>
                                    </p:set>
                                    <p:animEffect transition="in" filter="box(out)">
                                      <p:cBhvr>
                                        <p:cTn id="18" dur="500"/>
                                        <p:tgtEl>
                                          <p:spTgt spid="876555"/>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876557"/>
                                        </p:tgtEl>
                                        <p:attrNameLst>
                                          <p:attrName>style.visibility</p:attrName>
                                        </p:attrNameLst>
                                      </p:cBhvr>
                                      <p:to>
                                        <p:strVal val="visible"/>
                                      </p:to>
                                    </p:set>
                                    <p:animEffect transition="in" filter="box(out)">
                                      <p:cBhvr>
                                        <p:cTn id="23" dur="500"/>
                                        <p:tgtEl>
                                          <p:spTgt spid="876557"/>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876558"/>
                                        </p:tgtEl>
                                        <p:attrNameLst>
                                          <p:attrName>style.visibility</p:attrName>
                                        </p:attrNameLst>
                                      </p:cBhvr>
                                      <p:to>
                                        <p:strVal val="visible"/>
                                      </p:to>
                                    </p:set>
                                    <p:animEffect transition="in" filter="box(out)">
                                      <p:cBhvr>
                                        <p:cTn id="27" dur="500"/>
                                        <p:tgtEl>
                                          <p:spTgt spid="876558"/>
                                        </p:tgtEl>
                                      </p:cBhvr>
                                    </p:animEffec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76556"/>
                                        </p:tgtEl>
                                        <p:attrNameLst>
                                          <p:attrName>style.visibility</p:attrName>
                                        </p:attrNameLst>
                                      </p:cBhvr>
                                      <p:to>
                                        <p:strVal val="visible"/>
                                      </p:to>
                                    </p:set>
                                    <p:animEffect transition="in" filter="box(out)">
                                      <p:cBhvr>
                                        <p:cTn id="32" dur="500"/>
                                        <p:tgtEl>
                                          <p:spTgt spid="876556"/>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76560"/>
                                        </p:tgtEl>
                                        <p:attrNameLst>
                                          <p:attrName>style.visibility</p:attrName>
                                        </p:attrNameLst>
                                      </p:cBhvr>
                                      <p:to>
                                        <p:strVal val="visible"/>
                                      </p:to>
                                    </p:set>
                                    <p:animEffect transition="in" filter="box(out)">
                                      <p:cBhvr>
                                        <p:cTn id="37" dur="500"/>
                                        <p:tgtEl>
                                          <p:spTgt spid="876560"/>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8" fill="hold">
                            <p:stCondLst>
                              <p:cond delay="500"/>
                            </p:stCondLst>
                            <p:childTnLst>
                              <p:par>
                                <p:cTn id="39" presetID="4" presetClass="entr" presetSubtype="32" fill="hold" grpId="0" nodeType="afterEffect">
                                  <p:stCondLst>
                                    <p:cond delay="0"/>
                                  </p:stCondLst>
                                  <p:childTnLst>
                                    <p:set>
                                      <p:cBhvr>
                                        <p:cTn id="40" dur="1" fill="hold">
                                          <p:stCondLst>
                                            <p:cond delay="0"/>
                                          </p:stCondLst>
                                        </p:cTn>
                                        <p:tgtEl>
                                          <p:spTgt spid="876559"/>
                                        </p:tgtEl>
                                        <p:attrNameLst>
                                          <p:attrName>style.visibility</p:attrName>
                                        </p:attrNameLst>
                                      </p:cBhvr>
                                      <p:to>
                                        <p:strVal val="visible"/>
                                      </p:to>
                                    </p:set>
                                    <p:animEffect transition="in" filter="box(out)">
                                      <p:cBhvr>
                                        <p:cTn id="41" dur="500"/>
                                        <p:tgtEl>
                                          <p:spTgt spid="876559"/>
                                        </p:tgtEl>
                                      </p:cBhvr>
                                    </p:animEffect>
                                  </p:childTnLst>
                                  <p:subTnLst>
                                    <p:audio>
                                      <p:cMediaNode>
                                        <p:cTn display="0" masterRel="sameClick">
                                          <p:stCondLst>
                                            <p:cond evt="begin" delay="0">
                                              <p:tn val="3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3" autoUpdateAnimBg="0"/>
      <p:bldP spid="876555" grpId="0" animBg="1" autoUpdateAnimBg="0"/>
      <p:bldP spid="876556" grpId="0" animBg="1"/>
      <p:bldP spid="876557" grpId="0"/>
      <p:bldP spid="876558" grpId="0" animBg="1"/>
      <p:bldP spid="876559" grpId="0" animBg="1"/>
      <p:bldP spid="87656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5" name="Rectangle 3"/>
          <p:cNvSpPr>
            <a:spLocks noChangeArrowheads="1"/>
          </p:cNvSpPr>
          <p:nvPr/>
        </p:nvSpPr>
        <p:spPr bwMode="auto">
          <a:xfrm>
            <a:off x="1013398"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78599" name="Rectangle 7"/>
          <p:cNvSpPr>
            <a:spLocks noChangeArrowheads="1"/>
          </p:cNvSpPr>
          <p:nvPr/>
        </p:nvSpPr>
        <p:spPr bwMode="auto">
          <a:xfrm>
            <a:off x="1104342" y="1894607"/>
            <a:ext cx="4819654" cy="457200"/>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(9) switch</a:t>
            </a:r>
            <a:r>
              <a:rPr lang="zh-CN" altLang="en-US" b="1" dirty="0">
                <a:effectLst>
                  <a:outerShdw blurRad="38100" dist="38100" dir="2700000" algn="tl">
                    <a:srgbClr val="FFFFFF"/>
                  </a:outerShdw>
                </a:effectLst>
                <a:latin typeface="+mn-lt"/>
                <a:ea typeface="楷体" pitchFamily="49" charset="-122"/>
              </a:rPr>
              <a:t>语句可以嵌套。</a:t>
            </a:r>
            <a:r>
              <a:rPr lang="zh-CN" altLang="en-US" dirty="0">
                <a:latin typeface="+mn-lt"/>
                <a:ea typeface="楷体" pitchFamily="49" charset="-122"/>
              </a:rPr>
              <a:t> </a:t>
            </a:r>
          </a:p>
        </p:txBody>
      </p:sp>
      <p:sp>
        <p:nvSpPr>
          <p:cNvPr id="13" name="Rectangle 2">
            <a:extLst>
              <a:ext uri="{FF2B5EF4-FFF2-40B4-BE49-F238E27FC236}">
                <a16:creationId xmlns:a16="http://schemas.microsoft.com/office/drawing/2014/main" id="{5510BBCC-2EA7-491E-9BC8-E0502D9B2740}"/>
              </a:ext>
            </a:extLst>
          </p:cNvPr>
          <p:cNvSpPr>
            <a:spLocks noChangeArrowheads="1"/>
          </p:cNvSpPr>
          <p:nvPr/>
        </p:nvSpPr>
        <p:spPr bwMode="auto">
          <a:xfrm>
            <a:off x="838274" y="1412776"/>
            <a:ext cx="4465638" cy="434975"/>
          </a:xfrm>
          <a:prstGeom prst="rect">
            <a:avLst/>
          </a:prstGeom>
          <a:noFill/>
          <a:ln w="9525">
            <a:noFill/>
            <a:miter lim="800000"/>
            <a:headEnd/>
            <a:tailEnd/>
          </a:ln>
        </p:spPr>
        <p:txBody>
          <a:bodyPr/>
          <a:lstStyle/>
          <a:p>
            <a:pPr lvl="1" eaLnBrk="0" hangingPunct="0">
              <a:buClr>
                <a:srgbClr val="C01920"/>
              </a:buClr>
              <a:buFont typeface="Wingdings" pitchFamily="2" charset="2"/>
              <a:buChar char="l"/>
            </a:pPr>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使用</a:t>
            </a:r>
            <a:r>
              <a:rPr lang="en-US" altLang="zh-CN" b="1" dirty="0">
                <a:solidFill>
                  <a:srgbClr val="C01920"/>
                </a:solidFill>
                <a:latin typeface="+mn-lt"/>
                <a:ea typeface="隶书" pitchFamily="49" charset="-122"/>
              </a:rPr>
              <a:t>switch</a:t>
            </a:r>
            <a:r>
              <a:rPr lang="zh-CN" altLang="zh-CN" b="1" dirty="0">
                <a:solidFill>
                  <a:srgbClr val="C01920"/>
                </a:solidFill>
                <a:latin typeface="+mn-lt"/>
                <a:ea typeface="隶书" pitchFamily="49" charset="-122"/>
              </a:rPr>
              <a:t>语句注意事项</a:t>
            </a:r>
            <a:endParaRPr lang="zh-CN" altLang="en-US" b="1" dirty="0">
              <a:solidFill>
                <a:srgbClr val="C01920"/>
              </a:solidFill>
              <a:latin typeface="+mn-lt"/>
              <a:ea typeface="隶书" pitchFamily="49" charset="-122"/>
            </a:endParaRPr>
          </a:p>
        </p:txBody>
      </p:sp>
      <p:sp>
        <p:nvSpPr>
          <p:cNvPr id="14" name="Rectangle 45">
            <a:extLst>
              <a:ext uri="{FF2B5EF4-FFF2-40B4-BE49-F238E27FC236}">
                <a16:creationId xmlns:a16="http://schemas.microsoft.com/office/drawing/2014/main" id="{42BFC2A8-0A5F-4375-B36C-3FECDBAADFAA}"/>
              </a:ext>
            </a:extLst>
          </p:cNvPr>
          <p:cNvSpPr>
            <a:spLocks noChangeArrowheads="1"/>
          </p:cNvSpPr>
          <p:nvPr/>
        </p:nvSpPr>
        <p:spPr bwMode="auto">
          <a:xfrm>
            <a:off x="884811" y="804397"/>
            <a:ext cx="5421677" cy="523220"/>
          </a:xfrm>
          <a:prstGeom prst="rect">
            <a:avLst/>
          </a:prstGeom>
          <a:noFill/>
          <a:ln w="9525">
            <a:noFill/>
            <a:miter lim="800000"/>
            <a:headEnd/>
            <a:tailEnd/>
          </a:ln>
          <a:effectLst/>
        </p:spPr>
        <p:txBody>
          <a:bodyPr wrap="none" anchor="ctr">
            <a:spAutoFit/>
          </a:bodyPr>
          <a:lstStyle/>
          <a:p>
            <a:r>
              <a:rPr lang="en-US" altLang="zh-CN" sz="2800" b="1" dirty="0">
                <a:solidFill>
                  <a:srgbClr val="C00000"/>
                </a:solidFill>
                <a:latin typeface="楷体" panose="02010609060101010101" pitchFamily="49" charset="-122"/>
                <a:ea typeface="楷体" panose="02010609060101010101" pitchFamily="49" charset="-122"/>
              </a:rPr>
              <a:t>2. switch</a:t>
            </a:r>
            <a:r>
              <a:rPr lang="zh-CN" altLang="en-US" sz="2800" b="1" dirty="0">
                <a:solidFill>
                  <a:srgbClr val="C00000"/>
                </a:solidFill>
                <a:latin typeface="楷体" panose="02010609060101010101" pitchFamily="49" charset="-122"/>
                <a:ea typeface="楷体" panose="02010609060101010101" pitchFamily="49" charset="-122"/>
              </a:rPr>
              <a:t>语句（开关分支语句）</a:t>
            </a:r>
            <a:endParaRPr lang="zh-CN" altLang="en-US" sz="2800" dirty="0">
              <a:solidFill>
                <a:srgbClr val="C00000"/>
              </a:solidFill>
              <a:latin typeface="楷体" panose="02010609060101010101" pitchFamily="49" charset="-122"/>
              <a:ea typeface="楷体" panose="02010609060101010101" pitchFamily="49" charset="-122"/>
            </a:endParaRPr>
          </a:p>
        </p:txBody>
      </p:sp>
      <p:sp>
        <p:nvSpPr>
          <p:cNvPr id="15" name="Rectangle 4">
            <a:extLst>
              <a:ext uri="{FF2B5EF4-FFF2-40B4-BE49-F238E27FC236}">
                <a16:creationId xmlns:a16="http://schemas.microsoft.com/office/drawing/2014/main" id="{A3BB6905-4887-4806-9483-13424F27DF8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选择结构的程序设计 </a:t>
            </a:r>
          </a:p>
        </p:txBody>
      </p:sp>
      <p:sp>
        <p:nvSpPr>
          <p:cNvPr id="878600" name="Text Box 8" descr="信纸"/>
          <p:cNvSpPr txBox="1">
            <a:spLocks noChangeArrowheads="1"/>
          </p:cNvSpPr>
          <p:nvPr/>
        </p:nvSpPr>
        <p:spPr bwMode="auto">
          <a:xfrm>
            <a:off x="5087888" y="343597"/>
            <a:ext cx="6848519" cy="6373156"/>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b="1" dirty="0"/>
              <a:t>  #include &lt;</a:t>
            </a:r>
            <a:r>
              <a:rPr lang="en-US" altLang="zh-CN" b="1" dirty="0" err="1"/>
              <a:t>stdio.h</a:t>
            </a:r>
            <a:r>
              <a:rPr lang="en-US" altLang="zh-CN" b="1" dirty="0"/>
              <a:t>&gt;</a:t>
            </a:r>
          </a:p>
          <a:p>
            <a:pPr marL="457200" indent="-457200"/>
            <a:r>
              <a:rPr lang="en-US" altLang="zh-CN" b="1" dirty="0">
                <a:solidFill>
                  <a:srgbClr val="C01920"/>
                </a:solidFill>
              </a:rPr>
              <a:t>  </a:t>
            </a:r>
            <a:r>
              <a:rPr lang="en-US" altLang="zh-CN" b="1" dirty="0" err="1">
                <a:solidFill>
                  <a:srgbClr val="C01920"/>
                </a:solidFill>
              </a:rPr>
              <a:t>int</a:t>
            </a:r>
            <a:r>
              <a:rPr lang="en-US" altLang="zh-CN" b="1" dirty="0">
                <a:solidFill>
                  <a:srgbClr val="C01920"/>
                </a:solidFill>
              </a:rPr>
              <a:t> main ( )</a:t>
            </a:r>
          </a:p>
          <a:p>
            <a:pPr marL="457200" indent="-457200"/>
            <a:r>
              <a:rPr lang="en-US" altLang="zh-CN" b="1" dirty="0"/>
              <a:t>  {</a:t>
            </a:r>
          </a:p>
          <a:p>
            <a:pPr marL="457200" indent="-457200"/>
            <a:r>
              <a:rPr lang="en-US" altLang="zh-CN" b="1" dirty="0"/>
              <a:t>    </a:t>
            </a:r>
            <a:r>
              <a:rPr lang="en-US" altLang="zh-CN" b="1" dirty="0" err="1"/>
              <a:t>int</a:t>
            </a:r>
            <a:r>
              <a:rPr lang="en-US" altLang="zh-CN" b="1" dirty="0"/>
              <a:t> x = 1, y = 0, a = 0, b = 0;</a:t>
            </a:r>
          </a:p>
          <a:p>
            <a:pPr marL="457200" indent="-457200"/>
            <a:r>
              <a:rPr lang="en-US" altLang="zh-CN" b="1" dirty="0"/>
              <a:t>    switch ( x )</a:t>
            </a:r>
          </a:p>
          <a:p>
            <a:pPr marL="457200" indent="-457200"/>
            <a:r>
              <a:rPr lang="en-US" altLang="zh-CN" b="1" dirty="0"/>
              <a:t>    {</a:t>
            </a:r>
          </a:p>
          <a:p>
            <a:pPr marL="457200" indent="-457200"/>
            <a:r>
              <a:rPr lang="en-US" altLang="zh-CN" b="1" dirty="0"/>
              <a:t>      case  1:   </a:t>
            </a:r>
            <a:r>
              <a:rPr lang="en-US" altLang="zh-CN" b="1" dirty="0">
                <a:solidFill>
                  <a:srgbClr val="C01920"/>
                </a:solidFill>
              </a:rPr>
              <a:t>switch ( y )</a:t>
            </a:r>
          </a:p>
          <a:p>
            <a:pPr marL="457200" indent="-457200"/>
            <a:r>
              <a:rPr lang="en-US" altLang="zh-CN" b="1" dirty="0">
                <a:solidFill>
                  <a:srgbClr val="C01920"/>
                </a:solidFill>
              </a:rPr>
              <a:t>                     {</a:t>
            </a:r>
          </a:p>
          <a:p>
            <a:pPr marL="457200" indent="-457200"/>
            <a:r>
              <a:rPr lang="en-US" altLang="zh-CN" b="1" dirty="0">
                <a:solidFill>
                  <a:srgbClr val="C01920"/>
                </a:solidFill>
              </a:rPr>
              <a:t>                       case 0:   a++;  break;</a:t>
            </a:r>
          </a:p>
          <a:p>
            <a:pPr marL="457200" indent="-457200"/>
            <a:r>
              <a:rPr lang="en-US" altLang="zh-CN" b="1" dirty="0">
                <a:solidFill>
                  <a:srgbClr val="C01920"/>
                </a:solidFill>
              </a:rPr>
              <a:t>                       case 1:   b++;  break;</a:t>
            </a:r>
          </a:p>
          <a:p>
            <a:pPr marL="457200" indent="-457200"/>
            <a:r>
              <a:rPr lang="en-US" altLang="zh-CN" b="1" dirty="0">
                <a:solidFill>
                  <a:srgbClr val="C01920"/>
                </a:solidFill>
              </a:rPr>
              <a:t>                     }</a:t>
            </a:r>
          </a:p>
          <a:p>
            <a:pPr marL="457200" indent="-457200"/>
            <a:r>
              <a:rPr lang="en-US" altLang="zh-CN" b="1" dirty="0"/>
              <a:t>      case  2:   a++;  b++;  break;</a:t>
            </a:r>
          </a:p>
          <a:p>
            <a:pPr marL="457200" indent="-457200"/>
            <a:r>
              <a:rPr lang="en-US" altLang="zh-CN" b="1" dirty="0"/>
              <a:t>      case  3:   a++;  b++;</a:t>
            </a:r>
          </a:p>
          <a:p>
            <a:pPr marL="457200" indent="-457200"/>
            <a:r>
              <a:rPr lang="en-US" altLang="zh-CN" b="1" dirty="0"/>
              <a:t>    }</a:t>
            </a:r>
          </a:p>
          <a:p>
            <a:pPr marL="457200" indent="-457200"/>
            <a:r>
              <a:rPr lang="en-US" altLang="zh-CN" b="1" dirty="0"/>
              <a:t>    </a:t>
            </a:r>
            <a:r>
              <a:rPr lang="en-US" altLang="zh-CN" b="1" dirty="0" err="1"/>
              <a:t>printf</a:t>
            </a:r>
            <a:r>
              <a:rPr lang="en-US" altLang="zh-CN" b="1" dirty="0"/>
              <a:t> ("\</a:t>
            </a:r>
            <a:r>
              <a:rPr lang="en-US" altLang="zh-CN" b="1" dirty="0" err="1"/>
              <a:t>na</a:t>
            </a:r>
            <a:r>
              <a:rPr lang="en-US" altLang="zh-CN" b="1" dirty="0"/>
              <a:t> = %d, b = %d", a, b);</a:t>
            </a:r>
          </a:p>
          <a:p>
            <a:pPr marL="457200" indent="-457200"/>
            <a:r>
              <a:rPr lang="en-US" altLang="zh-CN" b="1" dirty="0"/>
              <a:t>    return 0;</a:t>
            </a:r>
          </a:p>
          <a:p>
            <a:pPr marL="457200" indent="-457200"/>
            <a:r>
              <a:rPr lang="en-US" altLang="zh-CN" b="1" dirty="0"/>
              <a:t>  }</a:t>
            </a:r>
          </a:p>
        </p:txBody>
      </p:sp>
      <p:sp>
        <p:nvSpPr>
          <p:cNvPr id="878603" name="Rectangle 11"/>
          <p:cNvSpPr>
            <a:spLocks noChangeArrowheads="1"/>
          </p:cNvSpPr>
          <p:nvPr/>
        </p:nvSpPr>
        <p:spPr bwMode="auto">
          <a:xfrm>
            <a:off x="9624392" y="635300"/>
            <a:ext cx="2016125" cy="860425"/>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zh-CN" altLang="en-US" b="1" dirty="0">
                <a:solidFill>
                  <a:srgbClr val="C01920"/>
                </a:solidFill>
                <a:latin typeface="隶书" pitchFamily="49" charset="-122"/>
                <a:ea typeface="隶书" pitchFamily="49" charset="-122"/>
              </a:rPr>
              <a:t>运行结果：</a:t>
            </a:r>
          </a:p>
          <a:p>
            <a:r>
              <a:rPr lang="en-US" altLang="zh-CN" b="1" dirty="0">
                <a:solidFill>
                  <a:srgbClr val="002060"/>
                </a:solidFill>
              </a:rPr>
              <a:t>a = 2</a:t>
            </a:r>
            <a:r>
              <a:rPr lang="zh-CN" altLang="en-US" b="1" dirty="0">
                <a:solidFill>
                  <a:srgbClr val="002060"/>
                </a:solidFill>
              </a:rPr>
              <a:t>，</a:t>
            </a:r>
            <a:r>
              <a:rPr lang="en-US" altLang="zh-CN" b="1" dirty="0">
                <a:solidFill>
                  <a:srgbClr val="002060"/>
                </a:solidFill>
              </a:rPr>
              <a:t>b = 1</a:t>
            </a:r>
            <a:r>
              <a:rPr lang="en-US" altLang="zh-CN" dirty="0">
                <a:solidFill>
                  <a:srgbClr val="002060"/>
                </a:solidFill>
              </a:rPr>
              <a:t>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78599">
                                            <p:txEl>
                                              <p:pRg st="0" end="0"/>
                                            </p:txEl>
                                          </p:spTgt>
                                        </p:tgtEl>
                                        <p:attrNameLst>
                                          <p:attrName>style.visibility</p:attrName>
                                        </p:attrNameLst>
                                      </p:cBhvr>
                                      <p:to>
                                        <p:strVal val="visible"/>
                                      </p:to>
                                    </p:set>
                                    <p:animEffect transition="in" filter="box(out)">
                                      <p:cBhvr>
                                        <p:cTn id="13" dur="500"/>
                                        <p:tgtEl>
                                          <p:spTgt spid="878599">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78600"/>
                                        </p:tgtEl>
                                        <p:attrNameLst>
                                          <p:attrName>style.visibility</p:attrName>
                                        </p:attrNameLst>
                                      </p:cBhvr>
                                      <p:to>
                                        <p:strVal val="visible"/>
                                      </p:to>
                                    </p:set>
                                    <p:animEffect transition="in" filter="box(out)">
                                      <p:cBhvr>
                                        <p:cTn id="18" dur="500"/>
                                        <p:tgtEl>
                                          <p:spTgt spid="87860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878603"/>
                                        </p:tgtEl>
                                        <p:attrNameLst>
                                          <p:attrName>style.visibility</p:attrName>
                                        </p:attrNameLst>
                                      </p:cBhvr>
                                      <p:to>
                                        <p:strVal val="visible"/>
                                      </p:to>
                                    </p:set>
                                    <p:animEffect transition="in" filter="box(out)">
                                      <p:cBhvr>
                                        <p:cTn id="23" dur="500"/>
                                        <p:tgtEl>
                                          <p:spTgt spid="878603"/>
                                        </p:tgtEl>
                                      </p:cBhvr>
                                    </p:animEffect>
                                  </p:childTnLst>
                                  <p:subTnLst>
                                    <p:audio>
                                      <p:cMediaNode>
                                        <p:cTn display="0" masterRel="sameClick">
                                          <p:stCondLst>
                                            <p:cond evt="begin" delay="0">
                                              <p:tn val="21"/>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P spid="878600" grpId="0" animBg="1" autoUpdateAnimBg="0"/>
      <p:bldP spid="87860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3" name="Rectangle 3"/>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0651" name="Rectangle 11"/>
          <p:cNvSpPr>
            <a:spLocks noChangeArrowheads="1"/>
          </p:cNvSpPr>
          <p:nvPr/>
        </p:nvSpPr>
        <p:spPr bwMode="auto">
          <a:xfrm>
            <a:off x="602071" y="756147"/>
            <a:ext cx="11086282"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1】</a:t>
            </a:r>
            <a:r>
              <a:rPr lang="zh-CN" altLang="en-US" b="1" dirty="0">
                <a:solidFill>
                  <a:srgbClr val="C01920"/>
                </a:solidFill>
                <a:latin typeface="楷体" panose="02010609060101010101" pitchFamily="49" charset="-122"/>
                <a:ea typeface="楷体" panose="02010609060101010101" pitchFamily="49" charset="-122"/>
              </a:rPr>
              <a:t>已知某公司员工的保底薪水为</a:t>
            </a:r>
            <a:r>
              <a:rPr lang="en-US" altLang="zh-CN" b="1" dirty="0">
                <a:solidFill>
                  <a:srgbClr val="C01920"/>
                </a:solidFill>
                <a:latin typeface="楷体" panose="02010609060101010101" pitchFamily="49" charset="-122"/>
                <a:ea typeface="楷体" panose="02010609060101010101" pitchFamily="49" charset="-122"/>
              </a:rPr>
              <a:t>500</a:t>
            </a:r>
            <a:r>
              <a:rPr lang="zh-CN" altLang="en-US" b="1" dirty="0">
                <a:solidFill>
                  <a:srgbClr val="C01920"/>
                </a:solidFill>
                <a:latin typeface="楷体" panose="02010609060101010101" pitchFamily="49" charset="-122"/>
                <a:ea typeface="楷体" panose="02010609060101010101" pitchFamily="49" charset="-122"/>
              </a:rPr>
              <a:t>，某月所接工程的利润</a:t>
            </a:r>
            <a:r>
              <a:rPr lang="en-US" altLang="zh-CN" b="1" dirty="0">
                <a:solidFill>
                  <a:srgbClr val="C01920"/>
                </a:solidFill>
                <a:latin typeface="楷体" panose="02010609060101010101" pitchFamily="49" charset="-122"/>
                <a:ea typeface="楷体" panose="02010609060101010101" pitchFamily="49" charset="-122"/>
              </a:rPr>
              <a:t>profit</a:t>
            </a:r>
            <a:r>
              <a:rPr lang="zh-CN" altLang="en-US" b="1" dirty="0">
                <a:solidFill>
                  <a:srgbClr val="C01920"/>
                </a:solidFill>
                <a:latin typeface="楷体" panose="02010609060101010101" pitchFamily="49" charset="-122"/>
                <a:ea typeface="楷体" panose="02010609060101010101" pitchFamily="49" charset="-122"/>
              </a:rPr>
              <a:t>（整数）与利润提成的关系如下所示（计量单位：元）。计算员工的当月薪水。 </a:t>
            </a:r>
          </a:p>
        </p:txBody>
      </p:sp>
      <p:graphicFrame>
        <p:nvGraphicFramePr>
          <p:cNvPr id="880728" name="Group 88"/>
          <p:cNvGraphicFramePr>
            <a:graphicFrameLocks noGrp="1"/>
          </p:cNvGraphicFramePr>
          <p:nvPr>
            <p:extLst>
              <p:ext uri="{D42A27DB-BD31-4B8C-83A1-F6EECF244321}">
                <p14:modId xmlns:p14="http://schemas.microsoft.com/office/powerpoint/2010/main" val="899929457"/>
              </p:ext>
            </p:extLst>
          </p:nvPr>
        </p:nvGraphicFramePr>
        <p:xfrm>
          <a:off x="2711624" y="1738496"/>
          <a:ext cx="7272337" cy="2377440"/>
        </p:xfrm>
        <a:graphic>
          <a:graphicData uri="http://schemas.openxmlformats.org/drawingml/2006/table">
            <a:tbl>
              <a:tblPr>
                <a:effectLst>
                  <a:outerShdw blurRad="50800" dist="38100" dir="2700000" algn="tl" rotWithShape="0">
                    <a:prstClr val="black">
                      <a:alpha val="40000"/>
                    </a:prstClr>
                  </a:outerShdw>
                </a:effectLst>
              </a:tblPr>
              <a:tblGrid>
                <a:gridCol w="3636962">
                  <a:extLst>
                    <a:ext uri="{9D8B030D-6E8A-4147-A177-3AD203B41FA5}">
                      <a16:colId xmlns:a16="http://schemas.microsoft.com/office/drawing/2014/main" val="20000"/>
                    </a:ext>
                  </a:extLst>
                </a:gridCol>
                <a:gridCol w="3635375">
                  <a:extLst>
                    <a:ext uri="{9D8B030D-6E8A-4147-A177-3AD203B41FA5}">
                      <a16:colId xmlns:a16="http://schemas.microsoft.com/office/drawing/2014/main" val="20001"/>
                    </a:ext>
                  </a:extLst>
                </a:gridCol>
              </a:tblGrid>
              <a:tr h="2968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outerShdw blurRad="38100" dist="38100" dir="2700000" algn="tl">
                              <a:srgbClr val="000000"/>
                            </a:outerShdw>
                          </a:effectLst>
                          <a:latin typeface="+mn-lt"/>
                          <a:ea typeface="楷体" pitchFamily="49" charset="-122"/>
                          <a:cs typeface="Times New Roman" pitchFamily="18" charset="0"/>
                        </a:rPr>
                        <a:t>工程利润</a:t>
                      </a:r>
                      <a:r>
                        <a:rPr kumimoji="1" lang="en-US" altLang="zh-CN" sz="2000" b="1" i="0" u="none" strike="noStrike" cap="none" normalizeH="0" baseline="0" dirty="0">
                          <a:ln>
                            <a:noFill/>
                          </a:ln>
                          <a:solidFill>
                            <a:schemeClr val="bg1"/>
                          </a:solidFill>
                          <a:effectLst>
                            <a:outerShdw blurRad="38100" dist="38100" dir="2700000" algn="tl">
                              <a:srgbClr val="000000"/>
                            </a:outerShdw>
                          </a:effectLst>
                          <a:latin typeface="+mn-lt"/>
                          <a:ea typeface="楷体" pitchFamily="49" charset="-122"/>
                          <a:cs typeface="Times New Roman" pitchFamily="18" charset="0"/>
                        </a:rPr>
                        <a:t>profit</a:t>
                      </a:r>
                      <a:endParaRPr kumimoji="1" lang="en-US" altLang="zh-CN" sz="2000" b="0" i="0" u="none" strike="noStrike" cap="none" normalizeH="0" baseline="0" dirty="0">
                        <a:ln>
                          <a:noFill/>
                        </a:ln>
                        <a:solidFill>
                          <a:schemeClr val="bg1"/>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outerShdw blurRad="38100" dist="38100" dir="2700000" algn="tl">
                              <a:srgbClr val="000000"/>
                            </a:outerShdw>
                          </a:effectLst>
                          <a:latin typeface="+mn-lt"/>
                          <a:ea typeface="楷体" pitchFamily="49" charset="-122"/>
                          <a:cs typeface="Times New Roman" pitchFamily="18" charset="0"/>
                        </a:rPr>
                        <a:t>提成比率</a:t>
                      </a:r>
                      <a:endParaRPr kumimoji="1" lang="zh-CN" altLang="en-US" sz="2000" b="0" i="0" u="none" strike="noStrike" cap="none" normalizeH="0" baseline="0" dirty="0">
                        <a:ln>
                          <a:noFill/>
                        </a:ln>
                        <a:solidFill>
                          <a:schemeClr val="bg1"/>
                        </a:solidFill>
                        <a:effectLst>
                          <a:outerShdw blurRad="38100" dist="38100" dir="2700000" algn="tl">
                            <a:srgbClr val="000000"/>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profit≤1000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没有提成</a:t>
                      </a:r>
                      <a:endParaRPr kumimoji="1" lang="zh-CN" altLang="en-US"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1000</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profit≤2000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58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2000</a:t>
                      </a: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profit≤5000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15%</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5000</a:t>
                      </a:r>
                      <a:r>
                        <a:rPr kumimoji="1" lang="zh-CN" altLang="en-US"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profit≤10000</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20%</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571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10000</a:t>
                      </a:r>
                      <a:r>
                        <a:rPr kumimoji="1" lang="zh-CN" altLang="en-US"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2000" b="0" i="0" u="none" strike="noStrike" cap="none" normalizeH="0" baseline="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profit</a:t>
                      </a:r>
                      <a:endParaRPr kumimoji="1" lang="en-US" altLang="zh-CN" sz="2000" b="0"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提成</a:t>
                      </a:r>
                      <a:r>
                        <a:rPr kumimoji="1" lang="en-US" altLang="zh-CN" sz="2000" b="0"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25%</a:t>
                      </a:r>
                      <a:endParaRPr kumimoji="1" lang="en-US" altLang="zh-CN" sz="2000" b="0"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880727" name="Rectangle 87"/>
          <p:cNvSpPr>
            <a:spLocks noChangeArrowheads="1"/>
          </p:cNvSpPr>
          <p:nvPr/>
        </p:nvSpPr>
        <p:spPr bwMode="auto">
          <a:xfrm>
            <a:off x="911424" y="4293096"/>
            <a:ext cx="10729689"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sz="2000" b="1" dirty="0">
                <a:solidFill>
                  <a:srgbClr val="C01920"/>
                </a:solidFill>
                <a:latin typeface="隶书" pitchFamily="49" charset="-122"/>
                <a:ea typeface="隶书" pitchFamily="49" charset="-122"/>
              </a:rPr>
              <a:t>程序应该这样来设计：</a:t>
            </a:r>
          </a:p>
          <a:p>
            <a:pPr>
              <a:buClr>
                <a:srgbClr val="CC00FF"/>
              </a:buClr>
              <a:tabLst>
                <a:tab pos="457200" algn="l"/>
              </a:tabLst>
            </a:pPr>
            <a:r>
              <a:rPr lang="zh-CN" altLang="en-US" sz="2000" b="1" dirty="0">
                <a:ea typeface="楷体" pitchFamily="49" charset="-122"/>
              </a:rPr>
              <a:t>    （</a:t>
            </a:r>
            <a:r>
              <a:rPr lang="en-US" altLang="zh-CN" sz="2000" b="1" dirty="0">
                <a:ea typeface="楷体" pitchFamily="49" charset="-122"/>
              </a:rPr>
              <a:t>1</a:t>
            </a:r>
            <a:r>
              <a:rPr lang="zh-CN" altLang="en-US" sz="2000" b="1" dirty="0">
                <a:ea typeface="楷体" pitchFamily="49" charset="-122"/>
              </a:rPr>
              <a:t>）首先要定义一个变量用来存放员工所接工程的利润；</a:t>
            </a:r>
            <a:endParaRPr lang="en-US" altLang="zh-CN" sz="2000" b="1" dirty="0">
              <a:ea typeface="楷体" pitchFamily="49" charset="-122"/>
            </a:endParaRPr>
          </a:p>
          <a:p>
            <a:pPr>
              <a:buClr>
                <a:srgbClr val="CC00FF"/>
              </a:buClr>
              <a:tabLst>
                <a:tab pos="457200" algn="l"/>
              </a:tabLst>
            </a:pPr>
            <a:r>
              <a:rPr lang="zh-CN" altLang="en-US" sz="2000" b="1" dirty="0">
                <a:ea typeface="楷体" pitchFamily="49" charset="-122"/>
              </a:rPr>
              <a:t>    （</a:t>
            </a:r>
            <a:r>
              <a:rPr lang="en-US" altLang="zh-CN" sz="2000" b="1" dirty="0">
                <a:ea typeface="楷体" pitchFamily="49" charset="-122"/>
              </a:rPr>
              <a:t>2</a:t>
            </a:r>
            <a:r>
              <a:rPr lang="zh-CN" altLang="en-US" sz="2000" b="1" dirty="0">
                <a:ea typeface="楷体" pitchFamily="49" charset="-122"/>
              </a:rPr>
              <a:t>）其次提示用户输入员工所接工程的利润，并调用</a:t>
            </a:r>
            <a:r>
              <a:rPr lang="en-US" altLang="zh-CN" sz="2000" b="1" dirty="0" err="1">
                <a:ea typeface="楷体" pitchFamily="49" charset="-122"/>
              </a:rPr>
              <a:t>scanf</a:t>
            </a:r>
            <a:r>
              <a:rPr lang="zh-CN" altLang="en-US" sz="2000" b="1" dirty="0">
                <a:ea typeface="楷体" pitchFamily="49" charset="-122"/>
              </a:rPr>
              <a:t>函数接受用户输入员工所接工程的利润；</a:t>
            </a:r>
            <a:endParaRPr lang="en-US" altLang="zh-CN" sz="2000" b="1" dirty="0">
              <a:ea typeface="楷体" pitchFamily="49" charset="-122"/>
            </a:endParaRPr>
          </a:p>
          <a:p>
            <a:pPr>
              <a:buClr>
                <a:srgbClr val="CC00FF"/>
              </a:buClr>
              <a:tabLst>
                <a:tab pos="457200" algn="l"/>
              </a:tabLst>
            </a:pPr>
            <a:r>
              <a:rPr lang="zh-CN" altLang="en-US" sz="2000" b="1" dirty="0">
                <a:ea typeface="楷体" pitchFamily="49" charset="-122"/>
              </a:rPr>
              <a:t>    （</a:t>
            </a:r>
            <a:r>
              <a:rPr lang="en-US" altLang="zh-CN" sz="2000" b="1" dirty="0">
                <a:ea typeface="楷体" pitchFamily="49" charset="-122"/>
              </a:rPr>
              <a:t>3</a:t>
            </a:r>
            <a:r>
              <a:rPr lang="zh-CN" altLang="en-US" sz="2000" b="1" dirty="0">
                <a:ea typeface="楷体" pitchFamily="49" charset="-122"/>
              </a:rPr>
              <a:t>）然后根据上表的规则，计算该员工当月的提成比率。</a:t>
            </a:r>
            <a:endParaRPr lang="en-US" altLang="zh-CN" sz="2000" b="1" dirty="0">
              <a:ea typeface="楷体" pitchFamily="49" charset="-122"/>
            </a:endParaRPr>
          </a:p>
          <a:p>
            <a:pPr>
              <a:buClr>
                <a:srgbClr val="CC00FF"/>
              </a:buClr>
              <a:tabLst>
                <a:tab pos="457200" algn="l"/>
              </a:tabLst>
            </a:pPr>
            <a:r>
              <a:rPr lang="zh-CN" altLang="en-US" sz="2000" b="1" dirty="0">
                <a:ea typeface="楷体" pitchFamily="49" charset="-122"/>
              </a:rPr>
              <a:t>    （</a:t>
            </a:r>
            <a:r>
              <a:rPr lang="en-US" altLang="zh-CN" sz="2000" b="1" dirty="0">
                <a:ea typeface="楷体" pitchFamily="49" charset="-122"/>
              </a:rPr>
              <a:t>4</a:t>
            </a:r>
            <a:r>
              <a:rPr lang="zh-CN" altLang="en-US" sz="2000" b="1" dirty="0">
                <a:ea typeface="楷体" pitchFamily="49" charset="-122"/>
              </a:rPr>
              <a:t>）最后计算该员工当月的薪水（保底薪水</a:t>
            </a:r>
            <a:r>
              <a:rPr lang="en-US" altLang="zh-CN" sz="2000" b="1" dirty="0">
                <a:ea typeface="楷体" pitchFamily="49" charset="-122"/>
              </a:rPr>
              <a:t>+</a:t>
            </a:r>
            <a:r>
              <a:rPr lang="zh-CN" altLang="en-US" sz="2000" b="1" dirty="0">
                <a:ea typeface="楷体" pitchFamily="49" charset="-122"/>
              </a:rPr>
              <a:t>所接工程的利润*提成比率），并输出结果。</a:t>
            </a:r>
          </a:p>
        </p:txBody>
      </p:sp>
      <p:grpSp>
        <p:nvGrpSpPr>
          <p:cNvPr id="65" name="组合 64"/>
          <p:cNvGrpSpPr/>
          <p:nvPr/>
        </p:nvGrpSpPr>
        <p:grpSpPr>
          <a:xfrm>
            <a:off x="2952728" y="2139777"/>
            <a:ext cx="6286544" cy="4000528"/>
            <a:chOff x="928662" y="1000108"/>
            <a:chExt cx="6286544" cy="4000528"/>
          </a:xfrm>
        </p:grpSpPr>
        <p:sp>
          <p:nvSpPr>
            <p:cNvPr id="10" name="矩形 9"/>
            <p:cNvSpPr/>
            <p:nvPr/>
          </p:nvSpPr>
          <p:spPr bwMode="auto">
            <a:xfrm>
              <a:off x="928662" y="1000108"/>
              <a:ext cx="6286544" cy="4000528"/>
            </a:xfrm>
            <a:prstGeom prst="rect">
              <a:avLst/>
            </a:prstGeom>
            <a:gradFill flip="none" rotWithShape="1">
              <a:gsLst>
                <a:gs pos="0">
                  <a:srgbClr val="CFCFD1"/>
                </a:gs>
                <a:gs pos="100000">
                  <a:schemeClr val="bg1">
                    <a:lumMod val="95000"/>
                  </a:schemeClr>
                </a:gs>
              </a:gsLst>
              <a:lin ang="13500000" scaled="1"/>
              <a:tileRect/>
            </a:gradFill>
            <a:ln w="38100" cap="flat" cmpd="sng" algn="ctr">
              <a:solidFill>
                <a:srgbClr val="C01920"/>
              </a:solidFill>
              <a:prstDash val="solid"/>
              <a:round/>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vert="horz" wrap="square" lIns="91440" tIns="45720" rIns="91440" bIns="45720" numCol="1" rtlCol="0" anchor="t" anchorCtr="0" compatLnSpc="1">
              <a:prstTxWarp prst="textNoShape">
                <a:avLst/>
              </a:prstTxWarp>
            </a:bodyPr>
            <a:lstStyle/>
            <a:p>
              <a:endParaRPr lang="zh-CN" altLang="en-US"/>
            </a:p>
          </p:txBody>
        </p:sp>
        <p:grpSp>
          <p:nvGrpSpPr>
            <p:cNvPr id="481282" name="组合 412"/>
            <p:cNvGrpSpPr>
              <a:grpSpLocks/>
            </p:cNvGrpSpPr>
            <p:nvPr/>
          </p:nvGrpSpPr>
          <p:grpSpPr bwMode="auto">
            <a:xfrm>
              <a:off x="1448382" y="1193950"/>
              <a:ext cx="5166630" cy="3396391"/>
              <a:chOff x="-396" y="-2543"/>
              <a:chExt cx="28633" cy="18211"/>
            </a:xfrm>
          </p:grpSpPr>
          <p:grpSp>
            <p:nvGrpSpPr>
              <p:cNvPr id="410" name="组合 410"/>
              <p:cNvGrpSpPr>
                <a:grpSpLocks/>
              </p:cNvGrpSpPr>
              <p:nvPr/>
            </p:nvGrpSpPr>
            <p:grpSpPr bwMode="auto">
              <a:xfrm>
                <a:off x="0" y="521"/>
                <a:ext cx="28237" cy="15147"/>
                <a:chOff x="0" y="521"/>
                <a:chExt cx="28237" cy="15153"/>
              </a:xfrm>
            </p:grpSpPr>
            <p:grpSp>
              <p:nvGrpSpPr>
                <p:cNvPr id="409" name="组合 409"/>
                <p:cNvGrpSpPr>
                  <a:grpSpLocks/>
                </p:cNvGrpSpPr>
                <p:nvPr/>
              </p:nvGrpSpPr>
              <p:grpSpPr bwMode="auto">
                <a:xfrm>
                  <a:off x="0" y="521"/>
                  <a:ext cx="28237" cy="15153"/>
                  <a:chOff x="0" y="521"/>
                  <a:chExt cx="28237" cy="15153"/>
                </a:xfrm>
              </p:grpSpPr>
              <p:grpSp>
                <p:nvGrpSpPr>
                  <p:cNvPr id="210" name="组合 210"/>
                  <p:cNvGrpSpPr>
                    <a:grpSpLocks/>
                  </p:cNvGrpSpPr>
                  <p:nvPr/>
                </p:nvGrpSpPr>
                <p:grpSpPr bwMode="auto">
                  <a:xfrm>
                    <a:off x="0" y="6897"/>
                    <a:ext cx="17674" cy="2457"/>
                    <a:chOff x="0" y="607"/>
                    <a:chExt cx="17674" cy="2457"/>
                  </a:xfrm>
                </p:grpSpPr>
                <p:sp>
                  <p:nvSpPr>
                    <p:cNvPr id="226" name="流程图: 过程 226"/>
                    <p:cNvSpPr>
                      <a:spLocks noChangeArrowheads="1"/>
                    </p:cNvSpPr>
                    <p:nvPr/>
                  </p:nvSpPr>
                  <p:spPr bwMode="auto">
                    <a:xfrm>
                      <a:off x="30" y="760"/>
                      <a:ext cx="17644" cy="226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3" name="直接连接符 243"/>
                    <p:cNvSpPr>
                      <a:spLocks noChangeShapeType="1"/>
                    </p:cNvSpPr>
                    <p:nvPr/>
                  </p:nvSpPr>
                  <p:spPr bwMode="auto">
                    <a:xfrm>
                      <a:off x="0" y="859"/>
                      <a:ext cx="12181" cy="220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7" name="文本框 2"/>
                    <p:cNvSpPr txBox="1">
                      <a:spLocks noChangeArrowheads="1"/>
                    </p:cNvSpPr>
                    <p:nvPr/>
                  </p:nvSpPr>
                  <p:spPr bwMode="auto">
                    <a:xfrm>
                      <a:off x="7918" y="607"/>
                      <a:ext cx="6730" cy="191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a:solidFill>
                            <a:srgbClr val="0000FF"/>
                          </a:solidFill>
                          <a:effectLst>
                            <a:outerShdw blurRad="50800" dist="38100" dir="13500000" algn="br" rotWithShape="0">
                              <a:prstClr val="black">
                                <a:alpha val="40000"/>
                              </a:prstClr>
                            </a:outerShdw>
                          </a:effectLst>
                          <a:latin typeface="+mn-lt"/>
                          <a:cs typeface="宋体" pitchFamily="2" charset="-122"/>
                        </a:rPr>
                        <a:t>profit≤5000</a:t>
                      </a:r>
                      <a:endParaRPr kumimoji="0" lang="zh-CN" altLang="zh-CN" sz="1400" b="1">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4" name="文本框 2"/>
                    <p:cNvSpPr txBox="1">
                      <a:spLocks noChangeArrowheads="1"/>
                    </p:cNvSpPr>
                    <p:nvPr/>
                  </p:nvSpPr>
                  <p:spPr bwMode="auto">
                    <a:xfrm>
                      <a:off x="15478" y="1227"/>
                      <a:ext cx="1584"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5" name="文本框 2"/>
                    <p:cNvSpPr txBox="1">
                      <a:spLocks noChangeArrowheads="1"/>
                    </p:cNvSpPr>
                    <p:nvPr/>
                  </p:nvSpPr>
                  <p:spPr bwMode="auto">
                    <a:xfrm>
                      <a:off x="1039" y="1154"/>
                      <a:ext cx="1980"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408" name="组合 408"/>
                  <p:cNvGrpSpPr>
                    <a:grpSpLocks/>
                  </p:cNvGrpSpPr>
                  <p:nvPr/>
                </p:nvGrpSpPr>
                <p:grpSpPr bwMode="auto">
                  <a:xfrm>
                    <a:off x="0" y="521"/>
                    <a:ext cx="28237" cy="15153"/>
                    <a:chOff x="0" y="521"/>
                    <a:chExt cx="28237" cy="15153"/>
                  </a:xfrm>
                </p:grpSpPr>
                <p:sp>
                  <p:nvSpPr>
                    <p:cNvPr id="403" name="流程图: 过程 403"/>
                    <p:cNvSpPr>
                      <a:spLocks noChangeArrowheads="1"/>
                    </p:cNvSpPr>
                    <p:nvPr/>
                  </p:nvSpPr>
                  <p:spPr bwMode="auto">
                    <a:xfrm>
                      <a:off x="22890" y="4811"/>
                      <a:ext cx="5347" cy="879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nvGrpSpPr>
                    <p:cNvPr id="402" name="组合 402"/>
                    <p:cNvGrpSpPr>
                      <a:grpSpLocks/>
                    </p:cNvGrpSpPr>
                    <p:nvPr/>
                  </p:nvGrpSpPr>
                  <p:grpSpPr bwMode="auto">
                    <a:xfrm>
                      <a:off x="0" y="521"/>
                      <a:ext cx="28227" cy="15153"/>
                      <a:chOff x="0" y="521"/>
                      <a:chExt cx="28227" cy="15153"/>
                    </a:xfrm>
                  </p:grpSpPr>
                  <p:grpSp>
                    <p:nvGrpSpPr>
                      <p:cNvPr id="209" name="组合 209"/>
                      <p:cNvGrpSpPr>
                        <a:grpSpLocks/>
                      </p:cNvGrpSpPr>
                      <p:nvPr/>
                    </p:nvGrpSpPr>
                    <p:grpSpPr bwMode="auto">
                      <a:xfrm>
                        <a:off x="0" y="4810"/>
                        <a:ext cx="22890" cy="2278"/>
                        <a:chOff x="0" y="576"/>
                        <a:chExt cx="22890" cy="2277"/>
                      </a:xfrm>
                    </p:grpSpPr>
                    <p:sp>
                      <p:nvSpPr>
                        <p:cNvPr id="223" name="流程图: 过程 223"/>
                        <p:cNvSpPr>
                          <a:spLocks noChangeArrowheads="1"/>
                        </p:cNvSpPr>
                        <p:nvPr/>
                      </p:nvSpPr>
                      <p:spPr bwMode="auto">
                        <a:xfrm>
                          <a:off x="30" y="576"/>
                          <a:ext cx="22860" cy="224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32" name="直接连接符 232"/>
                        <p:cNvSpPr>
                          <a:spLocks noChangeShapeType="1"/>
                        </p:cNvSpPr>
                        <p:nvPr/>
                      </p:nvSpPr>
                      <p:spPr bwMode="auto">
                        <a:xfrm>
                          <a:off x="0" y="675"/>
                          <a:ext cx="17321" cy="217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1" name="文本框 2"/>
                        <p:cNvSpPr txBox="1">
                          <a:spLocks noChangeArrowheads="1"/>
                        </p:cNvSpPr>
                        <p:nvPr/>
                      </p:nvSpPr>
                      <p:spPr bwMode="auto">
                        <a:xfrm>
                          <a:off x="12669" y="747"/>
                          <a:ext cx="6334" cy="153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profit≤2000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3" name="文本框 2"/>
                        <p:cNvSpPr txBox="1">
                          <a:spLocks noChangeArrowheads="1"/>
                        </p:cNvSpPr>
                        <p:nvPr/>
                      </p:nvSpPr>
                      <p:spPr bwMode="auto">
                        <a:xfrm>
                          <a:off x="20689" y="1057"/>
                          <a:ext cx="1557" cy="163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4" name="文本框 2"/>
                        <p:cNvSpPr txBox="1">
                          <a:spLocks noChangeArrowheads="1"/>
                        </p:cNvSpPr>
                        <p:nvPr/>
                      </p:nvSpPr>
                      <p:spPr bwMode="auto">
                        <a:xfrm>
                          <a:off x="2910" y="941"/>
                          <a:ext cx="1652" cy="175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398" name="组合 398"/>
                      <p:cNvGrpSpPr>
                        <a:grpSpLocks/>
                      </p:cNvGrpSpPr>
                      <p:nvPr/>
                    </p:nvGrpSpPr>
                    <p:grpSpPr bwMode="auto">
                      <a:xfrm>
                        <a:off x="30" y="521"/>
                        <a:ext cx="28197" cy="15153"/>
                        <a:chOff x="30" y="521"/>
                        <a:chExt cx="28196" cy="15153"/>
                      </a:xfrm>
                    </p:grpSpPr>
                    <p:sp>
                      <p:nvSpPr>
                        <p:cNvPr id="218" name="流程图: 过程 218"/>
                        <p:cNvSpPr>
                          <a:spLocks noChangeArrowheads="1"/>
                        </p:cNvSpPr>
                        <p:nvPr/>
                      </p:nvSpPr>
                      <p:spPr bwMode="auto">
                        <a:xfrm>
                          <a:off x="30" y="2571"/>
                          <a:ext cx="28194" cy="2248"/>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sz="1600" b="1">
                            <a:effectLst>
                              <a:outerShdw blurRad="50800" dist="38100" dir="13500000" algn="br" rotWithShape="0">
                                <a:prstClr val="black">
                                  <a:alpha val="40000"/>
                                </a:prstClr>
                              </a:outerShdw>
                            </a:effectLst>
                            <a:latin typeface="+mn-lt"/>
                          </a:endParaRPr>
                        </a:p>
                      </p:txBody>
                    </p:sp>
                    <p:grpSp>
                      <p:nvGrpSpPr>
                        <p:cNvPr id="407" name="组合 407"/>
                        <p:cNvGrpSpPr>
                          <a:grpSpLocks/>
                        </p:cNvGrpSpPr>
                        <p:nvPr/>
                      </p:nvGrpSpPr>
                      <p:grpSpPr bwMode="auto">
                        <a:xfrm>
                          <a:off x="30" y="521"/>
                          <a:ext cx="28194" cy="2058"/>
                          <a:chOff x="0" y="521"/>
                          <a:chExt cx="28194" cy="2058"/>
                        </a:xfrm>
                      </p:grpSpPr>
                      <p:sp>
                        <p:nvSpPr>
                          <p:cNvPr id="213" name="流程图: 过程 213"/>
                          <p:cNvSpPr>
                            <a:spLocks noChangeArrowheads="1"/>
                          </p:cNvSpPr>
                          <p:nvPr/>
                        </p:nvSpPr>
                        <p:spPr bwMode="auto">
                          <a:xfrm>
                            <a:off x="0" y="521"/>
                            <a:ext cx="28194" cy="2058"/>
                          </a:xfrm>
                          <a:prstGeom prst="flowChartProcess">
                            <a:avLst/>
                          </a:prstGeom>
                          <a:gradFill flip="none" rotWithShape="1">
                            <a:gsLst>
                              <a:gs pos="0">
                                <a:srgbClr val="BD6368"/>
                              </a:gs>
                              <a:gs pos="100000">
                                <a:srgbClr val="FF66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17" name="文本框 2"/>
                          <p:cNvSpPr txBox="1">
                            <a:spLocks noChangeArrowheads="1"/>
                          </p:cNvSpPr>
                          <p:nvPr/>
                        </p:nvSpPr>
                        <p:spPr bwMode="auto">
                          <a:xfrm>
                            <a:off x="8750" y="583"/>
                            <a:ext cx="8714"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sz="1600" b="1" dirty="0">
                                <a:latin typeface="+mn-lt"/>
                                <a:ea typeface="楷体" pitchFamily="49" charset="-122"/>
                                <a:cs typeface="宋体" pitchFamily="2" charset="-122"/>
                              </a:rPr>
                              <a:t>输入</a:t>
                            </a:r>
                            <a:r>
                              <a:rPr kumimoji="0" lang="en-US" altLang="zh-CN" sz="1600" b="1" dirty="0">
                                <a:latin typeface="+mn-lt"/>
                                <a:ea typeface="楷体" pitchFamily="49" charset="-122"/>
                                <a:cs typeface="宋体" pitchFamily="2" charset="-122"/>
                              </a:rPr>
                              <a:t>profit</a:t>
                            </a:r>
                            <a:endParaRPr kumimoji="0" lang="zh-CN" altLang="zh-CN" sz="1600" b="1" dirty="0">
                              <a:latin typeface="+mn-lt"/>
                              <a:ea typeface="楷体" pitchFamily="49" charset="-122"/>
                              <a:cs typeface="宋体" pitchFamily="2" charset="-122"/>
                            </a:endParaRPr>
                          </a:p>
                        </p:txBody>
                      </p:sp>
                    </p:grpSp>
                    <p:grpSp>
                      <p:nvGrpSpPr>
                        <p:cNvPr id="224" name="组合 224"/>
                        <p:cNvGrpSpPr>
                          <a:grpSpLocks/>
                        </p:cNvGrpSpPr>
                        <p:nvPr/>
                      </p:nvGrpSpPr>
                      <p:grpSpPr bwMode="auto">
                        <a:xfrm>
                          <a:off x="30" y="7051"/>
                          <a:ext cx="28196" cy="8623"/>
                          <a:chOff x="30" y="-37"/>
                          <a:chExt cx="28195" cy="8623"/>
                        </a:xfrm>
                      </p:grpSpPr>
                      <p:grpSp>
                        <p:nvGrpSpPr>
                          <p:cNvPr id="222" name="组合 222"/>
                          <p:cNvGrpSpPr>
                            <a:grpSpLocks/>
                          </p:cNvGrpSpPr>
                          <p:nvPr/>
                        </p:nvGrpSpPr>
                        <p:grpSpPr bwMode="auto">
                          <a:xfrm>
                            <a:off x="30" y="-37"/>
                            <a:ext cx="28195" cy="8623"/>
                            <a:chOff x="30" y="-37"/>
                            <a:chExt cx="28194" cy="8623"/>
                          </a:xfrm>
                        </p:grpSpPr>
                        <p:grpSp>
                          <p:nvGrpSpPr>
                            <p:cNvPr id="416" name="组合 416"/>
                            <p:cNvGrpSpPr>
                              <a:grpSpLocks/>
                            </p:cNvGrpSpPr>
                            <p:nvPr/>
                          </p:nvGrpSpPr>
                          <p:grpSpPr bwMode="auto">
                            <a:xfrm>
                              <a:off x="30" y="2018"/>
                              <a:ext cx="18218" cy="4538"/>
                              <a:chOff x="30" y="730"/>
                              <a:chExt cx="18219" cy="4540"/>
                            </a:xfrm>
                          </p:grpSpPr>
                          <p:sp>
                            <p:nvSpPr>
                              <p:cNvPr id="244" name="流程图: 过程 244"/>
                              <p:cNvSpPr>
                                <a:spLocks noChangeArrowheads="1"/>
                              </p:cNvSpPr>
                              <p:nvPr/>
                            </p:nvSpPr>
                            <p:spPr bwMode="auto">
                              <a:xfrm>
                                <a:off x="30" y="951"/>
                                <a:ext cx="12078" cy="226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45" name="直接连接符 245"/>
                              <p:cNvSpPr>
                                <a:spLocks noChangeShapeType="1"/>
                              </p:cNvSpPr>
                              <p:nvPr/>
                            </p:nvSpPr>
                            <p:spPr bwMode="auto">
                              <a:xfrm>
                                <a:off x="30" y="1043"/>
                                <a:ext cx="6843" cy="217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250" name="文本框 2"/>
                              <p:cNvSpPr txBox="1">
                                <a:spLocks noChangeArrowheads="1"/>
                              </p:cNvSpPr>
                              <p:nvPr/>
                            </p:nvSpPr>
                            <p:spPr bwMode="auto">
                              <a:xfrm>
                                <a:off x="3011" y="730"/>
                                <a:ext cx="7471" cy="158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profit≤10000?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sp>
                            <p:nvSpPr>
                              <p:cNvPr id="255" name="文本框 2"/>
                              <p:cNvSpPr txBox="1">
                                <a:spLocks noChangeArrowheads="1"/>
                              </p:cNvSpPr>
                              <p:nvPr/>
                            </p:nvSpPr>
                            <p:spPr bwMode="auto">
                              <a:xfrm>
                                <a:off x="10057" y="1387"/>
                                <a:ext cx="2178" cy="172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386" name="文本框 2"/>
                              <p:cNvSpPr txBox="1">
                                <a:spLocks noChangeArrowheads="1"/>
                              </p:cNvSpPr>
                              <p:nvPr/>
                            </p:nvSpPr>
                            <p:spPr bwMode="auto">
                              <a:xfrm>
                                <a:off x="580" y="1478"/>
                                <a:ext cx="1946" cy="143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a:solidFill>
                                    <a:srgbClr val="7030A0"/>
                                  </a:solidFill>
                                  <a:effectLst>
                                    <a:outerShdw blurRad="50800" dist="38100" dir="13500000" algn="br" rotWithShape="0">
                                      <a:prstClr val="black">
                                        <a:alpha val="40000"/>
                                      </a:prstClr>
                                    </a:outerShdw>
                                  </a:effectLst>
                                  <a:latin typeface="+mn-lt"/>
                                  <a:cs typeface="宋体" pitchFamily="2" charset="-122"/>
                                </a:endParaRPr>
                              </a:p>
                            </p:txBody>
                          </p:sp>
                          <p:grpSp>
                            <p:nvGrpSpPr>
                              <p:cNvPr id="397" name="组合 397"/>
                              <p:cNvGrpSpPr>
                                <a:grpSpLocks/>
                              </p:cNvGrpSpPr>
                              <p:nvPr/>
                            </p:nvGrpSpPr>
                            <p:grpSpPr bwMode="auto">
                              <a:xfrm>
                                <a:off x="12002" y="951"/>
                                <a:ext cx="6247" cy="4319"/>
                                <a:chOff x="434" y="0"/>
                                <a:chExt cx="6247" cy="4319"/>
                              </a:xfrm>
                            </p:grpSpPr>
                            <p:sp>
                              <p:nvSpPr>
                                <p:cNvPr id="392" name="流程图: 过程 392"/>
                                <p:cNvSpPr>
                                  <a:spLocks noChangeArrowheads="1"/>
                                </p:cNvSpPr>
                                <p:nvPr/>
                              </p:nvSpPr>
                              <p:spPr bwMode="auto">
                                <a:xfrm>
                                  <a:off x="552" y="0"/>
                                  <a:ext cx="5554" cy="4319"/>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93" name="文本框 2"/>
                                <p:cNvSpPr txBox="1">
                                  <a:spLocks noChangeArrowheads="1"/>
                                </p:cNvSpPr>
                                <p:nvPr/>
                              </p:nvSpPr>
                              <p:spPr bwMode="auto">
                                <a:xfrm>
                                  <a:off x="434" y="1158"/>
                                  <a:ext cx="6247" cy="1649"/>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ratio=0.15</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grpSp>
                        <p:grpSp>
                          <p:nvGrpSpPr>
                            <p:cNvPr id="401" name="组合 401"/>
                            <p:cNvGrpSpPr>
                              <a:grpSpLocks/>
                            </p:cNvGrpSpPr>
                            <p:nvPr/>
                          </p:nvGrpSpPr>
                          <p:grpSpPr bwMode="auto">
                            <a:xfrm>
                              <a:off x="17411" y="-37"/>
                              <a:ext cx="6265" cy="6554"/>
                              <a:chOff x="320" y="-37"/>
                              <a:chExt cx="6265" cy="6557"/>
                            </a:xfrm>
                          </p:grpSpPr>
                          <p:sp>
                            <p:nvSpPr>
                              <p:cNvPr id="399" name="流程图: 过程 399"/>
                              <p:cNvSpPr>
                                <a:spLocks noChangeArrowheads="1"/>
                              </p:cNvSpPr>
                              <p:nvPr/>
                            </p:nvSpPr>
                            <p:spPr bwMode="auto">
                              <a:xfrm>
                                <a:off x="583" y="-37"/>
                                <a:ext cx="5216" cy="6557"/>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400" name="文本框 2"/>
                              <p:cNvSpPr txBox="1">
                                <a:spLocks noChangeArrowheads="1"/>
                              </p:cNvSpPr>
                              <p:nvPr/>
                            </p:nvSpPr>
                            <p:spPr bwMode="auto">
                              <a:xfrm>
                                <a:off x="320" y="2258"/>
                                <a:ext cx="6265" cy="244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ratio=0.10</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sp>
                          <p:nvSpPr>
                            <p:cNvPr id="404" name="文本框 2"/>
                            <p:cNvSpPr txBox="1">
                              <a:spLocks noChangeArrowheads="1"/>
                            </p:cNvSpPr>
                            <p:nvPr/>
                          </p:nvSpPr>
                          <p:spPr bwMode="auto">
                            <a:xfrm>
                              <a:off x="23283" y="1064"/>
                              <a:ext cx="4881" cy="244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a:solidFill>
                                    <a:srgbClr val="C00000"/>
                                  </a:solidFill>
                                  <a:effectLst>
                                    <a:outerShdw blurRad="50800" dist="38100" dir="13500000" algn="br" rotWithShape="0">
                                      <a:prstClr val="black">
                                        <a:alpha val="40000"/>
                                      </a:prstClr>
                                    </a:outerShdw>
                                  </a:effectLst>
                                  <a:latin typeface="+mn-lt"/>
                                  <a:cs typeface="宋体" pitchFamily="2" charset="-122"/>
                                </a:rPr>
                                <a:t>ratio=0</a:t>
                              </a:r>
                              <a:endParaRPr kumimoji="0" lang="zh-CN" altLang="zh-CN" sz="1600" b="1">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nvGrpSpPr>
                            <p:cNvPr id="396" name="组合 396"/>
                            <p:cNvGrpSpPr>
                              <a:grpSpLocks/>
                            </p:cNvGrpSpPr>
                            <p:nvPr/>
                          </p:nvGrpSpPr>
                          <p:grpSpPr bwMode="auto">
                            <a:xfrm>
                              <a:off x="30" y="4508"/>
                              <a:ext cx="7020" cy="2138"/>
                              <a:chOff x="30" y="583"/>
                              <a:chExt cx="7021" cy="2142"/>
                            </a:xfrm>
                          </p:grpSpPr>
                          <p:sp>
                            <p:nvSpPr>
                              <p:cNvPr id="387" name="流程图: 过程 387"/>
                              <p:cNvSpPr>
                                <a:spLocks noChangeArrowheads="1"/>
                              </p:cNvSpPr>
                              <p:nvPr/>
                            </p:nvSpPr>
                            <p:spPr bwMode="auto">
                              <a:xfrm>
                                <a:off x="30" y="583"/>
                                <a:ext cx="6696" cy="2052"/>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94" name="文本框 2"/>
                              <p:cNvSpPr txBox="1">
                                <a:spLocks noChangeArrowheads="1"/>
                              </p:cNvSpPr>
                              <p:nvPr/>
                            </p:nvSpPr>
                            <p:spPr bwMode="auto">
                              <a:xfrm>
                                <a:off x="320" y="666"/>
                                <a:ext cx="6731" cy="2059"/>
                              </a:xfrm>
                              <a:prstGeom prst="rect">
                                <a:avLst/>
                              </a:prstGeom>
                              <a:noFill/>
                              <a:ln w="2540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ratio=0.25</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grpSp>
                          <p:nvGrpSpPr>
                            <p:cNvPr id="395" name="组合 395"/>
                            <p:cNvGrpSpPr>
                              <a:grpSpLocks/>
                            </p:cNvGrpSpPr>
                            <p:nvPr/>
                          </p:nvGrpSpPr>
                          <p:grpSpPr bwMode="auto">
                            <a:xfrm>
                              <a:off x="6447" y="4478"/>
                              <a:ext cx="6334" cy="2047"/>
                              <a:chOff x="310" y="583"/>
                              <a:chExt cx="6339" cy="2052"/>
                            </a:xfrm>
                          </p:grpSpPr>
                          <p:sp>
                            <p:nvSpPr>
                              <p:cNvPr id="389" name="流程图: 过程 389"/>
                              <p:cNvSpPr>
                                <a:spLocks noChangeArrowheads="1"/>
                              </p:cNvSpPr>
                              <p:nvPr/>
                            </p:nvSpPr>
                            <p:spPr bwMode="auto">
                              <a:xfrm>
                                <a:off x="590" y="583"/>
                                <a:ext cx="5400" cy="2052"/>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sp>
                            <p:nvSpPr>
                              <p:cNvPr id="388" name="文本框 2"/>
                              <p:cNvSpPr txBox="1">
                                <a:spLocks noChangeArrowheads="1"/>
                              </p:cNvSpPr>
                              <p:nvPr/>
                            </p:nvSpPr>
                            <p:spPr bwMode="auto">
                              <a:xfrm>
                                <a:off x="310" y="659"/>
                                <a:ext cx="6339" cy="153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effectLst>
                                      <a:outerShdw blurRad="50800" dist="38100" dir="13500000" algn="br" rotWithShape="0">
                                        <a:prstClr val="black">
                                          <a:alpha val="40000"/>
                                        </a:prstClr>
                                      </a:outerShdw>
                                    </a:effectLst>
                                    <a:latin typeface="+mn-lt"/>
                                    <a:cs typeface="宋体" pitchFamily="2" charset="-122"/>
                                  </a:rPr>
                                  <a:t>ratio=0.20</a:t>
                                </a:r>
                                <a:endParaRPr kumimoji="0" lang="zh-CN" altLang="zh-CN" sz="1600" b="1" dirty="0">
                                  <a:solidFill>
                                    <a:srgbClr val="C00000"/>
                                  </a:solidFill>
                                  <a:effectLst>
                                    <a:outerShdw blurRad="50800" dist="38100" dir="13500000" algn="br" rotWithShape="0">
                                      <a:prstClr val="black">
                                        <a:alpha val="40000"/>
                                      </a:prstClr>
                                    </a:outerShdw>
                                  </a:effectLst>
                                  <a:latin typeface="+mn-lt"/>
                                  <a:cs typeface="宋体" pitchFamily="2" charset="-122"/>
                                </a:endParaRPr>
                              </a:p>
                            </p:txBody>
                          </p:sp>
                        </p:grpSp>
                        <p:sp>
                          <p:nvSpPr>
                            <p:cNvPr id="405" name="流程图: 过程 405"/>
                            <p:cNvSpPr>
                              <a:spLocks noChangeArrowheads="1"/>
                            </p:cNvSpPr>
                            <p:nvPr/>
                          </p:nvSpPr>
                          <p:spPr bwMode="auto">
                            <a:xfrm>
                              <a:off x="30" y="6528"/>
                              <a:ext cx="28194" cy="2058"/>
                            </a:xfrm>
                            <a:prstGeom prst="flowChartProcess">
                              <a:avLst/>
                            </a:prstGeom>
                            <a:gradFill flip="none" rotWithShape="1">
                              <a:gsLst>
                                <a:gs pos="0">
                                  <a:srgbClr val="BEDFC4"/>
                                </a:gs>
                                <a:gs pos="100000">
                                  <a:srgbClr val="66FF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sp>
                        <p:nvSpPr>
                          <p:cNvPr id="406" name="文本框 2"/>
                          <p:cNvSpPr txBox="1">
                            <a:spLocks noChangeArrowheads="1"/>
                          </p:cNvSpPr>
                          <p:nvPr/>
                        </p:nvSpPr>
                        <p:spPr bwMode="auto">
                          <a:xfrm>
                            <a:off x="5542" y="6634"/>
                            <a:ext cx="20096" cy="153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600" b="1" dirty="0">
                                <a:effectLst>
                                  <a:outerShdw blurRad="50800" dist="38100" dir="13500000" algn="br" rotWithShape="0">
                                    <a:prstClr val="black">
                                      <a:alpha val="40000"/>
                                    </a:prstClr>
                                  </a:outerShdw>
                                </a:effectLst>
                                <a:latin typeface="+mn-lt"/>
                                <a:ea typeface="楷体" pitchFamily="49" charset="-122"/>
                                <a:cs typeface="宋体" pitchFamily="2" charset="-122"/>
                              </a:rPr>
                              <a:t>计算当月薪水</a:t>
                            </a:r>
                            <a:r>
                              <a:rPr kumimoji="0" lang="en-US"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rPr>
                              <a:t>salary=500+pofit*ratio</a:t>
                            </a:r>
                            <a:endParaRPr kumimoji="0" lang="zh-CN" altLang="zh-CN" sz="1600" b="1" dirty="0">
                              <a:effectLst>
                                <a:outerShdw blurRad="50800" dist="38100" dir="13500000" algn="br" rotWithShape="0">
                                  <a:prstClr val="black">
                                    <a:alpha val="40000"/>
                                  </a:prstClr>
                                </a:outerShdw>
                              </a:effectLst>
                              <a:latin typeface="+mn-lt"/>
                              <a:ea typeface="楷体" pitchFamily="49" charset="-122"/>
                              <a:cs typeface="宋体" pitchFamily="2" charset="-122"/>
                            </a:endParaRPr>
                          </a:p>
                        </p:txBody>
                      </p:sp>
                    </p:grpSp>
                    <p:grpSp>
                      <p:nvGrpSpPr>
                        <p:cNvPr id="391" name="组合 391"/>
                        <p:cNvGrpSpPr>
                          <a:grpSpLocks/>
                        </p:cNvGrpSpPr>
                        <p:nvPr/>
                      </p:nvGrpSpPr>
                      <p:grpSpPr bwMode="auto">
                        <a:xfrm>
                          <a:off x="5404" y="2607"/>
                          <a:ext cx="22781" cy="8954"/>
                          <a:chOff x="-303" y="828"/>
                          <a:chExt cx="22780" cy="8953"/>
                        </a:xfrm>
                      </p:grpSpPr>
                      <p:grpSp>
                        <p:nvGrpSpPr>
                          <p:cNvPr id="68" name="组合 68"/>
                          <p:cNvGrpSpPr>
                            <a:grpSpLocks/>
                          </p:cNvGrpSpPr>
                          <p:nvPr/>
                        </p:nvGrpSpPr>
                        <p:grpSpPr bwMode="auto">
                          <a:xfrm>
                            <a:off x="-303" y="923"/>
                            <a:ext cx="22382" cy="2133"/>
                            <a:chOff x="-303" y="923"/>
                            <a:chExt cx="22382" cy="2133"/>
                          </a:xfrm>
                        </p:grpSpPr>
                        <p:sp>
                          <p:nvSpPr>
                            <p:cNvPr id="251" name="文本框 2"/>
                            <p:cNvSpPr txBox="1">
                              <a:spLocks noChangeArrowheads="1"/>
                            </p:cNvSpPr>
                            <p:nvPr/>
                          </p:nvSpPr>
                          <p:spPr bwMode="auto">
                            <a:xfrm>
                              <a:off x="-303" y="1235"/>
                              <a:ext cx="1419" cy="144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7030A0"/>
                                  </a:solidFill>
                                  <a:effectLst>
                                    <a:outerShdw blurRad="50800" dist="38100" dir="13500000" algn="br" rotWithShape="0">
                                      <a:prstClr val="black">
                                        <a:alpha val="40000"/>
                                      </a:prstClr>
                                    </a:outerShdw>
                                  </a:effectLst>
                                  <a:latin typeface="+mn-lt"/>
                                  <a:cs typeface="宋体" pitchFamily="2" charset="-122"/>
                                </a:rPr>
                                <a:t>F</a:t>
                              </a:r>
                              <a:endParaRPr kumimoji="0" lang="zh-CN" altLang="zh-CN" sz="1600" b="1" dirty="0">
                                <a:solidFill>
                                  <a:srgbClr val="7030A0"/>
                                </a:solidFill>
                                <a:effectLst>
                                  <a:outerShdw blurRad="50800" dist="38100" dir="13500000" algn="br" rotWithShape="0">
                                    <a:prstClr val="black">
                                      <a:alpha val="40000"/>
                                    </a:prstClr>
                                  </a:outerShdw>
                                </a:effectLst>
                                <a:latin typeface="+mn-lt"/>
                                <a:cs typeface="宋体" pitchFamily="2" charset="-122"/>
                              </a:endParaRPr>
                            </a:p>
                          </p:txBody>
                        </p:sp>
                        <p:sp>
                          <p:nvSpPr>
                            <p:cNvPr id="252" name="文本框 2"/>
                            <p:cNvSpPr txBox="1">
                              <a:spLocks noChangeArrowheads="1"/>
                            </p:cNvSpPr>
                            <p:nvPr/>
                          </p:nvSpPr>
                          <p:spPr bwMode="auto">
                            <a:xfrm>
                              <a:off x="20228" y="1325"/>
                              <a:ext cx="1851" cy="173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006600"/>
                                  </a:solidFill>
                                  <a:effectLst>
                                    <a:outerShdw blurRad="50800" dist="38100" dir="13500000" algn="br" rotWithShape="0">
                                      <a:prstClr val="black">
                                        <a:alpha val="40000"/>
                                      </a:prstClr>
                                    </a:outerShdw>
                                  </a:effectLst>
                                  <a:latin typeface="+mn-lt"/>
                                  <a:cs typeface="宋体" pitchFamily="2" charset="-122"/>
                                </a:rPr>
                                <a:t>T</a:t>
                              </a:r>
                              <a:endParaRPr kumimoji="0" lang="zh-CN" altLang="zh-CN" sz="1600" b="1" dirty="0">
                                <a:solidFill>
                                  <a:srgbClr val="006600"/>
                                </a:solidFill>
                                <a:effectLst>
                                  <a:outerShdw blurRad="50800" dist="38100" dir="13500000" algn="br" rotWithShape="0">
                                    <a:prstClr val="black">
                                      <a:alpha val="40000"/>
                                    </a:prstClr>
                                  </a:outerShdw>
                                </a:effectLst>
                                <a:latin typeface="+mn-lt"/>
                                <a:cs typeface="宋体" pitchFamily="2" charset="-122"/>
                              </a:endParaRPr>
                            </a:p>
                          </p:txBody>
                        </p:sp>
                        <p:sp>
                          <p:nvSpPr>
                            <p:cNvPr id="221" name="文本框 2"/>
                            <p:cNvSpPr txBox="1">
                              <a:spLocks noChangeArrowheads="1"/>
                            </p:cNvSpPr>
                            <p:nvPr/>
                          </p:nvSpPr>
                          <p:spPr bwMode="auto">
                            <a:xfrm>
                              <a:off x="13100" y="923"/>
                              <a:ext cx="6475" cy="1670"/>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00FF"/>
                                  </a:solidFill>
                                  <a:effectLst>
                                    <a:outerShdw blurRad="50800" dist="38100" dir="13500000" algn="br" rotWithShape="0">
                                      <a:prstClr val="black">
                                        <a:alpha val="40000"/>
                                      </a:prstClr>
                                    </a:outerShdw>
                                  </a:effectLst>
                                  <a:latin typeface="+mn-lt"/>
                                  <a:cs typeface="宋体" pitchFamily="2" charset="-122"/>
                                </a:rPr>
                                <a:t>profit≤1000</a:t>
                              </a:r>
                              <a:endParaRPr kumimoji="0" lang="zh-CN" altLang="zh-CN" sz="1400" b="1" dirty="0">
                                <a:solidFill>
                                  <a:srgbClr val="0000FF"/>
                                </a:solidFill>
                                <a:effectLst>
                                  <a:outerShdw blurRad="50800" dist="38100" dir="13500000" algn="br" rotWithShape="0">
                                    <a:prstClr val="black">
                                      <a:alpha val="40000"/>
                                    </a:prstClr>
                                  </a:outerShdw>
                                </a:effectLst>
                                <a:latin typeface="+mn-lt"/>
                                <a:cs typeface="宋体" pitchFamily="2" charset="-122"/>
                              </a:endParaRPr>
                            </a:p>
                          </p:txBody>
                        </p:sp>
                      </p:grpSp>
                      <p:sp>
                        <p:nvSpPr>
                          <p:cNvPr id="220" name="直接连接符 220"/>
                          <p:cNvSpPr>
                            <a:spLocks noChangeShapeType="1"/>
                          </p:cNvSpPr>
                          <p:nvPr/>
                        </p:nvSpPr>
                        <p:spPr bwMode="auto">
                          <a:xfrm flipV="1">
                            <a:off x="951" y="828"/>
                            <a:ext cx="21526" cy="8953"/>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grpSp>
                </p:grpSp>
              </p:grpSp>
            </p:grpSp>
            <p:sp>
              <p:nvSpPr>
                <p:cNvPr id="219" name="直接连接符 219"/>
                <p:cNvSpPr>
                  <a:spLocks noChangeShapeType="1"/>
                </p:cNvSpPr>
                <p:nvPr/>
              </p:nvSpPr>
              <p:spPr bwMode="auto">
                <a:xfrm>
                  <a:off x="0" y="2638"/>
                  <a:ext cx="22952" cy="2218"/>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effectLst>
                      <a:outerShdw blurRad="50800" dist="38100" dir="13500000" algn="br" rotWithShape="0">
                        <a:prstClr val="black">
                          <a:alpha val="40000"/>
                        </a:prstClr>
                      </a:outerShdw>
                    </a:effectLst>
                  </a:endParaRPr>
                </a:p>
              </p:txBody>
            </p:sp>
          </p:grpSp>
          <p:sp>
            <p:nvSpPr>
              <p:cNvPr id="411" name="文本框 2"/>
              <p:cNvSpPr txBox="1">
                <a:spLocks noChangeArrowheads="1"/>
              </p:cNvSpPr>
              <p:nvPr/>
            </p:nvSpPr>
            <p:spPr bwMode="auto">
              <a:xfrm>
                <a:off x="-396" y="-2543"/>
                <a:ext cx="19399" cy="281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b="1" u="sng" dirty="0">
                    <a:solidFill>
                      <a:srgbClr val="C01920"/>
                    </a:solidFill>
                    <a:latin typeface="+mn-lt"/>
                    <a:ea typeface="隶书" pitchFamily="49" charset="-122"/>
                    <a:cs typeface="宋体" pitchFamily="2" charset="-122"/>
                  </a:rPr>
                  <a:t>计算当月薪水</a:t>
                </a:r>
                <a:r>
                  <a:rPr kumimoji="0" lang="en-US" altLang="zh-CN" b="1" u="sng" dirty="0">
                    <a:solidFill>
                      <a:srgbClr val="C01920"/>
                    </a:solidFill>
                    <a:latin typeface="+mn-lt"/>
                    <a:ea typeface="隶书" pitchFamily="49" charset="-122"/>
                    <a:cs typeface="宋体" pitchFamily="2" charset="-122"/>
                  </a:rPr>
                  <a:t>N-S</a:t>
                </a:r>
                <a:r>
                  <a:rPr kumimoji="0" lang="zh-CN" altLang="en-US" b="1" u="sng" dirty="0">
                    <a:solidFill>
                      <a:srgbClr val="C01920"/>
                    </a:solidFill>
                    <a:latin typeface="+mn-lt"/>
                    <a:ea typeface="隶书" pitchFamily="49" charset="-122"/>
                    <a:cs typeface="宋体" pitchFamily="2" charset="-122"/>
                  </a:rPr>
                  <a:t>流程图：</a:t>
                </a:r>
              </a:p>
            </p:txBody>
          </p:sp>
        </p:grpSp>
      </p:grpSp>
      <p:sp>
        <p:nvSpPr>
          <p:cNvPr id="66" name="Rectangle 4">
            <a:extLst>
              <a:ext uri="{FF2B5EF4-FFF2-40B4-BE49-F238E27FC236}">
                <a16:creationId xmlns:a16="http://schemas.microsoft.com/office/drawing/2014/main" id="{E71462AE-4E26-47AB-9581-F6B767C087D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80727"/>
                                        </p:tgtEl>
                                        <p:attrNameLst>
                                          <p:attrName>style.visibility</p:attrName>
                                        </p:attrNameLst>
                                      </p:cBhvr>
                                      <p:to>
                                        <p:strVal val="visible"/>
                                      </p:to>
                                    </p:set>
                                    <p:animEffect transition="in" filter="box(out)">
                                      <p:cBhvr>
                                        <p:cTn id="7" dur="500"/>
                                        <p:tgtEl>
                                          <p:spTgt spid="88072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ox(in)">
                                      <p:cBhvr>
                                        <p:cTn id="12" dur="500"/>
                                        <p:tgtEl>
                                          <p:spTgt spid="6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1" name="Rectangle 3"/>
          <p:cNvSpPr>
            <a:spLocks noChangeArrowheads="1"/>
          </p:cNvSpPr>
          <p:nvPr/>
        </p:nvSpPr>
        <p:spPr bwMode="auto">
          <a:xfrm>
            <a:off x="1505639"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2696" name="Text Box 8" descr="信纸"/>
          <p:cNvSpPr txBox="1">
            <a:spLocks noChangeArrowheads="1"/>
          </p:cNvSpPr>
          <p:nvPr/>
        </p:nvSpPr>
        <p:spPr bwMode="auto">
          <a:xfrm>
            <a:off x="4163259" y="818844"/>
            <a:ext cx="7320068" cy="5634492"/>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a typeface="楷体_GB2312" pitchFamily="49" charset="-122"/>
              </a:rPr>
              <a:t>  #include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long   profit;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所接工程的利润</a:t>
            </a:r>
          </a:p>
          <a:p>
            <a:pPr marL="457200" indent="-457200"/>
            <a:r>
              <a:rPr lang="zh-CN" altLang="en-US" sz="2000" b="1" dirty="0">
                <a:ea typeface="楷体_GB2312" pitchFamily="49" charset="-122"/>
              </a:rPr>
              <a:t>     </a:t>
            </a:r>
            <a:r>
              <a:rPr lang="en-US" altLang="zh-CN" sz="2000" b="1" dirty="0">
                <a:ea typeface="楷体_GB2312" pitchFamily="49" charset="-122"/>
              </a:rPr>
              <a:t>float   ratio;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提成比率</a:t>
            </a:r>
          </a:p>
          <a:p>
            <a:pPr marL="457200" indent="-457200"/>
            <a:r>
              <a:rPr lang="zh-CN" altLang="en-US" sz="2000" b="1" dirty="0">
                <a:ea typeface="楷体_GB2312" pitchFamily="49" charset="-122"/>
              </a:rPr>
              <a:t>     </a:t>
            </a:r>
            <a:r>
              <a:rPr lang="en-US" altLang="zh-CN" sz="2000" b="1" dirty="0">
                <a:ea typeface="楷体_GB2312" pitchFamily="49" charset="-122"/>
              </a:rPr>
              <a:t>float  salary = 500;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薪水，初始值为保底薪水</a:t>
            </a:r>
            <a:r>
              <a:rPr lang="en-US" altLang="zh-CN" sz="2000" b="1" dirty="0">
                <a:solidFill>
                  <a:srgbClr val="002060"/>
                </a:solidFill>
                <a:latin typeface="+mn-lt"/>
                <a:ea typeface="楷体" pitchFamily="49" charset="-122"/>
              </a:rPr>
              <a:t>500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profit: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提示输入所接工程的利润</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&amp;profit);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输入所接工程的利润</a:t>
            </a:r>
          </a:p>
          <a:p>
            <a:pPr marL="457200" indent="-457200"/>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计算提成比率</a:t>
            </a:r>
          </a:p>
          <a:p>
            <a:pPr marL="457200" indent="-457200"/>
            <a:r>
              <a:rPr lang="zh-CN" altLang="en-US" sz="2000" b="1" dirty="0">
                <a:ea typeface="楷体_GB2312" pitchFamily="49" charset="-122"/>
              </a:rPr>
              <a:t>     </a:t>
            </a:r>
            <a:r>
              <a:rPr lang="en-US" altLang="zh-CN" sz="2000" b="1" dirty="0">
                <a:solidFill>
                  <a:srgbClr val="C01920"/>
                </a:solidFill>
                <a:ea typeface="楷体_GB2312" pitchFamily="49" charset="-122"/>
              </a:rPr>
              <a:t>if </a:t>
            </a:r>
            <a:r>
              <a:rPr lang="en-US" altLang="zh-CN" sz="2000" b="1" dirty="0">
                <a:ea typeface="楷体_GB2312" pitchFamily="49" charset="-122"/>
              </a:rPr>
              <a:t>(profit &lt;= 1000)          ratio = 0;</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else if </a:t>
            </a:r>
            <a:r>
              <a:rPr lang="en-US" altLang="zh-CN" sz="2000" b="1" dirty="0">
                <a:ea typeface="楷体_GB2312" pitchFamily="49" charset="-122"/>
              </a:rPr>
              <a:t>(profit &lt;= 2000)   ratio = (float)0.10;</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else if </a:t>
            </a:r>
            <a:r>
              <a:rPr lang="en-US" altLang="zh-CN" sz="2000" b="1" dirty="0">
                <a:ea typeface="楷体_GB2312" pitchFamily="49" charset="-122"/>
              </a:rPr>
              <a:t>(profit &lt;= 5000)   ratio = (float)0.15;</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else if </a:t>
            </a:r>
            <a:r>
              <a:rPr lang="en-US" altLang="zh-CN" sz="2000" b="1" dirty="0">
                <a:ea typeface="楷体_GB2312" pitchFamily="49" charset="-122"/>
              </a:rPr>
              <a:t>(profit &lt;= 10000) ratio = (float)0.20;</a:t>
            </a:r>
          </a:p>
          <a:p>
            <a:pPr marL="457200" indent="-457200"/>
            <a:r>
              <a:rPr lang="en-US" altLang="zh-CN" sz="2000" b="1" dirty="0">
                <a:ea typeface="楷体_GB2312" pitchFamily="49" charset="-122"/>
              </a:rPr>
              <a:t>    </a:t>
            </a:r>
            <a:r>
              <a:rPr lang="en-US" altLang="zh-CN" sz="2000" b="1" dirty="0">
                <a:solidFill>
                  <a:srgbClr val="C01920"/>
                </a:solidFill>
                <a:ea typeface="楷体_GB2312" pitchFamily="49" charset="-122"/>
              </a:rPr>
              <a:t> else   </a:t>
            </a:r>
            <a:r>
              <a:rPr lang="en-US" altLang="zh-CN" sz="2000" b="1" dirty="0">
                <a:ea typeface="楷体_GB2312" pitchFamily="49" charset="-122"/>
              </a:rPr>
              <a:t>ratio = (float)0.25;</a:t>
            </a:r>
          </a:p>
          <a:p>
            <a:pPr marL="457200" indent="-457200"/>
            <a:r>
              <a:rPr lang="en-US" altLang="zh-CN" sz="2000" b="1" dirty="0">
                <a:ea typeface="楷体_GB2312" pitchFamily="49" charset="-122"/>
              </a:rPr>
              <a:t>     salary += profit * ratio;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计算当月薪水</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("salary = %.2f\n", salary);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输出结果</a:t>
            </a:r>
          </a:p>
          <a:p>
            <a:pPr marL="457200" indent="-457200"/>
            <a:r>
              <a:rPr lang="en-US" altLang="zh-CN" sz="2000" b="1" dirty="0">
                <a:ea typeface="楷体_GB2312" pitchFamily="49" charset="-122"/>
              </a:rPr>
              <a:t>     return 0; </a:t>
            </a:r>
          </a:p>
          <a:p>
            <a:pPr marL="457200" indent="-457200"/>
            <a:r>
              <a:rPr lang="en-US" altLang="zh-CN" sz="2000" b="1" dirty="0">
                <a:ea typeface="楷体_GB2312" pitchFamily="49" charset="-122"/>
              </a:rPr>
              <a:t>  }</a:t>
            </a:r>
          </a:p>
        </p:txBody>
      </p:sp>
      <p:sp>
        <p:nvSpPr>
          <p:cNvPr id="882697" name="Rectangle 9"/>
          <p:cNvSpPr>
            <a:spLocks noChangeArrowheads="1"/>
          </p:cNvSpPr>
          <p:nvPr/>
        </p:nvSpPr>
        <p:spPr bwMode="auto">
          <a:xfrm>
            <a:off x="828246" y="5030284"/>
            <a:ext cx="3210323" cy="10156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0000"/>
                </a:solidFill>
                <a:latin typeface="隶书" pitchFamily="49" charset="-122"/>
                <a:ea typeface="隶书" pitchFamily="49" charset="-122"/>
              </a:rPr>
              <a:t>运行结果：</a:t>
            </a:r>
          </a:p>
          <a:p>
            <a:r>
              <a:rPr lang="en-US" altLang="zh-CN" sz="2000" b="1" dirty="0"/>
              <a:t>Input profit: 4000</a:t>
            </a:r>
            <a:r>
              <a:rPr lang="en-US" altLang="zh-CN" sz="2000" b="1" dirty="0">
                <a:latin typeface="+mn-ea"/>
                <a:ea typeface="+mn-ea"/>
              </a:rPr>
              <a:t>↙</a:t>
            </a:r>
          </a:p>
          <a:p>
            <a:r>
              <a:rPr lang="en-US" altLang="zh-CN" sz="2000" b="1" dirty="0">
                <a:solidFill>
                  <a:srgbClr val="002060"/>
                </a:solidFill>
              </a:rPr>
              <a:t>salary = 1100.00</a:t>
            </a:r>
          </a:p>
        </p:txBody>
      </p:sp>
      <p:sp>
        <p:nvSpPr>
          <p:cNvPr id="882690" name="Rectangle 2"/>
          <p:cNvSpPr>
            <a:spLocks noChangeArrowheads="1"/>
          </p:cNvSpPr>
          <p:nvPr/>
        </p:nvSpPr>
        <p:spPr bwMode="auto">
          <a:xfrm>
            <a:off x="733902" y="1052736"/>
            <a:ext cx="2985834" cy="1296144"/>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eaLnBrk="0" hangingPunct="0">
              <a:buClr>
                <a:srgbClr val="FF3300"/>
              </a:buClr>
              <a:buFont typeface="Wingdings" pitchFamily="2" charset="2"/>
              <a:buNone/>
            </a:pPr>
            <a:r>
              <a:rPr kumimoji="0" lang="zh-CN" altLang="en-US" b="1" dirty="0">
                <a:solidFill>
                  <a:srgbClr val="C00000"/>
                </a:solidFill>
                <a:latin typeface="楷体" panose="02010609060101010101" pitchFamily="49" charset="-122"/>
                <a:ea typeface="楷体" panose="02010609060101010101" pitchFamily="49" charset="-122"/>
              </a:rPr>
              <a:t>方法一：</a:t>
            </a:r>
            <a:endParaRPr kumimoji="0" lang="en-US" altLang="zh-CN" b="1" dirty="0">
              <a:solidFill>
                <a:srgbClr val="C00000"/>
              </a:solidFill>
              <a:latin typeface="楷体" panose="02010609060101010101" pitchFamily="49" charset="-122"/>
              <a:ea typeface="楷体" panose="02010609060101010101" pitchFamily="49" charset="-122"/>
            </a:endParaRPr>
          </a:p>
          <a:p>
            <a:pPr eaLnBrk="0" hangingPunct="0">
              <a:buClr>
                <a:srgbClr val="FF3300"/>
              </a:buClr>
              <a:buFont typeface="Wingdings" pitchFamily="2" charset="2"/>
              <a:buNone/>
            </a:pPr>
            <a:r>
              <a:rPr kumimoji="0" lang="zh-CN" altLang="en-US" b="1" dirty="0">
                <a:solidFill>
                  <a:srgbClr val="C00000"/>
                </a:solidFill>
                <a:latin typeface="楷体" panose="02010609060101010101" pitchFamily="49" charset="-122"/>
                <a:ea typeface="楷体" panose="02010609060101010101" pitchFamily="49" charset="-122"/>
              </a:rPr>
              <a:t>使</a:t>
            </a:r>
            <a:r>
              <a:rPr lang="zh-CN" altLang="en-US" b="1" dirty="0">
                <a:solidFill>
                  <a:srgbClr val="C00000"/>
                </a:solidFill>
                <a:latin typeface="楷体" panose="02010609060101010101" pitchFamily="49" charset="-122"/>
                <a:ea typeface="楷体" panose="02010609060101010101" pitchFamily="49" charset="-122"/>
              </a:rPr>
              <a:t>用</a:t>
            </a:r>
            <a:r>
              <a:rPr lang="en-US" altLang="zh-CN" b="1" dirty="0" err="1">
                <a:solidFill>
                  <a:srgbClr val="C00000"/>
                </a:solidFill>
                <a:latin typeface="楷体" panose="02010609060101010101" pitchFamily="49" charset="-122"/>
                <a:ea typeface="楷体" panose="02010609060101010101" pitchFamily="49" charset="-122"/>
              </a:rPr>
              <a:t>if_else</a:t>
            </a:r>
            <a:r>
              <a:rPr lang="en-US" altLang="zh-CN" b="1" dirty="0">
                <a:solidFill>
                  <a:srgbClr val="C00000"/>
                </a:solidFill>
                <a:latin typeface="楷体" panose="02010609060101010101" pitchFamily="49" charset="-122"/>
                <a:ea typeface="楷体" panose="02010609060101010101" pitchFamily="49" charset="-122"/>
              </a:rPr>
              <a:t> if</a:t>
            </a:r>
            <a:r>
              <a:rPr lang="zh-CN" altLang="en-US" b="1" dirty="0">
                <a:solidFill>
                  <a:srgbClr val="C00000"/>
                </a:solidFill>
                <a:latin typeface="楷体" panose="02010609060101010101" pitchFamily="49" charset="-122"/>
                <a:ea typeface="楷体" panose="02010609060101010101" pitchFamily="49" charset="-122"/>
              </a:rPr>
              <a:t>语句</a:t>
            </a:r>
          </a:p>
        </p:txBody>
      </p:sp>
      <p:sp>
        <p:nvSpPr>
          <p:cNvPr id="882699" name="Rectangle 11"/>
          <p:cNvSpPr>
            <a:spLocks noChangeArrowheads="1"/>
          </p:cNvSpPr>
          <p:nvPr/>
        </p:nvSpPr>
        <p:spPr bwMode="auto">
          <a:xfrm>
            <a:off x="4395029" y="3626188"/>
            <a:ext cx="4784041" cy="1492218"/>
          </a:xfrm>
          <a:prstGeom prst="rect">
            <a:avLst/>
          </a:prstGeom>
          <a:noFill/>
          <a:ln w="25400">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 name="Rectangle 4">
            <a:extLst>
              <a:ext uri="{FF2B5EF4-FFF2-40B4-BE49-F238E27FC236}">
                <a16:creationId xmlns:a16="http://schemas.microsoft.com/office/drawing/2014/main" id="{B74B03A4-ED83-4217-9B91-A3B8007238C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2690"/>
                                        </p:tgtEl>
                                        <p:attrNameLst>
                                          <p:attrName>style.visibility</p:attrName>
                                        </p:attrNameLst>
                                      </p:cBhvr>
                                      <p:to>
                                        <p:strVal val="visible"/>
                                      </p:to>
                                    </p:set>
                                    <p:animEffect transition="in" filter="blinds(horizontal)">
                                      <p:cBhvr>
                                        <p:cTn id="7" dur="500"/>
                                        <p:tgtEl>
                                          <p:spTgt spid="88269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2696"/>
                                        </p:tgtEl>
                                        <p:attrNameLst>
                                          <p:attrName>style.visibility</p:attrName>
                                        </p:attrNameLst>
                                      </p:cBhvr>
                                      <p:to>
                                        <p:strVal val="visible"/>
                                      </p:to>
                                    </p:set>
                                    <p:animEffect transition="in" filter="box(out)">
                                      <p:cBhvr>
                                        <p:cTn id="12" dur="500"/>
                                        <p:tgtEl>
                                          <p:spTgt spid="88269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82699"/>
                                        </p:tgtEl>
                                        <p:attrNameLst>
                                          <p:attrName>style.visibility</p:attrName>
                                        </p:attrNameLst>
                                      </p:cBhvr>
                                      <p:to>
                                        <p:strVal val="visible"/>
                                      </p:to>
                                    </p:set>
                                    <p:animEffect transition="in" filter="strips(downLeft)">
                                      <p:cBhvr>
                                        <p:cTn id="16" dur="500"/>
                                        <p:tgtEl>
                                          <p:spTgt spid="88269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882697"/>
                                        </p:tgtEl>
                                        <p:attrNameLst>
                                          <p:attrName>style.visibility</p:attrName>
                                        </p:attrNameLst>
                                      </p:cBhvr>
                                      <p:to>
                                        <p:strVal val="visible"/>
                                      </p:to>
                                    </p:set>
                                    <p:animEffect transition="in" filter="box(out)">
                                      <p:cBhvr>
                                        <p:cTn id="21" dur="500"/>
                                        <p:tgtEl>
                                          <p:spTgt spid="882697"/>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696" grpId="0" animBg="1" autoUpdateAnimBg="0"/>
      <p:bldP spid="882697" grpId="0" animBg="1"/>
      <p:bldP spid="882690" grpId="0"/>
      <p:bldP spid="88269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4742" name="Text Box 6" descr="信纸"/>
          <p:cNvSpPr txBox="1">
            <a:spLocks noChangeArrowheads="1"/>
          </p:cNvSpPr>
          <p:nvPr/>
        </p:nvSpPr>
        <p:spPr bwMode="auto">
          <a:xfrm>
            <a:off x="3503712" y="924388"/>
            <a:ext cx="8102638" cy="5634492"/>
          </a:xfrm>
          <a:prstGeom prst="rect">
            <a:avLst/>
          </a:prstGeom>
          <a:gradFill>
            <a:gsLst>
              <a:gs pos="0">
                <a:srgbClr val="CFCFD1"/>
              </a:gs>
              <a:gs pos="100000">
                <a:schemeClr val="bg1"/>
              </a:gs>
            </a:gsLst>
            <a:lin ang="189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a typeface="楷体_GB2312" pitchFamily="49" charset="-122"/>
              </a:rPr>
              <a:t>  #include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long   profit;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所接工程的利润</a:t>
            </a:r>
          </a:p>
          <a:p>
            <a:pPr marL="457200" indent="-457200"/>
            <a:r>
              <a:rPr lang="zh-CN" altLang="en-US" sz="2000" b="1" dirty="0">
                <a:ea typeface="楷体_GB2312" pitchFamily="49" charset="-122"/>
              </a:rPr>
              <a:t>     </a:t>
            </a:r>
            <a:r>
              <a:rPr lang="en-US" altLang="zh-CN" sz="2000" b="1" dirty="0">
                <a:ea typeface="楷体_GB2312" pitchFamily="49" charset="-122"/>
              </a:rPr>
              <a:t>float   ratio;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提成比率</a:t>
            </a:r>
          </a:p>
          <a:p>
            <a:pPr marL="457200" indent="-457200"/>
            <a:r>
              <a:rPr lang="zh-CN" altLang="en-US" sz="2000" b="1" dirty="0">
                <a:ea typeface="楷体_GB2312" pitchFamily="49" charset="-122"/>
              </a:rPr>
              <a:t>     </a:t>
            </a:r>
            <a:r>
              <a:rPr lang="en-US" altLang="zh-CN" sz="2000" b="1" dirty="0">
                <a:ea typeface="楷体_GB2312" pitchFamily="49" charset="-122"/>
              </a:rPr>
              <a:t>float   salary = 500;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薪水，初始值为保底薪水</a:t>
            </a:r>
            <a:r>
              <a:rPr lang="en-US" altLang="zh-CN" sz="2000" b="1" dirty="0">
                <a:solidFill>
                  <a:srgbClr val="002060"/>
                </a:solidFill>
                <a:latin typeface="+mn-lt"/>
                <a:ea typeface="楷体" pitchFamily="49" charset="-122"/>
              </a:rPr>
              <a:t>500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profit: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提示输入所接工程的利润</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("%ld", &amp;profit);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输入所接工程的利润</a:t>
            </a:r>
          </a:p>
          <a:p>
            <a:pPr marL="457200" indent="-457200"/>
            <a:r>
              <a:rPr lang="zh-CN" altLang="en-US" sz="2000" b="1" dirty="0">
                <a:solidFill>
                  <a:srgbClr val="002060"/>
                </a:solidFill>
                <a:ea typeface="楷体_GB2312"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计算提成比率</a:t>
            </a:r>
          </a:p>
          <a:p>
            <a:pPr marL="457200" indent="-457200"/>
            <a:r>
              <a:rPr lang="zh-CN" altLang="en-US" sz="2000" b="1" dirty="0">
                <a:ea typeface="楷体_GB2312" pitchFamily="49" charset="-122"/>
              </a:rPr>
              <a:t>     </a:t>
            </a:r>
            <a:r>
              <a:rPr lang="en-US" altLang="zh-CN" sz="2000" b="1" dirty="0">
                <a:solidFill>
                  <a:srgbClr val="C01920"/>
                </a:solidFill>
                <a:ea typeface="楷体_GB2312" pitchFamily="49" charset="-122"/>
              </a:rPr>
              <a:t>if </a:t>
            </a:r>
            <a:r>
              <a:rPr lang="en-US" altLang="zh-CN" sz="2000" b="1" dirty="0">
                <a:ea typeface="楷体_GB2312" pitchFamily="49" charset="-122"/>
              </a:rPr>
              <a:t>(profit &lt;= 1000)   ratio = 0;</a:t>
            </a:r>
          </a:p>
          <a:p>
            <a:pPr marL="457200" indent="-457200"/>
            <a:r>
              <a:rPr lang="en-US" altLang="zh-CN" sz="2000" b="1" dirty="0">
                <a:solidFill>
                  <a:srgbClr val="C01920"/>
                </a:solidFill>
                <a:ea typeface="楷体_GB2312" pitchFamily="49" charset="-122"/>
              </a:rPr>
              <a:t>     if </a:t>
            </a:r>
            <a:r>
              <a:rPr lang="en-US" altLang="zh-CN" sz="2000" b="1" dirty="0">
                <a:ea typeface="楷体_GB2312" pitchFamily="49" charset="-122"/>
              </a:rPr>
              <a:t>(1000 &lt; profit &amp;&amp; profit &lt;= 2000)    ratio = </a:t>
            </a:r>
            <a:r>
              <a:rPr lang="en-US" altLang="zh-CN" sz="2000" b="1" dirty="0">
                <a:solidFill>
                  <a:schemeClr val="accent1">
                    <a:lumMod val="50000"/>
                  </a:schemeClr>
                </a:solidFill>
                <a:ea typeface="楷体_GB2312" pitchFamily="49" charset="-122"/>
              </a:rPr>
              <a:t>(float)</a:t>
            </a:r>
            <a:r>
              <a:rPr lang="en-US" altLang="zh-CN" sz="2000" b="1" dirty="0">
                <a:ea typeface="楷体_GB2312" pitchFamily="49" charset="-122"/>
              </a:rPr>
              <a:t>0.10;</a:t>
            </a:r>
          </a:p>
          <a:p>
            <a:pPr marL="457200" indent="-457200"/>
            <a:r>
              <a:rPr lang="en-US" altLang="zh-CN" sz="2000" b="1" dirty="0">
                <a:solidFill>
                  <a:srgbClr val="FF33CC"/>
                </a:solidFill>
                <a:ea typeface="楷体_GB2312" pitchFamily="49" charset="-122"/>
              </a:rPr>
              <a:t>    </a:t>
            </a:r>
            <a:r>
              <a:rPr lang="en-US" altLang="zh-CN" sz="2000" b="1" dirty="0">
                <a:solidFill>
                  <a:srgbClr val="C01920"/>
                </a:solidFill>
                <a:ea typeface="楷体_GB2312" pitchFamily="49" charset="-122"/>
              </a:rPr>
              <a:t> if </a:t>
            </a:r>
            <a:r>
              <a:rPr lang="en-US" altLang="zh-CN" sz="2000" b="1" dirty="0">
                <a:ea typeface="楷体_GB2312" pitchFamily="49" charset="-122"/>
              </a:rPr>
              <a:t>(2000 &lt; profit &amp;&amp; profit &lt;= 5000)    ratio = </a:t>
            </a:r>
            <a:r>
              <a:rPr lang="en-US" altLang="zh-CN" sz="2000" b="1" dirty="0">
                <a:solidFill>
                  <a:schemeClr val="accent1">
                    <a:lumMod val="50000"/>
                  </a:schemeClr>
                </a:solidFill>
                <a:ea typeface="楷体_GB2312" pitchFamily="49" charset="-122"/>
              </a:rPr>
              <a:t>(float)</a:t>
            </a:r>
            <a:r>
              <a:rPr lang="en-US" altLang="zh-CN" sz="2000" b="1" dirty="0">
                <a:ea typeface="楷体_GB2312" pitchFamily="49" charset="-122"/>
              </a:rPr>
              <a:t>0.15;</a:t>
            </a:r>
          </a:p>
          <a:p>
            <a:pPr marL="457200" indent="-457200"/>
            <a:r>
              <a:rPr lang="en-US" altLang="zh-CN" sz="2000" b="1" dirty="0">
                <a:solidFill>
                  <a:srgbClr val="FF33CC"/>
                </a:solidFill>
                <a:ea typeface="楷体_GB2312" pitchFamily="49" charset="-122"/>
              </a:rPr>
              <a:t>     </a:t>
            </a:r>
            <a:r>
              <a:rPr lang="en-US" altLang="zh-CN" sz="2000" b="1" dirty="0">
                <a:solidFill>
                  <a:srgbClr val="C01920"/>
                </a:solidFill>
                <a:ea typeface="楷体_GB2312" pitchFamily="49" charset="-122"/>
              </a:rPr>
              <a:t>if </a:t>
            </a:r>
            <a:r>
              <a:rPr lang="en-US" altLang="zh-CN" sz="2000" b="1" dirty="0">
                <a:ea typeface="楷体_GB2312" pitchFamily="49" charset="-122"/>
              </a:rPr>
              <a:t>(5000 &lt; profit &amp;&amp; profit &lt;= 10000)  ratio = </a:t>
            </a:r>
            <a:r>
              <a:rPr lang="en-US" altLang="zh-CN" sz="2000" b="1" dirty="0">
                <a:solidFill>
                  <a:schemeClr val="accent1">
                    <a:lumMod val="50000"/>
                  </a:schemeClr>
                </a:solidFill>
                <a:ea typeface="楷体_GB2312" pitchFamily="49" charset="-122"/>
              </a:rPr>
              <a:t>(float)</a:t>
            </a:r>
            <a:r>
              <a:rPr lang="en-US" altLang="zh-CN" sz="2000" b="1" dirty="0">
                <a:ea typeface="楷体_GB2312" pitchFamily="49" charset="-122"/>
              </a:rPr>
              <a:t>0.20;</a:t>
            </a:r>
          </a:p>
          <a:p>
            <a:pPr marL="457200" indent="-457200"/>
            <a:r>
              <a:rPr lang="en-US" altLang="zh-CN" sz="2000" b="1" dirty="0">
                <a:solidFill>
                  <a:srgbClr val="FF33CC"/>
                </a:solidFill>
                <a:ea typeface="楷体_GB2312" pitchFamily="49" charset="-122"/>
              </a:rPr>
              <a:t>    </a:t>
            </a:r>
            <a:r>
              <a:rPr lang="en-US" altLang="zh-CN" sz="2000" b="1" dirty="0">
                <a:solidFill>
                  <a:srgbClr val="C01920"/>
                </a:solidFill>
                <a:ea typeface="楷体_GB2312" pitchFamily="49" charset="-122"/>
              </a:rPr>
              <a:t> if </a:t>
            </a:r>
            <a:r>
              <a:rPr lang="en-US" altLang="zh-CN" sz="2000" b="1" dirty="0">
                <a:ea typeface="楷体_GB2312" pitchFamily="49" charset="-122"/>
              </a:rPr>
              <a:t>(10000 &lt; profit)   ratio = </a:t>
            </a:r>
            <a:r>
              <a:rPr lang="en-US" altLang="zh-CN" sz="2000" b="1" dirty="0">
                <a:solidFill>
                  <a:schemeClr val="accent1">
                    <a:lumMod val="50000"/>
                  </a:schemeClr>
                </a:solidFill>
                <a:ea typeface="楷体_GB2312" pitchFamily="49" charset="-122"/>
              </a:rPr>
              <a:t>(float)</a:t>
            </a:r>
            <a:r>
              <a:rPr lang="en-US" altLang="zh-CN" sz="2000" b="1" dirty="0">
                <a:ea typeface="楷体_GB2312" pitchFamily="49" charset="-122"/>
              </a:rPr>
              <a:t>0.25;</a:t>
            </a:r>
          </a:p>
          <a:p>
            <a:pPr marL="457200" indent="-457200"/>
            <a:r>
              <a:rPr lang="en-US" altLang="zh-CN" sz="2000" b="1" dirty="0">
                <a:ea typeface="楷体_GB2312" pitchFamily="49" charset="-122"/>
              </a:rPr>
              <a:t>     salary += profit * ratio;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计算当月薪水</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("salary = %.2f\n", salary);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输出结果</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884743" name="Rectangle 7"/>
          <p:cNvSpPr>
            <a:spLocks noChangeArrowheads="1"/>
          </p:cNvSpPr>
          <p:nvPr/>
        </p:nvSpPr>
        <p:spPr bwMode="auto">
          <a:xfrm>
            <a:off x="391690" y="5299413"/>
            <a:ext cx="2703541" cy="10156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a:t>Input profit: 4000</a:t>
            </a:r>
            <a:r>
              <a:rPr lang="en-US" altLang="zh-CN" sz="2000" b="1" dirty="0">
                <a:latin typeface="+mn-ea"/>
                <a:ea typeface="+mn-ea"/>
              </a:rPr>
              <a:t>↙</a:t>
            </a:r>
          </a:p>
          <a:p>
            <a:r>
              <a:rPr lang="en-US" altLang="zh-CN" sz="2000" b="1" dirty="0">
                <a:solidFill>
                  <a:srgbClr val="002060"/>
                </a:solidFill>
              </a:rPr>
              <a:t>salary = 1100.00</a:t>
            </a:r>
          </a:p>
        </p:txBody>
      </p:sp>
      <p:sp>
        <p:nvSpPr>
          <p:cNvPr id="884744" name="Rectangle 8"/>
          <p:cNvSpPr>
            <a:spLocks noChangeArrowheads="1"/>
          </p:cNvSpPr>
          <p:nvPr/>
        </p:nvSpPr>
        <p:spPr bwMode="auto">
          <a:xfrm>
            <a:off x="773587" y="1137051"/>
            <a:ext cx="2288671" cy="983497"/>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方法二：</a:t>
            </a:r>
            <a:endParaRPr kumimoji="0" lang="en-US" altLang="zh-CN" b="1" dirty="0">
              <a:solidFill>
                <a:srgbClr val="C00000"/>
              </a:solidFill>
              <a:latin typeface="楷体" panose="02010609060101010101" pitchFamily="49" charset="-122"/>
              <a:ea typeface="楷体" panose="02010609060101010101" pitchFamily="49" charset="-122"/>
            </a:endParaRPr>
          </a:p>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使用</a:t>
            </a:r>
            <a:r>
              <a:rPr kumimoji="0" lang="en-US" altLang="zh-CN" b="1" dirty="0">
                <a:solidFill>
                  <a:srgbClr val="C00000"/>
                </a:solidFill>
                <a:latin typeface="楷体" panose="02010609060101010101" pitchFamily="49" charset="-122"/>
                <a:ea typeface="楷体" panose="02010609060101010101" pitchFamily="49" charset="-122"/>
              </a:rPr>
              <a:t>if</a:t>
            </a:r>
            <a:r>
              <a:rPr kumimoji="0" lang="zh-CN" altLang="en-US" b="1" dirty="0">
                <a:solidFill>
                  <a:srgbClr val="C00000"/>
                </a:solidFill>
                <a:latin typeface="楷体" panose="02010609060101010101" pitchFamily="49" charset="-122"/>
                <a:ea typeface="楷体" panose="02010609060101010101" pitchFamily="49" charset="-122"/>
              </a:rPr>
              <a:t>语句</a:t>
            </a:r>
          </a:p>
        </p:txBody>
      </p:sp>
      <p:sp>
        <p:nvSpPr>
          <p:cNvPr id="884745" name="Rectangle 9"/>
          <p:cNvSpPr>
            <a:spLocks noChangeArrowheads="1"/>
          </p:cNvSpPr>
          <p:nvPr/>
        </p:nvSpPr>
        <p:spPr bwMode="auto">
          <a:xfrm>
            <a:off x="3647728" y="3645024"/>
            <a:ext cx="6357579" cy="1573072"/>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84746" name="AutoShape 10"/>
          <p:cNvSpPr>
            <a:spLocks noChangeArrowheads="1"/>
          </p:cNvSpPr>
          <p:nvPr/>
        </p:nvSpPr>
        <p:spPr bwMode="auto">
          <a:xfrm>
            <a:off x="358717" y="2360898"/>
            <a:ext cx="2703541" cy="1225549"/>
          </a:xfrm>
          <a:prstGeom prst="wedgeRoundRectCallout">
            <a:avLst>
              <a:gd name="adj1" fmla="val 72730"/>
              <a:gd name="adj2" fmla="val 64224"/>
              <a:gd name="adj3" fmla="val 16667"/>
            </a:avLst>
          </a:prstGeom>
          <a:gradFill flip="none" rotWithShape="1">
            <a:gsLst>
              <a:gs pos="0">
                <a:srgbClr val="CFCFD1"/>
              </a:gs>
              <a:gs pos="100000">
                <a:schemeClr val="bg1">
                  <a:lumMod val="95000"/>
                </a:schemeClr>
              </a:gs>
            </a:gsLst>
            <a:lin ang="189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C00000"/>
                </a:solidFill>
                <a:latin typeface="隶书" pitchFamily="49" charset="-122"/>
                <a:ea typeface="隶书" pitchFamily="49" charset="-122"/>
              </a:rPr>
              <a:t>0.1</a:t>
            </a:r>
            <a:r>
              <a:rPr lang="zh-CN" altLang="en-US" sz="2000" b="1" dirty="0">
                <a:solidFill>
                  <a:srgbClr val="C00000"/>
                </a:solidFill>
                <a:latin typeface="隶书" pitchFamily="49" charset="-122"/>
                <a:ea typeface="隶书" pitchFamily="49" charset="-122"/>
              </a:rPr>
              <a:t>默认为</a:t>
            </a:r>
            <a:r>
              <a:rPr lang="en-US" altLang="zh-CN" sz="2000" b="1" dirty="0">
                <a:solidFill>
                  <a:srgbClr val="C00000"/>
                </a:solidFill>
                <a:latin typeface="隶书" pitchFamily="49" charset="-122"/>
                <a:ea typeface="隶书" pitchFamily="49" charset="-122"/>
              </a:rPr>
              <a:t>double</a:t>
            </a:r>
            <a:r>
              <a:rPr lang="zh-CN" altLang="en-US" sz="2000" b="1" dirty="0">
                <a:solidFill>
                  <a:srgbClr val="C00000"/>
                </a:solidFill>
                <a:latin typeface="隶书" pitchFamily="49" charset="-122"/>
                <a:ea typeface="隶书" pitchFamily="49" charset="-122"/>
              </a:rPr>
              <a:t>型，不进行强制类型转换将产生警告信息！</a:t>
            </a:r>
          </a:p>
        </p:txBody>
      </p:sp>
      <p:sp>
        <p:nvSpPr>
          <p:cNvPr id="11" name="Rectangle 4">
            <a:extLst>
              <a:ext uri="{FF2B5EF4-FFF2-40B4-BE49-F238E27FC236}">
                <a16:creationId xmlns:a16="http://schemas.microsoft.com/office/drawing/2014/main" id="{05B5C257-AA97-4D74-98E1-77EDDB907D6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4744"/>
                                        </p:tgtEl>
                                        <p:attrNameLst>
                                          <p:attrName>style.visibility</p:attrName>
                                        </p:attrNameLst>
                                      </p:cBhvr>
                                      <p:to>
                                        <p:strVal val="visible"/>
                                      </p:to>
                                    </p:set>
                                    <p:animEffect transition="in" filter="blinds(horizontal)">
                                      <p:cBhvr>
                                        <p:cTn id="7" dur="500"/>
                                        <p:tgtEl>
                                          <p:spTgt spid="88474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4742"/>
                                        </p:tgtEl>
                                        <p:attrNameLst>
                                          <p:attrName>style.visibility</p:attrName>
                                        </p:attrNameLst>
                                      </p:cBhvr>
                                      <p:to>
                                        <p:strVal val="visible"/>
                                      </p:to>
                                    </p:set>
                                    <p:animEffect transition="in" filter="box(out)">
                                      <p:cBhvr>
                                        <p:cTn id="12" dur="500"/>
                                        <p:tgtEl>
                                          <p:spTgt spid="88474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84745"/>
                                        </p:tgtEl>
                                        <p:attrNameLst>
                                          <p:attrName>style.visibility</p:attrName>
                                        </p:attrNameLst>
                                      </p:cBhvr>
                                      <p:to>
                                        <p:strVal val="visible"/>
                                      </p:to>
                                    </p:set>
                                    <p:animEffect transition="in" filter="strips(downLeft)">
                                      <p:cBhvr>
                                        <p:cTn id="16" dur="500"/>
                                        <p:tgtEl>
                                          <p:spTgt spid="884745"/>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884743"/>
                                        </p:tgtEl>
                                        <p:attrNameLst>
                                          <p:attrName>style.visibility</p:attrName>
                                        </p:attrNameLst>
                                      </p:cBhvr>
                                      <p:to>
                                        <p:strVal val="visible"/>
                                      </p:to>
                                    </p:set>
                                    <p:animEffect transition="in" filter="box(out)">
                                      <p:cBhvr>
                                        <p:cTn id="21" dur="500"/>
                                        <p:tgtEl>
                                          <p:spTgt spid="884743"/>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884746"/>
                                        </p:tgtEl>
                                        <p:attrNameLst>
                                          <p:attrName>style.visibility</p:attrName>
                                        </p:attrNameLst>
                                      </p:cBhvr>
                                      <p:to>
                                        <p:strVal val="visible"/>
                                      </p:to>
                                    </p:set>
                                    <p:animEffect transition="in" filter="strips(downRight)">
                                      <p:cBhvr>
                                        <p:cTn id="26" dur="500"/>
                                        <p:tgtEl>
                                          <p:spTgt spid="884746"/>
                                        </p:tgtEl>
                                      </p:cBhvr>
                                    </p:animEffect>
                                  </p:childTnLst>
                                  <p:subTnLst>
                                    <p:audio>
                                      <p:cMediaNode>
                                        <p:cTn display="0" masterRel="sameClick">
                                          <p:stCondLst>
                                            <p:cond evt="begin" delay="0">
                                              <p:tn val="24"/>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2" grpId="0" animBg="1" autoUpdateAnimBg="0"/>
      <p:bldP spid="884743" grpId="0" animBg="1"/>
      <p:bldP spid="884744" grpId="0" animBg="1"/>
      <p:bldP spid="884745" grpId="0" animBg="1"/>
      <p:bldP spid="88474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6792" name="Rectangle 8"/>
          <p:cNvSpPr>
            <a:spLocks noChangeArrowheads="1"/>
          </p:cNvSpPr>
          <p:nvPr/>
        </p:nvSpPr>
        <p:spPr bwMode="auto">
          <a:xfrm>
            <a:off x="728194" y="1124744"/>
            <a:ext cx="3889373" cy="1296144"/>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方法三：</a:t>
            </a:r>
            <a:endParaRPr kumimoji="0" lang="en-US" altLang="zh-CN" b="1" dirty="0">
              <a:solidFill>
                <a:srgbClr val="C00000"/>
              </a:solidFill>
              <a:latin typeface="楷体" panose="02010609060101010101" pitchFamily="49" charset="-122"/>
              <a:ea typeface="楷体" panose="02010609060101010101" pitchFamily="49" charset="-122"/>
            </a:endParaRPr>
          </a:p>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使用</a:t>
            </a:r>
            <a:r>
              <a:rPr kumimoji="0" lang="en-US" altLang="zh-CN" b="1" dirty="0">
                <a:solidFill>
                  <a:srgbClr val="C00000"/>
                </a:solidFill>
                <a:latin typeface="楷体" panose="02010609060101010101" pitchFamily="49" charset="-122"/>
                <a:ea typeface="楷体" panose="02010609060101010101" pitchFamily="49" charset="-122"/>
              </a:rPr>
              <a:t>switch</a:t>
            </a:r>
            <a:r>
              <a:rPr kumimoji="0" lang="zh-CN" altLang="en-US" b="1" dirty="0">
                <a:solidFill>
                  <a:srgbClr val="C00000"/>
                </a:solidFill>
                <a:latin typeface="楷体" panose="02010609060101010101" pitchFamily="49" charset="-122"/>
                <a:ea typeface="楷体" panose="02010609060101010101" pitchFamily="49" charset="-122"/>
              </a:rPr>
              <a:t>语句</a:t>
            </a:r>
          </a:p>
        </p:txBody>
      </p:sp>
      <p:sp>
        <p:nvSpPr>
          <p:cNvPr id="886794" name="Rectangle 10"/>
          <p:cNvSpPr>
            <a:spLocks noChangeArrowheads="1"/>
          </p:cNvSpPr>
          <p:nvPr/>
        </p:nvSpPr>
        <p:spPr bwMode="auto">
          <a:xfrm>
            <a:off x="3215680" y="908720"/>
            <a:ext cx="8493209" cy="5734903"/>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rgbClr val="C01920"/>
            </a:solidFill>
            <a:miter lim="800000"/>
            <a:headEnd/>
            <a:tailEnd/>
          </a:ln>
          <a:effectLst>
            <a:outerShdw blurRad="50800" dist="106680" dir="2700000" algn="ctr" rotWithShape="0">
              <a:srgbClr val="000000">
                <a:alpha val="43137"/>
              </a:srgbClr>
            </a:outerShdw>
          </a:effectLst>
          <a:scene3d>
            <a:camera prst="orthographicFront"/>
            <a:lightRig rig="threePt" dir="t"/>
          </a:scene3d>
          <a:sp3d>
            <a:bevelT w="114300" prst="hardEdge"/>
          </a:sp3d>
        </p:spPr>
        <p:txBody>
          <a:bodyPr wrap="square" anchor="ctr">
            <a:spAutoFit/>
          </a:bodyPr>
          <a:lstStyle/>
          <a:p>
            <a:pPr indent="266700">
              <a:lnSpc>
                <a:spcPts val="2600"/>
              </a:lnSpc>
            </a:pPr>
            <a:r>
              <a:rPr lang="zh-CN" altLang="en-US" sz="2000" b="1" u="sng" dirty="0">
                <a:solidFill>
                  <a:srgbClr val="C01920"/>
                </a:solidFill>
                <a:latin typeface="隶书" pitchFamily="49" charset="-122"/>
                <a:ea typeface="隶书" pitchFamily="49" charset="-122"/>
              </a:rPr>
              <a:t>算法设计要点：</a:t>
            </a:r>
            <a:endParaRPr lang="zh-CN" altLang="en-US" sz="2000" u="sng" dirty="0">
              <a:solidFill>
                <a:srgbClr val="C01920"/>
              </a:solidFill>
              <a:latin typeface="隶书" pitchFamily="49" charset="-122"/>
              <a:ea typeface="隶书" pitchFamily="49" charset="-122"/>
            </a:endParaRPr>
          </a:p>
          <a:p>
            <a:pPr indent="266700">
              <a:lnSpc>
                <a:spcPts val="2600"/>
              </a:lnSpc>
            </a:pPr>
            <a:r>
              <a:rPr lang="zh-CN" altLang="en-US" sz="2000" b="1" dirty="0">
                <a:latin typeface="+mn-lt"/>
                <a:ea typeface="楷体" pitchFamily="49" charset="-122"/>
              </a:rPr>
              <a:t>    为使用</a:t>
            </a:r>
            <a:r>
              <a:rPr lang="en-US" altLang="zh-CN" sz="2000" b="1" dirty="0">
                <a:latin typeface="+mn-lt"/>
                <a:ea typeface="楷体" pitchFamily="49" charset="-122"/>
              </a:rPr>
              <a:t>switch</a:t>
            </a:r>
            <a:r>
              <a:rPr lang="zh-CN" altLang="en-US" sz="2000" b="1" dirty="0">
                <a:latin typeface="+mn-lt"/>
                <a:ea typeface="楷体" pitchFamily="49" charset="-122"/>
              </a:rPr>
              <a:t>语句，必须将利润</a:t>
            </a:r>
            <a:r>
              <a:rPr lang="en-US" altLang="zh-CN" sz="2000" b="1" dirty="0">
                <a:latin typeface="+mn-lt"/>
                <a:ea typeface="楷体" pitchFamily="49" charset="-122"/>
              </a:rPr>
              <a:t>profit</a:t>
            </a:r>
            <a:r>
              <a:rPr lang="zh-CN" altLang="en-US" sz="2000" b="1" dirty="0">
                <a:latin typeface="+mn-lt"/>
                <a:ea typeface="楷体" pitchFamily="49" charset="-122"/>
              </a:rPr>
              <a:t>与提成的关系转换成某些整数与提成的关系。分析本题可知，提成的变化点都是</a:t>
            </a:r>
            <a:r>
              <a:rPr lang="en-US" altLang="zh-CN" sz="2000" b="1" dirty="0">
                <a:latin typeface="+mn-lt"/>
                <a:ea typeface="楷体" pitchFamily="49" charset="-122"/>
              </a:rPr>
              <a:t>1000</a:t>
            </a:r>
            <a:r>
              <a:rPr lang="zh-CN" altLang="en-US" sz="2000" b="1" dirty="0">
                <a:latin typeface="+mn-lt"/>
                <a:ea typeface="楷体" pitchFamily="49" charset="-122"/>
              </a:rPr>
              <a:t>的整数倍（</a:t>
            </a:r>
            <a:r>
              <a:rPr lang="en-US" altLang="zh-CN" sz="2000" b="1" dirty="0">
                <a:latin typeface="+mn-lt"/>
                <a:ea typeface="楷体" pitchFamily="49" charset="-122"/>
              </a:rPr>
              <a:t>1000</a:t>
            </a:r>
            <a:r>
              <a:rPr lang="zh-CN" altLang="en-US" sz="2000" b="1" dirty="0">
                <a:latin typeface="+mn-lt"/>
                <a:ea typeface="楷体" pitchFamily="49" charset="-122"/>
              </a:rPr>
              <a:t>、</a:t>
            </a:r>
            <a:r>
              <a:rPr lang="en-US" altLang="zh-CN" sz="2000" b="1" dirty="0">
                <a:latin typeface="+mn-lt"/>
                <a:ea typeface="楷体" pitchFamily="49" charset="-122"/>
              </a:rPr>
              <a:t>2000</a:t>
            </a:r>
            <a:r>
              <a:rPr lang="zh-CN" altLang="en-US" sz="2000" b="1" dirty="0">
                <a:latin typeface="+mn-lt"/>
                <a:ea typeface="楷体" pitchFamily="49" charset="-122"/>
              </a:rPr>
              <a:t>、</a:t>
            </a:r>
            <a:r>
              <a:rPr lang="en-US" altLang="zh-CN" sz="2000" b="1" dirty="0">
                <a:latin typeface="+mn-lt"/>
                <a:ea typeface="楷体" pitchFamily="49" charset="-122"/>
              </a:rPr>
              <a:t>5000</a:t>
            </a:r>
            <a:r>
              <a:rPr lang="zh-CN" altLang="en-US" sz="2000" b="1" dirty="0">
                <a:latin typeface="+mn-lt"/>
                <a:ea typeface="楷体" pitchFamily="49" charset="-122"/>
              </a:rPr>
              <a:t>、</a:t>
            </a:r>
            <a:r>
              <a:rPr lang="en-US" altLang="zh-CN" sz="2000" b="1" dirty="0">
                <a:latin typeface="+mn-lt"/>
                <a:ea typeface="楷体" pitchFamily="49" charset="-122"/>
              </a:rPr>
              <a:t>……</a:t>
            </a:r>
            <a:r>
              <a:rPr lang="zh-CN" altLang="en-US" sz="2000" b="1" dirty="0">
                <a:latin typeface="+mn-lt"/>
                <a:ea typeface="楷体" pitchFamily="49" charset="-122"/>
              </a:rPr>
              <a:t>），如果将利润</a:t>
            </a:r>
            <a:r>
              <a:rPr lang="en-US" altLang="zh-CN" sz="2000" b="1" dirty="0">
                <a:latin typeface="+mn-lt"/>
                <a:ea typeface="楷体" pitchFamily="49" charset="-122"/>
              </a:rPr>
              <a:t>profit</a:t>
            </a:r>
            <a:r>
              <a:rPr lang="zh-CN" altLang="en-US" sz="2000" b="1" dirty="0">
                <a:latin typeface="+mn-lt"/>
                <a:ea typeface="楷体" pitchFamily="49" charset="-122"/>
              </a:rPr>
              <a:t>整除</a:t>
            </a:r>
            <a:r>
              <a:rPr lang="en-US" altLang="zh-CN" sz="2000" b="1" dirty="0">
                <a:latin typeface="+mn-lt"/>
                <a:ea typeface="楷体" pitchFamily="49" charset="-122"/>
              </a:rPr>
              <a:t>1000</a:t>
            </a:r>
            <a:r>
              <a:rPr lang="zh-CN" altLang="en-US" sz="2000" b="1" dirty="0">
                <a:latin typeface="+mn-lt"/>
                <a:ea typeface="楷体" pitchFamily="49" charset="-122"/>
              </a:rPr>
              <a:t>，则当：</a:t>
            </a:r>
          </a:p>
          <a:p>
            <a:pPr indent="266700">
              <a:lnSpc>
                <a:spcPts val="2600"/>
              </a:lnSpc>
            </a:pPr>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profit ≤ 1000                     </a:t>
            </a:r>
            <a:r>
              <a:rPr lang="zh-CN" altLang="en-US" sz="2000" b="1" dirty="0">
                <a:solidFill>
                  <a:srgbClr val="002060"/>
                </a:solidFill>
                <a:latin typeface="+mn-lt"/>
                <a:ea typeface="楷体" pitchFamily="49" charset="-122"/>
              </a:rPr>
              <a:t>对应</a:t>
            </a:r>
            <a:r>
              <a:rPr lang="en-US" altLang="zh-CN" sz="2000" b="1" dirty="0">
                <a:solidFill>
                  <a:srgbClr val="002060"/>
                </a:solidFill>
                <a:latin typeface="+mn-lt"/>
                <a:ea typeface="楷体" pitchFamily="49" charset="-122"/>
              </a:rPr>
              <a:t>0</a:t>
            </a:r>
            <a:r>
              <a:rPr lang="zh-CN" altLang="en-US" sz="2000" b="1" dirty="0">
                <a:solidFill>
                  <a:srgbClr val="002060"/>
                </a:solidFill>
                <a:latin typeface="+mn-lt"/>
                <a:ea typeface="楷体" pitchFamily="49" charset="-122"/>
              </a:rPr>
              <a:t>、</a:t>
            </a:r>
            <a:r>
              <a:rPr lang="en-US" altLang="zh-CN" sz="2000" b="1" dirty="0">
                <a:solidFill>
                  <a:srgbClr val="C00000"/>
                </a:solidFill>
                <a:latin typeface="+mn-lt"/>
                <a:ea typeface="楷体" pitchFamily="49" charset="-122"/>
              </a:rPr>
              <a:t>1</a:t>
            </a:r>
          </a:p>
          <a:p>
            <a:pPr indent="266700">
              <a:lnSpc>
                <a:spcPts val="2600"/>
              </a:lnSpc>
            </a:pPr>
            <a:r>
              <a:rPr lang="en-US" altLang="zh-CN" sz="2000" b="1" dirty="0">
                <a:solidFill>
                  <a:srgbClr val="002060"/>
                </a:solidFill>
                <a:latin typeface="+mn-lt"/>
                <a:ea typeface="楷体" pitchFamily="49" charset="-122"/>
              </a:rPr>
              <a:t>       1000 </a:t>
            </a:r>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profit ≤ 2000       </a:t>
            </a:r>
            <a:r>
              <a:rPr lang="zh-CN" altLang="en-US" sz="2000" b="1" dirty="0">
                <a:solidFill>
                  <a:srgbClr val="002060"/>
                </a:solidFill>
                <a:latin typeface="+mn-lt"/>
                <a:ea typeface="楷体" pitchFamily="49" charset="-122"/>
              </a:rPr>
              <a:t>对应</a:t>
            </a:r>
            <a:r>
              <a:rPr lang="en-US" altLang="zh-CN" sz="2000" b="1" dirty="0">
                <a:solidFill>
                  <a:srgbClr val="C00000"/>
                </a:solidFill>
                <a:latin typeface="+mn-lt"/>
                <a:ea typeface="楷体" pitchFamily="49" charset="-122"/>
              </a:rPr>
              <a:t>1</a:t>
            </a:r>
            <a:r>
              <a:rPr lang="zh-CN" altLang="en-US" sz="2000" b="1" dirty="0">
                <a:solidFill>
                  <a:srgbClr val="002060"/>
                </a:solidFill>
                <a:latin typeface="+mn-lt"/>
                <a:ea typeface="楷体" pitchFamily="49" charset="-122"/>
              </a:rPr>
              <a:t>、</a:t>
            </a:r>
            <a:r>
              <a:rPr lang="en-US" altLang="zh-CN" sz="2000" b="1" dirty="0">
                <a:solidFill>
                  <a:schemeClr val="accent1">
                    <a:lumMod val="50000"/>
                  </a:schemeClr>
                </a:solidFill>
                <a:latin typeface="+mn-lt"/>
                <a:ea typeface="楷体" pitchFamily="49" charset="-122"/>
              </a:rPr>
              <a:t>2</a:t>
            </a:r>
          </a:p>
          <a:p>
            <a:pPr indent="266700">
              <a:lnSpc>
                <a:spcPts val="2600"/>
              </a:lnSpc>
            </a:pPr>
            <a:r>
              <a:rPr lang="en-US" altLang="zh-CN" sz="2000" b="1" dirty="0">
                <a:solidFill>
                  <a:srgbClr val="002060"/>
                </a:solidFill>
                <a:latin typeface="+mn-lt"/>
                <a:ea typeface="楷体" pitchFamily="49" charset="-122"/>
              </a:rPr>
              <a:t>       2000 </a:t>
            </a:r>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profit ≤ 5000       </a:t>
            </a:r>
            <a:r>
              <a:rPr lang="zh-CN" altLang="en-US" sz="2000" b="1" dirty="0">
                <a:solidFill>
                  <a:srgbClr val="002060"/>
                </a:solidFill>
                <a:latin typeface="+mn-lt"/>
                <a:ea typeface="楷体" pitchFamily="49" charset="-122"/>
              </a:rPr>
              <a:t>对应</a:t>
            </a:r>
            <a:r>
              <a:rPr lang="en-US" altLang="zh-CN" sz="2000" b="1" dirty="0">
                <a:solidFill>
                  <a:schemeClr val="accent1">
                    <a:lumMod val="50000"/>
                  </a:schemeClr>
                </a:solidFill>
                <a:latin typeface="+mn-lt"/>
                <a:ea typeface="楷体" pitchFamily="49" charset="-122"/>
              </a:rPr>
              <a:t>2</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3</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4</a:t>
            </a:r>
            <a:r>
              <a:rPr lang="zh-CN" altLang="en-US" sz="2000" b="1" dirty="0">
                <a:solidFill>
                  <a:srgbClr val="002060"/>
                </a:solidFill>
                <a:latin typeface="+mn-lt"/>
                <a:ea typeface="楷体" pitchFamily="49" charset="-122"/>
              </a:rPr>
              <a:t>、</a:t>
            </a:r>
            <a:r>
              <a:rPr lang="en-US" altLang="zh-CN" sz="2000" b="1" dirty="0">
                <a:solidFill>
                  <a:srgbClr val="BD6368"/>
                </a:solidFill>
                <a:latin typeface="+mn-lt"/>
                <a:ea typeface="楷体" pitchFamily="49" charset="-122"/>
              </a:rPr>
              <a:t>5</a:t>
            </a:r>
          </a:p>
          <a:p>
            <a:pPr indent="266700">
              <a:lnSpc>
                <a:spcPts val="2600"/>
              </a:lnSpc>
            </a:pPr>
            <a:r>
              <a:rPr lang="en-US" altLang="zh-CN" sz="2000" b="1" dirty="0">
                <a:solidFill>
                  <a:srgbClr val="002060"/>
                </a:solidFill>
                <a:latin typeface="+mn-lt"/>
                <a:ea typeface="楷体" pitchFamily="49" charset="-122"/>
              </a:rPr>
              <a:t>       5000 </a:t>
            </a:r>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profit ≤ 10000     </a:t>
            </a:r>
            <a:r>
              <a:rPr lang="zh-CN" altLang="en-US" sz="2000" b="1" dirty="0">
                <a:solidFill>
                  <a:srgbClr val="002060"/>
                </a:solidFill>
                <a:latin typeface="+mn-lt"/>
                <a:ea typeface="楷体" pitchFamily="49" charset="-122"/>
              </a:rPr>
              <a:t>对应</a:t>
            </a:r>
            <a:r>
              <a:rPr lang="en-US" altLang="zh-CN" sz="2000" b="1" dirty="0">
                <a:solidFill>
                  <a:srgbClr val="BD6368"/>
                </a:solidFill>
                <a:latin typeface="+mn-lt"/>
                <a:ea typeface="楷体" pitchFamily="49" charset="-122"/>
              </a:rPr>
              <a:t>5</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6</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7</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9</a:t>
            </a:r>
            <a:r>
              <a:rPr lang="zh-CN" altLang="en-US" sz="2000" b="1" dirty="0">
                <a:solidFill>
                  <a:srgbClr val="002060"/>
                </a:solidFill>
                <a:latin typeface="+mn-lt"/>
                <a:ea typeface="楷体" pitchFamily="49" charset="-122"/>
              </a:rPr>
              <a:t>、</a:t>
            </a:r>
            <a:r>
              <a:rPr lang="en-US" altLang="zh-CN" sz="2000" b="1" dirty="0">
                <a:solidFill>
                  <a:srgbClr val="C00000"/>
                </a:solidFill>
                <a:latin typeface="+mn-lt"/>
                <a:ea typeface="楷体" pitchFamily="49" charset="-122"/>
              </a:rPr>
              <a:t>10</a:t>
            </a:r>
          </a:p>
          <a:p>
            <a:pPr indent="266700">
              <a:lnSpc>
                <a:spcPts val="2600"/>
              </a:lnSpc>
            </a:pPr>
            <a:r>
              <a:rPr lang="en-US" altLang="zh-CN" sz="2000" b="1" dirty="0">
                <a:solidFill>
                  <a:srgbClr val="002060"/>
                </a:solidFill>
                <a:latin typeface="+mn-lt"/>
                <a:ea typeface="楷体" pitchFamily="49" charset="-122"/>
              </a:rPr>
              <a:t>       10000</a:t>
            </a:r>
            <a:r>
              <a:rPr lang="zh-CN" altLang="en-US" sz="2000" b="1" dirty="0">
                <a:solidFill>
                  <a:srgbClr val="002060"/>
                </a:solidFill>
                <a:latin typeface="+mn-lt"/>
                <a:ea typeface="楷体" pitchFamily="49" charset="-122"/>
              </a:rPr>
              <a:t>＜ </a:t>
            </a:r>
            <a:r>
              <a:rPr lang="en-US" altLang="zh-CN" sz="2000" b="1" dirty="0">
                <a:solidFill>
                  <a:srgbClr val="002060"/>
                </a:solidFill>
                <a:latin typeface="+mn-lt"/>
                <a:ea typeface="楷体" pitchFamily="49" charset="-122"/>
              </a:rPr>
              <a:t>profit                  </a:t>
            </a:r>
            <a:r>
              <a:rPr lang="zh-CN" altLang="en-US" sz="2000" b="1" dirty="0">
                <a:solidFill>
                  <a:srgbClr val="002060"/>
                </a:solidFill>
                <a:latin typeface="+mn-lt"/>
                <a:ea typeface="楷体" pitchFamily="49" charset="-122"/>
              </a:rPr>
              <a:t>对应</a:t>
            </a:r>
            <a:r>
              <a:rPr lang="en-US" altLang="zh-CN" sz="2000" b="1" dirty="0">
                <a:solidFill>
                  <a:srgbClr val="C00000"/>
                </a:solidFill>
                <a:latin typeface="+mn-lt"/>
                <a:ea typeface="楷体" pitchFamily="49" charset="-122"/>
              </a:rPr>
              <a:t>10</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11</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12</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a:t>
            </a:r>
          </a:p>
          <a:p>
            <a:pPr indent="266700">
              <a:lnSpc>
                <a:spcPts val="2600"/>
              </a:lnSpc>
            </a:pPr>
            <a:r>
              <a:rPr lang="en-US" altLang="zh-CN" sz="2000" b="1" dirty="0">
                <a:latin typeface="+mn-lt"/>
                <a:ea typeface="楷体" pitchFamily="49" charset="-122"/>
              </a:rPr>
              <a:t>   </a:t>
            </a:r>
            <a:r>
              <a:rPr lang="zh-CN" altLang="en-US" sz="2000" b="1" dirty="0">
                <a:latin typeface="+mn-lt"/>
                <a:ea typeface="楷体" pitchFamily="49" charset="-122"/>
              </a:rPr>
              <a:t>为解决相邻两个区间的重叠问题，最简单的方法就是：利润</a:t>
            </a:r>
            <a:r>
              <a:rPr lang="en-US" altLang="zh-CN" sz="2000" b="1" dirty="0">
                <a:latin typeface="+mn-lt"/>
                <a:ea typeface="楷体" pitchFamily="49" charset="-122"/>
              </a:rPr>
              <a:t>profit</a:t>
            </a:r>
            <a:r>
              <a:rPr lang="zh-CN" altLang="en-US" sz="2000" b="1" dirty="0">
                <a:latin typeface="+mn-lt"/>
                <a:ea typeface="楷体" pitchFamily="49" charset="-122"/>
              </a:rPr>
              <a:t>先减</a:t>
            </a:r>
            <a:r>
              <a:rPr lang="en-US" altLang="zh-CN" sz="2000" b="1" dirty="0">
                <a:latin typeface="+mn-lt"/>
                <a:ea typeface="楷体" pitchFamily="49" charset="-122"/>
              </a:rPr>
              <a:t>1</a:t>
            </a:r>
            <a:r>
              <a:rPr lang="zh-CN" altLang="en-US" sz="2000" b="1" dirty="0">
                <a:latin typeface="+mn-lt"/>
                <a:ea typeface="楷体" pitchFamily="49" charset="-122"/>
              </a:rPr>
              <a:t>（最小增量），然后再整除</a:t>
            </a:r>
            <a:r>
              <a:rPr lang="en-US" altLang="zh-CN" sz="2000" b="1" dirty="0">
                <a:latin typeface="+mn-lt"/>
                <a:ea typeface="楷体" pitchFamily="49" charset="-122"/>
              </a:rPr>
              <a:t>1000</a:t>
            </a:r>
            <a:r>
              <a:rPr lang="zh-CN" altLang="en-US" sz="2000" b="1" dirty="0">
                <a:latin typeface="+mn-lt"/>
                <a:ea typeface="楷体" pitchFamily="49" charset="-122"/>
              </a:rPr>
              <a:t>即可：</a:t>
            </a:r>
          </a:p>
          <a:p>
            <a:pPr indent="266700">
              <a:lnSpc>
                <a:spcPts val="2600"/>
              </a:lnSpc>
            </a:pPr>
            <a:r>
              <a:rPr lang="zh-CN" altLang="en-US" sz="2000" b="1" dirty="0">
                <a:solidFill>
                  <a:schemeClr val="accent1">
                    <a:lumMod val="50000"/>
                  </a:schemeClr>
                </a:solidFill>
                <a:latin typeface="+mn-lt"/>
                <a:ea typeface="楷体" pitchFamily="49" charset="-122"/>
              </a:rPr>
              <a:t>       </a:t>
            </a:r>
            <a:r>
              <a:rPr lang="en-US" altLang="zh-CN" sz="2000" b="1" dirty="0">
                <a:solidFill>
                  <a:srgbClr val="BD6368"/>
                </a:solidFill>
                <a:latin typeface="+mn-lt"/>
                <a:ea typeface="楷体" pitchFamily="49" charset="-122"/>
              </a:rPr>
              <a:t>profit ≤ 1000                     </a:t>
            </a:r>
            <a:r>
              <a:rPr lang="zh-CN" altLang="en-US" sz="2000" b="1" dirty="0">
                <a:solidFill>
                  <a:srgbClr val="BD6368"/>
                </a:solidFill>
                <a:latin typeface="+mn-lt"/>
                <a:ea typeface="楷体" pitchFamily="49" charset="-122"/>
              </a:rPr>
              <a:t>对应</a:t>
            </a:r>
            <a:r>
              <a:rPr lang="en-US" altLang="zh-CN" sz="2000" b="1" dirty="0">
                <a:solidFill>
                  <a:srgbClr val="BD6368"/>
                </a:solidFill>
                <a:latin typeface="+mn-lt"/>
                <a:ea typeface="楷体" pitchFamily="49" charset="-122"/>
              </a:rPr>
              <a:t>0</a:t>
            </a:r>
          </a:p>
          <a:p>
            <a:pPr indent="266700">
              <a:lnSpc>
                <a:spcPts val="2600"/>
              </a:lnSpc>
            </a:pPr>
            <a:r>
              <a:rPr lang="en-US" altLang="zh-CN" sz="2000" b="1" dirty="0">
                <a:solidFill>
                  <a:srgbClr val="BD6368"/>
                </a:solidFill>
                <a:latin typeface="+mn-lt"/>
                <a:ea typeface="楷体" pitchFamily="49" charset="-122"/>
              </a:rPr>
              <a:t>       1000 </a:t>
            </a:r>
            <a:r>
              <a:rPr lang="zh-CN" altLang="en-US" sz="2000" b="1" dirty="0">
                <a:solidFill>
                  <a:srgbClr val="BD6368"/>
                </a:solidFill>
                <a:latin typeface="+mn-lt"/>
                <a:ea typeface="楷体" pitchFamily="49" charset="-122"/>
              </a:rPr>
              <a:t>＜ </a:t>
            </a:r>
            <a:r>
              <a:rPr lang="en-US" altLang="zh-CN" sz="2000" b="1" dirty="0">
                <a:solidFill>
                  <a:srgbClr val="BD6368"/>
                </a:solidFill>
                <a:latin typeface="+mn-lt"/>
                <a:ea typeface="楷体" pitchFamily="49" charset="-122"/>
              </a:rPr>
              <a:t>profit ≤ 2000       </a:t>
            </a:r>
            <a:r>
              <a:rPr lang="zh-CN" altLang="en-US" sz="2000" b="1" dirty="0">
                <a:solidFill>
                  <a:srgbClr val="BD6368"/>
                </a:solidFill>
                <a:latin typeface="+mn-lt"/>
                <a:ea typeface="楷体" pitchFamily="49" charset="-122"/>
              </a:rPr>
              <a:t>对应</a:t>
            </a:r>
            <a:r>
              <a:rPr lang="en-US" altLang="zh-CN" sz="2000" b="1" dirty="0">
                <a:solidFill>
                  <a:srgbClr val="BD6368"/>
                </a:solidFill>
                <a:latin typeface="+mn-lt"/>
                <a:ea typeface="楷体" pitchFamily="49" charset="-122"/>
              </a:rPr>
              <a:t>1</a:t>
            </a:r>
          </a:p>
          <a:p>
            <a:pPr indent="266700">
              <a:lnSpc>
                <a:spcPts val="2600"/>
              </a:lnSpc>
            </a:pPr>
            <a:r>
              <a:rPr lang="en-US" altLang="zh-CN" sz="2000" b="1" dirty="0">
                <a:solidFill>
                  <a:srgbClr val="BD6368"/>
                </a:solidFill>
                <a:latin typeface="+mn-lt"/>
                <a:ea typeface="楷体" pitchFamily="49" charset="-122"/>
              </a:rPr>
              <a:t>       2000 </a:t>
            </a:r>
            <a:r>
              <a:rPr lang="zh-CN" altLang="en-US" sz="2000" b="1" dirty="0">
                <a:solidFill>
                  <a:srgbClr val="BD6368"/>
                </a:solidFill>
                <a:latin typeface="+mn-lt"/>
                <a:ea typeface="楷体" pitchFamily="49" charset="-122"/>
              </a:rPr>
              <a:t>＜ </a:t>
            </a:r>
            <a:r>
              <a:rPr lang="en-US" altLang="zh-CN" sz="2000" b="1" dirty="0">
                <a:solidFill>
                  <a:srgbClr val="BD6368"/>
                </a:solidFill>
                <a:latin typeface="+mn-lt"/>
                <a:ea typeface="楷体" pitchFamily="49" charset="-122"/>
              </a:rPr>
              <a:t>profit ≤ 5000       </a:t>
            </a:r>
            <a:r>
              <a:rPr lang="zh-CN" altLang="en-US" sz="2000" b="1" dirty="0">
                <a:solidFill>
                  <a:srgbClr val="BD6368"/>
                </a:solidFill>
                <a:latin typeface="+mn-lt"/>
                <a:ea typeface="楷体" pitchFamily="49" charset="-122"/>
              </a:rPr>
              <a:t>对应</a:t>
            </a:r>
            <a:r>
              <a:rPr lang="en-US" altLang="zh-CN" sz="2000" b="1" dirty="0">
                <a:solidFill>
                  <a:srgbClr val="BD6368"/>
                </a:solidFill>
                <a:latin typeface="+mn-lt"/>
                <a:ea typeface="楷体" pitchFamily="49" charset="-122"/>
              </a:rPr>
              <a:t>2</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3</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4</a:t>
            </a:r>
          </a:p>
          <a:p>
            <a:pPr indent="266700">
              <a:lnSpc>
                <a:spcPts val="2600"/>
              </a:lnSpc>
            </a:pPr>
            <a:r>
              <a:rPr lang="en-US" altLang="zh-CN" sz="2000" b="1" dirty="0">
                <a:solidFill>
                  <a:srgbClr val="BD6368"/>
                </a:solidFill>
                <a:latin typeface="+mn-lt"/>
                <a:ea typeface="楷体" pitchFamily="49" charset="-122"/>
              </a:rPr>
              <a:t>       5000 </a:t>
            </a:r>
            <a:r>
              <a:rPr lang="zh-CN" altLang="en-US" sz="2000" b="1" dirty="0">
                <a:solidFill>
                  <a:srgbClr val="BD6368"/>
                </a:solidFill>
                <a:latin typeface="+mn-lt"/>
                <a:ea typeface="楷体" pitchFamily="49" charset="-122"/>
              </a:rPr>
              <a:t>＜ </a:t>
            </a:r>
            <a:r>
              <a:rPr lang="en-US" altLang="zh-CN" sz="2000" b="1" dirty="0">
                <a:solidFill>
                  <a:srgbClr val="BD6368"/>
                </a:solidFill>
                <a:latin typeface="+mn-lt"/>
                <a:ea typeface="楷体" pitchFamily="49" charset="-122"/>
              </a:rPr>
              <a:t>profit ≤ 10000     </a:t>
            </a:r>
            <a:r>
              <a:rPr lang="zh-CN" altLang="en-US" sz="2000" b="1" dirty="0">
                <a:solidFill>
                  <a:srgbClr val="BD6368"/>
                </a:solidFill>
                <a:latin typeface="+mn-lt"/>
                <a:ea typeface="楷体" pitchFamily="49" charset="-122"/>
              </a:rPr>
              <a:t>对应</a:t>
            </a:r>
            <a:r>
              <a:rPr lang="en-US" altLang="zh-CN" sz="2000" b="1" dirty="0">
                <a:solidFill>
                  <a:srgbClr val="BD6368"/>
                </a:solidFill>
                <a:latin typeface="+mn-lt"/>
                <a:ea typeface="楷体" pitchFamily="49" charset="-122"/>
              </a:rPr>
              <a:t>5</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6</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7</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8</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9</a:t>
            </a:r>
          </a:p>
          <a:p>
            <a:pPr indent="266700">
              <a:lnSpc>
                <a:spcPts val="2600"/>
              </a:lnSpc>
            </a:pPr>
            <a:r>
              <a:rPr lang="en-US" altLang="zh-CN" sz="2000" b="1" dirty="0">
                <a:solidFill>
                  <a:srgbClr val="BD6368"/>
                </a:solidFill>
                <a:latin typeface="+mn-lt"/>
                <a:ea typeface="楷体" pitchFamily="49" charset="-122"/>
              </a:rPr>
              <a:t>       10000</a:t>
            </a:r>
            <a:r>
              <a:rPr lang="zh-CN" altLang="en-US" sz="2000" b="1" dirty="0">
                <a:solidFill>
                  <a:srgbClr val="BD6368"/>
                </a:solidFill>
                <a:latin typeface="+mn-lt"/>
                <a:ea typeface="楷体" pitchFamily="49" charset="-122"/>
              </a:rPr>
              <a:t>＜ </a:t>
            </a:r>
            <a:r>
              <a:rPr lang="en-US" altLang="zh-CN" sz="2000" b="1" dirty="0">
                <a:solidFill>
                  <a:srgbClr val="BD6368"/>
                </a:solidFill>
                <a:latin typeface="+mn-lt"/>
                <a:ea typeface="楷体" pitchFamily="49" charset="-122"/>
              </a:rPr>
              <a:t>profit                  </a:t>
            </a:r>
            <a:r>
              <a:rPr lang="zh-CN" altLang="en-US" sz="2000" b="1" dirty="0">
                <a:solidFill>
                  <a:srgbClr val="BD6368"/>
                </a:solidFill>
                <a:latin typeface="+mn-lt"/>
                <a:ea typeface="楷体" pitchFamily="49" charset="-122"/>
              </a:rPr>
              <a:t>对应</a:t>
            </a:r>
            <a:r>
              <a:rPr lang="en-US" altLang="zh-CN" sz="2000" b="1" dirty="0">
                <a:solidFill>
                  <a:srgbClr val="BD6368"/>
                </a:solidFill>
                <a:latin typeface="+mn-lt"/>
                <a:ea typeface="楷体" pitchFamily="49" charset="-122"/>
              </a:rPr>
              <a:t>10</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11</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12</a:t>
            </a:r>
            <a:r>
              <a:rPr lang="zh-CN" altLang="en-US" sz="2000" b="1" dirty="0">
                <a:solidFill>
                  <a:srgbClr val="BD6368"/>
                </a:solidFill>
                <a:latin typeface="+mn-lt"/>
                <a:ea typeface="楷体" pitchFamily="49" charset="-122"/>
              </a:rPr>
              <a:t>、</a:t>
            </a:r>
            <a:r>
              <a:rPr lang="en-US" altLang="zh-CN" sz="2000" b="1" dirty="0">
                <a:solidFill>
                  <a:srgbClr val="BD6368"/>
                </a:solidFill>
                <a:latin typeface="+mn-lt"/>
                <a:ea typeface="楷体" pitchFamily="49" charset="-122"/>
              </a:rPr>
              <a:t>……</a:t>
            </a:r>
          </a:p>
          <a:p>
            <a:pPr indent="266700" eaLnBrk="0" hangingPunct="0"/>
            <a:endParaRPr lang="en-US" altLang="zh-CN" sz="2000" b="1" dirty="0">
              <a:solidFill>
                <a:srgbClr val="CC00FF"/>
              </a:solidFill>
              <a:ea typeface="楷体_GB2312" pitchFamily="49" charset="-122"/>
            </a:endParaRPr>
          </a:p>
        </p:txBody>
      </p:sp>
      <p:sp>
        <p:nvSpPr>
          <p:cNvPr id="9" name="Rectangle 4">
            <a:extLst>
              <a:ext uri="{FF2B5EF4-FFF2-40B4-BE49-F238E27FC236}">
                <a16:creationId xmlns:a16="http://schemas.microsoft.com/office/drawing/2014/main" id="{825AFEFD-7594-441E-A085-9AC110F79DF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6792"/>
                                        </p:tgtEl>
                                        <p:attrNameLst>
                                          <p:attrName>style.visibility</p:attrName>
                                        </p:attrNameLst>
                                      </p:cBhvr>
                                      <p:to>
                                        <p:strVal val="visible"/>
                                      </p:to>
                                    </p:set>
                                    <p:animEffect transition="in" filter="blinds(horizontal)">
                                      <p:cBhvr>
                                        <p:cTn id="7" dur="500"/>
                                        <p:tgtEl>
                                          <p:spTgt spid="88679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86794">
                                            <p:txEl>
                                              <p:pRg st="0" end="0"/>
                                            </p:txEl>
                                          </p:spTgt>
                                        </p:tgtEl>
                                        <p:attrNameLst>
                                          <p:attrName>style.visibility</p:attrName>
                                        </p:attrNameLst>
                                      </p:cBhvr>
                                      <p:to>
                                        <p:strVal val="visible"/>
                                      </p:to>
                                    </p:set>
                                    <p:animEffect transition="in" filter="box(out)">
                                      <p:cBhvr>
                                        <p:cTn id="12" dur="500"/>
                                        <p:tgtEl>
                                          <p:spTgt spid="886794">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4" presetClass="entr" presetSubtype="32" fill="hold" nodeType="withEffect">
                                  <p:stCondLst>
                                    <p:cond delay="0"/>
                                  </p:stCondLst>
                                  <p:childTnLst>
                                    <p:set>
                                      <p:cBhvr>
                                        <p:cTn id="14" dur="1" fill="hold">
                                          <p:stCondLst>
                                            <p:cond delay="0"/>
                                          </p:stCondLst>
                                        </p:cTn>
                                        <p:tgtEl>
                                          <p:spTgt spid="886794">
                                            <p:txEl>
                                              <p:pRg st="1" end="1"/>
                                            </p:txEl>
                                          </p:spTgt>
                                        </p:tgtEl>
                                        <p:attrNameLst>
                                          <p:attrName>style.visibility</p:attrName>
                                        </p:attrNameLst>
                                      </p:cBhvr>
                                      <p:to>
                                        <p:strVal val="visible"/>
                                      </p:to>
                                    </p:set>
                                    <p:animEffect transition="in" filter="box(out)">
                                      <p:cBhvr>
                                        <p:cTn id="15" dur="500"/>
                                        <p:tgtEl>
                                          <p:spTgt spid="886794">
                                            <p:txEl>
                                              <p:pRg st="1" end="1"/>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par>
                                <p:cTn id="16" presetID="4" presetClass="entr" presetSubtype="32" fill="hold" nodeType="withEffect">
                                  <p:stCondLst>
                                    <p:cond delay="0"/>
                                  </p:stCondLst>
                                  <p:childTnLst>
                                    <p:set>
                                      <p:cBhvr>
                                        <p:cTn id="17" dur="1" fill="hold">
                                          <p:stCondLst>
                                            <p:cond delay="0"/>
                                          </p:stCondLst>
                                        </p:cTn>
                                        <p:tgtEl>
                                          <p:spTgt spid="886794">
                                            <p:txEl>
                                              <p:pRg st="2" end="2"/>
                                            </p:txEl>
                                          </p:spTgt>
                                        </p:tgtEl>
                                        <p:attrNameLst>
                                          <p:attrName>style.visibility</p:attrName>
                                        </p:attrNameLst>
                                      </p:cBhvr>
                                      <p:to>
                                        <p:strVal val="visible"/>
                                      </p:to>
                                    </p:set>
                                    <p:animEffect transition="in" filter="box(out)">
                                      <p:cBhvr>
                                        <p:cTn id="18" dur="500"/>
                                        <p:tgtEl>
                                          <p:spTgt spid="886794">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par>
                                <p:cTn id="19" presetID="4" presetClass="entr" presetSubtype="32" fill="hold" nodeType="withEffect">
                                  <p:stCondLst>
                                    <p:cond delay="0"/>
                                  </p:stCondLst>
                                  <p:childTnLst>
                                    <p:set>
                                      <p:cBhvr>
                                        <p:cTn id="20" dur="1" fill="hold">
                                          <p:stCondLst>
                                            <p:cond delay="0"/>
                                          </p:stCondLst>
                                        </p:cTn>
                                        <p:tgtEl>
                                          <p:spTgt spid="886794">
                                            <p:txEl>
                                              <p:pRg st="3" end="3"/>
                                            </p:txEl>
                                          </p:spTgt>
                                        </p:tgtEl>
                                        <p:attrNameLst>
                                          <p:attrName>style.visibility</p:attrName>
                                        </p:attrNameLst>
                                      </p:cBhvr>
                                      <p:to>
                                        <p:strVal val="visible"/>
                                      </p:to>
                                    </p:set>
                                    <p:animEffect transition="in" filter="box(out)">
                                      <p:cBhvr>
                                        <p:cTn id="21" dur="500"/>
                                        <p:tgtEl>
                                          <p:spTgt spid="886794">
                                            <p:txEl>
                                              <p:pRg st="3" end="3"/>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par>
                                <p:cTn id="22" presetID="4" presetClass="entr" presetSubtype="32" fill="hold" nodeType="withEffect">
                                  <p:stCondLst>
                                    <p:cond delay="0"/>
                                  </p:stCondLst>
                                  <p:childTnLst>
                                    <p:set>
                                      <p:cBhvr>
                                        <p:cTn id="23" dur="1" fill="hold">
                                          <p:stCondLst>
                                            <p:cond delay="0"/>
                                          </p:stCondLst>
                                        </p:cTn>
                                        <p:tgtEl>
                                          <p:spTgt spid="886794">
                                            <p:txEl>
                                              <p:pRg st="4" end="4"/>
                                            </p:txEl>
                                          </p:spTgt>
                                        </p:tgtEl>
                                        <p:attrNameLst>
                                          <p:attrName>style.visibility</p:attrName>
                                        </p:attrNameLst>
                                      </p:cBhvr>
                                      <p:to>
                                        <p:strVal val="visible"/>
                                      </p:to>
                                    </p:set>
                                    <p:animEffect transition="in" filter="box(out)">
                                      <p:cBhvr>
                                        <p:cTn id="24" dur="500"/>
                                        <p:tgtEl>
                                          <p:spTgt spid="886794">
                                            <p:txEl>
                                              <p:pRg st="4" end="4"/>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par>
                                <p:cTn id="25" presetID="4" presetClass="entr" presetSubtype="32" fill="hold" nodeType="withEffect">
                                  <p:stCondLst>
                                    <p:cond delay="0"/>
                                  </p:stCondLst>
                                  <p:childTnLst>
                                    <p:set>
                                      <p:cBhvr>
                                        <p:cTn id="26" dur="1" fill="hold">
                                          <p:stCondLst>
                                            <p:cond delay="0"/>
                                          </p:stCondLst>
                                        </p:cTn>
                                        <p:tgtEl>
                                          <p:spTgt spid="886794">
                                            <p:txEl>
                                              <p:pRg st="5" end="5"/>
                                            </p:txEl>
                                          </p:spTgt>
                                        </p:tgtEl>
                                        <p:attrNameLst>
                                          <p:attrName>style.visibility</p:attrName>
                                        </p:attrNameLst>
                                      </p:cBhvr>
                                      <p:to>
                                        <p:strVal val="visible"/>
                                      </p:to>
                                    </p:set>
                                    <p:animEffect transition="in" filter="box(out)">
                                      <p:cBhvr>
                                        <p:cTn id="27" dur="500"/>
                                        <p:tgtEl>
                                          <p:spTgt spid="886794">
                                            <p:txEl>
                                              <p:pRg st="5" end="5"/>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par>
                                <p:cTn id="28" presetID="4" presetClass="entr" presetSubtype="32" fill="hold" nodeType="withEffect">
                                  <p:stCondLst>
                                    <p:cond delay="0"/>
                                  </p:stCondLst>
                                  <p:childTnLst>
                                    <p:set>
                                      <p:cBhvr>
                                        <p:cTn id="29" dur="1" fill="hold">
                                          <p:stCondLst>
                                            <p:cond delay="0"/>
                                          </p:stCondLst>
                                        </p:cTn>
                                        <p:tgtEl>
                                          <p:spTgt spid="886794">
                                            <p:txEl>
                                              <p:pRg st="6" end="6"/>
                                            </p:txEl>
                                          </p:spTgt>
                                        </p:tgtEl>
                                        <p:attrNameLst>
                                          <p:attrName>style.visibility</p:attrName>
                                        </p:attrNameLst>
                                      </p:cBhvr>
                                      <p:to>
                                        <p:strVal val="visible"/>
                                      </p:to>
                                    </p:set>
                                    <p:animEffect transition="in" filter="box(out)">
                                      <p:cBhvr>
                                        <p:cTn id="30" dur="500"/>
                                        <p:tgtEl>
                                          <p:spTgt spid="886794">
                                            <p:txEl>
                                              <p:pRg st="6" end="6"/>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886794">
                                            <p:txEl>
                                              <p:pRg st="7" end="7"/>
                                            </p:txEl>
                                          </p:spTgt>
                                        </p:tgtEl>
                                        <p:attrNameLst>
                                          <p:attrName>style.visibility</p:attrName>
                                        </p:attrNameLst>
                                      </p:cBhvr>
                                      <p:to>
                                        <p:strVal val="visible"/>
                                      </p:to>
                                    </p:set>
                                    <p:animEffect transition="in" filter="box(out)">
                                      <p:cBhvr>
                                        <p:cTn id="35" dur="500"/>
                                        <p:tgtEl>
                                          <p:spTgt spid="886794">
                                            <p:txEl>
                                              <p:pRg st="7" end="7"/>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6" presetID="4" presetClass="entr" presetSubtype="32" fill="hold" nodeType="withEffect">
                                  <p:stCondLst>
                                    <p:cond delay="0"/>
                                  </p:stCondLst>
                                  <p:childTnLst>
                                    <p:set>
                                      <p:cBhvr>
                                        <p:cTn id="37" dur="1" fill="hold">
                                          <p:stCondLst>
                                            <p:cond delay="0"/>
                                          </p:stCondLst>
                                        </p:cTn>
                                        <p:tgtEl>
                                          <p:spTgt spid="886794">
                                            <p:txEl>
                                              <p:pRg st="8" end="8"/>
                                            </p:txEl>
                                          </p:spTgt>
                                        </p:tgtEl>
                                        <p:attrNameLst>
                                          <p:attrName>style.visibility</p:attrName>
                                        </p:attrNameLst>
                                      </p:cBhvr>
                                      <p:to>
                                        <p:strVal val="visible"/>
                                      </p:to>
                                    </p:set>
                                    <p:animEffect transition="in" filter="box(out)">
                                      <p:cBhvr>
                                        <p:cTn id="38" dur="500"/>
                                        <p:tgtEl>
                                          <p:spTgt spid="886794">
                                            <p:txEl>
                                              <p:pRg st="8" end="8"/>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par>
                                <p:cTn id="39" presetID="4" presetClass="entr" presetSubtype="32" fill="hold" nodeType="withEffect">
                                  <p:stCondLst>
                                    <p:cond delay="0"/>
                                  </p:stCondLst>
                                  <p:childTnLst>
                                    <p:set>
                                      <p:cBhvr>
                                        <p:cTn id="40" dur="1" fill="hold">
                                          <p:stCondLst>
                                            <p:cond delay="0"/>
                                          </p:stCondLst>
                                        </p:cTn>
                                        <p:tgtEl>
                                          <p:spTgt spid="886794">
                                            <p:txEl>
                                              <p:pRg st="9" end="9"/>
                                            </p:txEl>
                                          </p:spTgt>
                                        </p:tgtEl>
                                        <p:attrNameLst>
                                          <p:attrName>style.visibility</p:attrName>
                                        </p:attrNameLst>
                                      </p:cBhvr>
                                      <p:to>
                                        <p:strVal val="visible"/>
                                      </p:to>
                                    </p:set>
                                    <p:animEffect transition="in" filter="box(out)">
                                      <p:cBhvr>
                                        <p:cTn id="41" dur="500"/>
                                        <p:tgtEl>
                                          <p:spTgt spid="886794">
                                            <p:txEl>
                                              <p:pRg st="9" end="9"/>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par>
                                <p:cTn id="42" presetID="4" presetClass="entr" presetSubtype="32" fill="hold" nodeType="withEffect">
                                  <p:stCondLst>
                                    <p:cond delay="0"/>
                                  </p:stCondLst>
                                  <p:childTnLst>
                                    <p:set>
                                      <p:cBhvr>
                                        <p:cTn id="43" dur="1" fill="hold">
                                          <p:stCondLst>
                                            <p:cond delay="0"/>
                                          </p:stCondLst>
                                        </p:cTn>
                                        <p:tgtEl>
                                          <p:spTgt spid="886794">
                                            <p:txEl>
                                              <p:pRg st="10" end="10"/>
                                            </p:txEl>
                                          </p:spTgt>
                                        </p:tgtEl>
                                        <p:attrNameLst>
                                          <p:attrName>style.visibility</p:attrName>
                                        </p:attrNameLst>
                                      </p:cBhvr>
                                      <p:to>
                                        <p:strVal val="visible"/>
                                      </p:to>
                                    </p:set>
                                    <p:animEffect transition="in" filter="box(out)">
                                      <p:cBhvr>
                                        <p:cTn id="44" dur="500"/>
                                        <p:tgtEl>
                                          <p:spTgt spid="886794">
                                            <p:txEl>
                                              <p:pRg st="10" end="10"/>
                                            </p:txEl>
                                          </p:spTgt>
                                        </p:tgtEl>
                                      </p:cBhvr>
                                    </p:animEffect>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par>
                                <p:cTn id="45" presetID="4" presetClass="entr" presetSubtype="32" fill="hold" nodeType="withEffect">
                                  <p:stCondLst>
                                    <p:cond delay="0"/>
                                  </p:stCondLst>
                                  <p:childTnLst>
                                    <p:set>
                                      <p:cBhvr>
                                        <p:cTn id="46" dur="1" fill="hold">
                                          <p:stCondLst>
                                            <p:cond delay="0"/>
                                          </p:stCondLst>
                                        </p:cTn>
                                        <p:tgtEl>
                                          <p:spTgt spid="886794">
                                            <p:txEl>
                                              <p:pRg st="11" end="11"/>
                                            </p:txEl>
                                          </p:spTgt>
                                        </p:tgtEl>
                                        <p:attrNameLst>
                                          <p:attrName>style.visibility</p:attrName>
                                        </p:attrNameLst>
                                      </p:cBhvr>
                                      <p:to>
                                        <p:strVal val="visible"/>
                                      </p:to>
                                    </p:set>
                                    <p:animEffect transition="in" filter="box(out)">
                                      <p:cBhvr>
                                        <p:cTn id="47" dur="500"/>
                                        <p:tgtEl>
                                          <p:spTgt spid="886794">
                                            <p:txEl>
                                              <p:pRg st="11" end="11"/>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4" name="chimes.wav"/>
                                        </p:tgtEl>
                                      </p:cMediaNode>
                                    </p:audio>
                                  </p:subTnLst>
                                </p:cTn>
                              </p:par>
                              <p:par>
                                <p:cTn id="48" presetID="4" presetClass="entr" presetSubtype="32" fill="hold" nodeType="withEffect">
                                  <p:stCondLst>
                                    <p:cond delay="0"/>
                                  </p:stCondLst>
                                  <p:childTnLst>
                                    <p:set>
                                      <p:cBhvr>
                                        <p:cTn id="49" dur="1" fill="hold">
                                          <p:stCondLst>
                                            <p:cond delay="0"/>
                                          </p:stCondLst>
                                        </p:cTn>
                                        <p:tgtEl>
                                          <p:spTgt spid="886794">
                                            <p:txEl>
                                              <p:pRg st="12" end="12"/>
                                            </p:txEl>
                                          </p:spTgt>
                                        </p:tgtEl>
                                        <p:attrNameLst>
                                          <p:attrName>style.visibility</p:attrName>
                                        </p:attrNameLst>
                                      </p:cBhvr>
                                      <p:to>
                                        <p:strVal val="visible"/>
                                      </p:to>
                                    </p:set>
                                    <p:animEffect transition="in" filter="box(out)">
                                      <p:cBhvr>
                                        <p:cTn id="50" dur="500"/>
                                        <p:tgtEl>
                                          <p:spTgt spid="886794">
                                            <p:txEl>
                                              <p:pRg st="12" end="12"/>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79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47C1B26D-8889-4CEF-9882-4AD710CBC5BA}"/>
              </a:ext>
            </a:extLst>
          </p:cNvPr>
          <p:cNvSpPr>
            <a:spLocks noChangeArrowheads="1"/>
          </p:cNvSpPr>
          <p:nvPr/>
        </p:nvSpPr>
        <p:spPr bwMode="auto">
          <a:xfrm>
            <a:off x="728194" y="1124744"/>
            <a:ext cx="3889373" cy="1296144"/>
          </a:xfrm>
          <a:prstGeom prst="rect">
            <a:avLst/>
          </a:prstGeom>
          <a:noFill/>
          <a:ln>
            <a:noFill/>
            <a:headEnd/>
            <a:tailEnd/>
          </a:ln>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lstStyle/>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方法三：</a:t>
            </a:r>
            <a:endParaRPr kumimoji="0" lang="en-US" altLang="zh-CN" b="1" dirty="0">
              <a:solidFill>
                <a:srgbClr val="C00000"/>
              </a:solidFill>
              <a:latin typeface="楷体" panose="02010609060101010101" pitchFamily="49" charset="-122"/>
              <a:ea typeface="楷体" panose="02010609060101010101" pitchFamily="49" charset="-122"/>
            </a:endParaRPr>
          </a:p>
          <a:p>
            <a:pPr eaLnBrk="0" hangingPunct="0">
              <a:buClr>
                <a:srgbClr val="FF3300"/>
              </a:buClr>
            </a:pPr>
            <a:r>
              <a:rPr kumimoji="0" lang="zh-CN" altLang="en-US" b="1" dirty="0">
                <a:solidFill>
                  <a:srgbClr val="C00000"/>
                </a:solidFill>
                <a:latin typeface="楷体" panose="02010609060101010101" pitchFamily="49" charset="-122"/>
                <a:ea typeface="楷体" panose="02010609060101010101" pitchFamily="49" charset="-122"/>
              </a:rPr>
              <a:t>使用</a:t>
            </a:r>
            <a:r>
              <a:rPr kumimoji="0" lang="en-US" altLang="zh-CN" b="1" dirty="0">
                <a:solidFill>
                  <a:srgbClr val="C00000"/>
                </a:solidFill>
                <a:latin typeface="楷体" panose="02010609060101010101" pitchFamily="49" charset="-122"/>
                <a:ea typeface="楷体" panose="02010609060101010101" pitchFamily="49" charset="-122"/>
              </a:rPr>
              <a:t>switch</a:t>
            </a:r>
            <a:r>
              <a:rPr kumimoji="0" lang="zh-CN" altLang="en-US" b="1" dirty="0">
                <a:solidFill>
                  <a:srgbClr val="C00000"/>
                </a:solidFill>
                <a:latin typeface="楷体" panose="02010609060101010101" pitchFamily="49" charset="-122"/>
                <a:ea typeface="楷体" panose="02010609060101010101" pitchFamily="49" charset="-122"/>
              </a:rPr>
              <a:t>语句</a:t>
            </a:r>
          </a:p>
        </p:txBody>
      </p:sp>
      <p:sp>
        <p:nvSpPr>
          <p:cNvPr id="12" name="Rectangle 4">
            <a:extLst>
              <a:ext uri="{FF2B5EF4-FFF2-40B4-BE49-F238E27FC236}">
                <a16:creationId xmlns:a16="http://schemas.microsoft.com/office/drawing/2014/main" id="{83E7BB37-CEB4-4E2E-8D0A-EBB7BAD503B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
        <p:nvSpPr>
          <p:cNvPr id="888834"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88838" name="Text Box 6" descr="信纸"/>
          <p:cNvSpPr txBox="1">
            <a:spLocks noChangeArrowheads="1"/>
          </p:cNvSpPr>
          <p:nvPr/>
        </p:nvSpPr>
        <p:spPr bwMode="auto">
          <a:xfrm>
            <a:off x="83982" y="2135248"/>
            <a:ext cx="5693066" cy="2587504"/>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1800" b="1" dirty="0">
                <a:ea typeface="楷体_GB2312" pitchFamily="49" charset="-122"/>
              </a:rPr>
              <a:t>  #include &lt;</a:t>
            </a:r>
            <a:r>
              <a:rPr lang="en-US" altLang="zh-CN" sz="1800" b="1" dirty="0" err="1">
                <a:ea typeface="楷体_GB2312" pitchFamily="49" charset="-122"/>
              </a:rPr>
              <a:t>stdio.h</a:t>
            </a:r>
            <a:r>
              <a:rPr lang="en-US" altLang="zh-CN" sz="1800" b="1" dirty="0">
                <a:ea typeface="楷体_GB2312" pitchFamily="49" charset="-122"/>
              </a:rPr>
              <a:t>&gt;</a:t>
            </a:r>
          </a:p>
          <a:p>
            <a:pPr marL="457200" indent="-457200"/>
            <a:r>
              <a:rPr lang="en-US" altLang="zh-CN" sz="1800" b="1" dirty="0">
                <a:solidFill>
                  <a:srgbClr val="CC3300"/>
                </a:solidFill>
                <a:ea typeface="楷体_GB2312" pitchFamily="49" charset="-122"/>
              </a:rPr>
              <a:t>  </a:t>
            </a:r>
            <a:r>
              <a:rPr lang="en-US" altLang="zh-CN" sz="1800" b="1" dirty="0" err="1">
                <a:solidFill>
                  <a:srgbClr val="CC3300"/>
                </a:solidFill>
                <a:ea typeface="楷体_GB2312" pitchFamily="49" charset="-122"/>
              </a:rPr>
              <a:t>int</a:t>
            </a:r>
            <a:r>
              <a:rPr lang="en-US" altLang="zh-CN" sz="1800" b="1" dirty="0">
                <a:solidFill>
                  <a:srgbClr val="CC3300"/>
                </a:solidFill>
                <a:ea typeface="楷体_GB2312" pitchFamily="49" charset="-122"/>
              </a:rPr>
              <a:t> main ( )</a:t>
            </a:r>
          </a:p>
          <a:p>
            <a:pPr marL="457200" indent="-457200"/>
            <a:r>
              <a:rPr lang="en-US" altLang="zh-CN" sz="1800" b="1" dirty="0">
                <a:ea typeface="楷体_GB2312" pitchFamily="49" charset="-122"/>
              </a:rPr>
              <a:t>  {</a:t>
            </a:r>
          </a:p>
          <a:p>
            <a:pPr marL="457200" indent="-457200"/>
            <a:r>
              <a:rPr lang="en-US" altLang="zh-CN" sz="1800" b="1" dirty="0">
                <a:ea typeface="楷体_GB2312" pitchFamily="49" charset="-122"/>
              </a:rPr>
              <a:t>    long   profit;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所接工程的利润</a:t>
            </a:r>
          </a:p>
          <a:p>
            <a:pPr marL="457200" indent="-457200"/>
            <a:r>
              <a:rPr lang="zh-CN" altLang="en-US" sz="1800" b="1" dirty="0">
                <a:ea typeface="楷体_GB2312" pitchFamily="49" charset="-122"/>
              </a:rPr>
              <a:t>    </a:t>
            </a:r>
            <a:r>
              <a:rPr lang="en-US" altLang="zh-CN" sz="1800" b="1" dirty="0" err="1">
                <a:ea typeface="楷体_GB2312" pitchFamily="49" charset="-122"/>
              </a:rPr>
              <a:t>int</a:t>
            </a:r>
            <a:r>
              <a:rPr lang="en-US" altLang="zh-CN" sz="1800" b="1" dirty="0">
                <a:ea typeface="楷体_GB2312" pitchFamily="49" charset="-122"/>
              </a:rPr>
              <a:t>    grade;</a:t>
            </a:r>
          </a:p>
          <a:p>
            <a:pPr marL="457200" indent="-457200"/>
            <a:r>
              <a:rPr lang="en-US" altLang="zh-CN" sz="1800" b="1" dirty="0">
                <a:ea typeface="楷体_GB2312" pitchFamily="49" charset="-122"/>
              </a:rPr>
              <a:t>    float   ratio;                         </a:t>
            </a:r>
            <a:r>
              <a:rPr lang="en-US" altLang="zh-CN" sz="1600" b="1" dirty="0">
                <a:solidFill>
                  <a:srgbClr val="0033CC"/>
                </a:solidFill>
                <a:latin typeface="+mn-lt"/>
                <a:ea typeface="楷体" pitchFamily="49" charset="-122"/>
              </a:rPr>
              <a:t>//</a:t>
            </a:r>
            <a:r>
              <a:rPr lang="zh-CN" altLang="en-US" sz="1600" b="1" dirty="0">
                <a:solidFill>
                  <a:srgbClr val="0033CC"/>
                </a:solidFill>
                <a:latin typeface="+mn-lt"/>
                <a:ea typeface="楷体" pitchFamily="49" charset="-122"/>
              </a:rPr>
              <a:t>提成比率</a:t>
            </a:r>
          </a:p>
          <a:p>
            <a:pPr marL="457200" indent="-457200"/>
            <a:r>
              <a:rPr lang="zh-CN" altLang="en-US" sz="1800" b="1" dirty="0">
                <a:ea typeface="楷体_GB2312" pitchFamily="49" charset="-122"/>
              </a:rPr>
              <a:t>    </a:t>
            </a:r>
            <a:r>
              <a:rPr lang="en-US" altLang="zh-CN" sz="1800" b="1" dirty="0">
                <a:ea typeface="楷体_GB2312" pitchFamily="49" charset="-122"/>
              </a:rPr>
              <a:t>float   salary = 500;             </a:t>
            </a:r>
            <a:r>
              <a:rPr lang="en-US" altLang="zh-CN" sz="1600" b="1" dirty="0">
                <a:solidFill>
                  <a:srgbClr val="0033CC"/>
                </a:solidFill>
                <a:latin typeface="+mn-lt"/>
                <a:ea typeface="楷体" pitchFamily="49" charset="-122"/>
              </a:rPr>
              <a:t>//</a:t>
            </a:r>
            <a:r>
              <a:rPr lang="zh-CN" altLang="en-US" sz="1600" b="1" dirty="0">
                <a:solidFill>
                  <a:srgbClr val="0033CC"/>
                </a:solidFill>
                <a:latin typeface="+mn-lt"/>
                <a:ea typeface="楷体" pitchFamily="49" charset="-122"/>
              </a:rPr>
              <a:t>薪水，初始值为保底薪水</a:t>
            </a:r>
            <a:r>
              <a:rPr lang="en-US" altLang="zh-CN" sz="1600" b="1" dirty="0">
                <a:solidFill>
                  <a:srgbClr val="0033CC"/>
                </a:solidFill>
                <a:latin typeface="+mn-lt"/>
                <a:ea typeface="楷体" pitchFamily="49" charset="-122"/>
              </a:rPr>
              <a:t>500 </a:t>
            </a:r>
          </a:p>
          <a:p>
            <a:pPr marL="457200" indent="-457200"/>
            <a:r>
              <a:rPr lang="en-US" altLang="zh-CN" sz="1800" b="1" dirty="0">
                <a:ea typeface="楷体_GB2312" pitchFamily="49" charset="-122"/>
              </a:rPr>
              <a:t>    </a:t>
            </a:r>
            <a:r>
              <a:rPr lang="en-US" altLang="zh-CN" sz="1800" b="1" dirty="0" err="1">
                <a:ea typeface="楷体_GB2312" pitchFamily="49" charset="-122"/>
              </a:rPr>
              <a:t>printf</a:t>
            </a:r>
            <a:r>
              <a:rPr lang="en-US" altLang="zh-CN" sz="1800" b="1" dirty="0">
                <a:ea typeface="楷体_GB2312" pitchFamily="49" charset="-122"/>
              </a:rPr>
              <a:t> ("Input profit: ");    </a:t>
            </a:r>
            <a:r>
              <a:rPr lang="en-US" altLang="zh-CN" sz="1600" b="1" dirty="0">
                <a:solidFill>
                  <a:srgbClr val="0033CC"/>
                </a:solidFill>
                <a:latin typeface="+mn-lt"/>
                <a:ea typeface="楷体" pitchFamily="49" charset="-122"/>
              </a:rPr>
              <a:t>//</a:t>
            </a:r>
            <a:r>
              <a:rPr lang="zh-CN" altLang="en-US" sz="1600" b="1" dirty="0">
                <a:solidFill>
                  <a:srgbClr val="0033CC"/>
                </a:solidFill>
                <a:latin typeface="+mn-lt"/>
                <a:ea typeface="楷体" pitchFamily="49" charset="-122"/>
              </a:rPr>
              <a:t>提示输入所接工程的利润</a:t>
            </a:r>
          </a:p>
          <a:p>
            <a:pPr marL="457200" indent="-457200"/>
            <a:r>
              <a:rPr lang="zh-CN" altLang="en-US" sz="1800" b="1" dirty="0">
                <a:ea typeface="楷体_GB2312" pitchFamily="49" charset="-122"/>
              </a:rPr>
              <a:t>    </a:t>
            </a:r>
            <a:r>
              <a:rPr lang="en-US" altLang="zh-CN" sz="1800" b="1" dirty="0" err="1">
                <a:ea typeface="楷体_GB2312" pitchFamily="49" charset="-122"/>
              </a:rPr>
              <a:t>scanf</a:t>
            </a:r>
            <a:r>
              <a:rPr lang="en-US" altLang="zh-CN" sz="1800" b="1" dirty="0">
                <a:ea typeface="楷体_GB2312" pitchFamily="49" charset="-122"/>
              </a:rPr>
              <a:t> ("%ld", &amp;profit);     </a:t>
            </a:r>
            <a:r>
              <a:rPr lang="en-US" altLang="zh-CN" sz="1600" b="1" dirty="0">
                <a:solidFill>
                  <a:srgbClr val="0033CC"/>
                </a:solidFill>
                <a:latin typeface="+mn-lt"/>
                <a:ea typeface="楷体" pitchFamily="49" charset="-122"/>
              </a:rPr>
              <a:t>//</a:t>
            </a:r>
            <a:r>
              <a:rPr lang="zh-CN" altLang="en-US" sz="1600" b="1" dirty="0">
                <a:solidFill>
                  <a:srgbClr val="0033CC"/>
                </a:solidFill>
                <a:latin typeface="+mn-lt"/>
                <a:ea typeface="楷体" pitchFamily="49" charset="-122"/>
              </a:rPr>
              <a:t>输入所接工程的利润</a:t>
            </a:r>
          </a:p>
        </p:txBody>
      </p:sp>
      <p:sp>
        <p:nvSpPr>
          <p:cNvPr id="888842" name="Text Box 10" descr="信纸"/>
          <p:cNvSpPr txBox="1">
            <a:spLocks noChangeArrowheads="1"/>
          </p:cNvSpPr>
          <p:nvPr/>
        </p:nvSpPr>
        <p:spPr bwMode="auto">
          <a:xfrm>
            <a:off x="5777048" y="908720"/>
            <a:ext cx="5929322" cy="5696048"/>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solidFill>
                  <a:srgbClr val="0033CC"/>
                </a:solidFill>
                <a:ea typeface="楷体_GB2312" pitchFamily="49" charset="-122"/>
              </a:rPr>
              <a:t>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将利润</a:t>
            </a:r>
            <a:r>
              <a:rPr lang="en-US" altLang="zh-CN" sz="1600" b="1" dirty="0">
                <a:solidFill>
                  <a:srgbClr val="002060"/>
                </a:solidFill>
                <a:latin typeface="+mn-lt"/>
                <a:ea typeface="楷体" pitchFamily="49" charset="-122"/>
              </a:rPr>
              <a:t>-1</a:t>
            </a:r>
            <a:r>
              <a:rPr lang="zh-CN" altLang="en-US" sz="1600" b="1" dirty="0">
                <a:solidFill>
                  <a:srgbClr val="002060"/>
                </a:solidFill>
                <a:latin typeface="+mn-lt"/>
                <a:ea typeface="楷体" pitchFamily="49" charset="-122"/>
              </a:rPr>
              <a:t>、再整除</a:t>
            </a:r>
            <a:r>
              <a:rPr lang="en-US" altLang="zh-CN" sz="1600" b="1" dirty="0">
                <a:solidFill>
                  <a:srgbClr val="002060"/>
                </a:solidFill>
                <a:latin typeface="+mn-lt"/>
                <a:ea typeface="楷体" pitchFamily="49" charset="-122"/>
              </a:rPr>
              <a:t>1000</a:t>
            </a:r>
            <a:r>
              <a:rPr lang="zh-CN" altLang="en-US" sz="1600" b="1" dirty="0">
                <a:solidFill>
                  <a:srgbClr val="002060"/>
                </a:solidFill>
                <a:latin typeface="+mn-lt"/>
                <a:ea typeface="楷体" pitchFamily="49" charset="-122"/>
              </a:rPr>
              <a:t>，转化成</a:t>
            </a:r>
            <a:r>
              <a:rPr lang="en-US" altLang="zh-CN" sz="1600" b="1" dirty="0">
                <a:solidFill>
                  <a:srgbClr val="002060"/>
                </a:solidFill>
                <a:latin typeface="+mn-lt"/>
                <a:ea typeface="楷体" pitchFamily="49" charset="-122"/>
              </a:rPr>
              <a:t>switch</a:t>
            </a:r>
            <a:r>
              <a:rPr lang="zh-CN" altLang="en-US" sz="1600" b="1" dirty="0">
                <a:solidFill>
                  <a:srgbClr val="002060"/>
                </a:solidFill>
                <a:latin typeface="+mn-lt"/>
                <a:ea typeface="楷体" pitchFamily="49" charset="-122"/>
              </a:rPr>
              <a:t>语句中的</a:t>
            </a:r>
            <a:r>
              <a:rPr lang="en-US" altLang="zh-CN" sz="1600" b="1" dirty="0">
                <a:solidFill>
                  <a:srgbClr val="002060"/>
                </a:solidFill>
                <a:latin typeface="+mn-lt"/>
                <a:ea typeface="楷体" pitchFamily="49" charset="-122"/>
              </a:rPr>
              <a:t>case</a:t>
            </a:r>
            <a:r>
              <a:rPr lang="zh-CN" altLang="en-US" sz="1600" b="1" dirty="0">
                <a:solidFill>
                  <a:srgbClr val="002060"/>
                </a:solidFill>
                <a:latin typeface="+mn-lt"/>
                <a:ea typeface="楷体" pitchFamily="49" charset="-122"/>
              </a:rPr>
              <a:t>标号</a:t>
            </a:r>
          </a:p>
          <a:p>
            <a:pPr marL="457200" indent="-457200"/>
            <a:r>
              <a:rPr lang="zh-CN" altLang="en-US" sz="2000" b="1" dirty="0">
                <a:ea typeface="楷体_GB2312" pitchFamily="49" charset="-122"/>
              </a:rPr>
              <a:t>    </a:t>
            </a:r>
            <a:r>
              <a:rPr lang="en-US" altLang="zh-CN" sz="1800" b="1" dirty="0">
                <a:ea typeface="楷体_GB2312" pitchFamily="49" charset="-122"/>
              </a:rPr>
              <a:t>grade = (profit - 1) / 1000;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 switch </a:t>
            </a:r>
            <a:r>
              <a:rPr lang="en-US" altLang="zh-CN" sz="1800" b="1" dirty="0">
                <a:ea typeface="楷体_GB2312" pitchFamily="49" charset="-122"/>
              </a:rPr>
              <a:t>( grade )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计算提成比率</a:t>
            </a:r>
          </a:p>
          <a:p>
            <a:pPr marL="457200" indent="-457200"/>
            <a:r>
              <a:rPr lang="zh-CN" altLang="en-US" sz="1800" b="1" dirty="0">
                <a:ea typeface="楷体_GB2312" pitchFamily="49" charset="-122"/>
              </a:rPr>
              <a:t>   </a:t>
            </a:r>
            <a:r>
              <a:rPr lang="zh-CN" altLang="en-US" sz="1800" b="1" dirty="0">
                <a:solidFill>
                  <a:srgbClr val="C01920"/>
                </a:solidFill>
                <a:ea typeface="楷体_GB2312" pitchFamily="49" charset="-122"/>
              </a:rPr>
              <a:t> </a:t>
            </a:r>
            <a:r>
              <a:rPr lang="en-US" altLang="zh-CN" sz="1800" b="1" dirty="0">
                <a:solidFill>
                  <a:srgbClr val="C01920"/>
                </a:solidFill>
                <a:ea typeface="楷体_GB2312" pitchFamily="49" charset="-122"/>
              </a:rPr>
              <a:t>{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0:  ratio = 0;  break;                 </a:t>
            </a:r>
            <a:r>
              <a:rPr lang="en-US" altLang="zh-CN" sz="1600" b="1" dirty="0">
                <a:solidFill>
                  <a:srgbClr val="002060"/>
                </a:solidFill>
                <a:latin typeface="+mn-lt"/>
                <a:ea typeface="楷体" pitchFamily="49" charset="-122"/>
              </a:rPr>
              <a:t> // profit≤1000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1:  ratio = (float)0.10;  break;   </a:t>
            </a:r>
            <a:r>
              <a:rPr lang="en-US" altLang="zh-CN" sz="1600" b="1" dirty="0">
                <a:solidFill>
                  <a:srgbClr val="002060"/>
                </a:solidFill>
                <a:latin typeface="+mn-lt"/>
                <a:ea typeface="楷体" pitchFamily="49" charset="-122"/>
              </a:rPr>
              <a:t>// 1000</a:t>
            </a:r>
            <a:r>
              <a:rPr lang="zh-CN" altLang="en-US" sz="1600" b="1" dirty="0">
                <a:solidFill>
                  <a:srgbClr val="002060"/>
                </a:solidFill>
                <a:latin typeface="+mn-lt"/>
                <a:ea typeface="楷体" pitchFamily="49" charset="-122"/>
              </a:rPr>
              <a:t>＜</a:t>
            </a:r>
            <a:r>
              <a:rPr lang="en-US" altLang="zh-CN" sz="1600" b="1" dirty="0">
                <a:solidFill>
                  <a:srgbClr val="002060"/>
                </a:solidFill>
                <a:latin typeface="+mn-lt"/>
                <a:ea typeface="楷体" pitchFamily="49" charset="-122"/>
              </a:rPr>
              <a:t>profit≤2000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 case  </a:t>
            </a:r>
            <a:r>
              <a:rPr lang="en-US" altLang="zh-CN" sz="1800" b="1" dirty="0">
                <a:ea typeface="楷体_GB2312" pitchFamily="49" charset="-122"/>
              </a:rPr>
              <a:t>2: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3: </a:t>
            </a:r>
          </a:p>
          <a:p>
            <a:pPr marL="457200" indent="-457200"/>
            <a:r>
              <a:rPr lang="en-US" altLang="zh-CN" sz="1800" b="1" dirty="0">
                <a:solidFill>
                  <a:srgbClr val="FF33CC"/>
                </a:solidFill>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4:  ratio = (float)0.15;  break;   </a:t>
            </a:r>
            <a:r>
              <a:rPr lang="en-US" altLang="zh-CN" sz="1600" b="1" dirty="0">
                <a:solidFill>
                  <a:srgbClr val="002060"/>
                </a:solidFill>
                <a:latin typeface="+mn-lt"/>
                <a:ea typeface="楷体" pitchFamily="49" charset="-122"/>
              </a:rPr>
              <a:t>// 2000</a:t>
            </a:r>
            <a:r>
              <a:rPr lang="zh-CN" altLang="en-US" sz="1600" b="1" dirty="0">
                <a:solidFill>
                  <a:srgbClr val="002060"/>
                </a:solidFill>
                <a:latin typeface="+mn-lt"/>
                <a:ea typeface="楷体" pitchFamily="49" charset="-122"/>
              </a:rPr>
              <a:t>＜</a:t>
            </a:r>
            <a:r>
              <a:rPr lang="en-US" altLang="zh-CN" sz="1600" b="1" dirty="0">
                <a:solidFill>
                  <a:srgbClr val="002060"/>
                </a:solidFill>
                <a:latin typeface="+mn-lt"/>
                <a:ea typeface="楷体" pitchFamily="49" charset="-122"/>
              </a:rPr>
              <a:t>profit≤5000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5: </a:t>
            </a:r>
          </a:p>
          <a:p>
            <a:pPr marL="457200" indent="-457200"/>
            <a:r>
              <a:rPr lang="en-US" altLang="zh-CN" sz="1800" b="1" dirty="0">
                <a:solidFill>
                  <a:srgbClr val="FF33CC"/>
                </a:solidFill>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6: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7: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8: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case</a:t>
            </a:r>
            <a:r>
              <a:rPr lang="en-US" altLang="zh-CN" sz="1800" b="1" dirty="0">
                <a:ea typeface="楷体_GB2312" pitchFamily="49" charset="-122"/>
              </a:rPr>
              <a:t>  9:  ratio = (float)0.20;  break;   </a:t>
            </a:r>
            <a:r>
              <a:rPr lang="en-US" altLang="zh-CN" sz="1600" b="1" dirty="0">
                <a:solidFill>
                  <a:srgbClr val="002060"/>
                </a:solidFill>
                <a:latin typeface="+mn-lt"/>
                <a:ea typeface="楷体" pitchFamily="49" charset="-122"/>
              </a:rPr>
              <a:t>// 5000</a:t>
            </a:r>
            <a:r>
              <a:rPr lang="zh-CN" altLang="en-US" sz="1600" b="1" dirty="0">
                <a:solidFill>
                  <a:srgbClr val="002060"/>
                </a:solidFill>
                <a:latin typeface="+mn-lt"/>
                <a:ea typeface="楷体" pitchFamily="49" charset="-122"/>
              </a:rPr>
              <a:t>＜</a:t>
            </a:r>
            <a:r>
              <a:rPr lang="en-US" altLang="zh-CN" sz="1600" b="1" dirty="0">
                <a:solidFill>
                  <a:srgbClr val="002060"/>
                </a:solidFill>
                <a:latin typeface="+mn-lt"/>
                <a:ea typeface="楷体" pitchFamily="49" charset="-122"/>
              </a:rPr>
              <a:t>profit≤10000 </a:t>
            </a:r>
          </a:p>
          <a:p>
            <a:pPr marL="457200" indent="-457200"/>
            <a:r>
              <a:rPr lang="en-US" altLang="zh-CN" sz="1800" b="1" dirty="0">
                <a:ea typeface="楷体_GB2312" pitchFamily="49" charset="-122"/>
              </a:rPr>
              <a:t>      </a:t>
            </a:r>
            <a:r>
              <a:rPr lang="en-US" altLang="zh-CN" sz="1800" b="1" dirty="0">
                <a:solidFill>
                  <a:srgbClr val="C01920"/>
                </a:solidFill>
                <a:ea typeface="楷体_GB2312" pitchFamily="49" charset="-122"/>
              </a:rPr>
              <a:t>default</a:t>
            </a:r>
            <a:r>
              <a:rPr lang="en-US" altLang="zh-CN" sz="1800" b="1" dirty="0">
                <a:ea typeface="楷体_GB2312" pitchFamily="49" charset="-122"/>
              </a:rPr>
              <a:t>:  ratio = (float)0.25;               </a:t>
            </a:r>
            <a:r>
              <a:rPr lang="en-US" altLang="zh-CN" sz="1600" b="1" dirty="0">
                <a:solidFill>
                  <a:srgbClr val="002060"/>
                </a:solidFill>
                <a:latin typeface="+mn-lt"/>
                <a:ea typeface="楷体" pitchFamily="49" charset="-122"/>
              </a:rPr>
              <a:t>// 10000</a:t>
            </a:r>
            <a:r>
              <a:rPr lang="zh-CN" altLang="en-US" sz="1600" b="1" dirty="0">
                <a:solidFill>
                  <a:srgbClr val="002060"/>
                </a:solidFill>
                <a:latin typeface="+mn-lt"/>
                <a:ea typeface="楷体" pitchFamily="49" charset="-122"/>
              </a:rPr>
              <a:t>＜</a:t>
            </a:r>
            <a:r>
              <a:rPr lang="en-US" altLang="zh-CN" sz="1600" b="1" dirty="0">
                <a:solidFill>
                  <a:srgbClr val="002060"/>
                </a:solidFill>
                <a:latin typeface="+mn-lt"/>
                <a:ea typeface="楷体" pitchFamily="49" charset="-122"/>
              </a:rPr>
              <a:t>profit </a:t>
            </a:r>
          </a:p>
          <a:p>
            <a:pPr marL="457200" indent="-457200"/>
            <a:r>
              <a:rPr lang="en-US" altLang="zh-CN" sz="1800" b="1" dirty="0">
                <a:solidFill>
                  <a:srgbClr val="C01920"/>
                </a:solidFill>
                <a:ea typeface="楷体_GB2312" pitchFamily="49" charset="-122"/>
              </a:rPr>
              <a:t>    }</a:t>
            </a:r>
          </a:p>
          <a:p>
            <a:pPr marL="457200" indent="-457200"/>
            <a:r>
              <a:rPr lang="en-US" altLang="zh-CN" sz="1800" b="1" dirty="0">
                <a:ea typeface="楷体_GB2312" pitchFamily="49" charset="-122"/>
              </a:rPr>
              <a:t>    salary += profit * ratio;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计算当月薪水</a:t>
            </a:r>
          </a:p>
          <a:p>
            <a:pPr marL="457200" indent="-457200"/>
            <a:r>
              <a:rPr lang="zh-CN" altLang="en-US" sz="1800" b="1" dirty="0">
                <a:ea typeface="楷体_GB2312" pitchFamily="49" charset="-122"/>
              </a:rPr>
              <a:t>    </a:t>
            </a:r>
            <a:r>
              <a:rPr lang="en-US" altLang="zh-CN" sz="1800" b="1" dirty="0" err="1">
                <a:ea typeface="楷体_GB2312" pitchFamily="49" charset="-122"/>
              </a:rPr>
              <a:t>printf</a:t>
            </a:r>
            <a:r>
              <a:rPr lang="en-US" altLang="zh-CN" sz="1800" b="1" dirty="0">
                <a:ea typeface="楷体_GB2312" pitchFamily="49" charset="-122"/>
              </a:rPr>
              <a:t> ("salary = %.2f\n", salary);     </a:t>
            </a:r>
            <a:r>
              <a:rPr lang="en-US" altLang="zh-CN" sz="1600" b="1" dirty="0">
                <a:solidFill>
                  <a:srgbClr val="002060"/>
                </a:solidFill>
                <a:latin typeface="+mn-lt"/>
                <a:ea typeface="楷体" pitchFamily="49" charset="-122"/>
              </a:rPr>
              <a:t>//</a:t>
            </a:r>
            <a:r>
              <a:rPr lang="zh-CN" altLang="en-US" sz="1600" b="1" dirty="0">
                <a:solidFill>
                  <a:srgbClr val="002060"/>
                </a:solidFill>
                <a:latin typeface="+mn-lt"/>
                <a:ea typeface="楷体" pitchFamily="49" charset="-122"/>
              </a:rPr>
              <a:t>输出结果</a:t>
            </a:r>
          </a:p>
          <a:p>
            <a:pPr marL="457200" indent="-457200"/>
            <a:r>
              <a:rPr lang="en-US" altLang="zh-CN" sz="1800" b="1" dirty="0">
                <a:ea typeface="楷体_GB2312" pitchFamily="49" charset="-122"/>
              </a:rPr>
              <a:t>    return 0;</a:t>
            </a:r>
          </a:p>
          <a:p>
            <a:pPr marL="457200" indent="-457200"/>
            <a:r>
              <a:rPr lang="en-US" altLang="zh-CN" sz="1800" b="1" dirty="0">
                <a:ea typeface="楷体_GB2312" pitchFamily="49" charset="-122"/>
              </a:rPr>
              <a:t>  }</a:t>
            </a:r>
          </a:p>
        </p:txBody>
      </p:sp>
      <p:sp>
        <p:nvSpPr>
          <p:cNvPr id="888841" name="Rectangle 9"/>
          <p:cNvSpPr>
            <a:spLocks noChangeArrowheads="1"/>
          </p:cNvSpPr>
          <p:nvPr/>
        </p:nvSpPr>
        <p:spPr bwMode="auto">
          <a:xfrm>
            <a:off x="6011835" y="1583045"/>
            <a:ext cx="3667151" cy="3844939"/>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88839" name="Rectangle 7"/>
          <p:cNvSpPr>
            <a:spLocks noChangeArrowheads="1"/>
          </p:cNvSpPr>
          <p:nvPr/>
        </p:nvSpPr>
        <p:spPr bwMode="auto">
          <a:xfrm>
            <a:off x="2749941" y="5581689"/>
            <a:ext cx="2769995" cy="10156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a:t>Input profit: 4000</a:t>
            </a:r>
            <a:r>
              <a:rPr lang="en-US" altLang="zh-CN" sz="2000" b="1" dirty="0">
                <a:latin typeface="+mn-ea"/>
                <a:ea typeface="+mn-ea"/>
              </a:rPr>
              <a:t>↙</a:t>
            </a:r>
          </a:p>
          <a:p>
            <a:r>
              <a:rPr lang="en-US" altLang="zh-CN" sz="2000" b="1" dirty="0">
                <a:solidFill>
                  <a:srgbClr val="002060"/>
                </a:solidFill>
              </a:rPr>
              <a:t>salary = 1100.00</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88838"/>
                                        </p:tgtEl>
                                        <p:attrNameLst>
                                          <p:attrName>style.visibility</p:attrName>
                                        </p:attrNameLst>
                                      </p:cBhvr>
                                      <p:to>
                                        <p:strVal val="visible"/>
                                      </p:to>
                                    </p:set>
                                    <p:animEffect transition="in" filter="box(out)">
                                      <p:cBhvr>
                                        <p:cTn id="12" dur="500"/>
                                        <p:tgtEl>
                                          <p:spTgt spid="88883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88842"/>
                                        </p:tgtEl>
                                        <p:attrNameLst>
                                          <p:attrName>style.visibility</p:attrName>
                                        </p:attrNameLst>
                                      </p:cBhvr>
                                      <p:to>
                                        <p:strVal val="visible"/>
                                      </p:to>
                                    </p:set>
                                    <p:animEffect transition="in" filter="box(out)">
                                      <p:cBhvr>
                                        <p:cTn id="17" dur="500"/>
                                        <p:tgtEl>
                                          <p:spTgt spid="88884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
                            </p:stCondLst>
                            <p:childTnLst>
                              <p:par>
                                <p:cTn id="19" presetID="18" presetClass="entr" presetSubtype="12" fill="hold" grpId="0" nodeType="afterEffect">
                                  <p:stCondLst>
                                    <p:cond delay="0"/>
                                  </p:stCondLst>
                                  <p:childTnLst>
                                    <p:set>
                                      <p:cBhvr>
                                        <p:cTn id="20" dur="1" fill="hold">
                                          <p:stCondLst>
                                            <p:cond delay="0"/>
                                          </p:stCondLst>
                                        </p:cTn>
                                        <p:tgtEl>
                                          <p:spTgt spid="888841"/>
                                        </p:tgtEl>
                                        <p:attrNameLst>
                                          <p:attrName>style.visibility</p:attrName>
                                        </p:attrNameLst>
                                      </p:cBhvr>
                                      <p:to>
                                        <p:strVal val="visible"/>
                                      </p:to>
                                    </p:set>
                                    <p:animEffect transition="in" filter="strips(downLeft)">
                                      <p:cBhvr>
                                        <p:cTn id="21" dur="500"/>
                                        <p:tgtEl>
                                          <p:spTgt spid="88884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888839"/>
                                        </p:tgtEl>
                                        <p:attrNameLst>
                                          <p:attrName>style.visibility</p:attrName>
                                        </p:attrNameLst>
                                      </p:cBhvr>
                                      <p:to>
                                        <p:strVal val="visible"/>
                                      </p:to>
                                    </p:set>
                                    <p:animEffect transition="in" filter="box(out)">
                                      <p:cBhvr>
                                        <p:cTn id="26" dur="500"/>
                                        <p:tgtEl>
                                          <p:spTgt spid="888839"/>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88838" grpId="0" animBg="1" autoUpdateAnimBg="0"/>
      <p:bldP spid="888842" grpId="0" animBg="1" autoUpdateAnimBg="0"/>
      <p:bldP spid="888841" grpId="0" animBg="1"/>
      <p:bldP spid="88883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0887" name="Rectangle 7"/>
          <p:cNvSpPr>
            <a:spLocks noChangeArrowheads="1"/>
          </p:cNvSpPr>
          <p:nvPr/>
        </p:nvSpPr>
        <p:spPr bwMode="auto">
          <a:xfrm>
            <a:off x="539292" y="980728"/>
            <a:ext cx="11077692"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写一程序，从键盘上输入</a:t>
            </a:r>
            <a:r>
              <a:rPr lang="en-US" altLang="zh-CN" b="1" dirty="0">
                <a:solidFill>
                  <a:srgbClr val="C01920"/>
                </a:solidFill>
                <a:latin typeface="楷体" panose="02010609060101010101" pitchFamily="49" charset="-122"/>
                <a:ea typeface="楷体" panose="02010609060101010101" pitchFamily="49" charset="-122"/>
              </a:rPr>
              <a:t>1</a:t>
            </a:r>
            <a:r>
              <a:rPr lang="zh-CN" altLang="en-US" b="1" dirty="0">
                <a:solidFill>
                  <a:srgbClr val="C01920"/>
                </a:solidFill>
                <a:latin typeface="楷体" panose="02010609060101010101" pitchFamily="49" charset="-122"/>
                <a:ea typeface="楷体" panose="02010609060101010101" pitchFamily="49" charset="-122"/>
              </a:rPr>
              <a:t>年份</a:t>
            </a:r>
            <a:r>
              <a:rPr lang="en-US" altLang="zh-CN" b="1" dirty="0">
                <a:solidFill>
                  <a:srgbClr val="C01920"/>
                </a:solidFill>
                <a:latin typeface="楷体" panose="02010609060101010101" pitchFamily="49" charset="-122"/>
                <a:ea typeface="楷体" panose="02010609060101010101" pitchFamily="49" charset="-122"/>
              </a:rPr>
              <a:t>year</a:t>
            </a:r>
            <a:r>
              <a:rPr lang="zh-CN" altLang="en-US" b="1" dirty="0">
                <a:solidFill>
                  <a:srgbClr val="C01920"/>
                </a:solidFill>
                <a:latin typeface="楷体" panose="02010609060101010101" pitchFamily="49" charset="-122"/>
                <a:ea typeface="楷体" panose="02010609060101010101" pitchFamily="49" charset="-122"/>
              </a:rPr>
              <a:t>（</a:t>
            </a:r>
            <a:r>
              <a:rPr lang="en-US" altLang="zh-CN" b="1" dirty="0">
                <a:solidFill>
                  <a:srgbClr val="C01920"/>
                </a:solidFill>
                <a:latin typeface="楷体" panose="02010609060101010101" pitchFamily="49" charset="-122"/>
                <a:ea typeface="楷体" panose="02010609060101010101" pitchFamily="49" charset="-122"/>
              </a:rPr>
              <a:t>4</a:t>
            </a:r>
            <a:r>
              <a:rPr lang="zh-CN" altLang="en-US" b="1" dirty="0">
                <a:solidFill>
                  <a:srgbClr val="C01920"/>
                </a:solidFill>
                <a:latin typeface="楷体" panose="02010609060101010101" pitchFamily="49" charset="-122"/>
                <a:ea typeface="楷体" panose="02010609060101010101" pitchFamily="49" charset="-122"/>
              </a:rPr>
              <a:t>位十进制数），判断其是否闰年。闰年的条件是：能被</a:t>
            </a:r>
            <a:r>
              <a:rPr lang="en-US" altLang="zh-CN" b="1" dirty="0">
                <a:solidFill>
                  <a:srgbClr val="C01920"/>
                </a:solidFill>
                <a:latin typeface="楷体" panose="02010609060101010101" pitchFamily="49" charset="-122"/>
                <a:ea typeface="楷体" panose="02010609060101010101" pitchFamily="49" charset="-122"/>
              </a:rPr>
              <a:t>4</a:t>
            </a:r>
            <a:r>
              <a:rPr lang="zh-CN" altLang="en-US" b="1" dirty="0">
                <a:solidFill>
                  <a:srgbClr val="C01920"/>
                </a:solidFill>
                <a:latin typeface="楷体" panose="02010609060101010101" pitchFamily="49" charset="-122"/>
                <a:ea typeface="楷体" panose="02010609060101010101" pitchFamily="49" charset="-122"/>
              </a:rPr>
              <a:t>整除、但不能被</a:t>
            </a:r>
            <a:r>
              <a:rPr lang="en-US" altLang="zh-CN" b="1" dirty="0">
                <a:solidFill>
                  <a:srgbClr val="C01920"/>
                </a:solidFill>
                <a:latin typeface="楷体" panose="02010609060101010101" pitchFamily="49" charset="-122"/>
                <a:ea typeface="楷体" panose="02010609060101010101" pitchFamily="49" charset="-122"/>
              </a:rPr>
              <a:t>100</a:t>
            </a:r>
            <a:r>
              <a:rPr lang="zh-CN" altLang="en-US" b="1" dirty="0">
                <a:solidFill>
                  <a:srgbClr val="C01920"/>
                </a:solidFill>
                <a:latin typeface="楷体" panose="02010609060101010101" pitchFamily="49" charset="-122"/>
                <a:ea typeface="楷体" panose="02010609060101010101" pitchFamily="49" charset="-122"/>
              </a:rPr>
              <a:t>整除，或者能被</a:t>
            </a:r>
            <a:r>
              <a:rPr lang="en-US" altLang="zh-CN" b="1" dirty="0">
                <a:solidFill>
                  <a:srgbClr val="C01920"/>
                </a:solidFill>
                <a:latin typeface="楷体" panose="02010609060101010101" pitchFamily="49" charset="-122"/>
                <a:ea typeface="楷体" panose="02010609060101010101" pitchFamily="49" charset="-122"/>
              </a:rPr>
              <a:t>400</a:t>
            </a:r>
            <a:r>
              <a:rPr lang="zh-CN" altLang="en-US" b="1" dirty="0">
                <a:solidFill>
                  <a:srgbClr val="C01920"/>
                </a:solidFill>
                <a:latin typeface="楷体" panose="02010609060101010101" pitchFamily="49" charset="-122"/>
                <a:ea typeface="楷体" panose="02010609060101010101" pitchFamily="49" charset="-122"/>
              </a:rPr>
              <a:t>整除。 </a:t>
            </a:r>
          </a:p>
        </p:txBody>
      </p:sp>
      <p:sp>
        <p:nvSpPr>
          <p:cNvPr id="890912" name="Rectangle 32"/>
          <p:cNvSpPr>
            <a:spLocks noChangeArrowheads="1"/>
          </p:cNvSpPr>
          <p:nvPr/>
        </p:nvSpPr>
        <p:spPr bwMode="auto">
          <a:xfrm>
            <a:off x="1012623" y="2028904"/>
            <a:ext cx="10441657" cy="341632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b="1" u="sng" dirty="0">
                <a:solidFill>
                  <a:srgbClr val="C01920"/>
                </a:solidFill>
                <a:latin typeface="隶书" pitchFamily="49" charset="-122"/>
                <a:ea typeface="隶书" pitchFamily="49" charset="-122"/>
              </a:rPr>
              <a:t>程序应该这样来设计：</a:t>
            </a:r>
            <a:endParaRPr lang="en-US" altLang="zh-CN" b="1" u="sng" dirty="0">
              <a:solidFill>
                <a:srgbClr val="C01920"/>
              </a:solidFill>
              <a:latin typeface="隶书" pitchFamily="49" charset="-122"/>
              <a:ea typeface="隶书" pitchFamily="49" charset="-122"/>
            </a:endParaRPr>
          </a:p>
          <a:p>
            <a:pPr>
              <a:tabLst>
                <a:tab pos="457200" algn="l"/>
              </a:tabLst>
            </a:pPr>
            <a:endParaRPr lang="zh-CN" altLang="en-US" b="1" u="sng" dirty="0">
              <a:solidFill>
                <a:srgbClr val="C01920"/>
              </a:solidFill>
              <a:latin typeface="隶书" pitchFamily="49" charset="-122"/>
              <a:ea typeface="隶书" pitchFamily="49" charset="-122"/>
            </a:endParaRPr>
          </a:p>
          <a:p>
            <a:pPr>
              <a:buClr>
                <a:srgbClr val="CC00FF"/>
              </a:buClr>
              <a:tabLst>
                <a:tab pos="457200" algn="l"/>
              </a:tabLst>
            </a:pPr>
            <a:r>
              <a:rPr lang="zh-CN" altLang="en-US" b="1" dirty="0">
                <a:ea typeface="楷体" pitchFamily="49" charset="-122"/>
              </a:rPr>
              <a:t>    （</a:t>
            </a:r>
            <a:r>
              <a:rPr lang="en-US" altLang="zh-CN" b="1" dirty="0">
                <a:ea typeface="楷体" pitchFamily="49" charset="-122"/>
              </a:rPr>
              <a:t>1</a:t>
            </a:r>
            <a:r>
              <a:rPr lang="zh-CN" altLang="en-US" b="1" dirty="0">
                <a:ea typeface="楷体" pitchFamily="49" charset="-122"/>
              </a:rPr>
              <a:t>）如果</a:t>
            </a:r>
            <a:r>
              <a:rPr lang="en-US" altLang="zh-CN" b="1" dirty="0">
                <a:ea typeface="楷体" pitchFamily="49" charset="-122"/>
              </a:rPr>
              <a:t>x</a:t>
            </a:r>
            <a:r>
              <a:rPr lang="zh-CN" altLang="en-US" b="1" dirty="0">
                <a:ea typeface="楷体" pitchFamily="49" charset="-122"/>
              </a:rPr>
              <a:t>能被</a:t>
            </a:r>
            <a:r>
              <a:rPr lang="en-US" altLang="zh-CN" b="1" dirty="0">
                <a:ea typeface="楷体" pitchFamily="49" charset="-122"/>
              </a:rPr>
              <a:t>y</a:t>
            </a:r>
            <a:r>
              <a:rPr lang="zh-CN" altLang="en-US" b="1" dirty="0">
                <a:ea typeface="楷体" pitchFamily="49" charset="-122"/>
              </a:rPr>
              <a:t>整除，则余数为</a:t>
            </a:r>
            <a:r>
              <a:rPr lang="en-US" altLang="zh-CN" b="1" dirty="0">
                <a:ea typeface="楷体" pitchFamily="49" charset="-122"/>
              </a:rPr>
              <a:t>0</a:t>
            </a:r>
            <a:r>
              <a:rPr lang="zh-CN" altLang="en-US" b="1" dirty="0">
                <a:ea typeface="楷体" pitchFamily="49" charset="-122"/>
              </a:rPr>
              <a:t>，即如果</a:t>
            </a:r>
            <a:r>
              <a:rPr lang="en-US" altLang="zh-CN" b="1" dirty="0">
                <a:ea typeface="楷体" pitchFamily="49" charset="-122"/>
              </a:rPr>
              <a:t>x</a:t>
            </a:r>
            <a:r>
              <a:rPr lang="zh-CN" altLang="en-US" b="1" dirty="0">
                <a:ea typeface="楷体" pitchFamily="49" charset="-122"/>
              </a:rPr>
              <a:t>％</a:t>
            </a:r>
            <a:r>
              <a:rPr lang="en-US" altLang="zh-CN" b="1" dirty="0">
                <a:ea typeface="楷体" pitchFamily="49" charset="-122"/>
              </a:rPr>
              <a:t>y</a:t>
            </a:r>
            <a:r>
              <a:rPr lang="zh-CN" altLang="en-US" b="1" dirty="0">
                <a:ea typeface="楷体" pitchFamily="49" charset="-122"/>
              </a:rPr>
              <a:t>的值等于</a:t>
            </a:r>
            <a:r>
              <a:rPr lang="en-US" altLang="zh-CN" b="1" dirty="0">
                <a:ea typeface="楷体" pitchFamily="49" charset="-122"/>
              </a:rPr>
              <a:t>0</a:t>
            </a:r>
            <a:r>
              <a:rPr lang="zh-CN" altLang="en-US" b="1" dirty="0">
                <a:ea typeface="楷体" pitchFamily="49" charset="-122"/>
              </a:rPr>
              <a:t>，则表示</a:t>
            </a:r>
            <a:r>
              <a:rPr lang="en-US" altLang="zh-CN" b="1" dirty="0">
                <a:ea typeface="楷体" pitchFamily="49" charset="-122"/>
              </a:rPr>
              <a:t>x</a:t>
            </a:r>
            <a:r>
              <a:rPr lang="zh-CN" altLang="en-US" b="1" dirty="0">
                <a:ea typeface="楷体" pitchFamily="49" charset="-122"/>
              </a:rPr>
              <a:t>能被</a:t>
            </a:r>
            <a:r>
              <a:rPr lang="en-US" altLang="zh-CN" b="1" dirty="0">
                <a:ea typeface="楷体" pitchFamily="49" charset="-122"/>
              </a:rPr>
              <a:t>y</a:t>
            </a:r>
            <a:r>
              <a:rPr lang="zh-CN" altLang="en-US" b="1" dirty="0">
                <a:ea typeface="楷体" pitchFamily="49" charset="-122"/>
              </a:rPr>
              <a:t>整除！</a:t>
            </a:r>
            <a:endParaRPr lang="en-US" altLang="zh-CN" b="1" dirty="0">
              <a:ea typeface="楷体" pitchFamily="49" charset="-122"/>
            </a:endParaRPr>
          </a:p>
          <a:p>
            <a:pPr>
              <a:buClr>
                <a:srgbClr val="CC00FF"/>
              </a:buClr>
              <a:tabLst>
                <a:tab pos="457200" algn="l"/>
              </a:tabLst>
            </a:pPr>
            <a:endParaRPr lang="zh-CN" altLang="en-US" b="1" dirty="0">
              <a:ea typeface="楷体" pitchFamily="49" charset="-122"/>
            </a:endParaRPr>
          </a:p>
          <a:p>
            <a:pPr>
              <a:buClr>
                <a:srgbClr val="CC00FF"/>
              </a:buClr>
              <a:tabLst>
                <a:tab pos="457200" algn="l"/>
              </a:tabLst>
            </a:pPr>
            <a:r>
              <a:rPr lang="zh-CN" altLang="en-US" b="1" dirty="0">
                <a:ea typeface="楷体" pitchFamily="49" charset="-122"/>
              </a:rPr>
              <a:t>    （</a:t>
            </a:r>
            <a:r>
              <a:rPr lang="en-US" altLang="zh-CN" b="1" dirty="0">
                <a:ea typeface="楷体" pitchFamily="49" charset="-122"/>
              </a:rPr>
              <a:t>2</a:t>
            </a:r>
            <a:r>
              <a:rPr lang="zh-CN" altLang="en-US" b="1" dirty="0">
                <a:ea typeface="楷体" pitchFamily="49" charset="-122"/>
              </a:rPr>
              <a:t>）首先将是否闰年的标志</a:t>
            </a:r>
            <a:r>
              <a:rPr lang="en-US" altLang="zh-CN" b="1" dirty="0">
                <a:ea typeface="楷体" pitchFamily="49" charset="-122"/>
              </a:rPr>
              <a:t>leap</a:t>
            </a:r>
            <a:r>
              <a:rPr lang="zh-CN" altLang="en-US" b="1" dirty="0">
                <a:ea typeface="楷体" pitchFamily="49" charset="-122"/>
              </a:rPr>
              <a:t>预置为</a:t>
            </a:r>
            <a:r>
              <a:rPr lang="en-US" altLang="zh-CN" b="1" dirty="0">
                <a:ea typeface="楷体" pitchFamily="49" charset="-122"/>
              </a:rPr>
              <a:t>0</a:t>
            </a:r>
            <a:r>
              <a:rPr lang="zh-CN" altLang="en-US" b="1" dirty="0">
                <a:ea typeface="楷体" pitchFamily="49" charset="-122"/>
              </a:rPr>
              <a:t>（非闰年），这样仅当</a:t>
            </a:r>
            <a:r>
              <a:rPr lang="en-US" altLang="zh-CN" b="1" dirty="0">
                <a:ea typeface="楷体" pitchFamily="49" charset="-122"/>
              </a:rPr>
              <a:t>year</a:t>
            </a:r>
            <a:r>
              <a:rPr lang="zh-CN" altLang="en-US" b="1" dirty="0">
                <a:ea typeface="楷体" pitchFamily="49" charset="-122"/>
              </a:rPr>
              <a:t>为闰年时，将</a:t>
            </a:r>
            <a:r>
              <a:rPr lang="en-US" altLang="zh-CN" b="1" dirty="0">
                <a:ea typeface="楷体" pitchFamily="49" charset="-122"/>
              </a:rPr>
              <a:t>leap</a:t>
            </a:r>
            <a:r>
              <a:rPr lang="zh-CN" altLang="en-US" b="1" dirty="0">
                <a:ea typeface="楷体" pitchFamily="49" charset="-122"/>
              </a:rPr>
              <a:t>置为</a:t>
            </a:r>
            <a:r>
              <a:rPr lang="en-US" altLang="zh-CN" b="1" dirty="0">
                <a:ea typeface="楷体" pitchFamily="49" charset="-122"/>
              </a:rPr>
              <a:t>1</a:t>
            </a:r>
            <a:r>
              <a:rPr lang="zh-CN" altLang="en-US" b="1" dirty="0">
                <a:ea typeface="楷体" pitchFamily="49" charset="-122"/>
              </a:rPr>
              <a:t>即可。最后判断</a:t>
            </a:r>
            <a:r>
              <a:rPr lang="en-US" b="1" dirty="0">
                <a:ea typeface="楷体" pitchFamily="49" charset="-122"/>
              </a:rPr>
              <a:t>leap</a:t>
            </a:r>
            <a:r>
              <a:rPr lang="zh-CN" altLang="en-US" b="1" dirty="0">
                <a:ea typeface="楷体" pitchFamily="49" charset="-122"/>
              </a:rPr>
              <a:t>是否为</a:t>
            </a:r>
            <a:r>
              <a:rPr lang="en-US" b="1" dirty="0">
                <a:ea typeface="楷体" pitchFamily="49" charset="-122"/>
              </a:rPr>
              <a:t>1</a:t>
            </a:r>
            <a:r>
              <a:rPr lang="zh-CN" altLang="en-US" b="1" dirty="0">
                <a:ea typeface="楷体" pitchFamily="49" charset="-122"/>
              </a:rPr>
              <a:t>，若是，则输出“闰年”信息。这种处理两种状态值的方法，对优化算法和提高程序可读性非常有效，请读者仔细体会。</a:t>
            </a:r>
          </a:p>
        </p:txBody>
      </p:sp>
      <p:grpSp>
        <p:nvGrpSpPr>
          <p:cNvPr id="482306" name="组合 458"/>
          <p:cNvGrpSpPr>
            <a:grpSpLocks/>
          </p:cNvGrpSpPr>
          <p:nvPr/>
        </p:nvGrpSpPr>
        <p:grpSpPr bwMode="auto">
          <a:xfrm>
            <a:off x="3215680" y="3453534"/>
            <a:ext cx="5477027" cy="3071810"/>
            <a:chOff x="0" y="-1986"/>
            <a:chExt cx="28291" cy="19621"/>
          </a:xfrm>
        </p:grpSpPr>
        <p:grpSp>
          <p:nvGrpSpPr>
            <p:cNvPr id="456" name="组合 456"/>
            <p:cNvGrpSpPr>
              <a:grpSpLocks/>
            </p:cNvGrpSpPr>
            <p:nvPr/>
          </p:nvGrpSpPr>
          <p:grpSpPr bwMode="auto">
            <a:xfrm>
              <a:off x="0" y="456"/>
              <a:ext cx="28291" cy="17179"/>
              <a:chOff x="0" y="456"/>
              <a:chExt cx="28291" cy="17179"/>
            </a:xfrm>
          </p:grpSpPr>
          <p:grpSp>
            <p:nvGrpSpPr>
              <p:cNvPr id="455" name="组合 455"/>
              <p:cNvGrpSpPr>
                <a:grpSpLocks/>
              </p:cNvGrpSpPr>
              <p:nvPr/>
            </p:nvGrpSpPr>
            <p:grpSpPr bwMode="auto">
              <a:xfrm>
                <a:off x="0" y="456"/>
                <a:ext cx="28291" cy="17179"/>
                <a:chOff x="0" y="456"/>
                <a:chExt cx="28291" cy="17179"/>
              </a:xfrm>
            </p:grpSpPr>
            <p:grpSp>
              <p:nvGrpSpPr>
                <p:cNvPr id="454" name="组合 454"/>
                <p:cNvGrpSpPr>
                  <a:grpSpLocks/>
                </p:cNvGrpSpPr>
                <p:nvPr/>
              </p:nvGrpSpPr>
              <p:grpSpPr bwMode="auto">
                <a:xfrm>
                  <a:off x="0" y="456"/>
                  <a:ext cx="28291" cy="17179"/>
                  <a:chOff x="0" y="456"/>
                  <a:chExt cx="28291" cy="17179"/>
                </a:xfrm>
              </p:grpSpPr>
              <p:grpSp>
                <p:nvGrpSpPr>
                  <p:cNvPr id="452" name="组合 452"/>
                  <p:cNvGrpSpPr>
                    <a:grpSpLocks/>
                  </p:cNvGrpSpPr>
                  <p:nvPr/>
                </p:nvGrpSpPr>
                <p:grpSpPr bwMode="auto">
                  <a:xfrm>
                    <a:off x="0" y="490"/>
                    <a:ext cx="28291" cy="16351"/>
                    <a:chOff x="0" y="0"/>
                    <a:chExt cx="28291" cy="16351"/>
                  </a:xfrm>
                </p:grpSpPr>
                <p:sp>
                  <p:nvSpPr>
                    <p:cNvPr id="240" name="流程图: 过程 240"/>
                    <p:cNvSpPr>
                      <a:spLocks noChangeArrowheads="1"/>
                    </p:cNvSpPr>
                    <p:nvPr/>
                  </p:nvSpPr>
                  <p:spPr bwMode="auto">
                    <a:xfrm>
                      <a:off x="92" y="0"/>
                      <a:ext cx="28190" cy="2051"/>
                    </a:xfrm>
                    <a:prstGeom prst="flowChartProcess">
                      <a:avLst/>
                    </a:prstGeom>
                    <a:gradFill flip="none" rotWithShape="1">
                      <a:gsLst>
                        <a:gs pos="0">
                          <a:srgbClr val="BD6368"/>
                        </a:gs>
                        <a:gs pos="100000">
                          <a:srgbClr val="FF66FF">
                            <a:tint val="23500"/>
                            <a:satMod val="160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3" name="流程图: 过程 413"/>
                    <p:cNvSpPr>
                      <a:spLocks noChangeArrowheads="1"/>
                    </p:cNvSpPr>
                    <p:nvPr/>
                  </p:nvSpPr>
                  <p:spPr bwMode="auto">
                    <a:xfrm>
                      <a:off x="92" y="2055"/>
                      <a:ext cx="28199" cy="2055"/>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4" name="流程图: 过程 414"/>
                    <p:cNvSpPr>
                      <a:spLocks noChangeArrowheads="1"/>
                    </p:cNvSpPr>
                    <p:nvPr/>
                  </p:nvSpPr>
                  <p:spPr bwMode="auto">
                    <a:xfrm>
                      <a:off x="92" y="4111"/>
                      <a:ext cx="21755"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15" name="直接连接符 415"/>
                    <p:cNvSpPr>
                      <a:spLocks noChangeShapeType="1"/>
                    </p:cNvSpPr>
                    <p:nvPr/>
                  </p:nvSpPr>
                  <p:spPr bwMode="auto">
                    <a:xfrm flipH="1">
                      <a:off x="14943" y="2055"/>
                      <a:ext cx="13332" cy="4107"/>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7" name="直接连接符 417"/>
                    <p:cNvSpPr>
                      <a:spLocks noChangeShapeType="1"/>
                    </p:cNvSpPr>
                    <p:nvPr/>
                  </p:nvSpPr>
                  <p:spPr bwMode="auto">
                    <a:xfrm>
                      <a:off x="92" y="2055"/>
                      <a:ext cx="22154" cy="2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8" name="直接连接符 418"/>
                    <p:cNvSpPr>
                      <a:spLocks noChangeShapeType="1"/>
                    </p:cNvSpPr>
                    <p:nvPr/>
                  </p:nvSpPr>
                  <p:spPr bwMode="auto">
                    <a:xfrm>
                      <a:off x="92" y="4111"/>
                      <a:ext cx="15035" cy="204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23" name="流程图: 过程 423"/>
                    <p:cNvSpPr>
                      <a:spLocks noChangeArrowheads="1"/>
                    </p:cNvSpPr>
                    <p:nvPr/>
                  </p:nvSpPr>
                  <p:spPr bwMode="auto">
                    <a:xfrm>
                      <a:off x="92" y="6136"/>
                      <a:ext cx="14851"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25" name="流程图: 过程 425"/>
                    <p:cNvSpPr>
                      <a:spLocks noChangeArrowheads="1"/>
                    </p:cNvSpPr>
                    <p:nvPr/>
                  </p:nvSpPr>
                  <p:spPr bwMode="auto">
                    <a:xfrm>
                      <a:off x="14943" y="6136"/>
                      <a:ext cx="6904"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26" name="流程图: 过程 426"/>
                    <p:cNvSpPr>
                      <a:spLocks noChangeArrowheads="1"/>
                    </p:cNvSpPr>
                    <p:nvPr/>
                  </p:nvSpPr>
                  <p:spPr bwMode="auto">
                    <a:xfrm>
                      <a:off x="21816" y="4111"/>
                      <a:ext cx="6470" cy="4076"/>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31" name="流程图: 过程 431"/>
                    <p:cNvSpPr>
                      <a:spLocks noChangeArrowheads="1"/>
                    </p:cNvSpPr>
                    <p:nvPr/>
                  </p:nvSpPr>
                  <p:spPr bwMode="auto">
                    <a:xfrm>
                      <a:off x="92" y="8192"/>
                      <a:ext cx="28199" cy="2055"/>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33" name="直接连接符 433"/>
                    <p:cNvSpPr>
                      <a:spLocks noChangeShapeType="1"/>
                    </p:cNvSpPr>
                    <p:nvPr/>
                  </p:nvSpPr>
                  <p:spPr bwMode="auto">
                    <a:xfrm flipH="1">
                      <a:off x="21847" y="8223"/>
                      <a:ext cx="6425" cy="2025"/>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4" name="直接连接符 434"/>
                    <p:cNvSpPr>
                      <a:spLocks noChangeShapeType="1"/>
                    </p:cNvSpPr>
                    <p:nvPr/>
                  </p:nvSpPr>
                  <p:spPr bwMode="auto">
                    <a:xfrm>
                      <a:off x="0" y="8192"/>
                      <a:ext cx="22154" cy="2056"/>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8" name="流程图: 过程 438"/>
                    <p:cNvSpPr>
                      <a:spLocks noChangeArrowheads="1"/>
                    </p:cNvSpPr>
                    <p:nvPr/>
                  </p:nvSpPr>
                  <p:spPr bwMode="auto">
                    <a:xfrm>
                      <a:off x="92" y="10248"/>
                      <a:ext cx="21755"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0" name="流程图: 过程 440"/>
                    <p:cNvSpPr>
                      <a:spLocks noChangeArrowheads="1"/>
                    </p:cNvSpPr>
                    <p:nvPr/>
                  </p:nvSpPr>
                  <p:spPr bwMode="auto">
                    <a:xfrm>
                      <a:off x="21816" y="10248"/>
                      <a:ext cx="6470" cy="2051"/>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1" name="流程图: 过程 441"/>
                    <p:cNvSpPr>
                      <a:spLocks noChangeArrowheads="1"/>
                    </p:cNvSpPr>
                    <p:nvPr/>
                  </p:nvSpPr>
                  <p:spPr bwMode="auto">
                    <a:xfrm>
                      <a:off x="92" y="12243"/>
                      <a:ext cx="28199" cy="2054"/>
                    </a:xfrm>
                    <a:prstGeom prst="flowChartProcess">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2" name="流程图: 过程 442"/>
                    <p:cNvSpPr>
                      <a:spLocks noChangeArrowheads="1"/>
                    </p:cNvSpPr>
                    <p:nvPr/>
                  </p:nvSpPr>
                  <p:spPr bwMode="auto">
                    <a:xfrm>
                      <a:off x="92" y="14299"/>
                      <a:ext cx="14076" cy="2052"/>
                    </a:xfrm>
                    <a:prstGeom prst="flowChartProcess">
                      <a:avLst/>
                    </a:prstGeom>
                    <a:gradFill flip="none" rotWithShape="1">
                      <a:gsLst>
                        <a:gs pos="0">
                          <a:srgbClr val="BEDFC4"/>
                        </a:gs>
                        <a:gs pos="100000">
                          <a:schemeClr val="accent1">
                            <a:lumMod val="60000"/>
                            <a:lumOff val="40000"/>
                            <a:tint val="23500"/>
                            <a:satMod val="160000"/>
                          </a:scheme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3" name="流程图: 过程 443"/>
                    <p:cNvSpPr>
                      <a:spLocks noChangeArrowheads="1"/>
                    </p:cNvSpPr>
                    <p:nvPr/>
                  </p:nvSpPr>
                  <p:spPr bwMode="auto">
                    <a:xfrm>
                      <a:off x="14176" y="14299"/>
                      <a:ext cx="14110" cy="2052"/>
                    </a:xfrm>
                    <a:prstGeom prst="flowChartProcess">
                      <a:avLst/>
                    </a:prstGeom>
                    <a:gradFill flip="none" rotWithShape="1">
                      <a:gsLst>
                        <a:gs pos="0">
                          <a:srgbClr val="F0E5B7"/>
                        </a:gs>
                        <a:gs pos="100000">
                          <a:srgbClr val="FFFFCD">
                            <a:shade val="100000"/>
                            <a:satMod val="115000"/>
                          </a:srgbClr>
                        </a:gs>
                      </a:gsLst>
                      <a:lin ang="13500000" scaled="1"/>
                      <a:tileRect/>
                    </a:gra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444" name="直接连接符 444"/>
                    <p:cNvSpPr>
                      <a:spLocks noChangeShapeType="1"/>
                    </p:cNvSpPr>
                    <p:nvPr/>
                  </p:nvSpPr>
                  <p:spPr bwMode="auto">
                    <a:xfrm>
                      <a:off x="61" y="12243"/>
                      <a:ext cx="14164" cy="205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45" name="直接连接符 445"/>
                    <p:cNvSpPr>
                      <a:spLocks noChangeShapeType="1"/>
                    </p:cNvSpPr>
                    <p:nvPr/>
                  </p:nvSpPr>
                  <p:spPr bwMode="auto">
                    <a:xfrm flipH="1">
                      <a:off x="14206" y="12243"/>
                      <a:ext cx="14065" cy="2051"/>
                    </a:xfrm>
                    <a:prstGeom prst="line">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420" name="文本框 2"/>
                  <p:cNvSpPr txBox="1">
                    <a:spLocks noChangeArrowheads="1"/>
                  </p:cNvSpPr>
                  <p:nvPr/>
                </p:nvSpPr>
                <p:spPr bwMode="auto">
                  <a:xfrm>
                    <a:off x="9283" y="4150"/>
                    <a:ext cx="8775" cy="179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100</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sp>
                <p:nvSpPr>
                  <p:cNvPr id="424" name="文本框 2"/>
                  <p:cNvSpPr txBox="1">
                    <a:spLocks noChangeArrowheads="1"/>
                  </p:cNvSpPr>
                  <p:nvPr/>
                </p:nvSpPr>
                <p:spPr bwMode="auto">
                  <a:xfrm>
                    <a:off x="4783" y="6514"/>
                    <a:ext cx="5624" cy="174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cs typeface="宋体" pitchFamily="2" charset="-122"/>
                      </a:rPr>
                      <a:t>leap = 1</a:t>
                    </a:r>
                    <a:endParaRPr kumimoji="0" lang="zh-CN" altLang="zh-CN" sz="1400" b="1" dirty="0">
                      <a:effectLst>
                        <a:outerShdw blurRad="38100" dist="38100" dir="2700000" algn="tl">
                          <a:srgbClr val="000000">
                            <a:alpha val="43137"/>
                          </a:srgbClr>
                        </a:outerShdw>
                      </a:effectLst>
                      <a:latin typeface="+mn-lt"/>
                      <a:cs typeface="宋体" pitchFamily="2" charset="-122"/>
                    </a:endParaRPr>
                  </a:p>
                </p:txBody>
              </p:sp>
              <p:sp>
                <p:nvSpPr>
                  <p:cNvPr id="435" name="文本框 2"/>
                  <p:cNvSpPr txBox="1">
                    <a:spLocks noChangeArrowheads="1"/>
                  </p:cNvSpPr>
                  <p:nvPr/>
                </p:nvSpPr>
                <p:spPr bwMode="auto">
                  <a:xfrm>
                    <a:off x="15697" y="8364"/>
                    <a:ext cx="8443" cy="215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400</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sp>
                <p:nvSpPr>
                  <p:cNvPr id="439" name="文本框 2"/>
                  <p:cNvSpPr txBox="1">
                    <a:spLocks noChangeArrowheads="1"/>
                  </p:cNvSpPr>
                  <p:nvPr/>
                </p:nvSpPr>
                <p:spPr bwMode="auto">
                  <a:xfrm>
                    <a:off x="8070" y="10626"/>
                    <a:ext cx="5891" cy="225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cs typeface="宋体" pitchFamily="2" charset="-122"/>
                      </a:rPr>
                      <a:t>leap = 1</a:t>
                    </a:r>
                    <a:endParaRPr kumimoji="0" lang="zh-CN" altLang="zh-CN" sz="1400" b="1" dirty="0">
                      <a:effectLst>
                        <a:outerShdw blurRad="38100" dist="38100" dir="2700000" algn="tl">
                          <a:srgbClr val="000000">
                            <a:alpha val="43137"/>
                          </a:srgbClr>
                        </a:outerShdw>
                      </a:effectLst>
                      <a:latin typeface="+mn-lt"/>
                      <a:cs typeface="宋体" pitchFamily="2" charset="-122"/>
                    </a:endParaRPr>
                  </a:p>
                </p:txBody>
              </p:sp>
              <p:sp>
                <p:nvSpPr>
                  <p:cNvPr id="446" name="文本框 2"/>
                  <p:cNvSpPr txBox="1">
                    <a:spLocks noChangeArrowheads="1"/>
                  </p:cNvSpPr>
                  <p:nvPr/>
                </p:nvSpPr>
                <p:spPr bwMode="auto">
                  <a:xfrm>
                    <a:off x="12304" y="12570"/>
                    <a:ext cx="4204" cy="2814"/>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cs typeface="宋体" pitchFamily="2" charset="-122"/>
                      </a:rPr>
                      <a:t>leap</a:t>
                    </a:r>
                    <a:endParaRPr kumimoji="0" lang="zh-CN" altLang="zh-CN" sz="1400" b="1" dirty="0">
                      <a:solidFill>
                        <a:srgbClr val="C00000"/>
                      </a:solidFill>
                      <a:effectLst>
                        <a:outerShdw blurRad="38100" dist="38100" dir="2700000" algn="tl">
                          <a:srgbClr val="000000">
                            <a:alpha val="43137"/>
                          </a:srgbClr>
                        </a:outerShdw>
                      </a:effectLst>
                      <a:latin typeface="+mn-lt"/>
                      <a:cs typeface="宋体" pitchFamily="2" charset="-122"/>
                    </a:endParaRPr>
                  </a:p>
                </p:txBody>
              </p:sp>
              <p:sp>
                <p:nvSpPr>
                  <p:cNvPr id="449" name="文本框 2"/>
                  <p:cNvSpPr txBox="1">
                    <a:spLocks noChangeArrowheads="1"/>
                  </p:cNvSpPr>
                  <p:nvPr/>
                </p:nvSpPr>
                <p:spPr bwMode="auto">
                  <a:xfrm>
                    <a:off x="3099" y="14822"/>
                    <a:ext cx="7794" cy="281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400" b="1">
                        <a:effectLst>
                          <a:outerShdw blurRad="38100" dist="38100" dir="2700000" algn="tl">
                            <a:srgbClr val="000000">
                              <a:alpha val="43137"/>
                            </a:srgbClr>
                          </a:outerShdw>
                        </a:effectLst>
                        <a:latin typeface="+mn-lt"/>
                        <a:ea typeface="楷体" pitchFamily="49" charset="-122"/>
                        <a:cs typeface="宋体" pitchFamily="2" charset="-122"/>
                      </a:rPr>
                      <a:t>输出“闰年”</a:t>
                    </a:r>
                  </a:p>
                </p:txBody>
              </p:sp>
              <p:sp>
                <p:nvSpPr>
                  <p:cNvPr id="450" name="文本框 2"/>
                  <p:cNvSpPr txBox="1">
                    <a:spLocks noChangeArrowheads="1"/>
                  </p:cNvSpPr>
                  <p:nvPr/>
                </p:nvSpPr>
                <p:spPr bwMode="auto">
                  <a:xfrm>
                    <a:off x="17275" y="14822"/>
                    <a:ext cx="9205" cy="281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输出“非闰年”</a:t>
                    </a:r>
                  </a:p>
                </p:txBody>
              </p:sp>
              <p:sp>
                <p:nvSpPr>
                  <p:cNvPr id="390" name="文本框 2"/>
                  <p:cNvSpPr txBox="1">
                    <a:spLocks noChangeArrowheads="1"/>
                  </p:cNvSpPr>
                  <p:nvPr/>
                </p:nvSpPr>
                <p:spPr bwMode="auto">
                  <a:xfrm>
                    <a:off x="8337" y="456"/>
                    <a:ext cx="11476" cy="182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leap = 0, </a:t>
                    </a:r>
                    <a:r>
                      <a:rPr kumimoji="0" lang="zh-CN" altLang="en-US" sz="1400" b="1" dirty="0">
                        <a:effectLst>
                          <a:outerShdw blurRad="38100" dist="38100" dir="2700000" algn="tl">
                            <a:srgbClr val="000000">
                              <a:alpha val="43137"/>
                            </a:srgbClr>
                          </a:outerShdw>
                        </a:effectLst>
                        <a:latin typeface="+mn-lt"/>
                        <a:ea typeface="楷体" pitchFamily="49" charset="-122"/>
                        <a:cs typeface="宋体" pitchFamily="2" charset="-122"/>
                      </a:rPr>
                      <a:t>输入</a:t>
                    </a:r>
                    <a:r>
                      <a:rPr kumimoji="0" lang="en-US" altLang="zh-CN" sz="1400" b="1" dirty="0">
                        <a:effectLst>
                          <a:outerShdw blurRad="38100" dist="38100" dir="2700000" algn="tl">
                            <a:srgbClr val="000000">
                              <a:alpha val="43137"/>
                            </a:srgbClr>
                          </a:outerShdw>
                        </a:effectLst>
                        <a:latin typeface="+mn-lt"/>
                        <a:ea typeface="楷体" pitchFamily="49" charset="-122"/>
                        <a:cs typeface="宋体" pitchFamily="2" charset="-122"/>
                      </a:rPr>
                      <a:t>year</a:t>
                    </a:r>
                    <a:endParaRPr kumimoji="0" lang="zh-CN" altLang="zh-CN" sz="1400" b="1" dirty="0">
                      <a:effectLst>
                        <a:outerShdw blurRad="38100" dist="38100" dir="2700000" algn="tl">
                          <a:srgbClr val="000000">
                            <a:alpha val="43137"/>
                          </a:srgbClr>
                        </a:outerShdw>
                      </a:effectLst>
                      <a:latin typeface="+mn-lt"/>
                      <a:ea typeface="楷体" pitchFamily="49" charset="-122"/>
                      <a:cs typeface="宋体" pitchFamily="2" charset="-122"/>
                    </a:endParaRPr>
                  </a:p>
                </p:txBody>
              </p:sp>
              <p:sp>
                <p:nvSpPr>
                  <p:cNvPr id="419" name="文本框 2"/>
                  <p:cNvSpPr txBox="1">
                    <a:spLocks noChangeArrowheads="1"/>
                  </p:cNvSpPr>
                  <p:nvPr/>
                </p:nvSpPr>
                <p:spPr bwMode="auto">
                  <a:xfrm>
                    <a:off x="16267" y="2205"/>
                    <a:ext cx="9236" cy="1901"/>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year</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被</a:t>
                    </a:r>
                    <a:r>
                      <a:rPr kumimoji="0" lang="en-US" altLang="zh-CN"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4</a:t>
                    </a:r>
                    <a:r>
                      <a:rPr kumimoji="0" lang="zh-CN" altLang="en-US" sz="1400" b="1" dirty="0">
                        <a:solidFill>
                          <a:srgbClr val="C00000"/>
                        </a:solidFill>
                        <a:effectLst>
                          <a:outerShdw blurRad="38100" dist="38100" dir="2700000" algn="tl">
                            <a:srgbClr val="000000">
                              <a:alpha val="43137"/>
                            </a:srgbClr>
                          </a:outerShdw>
                        </a:effectLst>
                        <a:latin typeface="+mn-lt"/>
                        <a:ea typeface="楷体" pitchFamily="49" charset="-122"/>
                        <a:cs typeface="宋体" pitchFamily="2" charset="-122"/>
                      </a:rPr>
                      <a:t>整除</a:t>
                    </a:r>
                  </a:p>
                </p:txBody>
              </p:sp>
            </p:grpSp>
            <p:grpSp>
              <p:nvGrpSpPr>
                <p:cNvPr id="453" name="组合 453"/>
                <p:cNvGrpSpPr>
                  <a:grpSpLocks/>
                </p:cNvGrpSpPr>
                <p:nvPr/>
              </p:nvGrpSpPr>
              <p:grpSpPr bwMode="auto">
                <a:xfrm>
                  <a:off x="2634" y="2803"/>
                  <a:ext cx="25266" cy="12342"/>
                  <a:chOff x="640" y="564"/>
                  <a:chExt cx="25265" cy="12341"/>
                </a:xfrm>
              </p:grpSpPr>
              <p:sp>
                <p:nvSpPr>
                  <p:cNvPr id="421" name="文本框 2"/>
                  <p:cNvSpPr txBox="1">
                    <a:spLocks noChangeArrowheads="1"/>
                  </p:cNvSpPr>
                  <p:nvPr/>
                </p:nvSpPr>
                <p:spPr bwMode="auto">
                  <a:xfrm>
                    <a:off x="640" y="10822"/>
                    <a:ext cx="2083" cy="208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22" name="文本框 2"/>
                  <p:cNvSpPr txBox="1">
                    <a:spLocks noChangeArrowheads="1"/>
                  </p:cNvSpPr>
                  <p:nvPr/>
                </p:nvSpPr>
                <p:spPr bwMode="auto">
                  <a:xfrm>
                    <a:off x="1799" y="564"/>
                    <a:ext cx="1595" cy="1868"/>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27" name="文本框 2"/>
                  <p:cNvSpPr txBox="1">
                    <a:spLocks noChangeArrowheads="1"/>
                  </p:cNvSpPr>
                  <p:nvPr/>
                </p:nvSpPr>
                <p:spPr bwMode="auto">
                  <a:xfrm>
                    <a:off x="22599" y="10687"/>
                    <a:ext cx="1761" cy="1719"/>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28" name="文本框 2"/>
                  <p:cNvSpPr txBox="1">
                    <a:spLocks noChangeArrowheads="1"/>
                  </p:cNvSpPr>
                  <p:nvPr/>
                </p:nvSpPr>
                <p:spPr bwMode="auto">
                  <a:xfrm>
                    <a:off x="23727" y="578"/>
                    <a:ext cx="2178" cy="1746"/>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36" name="文本框 2"/>
                  <p:cNvSpPr txBox="1">
                    <a:spLocks noChangeArrowheads="1"/>
                  </p:cNvSpPr>
                  <p:nvPr/>
                </p:nvSpPr>
                <p:spPr bwMode="auto">
                  <a:xfrm>
                    <a:off x="23102" y="6785"/>
                    <a:ext cx="1910" cy="205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sp>
                <p:nvSpPr>
                  <p:cNvPr id="437" name="文本框 2"/>
                  <p:cNvSpPr txBox="1">
                    <a:spLocks noChangeArrowheads="1"/>
                  </p:cNvSpPr>
                  <p:nvPr/>
                </p:nvSpPr>
                <p:spPr bwMode="auto">
                  <a:xfrm>
                    <a:off x="1369" y="6562"/>
                    <a:ext cx="1656" cy="1693"/>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006600"/>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006600"/>
                      </a:solidFill>
                      <a:effectLst>
                        <a:outerShdw blurRad="38100" dist="38100" dir="2700000" algn="tl">
                          <a:srgbClr val="000000">
                            <a:alpha val="43137"/>
                          </a:srgbClr>
                        </a:outerShdw>
                      </a:effectLst>
                      <a:latin typeface="+mn-lt"/>
                      <a:cs typeface="宋体" pitchFamily="2" charset="-122"/>
                    </a:endParaRPr>
                  </a:p>
                </p:txBody>
              </p:sp>
              <p:sp>
                <p:nvSpPr>
                  <p:cNvPr id="448" name="文本框 2"/>
                  <p:cNvSpPr txBox="1">
                    <a:spLocks noChangeArrowheads="1"/>
                  </p:cNvSpPr>
                  <p:nvPr/>
                </p:nvSpPr>
                <p:spPr bwMode="auto">
                  <a:xfrm>
                    <a:off x="16583" y="2737"/>
                    <a:ext cx="2178" cy="2002"/>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339933"/>
                        </a:solidFill>
                        <a:effectLst>
                          <a:outerShdw blurRad="38100" dist="38100" dir="2700000" algn="tl">
                            <a:srgbClr val="000000">
                              <a:alpha val="43137"/>
                            </a:srgbClr>
                          </a:outerShdw>
                        </a:effectLst>
                        <a:latin typeface="+mn-lt"/>
                        <a:cs typeface="宋体" pitchFamily="2" charset="-122"/>
                      </a:rPr>
                      <a:t>T</a:t>
                    </a:r>
                    <a:endParaRPr kumimoji="0" lang="zh-CN" altLang="zh-CN" sz="1400" b="1" dirty="0">
                      <a:solidFill>
                        <a:srgbClr val="339933"/>
                      </a:solidFill>
                      <a:effectLst>
                        <a:outerShdw blurRad="38100" dist="38100" dir="2700000" algn="tl">
                          <a:srgbClr val="000000">
                            <a:alpha val="43137"/>
                          </a:srgbClr>
                        </a:outerShdw>
                      </a:effectLst>
                      <a:latin typeface="+mn-lt"/>
                      <a:cs typeface="宋体" pitchFamily="2" charset="-122"/>
                    </a:endParaRPr>
                  </a:p>
                </p:txBody>
              </p:sp>
            </p:grpSp>
          </p:grpSp>
          <p:sp>
            <p:nvSpPr>
              <p:cNvPr id="447" name="文本框 2"/>
              <p:cNvSpPr txBox="1">
                <a:spLocks noChangeArrowheads="1"/>
              </p:cNvSpPr>
              <p:nvPr/>
            </p:nvSpPr>
            <p:spPr bwMode="auto">
              <a:xfrm>
                <a:off x="2907" y="4813"/>
                <a:ext cx="1656" cy="157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400" b="1" dirty="0">
                    <a:solidFill>
                      <a:srgbClr val="7030A0"/>
                    </a:solidFill>
                    <a:effectLst>
                      <a:outerShdw blurRad="38100" dist="38100" dir="2700000" algn="tl">
                        <a:srgbClr val="000000">
                          <a:alpha val="43137"/>
                        </a:srgbClr>
                      </a:outerShdw>
                    </a:effectLst>
                    <a:latin typeface="+mn-lt"/>
                    <a:cs typeface="宋体" pitchFamily="2" charset="-122"/>
                  </a:rPr>
                  <a:t>F</a:t>
                </a:r>
                <a:endParaRPr kumimoji="0" lang="zh-CN" altLang="zh-CN" sz="1400" b="1" dirty="0">
                  <a:solidFill>
                    <a:srgbClr val="7030A0"/>
                  </a:solidFill>
                  <a:effectLst>
                    <a:outerShdw blurRad="38100" dist="38100" dir="2700000" algn="tl">
                      <a:srgbClr val="000000">
                        <a:alpha val="43137"/>
                      </a:srgbClr>
                    </a:outerShdw>
                  </a:effectLst>
                  <a:latin typeface="+mn-lt"/>
                  <a:cs typeface="宋体" pitchFamily="2" charset="-122"/>
                </a:endParaRPr>
              </a:p>
            </p:txBody>
          </p:sp>
        </p:grpSp>
        <p:sp>
          <p:nvSpPr>
            <p:cNvPr id="457" name="文本框 2"/>
            <p:cNvSpPr txBox="1">
              <a:spLocks noChangeArrowheads="1"/>
            </p:cNvSpPr>
            <p:nvPr/>
          </p:nvSpPr>
          <p:spPr bwMode="auto">
            <a:xfrm>
              <a:off x="7182" y="-1986"/>
              <a:ext cx="19621" cy="2807"/>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solidFill>
                    <a:srgbClr val="C01920"/>
                  </a:solidFill>
                  <a:latin typeface="+mn-lt"/>
                  <a:ea typeface="隶书" pitchFamily="49" charset="-122"/>
                  <a:cs typeface="宋体" pitchFamily="2" charset="-122"/>
                </a:rPr>
                <a:t>判别闰年算法</a:t>
              </a:r>
              <a:r>
                <a:rPr kumimoji="0" lang="en-US" altLang="zh-CN" sz="2000" b="1" dirty="0">
                  <a:solidFill>
                    <a:srgbClr val="C01920"/>
                  </a:solidFill>
                  <a:latin typeface="+mn-lt"/>
                  <a:ea typeface="隶书" pitchFamily="49" charset="-122"/>
                  <a:cs typeface="宋体" pitchFamily="2" charset="-122"/>
                </a:rPr>
                <a:t>N-S</a:t>
              </a:r>
              <a:r>
                <a:rPr kumimoji="0" lang="zh-CN" altLang="en-US" sz="2000" b="1" dirty="0">
                  <a:solidFill>
                    <a:srgbClr val="C01920"/>
                  </a:solidFill>
                  <a:latin typeface="+mn-lt"/>
                  <a:ea typeface="隶书" pitchFamily="49" charset="-122"/>
                  <a:cs typeface="宋体" pitchFamily="2" charset="-122"/>
                </a:rPr>
                <a:t>流程图</a:t>
              </a:r>
            </a:p>
          </p:txBody>
        </p:sp>
      </p:grpSp>
      <p:sp>
        <p:nvSpPr>
          <p:cNvPr id="51" name="Rectangle 4">
            <a:extLst>
              <a:ext uri="{FF2B5EF4-FFF2-40B4-BE49-F238E27FC236}">
                <a16:creationId xmlns:a16="http://schemas.microsoft.com/office/drawing/2014/main" id="{8BA33AD6-73F0-4F2A-B27D-BF564AAEF49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0912"/>
                                        </p:tgtEl>
                                        <p:attrNameLst>
                                          <p:attrName>style.visibility</p:attrName>
                                        </p:attrNameLst>
                                      </p:cBhvr>
                                      <p:to>
                                        <p:strVal val="visible"/>
                                      </p:to>
                                    </p:set>
                                    <p:animEffect transition="in" filter="box(out)">
                                      <p:cBhvr>
                                        <p:cTn id="7" dur="500"/>
                                        <p:tgtEl>
                                          <p:spTgt spid="89091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82306"/>
                                        </p:tgtEl>
                                        <p:attrNameLst>
                                          <p:attrName>style.visibility</p:attrName>
                                        </p:attrNameLst>
                                      </p:cBhvr>
                                      <p:to>
                                        <p:strVal val="visible"/>
                                      </p:to>
                                    </p:set>
                                    <p:animEffect transition="in" filter="strips(downRight)">
                                      <p:cBhvr>
                                        <p:cTn id="12" dur="500"/>
                                        <p:tgtEl>
                                          <p:spTgt spid="48230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
            <a:extLst>
              <a:ext uri="{FF2B5EF4-FFF2-40B4-BE49-F238E27FC236}">
                <a16:creationId xmlns:a16="http://schemas.microsoft.com/office/drawing/2014/main" id="{6BEAF960-AB1A-44B4-B9A7-04D17646A36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
        <p:nvSpPr>
          <p:cNvPr id="892930" name="Rectangle 2"/>
          <p:cNvSpPr>
            <a:spLocks noChangeArrowheads="1"/>
          </p:cNvSpPr>
          <p:nvPr/>
        </p:nvSpPr>
        <p:spPr bwMode="auto">
          <a:xfrm>
            <a:off x="1058008" y="6982594"/>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2934" name="Text Box 6" descr="信纸"/>
          <p:cNvSpPr txBox="1">
            <a:spLocks noChangeArrowheads="1"/>
          </p:cNvSpPr>
          <p:nvPr/>
        </p:nvSpPr>
        <p:spPr bwMode="auto">
          <a:xfrm>
            <a:off x="417063" y="567301"/>
            <a:ext cx="7424738" cy="6250045"/>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a typeface="楷体_GB2312" pitchFamily="49" charset="-122"/>
              </a:rPr>
              <a:t>  #include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year, leap = 0;	                    </a:t>
            </a:r>
            <a:r>
              <a:rPr lang="en-US" altLang="zh-CN" sz="1800" b="1" dirty="0">
                <a:solidFill>
                  <a:srgbClr val="002060"/>
                </a:solidFill>
                <a:latin typeface="+mn-lt"/>
                <a:ea typeface="楷体" pitchFamily="49" charset="-122"/>
              </a:rPr>
              <a:t>//leap=0</a:t>
            </a:r>
            <a:r>
              <a:rPr lang="zh-CN" altLang="en-US" sz="1800" b="1" dirty="0">
                <a:solidFill>
                  <a:srgbClr val="002060"/>
                </a:solidFill>
                <a:latin typeface="+mn-lt"/>
                <a:ea typeface="楷体" pitchFamily="49" charset="-122"/>
              </a:rPr>
              <a:t>：预置为非闰年</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("Please input the year: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提示输入年份</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(“%d”, &amp;year);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输入年份</a:t>
            </a:r>
          </a:p>
          <a:p>
            <a:pPr marL="457200" indent="-457200"/>
            <a:endParaRPr lang="zh-CN" altLang="en-US" sz="2000" b="1" dirty="0">
              <a:solidFill>
                <a:schemeClr val="accent2"/>
              </a:solidFill>
              <a:ea typeface="楷体_GB2312" pitchFamily="49" charset="-122"/>
            </a:endParaRPr>
          </a:p>
          <a:p>
            <a:pPr marL="457200" indent="-457200"/>
            <a:r>
              <a:rPr lang="zh-CN" altLang="en-US" sz="2000" b="1" dirty="0">
                <a:ea typeface="楷体_GB2312" pitchFamily="49" charset="-122"/>
              </a:rPr>
              <a:t>    </a:t>
            </a:r>
            <a:r>
              <a:rPr lang="en-US" altLang="zh-CN" sz="2000" b="1" dirty="0">
                <a:ea typeface="楷体_GB2312" pitchFamily="49" charset="-122"/>
              </a:rPr>
              <a:t>if (year % 4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如果被</a:t>
            </a:r>
            <a:r>
              <a:rPr lang="en-US" altLang="zh-CN" sz="1800" b="1" dirty="0">
                <a:solidFill>
                  <a:srgbClr val="002060"/>
                </a:solidFill>
                <a:latin typeface="+mn-lt"/>
                <a:ea typeface="楷体" pitchFamily="49" charset="-122"/>
              </a:rPr>
              <a:t>4</a:t>
            </a:r>
            <a:r>
              <a:rPr lang="zh-CN" altLang="en-US" sz="1800" b="1" dirty="0">
                <a:solidFill>
                  <a:srgbClr val="002060"/>
                </a:solidFill>
                <a:latin typeface="+mn-lt"/>
                <a:ea typeface="楷体" pitchFamily="49" charset="-122"/>
              </a:rPr>
              <a:t>整除  </a:t>
            </a:r>
          </a:p>
          <a:p>
            <a:pPr marL="457200" indent="-457200"/>
            <a:r>
              <a:rPr lang="zh-CN" altLang="en-US" sz="2000" b="1" dirty="0">
                <a:ea typeface="楷体_GB2312" pitchFamily="49" charset="-122"/>
              </a:rPr>
              <a:t>        </a:t>
            </a:r>
            <a:r>
              <a:rPr lang="en-US" altLang="zh-CN" sz="2000" b="1" dirty="0">
                <a:ea typeface="楷体_GB2312" pitchFamily="49" charset="-122"/>
              </a:rPr>
              <a:t>if (year % 100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如果不被</a:t>
            </a:r>
            <a:r>
              <a:rPr lang="en-US" altLang="zh-CN" sz="1800" b="1" dirty="0">
                <a:solidFill>
                  <a:srgbClr val="002060"/>
                </a:solidFill>
                <a:latin typeface="+mn-lt"/>
                <a:ea typeface="楷体" pitchFamily="49" charset="-122"/>
              </a:rPr>
              <a:t>100</a:t>
            </a:r>
            <a:r>
              <a:rPr lang="zh-CN" altLang="en-US" sz="1800" b="1" dirty="0">
                <a:solidFill>
                  <a:srgbClr val="002060"/>
                </a:solidFill>
                <a:latin typeface="+mn-lt"/>
                <a:ea typeface="楷体" pitchFamily="49" charset="-122"/>
              </a:rPr>
              <a:t>整除</a:t>
            </a:r>
          </a:p>
          <a:p>
            <a:pPr marL="457200" indent="-457200"/>
            <a:r>
              <a:rPr lang="zh-CN" altLang="en-US" sz="2000" b="1" dirty="0">
                <a:ea typeface="楷体_GB2312" pitchFamily="49" charset="-122"/>
              </a:rPr>
              <a:t>             </a:t>
            </a:r>
            <a:r>
              <a:rPr lang="en-US" altLang="zh-CN" sz="2000" b="1" dirty="0">
                <a:ea typeface="楷体_GB2312" pitchFamily="49" charset="-122"/>
              </a:rPr>
              <a:t>leap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置为闰年</a:t>
            </a:r>
          </a:p>
          <a:p>
            <a:pPr marL="457200" indent="-457200"/>
            <a:r>
              <a:rPr lang="zh-CN" altLang="en-US" sz="2000" b="1" dirty="0">
                <a:ea typeface="楷体_GB2312" pitchFamily="49" charset="-122"/>
              </a:rPr>
              <a:t>    </a:t>
            </a:r>
            <a:r>
              <a:rPr lang="en-US" altLang="zh-CN" sz="2000" b="1" dirty="0">
                <a:ea typeface="楷体_GB2312" pitchFamily="49" charset="-122"/>
              </a:rPr>
              <a:t>if (year % 400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如果被</a:t>
            </a:r>
            <a:r>
              <a:rPr lang="en-US" altLang="zh-CN" sz="1800" b="1" dirty="0">
                <a:solidFill>
                  <a:srgbClr val="002060"/>
                </a:solidFill>
                <a:latin typeface="+mn-lt"/>
                <a:ea typeface="楷体" pitchFamily="49" charset="-122"/>
              </a:rPr>
              <a:t>400</a:t>
            </a:r>
            <a:r>
              <a:rPr lang="zh-CN" altLang="en-US" sz="1800" b="1" dirty="0">
                <a:solidFill>
                  <a:srgbClr val="002060"/>
                </a:solidFill>
                <a:latin typeface="+mn-lt"/>
                <a:ea typeface="楷体" pitchFamily="49" charset="-122"/>
              </a:rPr>
              <a:t>整除</a:t>
            </a:r>
          </a:p>
          <a:p>
            <a:pPr marL="457200" indent="-457200"/>
            <a:r>
              <a:rPr lang="zh-CN" altLang="en-US" sz="2000" b="1" dirty="0">
                <a:ea typeface="楷体_GB2312" pitchFamily="49" charset="-122"/>
              </a:rPr>
              <a:t>        </a:t>
            </a:r>
            <a:r>
              <a:rPr lang="en-US" altLang="zh-CN" sz="2000" b="1" dirty="0">
                <a:ea typeface="楷体_GB2312" pitchFamily="49" charset="-122"/>
              </a:rPr>
              <a:t>leap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置为闰年</a:t>
            </a:r>
          </a:p>
          <a:p>
            <a:pPr marL="457200" indent="-457200"/>
            <a:endParaRPr lang="zh-CN" altLang="en-US" sz="2000" b="1" dirty="0">
              <a:solidFill>
                <a:schemeClr val="accent2"/>
              </a:solidFill>
              <a:ea typeface="楷体_GB2312" pitchFamily="49" charset="-122"/>
            </a:endParaRPr>
          </a:p>
          <a:p>
            <a:pPr marL="457200" indent="-457200"/>
            <a:r>
              <a:rPr lang="zh-CN" altLang="en-US"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输出结果</a:t>
            </a:r>
          </a:p>
          <a:p>
            <a:pPr marL="457200" indent="-457200"/>
            <a:r>
              <a:rPr lang="zh-CN" altLang="en-US" sz="2000" b="1" dirty="0">
                <a:ea typeface="楷体_GB2312" pitchFamily="49" charset="-122"/>
              </a:rPr>
              <a:t>    </a:t>
            </a:r>
            <a:r>
              <a:rPr lang="en-US" altLang="zh-CN" sz="2000" b="1" dirty="0">
                <a:ea typeface="楷体_GB2312" pitchFamily="49" charset="-122"/>
              </a:rPr>
              <a:t>if (leap)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如果是闰年</a:t>
            </a:r>
            <a:r>
              <a:rPr lang="en-US" altLang="zh-CN" sz="1800" b="1" dirty="0">
                <a:solidFill>
                  <a:srgbClr val="002060"/>
                </a:solidFill>
                <a:latin typeface="+mn-lt"/>
                <a:ea typeface="楷体" pitchFamily="49" charset="-122"/>
              </a:rPr>
              <a:t>(leap==1)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is a leap year.\n", year);</a:t>
            </a:r>
          </a:p>
          <a:p>
            <a:pPr marL="457200" indent="-457200"/>
            <a:r>
              <a:rPr lang="en-US" altLang="zh-CN" sz="2000" b="1" dirty="0">
                <a:ea typeface="楷体_GB2312" pitchFamily="49" charset="-122"/>
              </a:rPr>
              <a:t>    else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 is not a leap year.\n", year);</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892935" name="Rectangle 7"/>
          <p:cNvSpPr>
            <a:spLocks noChangeArrowheads="1"/>
          </p:cNvSpPr>
          <p:nvPr/>
        </p:nvSpPr>
        <p:spPr bwMode="auto">
          <a:xfrm>
            <a:off x="8290107" y="5386430"/>
            <a:ext cx="3600400" cy="1015663"/>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a:t>Please input the year: 2008</a:t>
            </a:r>
            <a:r>
              <a:rPr lang="en-US" altLang="zh-CN" sz="2000" b="1" dirty="0">
                <a:latin typeface="+mn-ea"/>
                <a:ea typeface="+mn-ea"/>
              </a:rPr>
              <a:t>↙</a:t>
            </a:r>
          </a:p>
          <a:p>
            <a:r>
              <a:rPr lang="en-US" altLang="zh-CN" sz="2000" b="1" dirty="0">
                <a:solidFill>
                  <a:srgbClr val="002060"/>
                </a:solidFill>
              </a:rPr>
              <a:t>2008 is a leap year.</a:t>
            </a:r>
          </a:p>
        </p:txBody>
      </p:sp>
      <p:sp>
        <p:nvSpPr>
          <p:cNvPr id="892938" name="Rectangle 10"/>
          <p:cNvSpPr>
            <a:spLocks noChangeArrowheads="1"/>
          </p:cNvSpPr>
          <p:nvPr/>
        </p:nvSpPr>
        <p:spPr bwMode="auto">
          <a:xfrm>
            <a:off x="479376" y="2780928"/>
            <a:ext cx="2663825" cy="1584325"/>
          </a:xfrm>
          <a:prstGeom prst="rect">
            <a:avLst/>
          </a:prstGeom>
          <a:noFill/>
          <a:ln w="28575">
            <a:solidFill>
              <a:srgbClr val="C0192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92940" name="AutoShape 12"/>
          <p:cNvSpPr>
            <a:spLocks noChangeArrowheads="1"/>
          </p:cNvSpPr>
          <p:nvPr/>
        </p:nvSpPr>
        <p:spPr bwMode="auto">
          <a:xfrm>
            <a:off x="3719736" y="562021"/>
            <a:ext cx="1727200" cy="936625"/>
          </a:xfrm>
          <a:prstGeom prst="wedgeRoundRectCallout">
            <a:avLst>
              <a:gd name="adj1" fmla="val -86671"/>
              <a:gd name="adj2" fmla="val 192375"/>
              <a:gd name="adj3" fmla="val 16667"/>
            </a:avLst>
          </a:prstGeom>
          <a:gradFill flip="none" rotWithShape="1">
            <a:gsLst>
              <a:gs pos="0">
                <a:srgbClr val="BEDFC4"/>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latin typeface="隶书" pitchFamily="49" charset="-122"/>
                <a:ea typeface="隶书" pitchFamily="49" charset="-122"/>
              </a:rPr>
              <a:t>判断是否为闰年</a:t>
            </a:r>
          </a:p>
        </p:txBody>
      </p:sp>
      <p:sp>
        <p:nvSpPr>
          <p:cNvPr id="892941" name="Rectangle 13" descr="新闻纸"/>
          <p:cNvSpPr>
            <a:spLocks noChangeArrowheads="1"/>
          </p:cNvSpPr>
          <p:nvPr/>
        </p:nvSpPr>
        <p:spPr bwMode="auto">
          <a:xfrm>
            <a:off x="4321835" y="3802857"/>
            <a:ext cx="7488238" cy="1409700"/>
          </a:xfrm>
          <a:prstGeom prst="rect">
            <a:avLst/>
          </a:prstGeom>
          <a:gradFill>
            <a:gsLst>
              <a:gs pos="0">
                <a:srgbClr val="BEDFC4"/>
              </a:gs>
              <a:gs pos="100000">
                <a:schemeClr val="bg1">
                  <a:lumMod val="9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sz="2000" b="1" dirty="0">
                <a:solidFill>
                  <a:srgbClr val="C01920"/>
                </a:solidFill>
              </a:rPr>
              <a:t>if ( ( year % 4 == 0 &amp;&amp; year % 100 != 0 ) || ( year % 400 == 0 ) )</a:t>
            </a:r>
          </a:p>
          <a:p>
            <a:r>
              <a:rPr lang="en-US" altLang="zh-CN" sz="2000" b="1" dirty="0">
                <a:solidFill>
                  <a:srgbClr val="C01920"/>
                </a:solidFill>
              </a:rPr>
              <a:t>    leap = 1;</a:t>
            </a:r>
          </a:p>
          <a:p>
            <a:r>
              <a:rPr lang="zh-CN" altLang="en-US" b="1" dirty="0">
                <a:solidFill>
                  <a:srgbClr val="C01920"/>
                </a:solidFill>
                <a:ea typeface="隶书" pitchFamily="49" charset="-122"/>
              </a:rPr>
              <a:t>    </a:t>
            </a:r>
            <a:r>
              <a:rPr lang="zh-CN" altLang="en-US" b="1" dirty="0">
                <a:solidFill>
                  <a:srgbClr val="002060"/>
                </a:solidFill>
                <a:ea typeface="隶书" pitchFamily="49" charset="-122"/>
              </a:rPr>
              <a:t> 或</a:t>
            </a:r>
          </a:p>
          <a:p>
            <a:r>
              <a:rPr lang="en-US" altLang="zh-CN" sz="2000" b="1" dirty="0" err="1">
                <a:solidFill>
                  <a:srgbClr val="C01920"/>
                </a:solidFill>
              </a:rPr>
              <a:t>leep</a:t>
            </a:r>
            <a:r>
              <a:rPr lang="en-US" altLang="zh-CN" sz="2000" b="1" dirty="0">
                <a:solidFill>
                  <a:srgbClr val="C01920"/>
                </a:solidFill>
              </a:rPr>
              <a:t> = ( year % 4 == 0 &amp;&amp; year % 100 != 0 ) || ( year % 400 == 0 );</a:t>
            </a:r>
          </a:p>
        </p:txBody>
      </p:sp>
      <p:sp>
        <p:nvSpPr>
          <p:cNvPr id="892942" name="AutoShape 14"/>
          <p:cNvSpPr>
            <a:spLocks noChangeArrowheads="1"/>
          </p:cNvSpPr>
          <p:nvPr/>
        </p:nvSpPr>
        <p:spPr bwMode="auto">
          <a:xfrm rot="18785480">
            <a:off x="3666180" y="2688494"/>
            <a:ext cx="778923" cy="1599587"/>
          </a:xfrm>
          <a:prstGeom prst="curvedLeftArrow">
            <a:avLst>
              <a:gd name="adj1" fmla="val 25866"/>
              <a:gd name="adj2" fmla="val 42584"/>
              <a:gd name="adj3" fmla="val 26502"/>
            </a:avLst>
          </a:prstGeom>
          <a:solidFill>
            <a:srgbClr val="BEDFC4"/>
          </a:soli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2934"/>
                                        </p:tgtEl>
                                        <p:attrNameLst>
                                          <p:attrName>style.visibility</p:attrName>
                                        </p:attrNameLst>
                                      </p:cBhvr>
                                      <p:to>
                                        <p:strVal val="visible"/>
                                      </p:to>
                                    </p:set>
                                    <p:animEffect transition="in" filter="box(out)">
                                      <p:cBhvr>
                                        <p:cTn id="7" dur="500"/>
                                        <p:tgtEl>
                                          <p:spTgt spid="89293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92935"/>
                                        </p:tgtEl>
                                        <p:attrNameLst>
                                          <p:attrName>style.visibility</p:attrName>
                                        </p:attrNameLst>
                                      </p:cBhvr>
                                      <p:to>
                                        <p:strVal val="visible"/>
                                      </p:to>
                                    </p:set>
                                    <p:animEffect transition="in" filter="box(out)">
                                      <p:cBhvr>
                                        <p:cTn id="12" dur="500"/>
                                        <p:tgtEl>
                                          <p:spTgt spid="892935"/>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92938"/>
                                        </p:tgtEl>
                                        <p:attrNameLst>
                                          <p:attrName>style.visibility</p:attrName>
                                        </p:attrNameLst>
                                      </p:cBhvr>
                                      <p:to>
                                        <p:strVal val="visible"/>
                                      </p:to>
                                    </p:set>
                                    <p:animEffect transition="in" filter="strips(downLeft)">
                                      <p:cBhvr>
                                        <p:cTn id="16" dur="500"/>
                                        <p:tgtEl>
                                          <p:spTgt spid="892938"/>
                                        </p:tgtEl>
                                      </p:cBhvr>
                                    </p:animEffect>
                                  </p:childTnLst>
                                </p:cTn>
                              </p:par>
                            </p:childTnLst>
                          </p:cTn>
                        </p:par>
                        <p:par>
                          <p:cTn id="17" fill="hold">
                            <p:stCondLst>
                              <p:cond delay="1000"/>
                            </p:stCondLst>
                            <p:childTnLst>
                              <p:par>
                                <p:cTn id="18" presetID="18" presetClass="entr" presetSubtype="6" fill="hold" grpId="0" nodeType="afterEffect">
                                  <p:stCondLst>
                                    <p:cond delay="0"/>
                                  </p:stCondLst>
                                  <p:childTnLst>
                                    <p:set>
                                      <p:cBhvr>
                                        <p:cTn id="19" dur="1" fill="hold">
                                          <p:stCondLst>
                                            <p:cond delay="0"/>
                                          </p:stCondLst>
                                        </p:cTn>
                                        <p:tgtEl>
                                          <p:spTgt spid="892940"/>
                                        </p:tgtEl>
                                        <p:attrNameLst>
                                          <p:attrName>style.visibility</p:attrName>
                                        </p:attrNameLst>
                                      </p:cBhvr>
                                      <p:to>
                                        <p:strVal val="visible"/>
                                      </p:to>
                                    </p:set>
                                    <p:animEffect transition="in" filter="strips(downRight)">
                                      <p:cBhvr>
                                        <p:cTn id="20" dur="500"/>
                                        <p:tgtEl>
                                          <p:spTgt spid="892940"/>
                                        </p:tgtEl>
                                      </p:cBhvr>
                                    </p:animEffect>
                                  </p:childTnLst>
                                  <p:subTnLst>
                                    <p:audio>
                                      <p:cMediaNode>
                                        <p:cTn display="0" masterRel="sameClick">
                                          <p:stCondLst>
                                            <p:cond evt="begin" delay="0">
                                              <p:tn val="18"/>
                                            </p:cond>
                                          </p:stCondLst>
                                          <p:endCondLst>
                                            <p:cond evt="onStopAudio" delay="0">
                                              <p:tgtEl>
                                                <p:sldTgt/>
                                              </p:tgtEl>
                                            </p:cond>
                                          </p:endCondLst>
                                        </p:cTn>
                                        <p:tgtEl>
                                          <p:sndTgt r:embed="rId5" name="laser.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892942"/>
                                        </p:tgtEl>
                                        <p:attrNameLst>
                                          <p:attrName>style.visibility</p:attrName>
                                        </p:attrNameLst>
                                      </p:cBhvr>
                                      <p:to>
                                        <p:strVal val="visible"/>
                                      </p:to>
                                    </p:set>
                                    <p:animEffect transition="in" filter="strips(downRight)">
                                      <p:cBhvr>
                                        <p:cTn id="25" dur="500"/>
                                        <p:tgtEl>
                                          <p:spTgt spid="892942"/>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par>
                          <p:cTn id="26" fill="hold">
                            <p:stCondLst>
                              <p:cond delay="500"/>
                            </p:stCondLst>
                            <p:childTnLst>
                              <p:par>
                                <p:cTn id="27" presetID="4" presetClass="entr" presetSubtype="32" fill="hold" grpId="0" nodeType="afterEffect">
                                  <p:stCondLst>
                                    <p:cond delay="0"/>
                                  </p:stCondLst>
                                  <p:childTnLst>
                                    <p:set>
                                      <p:cBhvr>
                                        <p:cTn id="28" dur="1" fill="hold">
                                          <p:stCondLst>
                                            <p:cond delay="0"/>
                                          </p:stCondLst>
                                        </p:cTn>
                                        <p:tgtEl>
                                          <p:spTgt spid="892941"/>
                                        </p:tgtEl>
                                        <p:attrNameLst>
                                          <p:attrName>style.visibility</p:attrName>
                                        </p:attrNameLst>
                                      </p:cBhvr>
                                      <p:to>
                                        <p:strVal val="visible"/>
                                      </p:to>
                                    </p:set>
                                    <p:animEffect transition="in" filter="box(out)">
                                      <p:cBhvr>
                                        <p:cTn id="29" dur="500"/>
                                        <p:tgtEl>
                                          <p:spTgt spid="892941"/>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4" grpId="0" animBg="1" autoUpdateAnimBg="0"/>
      <p:bldP spid="892935" grpId="0" animBg="1"/>
      <p:bldP spid="892938" grpId="0" animBg="1"/>
      <p:bldP spid="892940" grpId="0" animBg="1"/>
      <p:bldP spid="892941" grpId="0" animBg="1"/>
      <p:bldP spid="89294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4982" name="Rectangle 6"/>
          <p:cNvSpPr>
            <a:spLocks noChangeArrowheads="1"/>
          </p:cNvSpPr>
          <p:nvPr/>
        </p:nvSpPr>
        <p:spPr bwMode="auto">
          <a:xfrm>
            <a:off x="513275" y="1065939"/>
            <a:ext cx="11110553" cy="830997"/>
          </a:xfrm>
          <a:prstGeom prst="rect">
            <a:avLst/>
          </a:prstGeom>
          <a:noFill/>
          <a:ln w="9525">
            <a:noFill/>
            <a:miter lim="800000"/>
            <a:headEnd/>
            <a:tailEnd/>
          </a:ln>
          <a:effectLst/>
        </p:spPr>
        <p:txBody>
          <a:bodyPr wrap="square" anchor="ctr">
            <a:spAutoFit/>
          </a:bodyPr>
          <a:lstStyle/>
          <a:p>
            <a:pPr>
              <a:tabLst>
                <a:tab pos="1049338" algn="l"/>
              </a:tabLst>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3】</a:t>
            </a:r>
            <a:r>
              <a:rPr lang="zh-CN" altLang="en-US" b="1" dirty="0">
                <a:solidFill>
                  <a:srgbClr val="C01920"/>
                </a:solidFill>
                <a:latin typeface="楷体" panose="02010609060101010101" pitchFamily="49" charset="-122"/>
                <a:ea typeface="楷体" panose="02010609060101010101" pitchFamily="49" charset="-122"/>
              </a:rPr>
              <a:t>编写一程序，从键盘上输入任意两个数和一个运算符（</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：加，</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：减，*：乘，</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：除），计算其运算的结果并输出 。 </a:t>
            </a:r>
          </a:p>
        </p:txBody>
      </p:sp>
      <p:sp>
        <p:nvSpPr>
          <p:cNvPr id="894983" name="Rectangle 7"/>
          <p:cNvSpPr>
            <a:spLocks noChangeArrowheads="1"/>
          </p:cNvSpPr>
          <p:nvPr/>
        </p:nvSpPr>
        <p:spPr bwMode="auto">
          <a:xfrm>
            <a:off x="894140" y="2348880"/>
            <a:ext cx="10729688" cy="2308324"/>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457200" algn="l"/>
              </a:tabLst>
            </a:pPr>
            <a:r>
              <a:rPr lang="zh-CN" altLang="en-US" b="1" u="sng" dirty="0">
                <a:solidFill>
                  <a:srgbClr val="C01920"/>
                </a:solidFill>
                <a:latin typeface="隶书" pitchFamily="49" charset="-122"/>
                <a:ea typeface="隶书" pitchFamily="49" charset="-122"/>
              </a:rPr>
              <a:t>程序应该这样来设计：</a:t>
            </a:r>
            <a:endParaRPr lang="en-US" altLang="zh-CN" b="1" u="sng" dirty="0">
              <a:solidFill>
                <a:srgbClr val="C01920"/>
              </a:solidFill>
              <a:latin typeface="隶书" pitchFamily="49" charset="-122"/>
              <a:ea typeface="隶书" pitchFamily="49" charset="-122"/>
            </a:endParaRPr>
          </a:p>
          <a:p>
            <a:pPr>
              <a:tabLst>
                <a:tab pos="457200" algn="l"/>
              </a:tabLst>
            </a:pPr>
            <a:endParaRPr lang="zh-CN" altLang="en-US" b="1" u="sng" dirty="0">
              <a:solidFill>
                <a:srgbClr val="C01920"/>
              </a:solidFill>
              <a:latin typeface="隶书" pitchFamily="49" charset="-122"/>
              <a:ea typeface="隶书" pitchFamily="49" charset="-122"/>
            </a:endParaRPr>
          </a:p>
          <a:p>
            <a:pPr>
              <a:tabLst>
                <a:tab pos="457200" algn="l"/>
              </a:tabLst>
            </a:pPr>
            <a:r>
              <a:rPr lang="zh-CN" altLang="en-US" b="1" dirty="0">
                <a:solidFill>
                  <a:srgbClr val="FF33CC"/>
                </a:solidFill>
                <a:latin typeface="隶书" pitchFamily="49" charset="-122"/>
                <a:ea typeface="隶书" pitchFamily="49" charset="-122"/>
              </a:rPr>
              <a:t>    </a:t>
            </a:r>
            <a:r>
              <a:rPr lang="zh-CN" altLang="en-US" b="1" dirty="0">
                <a:latin typeface="楷体" pitchFamily="49" charset="-122"/>
                <a:ea typeface="楷体" pitchFamily="49" charset="-122"/>
              </a:rPr>
              <a:t>首先输入两个数和一个运算符号，然后根据运算符号来做相应的运算，但是在做除法运算时，应判别除数是否为</a:t>
            </a:r>
            <a:r>
              <a:rPr lang="en-US" altLang="zh-CN" b="1" dirty="0">
                <a:latin typeface="楷体" pitchFamily="49" charset="-122"/>
                <a:ea typeface="楷体" pitchFamily="49" charset="-122"/>
              </a:rPr>
              <a:t>0</a:t>
            </a:r>
            <a:r>
              <a:rPr lang="zh-CN" altLang="en-US" b="1" dirty="0">
                <a:latin typeface="楷体" pitchFamily="49" charset="-122"/>
                <a:ea typeface="楷体" pitchFamily="49" charset="-122"/>
              </a:rPr>
              <a:t>，如果为</a:t>
            </a:r>
            <a:r>
              <a:rPr lang="en-US" altLang="zh-CN" b="1" dirty="0">
                <a:latin typeface="楷体" pitchFamily="49" charset="-122"/>
                <a:ea typeface="楷体" pitchFamily="49" charset="-122"/>
              </a:rPr>
              <a:t>0</a:t>
            </a:r>
            <a:r>
              <a:rPr lang="zh-CN" altLang="en-US" b="1" dirty="0">
                <a:latin typeface="楷体" pitchFamily="49" charset="-122"/>
                <a:ea typeface="楷体" pitchFamily="49" charset="-122"/>
              </a:rPr>
              <a:t>，运算非法，给出提示信息。如果运算符号不是</a:t>
            </a:r>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a:t>
            </a:r>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a:t>
            </a:r>
            <a:r>
              <a:rPr lang="en-US" altLang="zh-CN" b="1" dirty="0">
                <a:latin typeface="楷体" pitchFamily="49" charset="-122"/>
                <a:ea typeface="楷体" pitchFamily="49" charset="-122"/>
              </a:rPr>
              <a:t>/</a:t>
            </a:r>
            <a:r>
              <a:rPr lang="zh-CN" altLang="en-US" b="1" dirty="0">
                <a:latin typeface="楷体" pitchFamily="49" charset="-122"/>
                <a:ea typeface="楷体" pitchFamily="49" charset="-122"/>
              </a:rPr>
              <a:t>则同样是非法的，也应给出提示信息。其它情况，输出运算的结果。</a:t>
            </a:r>
          </a:p>
        </p:txBody>
      </p:sp>
      <p:sp>
        <p:nvSpPr>
          <p:cNvPr id="8" name="Rectangle 4">
            <a:extLst>
              <a:ext uri="{FF2B5EF4-FFF2-40B4-BE49-F238E27FC236}">
                <a16:creationId xmlns:a16="http://schemas.microsoft.com/office/drawing/2014/main" id="{8353671C-624F-4BF4-B28D-CA81E644B48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4983"/>
                                        </p:tgtEl>
                                        <p:attrNameLst>
                                          <p:attrName>style.visibility</p:attrName>
                                        </p:attrNameLst>
                                      </p:cBhvr>
                                      <p:to>
                                        <p:strVal val="visible"/>
                                      </p:to>
                                    </p:set>
                                    <p:animEffect transition="in" filter="box(out)">
                                      <p:cBhvr>
                                        <p:cTn id="7" dur="500"/>
                                        <p:tgtEl>
                                          <p:spTgt spid="89498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8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ChangeArrowheads="1"/>
          </p:cNvSpPr>
          <p:nvPr/>
        </p:nvSpPr>
        <p:spPr bwMode="auto">
          <a:xfrm>
            <a:off x="1019583"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9" name="Rectangle 4">
            <a:extLst>
              <a:ext uri="{FF2B5EF4-FFF2-40B4-BE49-F238E27FC236}">
                <a16:creationId xmlns:a16="http://schemas.microsoft.com/office/drawing/2014/main" id="{907A25E1-EE6A-40D2-9F8A-5D8CBFF70E3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5.4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选择结构程序设计举例 </a:t>
            </a:r>
          </a:p>
        </p:txBody>
      </p:sp>
      <p:sp>
        <p:nvSpPr>
          <p:cNvPr id="897030" name="Text Box 6" descr="信纸"/>
          <p:cNvSpPr txBox="1">
            <a:spLocks noChangeArrowheads="1"/>
          </p:cNvSpPr>
          <p:nvPr/>
        </p:nvSpPr>
        <p:spPr bwMode="auto">
          <a:xfrm>
            <a:off x="689207" y="1254740"/>
            <a:ext cx="6848475" cy="3787833"/>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0" tIns="46800" rIns="90000" bIns="46800">
            <a:spAutoFit/>
          </a:bodyPr>
          <a:lstStyle/>
          <a:p>
            <a:pPr marL="457200" indent="-457200"/>
            <a:r>
              <a:rPr lang="en-US" altLang="zh-CN" sz="2000" b="1" dirty="0">
                <a:ea typeface="楷体_GB2312" pitchFamily="49" charset="-122"/>
              </a:rPr>
              <a:t>  #include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r>
              <a:rPr lang="en-US" altLang="zh-CN" sz="2000" b="1" dirty="0">
                <a:solidFill>
                  <a:srgbClr val="CC3300"/>
                </a:solidFill>
                <a:ea typeface="楷体_GB2312" pitchFamily="49" charset="-122"/>
              </a:rPr>
              <a:t>  </a:t>
            </a:r>
            <a:r>
              <a:rPr lang="en-US" altLang="zh-CN" sz="2000" b="1" dirty="0" err="1">
                <a:solidFill>
                  <a:srgbClr val="CC3300"/>
                </a:solidFill>
                <a:ea typeface="楷体_GB2312" pitchFamily="49" charset="-122"/>
              </a:rPr>
              <a:t>int</a:t>
            </a:r>
            <a:r>
              <a:rPr lang="en-US" altLang="zh-CN" sz="2000" b="1" dirty="0">
                <a:solidFill>
                  <a:srgbClr val="CC3300"/>
                </a:solidFill>
                <a:ea typeface="楷体_GB2312" pitchFamily="49" charset="-122"/>
              </a:rPr>
              <a:t> main (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float a, b;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存放两个数的变量</a:t>
            </a:r>
          </a:p>
          <a:p>
            <a:pPr marL="457200" indent="-457200"/>
            <a:r>
              <a:rPr lang="zh-CN" altLang="en-US" sz="2000" b="1" dirty="0">
                <a:ea typeface="楷体_GB2312" pitchFamily="49" charset="-122"/>
              </a:rPr>
              <a:t>    </a:t>
            </a:r>
            <a:r>
              <a:rPr lang="en-US" altLang="zh-CN" sz="2000" b="1" dirty="0" err="1">
                <a:ea typeface="楷体_GB2312" pitchFamily="49" charset="-122"/>
              </a:rPr>
              <a:t>int</a:t>
            </a:r>
            <a:r>
              <a:rPr lang="en-US" altLang="zh-CN" sz="2000" b="1" dirty="0">
                <a:ea typeface="楷体_GB2312" pitchFamily="49" charset="-122"/>
              </a:rPr>
              <a:t> tag = 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运算合法的标志，</a:t>
            </a:r>
            <a:r>
              <a:rPr lang="en-US" altLang="zh-CN" sz="1800" b="1" dirty="0">
                <a:solidFill>
                  <a:srgbClr val="002060"/>
                </a:solidFill>
                <a:latin typeface="+mn-lt"/>
                <a:ea typeface="楷体" pitchFamily="49" charset="-122"/>
              </a:rPr>
              <a:t>0--</a:t>
            </a:r>
            <a:r>
              <a:rPr lang="zh-CN" altLang="en-US" sz="1800" b="1" dirty="0">
                <a:solidFill>
                  <a:srgbClr val="002060"/>
                </a:solidFill>
                <a:latin typeface="+mn-lt"/>
                <a:ea typeface="楷体" pitchFamily="49" charset="-122"/>
              </a:rPr>
              <a:t>合法，</a:t>
            </a:r>
            <a:r>
              <a:rPr lang="en-US" altLang="zh-CN" sz="1800" b="1" dirty="0">
                <a:solidFill>
                  <a:srgbClr val="002060"/>
                </a:solidFill>
                <a:latin typeface="+mn-lt"/>
                <a:ea typeface="楷体" pitchFamily="49" charset="-122"/>
              </a:rPr>
              <a:t>1--</a:t>
            </a:r>
            <a:r>
              <a:rPr lang="zh-CN" altLang="en-US" sz="1800" b="1" dirty="0">
                <a:solidFill>
                  <a:srgbClr val="002060"/>
                </a:solidFill>
                <a:latin typeface="+mn-lt"/>
                <a:ea typeface="楷体" pitchFamily="49" charset="-122"/>
              </a:rPr>
              <a:t>非法</a:t>
            </a:r>
          </a:p>
          <a:p>
            <a:pPr marL="457200" indent="-457200"/>
            <a:r>
              <a:rPr lang="zh-CN" altLang="en-US" sz="2000" b="1" dirty="0">
                <a:ea typeface="楷体_GB2312" pitchFamily="49" charset="-122"/>
              </a:rPr>
              <a:t>    </a:t>
            </a:r>
            <a:r>
              <a:rPr lang="en-US" altLang="zh-CN" sz="2000" b="1" dirty="0">
                <a:ea typeface="楷体_GB2312" pitchFamily="49" charset="-122"/>
              </a:rPr>
              <a:t>char </a:t>
            </a:r>
            <a:r>
              <a:rPr lang="en-US" altLang="zh-CN" sz="2000" b="1" dirty="0" err="1">
                <a:ea typeface="楷体_GB2312" pitchFamily="49" charset="-122"/>
              </a:rPr>
              <a:t>ch</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运算符变量</a:t>
            </a:r>
          </a:p>
          <a:p>
            <a:pPr marL="457200" indent="-457200"/>
            <a:r>
              <a:rPr lang="zh-CN" altLang="en-US" sz="2000" b="1" dirty="0">
                <a:ea typeface="楷体_GB2312" pitchFamily="49" charset="-122"/>
              </a:rPr>
              <a:t>    </a:t>
            </a:r>
            <a:r>
              <a:rPr lang="en-US" altLang="zh-CN" sz="2000" b="1" dirty="0">
                <a:ea typeface="楷体_GB2312" pitchFamily="49" charset="-122"/>
              </a:rPr>
              <a:t>float result;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运算结果变量</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two number: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提示输入两个数</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a:t>
            </a:r>
            <a:r>
              <a:rPr lang="en-US" altLang="zh-CN" sz="2000" b="1" dirty="0" err="1">
                <a:ea typeface="楷体_GB2312" pitchFamily="49" charset="-122"/>
              </a:rPr>
              <a:t>f%f</a:t>
            </a:r>
            <a:r>
              <a:rPr lang="en-US" altLang="zh-CN" sz="2000" b="1" dirty="0">
                <a:ea typeface="楷体_GB2312" pitchFamily="49" charset="-122"/>
              </a:rPr>
              <a:t>", &amp;a, &amp;b);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输入两个数</a:t>
            </a:r>
          </a:p>
          <a:p>
            <a:pPr marL="457200" indent="-457200"/>
            <a:r>
              <a:rPr lang="zh-CN" altLang="en-US" sz="2000" b="1" dirty="0">
                <a:ea typeface="楷体_GB2312" pitchFamily="49" charset="-122"/>
              </a:rPr>
              <a:t>    </a:t>
            </a:r>
            <a:r>
              <a:rPr lang="en-US" altLang="zh-CN" sz="2000" b="1" dirty="0" err="1">
                <a:ea typeface="楷体_GB2312" pitchFamily="49" charset="-122"/>
              </a:rPr>
              <a:t>fflush</a:t>
            </a:r>
            <a:r>
              <a:rPr lang="en-US" altLang="zh-CN" sz="2000" b="1" dirty="0">
                <a:ea typeface="楷体_GB2312" pitchFamily="49" charset="-122"/>
              </a:rPr>
              <a:t> (</a:t>
            </a:r>
            <a:r>
              <a:rPr lang="en-US" altLang="zh-CN" sz="2000" b="1" dirty="0" err="1">
                <a:ea typeface="楷体_GB2312" pitchFamily="49" charset="-122"/>
              </a:rPr>
              <a:t>stdin</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清键盘缓冲区</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arithmetic </a:t>
            </a:r>
            <a:r>
              <a:rPr lang="en-US" altLang="zh-CN" sz="2000" b="1" dirty="0" err="1">
                <a:ea typeface="楷体_GB2312" pitchFamily="49" charset="-122"/>
              </a:rPr>
              <a:t>lable</a:t>
            </a:r>
            <a:r>
              <a:rPr lang="en-US" altLang="zh-CN" sz="2000" b="1" dirty="0">
                <a:ea typeface="楷体_GB2312" pitchFamily="49" charset="-122"/>
              </a:rPr>
              <a:t>(+ - * /): ");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提示输入运算符</a:t>
            </a:r>
          </a:p>
          <a:p>
            <a:pPr marL="457200" indent="-457200"/>
            <a:r>
              <a:rPr lang="zh-CN" altLang="en-US"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("%c", &amp;</a:t>
            </a:r>
            <a:r>
              <a:rPr lang="en-US" altLang="zh-CN" sz="2000" b="1" dirty="0" err="1">
                <a:ea typeface="楷体_GB2312" pitchFamily="49" charset="-122"/>
              </a:rPr>
              <a:t>ch</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输入运算符</a:t>
            </a:r>
          </a:p>
        </p:txBody>
      </p:sp>
      <p:sp>
        <p:nvSpPr>
          <p:cNvPr id="897036" name="Text Box 12" descr="信纸"/>
          <p:cNvSpPr txBox="1">
            <a:spLocks noChangeArrowheads="1"/>
          </p:cNvSpPr>
          <p:nvPr/>
        </p:nvSpPr>
        <p:spPr bwMode="auto">
          <a:xfrm>
            <a:off x="4863827" y="491323"/>
            <a:ext cx="6992813" cy="6250045"/>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0" tIns="46800" rIns="90000" bIns="46800">
            <a:spAutoFit/>
          </a:bodyPr>
          <a:lstStyle/>
          <a:p>
            <a:pPr marL="457200" indent="-457200"/>
            <a:r>
              <a:rPr lang="en-US" altLang="zh-CN" sz="2000" b="1" dirty="0">
                <a:ea typeface="楷体_GB2312" pitchFamily="49" charset="-122"/>
              </a:rPr>
              <a:t>    switch ( </a:t>
            </a:r>
            <a:r>
              <a:rPr lang="en-US" altLang="zh-CN" sz="2000" b="1" dirty="0" err="1">
                <a:ea typeface="楷体_GB2312" pitchFamily="49" charset="-122"/>
              </a:rPr>
              <a:t>ch</a:t>
            </a:r>
            <a:r>
              <a:rPr lang="en-US" altLang="zh-CN" sz="2000" b="1" dirty="0">
                <a:ea typeface="楷体_GB2312" pitchFamily="49" charset="-122"/>
              </a:rPr>
              <a:t> )  </a:t>
            </a:r>
            <a:r>
              <a:rPr lang="en-US" altLang="zh-CN" sz="2000" b="1" dirty="0">
                <a:solidFill>
                  <a:srgbClr val="002060"/>
                </a:solidFill>
                <a:ea typeface="楷体_GB2312" pitchFamily="49" charset="-122"/>
              </a:rPr>
              <a:t>//</a:t>
            </a:r>
            <a:r>
              <a:rPr lang="zh-CN" altLang="en-US" sz="1800" b="1" dirty="0">
                <a:solidFill>
                  <a:srgbClr val="002060"/>
                </a:solidFill>
                <a:latin typeface="+mn-lt"/>
                <a:ea typeface="楷体" pitchFamily="49" charset="-122"/>
              </a:rPr>
              <a:t>根据运算符来进行相关的运算</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case  '+':  result = a + b;   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加法运算</a:t>
            </a:r>
          </a:p>
          <a:p>
            <a:pPr marL="457200" indent="-457200"/>
            <a:r>
              <a:rPr lang="zh-CN" altLang="en-US" sz="2000" b="1" dirty="0">
                <a:ea typeface="楷体_GB2312" pitchFamily="49" charset="-122"/>
              </a:rPr>
              <a:t>      </a:t>
            </a:r>
            <a:r>
              <a:rPr lang="en-US" altLang="zh-CN" sz="2000" b="1" dirty="0">
                <a:ea typeface="楷体_GB2312" pitchFamily="49" charset="-122"/>
              </a:rPr>
              <a:t>case  '-':   result = a - b;    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减法运算</a:t>
            </a:r>
          </a:p>
          <a:p>
            <a:pPr marL="457200" indent="-457200"/>
            <a:r>
              <a:rPr lang="zh-CN" altLang="en-US" sz="2000" b="1" dirty="0">
                <a:ea typeface="楷体_GB2312" pitchFamily="49" charset="-122"/>
              </a:rPr>
              <a:t>      </a:t>
            </a:r>
            <a:r>
              <a:rPr lang="en-US" altLang="zh-CN" sz="2000" b="1" dirty="0">
                <a:ea typeface="楷体_GB2312" pitchFamily="49" charset="-122"/>
              </a:rPr>
              <a:t>case  '*':  result = a * b;    break;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乘法运算</a:t>
            </a:r>
          </a:p>
          <a:p>
            <a:pPr marL="457200" indent="-457200"/>
            <a:r>
              <a:rPr lang="zh-CN" altLang="en-US" sz="2000" b="1" dirty="0">
                <a:ea typeface="楷体_GB2312" pitchFamily="49" charset="-122"/>
              </a:rPr>
              <a:t>      </a:t>
            </a:r>
            <a:r>
              <a:rPr lang="en-US" altLang="zh-CN" sz="2000" b="1" dirty="0">
                <a:ea typeface="楷体_GB2312" pitchFamily="49" charset="-122"/>
              </a:rPr>
              <a:t>case  '/':   if (!b)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除法运算，判除数是否为</a:t>
            </a:r>
            <a:r>
              <a:rPr lang="en-US" altLang="zh-CN" sz="1800" b="1" dirty="0">
                <a:solidFill>
                  <a:srgbClr val="002060"/>
                </a:solidFill>
                <a:latin typeface="+mn-lt"/>
                <a:ea typeface="楷体" pitchFamily="49" charset="-122"/>
              </a:rPr>
              <a:t>0 </a:t>
            </a:r>
          </a:p>
          <a:p>
            <a:pPr marL="457200" indent="-457200"/>
            <a:r>
              <a:rPr lang="en-US" altLang="zh-CN" sz="2000" b="1" dirty="0">
                <a:ea typeface="楷体_GB2312" pitchFamily="49" charset="-122"/>
              </a:rPr>
              <a:t>                      {</a:t>
            </a:r>
          </a:p>
          <a:p>
            <a:pPr marL="457200" indent="-457200"/>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("divisor is zero!\n");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显示除数为</a:t>
            </a:r>
            <a:r>
              <a:rPr lang="en-US" altLang="zh-CN" sz="1800" b="1" dirty="0">
                <a:solidFill>
                  <a:srgbClr val="002060"/>
                </a:solidFill>
                <a:latin typeface="+mn-lt"/>
                <a:ea typeface="楷体" pitchFamily="49" charset="-122"/>
              </a:rPr>
              <a:t>0 </a:t>
            </a:r>
          </a:p>
          <a:p>
            <a:pPr marL="457200" indent="-457200"/>
            <a:r>
              <a:rPr lang="en-US" altLang="zh-CN" sz="2000" b="1" dirty="0">
                <a:ea typeface="楷体_GB2312" pitchFamily="49" charset="-122"/>
              </a:rPr>
              <a:t>                         tag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置运算非法标志</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else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除数非</a:t>
            </a:r>
            <a:r>
              <a:rPr lang="en-US" altLang="zh-CN" sz="1800" b="1" dirty="0">
                <a:solidFill>
                  <a:srgbClr val="002060"/>
                </a:solidFill>
                <a:latin typeface="+mn-lt"/>
                <a:ea typeface="楷体" pitchFamily="49" charset="-122"/>
              </a:rPr>
              <a:t>0</a:t>
            </a:r>
          </a:p>
          <a:p>
            <a:pPr marL="457200" indent="-457200"/>
            <a:r>
              <a:rPr lang="en-US" altLang="zh-CN" sz="2000" b="1" dirty="0">
                <a:ea typeface="楷体_GB2312" pitchFamily="49" charset="-122"/>
              </a:rPr>
              <a:t>                        result = a / b;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计算商</a:t>
            </a:r>
          </a:p>
          <a:p>
            <a:pPr marL="457200" indent="-457200"/>
            <a:r>
              <a:rPr lang="zh-CN" altLang="en-US" sz="2000" b="1" dirty="0">
                <a:ea typeface="楷体_GB2312" pitchFamily="49" charset="-122"/>
              </a:rPr>
              <a:t>                     </a:t>
            </a:r>
            <a:r>
              <a:rPr lang="en-US" altLang="zh-CN" sz="2000" b="1" dirty="0">
                <a:ea typeface="楷体_GB2312" pitchFamily="49" charset="-122"/>
              </a:rPr>
              <a:t>break;</a:t>
            </a:r>
          </a:p>
          <a:p>
            <a:pPr marL="457200" indent="-457200"/>
            <a:r>
              <a:rPr lang="en-US" altLang="zh-CN" sz="2000" b="1" dirty="0">
                <a:ea typeface="楷体_GB2312" pitchFamily="49" charset="-122"/>
              </a:rPr>
              <a:t>      default:  </a:t>
            </a:r>
            <a:r>
              <a:rPr lang="en-US" altLang="zh-CN" sz="2000" b="1" dirty="0" err="1">
                <a:ea typeface="楷体_GB2312" pitchFamily="49" charset="-122"/>
              </a:rPr>
              <a:t>printf</a:t>
            </a:r>
            <a:r>
              <a:rPr lang="en-US" altLang="zh-CN" sz="2000" b="1" dirty="0">
                <a:ea typeface="楷体_GB2312" pitchFamily="49" charset="-122"/>
              </a:rPr>
              <a:t> ("illegal arithmetic </a:t>
            </a:r>
            <a:r>
              <a:rPr lang="en-US" altLang="zh-CN" sz="2000" b="1" dirty="0" err="1">
                <a:ea typeface="楷体_GB2312" pitchFamily="49" charset="-122"/>
              </a:rPr>
              <a:t>lable</a:t>
            </a:r>
            <a:r>
              <a:rPr lang="en-US" altLang="zh-CN" sz="2000" b="1" dirty="0">
                <a:ea typeface="楷体_GB2312" pitchFamily="49" charset="-122"/>
              </a:rPr>
              <a:t>\n");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非法的运算符</a:t>
            </a:r>
          </a:p>
          <a:p>
            <a:pPr marL="457200" indent="-457200"/>
            <a:r>
              <a:rPr lang="zh-CN" altLang="en-US" sz="2000" b="1" dirty="0">
                <a:ea typeface="楷体_GB2312" pitchFamily="49" charset="-122"/>
              </a:rPr>
              <a:t>                     </a:t>
            </a:r>
            <a:r>
              <a:rPr lang="en-US" altLang="zh-CN" sz="2000" b="1" dirty="0">
                <a:ea typeface="楷体_GB2312" pitchFamily="49" charset="-122"/>
              </a:rPr>
              <a:t>tag = 1;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置运算非法标志</a:t>
            </a:r>
          </a:p>
          <a:p>
            <a:pPr marL="457200" indent="-457200"/>
            <a:r>
              <a:rPr lang="zh-CN" altLang="en-US" sz="2000" b="1" dirty="0">
                <a:ea typeface="楷体_GB2312" pitchFamily="49" charset="-122"/>
              </a:rPr>
              <a:t>    </a:t>
            </a:r>
            <a:r>
              <a:rPr lang="en-US" altLang="zh-CN" sz="2000" b="1" dirty="0">
                <a:ea typeface="楷体_GB2312" pitchFamily="49" charset="-122"/>
              </a:rPr>
              <a:t>}</a:t>
            </a:r>
          </a:p>
          <a:p>
            <a:pPr marL="457200" indent="-457200"/>
            <a:r>
              <a:rPr lang="en-US" altLang="zh-CN" sz="2000" b="1" dirty="0">
                <a:ea typeface="楷体_GB2312" pitchFamily="49" charset="-122"/>
              </a:rPr>
              <a:t>    if (!tag)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运算合法，显示运算结果</a:t>
            </a:r>
          </a:p>
          <a:p>
            <a:pPr marL="457200" indent="-457200"/>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("%.2f %c %.2f = %.2f\n", a, </a:t>
            </a:r>
            <a:r>
              <a:rPr lang="en-US" altLang="zh-CN" sz="2000" b="1" dirty="0" err="1">
                <a:ea typeface="楷体_GB2312" pitchFamily="49" charset="-122"/>
              </a:rPr>
              <a:t>ch</a:t>
            </a:r>
            <a:r>
              <a:rPr lang="en-US" altLang="zh-CN" sz="2000" b="1" dirty="0">
                <a:ea typeface="楷体_GB2312" pitchFamily="49" charset="-122"/>
              </a:rPr>
              <a:t>, b, result);</a:t>
            </a:r>
          </a:p>
          <a:p>
            <a:pPr marL="457200" indent="-457200"/>
            <a:r>
              <a:rPr lang="en-US" altLang="zh-CN" sz="2000" b="1" dirty="0">
                <a:ea typeface="楷体_GB2312" pitchFamily="49" charset="-122"/>
              </a:rPr>
              <a:t>    return 0;</a:t>
            </a:r>
          </a:p>
          <a:p>
            <a:pPr marL="457200" indent="-457200"/>
            <a:r>
              <a:rPr lang="en-US" altLang="zh-CN" sz="2000" b="1" dirty="0">
                <a:ea typeface="楷体_GB2312" pitchFamily="49" charset="-122"/>
              </a:rPr>
              <a:t>  }</a:t>
            </a:r>
          </a:p>
        </p:txBody>
      </p:sp>
      <p:sp>
        <p:nvSpPr>
          <p:cNvPr id="897031" name="Rectangle 7"/>
          <p:cNvSpPr>
            <a:spLocks noChangeArrowheads="1"/>
          </p:cNvSpPr>
          <p:nvPr/>
        </p:nvSpPr>
        <p:spPr bwMode="auto">
          <a:xfrm>
            <a:off x="689207" y="5265864"/>
            <a:ext cx="4032448" cy="1323439"/>
          </a:xfrm>
          <a:prstGeom prst="rect">
            <a:avLst/>
          </a:prstGeom>
          <a:solidFill>
            <a:srgbClr val="FFFFFF"/>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运行结果：</a:t>
            </a:r>
          </a:p>
          <a:p>
            <a:r>
              <a:rPr lang="en-US" altLang="zh-CN" sz="2000" b="1" dirty="0"/>
              <a:t>input two number: 20 30</a:t>
            </a:r>
            <a:r>
              <a:rPr lang="en-US" altLang="zh-CN" sz="2000" b="1" dirty="0">
                <a:latin typeface="+mn-ea"/>
                <a:ea typeface="+mn-ea"/>
              </a:rPr>
              <a:t>↙</a:t>
            </a:r>
          </a:p>
          <a:p>
            <a:r>
              <a:rPr lang="en-US" altLang="zh-CN" sz="2000" b="1" dirty="0"/>
              <a:t>input arithmetic </a:t>
            </a:r>
            <a:r>
              <a:rPr lang="en-US" altLang="zh-CN" sz="2000" b="1" dirty="0" err="1"/>
              <a:t>lable</a:t>
            </a:r>
            <a:r>
              <a:rPr lang="en-US" altLang="zh-CN" sz="2000" b="1" dirty="0"/>
              <a:t>(+ - * /): +</a:t>
            </a:r>
            <a:r>
              <a:rPr lang="en-US" altLang="zh-CN" sz="2000" b="1" dirty="0">
                <a:latin typeface="+mn-ea"/>
                <a:ea typeface="+mn-ea"/>
              </a:rPr>
              <a:t>↙</a:t>
            </a:r>
          </a:p>
          <a:p>
            <a:r>
              <a:rPr lang="en-US" altLang="zh-CN" sz="2000" b="1" dirty="0">
                <a:solidFill>
                  <a:srgbClr val="002060"/>
                </a:solidFill>
              </a:rPr>
              <a:t>20.00 + 30.00 = 50.00</a:t>
            </a:r>
            <a:r>
              <a:rPr lang="en-US" altLang="zh-CN" sz="2000" dirty="0">
                <a:solidFill>
                  <a:srgbClr val="002060"/>
                </a:solidFill>
              </a:rPr>
              <a:t> </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97030"/>
                                        </p:tgtEl>
                                        <p:attrNameLst>
                                          <p:attrName>style.visibility</p:attrName>
                                        </p:attrNameLst>
                                      </p:cBhvr>
                                      <p:to>
                                        <p:strVal val="visible"/>
                                      </p:to>
                                    </p:set>
                                    <p:animEffect transition="in" filter="box(out)">
                                      <p:cBhvr>
                                        <p:cTn id="7" dur="500"/>
                                        <p:tgtEl>
                                          <p:spTgt spid="89703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97036"/>
                                        </p:tgtEl>
                                        <p:attrNameLst>
                                          <p:attrName>style.visibility</p:attrName>
                                        </p:attrNameLst>
                                      </p:cBhvr>
                                      <p:to>
                                        <p:strVal val="visible"/>
                                      </p:to>
                                    </p:set>
                                    <p:animEffect transition="in" filter="box(out)">
                                      <p:cBhvr>
                                        <p:cTn id="12" dur="500"/>
                                        <p:tgtEl>
                                          <p:spTgt spid="89703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97031"/>
                                        </p:tgtEl>
                                        <p:attrNameLst>
                                          <p:attrName>style.visibility</p:attrName>
                                        </p:attrNameLst>
                                      </p:cBhvr>
                                      <p:to>
                                        <p:strVal val="visible"/>
                                      </p:to>
                                    </p:set>
                                    <p:animEffect transition="in" filter="box(out)">
                                      <p:cBhvr>
                                        <p:cTn id="17" dur="500"/>
                                        <p:tgtEl>
                                          <p:spTgt spid="897031"/>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30" grpId="0" animBg="1" autoUpdateAnimBg="0"/>
      <p:bldP spid="897036" grpId="0" animBg="1" autoUpdateAnimBg="0"/>
      <p:bldP spid="8970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ChangeArrowheads="1"/>
          </p:cNvSpPr>
          <p:nvPr/>
        </p:nvSpPr>
        <p:spPr bwMode="auto">
          <a:xfrm>
            <a:off x="1022061" y="5816452"/>
            <a:ext cx="90944" cy="463846"/>
          </a:xfrm>
          <a:prstGeom prst="rect">
            <a:avLst/>
          </a:prstGeom>
          <a:noFill/>
          <a:ln w="38100">
            <a:noFill/>
            <a:miter lim="800000"/>
            <a:headEnd/>
            <a:tailEnd/>
          </a:ln>
          <a:effectLst/>
        </p:spPr>
        <p:txBody>
          <a:bodyPr wrap="none" lIns="0" tIns="46800" rIns="90000" bIns="46800" anchor="ctr">
            <a:spAutoFit/>
          </a:bodyPr>
          <a:lstStyle/>
          <a:p>
            <a:endParaRPr lang="zh-CN" altLang="en-US"/>
          </a:p>
        </p:txBody>
      </p:sp>
      <p:sp>
        <p:nvSpPr>
          <p:cNvPr id="899080" name="Rectangle 8"/>
          <p:cNvSpPr>
            <a:spLocks noChangeArrowheads="1"/>
          </p:cNvSpPr>
          <p:nvPr/>
        </p:nvSpPr>
        <p:spPr bwMode="auto">
          <a:xfrm>
            <a:off x="858277" y="6165304"/>
            <a:ext cx="7921625" cy="461665"/>
          </a:xfrm>
          <a:prstGeom prst="rect">
            <a:avLst/>
          </a:prstGeom>
          <a:solidFill>
            <a:srgbClr val="C01920"/>
          </a:solidFill>
          <a:ln w="28575">
            <a:noFill/>
            <a:miter lim="800000"/>
            <a:headEnd/>
            <a:tailEnd/>
          </a:ln>
          <a:effectLst/>
        </p:spPr>
        <p:txBody>
          <a:bodyPr anchor="ctr">
            <a:spAutoFit/>
          </a:bodyPr>
          <a:lstStyle/>
          <a:p>
            <a:r>
              <a:rPr lang="zh-CN" altLang="en-US" b="1" dirty="0">
                <a:solidFill>
                  <a:schemeClr val="bg1"/>
                </a:solidFill>
                <a:latin typeface="楷体_GB2312" pitchFamily="49" charset="-122"/>
                <a:ea typeface="楷体_GB2312" pitchFamily="49" charset="-122"/>
              </a:rPr>
              <a:t>习题</a:t>
            </a:r>
            <a:r>
              <a:rPr lang="en-US" altLang="zh-CN" b="1" dirty="0">
                <a:solidFill>
                  <a:schemeClr val="bg1"/>
                </a:solidFill>
                <a:latin typeface="楷体_GB2312" pitchFamily="49" charset="-122"/>
                <a:ea typeface="楷体_GB2312" pitchFamily="49" charset="-122"/>
              </a:rPr>
              <a:t>5</a:t>
            </a:r>
            <a:r>
              <a:rPr lang="zh-CN" altLang="en-US" b="1" dirty="0">
                <a:solidFill>
                  <a:schemeClr val="bg1"/>
                </a:solidFill>
                <a:latin typeface="楷体_GB2312" pitchFamily="49" charset="-122"/>
                <a:ea typeface="楷体_GB2312" pitchFamily="49" charset="-122"/>
              </a:rPr>
              <a:t>： </a:t>
            </a:r>
            <a:r>
              <a:rPr lang="en-US" altLang="zh-CN" b="1" dirty="0">
                <a:solidFill>
                  <a:schemeClr val="bg1"/>
                </a:solidFill>
              </a:rPr>
              <a:t>1</a:t>
            </a:r>
            <a:r>
              <a:rPr lang="zh-CN" altLang="en-US" b="1" dirty="0">
                <a:solidFill>
                  <a:schemeClr val="bg1"/>
                </a:solidFill>
              </a:rPr>
              <a:t>、</a:t>
            </a:r>
            <a:r>
              <a:rPr lang="en-US" altLang="zh-CN" b="1" dirty="0">
                <a:solidFill>
                  <a:schemeClr val="bg1"/>
                </a:solidFill>
              </a:rPr>
              <a:t>2</a:t>
            </a:r>
            <a:r>
              <a:rPr lang="zh-CN" altLang="en-US" b="1" dirty="0">
                <a:solidFill>
                  <a:schemeClr val="bg1"/>
                </a:solidFill>
              </a:rPr>
              <a:t>、</a:t>
            </a:r>
            <a:r>
              <a:rPr lang="en-US" altLang="zh-CN" b="1" dirty="0">
                <a:solidFill>
                  <a:schemeClr val="bg1"/>
                </a:solidFill>
              </a:rPr>
              <a:t>3</a:t>
            </a:r>
            <a:r>
              <a:rPr lang="zh-CN" altLang="en-US" b="1" dirty="0">
                <a:solidFill>
                  <a:schemeClr val="bg1"/>
                </a:solidFill>
              </a:rPr>
              <a:t>、</a:t>
            </a:r>
            <a:r>
              <a:rPr lang="en-US" altLang="zh-CN" b="1" dirty="0">
                <a:solidFill>
                  <a:schemeClr val="bg1"/>
                </a:solidFill>
              </a:rPr>
              <a:t>4(1)</a:t>
            </a:r>
            <a:r>
              <a:rPr lang="zh-CN" altLang="en-US" b="1" dirty="0">
                <a:solidFill>
                  <a:schemeClr val="bg1"/>
                </a:solidFill>
              </a:rPr>
              <a:t>、 </a:t>
            </a:r>
            <a:r>
              <a:rPr lang="en-US" altLang="zh-CN" b="1" dirty="0">
                <a:solidFill>
                  <a:schemeClr val="bg1"/>
                </a:solidFill>
              </a:rPr>
              <a:t>4(4)</a:t>
            </a:r>
            <a:r>
              <a:rPr lang="zh-CN" altLang="en-US" b="1" dirty="0">
                <a:solidFill>
                  <a:schemeClr val="bg1"/>
                </a:solidFill>
              </a:rPr>
              <a:t>、 </a:t>
            </a:r>
            <a:r>
              <a:rPr lang="en-US" altLang="zh-CN" b="1" dirty="0">
                <a:solidFill>
                  <a:schemeClr val="bg1"/>
                </a:solidFill>
              </a:rPr>
              <a:t>4(5)</a:t>
            </a:r>
            <a:r>
              <a:rPr lang="zh-CN" altLang="en-US" b="1" dirty="0">
                <a:solidFill>
                  <a:schemeClr val="bg1"/>
                </a:solidFill>
              </a:rPr>
              <a:t>、</a:t>
            </a:r>
            <a:r>
              <a:rPr lang="en-US" altLang="zh-CN" b="1" dirty="0">
                <a:solidFill>
                  <a:schemeClr val="bg1"/>
                </a:solidFill>
              </a:rPr>
              <a:t>4(8)</a:t>
            </a:r>
            <a:r>
              <a:rPr lang="en-US" altLang="zh-CN" b="1" dirty="0">
                <a:solidFill>
                  <a:schemeClr val="bg1"/>
                </a:solidFill>
                <a:latin typeface="楷体_GB2312" pitchFamily="49" charset="-122"/>
                <a:ea typeface="楷体_GB2312" pitchFamily="49" charset="-122"/>
              </a:rPr>
              <a:t> </a:t>
            </a:r>
          </a:p>
        </p:txBody>
      </p:sp>
      <p:sp>
        <p:nvSpPr>
          <p:cNvPr id="899081" name="Rectangle 9"/>
          <p:cNvSpPr>
            <a:spLocks noChangeArrowheads="1"/>
          </p:cNvSpPr>
          <p:nvPr/>
        </p:nvSpPr>
        <p:spPr bwMode="auto">
          <a:xfrm>
            <a:off x="858277" y="1082272"/>
            <a:ext cx="10494307" cy="4966103"/>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lnSpc>
                <a:spcPts val="3200"/>
              </a:lnSpc>
              <a:buFont typeface="Wingdings" panose="05000000000000000000" pitchFamily="2" charset="2"/>
              <a:buChar char="u"/>
            </a:pP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Ｃ语言程序的执行部分是由语句组成的。程序的功能也是由执行语句实现的。</a:t>
            </a: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C</a:t>
            </a: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语言中的语句可以分为表达式语句、函数调用语句、复合语句、空语句及控制语句五类。</a:t>
            </a:r>
            <a:endPar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marL="342900" indent="-342900">
              <a:lnSpc>
                <a:spcPts val="3200"/>
              </a:lnSpc>
              <a:buFont typeface="Wingdings" panose="05000000000000000000" pitchFamily="2" charset="2"/>
              <a:buChar char="u"/>
            </a:pP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关系表达式和逻辑表达式是两种重要的表达式，主要用于条件执行的判断和循环执行的判断。</a:t>
            </a:r>
            <a:endPar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marL="342900" indent="-342900">
              <a:lnSpc>
                <a:spcPts val="3200"/>
              </a:lnSpc>
              <a:buFont typeface="Wingdings" panose="05000000000000000000" pitchFamily="2" charset="2"/>
              <a:buChar char="u"/>
            </a:pP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Ｃ语言提供了多种形式的条件语句以构成选择结构。</a:t>
            </a:r>
            <a:endPar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a:lnSpc>
                <a:spcPts val="3200"/>
              </a:lnSpc>
            </a:pP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        </a:t>
            </a:r>
            <a:r>
              <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if</a:t>
            </a:r>
            <a:r>
              <a:rPr lang="zh-CN" altLang="en-US"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语句主要用于单向选择。</a:t>
            </a:r>
            <a:endPar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a:lnSpc>
                <a:spcPts val="3200"/>
              </a:lnSpc>
            </a:pPr>
            <a:r>
              <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        if-else</a:t>
            </a:r>
            <a:r>
              <a:rPr lang="zh-CN" altLang="en-US"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语句主要用于双向选择。</a:t>
            </a:r>
            <a:endPar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a:lnSpc>
                <a:spcPts val="3200"/>
              </a:lnSpc>
            </a:pPr>
            <a:r>
              <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        if-else-if</a:t>
            </a:r>
            <a:r>
              <a:rPr lang="zh-CN" altLang="en-US"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语和</a:t>
            </a:r>
            <a:r>
              <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switch</a:t>
            </a:r>
            <a:r>
              <a:rPr lang="zh-CN" altLang="en-US"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语句用于多向选择。</a:t>
            </a:r>
            <a:endParaRPr lang="en-US" altLang="zh-CN" b="1" dirty="0">
              <a:solidFill>
                <a:srgbClr val="C01920"/>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endParaRPr>
          </a:p>
          <a:p>
            <a:pPr marL="342900" indent="-342900">
              <a:lnSpc>
                <a:spcPts val="3200"/>
              </a:lnSpc>
              <a:buFont typeface="Wingdings" panose="05000000000000000000" pitchFamily="2" charset="2"/>
              <a:buChar char="u"/>
            </a:pP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任何一种选择结构都可以用</a:t>
            </a: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if</a:t>
            </a: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语句来实现，但并非所有的</a:t>
            </a: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if</a:t>
            </a: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语句都有等价的</a:t>
            </a: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switch</a:t>
            </a: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a:t>
            </a:r>
            <a:r>
              <a:rPr lang="en-US" altLang="zh-CN"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switch</a:t>
            </a:r>
            <a:r>
              <a:rPr lang="zh-CN" altLang="en-US" b="1" dirty="0">
                <a:solidFill>
                  <a:schemeClr val="tx1"/>
                </a:solidFill>
                <a:effectLst>
                  <a:innerShdw blurRad="63500" dist="50800" dir="16200000">
                    <a:prstClr val="black">
                      <a:alpha val="50000"/>
                    </a:prstClr>
                  </a:innerShdw>
                </a:effectLst>
                <a:latin typeface="楷体" panose="02010609060101010101" pitchFamily="49" charset="-122"/>
                <a:ea typeface="楷体" panose="02010609060101010101" pitchFamily="49" charset="-122"/>
              </a:rPr>
              <a:t>语句只能用来实现以相等关系作为选择条件的选择结构。</a:t>
            </a:r>
          </a:p>
        </p:txBody>
      </p:sp>
      <p:sp>
        <p:nvSpPr>
          <p:cNvPr id="9" name="Rectangle 4">
            <a:extLst>
              <a:ext uri="{FF2B5EF4-FFF2-40B4-BE49-F238E27FC236}">
                <a16:creationId xmlns:a16="http://schemas.microsoft.com/office/drawing/2014/main" id="{9893DD5D-6C0B-44F2-BA3E-DE7ED7BE44F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9081"/>
                                        </p:tgtEl>
                                        <p:attrNameLst>
                                          <p:attrName>style.visibility</p:attrName>
                                        </p:attrNameLst>
                                      </p:cBhvr>
                                      <p:to>
                                        <p:strVal val="visible"/>
                                      </p:to>
                                    </p:set>
                                    <p:animEffect transition="in" filter="blinds(horizontal)">
                                      <p:cBhvr>
                                        <p:cTn id="7" dur="500"/>
                                        <p:tgtEl>
                                          <p:spTgt spid="89908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899080"/>
                                        </p:tgtEl>
                                        <p:attrNameLst>
                                          <p:attrName>style.visibility</p:attrName>
                                        </p:attrNameLst>
                                      </p:cBhvr>
                                      <p:to>
                                        <p:strVal val="visible"/>
                                      </p:to>
                                    </p:set>
                                    <p:animEffect transition="in" filter="diamond(in)">
                                      <p:cBhvr>
                                        <p:cTn id="12" dur="2000"/>
                                        <p:tgtEl>
                                          <p:spTgt spid="89908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80" grpId="0" animBg="1"/>
      <p:bldP spid="89908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13545</TotalTime>
  <Words>12037</Words>
  <Application>Microsoft Office PowerPoint</Application>
  <PresentationFormat>宽屏</PresentationFormat>
  <Paragraphs>1646</Paragraphs>
  <Slides>41</Slides>
  <Notes>32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41</vt:i4>
      </vt:variant>
    </vt:vector>
  </HeadingPairs>
  <TitlesOfParts>
    <vt:vector size="50" baseType="lpstr">
      <vt:lpstr>楷体</vt:lpstr>
      <vt:lpstr>楷体_GB2312</vt:lpstr>
      <vt:lpstr>隶书</vt:lpstr>
      <vt:lpstr>思源黑体 CN Heavy</vt:lpstr>
      <vt:lpstr>宋体</vt:lpstr>
      <vt:lpstr>Arial</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937</cp:revision>
  <dcterms:created xsi:type="dcterms:W3CDTF">1999-05-31T10:27:02Z</dcterms:created>
  <dcterms:modified xsi:type="dcterms:W3CDTF">2022-06-13T02:11:33Z</dcterms:modified>
</cp:coreProperties>
</file>